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201" r:id="rId101"/>
    <p:sldId id="9202" r:id="rId102"/>
    <p:sldId id="9203" r:id="rId103"/>
    <p:sldId id="9204" r:id="rId104"/>
    <p:sldId id="9205" r:id="rId105"/>
    <p:sldId id="9206" r:id="rId106"/>
    <p:sldId id="9207" r:id="rId107"/>
    <p:sldId id="9208" r:id="rId108"/>
    <p:sldId id="9209" r:id="rId109"/>
    <p:sldId id="9210" r:id="rId110"/>
    <p:sldId id="9211" r:id="rId111"/>
    <p:sldId id="9212" r:id="rId112"/>
    <p:sldId id="9213" r:id="rId113"/>
    <p:sldId id="9214" r:id="rId114"/>
    <p:sldId id="9215" r:id="rId115"/>
    <p:sldId id="9216" r:id="rId116"/>
    <p:sldId id="9217" r:id="rId117"/>
    <p:sldId id="9218" r:id="rId118"/>
    <p:sldId id="9219"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Perabot Taman</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S01 — TAJUK</a:t>
            </a:r>
          </a:p>
          <a:p>
            <a:r>
              <a:rPr lang="en-MY" sz="1200" dirty="0"/>
              <a:t>PARTIAL_SOURCE.</a:t>
            </a:r>
          </a:p>
          <a:p>
            <a:r>
              <a:rPr lang="en-MY" sz="1200" dirty="0"/>
              <a:t>Verified: course/topic strings (probe notes header, all 4).</a:t>
            </a:r>
          </a:p>
          <a:p>
            <a:r>
              <a:rPr lang="en-MY" sz="1200" dirty="0"/>
              <a:t>Everything else SOURCE PENDING.</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Komponen Landskap</a:t>
            </a:r>
          </a:p>
        </p:txBody>
      </p:sp>
      <p:sp>
        <p:nvSpPr>
          <p:cNvPr id="20" name="TextBox A"/>
          <p:cNvSpPr txBox="1"/>
          <p:nvPr/>
        </p:nvSpPr>
        <p:spPr>
          <a:xfrm>
            <a:off x="723930" y="2377440"/>
            <a:ext cx="10744200" cy="566928"/>
          </a:xfrm>
          <a:prstGeom prst="rect">
            <a:avLst/>
          </a:prstGeom>
          <a:noFill/>
        </p:spPr>
        <p:txBody>
          <a:bodyPr wrap="square">
            <a:spAutoFit/>
          </a:bodyPr>
          <a:lstStyle/>
          <a:p>
            <a:pPr algn="ctr"/>
            <a:r>
              <a:rPr lang="en-MY" sz="2800" b="1" dirty="0"/>
              <a:t>PL06: Pengurusan Operasi Pembinaan Landskap</a:t>
            </a:r>
          </a:p>
        </p:txBody>
      </p:sp>
      <p:sp>
        <p:nvSpPr>
          <p:cNvPr id="21" name="TextBox B"/>
          <p:cNvSpPr txBox="1"/>
          <p:nvPr/>
        </p:nvSpPr>
        <p:spPr>
          <a:xfrm>
            <a:off x="723930" y="3063240"/>
            <a:ext cx="10744200" cy="502920"/>
          </a:xfrm>
          <a:prstGeom prst="rect">
            <a:avLst/>
          </a:prstGeom>
          <a:noFill/>
        </p:spPr>
        <p:txBody>
          <a:bodyPr wrap="square">
            <a:spAutoFit/>
          </a:bodyPr>
          <a:lstStyle/>
          <a:p>
            <a:pPr algn="ctr"/>
            <a:r>
              <a:rPr lang="en-MY" sz="2200" dirty="0"/>
              <a:t>Topik 3 Bahagian 2: Komponen Landskap</a:t>
            </a:r>
          </a:p>
        </p:txBody>
      </p:sp>
      <p:sp>
        <p:nvSpPr>
          <p:cNvPr id="22" name="SOURCE PENDING"/>
          <p:cNvSpPr txBox="1"/>
          <p:nvPr/>
        </p:nvSpPr>
        <p:spPr>
          <a:xfrm>
            <a:off x="723930" y="4069080"/>
            <a:ext cx="10744200" cy="123444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Title-screen furniture, imagery and VO not verified.</a:t>
            </a:r>
          </a:p>
          <a:p>
            <a:pPr algn="ctr"/>
            <a:r>
              <a:rPr lang="en-MY" sz="1400" dirty="0">
                <a:solidFill>
                  <a:srgbClr val="7F6000"/>
                </a:solidFill>
              </a:rPr>
              <a:t>Only the two strings above are source-bound.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Dialog</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S02 — DIALOG</a:t>
            </a:r>
          </a:p>
          <a:p>
            <a:r>
              <a:rPr lang="en-MY" sz="1200" dirty="0"/>
              <a:t>MISSING_SOURCE.</a:t>
            </a:r>
          </a:p>
          <a:p>
            <a:r>
              <a:rPr lang="en-MY" sz="1200" dirty="0"/>
              <a:t>Decision slot (K5, PL06, s02) Scenario + Casting is EMPTY.</a:t>
            </a:r>
          </a:p>
          <a:p>
            <a:r>
              <a:rPr lang="en-MY" sz="1200" dirty="0"/>
              <a:t>Current B02 cast NOT PROVABLE (A-13).</a:t>
            </a:r>
          </a:p>
          <a:p>
            <a:r>
              <a:rPr lang="en-MY" sz="1200" dirty="0"/>
              <a:t>Role-neutral placeholders only. No dialogue invented.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Dialog</a:t>
            </a:r>
          </a:p>
        </p:txBody>
      </p:sp>
      <p:sp>
        <p:nvSpPr>
          <p:cNvPr id="19" name="Rectangle 9"/>
          <p:cNvSpPr/>
          <p:nvPr/>
        </p:nvSpPr>
        <p:spPr>
          <a:xfrm>
            <a:off x="723930" y="1628821"/>
            <a:ext cx="10744200" cy="187452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 — scene not specified.</a:t>
            </a:r>
          </a:p>
        </p:txBody>
      </p:sp>
      <p:sp>
        <p:nvSpPr>
          <p:cNvPr id="20" name="TextBox 3"/>
          <p:cNvSpPr txBox="1"/>
          <p:nvPr/>
        </p:nvSpPr>
        <p:spPr>
          <a:xfrm>
            <a:off x="723930" y="3611880"/>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[PELATIH]</a:t>
            </a:r>
          </a:p>
        </p:txBody>
      </p:sp>
      <p:sp>
        <p:nvSpPr>
          <p:cNvPr id="21" name="TextBox 3"/>
          <p:cNvSpPr txBox="1"/>
          <p:nvPr/>
        </p:nvSpPr>
        <p:spPr>
          <a:xfrm>
            <a:off x="4186763" y="3611880"/>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[PENYELIA]</a:t>
            </a:r>
          </a:p>
        </p:txBody>
      </p:sp>
      <p:sp>
        <p:nvSpPr>
          <p:cNvPr id="22" name="SOURCE PENDING"/>
          <p:cNvSpPr txBox="1"/>
          <p:nvPr/>
        </p:nvSpPr>
        <p:spPr>
          <a:xfrm>
            <a:off x="723930" y="4297680"/>
            <a:ext cx="10744200" cy="192024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Casting decision was never made — the desk slot is empty.</a:t>
            </a:r>
          </a:p>
          <a:p>
            <a:pPr algn="ctr"/>
            <a:r>
              <a:rPr lang="en-MY" sz="1400" dirty="0">
                <a:solidFill>
                  <a:srgbClr val="7F6000"/>
                </a:solidFill>
              </a:rPr>
              <a:t>No scenario, no dialogue line and no named character is invented.</a:t>
            </a:r>
          </a:p>
          <a:p>
            <a:pPr algn="ctr"/>
            <a:r>
              <a:rPr lang="en-MY" sz="1400" dirty="0">
                <a:solidFill>
                  <a:srgbClr val="7F6000"/>
                </a:solidFill>
              </a:rPr>
              <a:t>Placeholders are role-neutral by instruction.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Gambaran Keseluruhan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S03 — OVERVIEW</a:t>
            </a:r>
          </a:p>
          <a:p>
            <a:r>
              <a:rPr lang="en-MY" sz="1200" dirty="0"/>
              <a:t>MISSING_SOURCE.</a:t>
            </a:r>
          </a:p>
          <a:p>
            <a:r>
              <a:rPr lang="en-MY" sz="1200" dirty="0"/>
              <a:t>Decision slot (K5, PL06, s03) Reflection Prompt is EMPTY.</a:t>
            </a:r>
          </a:p>
          <a:p>
            <a:r>
              <a:rPr lang="en-MY" sz="1200" dirty="0"/>
              <a:t>Narrator may be introduced visually here (A-09).</a:t>
            </a:r>
          </a:p>
          <a:p>
            <a:r>
              <a:rPr lang="en-MY" sz="1200" dirty="0"/>
              <a:t>No routine "Hilmi:" VO prefix anywhere in the deck.</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Gambaran Keseluruhan</a:t>
            </a:r>
          </a:p>
        </p:txBody>
      </p:sp>
      <p:sp>
        <p:nvSpPr>
          <p:cNvPr id="19" name="Rectangle 9"/>
          <p:cNvSpPr/>
          <p:nvPr/>
        </p:nvSpPr>
        <p:spPr>
          <a:xfrm>
            <a:off x="723930" y="1628821"/>
            <a:ext cx="4846320" cy="237744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20" name="Narrator"/>
          <p:cNvSpPr txBox="1"/>
          <p:nvPr/>
        </p:nvSpPr>
        <p:spPr>
          <a:xfrm>
            <a:off x="5806440" y="1628821"/>
            <a:ext cx="5661690" cy="502920"/>
          </a:xfrm>
          <a:prstGeom prst="rect">
            <a:avLst/>
          </a:prstGeom>
          <a:noFill/>
        </p:spPr>
        <p:txBody>
          <a:bodyPr wrap="square">
            <a:spAutoFit/>
          </a:bodyPr>
          <a:lstStyle/>
          <a:p>
            <a:r>
              <a:rPr lang="en-MY" sz="2400" b="1" dirty="0"/>
              <a:t>Hilmi</a:t>
            </a:r>
          </a:p>
        </p:txBody>
      </p:sp>
      <p:sp>
        <p:nvSpPr>
          <p:cNvPr id="21" name="NarratorRole"/>
          <p:cNvSpPr txBox="1"/>
          <p:nvPr/>
        </p:nvSpPr>
        <p:spPr>
          <a:xfrm>
            <a:off x="5806440" y="2194560"/>
            <a:ext cx="5661690" cy="411480"/>
          </a:xfrm>
          <a:prstGeom prst="rect">
            <a:avLst/>
          </a:prstGeom>
          <a:noFill/>
        </p:spPr>
        <p:txBody>
          <a:bodyPr wrap="square">
            <a:spAutoFit/>
          </a:bodyPr>
          <a:lstStyle/>
          <a:p>
            <a:r>
              <a:rPr lang="en-MY" sz="1600" dirty="0"/>
              <a:t>Narator kursus (VO sahaja)</a:t>
            </a:r>
          </a:p>
        </p:txBody>
      </p:sp>
      <p:sp>
        <p:nvSpPr>
          <p:cNvPr id="22" name="NarratorProv"/>
          <p:cNvSpPr txBox="1"/>
          <p:nvPr/>
        </p:nvSpPr>
        <p:spPr>
          <a:xfrm>
            <a:off x="5806440" y="2697480"/>
            <a:ext cx="5661690" cy="384048"/>
          </a:xfrm>
          <a:prstGeom prst="rect">
            <a:avLst/>
          </a:prstGeom>
          <a:noFill/>
        </p:spPr>
        <p:txBody>
          <a:bodyPr wrap="square">
            <a:spAutoFit/>
          </a:bodyPr>
          <a:lstStyle/>
          <a:p>
            <a:r>
              <a:rPr lang="en-MY" sz="1200" dirty="0">
                <a:solidFill>
                  <a:srgbClr val="7F6000"/>
                </a:solidFill>
              </a:rPr>
              <a:t>Sumber: character bank — status LOCKED</a:t>
            </a:r>
          </a:p>
        </p:txBody>
      </p:sp>
      <p:sp>
        <p:nvSpPr>
          <p:cNvPr id="23" name="SOURCE PENDING"/>
          <p:cNvSpPr txBox="1"/>
          <p:nvPr/>
        </p:nvSpPr>
        <p:spPr>
          <a:xfrm>
            <a:off x="723930" y="4251960"/>
            <a:ext cx="10744200" cy="19659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Overview content and reflection question not verified.</a:t>
            </a:r>
          </a:p>
          <a:p>
            <a:pPr algn="ctr"/>
            <a:r>
              <a:rPr lang="en-MY" sz="1400" dirty="0">
                <a:solidFill>
                  <a:srgbClr val="7F6000"/>
                </a:solidFill>
              </a:rPr>
              <a:t>Only the narrator identity above is source-bound (ratified, LOCKED).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S04 — CR_BASE (Struktur Taman)</a:t>
            </a:r>
          </a:p>
          <a:p>
            <a:r>
              <a:rPr lang="en-MY" sz="1200" dirty="0"/>
              <a:t>VERIFIED_SOURCE.</a:t>
            </a:r>
          </a:p>
          <a:p>
            <a:r>
              <a:rPr lang="en-MY" sz="1200" dirty="0"/>
              <a:t>CLICK_REVEAL / trigger CARD / reveal FULL_SLIDE.</a:t>
            </a:r>
          </a:p>
          <a:p>
            <a:r>
              <a:rPr lang="en-MY" sz="1200" dirty="0"/>
              <a:t>4 children: S05 S06 S07 S08 -&gt; S09 TICK.</a:t>
            </a:r>
          </a:p>
          <a:p>
            <a:r>
              <a:rPr lang="en-MY" sz="1200" dirty="0"/>
              <a:t>Locator: K5PL06T03-B02-IMG-01, ms 237.</a:t>
            </a:r>
          </a:p>
          <a:p>
            <a:r>
              <a:rPr lang="en-MY" sz="1200" dirty="0"/>
              <a:t>Geometry from parameter rules (v0.3 accepted).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S05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Persisir Air</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Persisir Air</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S06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Teduhan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Teduhan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S07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Kemudahan Awam</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Kemudahan Awam</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S08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Water Feature</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Water Feature</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S09 — TICK (completion state of S04)</a:t>
            </a:r>
          </a:p>
          <a:p>
            <a:r>
              <a:rPr lang="en-MY" sz="1200" dirty="0"/>
              <a:t>VERIFIED_SOURCE.</a:t>
            </a:r>
          </a:p>
          <a:p>
            <a:r>
              <a:rPr lang="en-MY" sz="1200" dirty="0"/>
              <a:t>visited-tick + nav-lock-until-complete (LOCKED micro-behaviours).</a:t>
            </a:r>
          </a:p>
          <a:p>
            <a:r>
              <a:rPr lang="en-MY" sz="1200" dirty="0"/>
              <a:t>Ticks derived from R-TICK, one alignment intent, drawn as native geometry.</a:t>
            </a:r>
          </a:p>
          <a:p>
            <a:r>
              <a:rPr lang="en-MY" sz="1200" dirty="0"/>
              <a:t>VO intentionally EMPTY (tick convention, verified 0 ch).</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
        <p:nvSpPr>
          <p:cNvPr id="80" name="Tick"/>
          <p:cNvSpPr/>
          <p:nvPr/>
        </p:nvSpPr>
        <p:spPr>
          <a:xfrm>
            <a:off x="379348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803849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379348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803849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S10 — CR_BASE (Perabot Taman)</a:t>
            </a:r>
          </a:p>
          <a:p>
            <a:r>
              <a:rPr lang="en-MY" sz="1200" dirty="0"/>
              <a:t>PARTIAL_SOURCE — item names verified from S17; body/instruction pending.</a:t>
            </a:r>
          </a:p>
          <a:p>
            <a:r>
              <a:rPr lang="en-MY" sz="1200" dirty="0"/>
              <a:t>CLICK_REVEAL / trigger CARD / reveal FULL_SLIDE.</a:t>
            </a:r>
          </a:p>
          <a:p>
            <a:r>
              <a:rPr lang="en-MY" sz="1200" dirty="0"/>
              <a:t>5 children: S11 S12 S13 S14 S15 -&gt; S16 TICK.</a:t>
            </a:r>
          </a:p>
          <a:p>
            <a:r>
              <a:rPr lang="en-MY" sz="1200" dirty="0"/>
              <a:t>Five-card option 5B: CARD_W 3.60, GAP_X 0.4750, band 0.7917/11.75.</a:t>
            </a:r>
          </a:p>
          <a:p>
            <a:r>
              <a:rPr lang="en-MY" sz="1200" dirty="0"/>
              <a:t>CONDITIONAL — if S10 resolves to HOTSPOT this screen is rebuilt.</a:t>
            </a:r>
          </a:p>
          <a:p>
            <a:r>
              <a:rPr lang="en-MY" sz="1200" dirty="0"/>
              <a:t>Locator: SOURCE PENDING.</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SOURCE PENDING"/>
          <p:cNvSpPr txBox="1"/>
          <p:nvPr/>
        </p:nvSpPr>
        <p:spPr>
          <a:xfrm>
            <a:off x="723930" y="1182868"/>
            <a:ext cx="10744200" cy="369326"/>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 — instruction line not verified for this screen</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Kerusi Taman</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Papan Tanda</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Tong Sampah</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Drinking Fountain</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BBQ pit</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S11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Kerusi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Kerusi Taman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S12 — FULL (reveal child)</a:t>
            </a:r>
          </a:p>
          <a:p>
            <a:r>
              <a:rPr lang="en-MY" sz="1200" dirty="0"/>
              <a:t>VERIFIED_SOURCE.</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K5PL06T03-B02-IMG-05, ms 243.  [corrected — P-01]</a:t>
            </a:r>
          </a:p>
          <a:p>
            <a:r>
              <a:rPr lang="en-MY" sz="1200" dirty="0"/>
              <a:t>Display concise; VO carries full source-bound sentences.</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papan tanda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S13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Tong Sampah</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Tong Sampah</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S14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Drinking Fountain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Drinking Fountain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S15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BBQ pit</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BBQ pit</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S16 — TICK (completion state of S10)</a:t>
            </a:r>
          </a:p>
          <a:p>
            <a:r>
              <a:rPr lang="en-MY" sz="1200" dirty="0"/>
              <a:t>PARTIAL_SOURCE — inherits S10.</a:t>
            </a:r>
          </a:p>
          <a:p>
            <a:r>
              <a:rPr lang="en-MY" sz="1200" dirty="0"/>
              <a:t>visited-tick + nav-lock-until-complete.</a:t>
            </a:r>
          </a:p>
          <a:p>
            <a:r>
              <a:rPr lang="en-MY" sz="1200" dirty="0"/>
              <a:t>Ticks from R-TICK.</a:t>
            </a:r>
          </a:p>
          <a:p>
            <a:r>
              <a:rPr lang="en-MY" sz="1200" dirty="0"/>
              <a:t>Locator: SOURCE PENDING.</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SOURCE PENDING"/>
          <p:cNvSpPr txBox="1"/>
          <p:nvPr/>
        </p:nvSpPr>
        <p:spPr>
          <a:xfrm>
            <a:off x="723930" y="1182868"/>
            <a:ext cx="10744200" cy="369326"/>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 — instruction line not verified for this screen</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Kerusi Taman</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Papan Tanda</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Tong Sampah</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Drinking Fountain</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BBQ pit</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
        <p:nvSpPr>
          <p:cNvPr id="80" name="Tick"/>
          <p:cNvSpPr/>
          <p:nvPr/>
        </p:nvSpPr>
        <p:spPr>
          <a:xfrm>
            <a:off x="218985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591603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964221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405289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4" name="Tick"/>
          <p:cNvSpPr/>
          <p:nvPr/>
        </p:nvSpPr>
        <p:spPr>
          <a:xfrm>
            <a:off x="777907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481011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S17 — RUMUSAN (rumusan bahagian, bukan topik penuh)</a:t>
            </a:r>
          </a:p>
          <a:p>
            <a:r>
              <a:rPr lang="en-MY" sz="1200" dirty="0"/>
              <a:t>VERIFIED_SOURCE.</a:t>
            </a:r>
          </a:p>
          <a:p>
            <a:r>
              <a:rPr lang="en-MY" sz="1200" dirty="0"/>
              <a:t>1. Structural labels suppressed (Kepentingan / Isi Utama / Manfaat).</a:t>
            </a:r>
          </a:p>
          <a:p>
            <a:r>
              <a:rPr lang="en-MY" sz="1200" dirty="0"/>
              <a:t>2. Addressee: kontraktor, not anda.</a:t>
            </a:r>
          </a:p>
          <a:p>
            <a:r>
              <a:rPr lang="en-MY" sz="1200" dirty="0"/>
              <a:t>3. Benefit clause connects to site application (drafted by judgement).</a:t>
            </a:r>
          </a:p>
          <a:p>
            <a:r>
              <a:rPr lang="en-MY" sz="1200" dirty="0"/>
              <a:t>English-origin terms italic. Source form BBQ pit (lowercase p).</a:t>
            </a:r>
          </a:p>
        </p:txBody>
      </p:sp>
      <p:sp>
        <p:nvSpPr>
          <p:cNvPr id="24" name="TextBox 23"/>
          <p:cNvSpPr txBox="1"/>
          <p:nvPr/>
        </p:nvSpPr>
        <p:spPr>
          <a:xfrm>
            <a:off x="742950" y="3584448"/>
            <a:ext cx="10706070" cy="411480"/>
          </a:xfrm>
          <a:prstGeom prst="rect">
            <a:avLst/>
          </a:prstGeom>
          <a:noFill/>
        </p:spPr>
        <p:txBody>
          <a:bodyPr wrap="square">
            <a:spAutoFit/>
          </a:bodyPr>
          <a:lstStyle/>
          <a:p>
            <a:r>
              <a:rPr lang="en-MY" b="1" dirty="0"/>
              <a:t>Komponen Landskap — Struktur Taman dan Perabot Taman</a:t>
            </a:r>
          </a:p>
        </p:txBody>
      </p:sp>
      <p:sp>
        <p:nvSpPr>
          <p:cNvPr id="25" name="TextBox 24"/>
          <p:cNvSpPr txBox="1"/>
          <p:nvPr/>
        </p:nvSpPr>
        <p:spPr>
          <a:xfrm>
            <a:off x="742950" y="4069080"/>
            <a:ext cx="10725180" cy="233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MY" dirty="0"/>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dirty="0"/>
              <a:t>Struktur Taman - Struktur Persisir Air, Struktur Teduhan, Kemudahan Awam, </a:t>
            </a:r>
            <a:r>
              <a:rPr lang="en-MY" i="1" dirty="0"/>
              <a:t>Water Feature</a:t>
            </a:r>
          </a:p>
          <a:p>
            <a:pPr marL="285750" indent="-285750">
              <a:spcBef>
                <a:spcPts val="600"/>
              </a:spcBef>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spcBef>
                <a:spcPts val="600"/>
              </a:spcBef>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S18 — KUIZ</a:t>
            </a:r>
          </a:p>
          <a:p>
            <a:r>
              <a:rPr lang="en-MY" sz="1200" dirty="0"/>
              <a:t>MISSING_SOURCE.</a:t>
            </a:r>
          </a:p>
          <a:p>
            <a:r>
              <a:rPr lang="en-MY" sz="1200" dirty="0"/>
              <a:t>NO quiz items, options, answer keys, feedback or routing exist.</a:t>
            </a:r>
          </a:p>
          <a:p>
            <a:r>
              <a:rPr lang="en-MY" sz="1200" dirty="0"/>
              <a:t>None is invented. Structural frame only.</a:t>
            </a:r>
          </a:p>
          <a:p>
            <a:r>
              <a:rPr lang="en-MY" sz="1200" dirty="0"/>
              <a:t>P6 is a live production ID — not cited here.</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Kuiz</a:t>
            </a:r>
          </a:p>
        </p:txBody>
      </p:sp>
      <p:sp>
        <p:nvSpPr>
          <p:cNvPr id="20" name="SOURCE PENDING"/>
          <p:cNvSpPr txBox="1"/>
          <p:nvPr/>
        </p:nvSpPr>
        <p:spPr>
          <a:xfrm>
            <a:off x="723930" y="1628821"/>
            <a:ext cx="10744200" cy="481011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quiz source exists for this bahagian.</a:t>
            </a:r>
          </a:p>
          <a:p>
            <a:pPr algn="ctr"/>
            <a:r>
              <a:rPr lang="en-MY" sz="1400" dirty="0">
                <a:solidFill>
                  <a:srgbClr val="7F6000"/>
                </a:solidFill>
              </a:rPr>
              <a:t>No question, option, answer key, feedback or routing rule has been constructed.</a:t>
            </a:r>
          </a:p>
          <a:p>
            <a:pPr algn="ctr"/>
            <a:r>
              <a:rPr lang="en-MY" sz="1400" dirty="0">
                <a:solidFill>
                  <a:srgbClr val="7F6000"/>
                </a:solidFill>
              </a:rPr>
              <a:t>This frame shows placement only.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S19 — TAMAT</a:t>
            </a:r>
          </a:p>
          <a:p>
            <a:r>
              <a:rPr lang="en-MY" sz="1200" dirty="0"/>
              <a:t>MISSING_SOURCE.</a:t>
            </a:r>
          </a:p>
          <a:p>
            <a:r>
              <a:rPr lang="en-MY" sz="1200" dirty="0"/>
              <a:t>No closing content or next-step instruction verified.</a:t>
            </a:r>
          </a:p>
          <a:p>
            <a:r>
              <a:rPr lang="en-MY" sz="1200" dirty="0"/>
              <a:t>Nothing invented.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Tamat</a:t>
            </a:r>
          </a:p>
        </p:txBody>
      </p:sp>
      <p:sp>
        <p:nvSpPr>
          <p:cNvPr id="20" name="SOURCE PENDING"/>
          <p:cNvSpPr txBox="1"/>
          <p:nvPr/>
        </p:nvSpPr>
        <p:spPr>
          <a:xfrm>
            <a:off x="723930" y="1628821"/>
            <a:ext cx="10744200" cy="481011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end-screen content verified for this bahagian.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vt:lpstr>
      <vt:lpstr>S02</vt:lpstr>
      <vt:lpstr>S03</vt:lpstr>
      <vt:lpstr>S04</vt:lpstr>
      <vt:lpstr>S05</vt:lpstr>
      <vt:lpstr>S06</vt:lpstr>
      <vt:lpstr>S07</vt:lpstr>
      <vt:lpstr>S08</vt:lpstr>
      <vt:lpstr>S09</vt:lpstr>
      <vt:lpstr>S10</vt:lpstr>
      <vt:lpstr>S11</vt:lpstr>
      <vt:lpstr>S12</vt:lpstr>
      <vt:lpstr>S13</vt:lpstr>
      <vt:lpstr>S14</vt:lpstr>
      <vt:lpstr>S15</vt:lpstr>
      <vt:lpstr>S16</vt:lpstr>
      <vt:lpstr>S17</vt:lpstr>
      <vt:lpstr>S18</vt:lpstr>
      <vt:lpstr>S19</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Visual Treatment Sample v0.1 — 19 skrin — bukan storyboard</dc:title>
  <dc:subject>Visual treatment sample. Output-only, disposable. Not CAIR-ratified. Not production-authorised.</dc:subject>
  <dc:creator>CAIR visual sample</dc:creator>
  <cp:keywords>visual-treatment-sample; K5PL06T03B02; output-only; disposable</cp:keywords>
  <dc:description>19 screens showing treatment geometry only. 4 screens source-verified, 11 partial, 4 missing. Source-incomplete screens are marked SOURCE PENDING. No factual content, VO, quiz item, answer key or routing invented.</dc:description>
  <cp:lastModifiedBy>CAIR visual sample</cp:lastModifiedBy>
  <cp:revision>1</cp:revision>
  <dcterms:created xsi:type="dcterms:W3CDTF">2026-07-31T00:00:00Z</dcterms:created>
  <dcterms:modified xsi:type="dcterms:W3CDTF">2026-07-31T00:00:00Z</dcterms:modified>
  <cp:category>Visual Treatment Sample</cp:category>
</cp:coreProperties>
</file>