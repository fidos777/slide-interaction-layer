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9201" r:id="rId101"/>
    <p:sldId id="9202" r:id="rId102"/>
    <p:sldId id="9203" r:id="rId103"/>
    <p:sldId id="9204" r:id="rId104"/>
    <p:sldId id="9205" r:id="rId105"/>
    <p:sldId id="9206" r:id="rId106"/>
    <p:sldId id="9207" r:id="rId107"/>
    <p:sldId id="9208" r:id="rId108"/>
    <p:sldId id="9209" r:id="rId109"/>
    <p:sldId id="9210" r:id="rId110"/>
    <p:sldId id="9211" r:id="rId111"/>
    <p:sldId id="9212" r:id="rId112"/>
    <p:sldId id="9213" r:id="rId113"/>
    <p:sldId id="9214" r:id="rId114"/>
    <p:sldId id="9215" r:id="rId115"/>
    <p:sldId id="9216" r:id="rId116"/>
    <p:sldId id="9217" r:id="rId117"/>
    <p:sldId id="9218" r:id="rId118"/>
    <p:sldId id="9219" r:id="rId1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26"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9F9E"/>
    <a:srgbClr val="DFE0D1"/>
    <a:srgbClr val="AC8300"/>
    <a:srgbClr val="F6D4CF"/>
    <a:srgbClr val="D8928B"/>
    <a:srgbClr val="98768E"/>
    <a:srgbClr val="D3B8C5"/>
    <a:srgbClr val="4E7189"/>
    <a:srgbClr val="385F77"/>
    <a:srgbClr val="244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91" autoAdjust="0"/>
    <p:restoredTop sz="35546" autoAdjust="0"/>
  </p:normalViewPr>
  <p:slideViewPr>
    <p:cSldViewPr snapToGrid="0" snapToObjects="1">
      <p:cViewPr>
        <p:scale>
          <a:sx n="50" d="100"/>
          <a:sy n="50" d="100"/>
        </p:scale>
        <p:origin x="1930" y="264"/>
      </p:cViewPr>
      <p:guideLst>
        <p:guide orient="horz" pos="1026"/>
        <p:guide pos="3840"/>
      </p:guideLst>
    </p:cSldViewPr>
  </p:slideViewPr>
  <p:outlineViewPr>
    <p:cViewPr>
      <p:scale>
        <a:sx n="33" d="100"/>
        <a:sy n="33" d="100"/>
      </p:scale>
      <p:origin x="0" y="0"/>
    </p:cViewPr>
  </p:outlineViewPr>
  <p:notesTextViewPr>
    <p:cViewPr>
      <p:scale>
        <a:sx n="75" d="100"/>
        <a:sy n="75" d="100"/>
      </p:scale>
      <p:origin x="0" y="0"/>
    </p:cViewPr>
  </p:notesTextViewPr>
  <p:sorterViewPr>
    <p:cViewPr>
      <p:scale>
        <a:sx n="70" d="100"/>
        <a:sy n="70" d="100"/>
      </p:scale>
      <p:origin x="0" y="-6198"/>
    </p:cViewPr>
  </p:sorterViewPr>
  <p:notesViewPr>
    <p:cSldViewPr snapToGrid="0" snapToObjects="1">
      <p:cViewPr varScale="1">
        <p:scale>
          <a:sx n="50" d="100"/>
          <a:sy n="50" d="100"/>
        </p:scale>
        <p:origin x="2016" y="6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 Id="rId116" Type="http://schemas.openxmlformats.org/officeDocument/2006/relationships/slide" Target="slides/slide16.xml"/><Relationship Id="rId117" Type="http://schemas.openxmlformats.org/officeDocument/2006/relationships/slide" Target="slides/slide17.xml"/><Relationship Id="rId118" Type="http://schemas.openxmlformats.org/officeDocument/2006/relationships/slide" Target="slides/slide18.xml"/><Relationship Id="rId119" Type="http://schemas.openxmlformats.org/officeDocument/2006/relationships/slide" Target="slides/slide19.xml"/><Relationship Id="rId2" Type="http://schemas.openxmlformats.org/officeDocument/2006/relationships/notesMaster" Target="notesMasters/notes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CCA8EA-268C-9240-A93C-AAC79D8999C8}" type="datetimeFigureOut">
              <a:rPr lang="en-US" smtClean="0"/>
              <a:t>7/26/2026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5C05A5-7321-AF4F-BADD-6247ABA70E9B}" type="slidenum">
              <a:rPr lang="en-US" smtClean="0"/>
              <a:t>‹#›</a:t>
            </a:fld>
            <a:endParaRPr lang="en-US"/>
          </a:p>
        </p:txBody>
      </p:sp>
    </p:spTree>
    <p:extLst>
      <p:ext uri="{BB962C8B-B14F-4D97-AF65-F5344CB8AC3E}">
        <p14:creationId xmlns:p14="http://schemas.microsoft.com/office/powerpoint/2010/main" val="2579992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Struktur taman membina fungsi dan estetika landskap merangkumi pelbagai jenis binaan yang mengintegrasikan reka bentuk seni bina dengan landskap semula jadi. Setiap struktur mempunyai tujuan tersendiri, sama ada untuk akses, rekreasi, perlindungan, atau sebagai elemen visual utama. Terdapat empat jenis struktur taman: Struktur Persisir Air, Struktur Teduhan, Kemudahan Awam, Water Feature.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Perabot Taman</a:t>
            </a:r>
          </a:p>
          <a:p>
            <a:r>
              <a:rPr lang="en-MY" dirty="0"/>
              <a:t>Papan tanda adalah elemen penting untuk navigasi, maklumat, dan keselamatan dalam ruang landskap. Papan tanda mesti jelas, mudah dibaca, dan diletakkan di lokasi yang strategik. Ia boleh berupa penunjuk arah, peta taman, informasi tentang tumbuhan atau ciri landskap, atau peraturan taman. Bahan yang digunakan harus tahan cuaca dan tahan luntur.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Komponen Landskap — Struktur Taman dan Perabot Taman</a:t>
            </a:r>
          </a:p>
          <a:p>
            <a:r>
              <a:rPr lang="en-MY" dirty="0"/>
              <a:t>Mengenal pasti struktur dan elemen landskap membolehkan kerja pembinaan, penyeliaan dan penyelenggaraan dirancang dengan tepat. Struktur taman merangkumi Struktur Persisir Air, Struktur Teduhan, Kemudahan Awam, Water Feature, manakala elemen perabot taman merangkumi Kerusi Taman, Papan Tanda, Tong Sampah, Drinking Fountain dan BBQ pit. Dengan memahami komponen-komponen ini, kontraktor dapat merancang, melaksana dan menyelenggara setiap komponen landskap mengikut fungsinya di tapak.</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[VO SOURCE PENDING — no verified VO exists for this screen. Nothing invented.]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3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0357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3B2182B-4038-41C3-019B-38E13D6A2C11}"/>
              </a:ext>
            </a:extLst>
          </p:cNvPr>
          <p:cNvSpPr>
            <a:spLocks noGrp="1"/>
          </p:cNvSpPr>
          <p:nvPr>
            <p:ph type="pic" sz="quarter" idx="10"/>
          </p:nvPr>
        </p:nvSpPr>
        <p:spPr>
          <a:xfrm>
            <a:off x="4818997" y="591208"/>
            <a:ext cx="8787275" cy="5675584"/>
          </a:xfrm>
          <a:custGeom>
            <a:avLst/>
            <a:gdLst>
              <a:gd name="connsiteX0" fmla="*/ 0 w 8787275"/>
              <a:gd name="connsiteY0" fmla="*/ 0 h 5675584"/>
              <a:gd name="connsiteX1" fmla="*/ 8787275 w 8787275"/>
              <a:gd name="connsiteY1" fmla="*/ 0 h 5675584"/>
              <a:gd name="connsiteX2" fmla="*/ 8787275 w 8787275"/>
              <a:gd name="connsiteY2" fmla="*/ 5675584 h 5675584"/>
              <a:gd name="connsiteX3" fmla="*/ 0 w 8787275"/>
              <a:gd name="connsiteY3" fmla="*/ 5675584 h 5675584"/>
            </a:gdLst>
            <a:ahLst/>
            <a:cxnLst>
              <a:cxn ang="0">
                <a:pos x="connsiteX0" y="connsiteY0"/>
              </a:cxn>
              <a:cxn ang="0">
                <a:pos x="connsiteX1" y="connsiteY1"/>
              </a:cxn>
              <a:cxn ang="0">
                <a:pos x="connsiteX2" y="connsiteY2"/>
              </a:cxn>
              <a:cxn ang="0">
                <a:pos x="connsiteX3" y="connsiteY3"/>
              </a:cxn>
            </a:cxnLst>
            <a:rect l="l" t="t" r="r" b="b"/>
            <a:pathLst>
              <a:path w="8787275" h="5675584">
                <a:moveTo>
                  <a:pt x="0" y="0"/>
                </a:moveTo>
                <a:lnTo>
                  <a:pt x="8787275" y="0"/>
                </a:lnTo>
                <a:lnTo>
                  <a:pt x="8787275" y="5675584"/>
                </a:lnTo>
                <a:lnTo>
                  <a:pt x="0" y="5675584"/>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965708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35" presetClass="path" presetSubtype="0" repeatCount="indefinite" autoRev="1" fill="hold" grpId="1" nodeType="withEffect">
                                  <p:stCondLst>
                                    <p:cond delay="16500"/>
                                  </p:stCondLst>
                                  <p:childTnLst>
                                    <p:animMotion origin="layout" path="M 1.04167E-6 0 L -0.06172 0 " pathEditMode="relative" rAng="0" ptsTypes="AA">
                                      <p:cBhvr>
                                        <p:cTn id="10" dur="20000" fill="hold"/>
                                        <p:tgtEl>
                                          <p:spTgt spid="4"/>
                                        </p:tgtEl>
                                        <p:attrNameLst>
                                          <p:attrName>ppt_x</p:attrName>
                                          <p:attrName>ppt_y</p:attrName>
                                        </p:attrNameLst>
                                      </p:cBhvr>
                                      <p:rCtr x="-308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33088B3-81DD-FB17-13BE-90F7249765F2}"/>
              </a:ext>
            </a:extLst>
          </p:cNvPr>
          <p:cNvSpPr>
            <a:spLocks noGrp="1"/>
          </p:cNvSpPr>
          <p:nvPr>
            <p:ph type="pic" sz="quarter" idx="11"/>
          </p:nvPr>
        </p:nvSpPr>
        <p:spPr>
          <a:xfrm>
            <a:off x="3748903" y="3428997"/>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325C6063-1B18-34DC-B266-32D60EBB74E3}"/>
              </a:ext>
            </a:extLst>
          </p:cNvPr>
          <p:cNvSpPr>
            <a:spLocks noGrp="1"/>
          </p:cNvSpPr>
          <p:nvPr>
            <p:ph type="pic" sz="quarter" idx="10"/>
          </p:nvPr>
        </p:nvSpPr>
        <p:spPr>
          <a:xfrm>
            <a:off x="605120" y="-1"/>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15016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4" accel="50000" decel="5000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797700D-0768-84DB-CFE2-F86F2CE2011F}"/>
              </a:ext>
            </a:extLst>
          </p:cNvPr>
          <p:cNvSpPr>
            <a:spLocks noGrp="1"/>
          </p:cNvSpPr>
          <p:nvPr>
            <p:ph type="pic" sz="quarter" idx="11"/>
          </p:nvPr>
        </p:nvSpPr>
        <p:spPr>
          <a:xfrm>
            <a:off x="8666206" y="3429000"/>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4">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91546D6E-F5E7-12C9-9BA0-07418A64A194}"/>
              </a:ext>
            </a:extLst>
          </p:cNvPr>
          <p:cNvSpPr>
            <a:spLocks noGrp="1"/>
          </p:cNvSpPr>
          <p:nvPr>
            <p:ph type="pic" sz="quarter" idx="10"/>
          </p:nvPr>
        </p:nvSpPr>
        <p:spPr>
          <a:xfrm>
            <a:off x="8666206" y="868162"/>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991099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1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grpId="0" nodeType="withEffect">
                                  <p:stCondLst>
                                    <p:cond delay="175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1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6235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5"/>
        <p:cNvGrpSpPr/>
        <p:nvPr/>
      </p:nvGrpSpPr>
      <p:grpSpPr>
        <a:xfrm>
          <a:off x="0" y="0"/>
          <a:ext cx="0" cy="0"/>
          <a:chOff x="0" y="0"/>
          <a:chExt cx="0" cy="0"/>
        </a:xfrm>
      </p:grpSpPr>
      <p:sp>
        <p:nvSpPr>
          <p:cNvPr id="16" name="Google Shape;16;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182" lvl="0" indent="-342886" algn="l">
              <a:lnSpc>
                <a:spcPct val="90000"/>
              </a:lnSpc>
              <a:spcBef>
                <a:spcPts val="1000"/>
              </a:spcBef>
              <a:spcAft>
                <a:spcPts val="0"/>
              </a:spcAft>
              <a:buClr>
                <a:schemeClr val="dk1"/>
              </a:buClr>
              <a:buSzPts val="1800"/>
              <a:buChar char="•"/>
              <a:defRPr/>
            </a:lvl1pPr>
            <a:lvl2pPr marL="914363" lvl="1" indent="-342886" algn="l">
              <a:lnSpc>
                <a:spcPct val="90000"/>
              </a:lnSpc>
              <a:spcBef>
                <a:spcPts val="500"/>
              </a:spcBef>
              <a:spcAft>
                <a:spcPts val="0"/>
              </a:spcAft>
              <a:buClr>
                <a:schemeClr val="dk1"/>
              </a:buClr>
              <a:buSzPts val="1800"/>
              <a:buChar char="•"/>
              <a:defRPr/>
            </a:lvl2pPr>
            <a:lvl3pPr marL="1371545" lvl="2" indent="-342886" algn="l">
              <a:lnSpc>
                <a:spcPct val="90000"/>
              </a:lnSpc>
              <a:spcBef>
                <a:spcPts val="500"/>
              </a:spcBef>
              <a:spcAft>
                <a:spcPts val="0"/>
              </a:spcAft>
              <a:buClr>
                <a:schemeClr val="dk1"/>
              </a:buClr>
              <a:buSzPts val="1800"/>
              <a:buChar char="•"/>
              <a:defRPr/>
            </a:lvl3pPr>
            <a:lvl4pPr marL="1828727" lvl="3" indent="-342886" algn="l">
              <a:lnSpc>
                <a:spcPct val="90000"/>
              </a:lnSpc>
              <a:spcBef>
                <a:spcPts val="500"/>
              </a:spcBef>
              <a:spcAft>
                <a:spcPts val="0"/>
              </a:spcAft>
              <a:buClr>
                <a:schemeClr val="dk1"/>
              </a:buClr>
              <a:buSzPts val="1800"/>
              <a:buChar char="•"/>
              <a:defRPr/>
            </a:lvl4pPr>
            <a:lvl5pPr marL="2285909" lvl="4" indent="-342886" algn="l">
              <a:lnSpc>
                <a:spcPct val="90000"/>
              </a:lnSpc>
              <a:spcBef>
                <a:spcPts val="500"/>
              </a:spcBef>
              <a:spcAft>
                <a:spcPts val="0"/>
              </a:spcAft>
              <a:buClr>
                <a:schemeClr val="dk1"/>
              </a:buClr>
              <a:buSzPts val="1800"/>
              <a:buChar char="•"/>
              <a:defRPr/>
            </a:lvl5pPr>
            <a:lvl6pPr marL="2743090" lvl="5" indent="-342886" algn="l">
              <a:lnSpc>
                <a:spcPct val="90000"/>
              </a:lnSpc>
              <a:spcBef>
                <a:spcPts val="500"/>
              </a:spcBef>
              <a:spcAft>
                <a:spcPts val="0"/>
              </a:spcAft>
              <a:buClr>
                <a:schemeClr val="dk1"/>
              </a:buClr>
              <a:buSzPts val="1800"/>
              <a:buChar char="•"/>
              <a:defRPr/>
            </a:lvl6pPr>
            <a:lvl7pPr marL="3200272" lvl="6" indent="-342886" algn="l">
              <a:lnSpc>
                <a:spcPct val="90000"/>
              </a:lnSpc>
              <a:spcBef>
                <a:spcPts val="500"/>
              </a:spcBef>
              <a:spcAft>
                <a:spcPts val="0"/>
              </a:spcAft>
              <a:buClr>
                <a:schemeClr val="dk1"/>
              </a:buClr>
              <a:buSzPts val="1800"/>
              <a:buChar char="•"/>
              <a:defRPr/>
            </a:lvl7pPr>
            <a:lvl8pPr marL="3657454" lvl="7" indent="-342886" algn="l">
              <a:lnSpc>
                <a:spcPct val="90000"/>
              </a:lnSpc>
              <a:spcBef>
                <a:spcPts val="500"/>
              </a:spcBef>
              <a:spcAft>
                <a:spcPts val="0"/>
              </a:spcAft>
              <a:buClr>
                <a:schemeClr val="dk1"/>
              </a:buClr>
              <a:buSzPts val="1800"/>
              <a:buChar char="•"/>
              <a:defRPr/>
            </a:lvl8pPr>
            <a:lvl9pPr marL="4114635" lvl="8" indent="-342886" algn="l">
              <a:lnSpc>
                <a:spcPct val="90000"/>
              </a:lnSpc>
              <a:spcBef>
                <a:spcPts val="500"/>
              </a:spcBef>
              <a:spcAft>
                <a:spcPts val="0"/>
              </a:spcAft>
              <a:buClr>
                <a:schemeClr val="dk1"/>
              </a:buClr>
              <a:buSzPts val="1800"/>
              <a:buChar char="•"/>
              <a:defRPr/>
            </a:lvl9pPr>
          </a:lstStyle>
          <a:p>
            <a:endParaRPr/>
          </a:p>
        </p:txBody>
      </p:sp>
      <p:sp>
        <p:nvSpPr>
          <p:cNvPr id="18" name="Google Shape;18;p2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MY" smtClean="0"/>
              <a:pPr/>
              <a:t>‹#›</a:t>
            </a:fld>
            <a:endParaRPr lang="en-MY"/>
          </a:p>
        </p:txBody>
      </p:sp>
    </p:spTree>
    <p:extLst>
      <p:ext uri="{BB962C8B-B14F-4D97-AF65-F5344CB8AC3E}">
        <p14:creationId xmlns:p14="http://schemas.microsoft.com/office/powerpoint/2010/main" val="114599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8F1E2742-D414-F4F1-C791-24DC8FA6BC89}"/>
              </a:ext>
            </a:extLst>
          </p:cNvPr>
          <p:cNvSpPr>
            <a:spLocks noGrp="1"/>
          </p:cNvSpPr>
          <p:nvPr>
            <p:ph type="title"/>
          </p:nvPr>
        </p:nvSpPr>
        <p:spPr>
          <a:xfrm>
            <a:off x="1" y="-622575"/>
            <a:ext cx="11125200" cy="463985"/>
          </a:xfrm>
          <a:prstGeom prst="rect">
            <a:avLst/>
          </a:prstGeom>
        </p:spPr>
        <p:txBody>
          <a:bodyPr vert="horz" lIns="0" tIns="0" rIns="0" bIns="0" rtlCol="0" anchor="ctr" anchorCtr="0">
            <a:noAutofit/>
          </a:bodyPr>
          <a:lstStyle>
            <a:lvl1pPr>
              <a:defRPr sz="16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4205416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19A2C1-868B-E048-BC42-05B15F482131}"/>
              </a:ext>
            </a:extLst>
          </p:cNvPr>
          <p:cNvSpPr>
            <a:spLocks noGrp="1"/>
          </p:cNvSpPr>
          <p:nvPr>
            <p:ph type="title"/>
          </p:nvPr>
        </p:nvSpPr>
        <p:spPr>
          <a:xfrm>
            <a:off x="533400" y="419099"/>
            <a:ext cx="11125200" cy="463985"/>
          </a:xfrm>
          <a:prstGeom prst="rect">
            <a:avLst/>
          </a:prstGeom>
        </p:spPr>
        <p:txBody>
          <a:bodyPr vert="horz" lIns="0" tIns="0" rIns="0" bIns="0" rtlCol="0" anchor="t">
            <a:no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E2E175A4-F8EA-2E4A-A9FC-8E6DA130CB25}"/>
              </a:ext>
            </a:extLst>
          </p:cNvPr>
          <p:cNvSpPr>
            <a:spLocks noGrp="1"/>
          </p:cNvSpPr>
          <p:nvPr>
            <p:ph type="body" idx="1"/>
          </p:nvPr>
        </p:nvSpPr>
        <p:spPr>
          <a:xfrm>
            <a:off x="533400" y="1460500"/>
            <a:ext cx="11125200" cy="4351338"/>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6FFFA472-F704-9D4A-AE43-BF8DA1CC6404}"/>
              </a:ext>
            </a:extLst>
          </p:cNvPr>
          <p:cNvSpPr>
            <a:spLocks noGrp="1"/>
          </p:cNvSpPr>
          <p:nvPr>
            <p:ph type="dt" sz="half" idx="2"/>
          </p:nvPr>
        </p:nvSpPr>
        <p:spPr>
          <a:xfrm>
            <a:off x="9896606" y="6445229"/>
            <a:ext cx="756781" cy="187367"/>
          </a:xfrm>
          <a:prstGeom prst="rect">
            <a:avLst/>
          </a:prstGeom>
        </p:spPr>
        <p:txBody>
          <a:bodyPr vert="horz" lIns="0" tIns="0" rIns="0" bIns="0" rtlCol="0" anchor="ctr"/>
          <a:lstStyle>
            <a:lvl1pPr algn="ctr">
              <a:defRPr sz="1000">
                <a:solidFill>
                  <a:schemeClr val="bg1">
                    <a:lumMod val="50000"/>
                  </a:schemeClr>
                </a:solidFill>
              </a:defRPr>
            </a:lvl1pPr>
          </a:lstStyle>
          <a:p>
            <a:fld id="{B2896C5E-20F6-5143-9F77-A8D16BC84A78}" type="datetimeFigureOut">
              <a:rPr lang="en-US" smtClean="0"/>
              <a:pPr/>
              <a:t>7/26/2026</a:t>
            </a:fld>
            <a:endParaRPr lang="en-US" dirty="0"/>
          </a:p>
        </p:txBody>
      </p:sp>
      <p:sp>
        <p:nvSpPr>
          <p:cNvPr id="5" name="Footer Placeholder 4">
            <a:extLst>
              <a:ext uri="{FF2B5EF4-FFF2-40B4-BE49-F238E27FC236}">
                <a16:creationId xmlns:a16="http://schemas.microsoft.com/office/drawing/2014/main" id="{F537EDD9-B49B-1342-9401-0E870BD269D0}"/>
              </a:ext>
            </a:extLst>
          </p:cNvPr>
          <p:cNvSpPr>
            <a:spLocks noGrp="1"/>
          </p:cNvSpPr>
          <p:nvPr>
            <p:ph type="ftr" sz="quarter" idx="3"/>
          </p:nvPr>
        </p:nvSpPr>
        <p:spPr>
          <a:xfrm>
            <a:off x="533399" y="6445229"/>
            <a:ext cx="9237947" cy="187367"/>
          </a:xfrm>
          <a:prstGeom prst="rect">
            <a:avLst/>
          </a:prstGeom>
        </p:spPr>
        <p:txBody>
          <a:bodyPr vert="horz" lIns="0" tIns="0" rIns="0" bIns="0" rtlCol="0" anchor="ctr"/>
          <a:lstStyle>
            <a:lvl1pPr algn="l">
              <a:defRPr sz="1000">
                <a:solidFill>
                  <a:schemeClr val="bg1">
                    <a:lumMod val="50000"/>
                  </a:schemeClr>
                </a:solidFill>
              </a:defRPr>
            </a:lvl1pPr>
          </a:lstStyle>
          <a:p>
            <a:endParaRPr lang="en-US"/>
          </a:p>
        </p:txBody>
      </p:sp>
      <p:sp>
        <p:nvSpPr>
          <p:cNvPr id="6" name="Slide Number Placeholder 5">
            <a:extLst>
              <a:ext uri="{FF2B5EF4-FFF2-40B4-BE49-F238E27FC236}">
                <a16:creationId xmlns:a16="http://schemas.microsoft.com/office/drawing/2014/main" id="{A80051E2-0E41-A34C-8D98-2FD15D190DD1}"/>
              </a:ext>
            </a:extLst>
          </p:cNvPr>
          <p:cNvSpPr>
            <a:spLocks noGrp="1"/>
          </p:cNvSpPr>
          <p:nvPr>
            <p:ph type="sldNum" sz="quarter" idx="4"/>
          </p:nvPr>
        </p:nvSpPr>
        <p:spPr>
          <a:xfrm>
            <a:off x="10778646" y="6445229"/>
            <a:ext cx="879953" cy="187367"/>
          </a:xfrm>
          <a:prstGeom prst="rect">
            <a:avLst/>
          </a:prstGeom>
        </p:spPr>
        <p:txBody>
          <a:bodyPr vert="horz" lIns="0" tIns="0" rIns="0" bIns="0" rtlCol="0" anchor="ctr"/>
          <a:lstStyle>
            <a:lvl1pPr algn="r">
              <a:defRPr sz="1000">
                <a:solidFill>
                  <a:schemeClr val="bg1">
                    <a:lumMod val="50000"/>
                  </a:schemeClr>
                </a:solidFill>
              </a:defRPr>
            </a:lvl1pPr>
          </a:lstStyle>
          <a:p>
            <a:fld id="{914EC2E2-0820-654D-85EB-EBA0A2E7E8B4}" type="slidenum">
              <a:rPr lang="en-US" smtClean="0"/>
              <a:pPr/>
              <a:t>‹#›</a:t>
            </a:fld>
            <a:endParaRPr lang="en-US"/>
          </a:p>
        </p:txBody>
      </p:sp>
    </p:spTree>
    <p:extLst>
      <p:ext uri="{BB962C8B-B14F-4D97-AF65-F5344CB8AC3E}">
        <p14:creationId xmlns:p14="http://schemas.microsoft.com/office/powerpoint/2010/main" val="3914225784"/>
      </p:ext>
    </p:extLst>
  </p:cSld>
  <p:clrMap bg1="lt1" tx1="dk1" bg2="lt2" tx2="dk2" accent1="accent1" accent2="accent2" accent3="accent3" accent4="accent4" accent5="accent5" accent6="accent6" hlink="hlink" folHlink="folHlink"/>
  <p:sldLayoutIdLst>
    <p:sldLayoutId id="2147483658" r:id="rId1"/>
    <p:sldLayoutId id="2147483660" r:id="rId2"/>
    <p:sldLayoutId id="2147483662" r:id="rId3"/>
    <p:sldLayoutId id="2147483663" r:id="rId4"/>
    <p:sldLayoutId id="2147483666" r:id="rId5"/>
    <p:sldLayoutId id="2147483687" r:id="rId6"/>
    <p:sldLayoutId id="2147483703" r:id="rId7"/>
  </p:sldLayoutIdLst>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456" userDrawn="1">
          <p15:clr>
            <a:srgbClr val="F26B43"/>
          </p15:clr>
        </p15:guide>
        <p15:guide id="3" pos="7224" userDrawn="1">
          <p15:clr>
            <a:srgbClr val="F26B43"/>
          </p15:clr>
        </p15:guide>
        <p15:guide id="4" orient="horz" pos="264" userDrawn="1">
          <p15:clr>
            <a:srgbClr val="F26B43"/>
          </p15:clr>
        </p15:guide>
        <p15:guide id="6" orient="horz" pos="405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Komponen Landskap</a:t>
            </a:r>
          </a:p>
        </p:txBody>
      </p:sp>
      <p:sp>
        <p:nvSpPr>
          <p:cNvPr id="9"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S01 — TAJUK</a:t>
            </a:r>
          </a:p>
          <a:p>
            <a:r>
              <a:rPr lang="en-MY" sz="1200" dirty="0"/>
              <a:t>PARTIAL_SOURCE.</a:t>
            </a:r>
          </a:p>
          <a:p>
            <a:r>
              <a:rPr lang="en-MY" sz="1200" dirty="0"/>
              <a:t>Verified: course/topic strings (probe notes header, all 4).</a:t>
            </a:r>
          </a:p>
          <a:p>
            <a:r>
              <a:rPr lang="en-MY" sz="1200" dirty="0"/>
              <a:t>Everything else SOURCE PENDING.</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Komponen Landskap</a:t>
            </a:r>
          </a:p>
        </p:txBody>
      </p:sp>
      <p:sp>
        <p:nvSpPr>
          <p:cNvPr id="20" name="TextBox A"/>
          <p:cNvSpPr txBox="1"/>
          <p:nvPr/>
        </p:nvSpPr>
        <p:spPr>
          <a:xfrm>
            <a:off x="723930" y="2377440"/>
            <a:ext cx="10744200" cy="566928"/>
          </a:xfrm>
          <a:prstGeom prst="rect">
            <a:avLst/>
          </a:prstGeom>
          <a:noFill/>
        </p:spPr>
        <p:txBody>
          <a:bodyPr wrap="square">
            <a:spAutoFit/>
          </a:bodyPr>
          <a:lstStyle/>
          <a:p>
            <a:pPr algn="ctr"/>
            <a:r>
              <a:rPr lang="en-MY" sz="2800" b="1" dirty="0"/>
              <a:t>PL06: Pengurusan Operasi Pembinaan Landskap</a:t>
            </a:r>
          </a:p>
        </p:txBody>
      </p:sp>
      <p:sp>
        <p:nvSpPr>
          <p:cNvPr id="21" name="TextBox B"/>
          <p:cNvSpPr txBox="1"/>
          <p:nvPr/>
        </p:nvSpPr>
        <p:spPr>
          <a:xfrm>
            <a:off x="723930" y="3063240"/>
            <a:ext cx="10744200" cy="502920"/>
          </a:xfrm>
          <a:prstGeom prst="rect">
            <a:avLst/>
          </a:prstGeom>
          <a:noFill/>
        </p:spPr>
        <p:txBody>
          <a:bodyPr wrap="square">
            <a:spAutoFit/>
          </a:bodyPr>
          <a:lstStyle/>
          <a:p>
            <a:pPr algn="ctr"/>
            <a:r>
              <a:rPr lang="en-MY" sz="2200" dirty="0"/>
              <a:t>Topik 3 Bahagian 2: Komponen Landskap</a:t>
            </a:r>
          </a:p>
        </p:txBody>
      </p:sp>
      <p:sp>
        <p:nvSpPr>
          <p:cNvPr id="22" name="SOURCE PENDING"/>
          <p:cNvSpPr txBox="1"/>
          <p:nvPr/>
        </p:nvSpPr>
        <p:spPr>
          <a:xfrm>
            <a:off x="723930" y="4069080"/>
            <a:ext cx="10744200" cy="1234440"/>
          </a:xfrm>
          <a:prstGeom prst="rect">
            <a:avLst/>
          </a:prstGeom>
          <a:solidFill>
            <a:srgbClr val="FFF2CC"/>
          </a:solidFill>
          <a:ln w="19050">
            <a:solidFill>
              <a:srgbClr val="BF8F00"/>
            </a:solidFill>
            <a:prstDash val="dash"/>
          </a:ln>
        </p:spPr>
        <p:txBody>
          <a:bodyPr wrap="square" anchor="ctr">
            <a:noAutofit/>
          </a:bodyPr>
          <a:lstStyle/>
          <a:p>
            <a:pPr algn="ctr"/>
            <a:r>
              <a:rPr lang="en-MY" sz="1800" b="1" dirty="0">
                <a:solidFill>
                  <a:srgbClr val="7F6000"/>
                </a:solidFill>
              </a:rPr>
              <a:t>SOURCE PENDING</a:t>
            </a:r>
          </a:p>
          <a:p>
            <a:pPr algn="ctr"/>
            <a:r>
              <a:rPr lang="en-MY" sz="1400" dirty="0">
                <a:solidFill>
                  <a:srgbClr val="7F6000"/>
                </a:solidFill>
              </a:rPr>
              <a:t>Title-screen furniture, imagery and VO not verified.</a:t>
            </a:r>
          </a:p>
          <a:p>
            <a:pPr algn="ctr"/>
            <a:r>
              <a:rPr lang="en-MY" sz="1400" dirty="0">
                <a:solidFill>
                  <a:srgbClr val="7F6000"/>
                </a:solidFill>
              </a:rPr>
              <a:t>Only the two strings above are source-bound.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Dialog</a:t>
            </a:r>
          </a:p>
        </p:txBody>
      </p:sp>
      <p:sp>
        <p:nvSpPr>
          <p:cNvPr id="9"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S02 — DIALOG</a:t>
            </a:r>
          </a:p>
          <a:p>
            <a:r>
              <a:rPr lang="en-MY" sz="1200" dirty="0"/>
              <a:t>MISSING_SOURCE.</a:t>
            </a:r>
          </a:p>
          <a:p>
            <a:r>
              <a:rPr lang="en-MY" sz="1200" dirty="0"/>
              <a:t>Decision slot (K5, PL06, s02) Scenario + Casting is EMPTY.</a:t>
            </a:r>
          </a:p>
          <a:p>
            <a:r>
              <a:rPr lang="en-MY" sz="1200" dirty="0"/>
              <a:t>Current B02 cast NOT PROVABLE (A-13).</a:t>
            </a:r>
          </a:p>
          <a:p>
            <a:r>
              <a:rPr lang="en-MY" sz="1200" dirty="0"/>
              <a:t>Role-neutral placeholders only. No dialogue invented.</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Dialog</a:t>
            </a:r>
          </a:p>
        </p:txBody>
      </p:sp>
      <p:sp>
        <p:nvSpPr>
          <p:cNvPr id="19" name="Rectangle 9"/>
          <p:cNvSpPr/>
          <p:nvPr/>
        </p:nvSpPr>
        <p:spPr>
          <a:xfrm>
            <a:off x="723930" y="1628821"/>
            <a:ext cx="10744200" cy="1874520"/>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SOURCE PENDING — scene not specified.</a:t>
            </a:r>
          </a:p>
        </p:txBody>
      </p:sp>
      <p:sp>
        <p:nvSpPr>
          <p:cNvPr id="20" name="TextBox 3"/>
          <p:cNvSpPr txBox="1"/>
          <p:nvPr/>
        </p:nvSpPr>
        <p:spPr>
          <a:xfrm>
            <a:off x="723930" y="3611880"/>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[PELATIH]</a:t>
            </a:r>
          </a:p>
        </p:txBody>
      </p:sp>
      <p:sp>
        <p:nvSpPr>
          <p:cNvPr id="21" name="TextBox 3"/>
          <p:cNvSpPr txBox="1"/>
          <p:nvPr/>
        </p:nvSpPr>
        <p:spPr>
          <a:xfrm>
            <a:off x="4186763" y="3611880"/>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[PENYELIA]</a:t>
            </a:r>
          </a:p>
        </p:txBody>
      </p:sp>
      <p:sp>
        <p:nvSpPr>
          <p:cNvPr id="22" name="SOURCE PENDING"/>
          <p:cNvSpPr txBox="1"/>
          <p:nvPr/>
        </p:nvSpPr>
        <p:spPr>
          <a:xfrm>
            <a:off x="723930" y="4297680"/>
            <a:ext cx="10744200" cy="1920240"/>
          </a:xfrm>
          <a:prstGeom prst="rect">
            <a:avLst/>
          </a:prstGeom>
          <a:solidFill>
            <a:srgbClr val="FFF2CC"/>
          </a:solidFill>
          <a:ln w="19050">
            <a:solidFill>
              <a:srgbClr val="BF8F00"/>
            </a:solidFill>
            <a:prstDash val="dash"/>
          </a:ln>
        </p:spPr>
        <p:txBody>
          <a:bodyPr wrap="square" anchor="ctr">
            <a:noAutofit/>
          </a:bodyPr>
          <a:lstStyle/>
          <a:p>
            <a:pPr algn="ctr"/>
            <a:r>
              <a:rPr lang="en-MY" sz="1800" b="1" dirty="0">
                <a:solidFill>
                  <a:srgbClr val="7F6000"/>
                </a:solidFill>
              </a:rPr>
              <a:t>SOURCE PENDING</a:t>
            </a:r>
          </a:p>
          <a:p>
            <a:pPr algn="ctr"/>
            <a:r>
              <a:rPr lang="en-MY" sz="1400" dirty="0">
                <a:solidFill>
                  <a:srgbClr val="7F6000"/>
                </a:solidFill>
              </a:rPr>
              <a:t>Casting decision was never made — the desk slot is empty.</a:t>
            </a:r>
          </a:p>
          <a:p>
            <a:pPr algn="ctr"/>
            <a:r>
              <a:rPr lang="en-MY" sz="1400" dirty="0">
                <a:solidFill>
                  <a:srgbClr val="7F6000"/>
                </a:solidFill>
              </a:rPr>
              <a:t>No scenario, no dialogue line and no named character is invented.</a:t>
            </a:r>
          </a:p>
          <a:p>
            <a:pPr algn="ctr"/>
            <a:r>
              <a:rPr lang="en-MY" sz="1400" dirty="0">
                <a:solidFill>
                  <a:srgbClr val="7F6000"/>
                </a:solidFill>
              </a:rPr>
              <a:t>Placeholders are role-neutral by instruction.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Gambaran Keseluruhan</a:t>
            </a:r>
          </a:p>
        </p:txBody>
      </p:sp>
      <p:sp>
        <p:nvSpPr>
          <p:cNvPr id="9"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S03 — OVERVIEW</a:t>
            </a:r>
          </a:p>
          <a:p>
            <a:r>
              <a:rPr lang="en-MY" sz="1200" dirty="0"/>
              <a:t>MISSING_SOURCE.</a:t>
            </a:r>
          </a:p>
          <a:p>
            <a:r>
              <a:rPr lang="en-MY" sz="1200" dirty="0"/>
              <a:t>Decision slot (K5, PL06, s03) Reflection Prompt is EMPTY.</a:t>
            </a:r>
          </a:p>
          <a:p>
            <a:r>
              <a:rPr lang="en-MY" sz="1200" dirty="0"/>
              <a:t>Narrator may be introduced visually here (A-09).</a:t>
            </a:r>
          </a:p>
          <a:p>
            <a:r>
              <a:rPr lang="en-MY" sz="1200" dirty="0"/>
              <a:t>No routine "Hilmi:" VO prefix anywhere in the deck.</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Gambaran Keseluruhan</a:t>
            </a:r>
          </a:p>
        </p:txBody>
      </p:sp>
      <p:sp>
        <p:nvSpPr>
          <p:cNvPr id="19" name="Rectangle 9"/>
          <p:cNvSpPr/>
          <p:nvPr/>
        </p:nvSpPr>
        <p:spPr>
          <a:xfrm>
            <a:off x="723930" y="1628821"/>
            <a:ext cx="4846320" cy="2377440"/>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SOURCE PENDING</a:t>
            </a:r>
          </a:p>
        </p:txBody>
      </p:sp>
      <p:sp>
        <p:nvSpPr>
          <p:cNvPr id="20" name="Narrator"/>
          <p:cNvSpPr txBox="1"/>
          <p:nvPr/>
        </p:nvSpPr>
        <p:spPr>
          <a:xfrm>
            <a:off x="5806440" y="1628821"/>
            <a:ext cx="5661690" cy="502920"/>
          </a:xfrm>
          <a:prstGeom prst="rect">
            <a:avLst/>
          </a:prstGeom>
          <a:noFill/>
        </p:spPr>
        <p:txBody>
          <a:bodyPr wrap="square">
            <a:spAutoFit/>
          </a:bodyPr>
          <a:lstStyle/>
          <a:p>
            <a:r>
              <a:rPr lang="en-MY" sz="2400" b="1" dirty="0"/>
              <a:t>Hilmi</a:t>
            </a:r>
          </a:p>
        </p:txBody>
      </p:sp>
      <p:sp>
        <p:nvSpPr>
          <p:cNvPr id="21" name="NarratorRole"/>
          <p:cNvSpPr txBox="1"/>
          <p:nvPr/>
        </p:nvSpPr>
        <p:spPr>
          <a:xfrm>
            <a:off x="5806440" y="2194560"/>
            <a:ext cx="5661690" cy="411480"/>
          </a:xfrm>
          <a:prstGeom prst="rect">
            <a:avLst/>
          </a:prstGeom>
          <a:noFill/>
        </p:spPr>
        <p:txBody>
          <a:bodyPr wrap="square">
            <a:spAutoFit/>
          </a:bodyPr>
          <a:lstStyle/>
          <a:p>
            <a:r>
              <a:rPr lang="en-MY" sz="1600" dirty="0"/>
              <a:t>Narator kursus (VO sahaja)</a:t>
            </a:r>
          </a:p>
        </p:txBody>
      </p:sp>
      <p:sp>
        <p:nvSpPr>
          <p:cNvPr id="22" name="NarratorProv"/>
          <p:cNvSpPr txBox="1"/>
          <p:nvPr/>
        </p:nvSpPr>
        <p:spPr>
          <a:xfrm>
            <a:off x="5806440" y="2697480"/>
            <a:ext cx="5661690" cy="384048"/>
          </a:xfrm>
          <a:prstGeom prst="rect">
            <a:avLst/>
          </a:prstGeom>
          <a:noFill/>
        </p:spPr>
        <p:txBody>
          <a:bodyPr wrap="square">
            <a:spAutoFit/>
          </a:bodyPr>
          <a:lstStyle/>
          <a:p>
            <a:r>
              <a:rPr lang="en-MY" sz="1200" dirty="0">
                <a:solidFill>
                  <a:srgbClr val="7F6000"/>
                </a:solidFill>
              </a:rPr>
              <a:t>Sumber: character bank — status LOCKED</a:t>
            </a:r>
          </a:p>
        </p:txBody>
      </p:sp>
      <p:sp>
        <p:nvSpPr>
          <p:cNvPr id="23" name="SOURCE PENDING"/>
          <p:cNvSpPr txBox="1"/>
          <p:nvPr/>
        </p:nvSpPr>
        <p:spPr>
          <a:xfrm>
            <a:off x="723930" y="4251960"/>
            <a:ext cx="10744200" cy="1965960"/>
          </a:xfrm>
          <a:prstGeom prst="rect">
            <a:avLst/>
          </a:prstGeom>
          <a:solidFill>
            <a:srgbClr val="FFF2CC"/>
          </a:solidFill>
          <a:ln w="19050">
            <a:solidFill>
              <a:srgbClr val="BF8F00"/>
            </a:solidFill>
            <a:prstDash val="dash"/>
          </a:ln>
        </p:spPr>
        <p:txBody>
          <a:bodyPr wrap="square" anchor="ctr">
            <a:noAutofit/>
          </a:bodyPr>
          <a:lstStyle/>
          <a:p>
            <a:pPr algn="ctr"/>
            <a:r>
              <a:rPr lang="en-MY" sz="1800" b="1" dirty="0">
                <a:solidFill>
                  <a:srgbClr val="7F6000"/>
                </a:solidFill>
              </a:rPr>
              <a:t>SOURCE PENDING</a:t>
            </a:r>
          </a:p>
          <a:p>
            <a:pPr algn="ctr"/>
            <a:r>
              <a:rPr lang="en-MY" sz="1400" dirty="0">
                <a:solidFill>
                  <a:srgbClr val="7F6000"/>
                </a:solidFill>
              </a:rPr>
              <a:t>Overview content and reflection question not verified.</a:t>
            </a:r>
          </a:p>
          <a:p>
            <a:pPr algn="ctr"/>
            <a:r>
              <a:rPr lang="en-MY" sz="1400" dirty="0">
                <a:solidFill>
                  <a:srgbClr val="7F6000"/>
                </a:solidFill>
              </a:rPr>
              <a:t>Only the narrator identity above is source-bound (ratified, LOCKED).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9"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S04 — CR_BASE (Struktur Taman)</a:t>
            </a:r>
          </a:p>
          <a:p>
            <a:r>
              <a:rPr lang="en-MY" sz="1200" dirty="0"/>
              <a:t>VERIFIED_SOURCE.</a:t>
            </a:r>
          </a:p>
          <a:p>
            <a:r>
              <a:rPr lang="en-MY" sz="1200" dirty="0"/>
              <a:t>CLICK_REVEAL / trigger CARD / reveal FULL_SLIDE.</a:t>
            </a:r>
          </a:p>
          <a:p>
            <a:r>
              <a:rPr lang="en-MY" sz="1200" dirty="0"/>
              <a:t>4 children: S05 S06 S07 S08 -&gt; S09 TICK.</a:t>
            </a:r>
          </a:p>
          <a:p>
            <a:r>
              <a:rPr lang="en-MY" sz="1200" dirty="0"/>
              <a:t>Locator: K5PL06T03-B02-IMG-01, ms 237.</a:t>
            </a:r>
          </a:p>
          <a:p>
            <a:r>
              <a:rPr lang="en-MY" sz="1200" dirty="0"/>
              <a:t>Geometry from parameter rules (v0.3 accepted).</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Struktur Taman</a:t>
            </a:r>
          </a:p>
        </p:txBody>
      </p:sp>
      <p:sp>
        <p:nvSpPr>
          <p:cNvPr id="25" name="TextBox 14"/>
          <p:cNvSpPr txBox="1"/>
          <p:nvPr/>
        </p:nvSpPr>
        <p:spPr>
          <a:xfrm>
            <a:off x="2174397" y="1182868"/>
            <a:ext cx="7843175" cy="369326"/>
          </a:xfrm>
          <a:prstGeom prst="rect">
            <a:avLst/>
          </a:prstGeom>
          <a:noFill/>
        </p:spPr>
        <p:txBody>
          <a:bodyPr wrap="square">
            <a:spAutoFit/>
          </a:bodyPr>
          <a:lstStyle/>
          <a:p>
            <a:pPr algn="ctr"/>
            <a:r>
              <a:rPr lang="en-MY" dirty="0"/>
              <a:t>Klik pada setiap struktur untuk penjelasan lanjut.</a:t>
            </a:r>
          </a:p>
        </p:txBody>
      </p:sp>
      <p:sp>
        <p:nvSpPr>
          <p:cNvPr id="30" name="Rectangle 9"/>
          <p:cNvSpPr/>
          <p:nvPr/>
        </p:nvSpPr>
        <p:spPr>
          <a:xfrm>
            <a:off x="2174397" y="1777411"/>
            <a:ext cx="3598164"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Struktur Persisir Air</a:t>
            </a:r>
          </a:p>
        </p:txBody>
      </p:sp>
      <p:sp>
        <p:nvSpPr>
          <p:cNvPr id="31" name="TextBox 3"/>
          <p:cNvSpPr txBox="1"/>
          <p:nvPr/>
        </p:nvSpPr>
        <p:spPr>
          <a:xfrm>
            <a:off x="2318324" y="3614075"/>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Struktur Persisir Air</a:t>
            </a:r>
          </a:p>
        </p:txBody>
      </p:sp>
      <p:sp>
        <p:nvSpPr>
          <p:cNvPr id="32" name="Rectangle 9"/>
          <p:cNvSpPr/>
          <p:nvPr/>
        </p:nvSpPr>
        <p:spPr>
          <a:xfrm>
            <a:off x="6419408" y="1777411"/>
            <a:ext cx="3598164"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Struktur Teduhan</a:t>
            </a:r>
          </a:p>
        </p:txBody>
      </p:sp>
      <p:sp>
        <p:nvSpPr>
          <p:cNvPr id="33" name="TextBox 3"/>
          <p:cNvSpPr txBox="1"/>
          <p:nvPr/>
        </p:nvSpPr>
        <p:spPr>
          <a:xfrm>
            <a:off x="6563335" y="3614075"/>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Struktur Teduhan</a:t>
            </a:r>
          </a:p>
        </p:txBody>
      </p:sp>
      <p:sp>
        <p:nvSpPr>
          <p:cNvPr id="34" name="Rectangle 9"/>
          <p:cNvSpPr/>
          <p:nvPr/>
        </p:nvSpPr>
        <p:spPr>
          <a:xfrm>
            <a:off x="2174397" y="4299875"/>
            <a:ext cx="3598164"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Kemudahan Awam</a:t>
            </a:r>
          </a:p>
        </p:txBody>
      </p:sp>
      <p:sp>
        <p:nvSpPr>
          <p:cNvPr id="35" name="TextBox 3"/>
          <p:cNvSpPr txBox="1"/>
          <p:nvPr/>
        </p:nvSpPr>
        <p:spPr>
          <a:xfrm>
            <a:off x="2318324" y="6136538"/>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Kemudahan Awam</a:t>
            </a:r>
          </a:p>
        </p:txBody>
      </p:sp>
      <p:sp>
        <p:nvSpPr>
          <p:cNvPr id="36" name="Rectangle 9"/>
          <p:cNvSpPr/>
          <p:nvPr/>
        </p:nvSpPr>
        <p:spPr>
          <a:xfrm>
            <a:off x="6419408" y="4299875"/>
            <a:ext cx="3598164"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i="1" dirty="0">
                <a:solidFill>
                  <a:schemeClr val="tx1">
                    <a:lumMod val="85000"/>
                    <a:lumOff val="15000"/>
                  </a:schemeClr>
                </a:solidFill>
              </a:rPr>
              <a:t>Water Feature</a:t>
            </a:r>
          </a:p>
        </p:txBody>
      </p:sp>
      <p:sp>
        <p:nvSpPr>
          <p:cNvPr id="37" name="TextBox 3"/>
          <p:cNvSpPr txBox="1"/>
          <p:nvPr/>
        </p:nvSpPr>
        <p:spPr>
          <a:xfrm>
            <a:off x="6563335" y="6136538"/>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i="1" dirty="0"/>
              <a:t>Water Feature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6"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S05 — FULL (reveal child)</a:t>
            </a:r>
          </a:p>
          <a:p>
            <a:r>
              <a:rPr lang="en-MY" sz="1200" dirty="0"/>
              <a:t>PARTIAL_SOURCE — label verified, body SOURCE PENDING.</a:t>
            </a:r>
          </a:p>
          <a:p>
            <a:r>
              <a:rPr lang="en-MY" sz="1200" dirty="0"/>
              <a:t>Archetype: split-STATE. Panel 5.8621 wide (43.97% stage).</a:t>
            </a:r>
          </a:p>
          <a:p>
            <a:r>
              <a:rPr lang="en-MY" sz="1200" dirty="0"/>
              <a:t>v0.3 navigation strip 0.58 in reserved below panel.</a:t>
            </a:r>
          </a:p>
          <a:p>
            <a:r>
              <a:rPr lang="en-MY" sz="1200" dirty="0"/>
              <a:t>Kembali: exactly one, clearance 0.10 above and below.</a:t>
            </a:r>
          </a:p>
          <a:p>
            <a:r>
              <a:rPr lang="en-MY" sz="1200" dirty="0"/>
              <a:t>Locator: SOURCE PENDING (parent S04 image is IMG-01 ms 237).</a:t>
            </a:r>
          </a:p>
          <a:p>
            <a:r>
              <a:rPr lang="en-MY" sz="1200" dirty="0"/>
              <a:t>Screen assignment provisional — derived from S04 label order.</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Struktur Persisir Air</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SOURCE PENDING</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dirty="0"/>
              <a:t>Struktur Persisir Air</a:t>
            </a:r>
          </a:p>
        </p:txBody>
      </p:sp>
      <p:sp>
        <p:nvSpPr>
          <p:cNvPr id="9" name="SOURCE PENDING"/>
          <p:cNvSpPr txBox="1"/>
          <p:nvPr/>
        </p:nvSpPr>
        <p:spPr>
          <a:xfrm>
            <a:off x="6278910" y="2340315"/>
            <a:ext cx="5177424" cy="3539460"/>
          </a:xfrm>
          <a:prstGeom prst="rect">
            <a:avLst/>
          </a:prstGeom>
          <a:solidFill>
            <a:srgbClr val="FFF2CC"/>
          </a:solidFill>
          <a:ln w="19050">
            <a:solidFill>
              <a:srgbClr val="BF8F00"/>
            </a:solidFill>
            <a:prstDash val="dash"/>
          </a:ln>
        </p:spPr>
        <p:txBody>
          <a:bodyPr wrap="square" anchor="ctr">
            <a:noAutofit/>
          </a:bodyPr>
          <a:lstStyle/>
          <a:p>
            <a:pPr algn="ctr"/>
            <a:r>
              <a:rPr lang="en-MY" sz="1800" b="1" dirty="0">
                <a:solidFill>
                  <a:srgbClr val="7F6000"/>
                </a:solidFill>
              </a:rPr>
              <a:t>SOURCE PENDING</a:t>
            </a:r>
          </a:p>
          <a:p>
            <a:pPr algn="ctr"/>
            <a:r>
              <a:rPr lang="en-MY" sz="1400" dirty="0">
                <a:solidFill>
                  <a:srgbClr val="7F6000"/>
                </a:solidFill>
              </a:rPr>
              <a:t>No verified display text or VO for this screen.</a:t>
            </a:r>
          </a:p>
          <a:p>
            <a:pPr algn="ctr"/>
            <a:r>
              <a:rPr lang="en-MY" sz="1400" dirty="0">
                <a:solidFill>
                  <a:srgbClr val="7F6000"/>
                </a:solidFill>
              </a:rPr>
              <a:t>Label above is source-bound; screen assignment is provisional.</a:t>
            </a:r>
          </a:p>
        </p:txBody>
      </p:sp>
      <p:sp>
        <p:nvSpPr>
          <p:cNvPr id="11" name="TextBox 19"/>
          <p:cNvSpPr txBox="1"/>
          <p:nvPr/>
        </p:nvSpPr>
        <p:spPr>
          <a:xfrm>
            <a:off x="5387325" y="6419088"/>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6"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S06 — FULL (reveal child)</a:t>
            </a:r>
          </a:p>
          <a:p>
            <a:r>
              <a:rPr lang="en-MY" sz="1200" dirty="0"/>
              <a:t>PARTIAL_SOURCE — label verified, body SOURCE PENDING.</a:t>
            </a:r>
          </a:p>
          <a:p>
            <a:r>
              <a:rPr lang="en-MY" sz="1200" dirty="0"/>
              <a:t>Archetype: split-STATE. Panel 5.8621 wide (43.97% stage).</a:t>
            </a:r>
          </a:p>
          <a:p>
            <a:r>
              <a:rPr lang="en-MY" sz="1200" dirty="0"/>
              <a:t>v0.3 navigation strip 0.58 in reserved below panel.</a:t>
            </a:r>
          </a:p>
          <a:p>
            <a:r>
              <a:rPr lang="en-MY" sz="1200" dirty="0"/>
              <a:t>Kembali: exactly one, clearance 0.10 above and below.</a:t>
            </a:r>
          </a:p>
          <a:p>
            <a:r>
              <a:rPr lang="en-MY" sz="1200" dirty="0"/>
              <a:t>Locator: SOURCE PENDING (parent S04 image is IMG-01 ms 237).</a:t>
            </a:r>
          </a:p>
          <a:p>
            <a:r>
              <a:rPr lang="en-MY" sz="1200" dirty="0"/>
              <a:t>Screen assignment provisional — derived from S04 label order.</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Struktur Teduhan</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SOURCE PENDING</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dirty="0"/>
              <a:t>Struktur Teduhan</a:t>
            </a:r>
          </a:p>
        </p:txBody>
      </p:sp>
      <p:sp>
        <p:nvSpPr>
          <p:cNvPr id="9" name="SOURCE PENDING"/>
          <p:cNvSpPr txBox="1"/>
          <p:nvPr/>
        </p:nvSpPr>
        <p:spPr>
          <a:xfrm>
            <a:off x="6278910" y="2340315"/>
            <a:ext cx="5177424" cy="3539460"/>
          </a:xfrm>
          <a:prstGeom prst="rect">
            <a:avLst/>
          </a:prstGeom>
          <a:solidFill>
            <a:srgbClr val="FFF2CC"/>
          </a:solidFill>
          <a:ln w="19050">
            <a:solidFill>
              <a:srgbClr val="BF8F00"/>
            </a:solidFill>
            <a:prstDash val="dash"/>
          </a:ln>
        </p:spPr>
        <p:txBody>
          <a:bodyPr wrap="square" anchor="ctr">
            <a:noAutofit/>
          </a:bodyPr>
          <a:lstStyle/>
          <a:p>
            <a:pPr algn="ctr"/>
            <a:r>
              <a:rPr lang="en-MY" sz="1800" b="1" dirty="0">
                <a:solidFill>
                  <a:srgbClr val="7F6000"/>
                </a:solidFill>
              </a:rPr>
              <a:t>SOURCE PENDING</a:t>
            </a:r>
          </a:p>
          <a:p>
            <a:pPr algn="ctr"/>
            <a:r>
              <a:rPr lang="en-MY" sz="1400" dirty="0">
                <a:solidFill>
                  <a:srgbClr val="7F6000"/>
                </a:solidFill>
              </a:rPr>
              <a:t>No verified display text or VO for this screen.</a:t>
            </a:r>
          </a:p>
          <a:p>
            <a:pPr algn="ctr"/>
            <a:r>
              <a:rPr lang="en-MY" sz="1400" dirty="0">
                <a:solidFill>
                  <a:srgbClr val="7F6000"/>
                </a:solidFill>
              </a:rPr>
              <a:t>Label above is source-bound; screen assignment is provisional.</a:t>
            </a:r>
          </a:p>
        </p:txBody>
      </p:sp>
      <p:sp>
        <p:nvSpPr>
          <p:cNvPr id="11" name="TextBox 19"/>
          <p:cNvSpPr txBox="1"/>
          <p:nvPr/>
        </p:nvSpPr>
        <p:spPr>
          <a:xfrm>
            <a:off x="5387325" y="6419088"/>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6"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S07 — FULL (reveal child)</a:t>
            </a:r>
          </a:p>
          <a:p>
            <a:r>
              <a:rPr lang="en-MY" sz="1200" dirty="0"/>
              <a:t>PARTIAL_SOURCE — label verified, body SOURCE PENDING.</a:t>
            </a:r>
          </a:p>
          <a:p>
            <a:r>
              <a:rPr lang="en-MY" sz="1200" dirty="0"/>
              <a:t>Archetype: split-STATE. Panel 5.8621 wide (43.97% stage).</a:t>
            </a:r>
          </a:p>
          <a:p>
            <a:r>
              <a:rPr lang="en-MY" sz="1200" dirty="0"/>
              <a:t>v0.3 navigation strip 0.58 in reserved below panel.</a:t>
            </a:r>
          </a:p>
          <a:p>
            <a:r>
              <a:rPr lang="en-MY" sz="1200" dirty="0"/>
              <a:t>Kembali: exactly one, clearance 0.10 above and below.</a:t>
            </a:r>
          </a:p>
          <a:p>
            <a:r>
              <a:rPr lang="en-MY" sz="1200" dirty="0"/>
              <a:t>Locator: SOURCE PENDING (parent S04 image is IMG-01 ms 237).</a:t>
            </a:r>
          </a:p>
          <a:p>
            <a:r>
              <a:rPr lang="en-MY" sz="1200" dirty="0"/>
              <a:t>Screen assignment provisional — derived from S04 label order.</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Kemudahan Awam</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SOURCE PENDING</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dirty="0"/>
              <a:t>Kemudahan Awam</a:t>
            </a:r>
          </a:p>
        </p:txBody>
      </p:sp>
      <p:sp>
        <p:nvSpPr>
          <p:cNvPr id="9" name="SOURCE PENDING"/>
          <p:cNvSpPr txBox="1"/>
          <p:nvPr/>
        </p:nvSpPr>
        <p:spPr>
          <a:xfrm>
            <a:off x="6278910" y="2340315"/>
            <a:ext cx="5177424" cy="3539460"/>
          </a:xfrm>
          <a:prstGeom prst="rect">
            <a:avLst/>
          </a:prstGeom>
          <a:solidFill>
            <a:srgbClr val="FFF2CC"/>
          </a:solidFill>
          <a:ln w="19050">
            <a:solidFill>
              <a:srgbClr val="BF8F00"/>
            </a:solidFill>
            <a:prstDash val="dash"/>
          </a:ln>
        </p:spPr>
        <p:txBody>
          <a:bodyPr wrap="square" anchor="ctr">
            <a:noAutofit/>
          </a:bodyPr>
          <a:lstStyle/>
          <a:p>
            <a:pPr algn="ctr"/>
            <a:r>
              <a:rPr lang="en-MY" sz="1800" b="1" dirty="0">
                <a:solidFill>
                  <a:srgbClr val="7F6000"/>
                </a:solidFill>
              </a:rPr>
              <a:t>SOURCE PENDING</a:t>
            </a:r>
          </a:p>
          <a:p>
            <a:pPr algn="ctr"/>
            <a:r>
              <a:rPr lang="en-MY" sz="1400" dirty="0">
                <a:solidFill>
                  <a:srgbClr val="7F6000"/>
                </a:solidFill>
              </a:rPr>
              <a:t>No verified display text or VO for this screen.</a:t>
            </a:r>
          </a:p>
          <a:p>
            <a:pPr algn="ctr"/>
            <a:r>
              <a:rPr lang="en-MY" sz="1400" dirty="0">
                <a:solidFill>
                  <a:srgbClr val="7F6000"/>
                </a:solidFill>
              </a:rPr>
              <a:t>Label above is source-bound; screen assignment is provisional.</a:t>
            </a:r>
          </a:p>
        </p:txBody>
      </p:sp>
      <p:sp>
        <p:nvSpPr>
          <p:cNvPr id="11" name="TextBox 19"/>
          <p:cNvSpPr txBox="1"/>
          <p:nvPr/>
        </p:nvSpPr>
        <p:spPr>
          <a:xfrm>
            <a:off x="5387325" y="6419088"/>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6"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S08 — FULL (reveal child)</a:t>
            </a:r>
          </a:p>
          <a:p>
            <a:r>
              <a:rPr lang="en-MY" sz="1200" dirty="0"/>
              <a:t>PARTIAL_SOURCE — label verified, body SOURCE PENDING.</a:t>
            </a:r>
          </a:p>
          <a:p>
            <a:r>
              <a:rPr lang="en-MY" sz="1200" dirty="0"/>
              <a:t>Archetype: split-STATE. Panel 5.8621 wide (43.97% stage).</a:t>
            </a:r>
          </a:p>
          <a:p>
            <a:r>
              <a:rPr lang="en-MY" sz="1200" dirty="0"/>
              <a:t>v0.3 navigation strip 0.58 in reserved below panel.</a:t>
            </a:r>
          </a:p>
          <a:p>
            <a:r>
              <a:rPr lang="en-MY" sz="1200" dirty="0"/>
              <a:t>Kembali: exactly one, clearance 0.10 above and below.</a:t>
            </a:r>
          </a:p>
          <a:p>
            <a:r>
              <a:rPr lang="en-MY" sz="1200" dirty="0"/>
              <a:t>Locator: SOURCE PENDING (parent S04 image is IMG-01 ms 237).</a:t>
            </a:r>
          </a:p>
          <a:p>
            <a:r>
              <a:rPr lang="en-MY" sz="1200" dirty="0"/>
              <a:t>Screen assignment provisional — derived from S04 label order.</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Water Feature</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SOURCE PENDING</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i="1" dirty="0"/>
              <a:t>Water Feature</a:t>
            </a:r>
          </a:p>
        </p:txBody>
      </p:sp>
      <p:sp>
        <p:nvSpPr>
          <p:cNvPr id="9" name="SOURCE PENDING"/>
          <p:cNvSpPr txBox="1"/>
          <p:nvPr/>
        </p:nvSpPr>
        <p:spPr>
          <a:xfrm>
            <a:off x="6278910" y="2340315"/>
            <a:ext cx="5177424" cy="3539460"/>
          </a:xfrm>
          <a:prstGeom prst="rect">
            <a:avLst/>
          </a:prstGeom>
          <a:solidFill>
            <a:srgbClr val="FFF2CC"/>
          </a:solidFill>
          <a:ln w="19050">
            <a:solidFill>
              <a:srgbClr val="BF8F00"/>
            </a:solidFill>
            <a:prstDash val="dash"/>
          </a:ln>
        </p:spPr>
        <p:txBody>
          <a:bodyPr wrap="square" anchor="ctr">
            <a:noAutofit/>
          </a:bodyPr>
          <a:lstStyle/>
          <a:p>
            <a:pPr algn="ctr"/>
            <a:r>
              <a:rPr lang="en-MY" sz="1800" b="1" dirty="0">
                <a:solidFill>
                  <a:srgbClr val="7F6000"/>
                </a:solidFill>
              </a:rPr>
              <a:t>SOURCE PENDING</a:t>
            </a:r>
          </a:p>
          <a:p>
            <a:pPr algn="ctr"/>
            <a:r>
              <a:rPr lang="en-MY" sz="1400" dirty="0">
                <a:solidFill>
                  <a:srgbClr val="7F6000"/>
                </a:solidFill>
              </a:rPr>
              <a:t>No verified display text or VO for this screen.</a:t>
            </a:r>
          </a:p>
          <a:p>
            <a:pPr algn="ctr"/>
            <a:r>
              <a:rPr lang="en-MY" sz="1400" dirty="0">
                <a:solidFill>
                  <a:srgbClr val="7F6000"/>
                </a:solidFill>
              </a:rPr>
              <a:t>Label above is source-bound; screen assignment is provisional.</a:t>
            </a:r>
          </a:p>
        </p:txBody>
      </p:sp>
      <p:sp>
        <p:nvSpPr>
          <p:cNvPr id="11" name="TextBox 19"/>
          <p:cNvSpPr txBox="1"/>
          <p:nvPr/>
        </p:nvSpPr>
        <p:spPr>
          <a:xfrm>
            <a:off x="5387325" y="6419088"/>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9"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S09 — TICK (completion state of S04)</a:t>
            </a:r>
          </a:p>
          <a:p>
            <a:r>
              <a:rPr lang="en-MY" sz="1200" dirty="0"/>
              <a:t>VERIFIED_SOURCE.</a:t>
            </a:r>
          </a:p>
          <a:p>
            <a:r>
              <a:rPr lang="en-MY" sz="1200" dirty="0"/>
              <a:t>visited-tick + nav-lock-until-complete (LOCKED micro-behaviours).</a:t>
            </a:r>
          </a:p>
          <a:p>
            <a:r>
              <a:rPr lang="en-MY" sz="1200" dirty="0"/>
              <a:t>Ticks derived from R-TICK, one alignment intent, drawn as native geometry.</a:t>
            </a:r>
          </a:p>
          <a:p>
            <a:r>
              <a:rPr lang="en-MY" sz="1200" dirty="0"/>
              <a:t>VO intentionally EMPTY (tick convention, verified 0 ch).</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Struktur Taman</a:t>
            </a:r>
          </a:p>
        </p:txBody>
      </p:sp>
      <p:sp>
        <p:nvSpPr>
          <p:cNvPr id="25" name="TextBox 14"/>
          <p:cNvSpPr txBox="1"/>
          <p:nvPr/>
        </p:nvSpPr>
        <p:spPr>
          <a:xfrm>
            <a:off x="2174397" y="1182868"/>
            <a:ext cx="7843175" cy="369326"/>
          </a:xfrm>
          <a:prstGeom prst="rect">
            <a:avLst/>
          </a:prstGeom>
          <a:noFill/>
        </p:spPr>
        <p:txBody>
          <a:bodyPr wrap="square">
            <a:spAutoFit/>
          </a:bodyPr>
          <a:lstStyle/>
          <a:p>
            <a:pPr algn="ctr"/>
            <a:r>
              <a:rPr lang="en-MY" dirty="0"/>
              <a:t>Klik pada setiap struktur untuk penjelasan lanjut.</a:t>
            </a:r>
          </a:p>
        </p:txBody>
      </p:sp>
      <p:sp>
        <p:nvSpPr>
          <p:cNvPr id="30" name="Rectangle 9"/>
          <p:cNvSpPr/>
          <p:nvPr/>
        </p:nvSpPr>
        <p:spPr>
          <a:xfrm>
            <a:off x="2174397" y="1777411"/>
            <a:ext cx="3598164"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Struktur Persisir Air</a:t>
            </a:r>
          </a:p>
        </p:txBody>
      </p:sp>
      <p:sp>
        <p:nvSpPr>
          <p:cNvPr id="31" name="TextBox 3"/>
          <p:cNvSpPr txBox="1"/>
          <p:nvPr/>
        </p:nvSpPr>
        <p:spPr>
          <a:xfrm>
            <a:off x="2318324" y="3614075"/>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Struktur Persisir Air</a:t>
            </a:r>
          </a:p>
        </p:txBody>
      </p:sp>
      <p:sp>
        <p:nvSpPr>
          <p:cNvPr id="32" name="Rectangle 9"/>
          <p:cNvSpPr/>
          <p:nvPr/>
        </p:nvSpPr>
        <p:spPr>
          <a:xfrm>
            <a:off x="6419408" y="1777411"/>
            <a:ext cx="3598164"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Struktur Teduhan</a:t>
            </a:r>
          </a:p>
        </p:txBody>
      </p:sp>
      <p:sp>
        <p:nvSpPr>
          <p:cNvPr id="33" name="TextBox 3"/>
          <p:cNvSpPr txBox="1"/>
          <p:nvPr/>
        </p:nvSpPr>
        <p:spPr>
          <a:xfrm>
            <a:off x="6563335" y="3614075"/>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Struktur Teduhan</a:t>
            </a:r>
          </a:p>
        </p:txBody>
      </p:sp>
      <p:sp>
        <p:nvSpPr>
          <p:cNvPr id="34" name="Rectangle 9"/>
          <p:cNvSpPr/>
          <p:nvPr/>
        </p:nvSpPr>
        <p:spPr>
          <a:xfrm>
            <a:off x="2174397" y="4299875"/>
            <a:ext cx="3598164"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Kemudahan Awam</a:t>
            </a:r>
          </a:p>
        </p:txBody>
      </p:sp>
      <p:sp>
        <p:nvSpPr>
          <p:cNvPr id="35" name="TextBox 3"/>
          <p:cNvSpPr txBox="1"/>
          <p:nvPr/>
        </p:nvSpPr>
        <p:spPr>
          <a:xfrm>
            <a:off x="2318324" y="6136538"/>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Kemudahan Awam</a:t>
            </a:r>
          </a:p>
        </p:txBody>
      </p:sp>
      <p:sp>
        <p:nvSpPr>
          <p:cNvPr id="36" name="Rectangle 9"/>
          <p:cNvSpPr/>
          <p:nvPr/>
        </p:nvSpPr>
        <p:spPr>
          <a:xfrm>
            <a:off x="6419408" y="4299875"/>
            <a:ext cx="3598164"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i="1" dirty="0">
                <a:solidFill>
                  <a:schemeClr val="tx1">
                    <a:lumMod val="85000"/>
                    <a:lumOff val="15000"/>
                  </a:schemeClr>
                </a:solidFill>
              </a:rPr>
              <a:t>Water Feature</a:t>
            </a:r>
          </a:p>
        </p:txBody>
      </p:sp>
      <p:sp>
        <p:nvSpPr>
          <p:cNvPr id="37" name="TextBox 3"/>
          <p:cNvSpPr txBox="1"/>
          <p:nvPr/>
        </p:nvSpPr>
        <p:spPr>
          <a:xfrm>
            <a:off x="6563335" y="6136538"/>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i="1" dirty="0"/>
              <a:t>Water Feature</a:t>
            </a:r>
          </a:p>
        </p:txBody>
      </p:sp>
      <p:sp>
        <p:nvSpPr>
          <p:cNvPr id="80" name="Tick"/>
          <p:cNvSpPr/>
          <p:nvPr/>
        </p:nvSpPr>
        <p:spPr>
          <a:xfrm>
            <a:off x="3793480" y="2507285"/>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81" name="Tick"/>
          <p:cNvSpPr/>
          <p:nvPr/>
        </p:nvSpPr>
        <p:spPr>
          <a:xfrm>
            <a:off x="8038490" y="2507285"/>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82" name="Tick"/>
          <p:cNvSpPr/>
          <p:nvPr/>
        </p:nvSpPr>
        <p:spPr>
          <a:xfrm>
            <a:off x="3793480" y="5029749"/>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83" name="Tick"/>
          <p:cNvSpPr/>
          <p:nvPr/>
        </p:nvSpPr>
        <p:spPr>
          <a:xfrm>
            <a:off x="8038490" y="5029749"/>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9"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S10 — CR_BASE (Perabot Taman)</a:t>
            </a:r>
          </a:p>
          <a:p>
            <a:r>
              <a:rPr lang="en-MY" sz="1200" dirty="0"/>
              <a:t>PARTIAL_SOURCE — item names verified from S17; body/instruction pending.</a:t>
            </a:r>
          </a:p>
          <a:p>
            <a:r>
              <a:rPr lang="en-MY" sz="1200" dirty="0"/>
              <a:t>CLICK_REVEAL / trigger CARD / reveal FULL_SLIDE.</a:t>
            </a:r>
          </a:p>
          <a:p>
            <a:r>
              <a:rPr lang="en-MY" sz="1200" dirty="0"/>
              <a:t>5 children: S11 S12 S13 S14 S15 -&gt; S16 TICK.</a:t>
            </a:r>
          </a:p>
          <a:p>
            <a:r>
              <a:rPr lang="en-MY" sz="1200" dirty="0"/>
              <a:t>Five-card option 5B: CARD_W 3.60, GAP_X 0.4750, band 0.7917/11.75.</a:t>
            </a:r>
          </a:p>
          <a:p>
            <a:r>
              <a:rPr lang="en-MY" sz="1200" dirty="0"/>
              <a:t>CONDITIONAL — if S10 resolves to HOTSPOT this screen is rebuilt.</a:t>
            </a:r>
          </a:p>
          <a:p>
            <a:r>
              <a:rPr lang="en-MY" sz="1200" dirty="0"/>
              <a:t>Locator: SOURCE PENDING.</a:t>
            </a:r>
          </a:p>
          <a:p>
            <a:r>
              <a:rPr lang="en-MY" sz="1200" dirty="0"/>
              <a:t>FIVE_CARD_SAMPLE_DIRECTION = OPTION_5B</a:t>
            </a:r>
          </a:p>
          <a:p>
            <a:r>
              <a:rPr lang="en-MY" sz="1200" dirty="0"/>
              <a:t>  CARD_W = 3.60   GAP_X = 0.475</a:t>
            </a:r>
          </a:p>
          <a:p>
            <a:r>
              <a:rPr lang="en-MY" sz="1200" dirty="0"/>
              <a:t>  Status: FIRDAUS_SAMPLE_DIRECTION, NOT CANONICAL.</a:t>
            </a:r>
          </a:p>
          <a:p>
            <a:r>
              <a:rPr lang="en-MY" sz="1200" dirty="0"/>
              <a:t>Instruction line for this screen is NOT source-verified.</a:t>
            </a:r>
          </a:p>
          <a:p>
            <a:r>
              <a:rPr lang="en-MY" sz="1200" dirty="0"/>
              <a:t>S04 wording is verified for S04 only and was deliberately not copied.</a:t>
            </a:r>
          </a:p>
          <a:p>
            <a:r>
              <a:rPr lang="en-MY" sz="1200" dirty="0"/>
              <a:t>On-canvas marker reduced to a compact chip (v0.2) so the Card</a:t>
            </a:r>
          </a:p>
          <a:p>
            <a:r>
              <a:rPr lang="en-MY" sz="1200" dirty="0"/>
              <a:t>treatment stays visually dominant; full explanation lives here.</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Perabot Taman</a:t>
            </a:r>
          </a:p>
        </p:txBody>
      </p:sp>
      <p:sp>
        <p:nvSpPr>
          <p:cNvPr id="25" name="SOURCE PENDING chip"/>
          <p:cNvSpPr txBox="1"/>
          <p:nvPr/>
        </p:nvSpPr>
        <p:spPr>
          <a:xfrm>
            <a:off x="723930" y="1228588"/>
            <a:ext cx="2697480" cy="274320"/>
          </a:xfrm>
          <a:prstGeom prst="roundRect">
            <a:avLst>
              <a:gd name="adj" fmla="val 25000"/>
            </a:avLst>
          </a:prstGeom>
          <a:solidFill>
            <a:srgbClr val="FFF2CC"/>
          </a:solidFill>
          <a:ln w="12700">
            <a:solidFill>
              <a:srgbClr val="BF8F00"/>
            </a:solidFill>
          </a:ln>
        </p:spPr>
        <p:txBody>
          <a:bodyPr wrap="square" anchor="ctr">
            <a:noAutofit/>
          </a:bodyPr>
          <a:lstStyle/>
          <a:p>
            <a:pPr algn="ctr"/>
            <a:r>
              <a:rPr lang="en-MY" sz="1100" b="1" dirty="0">
                <a:solidFill>
                  <a:srgbClr val="7F6000"/>
                </a:solidFill>
              </a:rPr>
              <a:t>SOURCE PENDING · arahan</a:t>
            </a:r>
          </a:p>
        </p:txBody>
      </p:sp>
      <p:sp>
        <p:nvSpPr>
          <p:cNvPr id="30" name="Rectangle 9"/>
          <p:cNvSpPr/>
          <p:nvPr/>
        </p:nvSpPr>
        <p:spPr>
          <a:xfrm>
            <a:off x="723930" y="1777411"/>
            <a:ext cx="3291840"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Kerusi Taman</a:t>
            </a:r>
          </a:p>
        </p:txBody>
      </p:sp>
      <p:sp>
        <p:nvSpPr>
          <p:cNvPr id="31" name="TextBox 3"/>
          <p:cNvSpPr txBox="1"/>
          <p:nvPr/>
        </p:nvSpPr>
        <p:spPr>
          <a:xfrm>
            <a:off x="855604" y="3614075"/>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Kerusi Taman</a:t>
            </a:r>
          </a:p>
        </p:txBody>
      </p:sp>
      <p:sp>
        <p:nvSpPr>
          <p:cNvPr id="32" name="Rectangle 9"/>
          <p:cNvSpPr/>
          <p:nvPr/>
        </p:nvSpPr>
        <p:spPr>
          <a:xfrm>
            <a:off x="4450110" y="1777411"/>
            <a:ext cx="3291840"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Papan Tanda</a:t>
            </a:r>
          </a:p>
        </p:txBody>
      </p:sp>
      <p:sp>
        <p:nvSpPr>
          <p:cNvPr id="33" name="TextBox 3"/>
          <p:cNvSpPr txBox="1"/>
          <p:nvPr/>
        </p:nvSpPr>
        <p:spPr>
          <a:xfrm>
            <a:off x="4581784" y="3614075"/>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Papan Tanda</a:t>
            </a:r>
          </a:p>
        </p:txBody>
      </p:sp>
      <p:sp>
        <p:nvSpPr>
          <p:cNvPr id="34" name="Rectangle 9"/>
          <p:cNvSpPr/>
          <p:nvPr/>
        </p:nvSpPr>
        <p:spPr>
          <a:xfrm>
            <a:off x="8176290" y="1777411"/>
            <a:ext cx="3291840"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Tong Sampah</a:t>
            </a:r>
          </a:p>
        </p:txBody>
      </p:sp>
      <p:sp>
        <p:nvSpPr>
          <p:cNvPr id="35" name="TextBox 3"/>
          <p:cNvSpPr txBox="1"/>
          <p:nvPr/>
        </p:nvSpPr>
        <p:spPr>
          <a:xfrm>
            <a:off x="8307964" y="3614075"/>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Tong Sampah</a:t>
            </a:r>
          </a:p>
        </p:txBody>
      </p:sp>
      <p:sp>
        <p:nvSpPr>
          <p:cNvPr id="36" name="Rectangle 9"/>
          <p:cNvSpPr/>
          <p:nvPr/>
        </p:nvSpPr>
        <p:spPr>
          <a:xfrm>
            <a:off x="2586975" y="4299875"/>
            <a:ext cx="3291840"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i="1" dirty="0">
                <a:solidFill>
                  <a:schemeClr val="tx1">
                    <a:lumMod val="85000"/>
                    <a:lumOff val="15000"/>
                  </a:schemeClr>
                </a:solidFill>
              </a:rPr>
              <a:t>Drinking Fountain</a:t>
            </a:r>
          </a:p>
        </p:txBody>
      </p:sp>
      <p:sp>
        <p:nvSpPr>
          <p:cNvPr id="37" name="TextBox 3"/>
          <p:cNvSpPr txBox="1"/>
          <p:nvPr/>
        </p:nvSpPr>
        <p:spPr>
          <a:xfrm>
            <a:off x="2718648" y="6136538"/>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i="1" dirty="0"/>
              <a:t>Drinking Fountain</a:t>
            </a:r>
          </a:p>
        </p:txBody>
      </p:sp>
      <p:sp>
        <p:nvSpPr>
          <p:cNvPr id="38" name="Rectangle 9"/>
          <p:cNvSpPr/>
          <p:nvPr/>
        </p:nvSpPr>
        <p:spPr>
          <a:xfrm>
            <a:off x="6313155" y="4299875"/>
            <a:ext cx="3291840"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i="1" dirty="0">
                <a:solidFill>
                  <a:schemeClr val="tx1">
                    <a:lumMod val="85000"/>
                    <a:lumOff val="15000"/>
                  </a:schemeClr>
                </a:solidFill>
              </a:rPr>
              <a:t>BBQ pit</a:t>
            </a:r>
          </a:p>
        </p:txBody>
      </p:sp>
      <p:sp>
        <p:nvSpPr>
          <p:cNvPr id="39" name="TextBox 3"/>
          <p:cNvSpPr txBox="1"/>
          <p:nvPr/>
        </p:nvSpPr>
        <p:spPr>
          <a:xfrm>
            <a:off x="6444828" y="6136538"/>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i="1" dirty="0"/>
              <a:t>BBQ pit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6"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S11 — FULL (reveal child)</a:t>
            </a:r>
          </a:p>
          <a:p>
            <a:r>
              <a:rPr lang="en-MY" sz="1200" dirty="0"/>
              <a:t>PARTIAL_SOURCE — label verified, body SOURCE PENDING.</a:t>
            </a:r>
          </a:p>
          <a:p>
            <a:r>
              <a:rPr lang="en-MY" sz="1200" dirty="0"/>
              <a:t>Archetype: split-STATE. Panel 5.8621 wide (43.97% stage).</a:t>
            </a:r>
          </a:p>
          <a:p>
            <a:r>
              <a:rPr lang="en-MY" sz="1200" dirty="0"/>
              <a:t>v0.3 navigation strip 0.58 in reserved below panel.</a:t>
            </a:r>
          </a:p>
          <a:p>
            <a:r>
              <a:rPr lang="en-MY" sz="1200" dirty="0"/>
              <a:t>Kembali: exactly one, clearance 0.10 above and below.</a:t>
            </a:r>
          </a:p>
          <a:p>
            <a:r>
              <a:rPr lang="en-MY" sz="1200" dirty="0"/>
              <a:t>Locator: SOURCE PENDING.</a:t>
            </a:r>
          </a:p>
          <a:p>
            <a:r>
              <a:rPr lang="en-MY" sz="1200" dirty="0"/>
              <a:t>Screen assignment provisional — derived from S17 furniture list order.</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Kerusi Taman</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SOURCE PENDING</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dirty="0"/>
              <a:t>Kerusi Taman</a:t>
            </a:r>
          </a:p>
        </p:txBody>
      </p:sp>
      <p:sp>
        <p:nvSpPr>
          <p:cNvPr id="9" name="SOURCE PENDING"/>
          <p:cNvSpPr txBox="1"/>
          <p:nvPr/>
        </p:nvSpPr>
        <p:spPr>
          <a:xfrm>
            <a:off x="6278910" y="2340315"/>
            <a:ext cx="5177424" cy="3539460"/>
          </a:xfrm>
          <a:prstGeom prst="rect">
            <a:avLst/>
          </a:prstGeom>
          <a:solidFill>
            <a:srgbClr val="FFF2CC"/>
          </a:solidFill>
          <a:ln w="19050">
            <a:solidFill>
              <a:srgbClr val="BF8F00"/>
            </a:solidFill>
            <a:prstDash val="dash"/>
          </a:ln>
        </p:spPr>
        <p:txBody>
          <a:bodyPr wrap="square" anchor="ctr">
            <a:noAutofit/>
          </a:bodyPr>
          <a:lstStyle/>
          <a:p>
            <a:pPr algn="ctr"/>
            <a:r>
              <a:rPr lang="en-MY" sz="1800" b="1" dirty="0">
                <a:solidFill>
                  <a:srgbClr val="7F6000"/>
                </a:solidFill>
              </a:rPr>
              <a:t>SOURCE PENDING</a:t>
            </a:r>
          </a:p>
          <a:p>
            <a:pPr algn="ctr"/>
            <a:r>
              <a:rPr lang="en-MY" sz="1400" dirty="0">
                <a:solidFill>
                  <a:srgbClr val="7F6000"/>
                </a:solidFill>
              </a:rPr>
              <a:t>No verified display text or VO for this screen.</a:t>
            </a:r>
          </a:p>
          <a:p>
            <a:pPr algn="ctr"/>
            <a:r>
              <a:rPr lang="en-MY" sz="1400" dirty="0">
                <a:solidFill>
                  <a:srgbClr val="7F6000"/>
                </a:solidFill>
              </a:rPr>
              <a:t>Label above is source-bound; screen assignment is provisional.</a:t>
            </a:r>
          </a:p>
        </p:txBody>
      </p:sp>
      <p:sp>
        <p:nvSpPr>
          <p:cNvPr id="11" name="TextBox 19"/>
          <p:cNvSpPr txBox="1"/>
          <p:nvPr/>
        </p:nvSpPr>
        <p:spPr>
          <a:xfrm>
            <a:off x="5387325" y="6419088"/>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6"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S12 — FULL (reveal child)</a:t>
            </a:r>
          </a:p>
          <a:p>
            <a:r>
              <a:rPr lang="en-MY" sz="1200" dirty="0"/>
              <a:t>VERIFIED_SOURCE.</a:t>
            </a:r>
          </a:p>
          <a:p>
            <a:r>
              <a:rPr lang="en-MY" sz="1200" dirty="0"/>
              <a:t>Archetype: split-STATE. Panel 5.8621 wide (43.97% stage).</a:t>
            </a:r>
          </a:p>
          <a:p>
            <a:r>
              <a:rPr lang="en-MY" sz="1200" dirty="0"/>
              <a:t>v0.3 navigation strip 0.58 in reserved below panel.</a:t>
            </a:r>
          </a:p>
          <a:p>
            <a:r>
              <a:rPr lang="en-MY" sz="1200" dirty="0"/>
              <a:t>Kembali: exactly one, clearance 0.10 above and below.</a:t>
            </a:r>
          </a:p>
          <a:p>
            <a:r>
              <a:rPr lang="en-MY" sz="1200" dirty="0"/>
              <a:t>Locator: K5PL06T03-B02-IMG-05, ms 243.  [corrected — P-01]</a:t>
            </a:r>
          </a:p>
          <a:p>
            <a:r>
              <a:rPr lang="en-MY" sz="1200" dirty="0"/>
              <a:t>Display concise; VO carries full source-bound sentences.</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Papan Tanda</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papan tanda</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dirty="0"/>
              <a:t>Papan Tanda</a:t>
            </a:r>
          </a:p>
        </p:txBody>
      </p:sp>
      <p:sp>
        <p:nvSpPr>
          <p:cNvPr id="9" name="TextBox 12"/>
          <p:cNvSpPr txBox="1"/>
          <p:nvPr/>
        </p:nvSpPr>
        <p:spPr>
          <a:xfrm>
            <a:off x="6278910" y="2340315"/>
            <a:ext cx="5177424" cy="3539460"/>
          </a:xfrm>
          <a:prstGeom prst="rect">
            <a:avLst/>
          </a:prstGeom>
          <a:noFill/>
        </p:spPr>
        <p:txBody>
          <a:bodyPr wrap="square">
            <a:spAutoFit/>
          </a:bodyPr>
          <a:lstStyle/>
          <a:p>
            <a:pPr marL="285750" indent="-285750">
              <a:buFont typeface="Arial" panose="020B0604020202020204" pitchFamily="34" charset="0"/>
              <a:buChar char="•"/>
            </a:pPr>
            <a:r>
              <a:rPr lang="en-MY" dirty="0"/>
              <a:t>Elemen penting untuk navigasi, maklumat, dan keselamatan dalam ruang landskap</a:t>
            </a:r>
          </a:p>
          <a:p>
            <a:pPr marL="285750" indent="-285750">
              <a:buFont typeface="Arial" panose="020B0604020202020204" pitchFamily="34" charset="0"/>
              <a:buChar char="•"/>
            </a:pPr>
            <a:r>
              <a:rPr lang="en-MY" dirty="0"/>
              <a:t>Jelas, mudah dibaca, diletakkan di lokasi strategik</a:t>
            </a:r>
          </a:p>
          <a:p>
            <a:pPr marL="285750" indent="-285750">
              <a:buFont typeface="Arial" panose="020B0604020202020204" pitchFamily="34" charset="0"/>
              <a:buChar char="•"/>
            </a:pPr>
            <a:r>
              <a:rPr lang="en-MY" dirty="0"/>
              <a:t>Boleh berupa:</a:t>
            </a:r>
          </a:p>
          <a:p>
            <a:pPr marL="742950" lvl="1" indent="-285750">
              <a:buFont typeface="Arial" panose="020B0604020202020204" pitchFamily="34" charset="0"/>
              <a:buChar char="•"/>
            </a:pPr>
            <a:r>
              <a:rPr lang="en-MY" dirty="0"/>
              <a:t>penunjuk arah</a:t>
            </a:r>
          </a:p>
          <a:p>
            <a:pPr marL="742950" lvl="1" indent="-285750">
              <a:buFont typeface="Arial" panose="020B0604020202020204" pitchFamily="34" charset="0"/>
              <a:buChar char="•"/>
            </a:pPr>
            <a:r>
              <a:rPr lang="en-MY" dirty="0"/>
              <a:t>peta taman</a:t>
            </a:r>
          </a:p>
          <a:p>
            <a:pPr marL="742950" lvl="1" indent="-285750">
              <a:buFont typeface="Arial" panose="020B0604020202020204" pitchFamily="34" charset="0"/>
              <a:buChar char="•"/>
            </a:pPr>
            <a:r>
              <a:rPr lang="en-MY" dirty="0"/>
              <a:t>informasi tumbuhan atau ciri landskap</a:t>
            </a:r>
          </a:p>
          <a:p>
            <a:pPr marL="742950" lvl="1" indent="-285750">
              <a:buFont typeface="Arial" panose="020B0604020202020204" pitchFamily="34" charset="0"/>
              <a:buChar char="•"/>
            </a:pPr>
            <a:r>
              <a:rPr lang="en-MY" dirty="0"/>
              <a:t>peraturan taman</a:t>
            </a:r>
          </a:p>
          <a:p>
            <a:pPr marL="285750" indent="-285750">
              <a:buFont typeface="Arial" panose="020B0604020202020204" pitchFamily="34" charset="0"/>
              <a:buChar char="•"/>
            </a:pPr>
            <a:r>
              <a:rPr lang="en-MY" dirty="0"/>
              <a:t>Bahan tahan cuaca dan tahan luntur</a:t>
            </a:r>
          </a:p>
        </p:txBody>
      </p:sp>
      <p:sp>
        <p:nvSpPr>
          <p:cNvPr id="11" name="TextBox 19"/>
          <p:cNvSpPr txBox="1"/>
          <p:nvPr/>
        </p:nvSpPr>
        <p:spPr>
          <a:xfrm>
            <a:off x="5387325" y="6419088"/>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6"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S13 — FULL (reveal child)</a:t>
            </a:r>
          </a:p>
          <a:p>
            <a:r>
              <a:rPr lang="en-MY" sz="1200" dirty="0"/>
              <a:t>PARTIAL_SOURCE — label verified, body SOURCE PENDING.</a:t>
            </a:r>
          </a:p>
          <a:p>
            <a:r>
              <a:rPr lang="en-MY" sz="1200" dirty="0"/>
              <a:t>Archetype: split-STATE. Panel 5.8621 wide (43.97% stage).</a:t>
            </a:r>
          </a:p>
          <a:p>
            <a:r>
              <a:rPr lang="en-MY" sz="1200" dirty="0"/>
              <a:t>v0.3 navigation strip 0.58 in reserved below panel.</a:t>
            </a:r>
          </a:p>
          <a:p>
            <a:r>
              <a:rPr lang="en-MY" sz="1200" dirty="0"/>
              <a:t>Kembali: exactly one, clearance 0.10 above and below.</a:t>
            </a:r>
          </a:p>
          <a:p>
            <a:r>
              <a:rPr lang="en-MY" sz="1200" dirty="0"/>
              <a:t>Locator: SOURCE PENDING.</a:t>
            </a:r>
          </a:p>
          <a:p>
            <a:r>
              <a:rPr lang="en-MY" sz="1200" dirty="0"/>
              <a:t>Screen assignment provisional — derived from S17 furniture list order.</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Tong Sampah</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SOURCE PENDING</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dirty="0"/>
              <a:t>Tong Sampah</a:t>
            </a:r>
          </a:p>
        </p:txBody>
      </p:sp>
      <p:sp>
        <p:nvSpPr>
          <p:cNvPr id="9" name="SOURCE PENDING"/>
          <p:cNvSpPr txBox="1"/>
          <p:nvPr/>
        </p:nvSpPr>
        <p:spPr>
          <a:xfrm>
            <a:off x="6278910" y="2340315"/>
            <a:ext cx="5177424" cy="3539460"/>
          </a:xfrm>
          <a:prstGeom prst="rect">
            <a:avLst/>
          </a:prstGeom>
          <a:solidFill>
            <a:srgbClr val="FFF2CC"/>
          </a:solidFill>
          <a:ln w="19050">
            <a:solidFill>
              <a:srgbClr val="BF8F00"/>
            </a:solidFill>
            <a:prstDash val="dash"/>
          </a:ln>
        </p:spPr>
        <p:txBody>
          <a:bodyPr wrap="square" anchor="ctr">
            <a:noAutofit/>
          </a:bodyPr>
          <a:lstStyle/>
          <a:p>
            <a:pPr algn="ctr"/>
            <a:r>
              <a:rPr lang="en-MY" sz="1800" b="1" dirty="0">
                <a:solidFill>
                  <a:srgbClr val="7F6000"/>
                </a:solidFill>
              </a:rPr>
              <a:t>SOURCE PENDING</a:t>
            </a:r>
          </a:p>
          <a:p>
            <a:pPr algn="ctr"/>
            <a:r>
              <a:rPr lang="en-MY" sz="1400" dirty="0">
                <a:solidFill>
                  <a:srgbClr val="7F6000"/>
                </a:solidFill>
              </a:rPr>
              <a:t>No verified display text or VO for this screen.</a:t>
            </a:r>
          </a:p>
          <a:p>
            <a:pPr algn="ctr"/>
            <a:r>
              <a:rPr lang="en-MY" sz="1400" dirty="0">
                <a:solidFill>
                  <a:srgbClr val="7F6000"/>
                </a:solidFill>
              </a:rPr>
              <a:t>Label above is source-bound; screen assignment is provisional.</a:t>
            </a:r>
          </a:p>
        </p:txBody>
      </p:sp>
      <p:sp>
        <p:nvSpPr>
          <p:cNvPr id="11" name="TextBox 19"/>
          <p:cNvSpPr txBox="1"/>
          <p:nvPr/>
        </p:nvSpPr>
        <p:spPr>
          <a:xfrm>
            <a:off x="5387325" y="6419088"/>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6"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S14 — FULL (reveal child)</a:t>
            </a:r>
          </a:p>
          <a:p>
            <a:r>
              <a:rPr lang="en-MY" sz="1200" dirty="0"/>
              <a:t>PARTIAL_SOURCE — label verified, body SOURCE PENDING.</a:t>
            </a:r>
          </a:p>
          <a:p>
            <a:r>
              <a:rPr lang="en-MY" sz="1200" dirty="0"/>
              <a:t>Archetype: split-STATE. Panel 5.8621 wide (43.97% stage).</a:t>
            </a:r>
          </a:p>
          <a:p>
            <a:r>
              <a:rPr lang="en-MY" sz="1200" dirty="0"/>
              <a:t>v0.3 navigation strip 0.58 in reserved below panel.</a:t>
            </a:r>
          </a:p>
          <a:p>
            <a:r>
              <a:rPr lang="en-MY" sz="1200" dirty="0"/>
              <a:t>Kembali: exactly one, clearance 0.10 above and below.</a:t>
            </a:r>
          </a:p>
          <a:p>
            <a:r>
              <a:rPr lang="en-MY" sz="1200" dirty="0"/>
              <a:t>Locator: SOURCE PENDING.</a:t>
            </a:r>
          </a:p>
          <a:p>
            <a:r>
              <a:rPr lang="en-MY" sz="1200" dirty="0"/>
              <a:t>Screen assignment provisional — derived from S17 furniture list order.</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Drinking Fountain</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SOURCE PENDING</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i="1" dirty="0"/>
              <a:t>Drinking Fountain</a:t>
            </a:r>
          </a:p>
        </p:txBody>
      </p:sp>
      <p:sp>
        <p:nvSpPr>
          <p:cNvPr id="9" name="SOURCE PENDING"/>
          <p:cNvSpPr txBox="1"/>
          <p:nvPr/>
        </p:nvSpPr>
        <p:spPr>
          <a:xfrm>
            <a:off x="6278910" y="2340315"/>
            <a:ext cx="5177424" cy="3539460"/>
          </a:xfrm>
          <a:prstGeom prst="rect">
            <a:avLst/>
          </a:prstGeom>
          <a:solidFill>
            <a:srgbClr val="FFF2CC"/>
          </a:solidFill>
          <a:ln w="19050">
            <a:solidFill>
              <a:srgbClr val="BF8F00"/>
            </a:solidFill>
            <a:prstDash val="dash"/>
          </a:ln>
        </p:spPr>
        <p:txBody>
          <a:bodyPr wrap="square" anchor="ctr">
            <a:noAutofit/>
          </a:bodyPr>
          <a:lstStyle/>
          <a:p>
            <a:pPr algn="ctr"/>
            <a:r>
              <a:rPr lang="en-MY" sz="1800" b="1" dirty="0">
                <a:solidFill>
                  <a:srgbClr val="7F6000"/>
                </a:solidFill>
              </a:rPr>
              <a:t>SOURCE PENDING</a:t>
            </a:r>
          </a:p>
          <a:p>
            <a:pPr algn="ctr"/>
            <a:r>
              <a:rPr lang="en-MY" sz="1400" dirty="0">
                <a:solidFill>
                  <a:srgbClr val="7F6000"/>
                </a:solidFill>
              </a:rPr>
              <a:t>No verified display text or VO for this screen.</a:t>
            </a:r>
          </a:p>
          <a:p>
            <a:pPr algn="ctr"/>
            <a:r>
              <a:rPr lang="en-MY" sz="1400" dirty="0">
                <a:solidFill>
                  <a:srgbClr val="7F6000"/>
                </a:solidFill>
              </a:rPr>
              <a:t>Label above is source-bound; screen assignment is provisional.</a:t>
            </a:r>
          </a:p>
        </p:txBody>
      </p:sp>
      <p:sp>
        <p:nvSpPr>
          <p:cNvPr id="11" name="TextBox 19"/>
          <p:cNvSpPr txBox="1"/>
          <p:nvPr/>
        </p:nvSpPr>
        <p:spPr>
          <a:xfrm>
            <a:off x="5387325" y="6419088"/>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6"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S15 — FULL (reveal child)</a:t>
            </a:r>
          </a:p>
          <a:p>
            <a:r>
              <a:rPr lang="en-MY" sz="1200" dirty="0"/>
              <a:t>PARTIAL_SOURCE — label verified, body SOURCE PENDING.</a:t>
            </a:r>
          </a:p>
          <a:p>
            <a:r>
              <a:rPr lang="en-MY" sz="1200" dirty="0"/>
              <a:t>Archetype: split-STATE. Panel 5.8621 wide (43.97% stage).</a:t>
            </a:r>
          </a:p>
          <a:p>
            <a:r>
              <a:rPr lang="en-MY" sz="1200" dirty="0"/>
              <a:t>v0.3 navigation strip 0.58 in reserved below panel.</a:t>
            </a:r>
          </a:p>
          <a:p>
            <a:r>
              <a:rPr lang="en-MY" sz="1200" dirty="0"/>
              <a:t>Kembali: exactly one, clearance 0.10 above and below.</a:t>
            </a:r>
          </a:p>
          <a:p>
            <a:r>
              <a:rPr lang="en-MY" sz="1200" dirty="0"/>
              <a:t>Locator: SOURCE PENDING.</a:t>
            </a:r>
          </a:p>
          <a:p>
            <a:r>
              <a:rPr lang="en-MY" sz="1200" dirty="0"/>
              <a:t>Screen assignment provisional — derived from S17 furniture list order.</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BBQ pit</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SOURCE PENDING</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i="1" dirty="0"/>
              <a:t>BBQ pit</a:t>
            </a:r>
          </a:p>
        </p:txBody>
      </p:sp>
      <p:sp>
        <p:nvSpPr>
          <p:cNvPr id="9" name="SOURCE PENDING"/>
          <p:cNvSpPr txBox="1"/>
          <p:nvPr/>
        </p:nvSpPr>
        <p:spPr>
          <a:xfrm>
            <a:off x="6278910" y="2340315"/>
            <a:ext cx="5177424" cy="3539460"/>
          </a:xfrm>
          <a:prstGeom prst="rect">
            <a:avLst/>
          </a:prstGeom>
          <a:solidFill>
            <a:srgbClr val="FFF2CC"/>
          </a:solidFill>
          <a:ln w="19050">
            <a:solidFill>
              <a:srgbClr val="BF8F00"/>
            </a:solidFill>
            <a:prstDash val="dash"/>
          </a:ln>
        </p:spPr>
        <p:txBody>
          <a:bodyPr wrap="square" anchor="ctr">
            <a:noAutofit/>
          </a:bodyPr>
          <a:lstStyle/>
          <a:p>
            <a:pPr algn="ctr"/>
            <a:r>
              <a:rPr lang="en-MY" sz="1800" b="1" dirty="0">
                <a:solidFill>
                  <a:srgbClr val="7F6000"/>
                </a:solidFill>
              </a:rPr>
              <a:t>SOURCE PENDING</a:t>
            </a:r>
          </a:p>
          <a:p>
            <a:pPr algn="ctr"/>
            <a:r>
              <a:rPr lang="en-MY" sz="1400" dirty="0">
                <a:solidFill>
                  <a:srgbClr val="7F6000"/>
                </a:solidFill>
              </a:rPr>
              <a:t>No verified display text or VO for this screen.</a:t>
            </a:r>
          </a:p>
          <a:p>
            <a:pPr algn="ctr"/>
            <a:r>
              <a:rPr lang="en-MY" sz="1400" dirty="0">
                <a:solidFill>
                  <a:srgbClr val="7F6000"/>
                </a:solidFill>
              </a:rPr>
              <a:t>Label above is source-bound; screen assignment is provisional.</a:t>
            </a:r>
          </a:p>
        </p:txBody>
      </p:sp>
      <p:sp>
        <p:nvSpPr>
          <p:cNvPr id="11" name="TextBox 19"/>
          <p:cNvSpPr txBox="1"/>
          <p:nvPr/>
        </p:nvSpPr>
        <p:spPr>
          <a:xfrm>
            <a:off x="5387325" y="6419088"/>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9"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S16 — TICK (completion state of S10)</a:t>
            </a:r>
          </a:p>
          <a:p>
            <a:r>
              <a:rPr lang="en-MY" sz="1200" dirty="0"/>
              <a:t>PARTIAL_SOURCE — inherits S10.</a:t>
            </a:r>
          </a:p>
          <a:p>
            <a:r>
              <a:rPr lang="en-MY" sz="1200" dirty="0"/>
              <a:t>visited-tick + nav-lock-until-complete.</a:t>
            </a:r>
          </a:p>
          <a:p>
            <a:r>
              <a:rPr lang="en-MY" sz="1200" dirty="0"/>
              <a:t>Ticks from R-TICK.</a:t>
            </a:r>
          </a:p>
          <a:p>
            <a:r>
              <a:rPr lang="en-MY" sz="1200" dirty="0"/>
              <a:t>Locator: SOURCE PENDING.</a:t>
            </a:r>
          </a:p>
          <a:p>
            <a:r>
              <a:rPr lang="en-MY" sz="1200" dirty="0"/>
              <a:t>FIVE_CARD_SAMPLE_DIRECTION = OPTION_5B</a:t>
            </a:r>
          </a:p>
          <a:p>
            <a:r>
              <a:rPr lang="en-MY" sz="1200" dirty="0"/>
              <a:t>  CARD_W = 3.60   GAP_X = 0.475</a:t>
            </a:r>
          </a:p>
          <a:p>
            <a:r>
              <a:rPr lang="en-MY" sz="1200" dirty="0"/>
              <a:t>  Status: FIRDAUS_SAMPLE_DIRECTION, NOT CANONICAL.</a:t>
            </a:r>
          </a:p>
          <a:p>
            <a:r>
              <a:rPr lang="en-MY" sz="1200" dirty="0"/>
              <a:t>Instruction line for this screen is NOT source-verified.</a:t>
            </a:r>
          </a:p>
          <a:p>
            <a:r>
              <a:rPr lang="en-MY" sz="1200" dirty="0"/>
              <a:t>S04 wording is verified for S04 only and was deliberately not copied.</a:t>
            </a:r>
          </a:p>
          <a:p>
            <a:r>
              <a:rPr lang="en-MY" sz="1200" dirty="0"/>
              <a:t>On-canvas marker reduced to a compact chip (v0.2) so the Card</a:t>
            </a:r>
          </a:p>
          <a:p>
            <a:r>
              <a:rPr lang="en-MY" sz="1200" dirty="0"/>
              <a:t>treatment stays visually dominant; full explanation lives here.</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Perabot Taman</a:t>
            </a:r>
          </a:p>
        </p:txBody>
      </p:sp>
      <p:sp>
        <p:nvSpPr>
          <p:cNvPr id="25" name="SOURCE PENDING chip"/>
          <p:cNvSpPr txBox="1"/>
          <p:nvPr/>
        </p:nvSpPr>
        <p:spPr>
          <a:xfrm>
            <a:off x="723930" y="1228588"/>
            <a:ext cx="2697480" cy="274320"/>
          </a:xfrm>
          <a:prstGeom prst="roundRect">
            <a:avLst>
              <a:gd name="adj" fmla="val 25000"/>
            </a:avLst>
          </a:prstGeom>
          <a:solidFill>
            <a:srgbClr val="FFF2CC"/>
          </a:solidFill>
          <a:ln w="12700">
            <a:solidFill>
              <a:srgbClr val="BF8F00"/>
            </a:solidFill>
          </a:ln>
        </p:spPr>
        <p:txBody>
          <a:bodyPr wrap="square" anchor="ctr">
            <a:noAutofit/>
          </a:bodyPr>
          <a:lstStyle/>
          <a:p>
            <a:pPr algn="ctr"/>
            <a:r>
              <a:rPr lang="en-MY" sz="1100" b="1" dirty="0">
                <a:solidFill>
                  <a:srgbClr val="7F6000"/>
                </a:solidFill>
              </a:rPr>
              <a:t>SOURCE PENDING · arahan</a:t>
            </a:r>
          </a:p>
        </p:txBody>
      </p:sp>
      <p:sp>
        <p:nvSpPr>
          <p:cNvPr id="30" name="Rectangle 9"/>
          <p:cNvSpPr/>
          <p:nvPr/>
        </p:nvSpPr>
        <p:spPr>
          <a:xfrm>
            <a:off x="723930" y="1777411"/>
            <a:ext cx="3291840"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Kerusi Taman</a:t>
            </a:r>
          </a:p>
        </p:txBody>
      </p:sp>
      <p:sp>
        <p:nvSpPr>
          <p:cNvPr id="31" name="TextBox 3"/>
          <p:cNvSpPr txBox="1"/>
          <p:nvPr/>
        </p:nvSpPr>
        <p:spPr>
          <a:xfrm>
            <a:off x="855604" y="3614075"/>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Kerusi Taman</a:t>
            </a:r>
          </a:p>
        </p:txBody>
      </p:sp>
      <p:sp>
        <p:nvSpPr>
          <p:cNvPr id="32" name="Rectangle 9"/>
          <p:cNvSpPr/>
          <p:nvPr/>
        </p:nvSpPr>
        <p:spPr>
          <a:xfrm>
            <a:off x="4450110" y="1777411"/>
            <a:ext cx="3291840"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Papan Tanda</a:t>
            </a:r>
          </a:p>
        </p:txBody>
      </p:sp>
      <p:sp>
        <p:nvSpPr>
          <p:cNvPr id="33" name="TextBox 3"/>
          <p:cNvSpPr txBox="1"/>
          <p:nvPr/>
        </p:nvSpPr>
        <p:spPr>
          <a:xfrm>
            <a:off x="4581784" y="3614075"/>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Papan Tanda</a:t>
            </a:r>
          </a:p>
        </p:txBody>
      </p:sp>
      <p:sp>
        <p:nvSpPr>
          <p:cNvPr id="34" name="Rectangle 9"/>
          <p:cNvSpPr/>
          <p:nvPr/>
        </p:nvSpPr>
        <p:spPr>
          <a:xfrm>
            <a:off x="8176290" y="1777411"/>
            <a:ext cx="3291840"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Tong Sampah</a:t>
            </a:r>
          </a:p>
        </p:txBody>
      </p:sp>
      <p:sp>
        <p:nvSpPr>
          <p:cNvPr id="35" name="TextBox 3"/>
          <p:cNvSpPr txBox="1"/>
          <p:nvPr/>
        </p:nvSpPr>
        <p:spPr>
          <a:xfrm>
            <a:off x="8307964" y="3614075"/>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Tong Sampah</a:t>
            </a:r>
          </a:p>
        </p:txBody>
      </p:sp>
      <p:sp>
        <p:nvSpPr>
          <p:cNvPr id="36" name="Rectangle 9"/>
          <p:cNvSpPr/>
          <p:nvPr/>
        </p:nvSpPr>
        <p:spPr>
          <a:xfrm>
            <a:off x="2586975" y="4299875"/>
            <a:ext cx="3291840"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i="1" dirty="0">
                <a:solidFill>
                  <a:schemeClr val="tx1">
                    <a:lumMod val="85000"/>
                    <a:lumOff val="15000"/>
                  </a:schemeClr>
                </a:solidFill>
              </a:rPr>
              <a:t>Drinking Fountain</a:t>
            </a:r>
          </a:p>
        </p:txBody>
      </p:sp>
      <p:sp>
        <p:nvSpPr>
          <p:cNvPr id="37" name="TextBox 3"/>
          <p:cNvSpPr txBox="1"/>
          <p:nvPr/>
        </p:nvSpPr>
        <p:spPr>
          <a:xfrm>
            <a:off x="2718648" y="6136538"/>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i="1" dirty="0"/>
              <a:t>Drinking Fountain</a:t>
            </a:r>
          </a:p>
        </p:txBody>
      </p:sp>
      <p:sp>
        <p:nvSpPr>
          <p:cNvPr id="38" name="Rectangle 9"/>
          <p:cNvSpPr/>
          <p:nvPr/>
        </p:nvSpPr>
        <p:spPr>
          <a:xfrm>
            <a:off x="6313155" y="4299875"/>
            <a:ext cx="3291840" cy="1819747"/>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Visual: </a:t>
            </a:r>
            <a:r>
              <a:rPr lang="en-MY" i="1" dirty="0">
                <a:solidFill>
                  <a:schemeClr val="tx1">
                    <a:lumMod val="85000"/>
                    <a:lumOff val="15000"/>
                  </a:schemeClr>
                </a:solidFill>
              </a:rPr>
              <a:t>BBQ pit</a:t>
            </a:r>
          </a:p>
        </p:txBody>
      </p:sp>
      <p:sp>
        <p:nvSpPr>
          <p:cNvPr id="39" name="TextBox 3"/>
          <p:cNvSpPr txBox="1"/>
          <p:nvPr/>
        </p:nvSpPr>
        <p:spPr>
          <a:xfrm>
            <a:off x="6444828" y="6136538"/>
            <a:ext cx="3028493"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i="1" dirty="0"/>
              <a:t>BBQ pit</a:t>
            </a:r>
          </a:p>
        </p:txBody>
      </p:sp>
      <p:sp>
        <p:nvSpPr>
          <p:cNvPr id="80" name="Tick"/>
          <p:cNvSpPr/>
          <p:nvPr/>
        </p:nvSpPr>
        <p:spPr>
          <a:xfrm>
            <a:off x="2189851" y="2507285"/>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81" name="Tick"/>
          <p:cNvSpPr/>
          <p:nvPr/>
        </p:nvSpPr>
        <p:spPr>
          <a:xfrm>
            <a:off x="5916031" y="2507285"/>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82" name="Tick"/>
          <p:cNvSpPr/>
          <p:nvPr/>
        </p:nvSpPr>
        <p:spPr>
          <a:xfrm>
            <a:off x="9642211" y="2507285"/>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83" name="Tick"/>
          <p:cNvSpPr/>
          <p:nvPr/>
        </p:nvSpPr>
        <p:spPr>
          <a:xfrm>
            <a:off x="4052895" y="5029749"/>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84" name="Tick"/>
          <p:cNvSpPr/>
          <p:nvPr/>
        </p:nvSpPr>
        <p:spPr>
          <a:xfrm>
            <a:off x="7779075" y="5029749"/>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723930" y="1628729"/>
            <a:ext cx="10725180" cy="4810110"/>
          </a:xfrm>
          <a:prstGeom prst="rect">
            <a:avLst/>
          </a:prstGeom>
          <a:solidFill>
            <a:schemeClr val="accent2">
              <a:lumMod val="10000"/>
              <a:lumOff val="90000"/>
            </a:schemeClr>
          </a:solidFill>
          <a:ln>
            <a:noFill/>
          </a:ln>
        </p:spPr>
        <p:txBody>
          <a:bodyPr rtlCol="0" anchor="t"/>
          <a:lstStyle/>
          <a:p>
            <a:r>
              <a:rPr lang="en-MY" dirty="0">
                <a:solidFill>
                  <a:schemeClr val="tx1">
                    <a:lumMod val="85000"/>
                    <a:lumOff val="15000"/>
                  </a:schemeClr>
                </a:solidFill>
              </a:rPr>
              <a:t/>
            </a:r>
          </a:p>
        </p:txBody>
      </p:sp>
      <p:sp>
        <p:nvSpPr>
          <p:cNvPr id="2" name="Title 1"/>
          <p:cNvSpPr>
            <a:spLocks noGrp="1"/>
          </p:cNvSpPr>
          <p:nvPr>
            <p:ph type="title"/>
          </p:nvPr>
        </p:nvSpPr>
        <p:spPr>
          <a:xfrm>
            <a:off x="0" y="-577078"/>
            <a:ext cx="12191970" cy="523220"/>
          </a:xfrm>
        </p:spPr>
        <p:txBody>
          <a:bodyPr>
            <a:noAutofit/>
          </a:bodyPr>
          <a:lstStyle/>
          <a:p>
            <a:r>
              <a:rPr lang="en-MY" sz="2400" b="1" dirty="0"/>
              <a:t>Rumusan</a:t>
            </a:r>
          </a:p>
        </p:txBody>
      </p:sp>
      <p:sp>
        <p:nvSpPr>
          <p:cNvPr id="7" name="TextBox 5"/>
          <p:cNvSpPr txBox="1"/>
          <p:nvPr/>
        </p:nvSpPr>
        <p:spPr>
          <a:xfrm>
            <a:off x="617952" y="419070"/>
            <a:ext cx="11097798" cy="592440"/>
          </a:xfrm>
          <a:prstGeom prst="rect">
            <a:avLst/>
          </a:prstGeom>
          <a:noFill/>
        </p:spPr>
        <p:txBody>
          <a:bodyPr wrap="square" rtlCol="0">
            <a:spAutoFit/>
          </a:bodyPr>
          <a:lstStyle/>
          <a:p>
            <a:pPr>
              <a:lnSpc>
                <a:spcPts val="3900"/>
              </a:lnSpc>
            </a:pPr>
            <a:r>
              <a:rPr lang="en-MY" sz="4000" b="1" dirty="0"/>
              <a:t>Rumusan</a:t>
            </a:r>
          </a:p>
        </p:txBody>
      </p:sp>
      <p:sp>
        <p:nvSpPr>
          <p:cNvPr id="9"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S17 — RUMUSAN (rumusan bahagian, bukan topik penuh)</a:t>
            </a:r>
          </a:p>
          <a:p>
            <a:r>
              <a:rPr lang="en-MY" sz="1200" dirty="0"/>
              <a:t>VERIFIED_SOURCE.</a:t>
            </a:r>
          </a:p>
          <a:p>
            <a:r>
              <a:rPr lang="en-MY" sz="1200" dirty="0"/>
              <a:t>1. Structural labels suppressed (Kepentingan / Isi Utama / Manfaat).</a:t>
            </a:r>
          </a:p>
          <a:p>
            <a:r>
              <a:rPr lang="en-MY" sz="1200" dirty="0"/>
              <a:t>2. Addressee: kontraktor, not anda.</a:t>
            </a:r>
          </a:p>
          <a:p>
            <a:r>
              <a:rPr lang="en-MY" sz="1200" dirty="0"/>
              <a:t>3. Benefit clause connects to site application (drafted by judgement).</a:t>
            </a:r>
          </a:p>
          <a:p>
            <a:r>
              <a:rPr lang="en-MY" sz="1200" dirty="0"/>
              <a:t>English-origin terms italic. Source form BBQ pit (lowercase p).</a:t>
            </a:r>
          </a:p>
        </p:txBody>
      </p:sp>
      <p:sp>
        <p:nvSpPr>
          <p:cNvPr id="24" name="TextBox 23"/>
          <p:cNvSpPr txBox="1"/>
          <p:nvPr/>
        </p:nvSpPr>
        <p:spPr>
          <a:xfrm>
            <a:off x="742950" y="3584448"/>
            <a:ext cx="10706070" cy="411480"/>
          </a:xfrm>
          <a:prstGeom prst="rect">
            <a:avLst/>
          </a:prstGeom>
          <a:noFill/>
        </p:spPr>
        <p:txBody>
          <a:bodyPr wrap="square">
            <a:spAutoFit/>
          </a:bodyPr>
          <a:lstStyle/>
          <a:p>
            <a:r>
              <a:rPr lang="en-MY" b="1" dirty="0"/>
              <a:t>Komponen Landskap — Struktur Taman dan Perabot Taman</a:t>
            </a:r>
          </a:p>
        </p:txBody>
      </p:sp>
      <p:sp>
        <p:nvSpPr>
          <p:cNvPr id="25" name="TextBox 24"/>
          <p:cNvSpPr txBox="1"/>
          <p:nvPr/>
        </p:nvSpPr>
        <p:spPr>
          <a:xfrm>
            <a:off x="742950" y="4069080"/>
            <a:ext cx="10725180" cy="2331720"/>
          </a:xfrm>
          <a:prstGeom prst="rect">
            <a:avLst/>
          </a:prstGeom>
          <a:noFill/>
        </p:spPr>
        <p:txBody>
          <a:bodyPr wrap="square">
            <a:spAutoFit/>
          </a:bodyPr>
          <a:lstStyle/>
          <a:p>
            <a:pPr marL="285750" indent="-285750">
              <a:spcBef>
                <a:spcPts val="600"/>
              </a:spcBef>
              <a:buFont typeface="Arial" panose="020B0604020202020204" pitchFamily="34" charset="0"/>
              <a:buChar char="•"/>
            </a:pPr>
            <a:r>
              <a:rPr lang="en-MY" dirty="0"/>
              <a:t>Mengenal pasti struktur dan elemen landskap - kerja pembinaan, penyeliaan dan penyelenggaraan dirancang dengan tepat</a:t>
            </a:r>
          </a:p>
          <a:p>
            <a:pPr marL="285750" indent="-285750">
              <a:spcBef>
                <a:spcPts val="600"/>
              </a:spcBef>
              <a:buFont typeface="Arial" panose="020B0604020202020204" pitchFamily="34" charset="0"/>
              <a:buChar char="•"/>
            </a:pPr>
            <a:r>
              <a:rPr lang="en-MY" dirty="0"/>
              <a:t>Struktur Taman - Struktur Persisir Air, Struktur Teduhan, Kemudahan Awam, </a:t>
            </a:r>
            <a:r>
              <a:rPr lang="en-MY" i="1" dirty="0"/>
              <a:t>Water Feature</a:t>
            </a:r>
          </a:p>
          <a:p>
            <a:pPr marL="285750" indent="-285750">
              <a:spcBef>
                <a:spcPts val="600"/>
              </a:spcBef>
              <a:buFont typeface="Arial" panose="020B0604020202020204" pitchFamily="34" charset="0"/>
              <a:buChar char="•"/>
            </a:pPr>
            <a:r>
              <a:rPr lang="en-MY" dirty="0"/>
              <a:t>Elemen Perabot Taman - Kerusi Taman, Papan Tanda, Tong Sampah, </a:t>
            </a:r>
            <a:r>
              <a:rPr lang="en-MY" i="1" dirty="0"/>
              <a:t>Drinking Fountain</a:t>
            </a:r>
            <a:r>
              <a:rPr lang="en-MY" dirty="0"/>
              <a:t> dan </a:t>
            </a:r>
            <a:r>
              <a:rPr lang="en-MY" i="1" dirty="0"/>
              <a:t>BBQ pit</a:t>
            </a:r>
          </a:p>
          <a:p>
            <a:pPr marL="285750" indent="-285750">
              <a:spcBef>
                <a:spcPts val="600"/>
              </a:spcBef>
              <a:buFont typeface="Arial" panose="020B0604020202020204" pitchFamily="34" charset="0"/>
              <a:buChar char="•"/>
            </a:pPr>
            <a:r>
              <a:rPr lang="en-MY" dirty="0"/>
              <a:t>Kontraktor dapat merancang, melaksana dan menyelenggara setiap komponen landskap mengikut fungsinya di tapak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a:t>
            </a:r>
          </a:p>
        </p:txBody>
      </p:sp>
      <p:sp>
        <p:nvSpPr>
          <p:cNvPr id="9"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S18 — KUIZ</a:t>
            </a:r>
          </a:p>
          <a:p>
            <a:r>
              <a:rPr lang="en-MY" sz="1200" dirty="0"/>
              <a:t>MISSING_SOURCE.</a:t>
            </a:r>
          </a:p>
          <a:p>
            <a:r>
              <a:rPr lang="en-MY" sz="1200" dirty="0"/>
              <a:t>NO quiz items, options, answer keys, feedback or routing exist.</a:t>
            </a:r>
          </a:p>
          <a:p>
            <a:r>
              <a:rPr lang="en-MY" sz="1200" dirty="0"/>
              <a:t>None is invented. Structural frame only.</a:t>
            </a:r>
          </a:p>
          <a:p>
            <a:r>
              <a:rPr lang="en-MY" sz="1200" dirty="0"/>
              <a:t>P6 is a live production ID — not cited here.</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Kuiz</a:t>
            </a:r>
          </a:p>
        </p:txBody>
      </p:sp>
      <p:sp>
        <p:nvSpPr>
          <p:cNvPr id="20" name="SOURCE PENDING"/>
          <p:cNvSpPr txBox="1"/>
          <p:nvPr/>
        </p:nvSpPr>
        <p:spPr>
          <a:xfrm>
            <a:off x="723930" y="1628821"/>
            <a:ext cx="10744200" cy="4810110"/>
          </a:xfrm>
          <a:prstGeom prst="rect">
            <a:avLst/>
          </a:prstGeom>
          <a:solidFill>
            <a:srgbClr val="FFF2CC"/>
          </a:solidFill>
          <a:ln w="19050">
            <a:solidFill>
              <a:srgbClr val="BF8F00"/>
            </a:solidFill>
            <a:prstDash val="dash"/>
          </a:ln>
        </p:spPr>
        <p:txBody>
          <a:bodyPr wrap="square" anchor="ctr">
            <a:noAutofit/>
          </a:bodyPr>
          <a:lstStyle/>
          <a:p>
            <a:pPr algn="ctr"/>
            <a:r>
              <a:rPr lang="en-MY" sz="1800" b="1" dirty="0">
                <a:solidFill>
                  <a:srgbClr val="7F6000"/>
                </a:solidFill>
              </a:rPr>
              <a:t>SOURCE PENDING</a:t>
            </a:r>
          </a:p>
          <a:p>
            <a:pPr algn="ctr"/>
            <a:r>
              <a:rPr lang="en-MY" sz="1400" dirty="0">
                <a:solidFill>
                  <a:srgbClr val="7F6000"/>
                </a:solidFill>
              </a:rPr>
              <a:t>No quiz source exists for this bahagian.</a:t>
            </a:r>
          </a:p>
          <a:p>
            <a:pPr algn="ctr"/>
            <a:r>
              <a:rPr lang="en-MY" sz="1400" dirty="0">
                <a:solidFill>
                  <a:srgbClr val="7F6000"/>
                </a:solidFill>
              </a:rPr>
              <a:t>No question, option, answer key, feedback or routing rule has been constructed.</a:t>
            </a:r>
          </a:p>
          <a:p>
            <a:pPr algn="ctr"/>
            <a:r>
              <a:rPr lang="en-MY" sz="1400" dirty="0">
                <a:solidFill>
                  <a:srgbClr val="7F6000"/>
                </a:solidFill>
              </a:rPr>
              <a:t>This frame shows placement only.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Tamat</a:t>
            </a:r>
          </a:p>
        </p:txBody>
      </p:sp>
      <p:sp>
        <p:nvSpPr>
          <p:cNvPr id="9" name="Rectangle 8"/>
          <p:cNvSpPr/>
          <p:nvPr/>
        </p:nvSpPr>
        <p:spPr>
          <a:xfrm>
            <a:off x="-3063240" y="0"/>
            <a:ext cx="2879994" cy="6858000"/>
          </a:xfrm>
          <a:prstGeom prst="rect">
            <a:avLst/>
          </a:prstGeom>
          <a:solidFill>
            <a:srgbClr val="FFF2CC"/>
          </a:solidFill>
          <a:ln>
            <a:noFill/>
          </a:ln>
        </p:spPr>
        <p:txBody>
          <a:bodyPr rtlCol="0" anchor="t"/>
          <a:lstStyle/>
          <a:p>
            <a:r>
              <a:rPr lang="en-MY" sz="1200" dirty="0"/>
              <a:t>(VISUAL TREATMENT SAMPLE — OUTPUT ONLY. NOT A STORYBOARD. NOT CAIR-RATIFIED. NOT PRODUCTION-AUTHORISED.)</a:t>
            </a:r>
          </a:p>
          <a:p>
            <a:r>
              <a:rPr lang="en-MY" sz="1200" dirty="0"/>
              <a:t>S19 — TAMAT</a:t>
            </a:r>
          </a:p>
          <a:p>
            <a:r>
              <a:rPr lang="en-MY" sz="1200" dirty="0"/>
              <a:t>MISSING_SOURCE.</a:t>
            </a:r>
          </a:p>
          <a:p>
            <a:r>
              <a:rPr lang="en-MY" sz="1200" dirty="0"/>
              <a:t>No closing content or next-step instruction verified.</a:t>
            </a:r>
          </a:p>
          <a:p>
            <a:r>
              <a:rPr lang="en-MY" sz="1200" dirty="0"/>
              <a:t>Nothing invented.</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Tamat</a:t>
            </a:r>
          </a:p>
        </p:txBody>
      </p:sp>
      <p:sp>
        <p:nvSpPr>
          <p:cNvPr id="20" name="SOURCE PENDING"/>
          <p:cNvSpPr txBox="1"/>
          <p:nvPr/>
        </p:nvSpPr>
        <p:spPr>
          <a:xfrm>
            <a:off x="723930" y="1628821"/>
            <a:ext cx="10744200" cy="4810110"/>
          </a:xfrm>
          <a:prstGeom prst="rect">
            <a:avLst/>
          </a:prstGeom>
          <a:solidFill>
            <a:srgbClr val="FFF2CC"/>
          </a:solidFill>
          <a:ln w="19050">
            <a:solidFill>
              <a:srgbClr val="BF8F00"/>
            </a:solidFill>
            <a:prstDash val="dash"/>
          </a:ln>
        </p:spPr>
        <p:txBody>
          <a:bodyPr wrap="square" anchor="ctr">
            <a:noAutofit/>
          </a:bodyPr>
          <a:lstStyle/>
          <a:p>
            <a:pPr algn="ctr"/>
            <a:r>
              <a:rPr lang="en-MY" sz="1800" b="1" dirty="0">
                <a:solidFill>
                  <a:srgbClr val="7F6000"/>
                </a:solidFill>
              </a:rPr>
              <a:t>SOURCE PENDING</a:t>
            </a:r>
          </a:p>
          <a:p>
            <a:pPr algn="ctr"/>
            <a:r>
              <a:rPr lang="en-MY" sz="1400" dirty="0">
                <a:solidFill>
                  <a:srgbClr val="7F6000"/>
                </a:solidFill>
              </a:rPr>
              <a:t>No end-screen content verified for this bahagian.</a:t>
            </a:r>
          </a:p>
        </p:txBody>
      </p:sp>
    </p:spTree>
  </p:cSld>
  <p:clrMapOvr>
    <a:masterClrMapping/>
  </p:clrMapOvr>
</p:sld>
</file>

<file path=ppt/theme/theme1.xml><?xml version="1.0" encoding="utf-8"?>
<a:theme xmlns:a="http://schemas.openxmlformats.org/drawingml/2006/main" name="Office Theme">
  <a:themeElements>
    <a:clrScheme name="Custom 505">
      <a:dk1>
        <a:srgbClr val="000000"/>
      </a:dk1>
      <a:lt1>
        <a:srgbClr val="FFFFFF"/>
      </a:lt1>
      <a:dk2>
        <a:srgbClr val="3F403F"/>
      </a:dk2>
      <a:lt2>
        <a:srgbClr val="FFFFFF"/>
      </a:lt2>
      <a:accent1>
        <a:srgbClr val="17B164"/>
      </a:accent1>
      <a:accent2>
        <a:srgbClr val="003E3B"/>
      </a:accent2>
      <a:accent3>
        <a:srgbClr val="181818"/>
      </a:accent3>
      <a:accent4>
        <a:srgbClr val="13764B"/>
      </a:accent4>
      <a:accent5>
        <a:srgbClr val="21C190"/>
      </a:accent5>
      <a:accent6>
        <a:srgbClr val="83EAB1"/>
      </a:accent6>
      <a:hlink>
        <a:srgbClr val="1EE27F"/>
      </a:hlink>
      <a:folHlink>
        <a:srgbClr val="1EE27F"/>
      </a:folHlink>
    </a:clrScheme>
    <a:fontScheme name="CIDB">
      <a:majorFont>
        <a:latin typeface="Raleway"/>
        <a:ea typeface=""/>
        <a:cs typeface=""/>
      </a:majorFont>
      <a:minorFont>
        <a:latin typeface="Ebri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Application>CAIR compiler</Application>
  <PresentationFormat>Widescreen</PresentationFormat>
  <Slides>19</Slides>
  <Notes>19</Notes>
  <HiddenSlides>0</HiddenSlides>
  <MMClips>0</MMClips>
  <ScaleCrop>false</ScaleCrop>
  <LinksUpToDate>false</LinksUpToDate>
  <SharedDoc>false</SharedDoc>
  <HyperlinksChanged>false</HyperlinksChanged>
  <HeadingPairs>
    <vt:vector size="4" baseType="variant">
      <vt:variant>
        <vt:lpstr>Theme</vt:lpstr>
      </vt:variant>
      <vt:variant>
        <vt:i4>1</vt:i4>
      </vt:variant>
      <vt:variant>
        <vt:lpstr>Slide Titles</vt:lpstr>
      </vt:variant>
      <vt:variant>
        <vt:i4>19</vt:i4>
      </vt:variant>
    </vt:vector>
  </HeadingPairs>
  <TitlesOfParts>
    <vt:vector size="20" baseType="lpstr">
      <vt:lpstr>Theme</vt:lpstr>
      <vt:lpstr>S01</vt:lpstr>
      <vt:lpstr>S02</vt:lpstr>
      <vt:lpstr>S03</vt:lpstr>
      <vt:lpstr>S04</vt:lpstr>
      <vt:lpstr>S05</vt:lpstr>
      <vt:lpstr>S06</vt:lpstr>
      <vt:lpstr>S07</vt:lpstr>
      <vt:lpstr>S08</vt:lpstr>
      <vt:lpstr>S09</vt:lpstr>
      <vt:lpstr>S10</vt:lpstr>
      <vt:lpstr>S11</vt:lpstr>
      <vt:lpstr>S12</vt:lpstr>
      <vt:lpstr>S13</vt:lpstr>
      <vt:lpstr>S14</vt:lpstr>
      <vt:lpstr>S15</vt:lpstr>
      <vt:lpstr>S16</vt:lpstr>
      <vt:lpstr>S17</vt:lpstr>
      <vt:lpstr>S18</vt:lpstr>
      <vt:lpstr>S19</vt:lpstr>
    </vt:vector>
  </TitlesOfParts>
</Properties>
</file>

<file path=docProps/core.xml><?xml version="1.0" encoding="utf-8"?>
<cp:coreProperties xmlns:cp="http://schemas.openxmlformats.org/package/2006/metadata/core-properties" xmlns:dc="http://purl.org/dc/elements/1.1/" xmlns:dcterms="http://purl.org/dc/terms/" xmlns:dcmitype="http://purl.org/dcmitype/" xmlns:xsi="http://www.w3.org/2001/XMLSchema-instance">
  <dc:title>Visual Treatment Sample v0.2 — 19 skrin — bukan storyboard</dc:title>
  <dc:subject>Visual treatment sample. Output-only, disposable. Not CAIR-ratified. Not production-authorised.</dc:subject>
  <dc:creator>CAIR visual sample</dc:creator>
  <cp:keywords>visual-treatment-sample; K5PL06T03B02; output-only; disposable</cp:keywords>
  <dc:description>19 screens showing treatment geometry only. 4 screens source-verified, 11 partial, 4 missing. Source-incomplete screens are marked SOURCE PENDING. No factual content, VO, quiz item, answer key or routing invented.</dc:description>
  <cp:lastModifiedBy>CAIR visual sample</cp:lastModifiedBy>
  <cp:revision>1</cp:revision>
  <dcterms:created xsi:type="dcterms:W3CDTF">2026-07-31T00:00:00Z</dcterms:created>
  <dcterms:modified xsi:type="dcterms:W3CDTF">2026-07-31T00:00:00Z</dcterms:modified>
  <cp:category>Visual Treatment Sample</cp:category>
</cp:coreProperties>
</file>