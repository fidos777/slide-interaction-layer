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9101" r:id="rId2"/>
    <p:sldId id="9102" r:id="rId3"/>
    <p:sldId id="9103"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6"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9F9E"/>
    <a:srgbClr val="DFE0D1"/>
    <a:srgbClr val="AC8300"/>
    <a:srgbClr val="F6D4CF"/>
    <a:srgbClr val="D8928B"/>
    <a:srgbClr val="98768E"/>
    <a:srgbClr val="D3B8C5"/>
    <a:srgbClr val="4E7189"/>
    <a:srgbClr val="385F77"/>
    <a:srgbClr val="244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91" autoAdjust="0"/>
    <p:restoredTop sz="35546" autoAdjust="0"/>
  </p:normalViewPr>
  <p:slideViewPr>
    <p:cSldViewPr snapToGrid="0" snapToObjects="1">
      <p:cViewPr>
        <p:scale>
          <a:sx n="50" d="100"/>
          <a:sy n="50" d="100"/>
        </p:scale>
        <p:origin x="1930" y="264"/>
      </p:cViewPr>
      <p:guideLst>
        <p:guide orient="horz" pos="1026"/>
        <p:guide pos="384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70" d="100"/>
        <a:sy n="70" d="100"/>
      </p:scale>
      <p:origin x="0" y="-6198"/>
    </p:cViewPr>
  </p:sorterViewPr>
  <p:notesViewPr>
    <p:cSldViewPr snapToGrid="0" snapToObjects="1">
      <p:cViewPr varScale="1">
        <p:scale>
          <a:sx n="50" d="100"/>
          <a:sy n="50" d="100"/>
        </p:scale>
        <p:origin x="2016" y="6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CCA8EA-268C-9240-A93C-AAC79D8999C8}" type="datetimeFigureOut">
              <a:rPr lang="en-US" smtClean="0"/>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5C05A5-7321-AF4F-BADD-6247ABA70E9B}" type="slidenum">
              <a:rPr lang="en-US" smtClean="0"/>
              <a:t>‹#›</a:t>
            </a:fld>
            <a:endParaRPr lang="en-US"/>
          </a:p>
        </p:txBody>
      </p:sp>
    </p:spTree>
    <p:extLst>
      <p:ext uri="{BB962C8B-B14F-4D97-AF65-F5344CB8AC3E}">
        <p14:creationId xmlns:p14="http://schemas.microsoft.com/office/powerpoint/2010/main" val="2579992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Struktur taman membina fungsi dan estetika landskap merangkumi pelbagai jenis binaan yang mengintegrasikan reka bentuk seni bina dengan landskap semula jadi. Setiap struktur mempunyai tujuan tersendiri, sama ada untuk akses, rekreasi, perlindungan, atau sebagai elemen visual utama. Terdapat empat jenis struktur taman: Struktur Persisir Air, Struktur Teduhan, Kemudahan Awam, Water Feature.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MY" dirty="0"/>
              <a:t>PL06: Pengurusan Operasi Pembinaan Landskap</a:t>
            </a:r>
          </a:p>
          <a:p>
            <a:r>
              <a:rPr lang="en-MY" dirty="0"/>
              <a:t>Topik 3 Bahagian 2: Komponen Landskap</a:t>
            </a:r>
          </a:p>
          <a:p>
            <a:endParaRPr lang="en-MY" dirty="0"/>
          </a:p>
          <a:p>
            <a:r>
              <a:rPr lang="en-MY" dirty="0"/>
              <a:t>Perabot Taman</a:t>
            </a:r>
          </a:p>
          <a:p>
            <a:r>
              <a:rPr lang="en-MY" dirty="0"/>
              <a:t>Papan tanda adalah elemen penting untuk navigasi, maklumat, dan keselamatan dalam ruang landskap. Papan tanda mesti jelas, mudah dibaca, dan diletakkan di lokasi yang strategik. Ia boleh berupa penunjuk arah, peta taman, informasi tentang tumbuhan atau ciri landskap, atau peraturan taman. Bahan yang digunakan harus tahan cuaca dan tahan luntur.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Komponen Landskap — Struktur Taman dan Perabot Taman</a:t>
            </a:r>
          </a:p>
          <a:p>
            <a:r>
              <a:rPr lang="en-MY" dirty="0"/>
              <a:t>Mengenal pasti struktur dan elemen landskap membolehkan kerja pembinaan, penyeliaan dan penyelenggaraan dirancang dengan tepat. Struktur taman merangkumi Struktur Persisir Air, Struktur Teduhan, Kemudahan Awam, Water Feature, manakala elemen perabot taman merangkumi Kerusi Taman, Papan Tanda, Tong Sampah, Drinking Fountain dan BBQ pit. Dengan memahami komponen-komponen ini, kontraktor dapat merancang, melaksana dan menyelenggara setiap komponen landskap mengikut fungsinya di tapak.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3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0357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3B2182B-4038-41C3-019B-38E13D6A2C11}"/>
              </a:ext>
            </a:extLst>
          </p:cNvPr>
          <p:cNvSpPr>
            <a:spLocks noGrp="1"/>
          </p:cNvSpPr>
          <p:nvPr>
            <p:ph type="pic" sz="quarter" idx="10"/>
          </p:nvPr>
        </p:nvSpPr>
        <p:spPr>
          <a:xfrm>
            <a:off x="4818997" y="591208"/>
            <a:ext cx="8787275" cy="5675584"/>
          </a:xfrm>
          <a:custGeom>
            <a:avLst/>
            <a:gdLst>
              <a:gd name="connsiteX0" fmla="*/ 0 w 8787275"/>
              <a:gd name="connsiteY0" fmla="*/ 0 h 5675584"/>
              <a:gd name="connsiteX1" fmla="*/ 8787275 w 8787275"/>
              <a:gd name="connsiteY1" fmla="*/ 0 h 5675584"/>
              <a:gd name="connsiteX2" fmla="*/ 8787275 w 8787275"/>
              <a:gd name="connsiteY2" fmla="*/ 5675584 h 5675584"/>
              <a:gd name="connsiteX3" fmla="*/ 0 w 8787275"/>
              <a:gd name="connsiteY3" fmla="*/ 5675584 h 5675584"/>
            </a:gdLst>
            <a:ahLst/>
            <a:cxnLst>
              <a:cxn ang="0">
                <a:pos x="connsiteX0" y="connsiteY0"/>
              </a:cxn>
              <a:cxn ang="0">
                <a:pos x="connsiteX1" y="connsiteY1"/>
              </a:cxn>
              <a:cxn ang="0">
                <a:pos x="connsiteX2" y="connsiteY2"/>
              </a:cxn>
              <a:cxn ang="0">
                <a:pos x="connsiteX3" y="connsiteY3"/>
              </a:cxn>
            </a:cxnLst>
            <a:rect l="l" t="t" r="r" b="b"/>
            <a:pathLst>
              <a:path w="8787275" h="5675584">
                <a:moveTo>
                  <a:pt x="0" y="0"/>
                </a:moveTo>
                <a:lnTo>
                  <a:pt x="8787275" y="0"/>
                </a:lnTo>
                <a:lnTo>
                  <a:pt x="8787275" y="5675584"/>
                </a:lnTo>
                <a:lnTo>
                  <a:pt x="0" y="5675584"/>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965708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35" presetClass="path" presetSubtype="0" repeatCount="indefinite" autoRev="1" fill="hold" grpId="1" nodeType="withEffect">
                                  <p:stCondLst>
                                    <p:cond delay="16500"/>
                                  </p:stCondLst>
                                  <p:childTnLst>
                                    <p:animMotion origin="layout" path="M 1.04167E-6 0 L -0.06172 0 " pathEditMode="relative" rAng="0" ptsTypes="AA">
                                      <p:cBhvr>
                                        <p:cTn id="10" dur="20000" fill="hold"/>
                                        <p:tgtEl>
                                          <p:spTgt spid="4"/>
                                        </p:tgtEl>
                                        <p:attrNameLst>
                                          <p:attrName>ppt_x</p:attrName>
                                          <p:attrName>ppt_y</p:attrName>
                                        </p:attrNameLst>
                                      </p:cBhvr>
                                      <p:rCtr x="-308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33088B3-81DD-FB17-13BE-90F7249765F2}"/>
              </a:ext>
            </a:extLst>
          </p:cNvPr>
          <p:cNvSpPr>
            <a:spLocks noGrp="1"/>
          </p:cNvSpPr>
          <p:nvPr>
            <p:ph type="pic" sz="quarter" idx="11"/>
          </p:nvPr>
        </p:nvSpPr>
        <p:spPr>
          <a:xfrm>
            <a:off x="3748903" y="3428997"/>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325C6063-1B18-34DC-B266-32D60EBB74E3}"/>
              </a:ext>
            </a:extLst>
          </p:cNvPr>
          <p:cNvSpPr>
            <a:spLocks noGrp="1"/>
          </p:cNvSpPr>
          <p:nvPr>
            <p:ph type="pic" sz="quarter" idx="10"/>
          </p:nvPr>
        </p:nvSpPr>
        <p:spPr>
          <a:xfrm>
            <a:off x="605120" y="-1"/>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15016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4" accel="50000" decel="5000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797700D-0768-84DB-CFE2-F86F2CE2011F}"/>
              </a:ext>
            </a:extLst>
          </p:cNvPr>
          <p:cNvSpPr>
            <a:spLocks noGrp="1"/>
          </p:cNvSpPr>
          <p:nvPr>
            <p:ph type="pic" sz="quarter" idx="11"/>
          </p:nvPr>
        </p:nvSpPr>
        <p:spPr>
          <a:xfrm>
            <a:off x="8666206" y="3429000"/>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4">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91546D6E-F5E7-12C9-9BA0-07418A64A194}"/>
              </a:ext>
            </a:extLst>
          </p:cNvPr>
          <p:cNvSpPr>
            <a:spLocks noGrp="1"/>
          </p:cNvSpPr>
          <p:nvPr>
            <p:ph type="pic" sz="quarter" idx="10"/>
          </p:nvPr>
        </p:nvSpPr>
        <p:spPr>
          <a:xfrm>
            <a:off x="8666206" y="868162"/>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99109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1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grpId="0" nodeType="withEffect">
                                  <p:stCondLst>
                                    <p:cond delay="175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1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6235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5"/>
        <p:cNvGrpSpPr/>
        <p:nvPr/>
      </p:nvGrpSpPr>
      <p:grpSpPr>
        <a:xfrm>
          <a:off x="0" y="0"/>
          <a:ext cx="0" cy="0"/>
          <a:chOff x="0" y="0"/>
          <a:chExt cx="0" cy="0"/>
        </a:xfrm>
      </p:grpSpPr>
      <p:sp>
        <p:nvSpPr>
          <p:cNvPr id="16" name="Google Shape;1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182" lvl="0" indent="-342886" algn="l">
              <a:lnSpc>
                <a:spcPct val="90000"/>
              </a:lnSpc>
              <a:spcBef>
                <a:spcPts val="1000"/>
              </a:spcBef>
              <a:spcAft>
                <a:spcPts val="0"/>
              </a:spcAft>
              <a:buClr>
                <a:schemeClr val="dk1"/>
              </a:buClr>
              <a:buSzPts val="1800"/>
              <a:buChar char="•"/>
              <a:defRPr/>
            </a:lvl1pPr>
            <a:lvl2pPr marL="914363" lvl="1" indent="-342886" algn="l">
              <a:lnSpc>
                <a:spcPct val="90000"/>
              </a:lnSpc>
              <a:spcBef>
                <a:spcPts val="500"/>
              </a:spcBef>
              <a:spcAft>
                <a:spcPts val="0"/>
              </a:spcAft>
              <a:buClr>
                <a:schemeClr val="dk1"/>
              </a:buClr>
              <a:buSzPts val="1800"/>
              <a:buChar char="•"/>
              <a:defRPr/>
            </a:lvl2pPr>
            <a:lvl3pPr marL="1371545" lvl="2" indent="-342886" algn="l">
              <a:lnSpc>
                <a:spcPct val="90000"/>
              </a:lnSpc>
              <a:spcBef>
                <a:spcPts val="500"/>
              </a:spcBef>
              <a:spcAft>
                <a:spcPts val="0"/>
              </a:spcAft>
              <a:buClr>
                <a:schemeClr val="dk1"/>
              </a:buClr>
              <a:buSzPts val="1800"/>
              <a:buChar char="•"/>
              <a:defRPr/>
            </a:lvl3pPr>
            <a:lvl4pPr marL="1828727" lvl="3" indent="-342886" algn="l">
              <a:lnSpc>
                <a:spcPct val="90000"/>
              </a:lnSpc>
              <a:spcBef>
                <a:spcPts val="500"/>
              </a:spcBef>
              <a:spcAft>
                <a:spcPts val="0"/>
              </a:spcAft>
              <a:buClr>
                <a:schemeClr val="dk1"/>
              </a:buClr>
              <a:buSzPts val="1800"/>
              <a:buChar char="•"/>
              <a:defRPr/>
            </a:lvl4pPr>
            <a:lvl5pPr marL="2285909" lvl="4" indent="-342886" algn="l">
              <a:lnSpc>
                <a:spcPct val="90000"/>
              </a:lnSpc>
              <a:spcBef>
                <a:spcPts val="500"/>
              </a:spcBef>
              <a:spcAft>
                <a:spcPts val="0"/>
              </a:spcAft>
              <a:buClr>
                <a:schemeClr val="dk1"/>
              </a:buClr>
              <a:buSzPts val="1800"/>
              <a:buChar char="•"/>
              <a:defRPr/>
            </a:lvl5pPr>
            <a:lvl6pPr marL="2743090" lvl="5" indent="-342886" algn="l">
              <a:lnSpc>
                <a:spcPct val="90000"/>
              </a:lnSpc>
              <a:spcBef>
                <a:spcPts val="500"/>
              </a:spcBef>
              <a:spcAft>
                <a:spcPts val="0"/>
              </a:spcAft>
              <a:buClr>
                <a:schemeClr val="dk1"/>
              </a:buClr>
              <a:buSzPts val="1800"/>
              <a:buChar char="•"/>
              <a:defRPr/>
            </a:lvl6pPr>
            <a:lvl7pPr marL="3200272" lvl="6" indent="-342886" algn="l">
              <a:lnSpc>
                <a:spcPct val="90000"/>
              </a:lnSpc>
              <a:spcBef>
                <a:spcPts val="500"/>
              </a:spcBef>
              <a:spcAft>
                <a:spcPts val="0"/>
              </a:spcAft>
              <a:buClr>
                <a:schemeClr val="dk1"/>
              </a:buClr>
              <a:buSzPts val="1800"/>
              <a:buChar char="•"/>
              <a:defRPr/>
            </a:lvl7pPr>
            <a:lvl8pPr marL="3657454" lvl="7" indent="-342886" algn="l">
              <a:lnSpc>
                <a:spcPct val="90000"/>
              </a:lnSpc>
              <a:spcBef>
                <a:spcPts val="500"/>
              </a:spcBef>
              <a:spcAft>
                <a:spcPts val="0"/>
              </a:spcAft>
              <a:buClr>
                <a:schemeClr val="dk1"/>
              </a:buClr>
              <a:buSzPts val="1800"/>
              <a:buChar char="•"/>
              <a:defRPr/>
            </a:lvl8pPr>
            <a:lvl9pPr marL="4114635" lvl="8" indent="-342886" algn="l">
              <a:lnSpc>
                <a:spcPct val="90000"/>
              </a:lnSpc>
              <a:spcBef>
                <a:spcPts val="500"/>
              </a:spcBef>
              <a:spcAft>
                <a:spcPts val="0"/>
              </a:spcAft>
              <a:buClr>
                <a:schemeClr val="dk1"/>
              </a:buClr>
              <a:buSzPts val="1800"/>
              <a:buChar char="•"/>
              <a:defRPr/>
            </a:lvl9pPr>
          </a:lstStyle>
          <a:p>
            <a:endParaRPr/>
          </a:p>
        </p:txBody>
      </p:sp>
      <p:sp>
        <p:nvSpPr>
          <p:cNvPr id="18" name="Google Shape;18;p2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MY" smtClean="0"/>
              <a:pPr/>
              <a:t>‹#›</a:t>
            </a:fld>
            <a:endParaRPr lang="en-MY"/>
          </a:p>
        </p:txBody>
      </p:sp>
    </p:spTree>
    <p:extLst>
      <p:ext uri="{BB962C8B-B14F-4D97-AF65-F5344CB8AC3E}">
        <p14:creationId xmlns:p14="http://schemas.microsoft.com/office/powerpoint/2010/main" val="114599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8F1E2742-D414-F4F1-C791-24DC8FA6BC89}"/>
              </a:ext>
            </a:extLst>
          </p:cNvPr>
          <p:cNvSpPr>
            <a:spLocks noGrp="1"/>
          </p:cNvSpPr>
          <p:nvPr>
            <p:ph type="title"/>
          </p:nvPr>
        </p:nvSpPr>
        <p:spPr>
          <a:xfrm>
            <a:off x="1" y="-622575"/>
            <a:ext cx="11125200" cy="463985"/>
          </a:xfrm>
          <a:prstGeom prst="rect">
            <a:avLst/>
          </a:prstGeom>
        </p:spPr>
        <p:txBody>
          <a:bodyPr vert="horz" lIns="0" tIns="0" rIns="0" bIns="0" rtlCol="0" anchor="ctr" anchorCtr="0">
            <a:noAutofit/>
          </a:bodyPr>
          <a:lstStyle>
            <a:lvl1pPr>
              <a:defRPr sz="16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4205416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9A2C1-868B-E048-BC42-05B15F482131}"/>
              </a:ext>
            </a:extLst>
          </p:cNvPr>
          <p:cNvSpPr>
            <a:spLocks noGrp="1"/>
          </p:cNvSpPr>
          <p:nvPr>
            <p:ph type="title"/>
          </p:nvPr>
        </p:nvSpPr>
        <p:spPr>
          <a:xfrm>
            <a:off x="533400" y="419099"/>
            <a:ext cx="11125200" cy="463985"/>
          </a:xfrm>
          <a:prstGeom prst="rect">
            <a:avLst/>
          </a:prstGeom>
        </p:spPr>
        <p:txBody>
          <a:bodyPr vert="horz" lIns="0" tIns="0" rIns="0" bIns="0" rtlCol="0" anchor="t">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E2E175A4-F8EA-2E4A-A9FC-8E6DA130CB25}"/>
              </a:ext>
            </a:extLst>
          </p:cNvPr>
          <p:cNvSpPr>
            <a:spLocks noGrp="1"/>
          </p:cNvSpPr>
          <p:nvPr>
            <p:ph type="body" idx="1"/>
          </p:nvPr>
        </p:nvSpPr>
        <p:spPr>
          <a:xfrm>
            <a:off x="533400" y="1460500"/>
            <a:ext cx="11125200" cy="43513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6FFFA472-F704-9D4A-AE43-BF8DA1CC6404}"/>
              </a:ext>
            </a:extLst>
          </p:cNvPr>
          <p:cNvSpPr>
            <a:spLocks noGrp="1"/>
          </p:cNvSpPr>
          <p:nvPr>
            <p:ph type="dt" sz="half" idx="2"/>
          </p:nvPr>
        </p:nvSpPr>
        <p:spPr>
          <a:xfrm>
            <a:off x="9896606" y="6445229"/>
            <a:ext cx="756781" cy="187367"/>
          </a:xfrm>
          <a:prstGeom prst="rect">
            <a:avLst/>
          </a:prstGeom>
        </p:spPr>
        <p:txBody>
          <a:bodyPr vert="horz" lIns="0" tIns="0" rIns="0" bIns="0" rtlCol="0" anchor="ctr"/>
          <a:lstStyle>
            <a:lvl1pPr algn="ctr">
              <a:defRPr sz="1000">
                <a:solidFill>
                  <a:schemeClr val="bg1">
                    <a:lumMod val="50000"/>
                  </a:schemeClr>
                </a:solidFill>
              </a:defRPr>
            </a:lvl1pPr>
          </a:lstStyle>
          <a:p>
            <a:fld id="{B2896C5E-20F6-5143-9F77-A8D16BC84A78}" type="datetimeFigureOut">
              <a:rPr lang="en-US" smtClean="0"/>
              <a:pPr/>
              <a:t>7/26/2026</a:t>
            </a:fld>
            <a:endParaRPr lang="en-US" dirty="0"/>
          </a:p>
        </p:txBody>
      </p:sp>
      <p:sp>
        <p:nvSpPr>
          <p:cNvPr id="5" name="Footer Placeholder 4">
            <a:extLst>
              <a:ext uri="{FF2B5EF4-FFF2-40B4-BE49-F238E27FC236}">
                <a16:creationId xmlns:a16="http://schemas.microsoft.com/office/drawing/2014/main" id="{F537EDD9-B49B-1342-9401-0E870BD269D0}"/>
              </a:ext>
            </a:extLst>
          </p:cNvPr>
          <p:cNvSpPr>
            <a:spLocks noGrp="1"/>
          </p:cNvSpPr>
          <p:nvPr>
            <p:ph type="ftr" sz="quarter" idx="3"/>
          </p:nvPr>
        </p:nvSpPr>
        <p:spPr>
          <a:xfrm>
            <a:off x="533399" y="6445229"/>
            <a:ext cx="9237947" cy="187367"/>
          </a:xfrm>
          <a:prstGeom prst="rect">
            <a:avLst/>
          </a:prstGeom>
        </p:spPr>
        <p:txBody>
          <a:bodyPr vert="horz" lIns="0" tIns="0" rIns="0" bIns="0" rtlCol="0" anchor="ctr"/>
          <a:lstStyle>
            <a:lvl1pPr algn="l">
              <a:defRPr sz="1000">
                <a:solidFill>
                  <a:schemeClr val="bg1">
                    <a:lumMod val="50000"/>
                  </a:schemeClr>
                </a:solidFill>
              </a:defRPr>
            </a:lvl1pPr>
          </a:lstStyle>
          <a:p>
            <a:endParaRPr lang="en-US"/>
          </a:p>
        </p:txBody>
      </p:sp>
      <p:sp>
        <p:nvSpPr>
          <p:cNvPr id="6" name="Slide Number Placeholder 5">
            <a:extLst>
              <a:ext uri="{FF2B5EF4-FFF2-40B4-BE49-F238E27FC236}">
                <a16:creationId xmlns:a16="http://schemas.microsoft.com/office/drawing/2014/main" id="{A80051E2-0E41-A34C-8D98-2FD15D190DD1}"/>
              </a:ext>
            </a:extLst>
          </p:cNvPr>
          <p:cNvSpPr>
            <a:spLocks noGrp="1"/>
          </p:cNvSpPr>
          <p:nvPr>
            <p:ph type="sldNum" sz="quarter" idx="4"/>
          </p:nvPr>
        </p:nvSpPr>
        <p:spPr>
          <a:xfrm>
            <a:off x="10778646" y="6445229"/>
            <a:ext cx="879953" cy="187367"/>
          </a:xfrm>
          <a:prstGeom prst="rect">
            <a:avLst/>
          </a:prstGeom>
        </p:spPr>
        <p:txBody>
          <a:bodyPr vert="horz" lIns="0" tIns="0" rIns="0" bIns="0" rtlCol="0" anchor="ctr"/>
          <a:lstStyle>
            <a:lvl1pPr algn="r">
              <a:defRPr sz="1000">
                <a:solidFill>
                  <a:schemeClr val="bg1">
                    <a:lumMod val="50000"/>
                  </a:schemeClr>
                </a:solidFill>
              </a:defRPr>
            </a:lvl1pPr>
          </a:lstStyle>
          <a:p>
            <a:fld id="{914EC2E2-0820-654D-85EB-EBA0A2E7E8B4}" type="slidenum">
              <a:rPr lang="en-US" smtClean="0"/>
              <a:pPr/>
              <a:t>‹#›</a:t>
            </a:fld>
            <a:endParaRPr lang="en-US"/>
          </a:p>
        </p:txBody>
      </p:sp>
    </p:spTree>
    <p:extLst>
      <p:ext uri="{BB962C8B-B14F-4D97-AF65-F5344CB8AC3E}">
        <p14:creationId xmlns:p14="http://schemas.microsoft.com/office/powerpoint/2010/main" val="3914225784"/>
      </p:ext>
    </p:extLst>
  </p:cSld>
  <p:clrMap bg1="lt1" tx1="dk1" bg2="lt2" tx2="dk2" accent1="accent1" accent2="accent2" accent3="accent3" accent4="accent4" accent5="accent5" accent6="accent6" hlink="hlink" folHlink="folHlink"/>
  <p:sldLayoutIdLst>
    <p:sldLayoutId id="2147483658" r:id="rId1"/>
    <p:sldLayoutId id="2147483660" r:id="rId2"/>
    <p:sldLayoutId id="2147483662" r:id="rId3"/>
    <p:sldLayoutId id="2147483663" r:id="rId4"/>
    <p:sldLayoutId id="2147483666" r:id="rId5"/>
    <p:sldLayoutId id="2147483687" r:id="rId6"/>
    <p:sldLayoutId id="2147483703" r:id="rId7"/>
  </p:sldLayoutIdLst>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456" userDrawn="1">
          <p15:clr>
            <a:srgbClr val="F26B43"/>
          </p15:clr>
        </p15:guide>
        <p15:guide id="3" pos="7224" userDrawn="1">
          <p15:clr>
            <a:srgbClr val="F26B43"/>
          </p15:clr>
        </p15:guide>
        <p15:guide id="4" orient="horz" pos="264" userDrawn="1">
          <p15:clr>
            <a:srgbClr val="F26B43"/>
          </p15:clr>
        </p15:guide>
        <p15:guide id="6" orient="horz" pos="405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(PREFLIGHT — OUTPUT ONLY, DISPOSABLE. NOT A STORYBOARD. NOT CAIR-RATIFIED.)</a:t>
            </a:r>
          </a:p>
          <a:p>
            <a:r>
              <a:rPr lang="en-MY" sz="1200" dirty="0"/>
              <a:t>S04 — CR_BASE (Struktur Taman)</a:t>
            </a:r>
          </a:p>
          <a:p>
            <a:r>
              <a:rPr lang="en-MY" sz="1200" dirty="0"/>
              <a:t>CLICK_REVEAL / trigger CARD / reveal FULL_SLIDE</a:t>
            </a:r>
          </a:p>
          <a:p>
            <a:r>
              <a:rPr lang="en-MY" sz="1200" dirty="0"/>
              <a:t>4 children: S05 S06 S07 S08 -&gt; S09 TICK</a:t>
            </a:r>
          </a:p>
          <a:p>
            <a:r>
              <a:rPr lang="en-MY" sz="1200" dirty="0"/>
              <a:t>Source locator: K5PL06T03-B02-IMG-01, ms 237.</a:t>
            </a:r>
          </a:p>
          <a:p>
            <a:r>
              <a:rPr lang="en-MY" sz="1200" dirty="0"/>
              <a:t>Display concise; full propositions carried in VO.</a:t>
            </a:r>
          </a:p>
          <a:p>
            <a:r>
              <a:rPr lang="en-MY" sz="1200" dirty="0"/>
              <a:t>Geometry from parameter rules, not copied coordinates.</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Struktur Taman</a:t>
            </a:r>
          </a:p>
        </p:txBody>
      </p:sp>
      <p:sp>
        <p:nvSpPr>
          <p:cNvPr id="25" name="TextBox 14"/>
          <p:cNvSpPr txBox="1"/>
          <p:nvPr/>
        </p:nvSpPr>
        <p:spPr>
          <a:xfrm>
            <a:off x="2174397" y="1182868"/>
            <a:ext cx="7843175" cy="369326"/>
          </a:xfrm>
          <a:prstGeom prst="rect">
            <a:avLst/>
          </a:prstGeom>
          <a:noFill/>
        </p:spPr>
        <p:txBody>
          <a:bodyPr wrap="square">
            <a:spAutoFit/>
          </a:bodyPr>
          <a:lstStyle/>
          <a:p>
            <a:pPr algn="ctr"/>
            <a:r>
              <a:rPr lang="en-MY" dirty="0"/>
              <a:t>Klik pada setiap struktur untuk penjelasan lanjut.</a:t>
            </a:r>
          </a:p>
        </p:txBody>
      </p:sp>
      <p:sp>
        <p:nvSpPr>
          <p:cNvPr id="30" name="Rectangle 9"/>
          <p:cNvSpPr/>
          <p:nvPr/>
        </p:nvSpPr>
        <p:spPr>
          <a:xfrm>
            <a:off x="2174397" y="1777411"/>
            <a:ext cx="3598164" cy="1819747"/>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Struktur Persisir Air</a:t>
            </a:r>
          </a:p>
        </p:txBody>
      </p:sp>
      <p:sp>
        <p:nvSpPr>
          <p:cNvPr id="31" name="TextBox 3"/>
          <p:cNvSpPr txBox="1"/>
          <p:nvPr/>
        </p:nvSpPr>
        <p:spPr>
          <a:xfrm>
            <a:off x="2318324" y="3614075"/>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Struktur Persisir Air</a:t>
            </a:r>
          </a:p>
        </p:txBody>
      </p:sp>
      <p:sp>
        <p:nvSpPr>
          <p:cNvPr id="32" name="Rectangle 9"/>
          <p:cNvSpPr/>
          <p:nvPr/>
        </p:nvSpPr>
        <p:spPr>
          <a:xfrm>
            <a:off x="6419408" y="1777411"/>
            <a:ext cx="3598164" cy="1819747"/>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Struktur Teduhan</a:t>
            </a:r>
          </a:p>
        </p:txBody>
      </p:sp>
      <p:sp>
        <p:nvSpPr>
          <p:cNvPr id="33" name="TextBox 3"/>
          <p:cNvSpPr txBox="1"/>
          <p:nvPr/>
        </p:nvSpPr>
        <p:spPr>
          <a:xfrm>
            <a:off x="6563335" y="3614075"/>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Struktur Teduhan</a:t>
            </a:r>
          </a:p>
        </p:txBody>
      </p:sp>
      <p:sp>
        <p:nvSpPr>
          <p:cNvPr id="34" name="Rectangle 9"/>
          <p:cNvSpPr/>
          <p:nvPr/>
        </p:nvSpPr>
        <p:spPr>
          <a:xfrm>
            <a:off x="2174397" y="4299875"/>
            <a:ext cx="3598164" cy="1819747"/>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Kemudahan Awam</a:t>
            </a:r>
          </a:p>
        </p:txBody>
      </p:sp>
      <p:sp>
        <p:nvSpPr>
          <p:cNvPr id="35" name="TextBox 3"/>
          <p:cNvSpPr txBox="1"/>
          <p:nvPr/>
        </p:nvSpPr>
        <p:spPr>
          <a:xfrm>
            <a:off x="2318324" y="6136538"/>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Kemudahan Awam</a:t>
            </a:r>
          </a:p>
        </p:txBody>
      </p:sp>
      <p:sp>
        <p:nvSpPr>
          <p:cNvPr id="36" name="Rectangle 9"/>
          <p:cNvSpPr/>
          <p:nvPr/>
        </p:nvSpPr>
        <p:spPr>
          <a:xfrm>
            <a:off x="6419408" y="4299875"/>
            <a:ext cx="3598164" cy="1819747"/>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MY" dirty="0">
                <a:solidFill>
                  <a:schemeClr val="tx1">
                    <a:lumMod val="85000"/>
                    <a:lumOff val="15000"/>
                  </a:schemeClr>
                </a:solidFill>
              </a:rPr>
              <a:t>Visual: </a:t>
            </a:r>
            <a:r>
              <a:rPr lang="en-MY" i="1" dirty="0">
                <a:solidFill>
                  <a:schemeClr val="tx1">
                    <a:lumMod val="85000"/>
                    <a:lumOff val="15000"/>
                  </a:schemeClr>
                </a:solidFill>
              </a:rPr>
              <a:t>Water Feature</a:t>
            </a:r>
          </a:p>
        </p:txBody>
      </p:sp>
      <p:sp>
        <p:nvSpPr>
          <p:cNvPr id="37" name="TextBox 3"/>
          <p:cNvSpPr txBox="1"/>
          <p:nvPr/>
        </p:nvSpPr>
        <p:spPr>
          <a:xfrm>
            <a:off x="6563335" y="6136538"/>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i="1" dirty="0"/>
              <a:t>Water Feature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6" name="Rectangle 8"/>
          <p:cNvSpPr/>
          <p:nvPr/>
        </p:nvSpPr>
        <p:spPr>
          <a:xfrm>
            <a:off x="-3063240" y="0"/>
            <a:ext cx="2879994" cy="6858000"/>
          </a:xfrm>
          <a:prstGeom prst="rect">
            <a:avLst/>
          </a:prstGeom>
          <a:solidFill>
            <a:srgbClr val="FFF2CC"/>
          </a:solidFill>
          <a:ln>
            <a:noFill/>
          </a:ln>
        </p:spPr>
        <p:txBody>
          <a:bodyPr rtlCol="0" anchor="t"/>
          <a:lstStyle/>
          <a:p>
            <a:r>
              <a:rPr lang="en-MY" sz="1200" dirty="0"/>
              <a:t>(PREFLIGHT — OUTPUT ONLY, DISPOSABLE. NOT A STORYBOARD. NOT CAIR-RATIFIED.)</a:t>
            </a:r>
          </a:p>
          <a:p>
            <a:r>
              <a:rPr lang="en-MY" sz="1200" dirty="0"/>
              <a:t>S12 — FULL (reveal child of S10)</a:t>
            </a:r>
          </a:p>
          <a:p>
            <a:r>
              <a:rPr lang="en-MY" sz="1200" dirty="0"/>
              <a:t>Archetype: split-STATE (canon slide 6). Panel 5.8621 in = 43.97% stage.</a:t>
            </a:r>
          </a:p>
          <a:p>
            <a:r>
              <a:rPr lang="en-MY" sz="1200" dirty="0"/>
              <a:t>Reveal mode FULL_SLIDE (detail-screen-kembali). Kembali below panel.</a:t>
            </a:r>
          </a:p>
          <a:p>
            <a:r>
              <a:rPr lang="en-MY" sz="1200" dirty="0"/>
              <a:t>Source locator: K5PL06T03-B02-IMG-05, ms 243. [corrected — P-01]</a:t>
            </a:r>
          </a:p>
          <a:p>
            <a:r>
              <a:rPr lang="en-MY" sz="1200" dirty="0"/>
              <a:t>Body heading box restored (was deleted in review).</a:t>
            </a:r>
          </a:p>
          <a:p>
            <a:r>
              <a:rPr lang="en-MY" sz="1200" dirty="0"/>
              <a:t>Display concise; VO carries full source-bound sentences.</a:t>
            </a:r>
          </a:p>
          <a:p>
            <a:r>
              <a:rPr lang="en-MY" sz="1200" dirty="0"/>
              <a:t>No routine Hilmi prefix in VO.</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Papan Tanda</a:t>
            </a:r>
          </a:p>
        </p:txBody>
      </p:sp>
      <p:sp>
        <p:nvSpPr>
          <p:cNvPr id="8" name="Rectangle 9"/>
          <p:cNvSpPr/>
          <p:nvPr/>
        </p:nvSpPr>
        <p:spPr>
          <a:xfrm>
            <a:off x="735726" y="1628821"/>
            <a:ext cx="5360304" cy="4810110"/>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MY" dirty="0">
                <a:solidFill>
                  <a:schemeClr val="tx1">
                    <a:lumMod val="85000"/>
                    <a:lumOff val="15000"/>
                  </a:schemeClr>
                </a:solidFill>
              </a:rPr>
              <a:t>Visual: papan tanda — rujuk modul ms 243 (imej K5PL06T03-B02-IMG-05). Paparkan sebagai visual utama.</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dirty="0"/>
              <a:t>Papan Tanda</a:t>
            </a:r>
          </a:p>
        </p:txBody>
      </p:sp>
      <p:sp>
        <p:nvSpPr>
          <p:cNvPr id="9" name="TextBox 12"/>
          <p:cNvSpPr txBox="1"/>
          <p:nvPr/>
        </p:nvSpPr>
        <p:spPr>
          <a:xfrm>
            <a:off x="6278910" y="2340315"/>
            <a:ext cx="5177424" cy="3539460"/>
          </a:xfrm>
          <a:prstGeom prst="rect">
            <a:avLst/>
          </a:prstGeom>
          <a:noFill/>
        </p:spPr>
        <p:txBody>
          <a:bodyPr wrap="square">
            <a:spAutoFit/>
          </a:bodyPr>
          <a:lstStyle/>
          <a:p>
            <a:pPr marL="285750" indent="-285750">
              <a:buFont typeface="Arial" panose="020B0604020202020204" pitchFamily="34" charset="0"/>
              <a:buChar char="•"/>
            </a:pPr>
            <a:r>
              <a:rPr lang="en-MY" dirty="0"/>
              <a:t>Elemen penting untuk navigasi, maklumat, dan keselamatan dalam ruang landskap</a:t>
            </a:r>
          </a:p>
          <a:p>
            <a:pPr marL="285750" indent="-285750">
              <a:buFont typeface="Arial" panose="020B0604020202020204" pitchFamily="34" charset="0"/>
              <a:buChar char="•"/>
            </a:pPr>
            <a:r>
              <a:rPr lang="en-MY" dirty="0"/>
              <a:t>Jelas, mudah dibaca, diletakkan di lokasi strategik</a:t>
            </a:r>
          </a:p>
          <a:p>
            <a:pPr marL="285750" indent="-285750">
              <a:buFont typeface="Arial" panose="020B0604020202020204" pitchFamily="34" charset="0"/>
              <a:buChar char="•"/>
            </a:pPr>
            <a:r>
              <a:rPr lang="en-MY" dirty="0"/>
              <a:t>Boleh berupa:</a:t>
            </a:r>
          </a:p>
          <a:p>
            <a:pPr marL="742950" lvl="1" indent="-285750">
              <a:buFont typeface="Arial" panose="020B0604020202020204" pitchFamily="34" charset="0"/>
              <a:buChar char="•"/>
            </a:pPr>
            <a:r>
              <a:rPr lang="en-MY" dirty="0"/>
              <a:t>penunjuk arah</a:t>
            </a:r>
          </a:p>
          <a:p>
            <a:pPr marL="742950" lvl="1" indent="-285750">
              <a:buFont typeface="Arial" panose="020B0604020202020204" pitchFamily="34" charset="0"/>
              <a:buChar char="•"/>
            </a:pPr>
            <a:r>
              <a:rPr lang="en-MY" dirty="0"/>
              <a:t>peta taman</a:t>
            </a:r>
          </a:p>
          <a:p>
            <a:pPr marL="742950" lvl="1" indent="-285750">
              <a:buFont typeface="Arial" panose="020B0604020202020204" pitchFamily="34" charset="0"/>
              <a:buChar char="•"/>
            </a:pPr>
            <a:r>
              <a:rPr lang="en-MY" dirty="0"/>
              <a:t>informasi tumbuhan atau ciri landskap</a:t>
            </a:r>
          </a:p>
          <a:p>
            <a:pPr marL="742950" lvl="1" indent="-285750">
              <a:buFont typeface="Arial" panose="020B0604020202020204" pitchFamily="34" charset="0"/>
              <a:buChar char="•"/>
            </a:pPr>
            <a:r>
              <a:rPr lang="en-MY" dirty="0"/>
              <a:t>peraturan taman</a:t>
            </a:r>
          </a:p>
          <a:p>
            <a:pPr marL="285750" indent="-285750">
              <a:buFont typeface="Arial" panose="020B0604020202020204" pitchFamily="34" charset="0"/>
              <a:buChar char="•"/>
            </a:pPr>
            <a:r>
              <a:rPr lang="en-MY" dirty="0"/>
              <a:t>Bahan tahan cuaca dan tahan luntur</a:t>
            </a:r>
          </a:p>
        </p:txBody>
      </p:sp>
      <p:sp>
        <p:nvSpPr>
          <p:cNvPr id="11" name="TextBox 19"/>
          <p:cNvSpPr txBox="1"/>
          <p:nvPr/>
        </p:nvSpPr>
        <p:spPr>
          <a:xfrm>
            <a:off x="5387325" y="6469380"/>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723930" y="1628729"/>
            <a:ext cx="10725180" cy="4810110"/>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MY" dirty="0">
                <a:solidFill>
                  <a:schemeClr val="tx1">
                    <a:lumMod val="85000"/>
                    <a:lumOff val="15000"/>
                  </a:schemeClr>
                </a:solidFill>
              </a:rPr>
              <a:t/>
            </a:r>
          </a:p>
        </p:txBody>
      </p:sp>
      <p:sp>
        <p:nvSpPr>
          <p:cNvPr id="2" name="Title 1"/>
          <p:cNvSpPr>
            <a:spLocks noGrp="1"/>
          </p:cNvSpPr>
          <p:nvPr>
            <p:ph type="title"/>
          </p:nvPr>
        </p:nvSpPr>
        <p:spPr>
          <a:xfrm>
            <a:off x="0" y="-577078"/>
            <a:ext cx="12191970" cy="523220"/>
          </a:xfrm>
        </p:spPr>
        <p:txBody>
          <a:bodyPr>
            <a:noAutofit/>
          </a:bodyPr>
          <a:lstStyle/>
          <a:p>
            <a:r>
              <a:rPr lang="en-MY" sz="2400" b="1" dirty="0"/>
              <a:t>Rumusan</a:t>
            </a:r>
          </a:p>
        </p:txBody>
      </p:sp>
      <p:sp>
        <p:nvSpPr>
          <p:cNvPr id="7" name="TextBox 5"/>
          <p:cNvSpPr txBox="1"/>
          <p:nvPr/>
        </p:nvSpPr>
        <p:spPr>
          <a:xfrm>
            <a:off x="617952" y="419070"/>
            <a:ext cx="11097798" cy="592440"/>
          </a:xfrm>
          <a:prstGeom prst="rect">
            <a:avLst/>
          </a:prstGeom>
          <a:noFill/>
        </p:spPr>
        <p:txBody>
          <a:bodyPr wrap="square" rtlCol="0">
            <a:spAutoFit/>
          </a:bodyPr>
          <a:lstStyle/>
          <a:p>
            <a:pPr>
              <a:lnSpc>
                <a:spcPts val="3900"/>
              </a:lnSpc>
            </a:pPr>
            <a:r>
              <a:rPr lang="en-MY" sz="4000" b="1" dirty="0"/>
              <a:t>Rumusan</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(PREFLIGHT — OUTPUT ONLY, DISPOSABLE. NOT A STORYBOARD. NOT CAIR-RATIFIED.)</a:t>
            </a:r>
          </a:p>
          <a:p>
            <a:r>
              <a:rPr lang="en-MY" sz="1200" dirty="0"/>
              <a:t>S17 — RUMUSAN (rumusan bahagian, bukan topik penuh)</a:t>
            </a:r>
          </a:p>
          <a:p>
            <a:r>
              <a:rPr lang="en-MY" sz="1200" dirty="0"/>
              <a:t>Revised treatment:</a:t>
            </a:r>
          </a:p>
          <a:p>
            <a:r>
              <a:rPr lang="en-MY" sz="1200" dirty="0"/>
              <a:t>1. Structural labels suppressed (Kepentingan / Isi Utama / Manfaat).</a:t>
            </a:r>
          </a:p>
          <a:p>
            <a:r>
              <a:rPr lang="en-MY" sz="1200" dirty="0"/>
              <a:t>2. Addressee: kontraktor, not anda.</a:t>
            </a:r>
          </a:p>
          <a:p>
            <a:r>
              <a:rPr lang="en-MY" sz="1200" dirty="0"/>
              <a:t>3. Benefit clause connects to site application.</a:t>
            </a:r>
          </a:p>
          <a:p>
            <a:r>
              <a:rPr lang="en-MY" sz="1200" dirty="0"/>
              <a:t>English-origin terms italic. Source form BBQ pit (lowercase p).</a:t>
            </a:r>
          </a:p>
          <a:p>
            <a:r>
              <a:rPr lang="en-MY" sz="1200" dirty="0"/>
              <a:t>Em dash restored in heading; 'dan' lowercase (P-04).</a:t>
            </a:r>
          </a:p>
        </p:txBody>
      </p:sp>
      <p:sp>
        <p:nvSpPr>
          <p:cNvPr id="24" name="TextBox 23"/>
          <p:cNvSpPr txBox="1"/>
          <p:nvPr/>
        </p:nvSpPr>
        <p:spPr>
          <a:xfrm>
            <a:off x="742950" y="3584448"/>
            <a:ext cx="10706070" cy="411480"/>
          </a:xfrm>
          <a:prstGeom prst="rect">
            <a:avLst/>
          </a:prstGeom>
          <a:noFill/>
        </p:spPr>
        <p:txBody>
          <a:bodyPr wrap="square">
            <a:spAutoFit/>
          </a:bodyPr>
          <a:lstStyle/>
          <a:p>
            <a:r>
              <a:rPr lang="en-MY" b="1" dirty="0"/>
              <a:t>Komponen Landskap — Struktur Taman dan Perabot Taman</a:t>
            </a:r>
          </a:p>
        </p:txBody>
      </p:sp>
      <p:sp>
        <p:nvSpPr>
          <p:cNvPr id="25" name="TextBox 24"/>
          <p:cNvSpPr txBox="1"/>
          <p:nvPr/>
        </p:nvSpPr>
        <p:spPr>
          <a:xfrm>
            <a:off x="742950" y="4069080"/>
            <a:ext cx="10725180" cy="2331720"/>
          </a:xfrm>
          <a:prstGeom prst="rect">
            <a:avLst/>
          </a:prstGeom>
          <a:noFill/>
        </p:spPr>
        <p:txBody>
          <a:bodyPr wrap="square">
            <a:spAutoFit/>
          </a:bodyPr>
          <a:lstStyle/>
          <a:p>
            <a:pPr marL="285750" indent="-285750">
              <a:spcBef>
                <a:spcPts val="600"/>
              </a:spcBef>
              <a:buFont typeface="Arial" panose="020B0604020202020204" pitchFamily="34" charset="0"/>
              <a:buChar char="•"/>
            </a:pPr>
            <a:r>
              <a:rPr lang="en-MY" dirty="0"/>
              <a:t>Mengenal pasti struktur dan elemen landskap - kerja pembinaan, penyeliaan dan penyelenggaraan dirancang dengan tepat</a:t>
            </a:r>
          </a:p>
          <a:p>
            <a:pPr marL="285750" indent="-285750">
              <a:spcBef>
                <a:spcPts val="600"/>
              </a:spcBef>
              <a:buFont typeface="Arial" panose="020B0604020202020204" pitchFamily="34" charset="0"/>
              <a:buChar char="•"/>
            </a:pPr>
            <a:r>
              <a:rPr lang="en-MY" dirty="0"/>
              <a:t>Struktur Taman - Struktur Persisir Air, Struktur Teduhan, Kemudahan Awam, </a:t>
            </a:r>
            <a:r>
              <a:rPr lang="en-MY" i="1" dirty="0"/>
              <a:t>Water Feature</a:t>
            </a:r>
          </a:p>
          <a:p>
            <a:pPr marL="285750" indent="-285750">
              <a:spcBef>
                <a:spcPts val="600"/>
              </a:spcBef>
              <a:buFont typeface="Arial" panose="020B0604020202020204" pitchFamily="34" charset="0"/>
              <a:buChar char="•"/>
            </a:pPr>
            <a:r>
              <a:rPr lang="en-MY" dirty="0"/>
              <a:t>Elemen Perabot Taman - Kerusi Taman, Papan Tanda, Tong Sampah, </a:t>
            </a:r>
            <a:r>
              <a:rPr lang="en-MY" i="1" dirty="0"/>
              <a:t>Drinking Fountain</a:t>
            </a:r>
            <a:r>
              <a:rPr lang="en-MY" dirty="0"/>
              <a:t> dan </a:t>
            </a:r>
            <a:r>
              <a:rPr lang="en-MY" i="1" dirty="0"/>
              <a:t>BBQ pit</a:t>
            </a:r>
          </a:p>
          <a:p>
            <a:pPr marL="285750" indent="-285750">
              <a:spcBef>
                <a:spcPts val="600"/>
              </a:spcBef>
              <a:buFont typeface="Arial" panose="020B0604020202020204" pitchFamily="34" charset="0"/>
              <a:buChar char="•"/>
            </a:pPr>
            <a:r>
              <a:rPr lang="en-MY" dirty="0"/>
              <a:t>Kontraktor dapat merancang, melaksana dan menyelenggara setiap komponen landskap mengikut fungsinya di tapak</a:t>
            </a:r>
          </a:p>
        </p:txBody>
      </p:sp>
    </p:spTree>
  </p:cSld>
  <p:clrMapOvr>
    <a:masterClrMapping/>
  </p:clrMapOvr>
</p:sld>
</file>

<file path=ppt/theme/theme1.xml><?xml version="1.0" encoding="utf-8"?>
<a:theme xmlns:a="http://schemas.openxmlformats.org/drawingml/2006/main" name="Office Theme">
  <a:themeElements>
    <a:clrScheme name="Custom 505">
      <a:dk1>
        <a:srgbClr val="000000"/>
      </a:dk1>
      <a:lt1>
        <a:srgbClr val="FFFFFF"/>
      </a:lt1>
      <a:dk2>
        <a:srgbClr val="3F403F"/>
      </a:dk2>
      <a:lt2>
        <a:srgbClr val="FFFFFF"/>
      </a:lt2>
      <a:accent1>
        <a:srgbClr val="17B164"/>
      </a:accent1>
      <a:accent2>
        <a:srgbClr val="003E3B"/>
      </a:accent2>
      <a:accent3>
        <a:srgbClr val="181818"/>
      </a:accent3>
      <a:accent4>
        <a:srgbClr val="13764B"/>
      </a:accent4>
      <a:accent5>
        <a:srgbClr val="21C190"/>
      </a:accent5>
      <a:accent6>
        <a:srgbClr val="83EAB1"/>
      </a:accent6>
      <a:hlink>
        <a:srgbClr val="1EE27F"/>
      </a:hlink>
      <a:folHlink>
        <a:srgbClr val="1EE27F"/>
      </a:folHlink>
    </a:clrScheme>
    <a:fontScheme name="CIDB">
      <a:majorFont>
        <a:latin typeface="Raleway"/>
        <a:ea typeface=""/>
        <a:cs typeface=""/>
      </a:majorFont>
      <a:minorFont>
        <a:latin typeface="Ebri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Application>CAIR compiler</Application>
  <PresentationFormat>Widescreen</PresentationFormat>
  <Slides>3</Slides>
  <Notes>3</Notes>
  <HiddenSlides>0</HiddenSlides>
  <MMClips>0</MMClips>
  <ScaleCrop>false</ScaleCrop>
  <LinksUpToDate>false</LinksUpToDate>
  <SharedDoc>false</SharedDoc>
  <HyperlinksChanged>false</HyperlinksChanged>
  <HeadingPairs>
    <vt:vector size="4" baseType="variant">
      <vt:variant>
        <vt:lpstr>Theme</vt:lpstr>
      </vt:variant>
      <vt:variant>
        <vt:i4>1</vt:i4>
      </vt:variant>
      <vt:variant>
        <vt:lpstr>Slide Titles</vt:lpstr>
      </vt:variant>
      <vt:variant>
        <vt:i4>3</vt:i4>
      </vt:variant>
    </vt:vector>
  </HeadingPairs>
  <TitlesOfParts>
    <vt:vector size="4" baseType="lpstr">
      <vt:lpstr>Theme</vt:lpstr>
      <vt:lpstr>S04 CR_BASE</vt:lpstr>
      <vt:lpstr>S12 FULL</vt:lpstr>
      <vt:lpstr>S17 RUMUSAN</vt:lpstr>
    </vt:vector>
  </TitlesOfParts>
</Properties>
</file>

<file path=docProps/core.xml><?xml version="1.0" encoding="utf-8"?>
<cp:coreProperties xmlns:cp="http://schemas.openxmlformats.org/package/2006/metadata/core-properties" xmlns:dc="http://purl.org/dc/elements/1.1/" xmlns:dcterms="http://purl.org/dc/terms/" xmlns:dcmitype="http://purl.org/dcmitype/" xmlns:xsi="http://www.w3.org/2001/XMLSchema-instance">
  <dc:title>Preflight v0.2 — 3 skrin — bukan storyboard, bukan 19 slaid</dc:title>
  <dc:subject>Implementation preflight. Output-only, disposable. Not CAIR-ratified.</dc:subject>
  <dc:creator>CAIR preflight</dc:creator>
  <cp:keywords>preflight; K5PL06T03B02; output-only; disposable</cp:keywords>
  <dc:description>Three screens (S04, S12, S17) built to test sample assumptions. Not regenerable, not a baseline, not a storyboard, must never be promoted.</dc:description>
  <cp:lastModifiedBy>CAIR preflight</cp:lastModifiedBy>
  <cp:revision>1</cp:revision>
  <dcterms:created xsi:type="dcterms:W3CDTF">2026-07-31T00:00:00Z</dcterms:created>
  <dcterms:modified xsi:type="dcterms:W3CDTF">2026-07-31T00:00:00Z</dcterms:modified>
  <cp:category>Implementation Preflight</cp:category>
</cp:coreProperties>
</file>