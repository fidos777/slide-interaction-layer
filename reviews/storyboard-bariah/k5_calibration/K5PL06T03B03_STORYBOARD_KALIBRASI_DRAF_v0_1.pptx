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Selamat datang. Saya Hilmi.</a:t>
            </a:r>
          </a:p>
          <a:p/>
          <a:p>
            <a:r>
              <a:t>Baris sumber: T03B03-ROW-001</a:t>
            </a:r>
          </a:p>
          <a:p>
            <a:r>
              <a:t>Keputusan Bariah: D2, D4</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Dinding penahan mesti dibina dengan mematuhi sepenuhnya Lukisan Struktur Jurutera Bertauliah (Ir.). Sebarang perubahan memerlukan kelulusan jurutera. Jajaran pagar mesti ditanda mengikut Pelan Ukur Sempadan untuk mengelakkan isu pencerobohan tanah. Pastikan semua komponen keluli mempunyai lapisan pelindung karat yang sempurna seperti tergalvani panas (hot-dip galvanized) atau cat epoksi.</a:t>
            </a:r>
          </a:p>
          <a:p/>
          <a:p>
            <a:r>
              <a:t>Baris sumber: T03B03-ROW-037, T03B03-ROW-048, T03B03-ROW-054</a:t>
            </a:r>
          </a:p>
          <a:p>
            <a:r>
              <a:t>Keputusan Bariah: D3, A5, D1</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Bahagian ini merangkumi 6 komponen.</a:t>
            </a:r>
          </a:p>
          <a:p/>
          <a:p>
            <a:r>
              <a:t>Baris sumber: T03B03-ROW-002, T03B03-ROW-016, T03B03-ROW-032, T03B03-ROW-042, T03B03-ROW-055, T03B03-ROW-064</a:t>
            </a:r>
          </a:p>
          <a:p>
            <a:r>
              <a:t>Keputusan Bariah: A1</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Busut tanah dibina berlapis, setiap lapisan tidak melebihi 300mm tebal, dan setiap lapisan dipadatkan. Kecerunan busut dibentuk mengikut nisbah yang ditetapkan dalam lukisan, contohnya 1:3. Bahan timbus mesti bebas daripada sisa binaan, akar kayu dan batu besar.</a:t>
            </a:r>
          </a:p>
          <a:p/>
          <a:p>
            <a:r>
              <a:t>Baris sumber: T03B03-ROW-002, T03B03-ROW-003, T03B03-ROW-007, T03B03-ROW-004, T03B03-ROW-005, T03B03-ROW-006, T03B03-ROW-008, T03B03-ROW-010, T03B03-ROW-012, T03B03-ROW-014, T03B03-ROW-009, T03B03-ROW-011, T03B03-ROW-013, T03B03-ROW-015</a:t>
            </a:r>
          </a:p>
          <a:p>
            <a:r>
              <a:t>Keputusan Bariah: A1, A2</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Busut tanah dibina berlapis, setiap lapisan tidak melebihi 300mm tebal, dan setiap lapisan dipadatkan. Kecerunan busut dibentuk mengikut nisbah yang ditetapkan dalam lukisan, contohnya 1:3. Bahan timbus mesti bebas daripada sisa binaan, akar kayu dan batu besar.</a:t>
            </a:r>
          </a:p>
          <a:p/>
          <a:p>
            <a:r>
              <a:t>Baris sumber: T03B03-ROW-002, T03B03-ROW-003, T03B03-ROW-007, T03B03-ROW-004, T03B03-ROW-005, T03B03-ROW-006, T03B03-ROW-008, T03B03-ROW-010, T03B03-ROW-012, T03B03-ROW-014, T03B03-ROW-009, T03B03-ROW-011, T03B03-ROW-013, T03B03-ROW-015</a:t>
            </a:r>
          </a:p>
          <a:p>
            <a:r>
              <a:t>Keputusan Bariah: A1, A2</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Sistem saliran bawah tanah mesti disambungkan ke saluran keluar yang berfungsi.</a:t>
            </a:r>
          </a:p>
          <a:p/>
          <a:p>
            <a:r>
              <a:t>Baris sumber: T03B03-ROW-016, T03B03-ROW-017, T03B03-ROW-019, T03B03-ROW-018, T03B03-ROW-020, T03B03-ROW-022, T03B03-ROW-030, T03B03-ROW-021, T03B03-ROW-023, T03B03-ROW-024, T03B03-ROW-025, T03B03-ROW-026, T03B03-ROW-027, T03B03-ROW-028, T03B03-ROW-029, T03B03-ROW-031</a:t>
            </a:r>
          </a:p>
          <a:p>
            <a:r>
              <a:t>Keputusan Bariah: A1, A2</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Sistem saliran bawah tanah mesti disambungkan ke saluran keluar yang berfungsi.</a:t>
            </a:r>
          </a:p>
          <a:p/>
          <a:p>
            <a:r>
              <a:t>Baris sumber: T03B03-ROW-016, T03B03-ROW-017, T03B03-ROW-019, T03B03-ROW-018, T03B03-ROW-020, T03B03-ROW-022, T03B03-ROW-030, T03B03-ROW-021, T03B03-ROW-023, T03B03-ROW-024, T03B03-ROW-025, T03B03-ROW-026, T03B03-ROW-027, T03B03-ROW-028, T03B03-ROW-029, T03B03-ROW-031</a:t>
            </a:r>
          </a:p>
          <a:p>
            <a:r>
              <a:t>Keputusan Bariah: A1, A2</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Dinding penahan mesti dibina mematuhi sepenuhnya lukisan struktur jurutera bertauliah; tapak asas adalah komponen paling kritikal. Kegagalan dinding penahan selalunya berpunca daripada tekanan air, jadi sistem perparitan di belakang dinding adalah wajib.</a:t>
            </a:r>
          </a:p>
          <a:p/>
          <a:p>
            <a:r>
              <a:t>Baris sumber: T03B03-ROW-032, T03B03-ROW-033, T03B03-ROW-035, T03B03-ROW-034, T03B03-ROW-036, T03B03-ROW-038, T03B03-ROW-040, T03B03-ROW-037, T03B03-ROW-039, T03B03-ROW-041</a:t>
            </a:r>
          </a:p>
          <a:p>
            <a:r>
              <a:t>Keputusan Bariah: A1, A2</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Jajaran pagar mesti ditanda mengikut Pelan Ukur Sempadan untuk mengelakkan pencerobohan tanah.</a:t>
            </a:r>
          </a:p>
          <a:p/>
          <a:p>
            <a:r>
              <a:t>Baris sumber: T03B03-ROW-042, T03B03-ROW-043, T03B03-ROW-044, T03B03-ROW-046, T03B03-ROW-045, T03B03-ROW-047, T03B03-ROW-049, T03B03-ROW-051, T03B03-ROW-053, T03B03-ROW-048, T03B03-ROW-050, T03B03-ROW-052, T03B03-ROW-054</a:t>
            </a:r>
          </a:p>
          <a:p>
            <a:r>
              <a:t>Keputusan Bariah: A1, A2</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Jajaran pagar mesti ditanda mengikut Pelan Ukur Sempadan untuk mengelakkan pencerobohan tanah.</a:t>
            </a:r>
          </a:p>
          <a:p/>
          <a:p>
            <a:r>
              <a:t>Baris sumber: T03B03-ROW-042, T03B03-ROW-043, T03B03-ROW-044, T03B03-ROW-046, T03B03-ROW-045, T03B03-ROW-047, T03B03-ROW-049, T03B03-ROW-051, T03B03-ROW-053, T03B03-ROW-048, T03B03-ROW-050, T03B03-ROW-052, T03B03-ROW-054</a:t>
            </a:r>
          </a:p>
          <a:p>
            <a:r>
              <a:t>Keputusan Bariah: A1, A2</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Swale ialah parit cetek dan lebar yang ditanami tumbuhan, alternatif kepada longkang konkrit, yang memperlahankan aliran dan menggalakkan penyerapan.</a:t>
            </a:r>
          </a:p>
          <a:p/>
          <a:p>
            <a:r>
              <a:t>Baris sumber: T03B03-ROW-055, T03B03-ROW-056, T03B03-ROW-057, T03B03-ROW-059, T03B03-ROW-058, T03B03-ROW-060, T03B03-ROW-062, T03B03-ROW-061, T03B03-ROW-063</a:t>
            </a:r>
          </a:p>
          <a:p>
            <a:r>
              <a:t>Keputusan Bariah: A1, A2</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Permukaan jalan akses dibina dengan kamber — kecerunan melintang dari tengah ke tepi — supaya air tidak bertakung.</a:t>
            </a:r>
          </a:p>
          <a:p/>
          <a:p>
            <a:r>
              <a:t>Baris sumber: T03B03-ROW-064, T03B03-ROW-065, T03B03-ROW-066, T03B03-ROW-068, T03B03-ROW-067, T03B03-ROW-069, T03B03-ROW-071, T03B03-ROW-073, T03B03-ROW-075, T03B03-ROW-070, T03B03-ROW-072, T03B03-ROW-074, T03B03-ROW-076</a:t>
            </a:r>
          </a:p>
          <a:p>
            <a:r>
              <a:t>Keputusan Bariah: A1, A2</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Permukaan jalan akses dibina dengan kamber — kecerunan melintang dari tengah ke tepi — supaya air tidak bertakung.</a:t>
            </a:r>
          </a:p>
          <a:p/>
          <a:p>
            <a:r>
              <a:t>Baris sumber: T03B03-ROW-064, T03B03-ROW-065, T03B03-ROW-066, T03B03-ROW-068, T03B03-ROW-067, T03B03-ROW-069, T03B03-ROW-071, T03B03-ROW-073, T03B03-ROW-075, T03B03-ROW-070, T03B03-ROW-072, T03B03-ROW-074, T03B03-ROW-076</a:t>
            </a:r>
          </a:p>
          <a:p>
            <a:r>
              <a:t>Keputusan Bariah: A1, A2</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Enam komponen infrastruktur landskap dan fungsi setiap satu. Titik kegagalan yang paling kerap bagi setiap komponen. Dokumen kawalan yang mengikat kontraktor: lukisan struktur, pelan ukur, pelan saliran.</a:t>
            </a:r>
          </a:p>
          <a:p/>
          <a:p>
            <a:r>
              <a:t>Baris sumber: tiada — skrin struktur</a:t>
            </a:r>
          </a:p>
          <a:p>
            <a:r>
              <a:t>Keputusan Bariah: A6</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Jawab kelima-lima soalan.</a:t>
            </a:r>
          </a:p>
          <a:p/>
          <a:p>
            <a:r>
              <a:t>Baris sumber: T03B03-ROW-013, T03B03-ROW-041, T03B03-ROW-048, T03B03-ROW-056, T03B03-ROW-058, T03B03-ROW-063, T03B03-ROW-076</a:t>
            </a:r>
          </a:p>
          <a:p>
            <a:r>
              <a:t>Keputusan Bariah: A7</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Jawab kelima-lima soalan.</a:t>
            </a:r>
          </a:p>
          <a:p/>
          <a:p>
            <a:r>
              <a:t>Baris sumber: T03B03-ROW-013, T03B03-ROW-041, T03B03-ROW-048, T03B03-ROW-056, T03B03-ROW-058, T03B03-ROW-063, T03B03-ROW-076</a:t>
            </a:r>
          </a:p>
          <a:p>
            <a:r>
              <a:t>Keputusan Bariah: A7</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(Hilmi): Tamat Bahagian 3. Teruskan pembelajaran ke bahagian seterusnya</a:t>
            </a:r>
          </a:p>
          <a:p/>
          <a:p>
            <a:r>
              <a:t>Baris sumber: tiada — skrin struktur</a:t>
            </a:r>
          </a:p>
          <a:p>
            <a:r>
              <a:t>Keputusan Bariah: D4</a:t>
            </a:r>
          </a:p>
          <a:p/>
          <a:p>
            <a:r>
              <a:t>TECHNICAL_PROOF · DRAFT_FOR_BARIAH_REVIEW · NOT_INSTRUCTIONALLY_APPROVED · NOT_LEARNER_FACING_FINAL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200000"/>
            <a:ext cx="11277600" cy="3600000"/>
          </a:xfrm>
          <a:prstGeom prst="rect">
            <a:avLst/>
          </a:prstGeom>
          <a:noFill/>
        </p:spPr>
        <p:txBody>
          <a:bodyPr wrap="square" lIns="0" rIns="0" tIns="0" bIns="0">
            <a:noAutofit/>
          </a:bodyPr>
          <a:lstStyle/>
          <a:p>
            <a:pPr algn="l"/>
            <a:r>
              <a:rPr sz="1600" b="1" i="0">
                <a:solidFill>
                  <a:srgbClr val="6B6B6B"/>
                </a:solidFill>
                <a:latin typeface="Arial"/>
              </a:rPr>
              <a:t>STORYBOARD KALIBRASI UNTUK SEMAKAN BARIAH</a:t>
            </a:r>
          </a:p>
          <a:p>
            <a:pPr algn="l"/>
            <a:r>
              <a:rPr sz="3200" b="1" i="0">
                <a:solidFill>
                  <a:srgbClr val="1A1A1A"/>
                </a:solidFill>
                <a:latin typeface="Arial"/>
              </a:rPr>
              <a:t>K5-PL06-T03-B03: Infrastruktur</a:t>
            </a:r>
          </a:p>
          <a:p>
            <a:pPr algn="l"/>
            <a:r>
              <a:rPr sz="1700" b="0" i="0">
                <a:solidFill>
                  <a:srgbClr val="6B6B6B"/>
                </a:solidFill>
                <a:latin typeface="Arial"/>
              </a:rPr>
              <a:t>12 skrin pembelajaran · 43 keadaan runtime</a:t>
            </a:r>
          </a:p>
          <a:p>
            <a:pPr algn="l"/>
            <a:r>
              <a:rPr sz="800" b="0" i="0">
                <a:solidFill>
                  <a:srgbClr val="1A1A1A"/>
                </a:solidFill>
                <a:latin typeface="Arial"/>
              </a:rPr>
              <a:t/>
            </a:r>
          </a:p>
          <a:p>
            <a:pPr algn="l"/>
            <a:r>
              <a:rPr sz="1300" b="1" i="0">
                <a:solidFill>
                  <a:srgbClr val="B71C1C"/>
                </a:solidFill>
                <a:latin typeface="Arial"/>
              </a:rPr>
              <a:t>TECHNICAL_PROOF · DRAFT_FOR_BARIAH_REVIEW · NOT_INSTRUCTIONALLY_APPROVED · NOT_LEARNER_FACING_FINAL</a:t>
            </a:r>
          </a:p>
          <a:p>
            <a:pPr algn="l"/>
            <a:r>
              <a:rPr sz="1100" b="0" i="1">
                <a:solidFill>
                  <a:srgbClr val="6B6B6B"/>
                </a:solidFill>
                <a:latin typeface="Arial"/>
              </a:rPr>
              <a:t>Kandungan draf ini diambil daripada baris modul terkawal sahaja. Ia belum diluluskan dari segi instruksional dan bukan bahan akhir untuk pelajar.</a:t>
            </a:r>
          </a:p>
          <a:p>
            <a:pPr algn="l"/>
            <a:r>
              <a:rPr sz="800" b="0" i="0">
                <a:solidFill>
                  <a:srgbClr val="1A1A1A"/>
                </a:solidFill>
                <a:latin typeface="Arial"/>
              </a:rPr>
              <a:t/>
            </a:r>
          </a:p>
          <a:p>
            <a:pPr algn="l"/>
            <a:r>
              <a:rPr sz="1100" b="0" i="0">
                <a:solidFill>
                  <a:srgbClr val="1B5E20"/>
                </a:solidFill>
                <a:latin typeface="Arial"/>
              </a:rPr>
              <a:t>Narator: Hilmi  (D2)</a:t>
            </a:r>
          </a:p>
          <a:p>
            <a:pPr algn="l"/>
            <a:r>
              <a:rPr sz="1100" b="0" i="0">
                <a:solidFill>
                  <a:srgbClr val="B71C1C"/>
                </a:solidFill>
                <a:latin typeface="Arial"/>
              </a:rPr>
              <a:t>WATAK: PENDING_UNIT_REVIEW — D1 menetapkan watak dipilih per unit</a:t>
            </a:r>
          </a:p>
          <a:p>
            <a:pPr algn="l"/>
            <a:r>
              <a:rPr sz="1100" b="0" i="0">
                <a:solidFill>
                  <a:srgbClr val="B71C1C"/>
                </a:solidFill>
                <a:latin typeface="Arial"/>
              </a:rPr>
              <a:t>ASET VISUAL BELUM DIHASILKAN — NOT_MMD_ASSET</a:t>
            </a:r>
          </a:p>
          <a:p>
            <a:pPr algn="l"/>
            <a:r>
              <a:rPr sz="800" b="0" i="0">
                <a:solidFill>
                  <a:srgbClr val="1A1A1A"/>
                </a:solidFill>
                <a:latin typeface="Arial"/>
              </a:rPr>
              <a:t/>
            </a:r>
          </a:p>
          <a:p>
            <a:pPr algn="l"/>
            <a:r>
              <a:rPr sz="1000" b="0" i="1">
                <a:solidFill>
                  <a:srgbClr val="6B6B6B"/>
                </a:solidFill>
                <a:latin typeface="Arial"/>
              </a:rPr>
              <a:t>[S] baris modul verbatim · [S~] ayat pertama baris modul · [A] keputusan Bariah · [D] draf kuiz CAIR · [R] beat Rumusan CAIR · [P] menunggu keputusan · [U] elemen antara muka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T03B03-S01   ·   static content   ·   SHELL_ENTRY</a:t>
            </a:r>
          </a:p>
          <a:p>
            <a:pPr algn="l"/>
            <a:r>
              <a:rPr sz="2400" b="1" i="0">
                <a:solidFill>
                  <a:srgbClr val="1A1A1A"/>
                </a:solidFill>
                <a:latin typeface="Arial"/>
              </a:rPr>
              <a:t>Infrastruktur</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a:t>
            </a:r>
          </a:p>
          <a:p>
            <a:pPr algn="l"/>
            <a:r>
              <a:rPr sz="1400" b="0" i="0">
                <a:solidFill>
                  <a:srgbClr val="0D47A1"/>
                </a:solidFill>
                <a:latin typeface="Arial"/>
              </a:rPr>
              <a:t>[S] Infrastruktur</a:t>
            </a:r>
          </a:p>
          <a:p>
            <a:pPr algn="l"/>
            <a:r>
              <a:rPr sz="1400" b="0" i="0">
                <a:solidFill>
                  <a:srgbClr val="1B5E20"/>
                </a:solidFill>
                <a:latin typeface="Arial"/>
              </a:rPr>
              <a:t>[A] Narator: Hilmi</a:t>
            </a:r>
          </a:p>
          <a:p>
            <a:pPr algn="l"/>
            <a:r>
              <a:rPr sz="1200" b="0" i="0">
                <a:solidFill>
                  <a:srgbClr val="6B6B6B"/>
                </a:solidFill>
                <a:latin typeface="Arial"/>
              </a:rPr>
              <a:t>[U] MULA</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1">
                <a:solidFill>
                  <a:srgbClr val="6B6B6B"/>
                </a:solidFill>
                <a:latin typeface="Arial"/>
              </a:rPr>
              <a:t>Tiada interaksi — skrin statik</a:t>
            </a:r>
          </a:p>
          <a:p>
            <a:pPr algn="l"/>
            <a:r>
              <a:rPr sz="800" b="0" i="0">
                <a:solidFill>
                  <a:srgbClr val="1A1A1A"/>
                </a:solidFill>
                <a:latin typeface="Arial"/>
              </a:rPr>
              <a:t/>
            </a:r>
          </a:p>
          <a:p>
            <a:pPr algn="l"/>
            <a:r>
              <a:rPr sz="1000" b="1" i="0">
                <a:solidFill>
                  <a:srgbClr val="6B6B6B"/>
                </a:solidFill>
                <a:latin typeface="Arial"/>
              </a:rPr>
              <a:t>VISUAL</a:t>
            </a:r>
          </a:p>
          <a:p>
            <a:pPr algn="l"/>
            <a:r>
              <a:rPr sz="1000" b="0" i="1">
                <a:solidFill>
                  <a:srgbClr val="6B6B6B"/>
                </a:solidFill>
                <a:latin typeface="Arial"/>
              </a:rPr>
              <a:t>Tiada visual khusus</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Baris modul: T03B03-ROW-001</a:t>
            </a:r>
          </a:p>
          <a:p>
            <a:pPr algn="l"/>
            <a:r>
              <a:rPr sz="800" b="0" i="0">
                <a:solidFill>
                  <a:srgbClr val="6B6B6B"/>
                </a:solidFill>
                <a:latin typeface="Arial"/>
              </a:rPr>
              <a:t>Keputusan Bariah: D2, D4</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1 daripada 12   ·   TECHNICAL_PROOF · DRAFT_FOR_BARIAH_REVIEW · NOT_INSTRUCTIONALLY_APPROVED · NOT_LEARNER_FACING_FINAL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T03B03-S02   ·   scenario/dialogue only where justified   ·   SCENARIO</a:t>
            </a:r>
          </a:p>
          <a:p>
            <a:pPr algn="l"/>
            <a:r>
              <a:rPr sz="2400" b="1" i="0">
                <a:solidFill>
                  <a:srgbClr val="1A1A1A"/>
                </a:solidFill>
                <a:latin typeface="Arial"/>
              </a:rPr>
              <a:t>Situasi di tapak</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a:t>
            </a:r>
          </a:p>
          <a:p>
            <a:pPr algn="l"/>
            <a:r>
              <a:rPr sz="1200" b="0" i="0">
                <a:solidFill>
                  <a:srgbClr val="6B6B6B"/>
                </a:solidFill>
                <a:latin typeface="Arial"/>
              </a:rPr>
              <a:t>[U] SITUASI</a:t>
            </a:r>
          </a:p>
          <a:p>
            <a:pPr algn="l"/>
            <a:r>
              <a:rPr sz="1400" b="0" i="0">
                <a:solidFill>
                  <a:srgbClr val="B71C1C"/>
                </a:solidFill>
                <a:latin typeface="Arial"/>
              </a:rPr>
              <a:t>[P] WATAK: PENDING_UNIT_REVIEW — D1 menetapkan watak dipilih per unit</a:t>
            </a:r>
          </a:p>
          <a:p>
            <a:pPr algn="l"/>
            <a:r>
              <a:rPr sz="1400" b="0" i="0">
                <a:solidFill>
                  <a:srgbClr val="0D47A1"/>
                </a:solidFill>
                <a:latin typeface="Arial"/>
              </a:rPr>
              <a:t>[S] Dinding penahan mesti dibina dengan mematuhi sepenuhnya Lukisan Struktur Jurutera Bertauliah (Ir.). Sebarang perubahan memerlukan kelulusan jurutera.</a:t>
            </a:r>
          </a:p>
          <a:p>
            <a:pPr algn="l"/>
            <a:r>
              <a:rPr sz="1400" b="0" i="0">
                <a:solidFill>
                  <a:srgbClr val="0D47A1"/>
                </a:solidFill>
                <a:latin typeface="Arial"/>
              </a:rPr>
              <a:t>[S] Jajaran pagar mesti ditanda mengikut Pelan Ukur Sempadan untuk mengelakkan isu pencerobohan tanah.</a:t>
            </a:r>
          </a:p>
          <a:p>
            <a:pPr algn="l"/>
            <a:r>
              <a:rPr sz="1400" b="0" i="0">
                <a:solidFill>
                  <a:srgbClr val="0D47A1"/>
                </a:solidFill>
                <a:latin typeface="Arial"/>
              </a:rPr>
              <a:t>[S] Pastikan semua komponen keluli mempunyai lapisan pelindung karat yang sempurna seperti tergalvani panas (hot-dip galvanized) atau cat epoksi.</a:t>
            </a:r>
          </a:p>
          <a:p>
            <a:pPr algn="l"/>
            <a:r>
              <a:rPr sz="1400" b="0" i="0">
                <a:solidFill>
                  <a:srgbClr val="B71C1C"/>
                </a:solidFill>
                <a:latin typeface="Arial"/>
              </a:rPr>
              <a:t>[P] TECHNICAL_PROOF · DRAFT_FOR_BARIAH_REVIEW · NOT_INSTRUCTIONALLY_APPROVED · NOT_LEARNER_FACING_FINAL</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1">
                <a:solidFill>
                  <a:srgbClr val="6B6B6B"/>
                </a:solidFill>
                <a:latin typeface="Arial"/>
              </a:rPr>
              <a:t>Tiada interaksi — skrin statik</a:t>
            </a:r>
          </a:p>
          <a:p>
            <a:pPr algn="l"/>
            <a:r>
              <a:rPr sz="800" b="0" i="0">
                <a:solidFill>
                  <a:srgbClr val="1A1A1A"/>
                </a:solidFill>
                <a:latin typeface="Arial"/>
              </a:rPr>
              <a:t/>
            </a:r>
          </a:p>
          <a:p>
            <a:pPr algn="l"/>
            <a:r>
              <a:rPr sz="1000" b="1" i="0">
                <a:solidFill>
                  <a:srgbClr val="6B6B6B"/>
                </a:solidFill>
                <a:latin typeface="Arial"/>
              </a:rPr>
              <a:t>VISUAL</a:t>
            </a:r>
          </a:p>
          <a:p>
            <a:pPr algn="l"/>
            <a:r>
              <a:rPr sz="1000" b="0" i="1">
                <a:solidFill>
                  <a:srgbClr val="6B6B6B"/>
                </a:solidFill>
                <a:latin typeface="Arial"/>
              </a:rPr>
              <a:t>Tiada visual khusus</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Baris modul: T03B03-ROW-037, T03B03-ROW-048, T03B03-ROW-054</a:t>
            </a:r>
          </a:p>
          <a:p>
            <a:pPr algn="l"/>
            <a:r>
              <a:rPr sz="800" b="0" i="0">
                <a:solidFill>
                  <a:srgbClr val="6B6B6B"/>
                </a:solidFill>
                <a:latin typeface="Arial"/>
              </a:rPr>
              <a:t>Keputusan Bariah: D3, A5, D1</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2 daripada 12   ·   TECHNICAL_PROOF · DRAFT_FOR_BARIAH_REVIEW · NOT_INSTRUCTIONALLY_APPROVED · NOT_LEARNER_FACING_FINAL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T03B03-S03   ·   static content   ·   SHELL_ORIENTATION</a:t>
            </a:r>
          </a:p>
          <a:p>
            <a:pPr algn="l"/>
            <a:r>
              <a:rPr sz="2400" b="1" i="0">
                <a:solidFill>
                  <a:srgbClr val="1A1A1A"/>
                </a:solidFill>
                <a:latin typeface="Arial"/>
              </a:rPr>
              <a:t>Apa yang anda akan pelajari</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a:t>
            </a:r>
          </a:p>
          <a:p>
            <a:pPr algn="l"/>
            <a:r>
              <a:rPr sz="1200" b="0" i="0">
                <a:solidFill>
                  <a:srgbClr val="6B6B6B"/>
                </a:solidFill>
                <a:latin typeface="Arial"/>
              </a:rPr>
              <a:t>[U] Klik setiap tajuk untuk memaparkan maklumat.</a:t>
            </a:r>
          </a:p>
          <a:p>
            <a:pPr algn="l"/>
            <a:r>
              <a:rPr sz="1400" b="0" i="0">
                <a:solidFill>
                  <a:srgbClr val="0D47A1"/>
                </a:solidFill>
                <a:latin typeface="Arial"/>
              </a:rPr>
              <a:t>[S] Landform / Earthmound</a:t>
            </a:r>
          </a:p>
          <a:p>
            <a:pPr algn="l"/>
            <a:r>
              <a:rPr sz="1400" b="0" i="0">
                <a:solidFill>
                  <a:srgbClr val="0D47A1"/>
                </a:solidFill>
                <a:latin typeface="Arial"/>
              </a:rPr>
              <a:t>[S] Sub soil drainage</a:t>
            </a:r>
          </a:p>
          <a:p>
            <a:pPr algn="l"/>
            <a:r>
              <a:rPr sz="1400" b="0" i="0">
                <a:solidFill>
                  <a:srgbClr val="0D47A1"/>
                </a:solidFill>
                <a:latin typeface="Arial"/>
              </a:rPr>
              <a:t>[S] Dinding Penahan (Retaining Wall)</a:t>
            </a:r>
          </a:p>
          <a:p>
            <a:pPr algn="l"/>
            <a:r>
              <a:rPr sz="1400" b="0" i="0">
                <a:solidFill>
                  <a:srgbClr val="0D47A1"/>
                </a:solidFill>
                <a:latin typeface="Arial"/>
              </a:rPr>
              <a:t>[S] Fencing</a:t>
            </a:r>
          </a:p>
          <a:p>
            <a:pPr algn="l"/>
            <a:r>
              <a:rPr sz="1400" b="0" i="0">
                <a:solidFill>
                  <a:srgbClr val="0D47A1"/>
                </a:solidFill>
                <a:latin typeface="Arial"/>
              </a:rPr>
              <a:t>[S] Swale/ Natural Drain</a:t>
            </a:r>
          </a:p>
          <a:p>
            <a:pPr algn="l"/>
            <a:r>
              <a:rPr sz="1400" b="0" i="0">
                <a:solidFill>
                  <a:srgbClr val="0D47A1"/>
                </a:solidFill>
                <a:latin typeface="Arial"/>
              </a:rPr>
              <a:t>[S] Jalan akses</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1">
                <a:solidFill>
                  <a:srgbClr val="6B6B6B"/>
                </a:solidFill>
                <a:latin typeface="Arial"/>
              </a:rPr>
              <a:t>Tiada interaksi — skrin statik</a:t>
            </a:r>
          </a:p>
          <a:p>
            <a:pPr algn="l"/>
            <a:r>
              <a:rPr sz="800" b="0" i="0">
                <a:solidFill>
                  <a:srgbClr val="1A1A1A"/>
                </a:solidFill>
                <a:latin typeface="Arial"/>
              </a:rPr>
              <a:t/>
            </a:r>
          </a:p>
          <a:p>
            <a:pPr algn="l"/>
            <a:r>
              <a:rPr sz="1000" b="1" i="0">
                <a:solidFill>
                  <a:srgbClr val="6B6B6B"/>
                </a:solidFill>
                <a:latin typeface="Arial"/>
              </a:rPr>
              <a:t>VISUAL</a:t>
            </a:r>
          </a:p>
          <a:p>
            <a:pPr algn="l"/>
            <a:r>
              <a:rPr sz="1000" b="0" i="1">
                <a:solidFill>
                  <a:srgbClr val="6B6B6B"/>
                </a:solidFill>
                <a:latin typeface="Arial"/>
              </a:rPr>
              <a:t>Tiada visual khusus</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Baris modul: T03B03-ROW-002, T03B03-ROW-016, T03B03-ROW-032, T03B03-ROW-042, T03B03-ROW-055, T03B03-ROW-064</a:t>
            </a:r>
          </a:p>
          <a:p>
            <a:pPr algn="l"/>
            <a:r>
              <a:rPr sz="800" b="0" i="0">
                <a:solidFill>
                  <a:srgbClr val="6B6B6B"/>
                </a:solidFill>
                <a:latin typeface="Arial"/>
              </a:rPr>
              <a:t>Keputusan Bariah: A1</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3 daripada 12   ·   TECHNICAL_PROOF · DRAFT_FOR_BARIAH_REVIEW · NOT_INSTRUCTIONALLY_APPROVED · NOT_LEARNER_FACING_FINAL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T03B03-S04   ·   click-to-reveal   ·   CONTENT</a:t>
            </a:r>
          </a:p>
          <a:p>
            <a:pPr algn="l"/>
            <a:r>
              <a:rPr sz="2400" b="1" i="0">
                <a:solidFill>
                  <a:srgbClr val="1A1A1A"/>
                </a:solidFill>
                <a:latin typeface="Arial"/>
              </a:rPr>
              <a:t>Landform / Earthmound   ·   halaman 1/2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a:t>
            </a:r>
          </a:p>
          <a:p>
            <a:pPr algn="l"/>
            <a:r>
              <a:rPr sz="1400" b="0" i="0">
                <a:solidFill>
                  <a:srgbClr val="0D47A1"/>
                </a:solidFill>
                <a:latin typeface="Arial"/>
              </a:rPr>
              <a:t>[S] Landform / Earthmound</a:t>
            </a:r>
          </a:p>
          <a:p>
            <a:pPr algn="l"/>
            <a:r>
              <a:rPr sz="1400" b="0" i="0">
                <a:solidFill>
                  <a:srgbClr val="0D47A1"/>
                </a:solidFill>
                <a:latin typeface="Arial"/>
              </a:rPr>
              <a:t>[S~] Busut tanah dibina berlapis, setiap lapisan tidak melebihi 300mm tebal, dan setiap lapisan dipadatkan.</a:t>
            </a:r>
          </a:p>
          <a:p>
            <a:pPr algn="l"/>
            <a:r>
              <a:rPr sz="1400" b="0" i="0">
                <a:solidFill>
                  <a:srgbClr val="0D47A1"/>
                </a:solidFill>
                <a:latin typeface="Arial"/>
              </a:rPr>
              <a:t>[S] Fungsi</a:t>
            </a:r>
          </a:p>
          <a:p>
            <a:pPr algn="l" lvl="1"/>
            <a:r>
              <a:rPr sz="1400" b="0" i="0">
                <a:solidFill>
                  <a:srgbClr val="0D47A1"/>
                </a:solidFill>
                <a:latin typeface="Arial"/>
              </a:rPr>
              <a:t>[S] Mewujudkan pemandangan yang menarik secara visual serta mengurangkan kerataan tapak.</a:t>
            </a:r>
          </a:p>
          <a:p>
            <a:pPr algn="l" lvl="1"/>
            <a:r>
              <a:rPr sz="1400" b="0" i="0">
                <a:solidFill>
                  <a:srgbClr val="0D47A1"/>
                </a:solidFill>
                <a:latin typeface="Arial"/>
              </a:rPr>
              <a:t>[S] Berfungsi sebagai penghadang visual atau bunyi.</a:t>
            </a:r>
          </a:p>
          <a:p>
            <a:pPr algn="l" lvl="1"/>
            <a:r>
              <a:rPr sz="1400" b="0" i="0">
                <a:solidFill>
                  <a:srgbClr val="0D47A1"/>
                </a:solidFill>
                <a:latin typeface="Arial"/>
              </a:rPr>
              <a:t>[S] Mengawal dan mengarahkan aliran air permukaan.</a:t>
            </a:r>
          </a:p>
          <a:p>
            <a:pPr algn="l"/>
            <a:r>
              <a:rPr sz="1400" b="0" i="0">
                <a:solidFill>
                  <a:srgbClr val="0D47A1"/>
                </a:solidFill>
                <a:latin typeface="Arial"/>
              </a:rPr>
              <a:t>[S] Fokus Utama Kontraktor</a:t>
            </a:r>
          </a:p>
          <a:p>
            <a:pPr algn="l" lvl="1"/>
            <a:r>
              <a:rPr sz="1400" b="0" i="0">
                <a:solidFill>
                  <a:srgbClr val="0D47A1"/>
                </a:solidFill>
                <a:latin typeface="Arial"/>
              </a:rPr>
              <a:t>[S] Penandaan Tapak (Setting Out)</a:t>
            </a:r>
          </a:p>
          <a:p>
            <a:pPr algn="l" lvl="2"/>
            <a:r>
              <a:rPr sz="1400" b="0" i="0">
                <a:solidFill>
                  <a:srgbClr val="0D47A1"/>
                </a:solidFill>
                <a:latin typeface="Arial"/>
              </a:rPr>
              <a:t>[S] Lokasi, keluasan tapak, dan ketinggian puncak busut mesti ditanda dengan tepat di tapak mengikut pelan kerja tanah (Earthwork Plan).</a:t>
            </a:r>
          </a:p>
          <a:p>
            <a:pPr algn="l" lvl="1"/>
            <a:r>
              <a:rPr sz="1400" b="0" i="0">
                <a:solidFill>
                  <a:srgbClr val="0D47A1"/>
                </a:solidFill>
                <a:latin typeface="Arial"/>
              </a:rPr>
              <a:t>[S] Bahan Timbus</a:t>
            </a:r>
          </a:p>
          <a:p>
            <a:pPr algn="l" lvl="2"/>
            <a:r>
              <a:rPr sz="1400" b="0" i="0">
                <a:solidFill>
                  <a:srgbClr val="0D47A1"/>
                </a:solidFill>
                <a:latin typeface="Arial"/>
              </a:rPr>
              <a:t>[S] Bahan tanah yang digunakan mestilah bahan yang sesuai, bebas daripada sisa binaan, akar kayu, dan batu besar. Tanah mestilah diluluskan oleh Pegawai Penguasa (S.O.).</a:t>
            </a:r>
          </a:p>
          <a:p>
            <a:pPr algn="l" lvl="1"/>
            <a:r>
              <a:rPr sz="1400" b="0" i="0">
                <a:solidFill>
                  <a:srgbClr val="0D47A1"/>
                </a:solidFill>
                <a:latin typeface="Arial"/>
              </a:rPr>
              <a:t>[S] Pemadatan Berlapis</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0">
                <a:solidFill>
                  <a:srgbClr val="1A1A1A"/>
                </a:solidFill>
                <a:latin typeface="Arial"/>
              </a:rPr>
              <a:t>click-to-reveal · 4 panel</a:t>
            </a:r>
          </a:p>
          <a:p>
            <a:pPr algn="l" lvl="1"/>
            <a:r>
              <a:rPr sz="900" b="0" i="0">
                <a:solidFill>
                  <a:srgbClr val="1A1A1A"/>
                </a:solidFill>
                <a:latin typeface="Arial"/>
              </a:rPr>
              <a:t>1. Penandaan Tapak (Setting Out)</a:t>
            </a:r>
          </a:p>
          <a:p>
            <a:pPr algn="l" lvl="1"/>
            <a:r>
              <a:rPr sz="900" b="0" i="0">
                <a:solidFill>
                  <a:srgbClr val="1A1A1A"/>
                </a:solidFill>
                <a:latin typeface="Arial"/>
              </a:rPr>
              <a:t>2. Bahan Timbus</a:t>
            </a:r>
          </a:p>
          <a:p>
            <a:pPr algn="l" lvl="1"/>
            <a:r>
              <a:rPr sz="900" b="0" i="0">
                <a:solidFill>
                  <a:srgbClr val="1A1A1A"/>
                </a:solidFill>
                <a:latin typeface="Arial"/>
              </a:rPr>
              <a:t>3. Pemadatan Berlapis</a:t>
            </a:r>
          </a:p>
          <a:p>
            <a:pPr algn="l" lvl="1"/>
            <a:r>
              <a:rPr sz="900" b="0" i="0">
                <a:solidFill>
                  <a:srgbClr val="1A1A1A"/>
                </a:solidFill>
                <a:latin typeface="Arial"/>
              </a:rPr>
              <a:t>4. Kecerunan Akhir</a:t>
            </a:r>
          </a:p>
          <a:p>
            <a:pPr algn="l"/>
            <a:r>
              <a:rPr sz="800" b="0" i="0">
                <a:solidFill>
                  <a:srgbClr val="1A1A1A"/>
                </a:solidFill>
                <a:latin typeface="Arial"/>
              </a:rPr>
              <a:t/>
            </a:r>
          </a:p>
          <a:p>
            <a:pPr algn="l"/>
            <a:r>
              <a:rPr sz="1000" b="1" i="0">
                <a:solidFill>
                  <a:srgbClr val="6B6B6B"/>
                </a:solidFill>
                <a:latin typeface="Arial"/>
              </a:rPr>
              <a:t>VISUAL</a:t>
            </a:r>
          </a:p>
          <a:p>
            <a:pPr algn="l"/>
            <a:r>
              <a:rPr sz="1000" b="0" i="0">
                <a:solidFill>
                  <a:srgbClr val="1A1A1A"/>
                </a:solidFill>
                <a:latin typeface="Arial"/>
              </a:rPr>
              <a:t>Busut tanah berlapis 300mm dengan kecerunan 1:3</a:t>
            </a:r>
          </a:p>
          <a:p>
            <a:pPr algn="l"/>
            <a:r>
              <a:rPr sz="900" b="0" i="0">
                <a:solidFill>
                  <a:srgbClr val="6B6B6B"/>
                </a:solidFill>
                <a:latin typeface="Arial"/>
              </a:rPr>
              <a:t>Tiada rajah sumber — subjek calon sahaja</a:t>
            </a:r>
          </a:p>
          <a:p>
            <a:pPr algn="l"/>
            <a:r>
              <a:rPr sz="900" b="1" i="0">
                <a:solidFill>
                  <a:srgbClr val="B71C1C"/>
                </a:solidFill>
                <a:latin typeface="Arial"/>
              </a:rPr>
              <a:t>SUBJEK VISUAL: PENDING_BARIAH_UNIT_REVIEW</a:t>
            </a:r>
          </a:p>
          <a:p>
            <a:pPr algn="l"/>
            <a:r>
              <a:rPr sz="900" b="1" i="0">
                <a:solidFill>
                  <a:srgbClr val="B71C1C"/>
                </a:solidFill>
                <a:latin typeface="Arial"/>
              </a:rPr>
              <a:t>ASET VISUAL BELUM DIHASILKAN — NOT_MMD_ASSET</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Baris modul: T03B03-ROW-002, T03B03-ROW-003, T03B03-ROW-007, T03B03-ROW-004, T03B03-ROW-005, T03B03-ROW-006, T03B03-ROW-008, T03B03-ROW-010, T03B03-ROW-012, T03B03-ROW-014 (+4)</a:t>
            </a:r>
          </a:p>
          <a:p>
            <a:pPr algn="l"/>
            <a:r>
              <a:rPr sz="800" b="0" i="0">
                <a:solidFill>
                  <a:srgbClr val="6B6B6B"/>
                </a:solidFill>
                <a:latin typeface="Arial"/>
              </a:rPr>
              <a:t>Keputusan Bariah: A1, A2</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4 daripada 12  ·  halaman 1/2   ·   TECHNICAL_PROOF · DRAFT_FOR_BARIAH_REVIEW · NOT_INSTRUCTIONALLY_APPROVED · NOT_LEARNER_FACING_FINAL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T03B03-S04   ·   click-to-reveal   ·   CONTENT</a:t>
            </a:r>
          </a:p>
          <a:p>
            <a:pPr algn="l"/>
            <a:r>
              <a:rPr sz="2400" b="1" i="0">
                <a:solidFill>
                  <a:srgbClr val="1A1A1A"/>
                </a:solidFill>
                <a:latin typeface="Arial"/>
              </a:rPr>
              <a:t>Landform / Earthmound   ·   halaman 2/2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 (sambungan)</a:t>
            </a:r>
          </a:p>
          <a:p>
            <a:pPr algn="l" lvl="2"/>
            <a:r>
              <a:rPr sz="1400" b="0" i="0">
                <a:solidFill>
                  <a:srgbClr val="0D47A1"/>
                </a:solidFill>
                <a:latin typeface="Arial"/>
              </a:rPr>
              <a:t>[S] Busut tanah mesti dibina secara berperingkat dalam lapisan-lapisan tidak melebihi 300mm tebal. Setiap lapisan wajib dipadatkan dengan sempurna menggunakan jentera pemadat (compactor) untuk mengelakkan mendapan (settlement) pada masa hadapan.</a:t>
            </a:r>
          </a:p>
          <a:p>
            <a:pPr algn="l" lvl="1"/>
            <a:r>
              <a:rPr sz="1400" b="0" i="0">
                <a:solidFill>
                  <a:srgbClr val="0D47A1"/>
                </a:solidFill>
                <a:latin typeface="Arial"/>
              </a:rPr>
              <a:t>[S] Kecerunan Akhir</a:t>
            </a:r>
          </a:p>
          <a:p>
            <a:pPr algn="l" lvl="2"/>
            <a:r>
              <a:rPr sz="1400" b="0" i="0">
                <a:solidFill>
                  <a:srgbClr val="0D47A1"/>
                </a:solidFill>
                <a:latin typeface="Arial"/>
              </a:rPr>
              <a:t>[S] Kecerunan busut mesti dibentuk mengikut nisbah yang ditetapkan dalam lukisan (cth: 1:3) untuk memastikan kestabilan dan mengelakkan hakisan. Permukaan akhir mesti dilindungi segera dengan rumput atau tanaman penutup bumi.</a:t>
            </a:r>
          </a:p>
          <a:p>
            <a:pPr algn="l"/>
            <a:r>
              <a:rPr sz="1200" b="0" i="0">
                <a:solidFill>
                  <a:srgbClr val="6B6B6B"/>
                </a:solidFill>
                <a:latin typeface="Arial"/>
              </a:rPr>
              <a:t>[U] Klik setiap tajuk untuk memaparkan maklumat.</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0">
                <a:solidFill>
                  <a:srgbClr val="1A1A1A"/>
                </a:solidFill>
                <a:latin typeface="Arial"/>
              </a:rPr>
              <a:t>click-to-reveal · 4 panel</a:t>
            </a:r>
          </a:p>
          <a:p>
            <a:pPr algn="l" lvl="1"/>
            <a:r>
              <a:rPr sz="900" b="0" i="0">
                <a:solidFill>
                  <a:srgbClr val="1A1A1A"/>
                </a:solidFill>
                <a:latin typeface="Arial"/>
              </a:rPr>
              <a:t>1. Penandaan Tapak (Setting Out)</a:t>
            </a:r>
          </a:p>
          <a:p>
            <a:pPr algn="l" lvl="1"/>
            <a:r>
              <a:rPr sz="900" b="0" i="0">
                <a:solidFill>
                  <a:srgbClr val="1A1A1A"/>
                </a:solidFill>
                <a:latin typeface="Arial"/>
              </a:rPr>
              <a:t>2. Bahan Timbus</a:t>
            </a:r>
          </a:p>
          <a:p>
            <a:pPr algn="l" lvl="1"/>
            <a:r>
              <a:rPr sz="900" b="0" i="0">
                <a:solidFill>
                  <a:srgbClr val="1A1A1A"/>
                </a:solidFill>
                <a:latin typeface="Arial"/>
              </a:rPr>
              <a:t>3. Pemadatan Berlapis</a:t>
            </a:r>
          </a:p>
          <a:p>
            <a:pPr algn="l" lvl="1"/>
            <a:r>
              <a:rPr sz="900" b="0" i="0">
                <a:solidFill>
                  <a:srgbClr val="1A1A1A"/>
                </a:solidFill>
                <a:latin typeface="Arial"/>
              </a:rPr>
              <a:t>4. Kecerunan Akhir</a:t>
            </a:r>
          </a:p>
          <a:p>
            <a:pPr algn="l"/>
            <a:r>
              <a:rPr sz="800" b="0" i="0">
                <a:solidFill>
                  <a:srgbClr val="1A1A1A"/>
                </a:solidFill>
                <a:latin typeface="Arial"/>
              </a:rPr>
              <a:t/>
            </a:r>
          </a:p>
          <a:p>
            <a:pPr algn="l"/>
            <a:r>
              <a:rPr sz="1000" b="1" i="0">
                <a:solidFill>
                  <a:srgbClr val="6B6B6B"/>
                </a:solidFill>
                <a:latin typeface="Arial"/>
              </a:rPr>
              <a:t>VISUAL</a:t>
            </a:r>
          </a:p>
          <a:p>
            <a:pPr algn="l"/>
            <a:r>
              <a:rPr sz="1000" b="0" i="0">
                <a:solidFill>
                  <a:srgbClr val="1A1A1A"/>
                </a:solidFill>
                <a:latin typeface="Arial"/>
              </a:rPr>
              <a:t>Busut tanah berlapis 300mm dengan kecerunan 1:3</a:t>
            </a:r>
          </a:p>
          <a:p>
            <a:pPr algn="l"/>
            <a:r>
              <a:rPr sz="900" b="0" i="0">
                <a:solidFill>
                  <a:srgbClr val="6B6B6B"/>
                </a:solidFill>
                <a:latin typeface="Arial"/>
              </a:rPr>
              <a:t>Tiada rajah sumber — subjek calon sahaja</a:t>
            </a:r>
          </a:p>
          <a:p>
            <a:pPr algn="l"/>
            <a:r>
              <a:rPr sz="900" b="1" i="0">
                <a:solidFill>
                  <a:srgbClr val="B71C1C"/>
                </a:solidFill>
                <a:latin typeface="Arial"/>
              </a:rPr>
              <a:t>SUBJEK VISUAL: PENDING_BARIAH_UNIT_REVIEW</a:t>
            </a:r>
          </a:p>
          <a:p>
            <a:pPr algn="l"/>
            <a:r>
              <a:rPr sz="900" b="1" i="0">
                <a:solidFill>
                  <a:srgbClr val="B71C1C"/>
                </a:solidFill>
                <a:latin typeface="Arial"/>
              </a:rPr>
              <a:t>ASET VISUAL BELUM DIHASILKAN — NOT_MMD_ASSET</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Baris modul: T03B03-ROW-002, T03B03-ROW-003, T03B03-ROW-007, T03B03-ROW-004, T03B03-ROW-005, T03B03-ROW-006, T03B03-ROW-008, T03B03-ROW-010, T03B03-ROW-012, T03B03-ROW-014 (+4)</a:t>
            </a:r>
          </a:p>
          <a:p>
            <a:pPr algn="l"/>
            <a:r>
              <a:rPr sz="800" b="0" i="0">
                <a:solidFill>
                  <a:srgbClr val="6B6B6B"/>
                </a:solidFill>
                <a:latin typeface="Arial"/>
              </a:rPr>
              <a:t>Keputusan Bariah: A1, A2</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4 daripada 12  ·  halaman 2/2   ·   TECHNICAL_PROOF · DRAFT_FOR_BARIAH_REVIEW · NOT_INSTRUCTIONALLY_APPROVED · NOT_LEARNER_FACING_FINAL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T03B03-S05   ·   click-to-reveal   ·   CONTENT</a:t>
            </a:r>
          </a:p>
          <a:p>
            <a:pPr algn="l"/>
            <a:r>
              <a:rPr sz="2400" b="1" i="0">
                <a:solidFill>
                  <a:srgbClr val="1A1A1A"/>
                </a:solidFill>
                <a:latin typeface="Arial"/>
              </a:rPr>
              <a:t>Sub soil drainage   ·   halaman 1/2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a:t>
            </a:r>
          </a:p>
          <a:p>
            <a:pPr algn="l"/>
            <a:r>
              <a:rPr sz="1400" b="0" i="0">
                <a:solidFill>
                  <a:srgbClr val="0D47A1"/>
                </a:solidFill>
                <a:latin typeface="Arial"/>
              </a:rPr>
              <a:t>[S] Sub soil drainage</a:t>
            </a:r>
          </a:p>
          <a:p>
            <a:pPr algn="l"/>
            <a:r>
              <a:rPr sz="1400" b="0" i="0">
                <a:solidFill>
                  <a:srgbClr val="0D47A1"/>
                </a:solidFill>
                <a:latin typeface="Arial"/>
              </a:rPr>
              <a:t>[S~] Sistem saliran bawah tanah mesti disambungkan ke saluran keluar yang berfungsi.</a:t>
            </a:r>
          </a:p>
          <a:p>
            <a:pPr algn="l"/>
            <a:r>
              <a:rPr sz="1400" b="0" i="0">
                <a:solidFill>
                  <a:srgbClr val="0D47A1"/>
                </a:solidFill>
                <a:latin typeface="Arial"/>
              </a:rPr>
              <a:t>[S] Fungsi</a:t>
            </a:r>
          </a:p>
          <a:p>
            <a:pPr algn="l" lvl="1"/>
            <a:r>
              <a:rPr sz="1400" b="0" i="0">
                <a:solidFill>
                  <a:srgbClr val="0D47A1"/>
                </a:solidFill>
                <a:latin typeface="Arial"/>
              </a:rPr>
              <a:t>[S] Mengelakkan tanah daripada menjadi tepu air, yang boleh merosakkan akar tanaman dan menjadikan kawasan tidak boleh digunakan.</a:t>
            </a:r>
          </a:p>
          <a:p>
            <a:pPr algn="l"/>
            <a:r>
              <a:rPr sz="1400" b="0" i="0">
                <a:solidFill>
                  <a:srgbClr val="0D47A1"/>
                </a:solidFill>
                <a:latin typeface="Arial"/>
              </a:rPr>
              <a:t>[S] Fokus Utama Kontraktor</a:t>
            </a:r>
          </a:p>
          <a:p>
            <a:pPr algn="l" lvl="1"/>
            <a:r>
              <a:rPr sz="1400" b="0" i="0">
                <a:solidFill>
                  <a:srgbClr val="0D47A1"/>
                </a:solidFill>
                <a:latin typeface="Arial"/>
              </a:rPr>
              <a:t>[S] Penggalian Peparit</a:t>
            </a:r>
          </a:p>
          <a:p>
            <a:pPr algn="l" lvl="2"/>
            <a:r>
              <a:rPr sz="1400" b="0" i="0">
                <a:solidFill>
                  <a:srgbClr val="0D47A1"/>
                </a:solidFill>
                <a:latin typeface="Arial"/>
              </a:rPr>
              <a:t>[S] Peparit (trench) digali mengikut jajaran, kedalaman, dan kecerunan yang ditetapkan dalam Pelan Saliran (Drainage Plan). Kecerunan yang betul adalah kritikal untuk memastikan air mengalir.</a:t>
            </a:r>
          </a:p>
          <a:p>
            <a:pPr algn="l" lvl="1"/>
            <a:r>
              <a:rPr sz="1400" b="0" i="0">
                <a:solidFill>
                  <a:srgbClr val="0D47A1"/>
                </a:solidFill>
                <a:latin typeface="Arial"/>
              </a:rPr>
              <a:t>[S] Pemasangan Sistematik</a:t>
            </a:r>
          </a:p>
          <a:p>
            <a:pPr algn="l" lvl="2"/>
            <a:r>
              <a:rPr sz="1400" b="0" i="0">
                <a:solidFill>
                  <a:srgbClr val="0D47A1"/>
                </a:solidFill>
                <a:latin typeface="Arial"/>
              </a:rPr>
              <a:t>[S] Proses pemasangan yang betul adalah kunci kejayaan sistem ini:</a:t>
            </a:r>
          </a:p>
          <a:p>
            <a:pPr algn="l" lvl="2"/>
            <a:r>
              <a:rPr sz="1400" b="0" i="0">
                <a:solidFill>
                  <a:srgbClr val="0D47A1"/>
                </a:solidFill>
                <a:latin typeface="Arial"/>
              </a:rPr>
              <a:t>[S] Lapik peparit dengan kain geotekstil (geotextile fabric).</a:t>
            </a:r>
          </a:p>
          <a:p>
            <a:pPr algn="l" lvl="2"/>
            <a:r>
              <a:rPr sz="1400" b="0" i="0">
                <a:solidFill>
                  <a:srgbClr val="0D47A1"/>
                </a:solidFill>
                <a:latin typeface="Arial"/>
              </a:rPr>
              <a:t>[S] Letakkan lapisan batu kelikir penapis (filter aggregate).</a:t>
            </a:r>
          </a:p>
          <a:p>
            <a:pPr algn="l" lvl="2"/>
            <a:r>
              <a:rPr sz="1400" b="0" i="0">
                <a:solidFill>
                  <a:srgbClr val="0D47A1"/>
                </a:solidFill>
                <a:latin typeface="Arial"/>
              </a:rPr>
              <a:t>[S] Pasang paip berlubang (perforated pipe) dengan lubangnya menghadap ke bawah.</a:t>
            </a:r>
          </a:p>
          <a:p>
            <a:pPr algn="l" lvl="2"/>
            <a:r>
              <a:rPr sz="1400" b="0" i="0">
                <a:solidFill>
                  <a:srgbClr val="0D47A1"/>
                </a:solidFill>
                <a:latin typeface="Arial"/>
              </a:rPr>
              <a:t>[S] Timbus sekeliling paip dengan batu kelikir.</a:t>
            </a:r>
          </a:p>
          <a:p>
            <a:pPr algn="l" lvl="2"/>
            <a:r>
              <a:rPr sz="1400" b="0" i="0">
                <a:solidFill>
                  <a:srgbClr val="0D47A1"/>
                </a:solidFill>
                <a:latin typeface="Arial"/>
              </a:rPr>
              <a:t>[S] Lipat lebihan geotekstil untuk menutup lapisan batu kelikir.</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0">
                <a:solidFill>
                  <a:srgbClr val="1A1A1A"/>
                </a:solidFill>
                <a:latin typeface="Arial"/>
              </a:rPr>
              <a:t>click-to-reveal · 3 panel</a:t>
            </a:r>
          </a:p>
          <a:p>
            <a:pPr algn="l" lvl="1"/>
            <a:r>
              <a:rPr sz="900" b="0" i="0">
                <a:solidFill>
                  <a:srgbClr val="1A1A1A"/>
                </a:solidFill>
                <a:latin typeface="Arial"/>
              </a:rPr>
              <a:t>1. Penggalian Peparit</a:t>
            </a:r>
          </a:p>
          <a:p>
            <a:pPr algn="l" lvl="1"/>
            <a:r>
              <a:rPr sz="900" b="0" i="0">
                <a:solidFill>
                  <a:srgbClr val="1A1A1A"/>
                </a:solidFill>
                <a:latin typeface="Arial"/>
              </a:rPr>
              <a:t>2. Pemasangan Sistematik</a:t>
            </a:r>
          </a:p>
          <a:p>
            <a:pPr algn="l" lvl="1"/>
            <a:r>
              <a:rPr sz="900" b="0" i="0">
                <a:solidFill>
                  <a:srgbClr val="1A1A1A"/>
                </a:solidFill>
                <a:latin typeface="Arial"/>
              </a:rPr>
              <a:t>3. Sambungan ke Saluran Keluar</a:t>
            </a:r>
          </a:p>
          <a:p>
            <a:pPr algn="l"/>
            <a:r>
              <a:rPr sz="800" b="0" i="0">
                <a:solidFill>
                  <a:srgbClr val="1A1A1A"/>
                </a:solidFill>
                <a:latin typeface="Arial"/>
              </a:rPr>
              <a:t/>
            </a:r>
          </a:p>
          <a:p>
            <a:pPr algn="l"/>
            <a:r>
              <a:rPr sz="1000" b="1" i="0">
                <a:solidFill>
                  <a:srgbClr val="6B6B6B"/>
                </a:solidFill>
                <a:latin typeface="Arial"/>
              </a:rPr>
              <a:t>VISUAL</a:t>
            </a:r>
          </a:p>
          <a:p>
            <a:pPr algn="l"/>
            <a:r>
              <a:rPr sz="1000" b="0" i="1">
                <a:solidFill>
                  <a:srgbClr val="6B6B6B"/>
                </a:solidFill>
                <a:latin typeface="Arial"/>
              </a:rPr>
              <a:t>Tiada visual khusus</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Baris modul: T03B03-ROW-016, T03B03-ROW-017, T03B03-ROW-019, T03B03-ROW-018, T03B03-ROW-020, T03B03-ROW-022, T03B03-ROW-030, T03B03-ROW-021, T03B03-ROW-023, T03B03-ROW-024 (+6)</a:t>
            </a:r>
          </a:p>
          <a:p>
            <a:pPr algn="l"/>
            <a:r>
              <a:rPr sz="800" b="0" i="0">
                <a:solidFill>
                  <a:srgbClr val="6B6B6B"/>
                </a:solidFill>
                <a:latin typeface="Arial"/>
              </a:rPr>
              <a:t>Keputusan Bariah: A1, A2</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5 daripada 12  ·  halaman 1/2   ·   TECHNICAL_PROOF · DRAFT_FOR_BARIAH_REVIEW · NOT_INSTRUCTIONALLY_APPROVED · NOT_LEARNER_FACING_FINAL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T03B03-S05   ·   click-to-reveal   ·   CONTENT</a:t>
            </a:r>
          </a:p>
          <a:p>
            <a:pPr algn="l"/>
            <a:r>
              <a:rPr sz="2400" b="1" i="0">
                <a:solidFill>
                  <a:srgbClr val="1A1A1A"/>
                </a:solidFill>
                <a:latin typeface="Arial"/>
              </a:rPr>
              <a:t>Sub soil drainage   ·   halaman 2/2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 (sambungan)</a:t>
            </a:r>
          </a:p>
          <a:p>
            <a:pPr algn="l" lvl="2"/>
            <a:r>
              <a:rPr sz="1400" b="0" i="0">
                <a:solidFill>
                  <a:srgbClr val="0D47A1"/>
                </a:solidFill>
                <a:latin typeface="Arial"/>
              </a:rPr>
              <a:t>[S] Timbus lapisan atas dengan pasir kasar dan tanah atas.</a:t>
            </a:r>
          </a:p>
          <a:p>
            <a:pPr algn="l" lvl="1"/>
            <a:r>
              <a:rPr sz="1400" b="0" i="0">
                <a:solidFill>
                  <a:srgbClr val="0D47A1"/>
                </a:solidFill>
                <a:latin typeface="Arial"/>
              </a:rPr>
              <a:t>[S] Sambungan ke Saluran Keluar</a:t>
            </a:r>
          </a:p>
          <a:p>
            <a:pPr algn="l" lvl="2"/>
            <a:r>
              <a:rPr sz="1400" b="0" i="0">
                <a:solidFill>
                  <a:srgbClr val="0D47A1"/>
                </a:solidFill>
                <a:latin typeface="Arial"/>
              </a:rPr>
              <a:t>[S] Pastikan sistem saliran bawah tanah ini disambungkan ke saluran keluar yang berfungsi seperti parit utama atau sump.</a:t>
            </a:r>
          </a:p>
          <a:p>
            <a:pPr algn="l"/>
            <a:r>
              <a:rPr sz="1200" b="0" i="0">
                <a:solidFill>
                  <a:srgbClr val="6B6B6B"/>
                </a:solidFill>
                <a:latin typeface="Arial"/>
              </a:rPr>
              <a:t>[U] Klik setiap tajuk untuk memaparkan maklumat.</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0">
                <a:solidFill>
                  <a:srgbClr val="1A1A1A"/>
                </a:solidFill>
                <a:latin typeface="Arial"/>
              </a:rPr>
              <a:t>click-to-reveal · 3 panel</a:t>
            </a:r>
          </a:p>
          <a:p>
            <a:pPr algn="l" lvl="1"/>
            <a:r>
              <a:rPr sz="900" b="0" i="0">
                <a:solidFill>
                  <a:srgbClr val="1A1A1A"/>
                </a:solidFill>
                <a:latin typeface="Arial"/>
              </a:rPr>
              <a:t>1. Penggalian Peparit</a:t>
            </a:r>
          </a:p>
          <a:p>
            <a:pPr algn="l" lvl="1"/>
            <a:r>
              <a:rPr sz="900" b="0" i="0">
                <a:solidFill>
                  <a:srgbClr val="1A1A1A"/>
                </a:solidFill>
                <a:latin typeface="Arial"/>
              </a:rPr>
              <a:t>2. Pemasangan Sistematik</a:t>
            </a:r>
          </a:p>
          <a:p>
            <a:pPr algn="l" lvl="1"/>
            <a:r>
              <a:rPr sz="900" b="0" i="0">
                <a:solidFill>
                  <a:srgbClr val="1A1A1A"/>
                </a:solidFill>
                <a:latin typeface="Arial"/>
              </a:rPr>
              <a:t>3. Sambungan ke Saluran Keluar</a:t>
            </a:r>
          </a:p>
          <a:p>
            <a:pPr algn="l"/>
            <a:r>
              <a:rPr sz="800" b="0" i="0">
                <a:solidFill>
                  <a:srgbClr val="1A1A1A"/>
                </a:solidFill>
                <a:latin typeface="Arial"/>
              </a:rPr>
              <a:t/>
            </a:r>
          </a:p>
          <a:p>
            <a:pPr algn="l"/>
            <a:r>
              <a:rPr sz="1000" b="1" i="0">
                <a:solidFill>
                  <a:srgbClr val="6B6B6B"/>
                </a:solidFill>
                <a:latin typeface="Arial"/>
              </a:rPr>
              <a:t>VISUAL</a:t>
            </a:r>
          </a:p>
          <a:p>
            <a:pPr algn="l"/>
            <a:r>
              <a:rPr sz="1000" b="0" i="1">
                <a:solidFill>
                  <a:srgbClr val="6B6B6B"/>
                </a:solidFill>
                <a:latin typeface="Arial"/>
              </a:rPr>
              <a:t>Tiada visual khusus</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Baris modul: T03B03-ROW-016, T03B03-ROW-017, T03B03-ROW-019, T03B03-ROW-018, T03B03-ROW-020, T03B03-ROW-022, T03B03-ROW-030, T03B03-ROW-021, T03B03-ROW-023, T03B03-ROW-024 (+6)</a:t>
            </a:r>
          </a:p>
          <a:p>
            <a:pPr algn="l"/>
            <a:r>
              <a:rPr sz="800" b="0" i="0">
                <a:solidFill>
                  <a:srgbClr val="6B6B6B"/>
                </a:solidFill>
                <a:latin typeface="Arial"/>
              </a:rPr>
              <a:t>Keputusan Bariah: A1, A2</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5 daripada 12  ·  halaman 2/2   ·   TECHNICAL_PROOF · DRAFT_FOR_BARIAH_REVIEW · NOT_INSTRUCTIONALLY_APPROVED · NOT_LEARNER_FACING_FINAL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T03B03-S06   ·   click-to-reveal   ·   CONTENT</a:t>
            </a:r>
          </a:p>
          <a:p>
            <a:pPr algn="l"/>
            <a:r>
              <a:rPr sz="2400" b="1" i="0">
                <a:solidFill>
                  <a:srgbClr val="1A1A1A"/>
                </a:solidFill>
                <a:latin typeface="Arial"/>
              </a:rPr>
              <a:t>Dinding Penahan (Retaining Wall)</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a:t>
            </a:r>
          </a:p>
          <a:p>
            <a:pPr algn="l"/>
            <a:r>
              <a:rPr sz="1400" b="0" i="0">
                <a:solidFill>
                  <a:srgbClr val="0D47A1"/>
                </a:solidFill>
                <a:latin typeface="Arial"/>
              </a:rPr>
              <a:t>[S] Dinding Penahan (Retaining Wall)</a:t>
            </a:r>
          </a:p>
          <a:p>
            <a:pPr algn="l"/>
            <a:r>
              <a:rPr sz="1400" b="0" i="0">
                <a:solidFill>
                  <a:srgbClr val="0D47A1"/>
                </a:solidFill>
                <a:latin typeface="Arial"/>
              </a:rPr>
              <a:t>[S~] Dinding penahan mesti dibina mematuhi sepenuhnya lukisan struktur jurutera bertauliah; tapak asas adalah komponen paling kritikal.</a:t>
            </a:r>
          </a:p>
          <a:p>
            <a:pPr algn="l"/>
            <a:r>
              <a:rPr sz="1400" b="0" i="0">
                <a:solidFill>
                  <a:srgbClr val="0D47A1"/>
                </a:solidFill>
                <a:latin typeface="Arial"/>
              </a:rPr>
              <a:t>[S] Fungsi</a:t>
            </a:r>
          </a:p>
          <a:p>
            <a:pPr algn="l" lvl="1"/>
            <a:r>
              <a:rPr sz="1400" b="0" i="0">
                <a:solidFill>
                  <a:srgbClr val="0D47A1"/>
                </a:solidFill>
                <a:latin typeface="Arial"/>
              </a:rPr>
              <a:t>[S] Membentuk kawasan rata di lereng bukit, menstabilkan cerun, dan menetapkan sempadan aras.</a:t>
            </a:r>
          </a:p>
          <a:p>
            <a:pPr algn="l"/>
            <a:r>
              <a:rPr sz="1400" b="0" i="0">
                <a:solidFill>
                  <a:srgbClr val="0D47A1"/>
                </a:solidFill>
                <a:latin typeface="Arial"/>
              </a:rPr>
              <a:t>[S] Fokus Utama Kontraktor</a:t>
            </a:r>
          </a:p>
          <a:p>
            <a:pPr algn="l" lvl="1"/>
            <a:r>
              <a:rPr sz="1400" b="0" i="0">
                <a:solidFill>
                  <a:srgbClr val="0D47A1"/>
                </a:solidFill>
                <a:latin typeface="Arial"/>
              </a:rPr>
              <a:t>[S] Lukisan Jurutera</a:t>
            </a:r>
          </a:p>
          <a:p>
            <a:pPr algn="l" lvl="2"/>
            <a:r>
              <a:rPr sz="1400" b="0" i="0">
                <a:solidFill>
                  <a:srgbClr val="0D47A1"/>
                </a:solidFill>
                <a:latin typeface="Arial"/>
              </a:rPr>
              <a:t>[S] Dinding penahan mesti dibina dengan mematuhi sepenuhnya Lukisan Struktur Jurutera Bertauliah (Ir.). Sebarang perubahan memerlukan kelulusan jurutera.</a:t>
            </a:r>
          </a:p>
          <a:p>
            <a:pPr algn="l" lvl="1"/>
            <a:r>
              <a:rPr sz="1400" b="0" i="0">
                <a:solidFill>
                  <a:srgbClr val="0D47A1"/>
                </a:solidFill>
                <a:latin typeface="Arial"/>
              </a:rPr>
              <a:t>[S] Pembinaan Tapak Asas (Foundation)</a:t>
            </a:r>
          </a:p>
          <a:p>
            <a:pPr algn="l" lvl="2"/>
            <a:r>
              <a:rPr sz="1400" b="0" i="0">
                <a:solidFill>
                  <a:srgbClr val="0D47A1"/>
                </a:solidFill>
                <a:latin typeface="Arial"/>
              </a:rPr>
              <a:t>[S] Tapak asas adalah komponen paling kritikal. Ia mesti dibina di atas tanah yang stabil pada kedalaman dan saiz yang betul.</a:t>
            </a:r>
          </a:p>
          <a:p>
            <a:pPr algn="l" lvl="1"/>
            <a:r>
              <a:rPr sz="1400" b="0" i="0">
                <a:solidFill>
                  <a:srgbClr val="0D47A1"/>
                </a:solidFill>
                <a:latin typeface="Arial"/>
              </a:rPr>
              <a:t>[S] Sistem Perparitan di Belakang Dinding</a:t>
            </a:r>
          </a:p>
          <a:p>
            <a:pPr algn="l" lvl="2"/>
            <a:r>
              <a:rPr sz="1400" b="0" i="0">
                <a:solidFill>
                  <a:srgbClr val="0D47A1"/>
                </a:solidFill>
                <a:latin typeface="Arial"/>
              </a:rPr>
              <a:t>[S] Kegagalan dinding penahan selalunya berpunca daripada tekanan air (hydrostatic pressure). Kontraktor wajib memastikan lubang saliran air (weep holes) dibina dan lapisan penapis (seperti batu kelikir) diletakkan di belakang dinding untuk membolehkan air keluar.</a:t>
            </a:r>
          </a:p>
          <a:p>
            <a:pPr algn="l"/>
            <a:r>
              <a:rPr sz="1200" b="0" i="0">
                <a:solidFill>
                  <a:srgbClr val="6B6B6B"/>
                </a:solidFill>
                <a:latin typeface="Arial"/>
              </a:rPr>
              <a:t>[U] Klik setiap tajuk untuk memaparkan maklumat.</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0">
                <a:solidFill>
                  <a:srgbClr val="1A1A1A"/>
                </a:solidFill>
                <a:latin typeface="Arial"/>
              </a:rPr>
              <a:t>click-to-reveal · 3 panel</a:t>
            </a:r>
          </a:p>
          <a:p>
            <a:pPr algn="l" lvl="1"/>
            <a:r>
              <a:rPr sz="900" b="0" i="0">
                <a:solidFill>
                  <a:srgbClr val="1A1A1A"/>
                </a:solidFill>
                <a:latin typeface="Arial"/>
              </a:rPr>
              <a:t>1. Lukisan Jurutera</a:t>
            </a:r>
          </a:p>
          <a:p>
            <a:pPr algn="l" lvl="1"/>
            <a:r>
              <a:rPr sz="900" b="0" i="0">
                <a:solidFill>
                  <a:srgbClr val="1A1A1A"/>
                </a:solidFill>
                <a:latin typeface="Arial"/>
              </a:rPr>
              <a:t>2. Pembinaan Tapak Asas (Foundation)</a:t>
            </a:r>
          </a:p>
          <a:p>
            <a:pPr algn="l" lvl="1"/>
            <a:r>
              <a:rPr sz="900" b="0" i="0">
                <a:solidFill>
                  <a:srgbClr val="1A1A1A"/>
                </a:solidFill>
                <a:latin typeface="Arial"/>
              </a:rPr>
              <a:t>3. Sistem Perparitan di Belakang Dinding</a:t>
            </a:r>
          </a:p>
          <a:p>
            <a:pPr algn="l"/>
            <a:r>
              <a:rPr sz="800" b="0" i="0">
                <a:solidFill>
                  <a:srgbClr val="1A1A1A"/>
                </a:solidFill>
                <a:latin typeface="Arial"/>
              </a:rPr>
              <a:t/>
            </a:r>
          </a:p>
          <a:p>
            <a:pPr algn="l"/>
            <a:r>
              <a:rPr sz="1000" b="1" i="0">
                <a:solidFill>
                  <a:srgbClr val="6B6B6B"/>
                </a:solidFill>
                <a:latin typeface="Arial"/>
              </a:rPr>
              <a:t>VISUAL</a:t>
            </a:r>
          </a:p>
          <a:p>
            <a:pPr algn="l"/>
            <a:r>
              <a:rPr sz="1000" b="0" i="0">
                <a:solidFill>
                  <a:srgbClr val="1A1A1A"/>
                </a:solidFill>
                <a:latin typeface="Arial"/>
              </a:rPr>
              <a:t>Keratan rentas dinding penahan dengan sistem perparitan di belakang</a:t>
            </a:r>
          </a:p>
          <a:p>
            <a:pPr algn="l"/>
            <a:r>
              <a:rPr sz="900" b="0" i="0">
                <a:solidFill>
                  <a:srgbClr val="6B6B6B"/>
                </a:solidFill>
                <a:latin typeface="Arial"/>
              </a:rPr>
              <a:t>Tiada rajah sumber — subjek calon sahaja</a:t>
            </a:r>
          </a:p>
          <a:p>
            <a:pPr algn="l"/>
            <a:r>
              <a:rPr sz="900" b="1" i="0">
                <a:solidFill>
                  <a:srgbClr val="B71C1C"/>
                </a:solidFill>
                <a:latin typeface="Arial"/>
              </a:rPr>
              <a:t>SUBJEK VISUAL: PENDING_BARIAH_UNIT_REVIEW</a:t>
            </a:r>
          </a:p>
          <a:p>
            <a:pPr algn="l"/>
            <a:r>
              <a:rPr sz="900" b="1" i="0">
                <a:solidFill>
                  <a:srgbClr val="B71C1C"/>
                </a:solidFill>
                <a:latin typeface="Arial"/>
              </a:rPr>
              <a:t>ASET VISUAL BELUM DIHASILKAN — NOT_MMD_ASSET</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Baris modul: T03B03-ROW-032, T03B03-ROW-033, T03B03-ROW-035, T03B03-ROW-034, T03B03-ROW-036, T03B03-ROW-038, T03B03-ROW-040, T03B03-ROW-037, T03B03-ROW-039, T03B03-ROW-041</a:t>
            </a:r>
          </a:p>
          <a:p>
            <a:pPr algn="l"/>
            <a:r>
              <a:rPr sz="800" b="0" i="0">
                <a:solidFill>
                  <a:srgbClr val="6B6B6B"/>
                </a:solidFill>
                <a:latin typeface="Arial"/>
              </a:rPr>
              <a:t>Keputusan Bariah: A1, A2</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6 daripada 12   ·   TECHNICAL_PROOF · DRAFT_FOR_BARIAH_REVIEW · NOT_INSTRUCTIONALLY_APPROVED · NOT_LEARNER_FACING_FINAL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T03B03-S07   ·   click-to-reveal   ·   CONTENT</a:t>
            </a:r>
          </a:p>
          <a:p>
            <a:pPr algn="l"/>
            <a:r>
              <a:rPr sz="2400" b="1" i="0">
                <a:solidFill>
                  <a:srgbClr val="1A1A1A"/>
                </a:solidFill>
                <a:latin typeface="Arial"/>
              </a:rPr>
              <a:t>Fencing   ·   halaman 1/2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a:t>
            </a:r>
          </a:p>
          <a:p>
            <a:pPr algn="l"/>
            <a:r>
              <a:rPr sz="1400" b="0" i="0">
                <a:solidFill>
                  <a:srgbClr val="0D47A1"/>
                </a:solidFill>
                <a:latin typeface="Arial"/>
              </a:rPr>
              <a:t>[S] Fencing</a:t>
            </a:r>
          </a:p>
          <a:p>
            <a:pPr algn="l"/>
            <a:r>
              <a:rPr sz="1400" b="0" i="0">
                <a:solidFill>
                  <a:srgbClr val="0D47A1"/>
                </a:solidFill>
                <a:latin typeface="Arial"/>
              </a:rPr>
              <a:t>[S] Pagar dibina untuk tujuan keselamatan, menandakan sempadan, privasi, atau sebagai elemen hiasan.</a:t>
            </a:r>
          </a:p>
          <a:p>
            <a:pPr algn="l"/>
            <a:r>
              <a:rPr sz="1400" b="0" i="0">
                <a:solidFill>
                  <a:srgbClr val="0D47A1"/>
                </a:solidFill>
                <a:latin typeface="Arial"/>
              </a:rPr>
              <a:t>[S~] Jajaran pagar mesti ditanda mengikut Pelan Ukur Sempadan untuk mengelakkan pencerobohan tanah.</a:t>
            </a:r>
          </a:p>
          <a:p>
            <a:pPr algn="l"/>
            <a:r>
              <a:rPr sz="1400" b="0" i="0">
                <a:solidFill>
                  <a:srgbClr val="0D47A1"/>
                </a:solidFill>
                <a:latin typeface="Arial"/>
              </a:rPr>
              <a:t>[S] Fungsi</a:t>
            </a:r>
          </a:p>
          <a:p>
            <a:pPr algn="l" lvl="1"/>
            <a:r>
              <a:rPr sz="1400" b="0" i="0">
                <a:solidFill>
                  <a:srgbClr val="0D47A1"/>
                </a:solidFill>
                <a:latin typeface="Arial"/>
              </a:rPr>
              <a:t>[S] Mengawal akses, menetapkan sempadan hartanah, dan meningkatkan keselamatan.</a:t>
            </a:r>
          </a:p>
          <a:p>
            <a:pPr algn="l"/>
            <a:r>
              <a:rPr sz="1400" b="0" i="0">
                <a:solidFill>
                  <a:srgbClr val="0D47A1"/>
                </a:solidFill>
                <a:latin typeface="Arial"/>
              </a:rPr>
              <a:t>[S] Fokus Utama Kontraktor</a:t>
            </a:r>
          </a:p>
          <a:p>
            <a:pPr algn="l" lvl="1"/>
            <a:r>
              <a:rPr sz="1400" b="0" i="0">
                <a:solidFill>
                  <a:srgbClr val="0D47A1"/>
                </a:solidFill>
                <a:latin typeface="Arial"/>
              </a:rPr>
              <a:t>[S] Penjajaran Sempadan</a:t>
            </a:r>
          </a:p>
          <a:p>
            <a:pPr algn="l" lvl="2"/>
            <a:r>
              <a:rPr sz="1400" b="0" i="0">
                <a:solidFill>
                  <a:srgbClr val="0D47A1"/>
                </a:solidFill>
                <a:latin typeface="Arial"/>
              </a:rPr>
              <a:t>[S] Jajaran pagar mesti ditanda mengikut Pelan Ukur Sempadan untuk mengelakkan isu pencerobohan tanah.</a:t>
            </a:r>
          </a:p>
          <a:p>
            <a:pPr algn="l" lvl="1"/>
            <a:r>
              <a:rPr sz="1400" b="0" i="0">
                <a:solidFill>
                  <a:srgbClr val="0D47A1"/>
                </a:solidFill>
                <a:latin typeface="Arial"/>
              </a:rPr>
              <a:t>[S] Pemasangan Tiang</a:t>
            </a:r>
          </a:p>
          <a:p>
            <a:pPr algn="l" lvl="2"/>
            <a:r>
              <a:rPr sz="1400" b="0" i="0">
                <a:solidFill>
                  <a:srgbClr val="0D47A1"/>
                </a:solidFill>
                <a:latin typeface="Arial"/>
              </a:rPr>
              <a:t>[S] Kestabilan pagar bergantung pada tiangnya. Tiang mesti dipasang pada jarak yang seragam dan ditanam dalam tapak konkrit dengan saiz dan kedalaman yang mencukupi seperti dalam spesifikasi.</a:t>
            </a:r>
          </a:p>
          <a:p>
            <a:pPr algn="l" lvl="1"/>
            <a:r>
              <a:rPr sz="1400" b="0" i="0">
                <a:solidFill>
                  <a:srgbClr val="0D47A1"/>
                </a:solidFill>
                <a:latin typeface="Arial"/>
              </a:rPr>
              <a:t>[S] Ketegangan Pemasangan</a:t>
            </a:r>
          </a:p>
          <a:p>
            <a:pPr algn="l" lvl="2"/>
            <a:r>
              <a:rPr sz="1400" b="0" i="0">
                <a:solidFill>
                  <a:srgbClr val="0D47A1"/>
                </a:solidFill>
                <a:latin typeface="Arial"/>
              </a:rPr>
              <a:t>[S] Bagi pagar jenis jejaring (chain-link) atau BRC, ia mesti ditegangkan dengan sempurna untuk mengelakkannya daripada melendut.</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0">
                <a:solidFill>
                  <a:srgbClr val="1A1A1A"/>
                </a:solidFill>
                <a:latin typeface="Arial"/>
              </a:rPr>
              <a:t>click-to-reveal · 4 panel</a:t>
            </a:r>
          </a:p>
          <a:p>
            <a:pPr algn="l" lvl="1"/>
            <a:r>
              <a:rPr sz="900" b="0" i="0">
                <a:solidFill>
                  <a:srgbClr val="1A1A1A"/>
                </a:solidFill>
                <a:latin typeface="Arial"/>
              </a:rPr>
              <a:t>1. Penjajaran Sempadan</a:t>
            </a:r>
          </a:p>
          <a:p>
            <a:pPr algn="l" lvl="1"/>
            <a:r>
              <a:rPr sz="900" b="0" i="0">
                <a:solidFill>
                  <a:srgbClr val="1A1A1A"/>
                </a:solidFill>
                <a:latin typeface="Arial"/>
              </a:rPr>
              <a:t>2. Pemasangan Tiang</a:t>
            </a:r>
          </a:p>
          <a:p>
            <a:pPr algn="l" lvl="1"/>
            <a:r>
              <a:rPr sz="900" b="0" i="0">
                <a:solidFill>
                  <a:srgbClr val="1A1A1A"/>
                </a:solidFill>
                <a:latin typeface="Arial"/>
              </a:rPr>
              <a:t>3. Ketegangan Pemasangan</a:t>
            </a:r>
          </a:p>
          <a:p>
            <a:pPr algn="l" lvl="1"/>
            <a:r>
              <a:rPr sz="900" b="0" i="0">
                <a:solidFill>
                  <a:srgbClr val="1A1A1A"/>
                </a:solidFill>
                <a:latin typeface="Arial"/>
              </a:rPr>
              <a:t>4. Kemasan Anti-Karat</a:t>
            </a:r>
          </a:p>
          <a:p>
            <a:pPr algn="l"/>
            <a:r>
              <a:rPr sz="800" b="0" i="0">
                <a:solidFill>
                  <a:srgbClr val="1A1A1A"/>
                </a:solidFill>
                <a:latin typeface="Arial"/>
              </a:rPr>
              <a:t/>
            </a:r>
          </a:p>
          <a:p>
            <a:pPr algn="l"/>
            <a:r>
              <a:rPr sz="1000" b="1" i="0">
                <a:solidFill>
                  <a:srgbClr val="6B6B6B"/>
                </a:solidFill>
                <a:latin typeface="Arial"/>
              </a:rPr>
              <a:t>VISUAL</a:t>
            </a:r>
          </a:p>
          <a:p>
            <a:pPr algn="l"/>
            <a:r>
              <a:rPr sz="1000" b="0" i="1">
                <a:solidFill>
                  <a:srgbClr val="6B6B6B"/>
                </a:solidFill>
                <a:latin typeface="Arial"/>
              </a:rPr>
              <a:t>Tiada visual khusus</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Baris modul: T03B03-ROW-042, T03B03-ROW-043, T03B03-ROW-044, T03B03-ROW-046, T03B03-ROW-045, T03B03-ROW-047, T03B03-ROW-049, T03B03-ROW-051, T03B03-ROW-053, T03B03-ROW-048 (+3)</a:t>
            </a:r>
          </a:p>
          <a:p>
            <a:pPr algn="l"/>
            <a:r>
              <a:rPr sz="800" b="0" i="0">
                <a:solidFill>
                  <a:srgbClr val="6B6B6B"/>
                </a:solidFill>
                <a:latin typeface="Arial"/>
              </a:rPr>
              <a:t>Keputusan Bariah: A1, A2</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7 daripada 12  ·  halaman 1/2   ·   TECHNICAL_PROOF · DRAFT_FOR_BARIAH_REVIEW · NOT_INSTRUCTIONALLY_APPROVED · NOT_LEARNER_FACING_FINAL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T03B03-S07   ·   click-to-reveal   ·   CONTENT</a:t>
            </a:r>
          </a:p>
          <a:p>
            <a:pPr algn="l"/>
            <a:r>
              <a:rPr sz="2400" b="1" i="0">
                <a:solidFill>
                  <a:srgbClr val="1A1A1A"/>
                </a:solidFill>
                <a:latin typeface="Arial"/>
              </a:rPr>
              <a:t>Fencing   ·   halaman 2/2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 (sambungan)</a:t>
            </a:r>
          </a:p>
          <a:p>
            <a:pPr algn="l" lvl="1"/>
            <a:r>
              <a:rPr sz="1400" b="0" i="0">
                <a:solidFill>
                  <a:srgbClr val="0D47A1"/>
                </a:solidFill>
                <a:latin typeface="Arial"/>
              </a:rPr>
              <a:t>[S] Kemasan Anti-Karat</a:t>
            </a:r>
          </a:p>
          <a:p>
            <a:pPr algn="l" lvl="2"/>
            <a:r>
              <a:rPr sz="1400" b="0" i="0">
                <a:solidFill>
                  <a:srgbClr val="0D47A1"/>
                </a:solidFill>
                <a:latin typeface="Arial"/>
              </a:rPr>
              <a:t>[S] Pastikan semua komponen keluli mempunyai lapisan pelindung karat yang sempurna seperti tergalvani panas (hot-dip galvanized) atau cat epoksi.</a:t>
            </a:r>
          </a:p>
          <a:p>
            <a:pPr algn="l"/>
            <a:r>
              <a:rPr sz="1200" b="0" i="0">
                <a:solidFill>
                  <a:srgbClr val="6B6B6B"/>
                </a:solidFill>
                <a:latin typeface="Arial"/>
              </a:rPr>
              <a:t>[U] Klik setiap tajuk untuk memaparkan maklumat.</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0">
                <a:solidFill>
                  <a:srgbClr val="1A1A1A"/>
                </a:solidFill>
                <a:latin typeface="Arial"/>
              </a:rPr>
              <a:t>click-to-reveal · 4 panel</a:t>
            </a:r>
          </a:p>
          <a:p>
            <a:pPr algn="l" lvl="1"/>
            <a:r>
              <a:rPr sz="900" b="0" i="0">
                <a:solidFill>
                  <a:srgbClr val="1A1A1A"/>
                </a:solidFill>
                <a:latin typeface="Arial"/>
              </a:rPr>
              <a:t>1. Penjajaran Sempadan</a:t>
            </a:r>
          </a:p>
          <a:p>
            <a:pPr algn="l" lvl="1"/>
            <a:r>
              <a:rPr sz="900" b="0" i="0">
                <a:solidFill>
                  <a:srgbClr val="1A1A1A"/>
                </a:solidFill>
                <a:latin typeface="Arial"/>
              </a:rPr>
              <a:t>2. Pemasangan Tiang</a:t>
            </a:r>
          </a:p>
          <a:p>
            <a:pPr algn="l" lvl="1"/>
            <a:r>
              <a:rPr sz="900" b="0" i="0">
                <a:solidFill>
                  <a:srgbClr val="1A1A1A"/>
                </a:solidFill>
                <a:latin typeface="Arial"/>
              </a:rPr>
              <a:t>3. Ketegangan Pemasangan</a:t>
            </a:r>
          </a:p>
          <a:p>
            <a:pPr algn="l" lvl="1"/>
            <a:r>
              <a:rPr sz="900" b="0" i="0">
                <a:solidFill>
                  <a:srgbClr val="1A1A1A"/>
                </a:solidFill>
                <a:latin typeface="Arial"/>
              </a:rPr>
              <a:t>4. Kemasan Anti-Karat</a:t>
            </a:r>
          </a:p>
          <a:p>
            <a:pPr algn="l"/>
            <a:r>
              <a:rPr sz="800" b="0" i="0">
                <a:solidFill>
                  <a:srgbClr val="1A1A1A"/>
                </a:solidFill>
                <a:latin typeface="Arial"/>
              </a:rPr>
              <a:t/>
            </a:r>
          </a:p>
          <a:p>
            <a:pPr algn="l"/>
            <a:r>
              <a:rPr sz="1000" b="1" i="0">
                <a:solidFill>
                  <a:srgbClr val="6B6B6B"/>
                </a:solidFill>
                <a:latin typeface="Arial"/>
              </a:rPr>
              <a:t>VISUAL</a:t>
            </a:r>
          </a:p>
          <a:p>
            <a:pPr algn="l"/>
            <a:r>
              <a:rPr sz="1000" b="0" i="1">
                <a:solidFill>
                  <a:srgbClr val="6B6B6B"/>
                </a:solidFill>
                <a:latin typeface="Arial"/>
              </a:rPr>
              <a:t>Tiada visual khusus</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Baris modul: T03B03-ROW-042, T03B03-ROW-043, T03B03-ROW-044, T03B03-ROW-046, T03B03-ROW-045, T03B03-ROW-047, T03B03-ROW-049, T03B03-ROW-051, T03B03-ROW-053, T03B03-ROW-048 (+3)</a:t>
            </a:r>
          </a:p>
          <a:p>
            <a:pPr algn="l"/>
            <a:r>
              <a:rPr sz="800" b="0" i="0">
                <a:solidFill>
                  <a:srgbClr val="6B6B6B"/>
                </a:solidFill>
                <a:latin typeface="Arial"/>
              </a:rPr>
              <a:t>Keputusan Bariah: A1, A2</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7 daripada 12  ·  halaman 2/2   ·   TECHNICAL_PROOF · DRAFT_FOR_BARIAH_REVIEW · NOT_INSTRUCTIONALLY_APPROVED · NOT_LEARNER_FACING_FINAL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T03B03-S08   ·   click-to-reveal   ·   CONTENT</a:t>
            </a:r>
          </a:p>
          <a:p>
            <a:pPr algn="l"/>
            <a:r>
              <a:rPr sz="2400" b="1" i="0">
                <a:solidFill>
                  <a:srgbClr val="1A1A1A"/>
                </a:solidFill>
                <a:latin typeface="Arial"/>
              </a:rPr>
              <a:t>Swale/ Natural Drain</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a:t>
            </a:r>
          </a:p>
          <a:p>
            <a:pPr algn="l"/>
            <a:r>
              <a:rPr sz="1400" b="0" i="0">
                <a:solidFill>
                  <a:srgbClr val="0D47A1"/>
                </a:solidFill>
                <a:latin typeface="Arial"/>
              </a:rPr>
              <a:t>[S] Swale/ Natural Drain</a:t>
            </a:r>
          </a:p>
          <a:p>
            <a:pPr algn="l"/>
            <a:r>
              <a:rPr sz="1400" b="0" i="0">
                <a:solidFill>
                  <a:srgbClr val="0D47A1"/>
                </a:solidFill>
                <a:latin typeface="Arial"/>
              </a:rPr>
              <a:t>[S] Swale adalah sejenis parit yang cetek, lebar, dan ditanami dengan rumput atau tumbuhan. Ia merupakan alternatif mesra alam kepada parit konkrit.</a:t>
            </a:r>
          </a:p>
          <a:p>
            <a:pPr algn="l"/>
            <a:r>
              <a:rPr sz="1400" b="0" i="0">
                <a:solidFill>
                  <a:srgbClr val="0D47A1"/>
                </a:solidFill>
                <a:latin typeface="Arial"/>
              </a:rPr>
              <a:t>[S~] Swale ialah parit cetek dan lebar yang ditanami tumbuhan, alternatif kepada longkang konkrit, yang memperlahankan aliran dan menggalakkan penyerapan.</a:t>
            </a:r>
          </a:p>
          <a:p>
            <a:pPr algn="l"/>
            <a:r>
              <a:rPr sz="1400" b="0" i="0">
                <a:solidFill>
                  <a:srgbClr val="0D47A1"/>
                </a:solidFill>
                <a:latin typeface="Arial"/>
              </a:rPr>
              <a:t>[S] Fungsi</a:t>
            </a:r>
          </a:p>
          <a:p>
            <a:pPr algn="l" lvl="1"/>
            <a:r>
              <a:rPr sz="1400" b="0" i="0">
                <a:solidFill>
                  <a:srgbClr val="0D47A1"/>
                </a:solidFill>
                <a:latin typeface="Arial"/>
              </a:rPr>
              <a:t>[S] Menguruskan aliran air larian permukaan dengan memperlahankannya, menggalakkan penyerapan air ke dalam tanah, dan menapis bahan cemar.</a:t>
            </a:r>
          </a:p>
          <a:p>
            <a:pPr algn="l"/>
            <a:r>
              <a:rPr sz="1400" b="0" i="0">
                <a:solidFill>
                  <a:srgbClr val="0D47A1"/>
                </a:solidFill>
                <a:latin typeface="Arial"/>
              </a:rPr>
              <a:t>[S] Fokus Utama Kontraktor:</a:t>
            </a:r>
          </a:p>
          <a:p>
            <a:pPr algn="l" lvl="1"/>
            <a:r>
              <a:rPr sz="1400" b="0" i="0">
                <a:solidFill>
                  <a:srgbClr val="0D47A1"/>
                </a:solidFill>
                <a:latin typeface="Arial"/>
              </a:rPr>
              <a:t>[S] Pembentukan Landskap</a:t>
            </a:r>
          </a:p>
          <a:p>
            <a:pPr algn="l" lvl="2"/>
            <a:r>
              <a:rPr sz="1400" b="0" i="0">
                <a:solidFill>
                  <a:srgbClr val="0D47A1"/>
                </a:solidFill>
                <a:latin typeface="Arial"/>
              </a:rPr>
              <a:t>[S] Swale dibentuk melalui kerja penggalian yang minimum untuk menghasilkan satu lekukan yang landai dan lebar, bukannya parit yang dalam dan curam.</a:t>
            </a:r>
          </a:p>
          <a:p>
            <a:pPr algn="l" lvl="1"/>
            <a:r>
              <a:rPr sz="1400" b="0" i="0">
                <a:solidFill>
                  <a:srgbClr val="0D47A1"/>
                </a:solidFill>
                <a:latin typeface="Arial"/>
              </a:rPr>
              <a:t>[S] Penanaman Tumbuhan</a:t>
            </a:r>
          </a:p>
          <a:p>
            <a:pPr algn="l" lvl="2"/>
            <a:r>
              <a:rPr sz="1400" b="0" i="0">
                <a:solidFill>
                  <a:srgbClr val="0D47A1"/>
                </a:solidFill>
                <a:latin typeface="Arial"/>
              </a:rPr>
              <a:t>[S] Permukaan swale mesti ditanam dengan spesies rumput atau tumbuhan tahan air yang sesuai. Tumbuh-tumbuhan ini berfungsi untuk menstabilkan tanah, mengelakkan hakisan, dan membantu dalam proses penapisan air.</a:t>
            </a:r>
          </a:p>
          <a:p>
            <a:pPr algn="l"/>
            <a:r>
              <a:rPr sz="1200" b="0" i="0">
                <a:solidFill>
                  <a:srgbClr val="6B6B6B"/>
                </a:solidFill>
                <a:latin typeface="Arial"/>
              </a:rPr>
              <a:t>[U] Klik setiap tajuk untuk memaparkan maklumat.</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0">
                <a:solidFill>
                  <a:srgbClr val="1A1A1A"/>
                </a:solidFill>
                <a:latin typeface="Arial"/>
              </a:rPr>
              <a:t>click-to-reveal · 2 panel</a:t>
            </a:r>
          </a:p>
          <a:p>
            <a:pPr algn="l" lvl="1"/>
            <a:r>
              <a:rPr sz="900" b="0" i="0">
                <a:solidFill>
                  <a:srgbClr val="1A1A1A"/>
                </a:solidFill>
                <a:latin typeface="Arial"/>
              </a:rPr>
              <a:t>1. Pembentukan Landskap</a:t>
            </a:r>
          </a:p>
          <a:p>
            <a:pPr algn="l" lvl="1"/>
            <a:r>
              <a:rPr sz="900" b="0" i="0">
                <a:solidFill>
                  <a:srgbClr val="1A1A1A"/>
                </a:solidFill>
                <a:latin typeface="Arial"/>
              </a:rPr>
              <a:t>2. Penanaman Tumbuhan</a:t>
            </a:r>
          </a:p>
          <a:p>
            <a:pPr algn="l"/>
            <a:r>
              <a:rPr sz="800" b="0" i="0">
                <a:solidFill>
                  <a:srgbClr val="1A1A1A"/>
                </a:solidFill>
                <a:latin typeface="Arial"/>
              </a:rPr>
              <a:t/>
            </a:r>
          </a:p>
          <a:p>
            <a:pPr algn="l"/>
            <a:r>
              <a:rPr sz="1000" b="1" i="0">
                <a:solidFill>
                  <a:srgbClr val="6B6B6B"/>
                </a:solidFill>
                <a:latin typeface="Arial"/>
              </a:rPr>
              <a:t>VISUAL</a:t>
            </a:r>
          </a:p>
          <a:p>
            <a:pPr algn="l"/>
            <a:r>
              <a:rPr sz="1000" b="0" i="0">
                <a:solidFill>
                  <a:srgbClr val="1A1A1A"/>
                </a:solidFill>
                <a:latin typeface="Arial"/>
              </a:rPr>
              <a:t>Keratan rentas swale bertanam</a:t>
            </a:r>
          </a:p>
          <a:p>
            <a:pPr algn="l"/>
            <a:r>
              <a:rPr sz="900" b="0" i="0">
                <a:solidFill>
                  <a:srgbClr val="6B6B6B"/>
                </a:solidFill>
                <a:latin typeface="Arial"/>
              </a:rPr>
              <a:t>Tiada rajah sumber — subjek calon sahaja</a:t>
            </a:r>
          </a:p>
          <a:p>
            <a:pPr algn="l"/>
            <a:r>
              <a:rPr sz="900" b="1" i="0">
                <a:solidFill>
                  <a:srgbClr val="B71C1C"/>
                </a:solidFill>
                <a:latin typeface="Arial"/>
              </a:rPr>
              <a:t>SUBJEK VISUAL: PENDING_BARIAH_UNIT_REVIEW</a:t>
            </a:r>
          </a:p>
          <a:p>
            <a:pPr algn="l"/>
            <a:r>
              <a:rPr sz="900" b="1" i="0">
                <a:solidFill>
                  <a:srgbClr val="B71C1C"/>
                </a:solidFill>
                <a:latin typeface="Arial"/>
              </a:rPr>
              <a:t>ASET VISUAL BELUM DIHASILKAN — NOT_MMD_ASSET</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Baris modul: T03B03-ROW-055, T03B03-ROW-056, T03B03-ROW-057, T03B03-ROW-059, T03B03-ROW-058, T03B03-ROW-060, T03B03-ROW-062, T03B03-ROW-061, T03B03-ROW-063</a:t>
            </a:r>
          </a:p>
          <a:p>
            <a:pPr algn="l"/>
            <a:r>
              <a:rPr sz="800" b="0" i="0">
                <a:solidFill>
                  <a:srgbClr val="6B6B6B"/>
                </a:solidFill>
                <a:latin typeface="Arial"/>
              </a:rPr>
              <a:t>Keputusan Bariah: A1, A2</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8 daripada 12   ·   TECHNICAL_PROOF · DRAFT_FOR_BARIAH_REVIEW · NOT_INSTRUCTIONALLY_APPROVED · NOT_LEARNER_FACING_FINAL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T03B03-S09   ·   click-to-reveal   ·   CONTENT</a:t>
            </a:r>
          </a:p>
          <a:p>
            <a:pPr algn="l"/>
            <a:r>
              <a:rPr sz="2400" b="1" i="0">
                <a:solidFill>
                  <a:srgbClr val="1A1A1A"/>
                </a:solidFill>
                <a:latin typeface="Arial"/>
              </a:rPr>
              <a:t>Jalan akses   ·   halaman 1/2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a:t>
            </a:r>
          </a:p>
          <a:p>
            <a:pPr algn="l"/>
            <a:r>
              <a:rPr sz="1400" b="0" i="0">
                <a:solidFill>
                  <a:srgbClr val="0D47A1"/>
                </a:solidFill>
                <a:latin typeface="Arial"/>
              </a:rPr>
              <a:t>[S] Jalan akses</a:t>
            </a:r>
          </a:p>
          <a:p>
            <a:pPr algn="l"/>
            <a:r>
              <a:rPr sz="1400" b="0" i="0">
                <a:solidFill>
                  <a:srgbClr val="0D47A1"/>
                </a:solidFill>
                <a:latin typeface="Arial"/>
              </a:rPr>
              <a:t>[S] Jalan akses dalam konteks landskap menyediakan laluan untuk kenderaan penyelenggaraan atau laluan pejalan kaki utama.</a:t>
            </a:r>
          </a:p>
          <a:p>
            <a:pPr algn="l"/>
            <a:r>
              <a:rPr sz="1400" b="0" i="0">
                <a:solidFill>
                  <a:srgbClr val="0D47A1"/>
                </a:solidFill>
                <a:latin typeface="Arial"/>
              </a:rPr>
              <a:t>[S~] Permukaan jalan akses dibina dengan kamber — kecerunan melintang dari tengah ke tepi — supaya air tidak bertakung.</a:t>
            </a:r>
          </a:p>
          <a:p>
            <a:pPr algn="l"/>
            <a:r>
              <a:rPr sz="1400" b="0" i="0">
                <a:solidFill>
                  <a:srgbClr val="0D47A1"/>
                </a:solidFill>
                <a:latin typeface="Arial"/>
              </a:rPr>
              <a:t>[S] Fungsi</a:t>
            </a:r>
          </a:p>
          <a:p>
            <a:pPr algn="l" lvl="1"/>
            <a:r>
              <a:rPr sz="1400" b="0" i="0">
                <a:solidFill>
                  <a:srgbClr val="0D47A1"/>
                </a:solidFill>
                <a:latin typeface="Arial"/>
              </a:rPr>
              <a:t>[S] Menyediakan perhubungan dan akses ke seluruh kawasan tapak.</a:t>
            </a:r>
          </a:p>
          <a:p>
            <a:pPr algn="l"/>
            <a:r>
              <a:rPr sz="1400" b="0" i="0">
                <a:solidFill>
                  <a:srgbClr val="0D47A1"/>
                </a:solidFill>
                <a:latin typeface="Arial"/>
              </a:rPr>
              <a:t>[S] Fokus Utama Kontraktor</a:t>
            </a:r>
          </a:p>
          <a:p>
            <a:pPr algn="l" lvl="1"/>
            <a:r>
              <a:rPr sz="1400" b="0" i="0">
                <a:solidFill>
                  <a:srgbClr val="0D47A1"/>
                </a:solidFill>
                <a:latin typeface="Arial"/>
              </a:rPr>
              <a:t>[S] Penyediaan Tapak Asas (Sub-base)</a:t>
            </a:r>
          </a:p>
          <a:p>
            <a:pPr algn="l" lvl="2"/>
            <a:r>
              <a:rPr sz="1400" b="0" i="0">
                <a:solidFill>
                  <a:srgbClr val="0D47A1"/>
                </a:solidFill>
                <a:latin typeface="Arial"/>
              </a:rPr>
              <a:t>[S] Kualiti jalan bergantung pada tapak asasnya. Lapisan tanah asal mesti dipadatkan, diikuti dengan lapisan batu kasaran (crusher run) yang dipadatkan mengikut ketebalan yang ditetapkan dalam lukisan.</a:t>
            </a:r>
          </a:p>
          <a:p>
            <a:pPr algn="l" lvl="1"/>
            <a:r>
              <a:rPr sz="1400" b="0" i="0">
                <a:solidFill>
                  <a:srgbClr val="0D47A1"/>
                </a:solidFill>
                <a:latin typeface="Arial"/>
              </a:rPr>
              <a:t>[S] Pemasangan Bebendul (Kerb)</a:t>
            </a:r>
          </a:p>
          <a:p>
            <a:pPr algn="l" lvl="2"/>
            <a:r>
              <a:rPr sz="1400" b="0" i="0">
                <a:solidFill>
                  <a:srgbClr val="0D47A1"/>
                </a:solidFill>
                <a:latin typeface="Arial"/>
              </a:rPr>
              <a:t>[S] Bebendul konkrit dipasang di kedua-dua belah jalan untuk menetapkan jajaran dan menahan lapisan permukaan.</a:t>
            </a:r>
          </a:p>
          <a:p>
            <a:pPr algn="l" lvl="1"/>
            <a:r>
              <a:rPr sz="1400" b="0" i="0">
                <a:solidFill>
                  <a:srgbClr val="0D47A1"/>
                </a:solidFill>
                <a:latin typeface="Arial"/>
              </a:rPr>
              <a:t>[S] Lapisan Permukaan</a:t>
            </a:r>
          </a:p>
          <a:p>
            <a:pPr algn="l" lvl="2"/>
            <a:r>
              <a:rPr sz="1400" b="0" i="0">
                <a:solidFill>
                  <a:srgbClr val="0D47A1"/>
                </a:solidFill>
                <a:latin typeface="Arial"/>
              </a:rPr>
              <a:t>[S] Permukaan akhir boleh terdiri daripada pelbagai bahan seperti premix/asphalt, blok turapan (interlocking pavers), atau konkrit bertetulang, dan mesti dibina mengikut spesifikasi yang betul.</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0">
                <a:solidFill>
                  <a:srgbClr val="1A1A1A"/>
                </a:solidFill>
                <a:latin typeface="Arial"/>
              </a:rPr>
              <a:t>click-to-reveal · 4 panel</a:t>
            </a:r>
          </a:p>
          <a:p>
            <a:pPr algn="l" lvl="1"/>
            <a:r>
              <a:rPr sz="900" b="0" i="0">
                <a:solidFill>
                  <a:srgbClr val="1A1A1A"/>
                </a:solidFill>
                <a:latin typeface="Arial"/>
              </a:rPr>
              <a:t>1. Penyediaan Tapak Asas (Sub-base)</a:t>
            </a:r>
          </a:p>
          <a:p>
            <a:pPr algn="l" lvl="1"/>
            <a:r>
              <a:rPr sz="900" b="0" i="0">
                <a:solidFill>
                  <a:srgbClr val="1A1A1A"/>
                </a:solidFill>
                <a:latin typeface="Arial"/>
              </a:rPr>
              <a:t>2. Pemasangan Bebendul (Kerb)</a:t>
            </a:r>
          </a:p>
          <a:p>
            <a:pPr algn="l" lvl="1"/>
            <a:r>
              <a:rPr sz="900" b="0" i="0">
                <a:solidFill>
                  <a:srgbClr val="1A1A1A"/>
                </a:solidFill>
                <a:latin typeface="Arial"/>
              </a:rPr>
              <a:t>3. Lapisan Permukaan</a:t>
            </a:r>
          </a:p>
          <a:p>
            <a:pPr algn="l" lvl="1"/>
            <a:r>
              <a:rPr sz="900" b="0" i="0">
                <a:solidFill>
                  <a:srgbClr val="1A1A1A"/>
                </a:solidFill>
                <a:latin typeface="Arial"/>
              </a:rPr>
              <a:t>4. Kamber (Camber)</a:t>
            </a:r>
          </a:p>
          <a:p>
            <a:pPr algn="l"/>
            <a:r>
              <a:rPr sz="800" b="0" i="0">
                <a:solidFill>
                  <a:srgbClr val="1A1A1A"/>
                </a:solidFill>
                <a:latin typeface="Arial"/>
              </a:rPr>
              <a:t/>
            </a:r>
          </a:p>
          <a:p>
            <a:pPr algn="l"/>
            <a:r>
              <a:rPr sz="1000" b="1" i="0">
                <a:solidFill>
                  <a:srgbClr val="6B6B6B"/>
                </a:solidFill>
                <a:latin typeface="Arial"/>
              </a:rPr>
              <a:t>VISUAL</a:t>
            </a:r>
          </a:p>
          <a:p>
            <a:pPr algn="l"/>
            <a:r>
              <a:rPr sz="1000" b="0" i="0">
                <a:solidFill>
                  <a:srgbClr val="1A1A1A"/>
                </a:solidFill>
                <a:latin typeface="Arial"/>
              </a:rPr>
              <a:t>Susunan lapisan jalan akses: sub-base, bebendul, permukaan, kamber</a:t>
            </a:r>
          </a:p>
          <a:p>
            <a:pPr algn="l"/>
            <a:r>
              <a:rPr sz="900" b="0" i="0">
                <a:solidFill>
                  <a:srgbClr val="6B6B6B"/>
                </a:solidFill>
                <a:latin typeface="Arial"/>
              </a:rPr>
              <a:t>Tiada rajah sumber — subjek calon sahaja</a:t>
            </a:r>
          </a:p>
          <a:p>
            <a:pPr algn="l"/>
            <a:r>
              <a:rPr sz="900" b="1" i="0">
                <a:solidFill>
                  <a:srgbClr val="B71C1C"/>
                </a:solidFill>
                <a:latin typeface="Arial"/>
              </a:rPr>
              <a:t>SUBJEK VISUAL: PENDING_BARIAH_UNIT_REVIEW</a:t>
            </a:r>
          </a:p>
          <a:p>
            <a:pPr algn="l"/>
            <a:r>
              <a:rPr sz="900" b="1" i="0">
                <a:solidFill>
                  <a:srgbClr val="B71C1C"/>
                </a:solidFill>
                <a:latin typeface="Arial"/>
              </a:rPr>
              <a:t>ASET VISUAL BELUM DIHASILKAN — NOT_MMD_ASSET</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Baris modul: T03B03-ROW-064, T03B03-ROW-065, T03B03-ROW-066, T03B03-ROW-068, T03B03-ROW-067, T03B03-ROW-069, T03B03-ROW-071, T03B03-ROW-073, T03B03-ROW-075, T03B03-ROW-070 (+3)</a:t>
            </a:r>
          </a:p>
          <a:p>
            <a:pPr algn="l"/>
            <a:r>
              <a:rPr sz="800" b="0" i="0">
                <a:solidFill>
                  <a:srgbClr val="6B6B6B"/>
                </a:solidFill>
                <a:latin typeface="Arial"/>
              </a:rPr>
              <a:t>Keputusan Bariah: A1, A2</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9 daripada 12  ·  halaman 1/2   ·   TECHNICAL_PROOF · DRAFT_FOR_BARIAH_REVIEW · NOT_INSTRUCTIONALLY_APPROVED · NOT_LEARNER_FACING_FINAL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T03B03-S09   ·   click-to-reveal   ·   CONTENT</a:t>
            </a:r>
          </a:p>
          <a:p>
            <a:pPr algn="l"/>
            <a:r>
              <a:rPr sz="2400" b="1" i="0">
                <a:solidFill>
                  <a:srgbClr val="1A1A1A"/>
                </a:solidFill>
                <a:latin typeface="Arial"/>
              </a:rPr>
              <a:t>Jalan akses   ·   halaman 2/2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 (sambungan)</a:t>
            </a:r>
          </a:p>
          <a:p>
            <a:pPr algn="l" lvl="1"/>
            <a:r>
              <a:rPr sz="1400" b="0" i="0">
                <a:solidFill>
                  <a:srgbClr val="0D47A1"/>
                </a:solidFill>
                <a:latin typeface="Arial"/>
              </a:rPr>
              <a:t>[S] Kamber (Camber)</a:t>
            </a:r>
          </a:p>
          <a:p>
            <a:pPr algn="l" lvl="2"/>
            <a:r>
              <a:rPr sz="1400" b="0" i="0">
                <a:solidFill>
                  <a:srgbClr val="0D47A1"/>
                </a:solidFill>
                <a:latin typeface="Arial"/>
              </a:rPr>
              <a:t>[S] Permukaan jalan mesti dibina dengan sedikit kecerunan melintang dari bahagian tengah ke tepi untuk memastikan air hujan mengalir ke sistem perparitan.</a:t>
            </a:r>
          </a:p>
          <a:p>
            <a:pPr algn="l"/>
            <a:r>
              <a:rPr sz="1200" b="0" i="0">
                <a:solidFill>
                  <a:srgbClr val="6B6B6B"/>
                </a:solidFill>
                <a:latin typeface="Arial"/>
              </a:rPr>
              <a:t>[U] Klik setiap tajuk untuk memaparkan maklumat.</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0">
                <a:solidFill>
                  <a:srgbClr val="1A1A1A"/>
                </a:solidFill>
                <a:latin typeface="Arial"/>
              </a:rPr>
              <a:t>click-to-reveal · 4 panel</a:t>
            </a:r>
          </a:p>
          <a:p>
            <a:pPr algn="l" lvl="1"/>
            <a:r>
              <a:rPr sz="900" b="0" i="0">
                <a:solidFill>
                  <a:srgbClr val="1A1A1A"/>
                </a:solidFill>
                <a:latin typeface="Arial"/>
              </a:rPr>
              <a:t>1. Penyediaan Tapak Asas (Sub-base)</a:t>
            </a:r>
          </a:p>
          <a:p>
            <a:pPr algn="l" lvl="1"/>
            <a:r>
              <a:rPr sz="900" b="0" i="0">
                <a:solidFill>
                  <a:srgbClr val="1A1A1A"/>
                </a:solidFill>
                <a:latin typeface="Arial"/>
              </a:rPr>
              <a:t>2. Pemasangan Bebendul (Kerb)</a:t>
            </a:r>
          </a:p>
          <a:p>
            <a:pPr algn="l" lvl="1"/>
            <a:r>
              <a:rPr sz="900" b="0" i="0">
                <a:solidFill>
                  <a:srgbClr val="1A1A1A"/>
                </a:solidFill>
                <a:latin typeface="Arial"/>
              </a:rPr>
              <a:t>3. Lapisan Permukaan</a:t>
            </a:r>
          </a:p>
          <a:p>
            <a:pPr algn="l" lvl="1"/>
            <a:r>
              <a:rPr sz="900" b="0" i="0">
                <a:solidFill>
                  <a:srgbClr val="1A1A1A"/>
                </a:solidFill>
                <a:latin typeface="Arial"/>
              </a:rPr>
              <a:t>4. Kamber (Camber)</a:t>
            </a:r>
          </a:p>
          <a:p>
            <a:pPr algn="l"/>
            <a:r>
              <a:rPr sz="800" b="0" i="0">
                <a:solidFill>
                  <a:srgbClr val="1A1A1A"/>
                </a:solidFill>
                <a:latin typeface="Arial"/>
              </a:rPr>
              <a:t/>
            </a:r>
          </a:p>
          <a:p>
            <a:pPr algn="l"/>
            <a:r>
              <a:rPr sz="1000" b="1" i="0">
                <a:solidFill>
                  <a:srgbClr val="6B6B6B"/>
                </a:solidFill>
                <a:latin typeface="Arial"/>
              </a:rPr>
              <a:t>VISUAL</a:t>
            </a:r>
          </a:p>
          <a:p>
            <a:pPr algn="l"/>
            <a:r>
              <a:rPr sz="1000" b="0" i="0">
                <a:solidFill>
                  <a:srgbClr val="1A1A1A"/>
                </a:solidFill>
                <a:latin typeface="Arial"/>
              </a:rPr>
              <a:t>Susunan lapisan jalan akses: sub-base, bebendul, permukaan, kamber</a:t>
            </a:r>
          </a:p>
          <a:p>
            <a:pPr algn="l"/>
            <a:r>
              <a:rPr sz="900" b="0" i="0">
                <a:solidFill>
                  <a:srgbClr val="6B6B6B"/>
                </a:solidFill>
                <a:latin typeface="Arial"/>
              </a:rPr>
              <a:t>Tiada rajah sumber — subjek calon sahaja</a:t>
            </a:r>
          </a:p>
          <a:p>
            <a:pPr algn="l"/>
            <a:r>
              <a:rPr sz="900" b="1" i="0">
                <a:solidFill>
                  <a:srgbClr val="B71C1C"/>
                </a:solidFill>
                <a:latin typeface="Arial"/>
              </a:rPr>
              <a:t>SUBJEK VISUAL: PENDING_BARIAH_UNIT_REVIEW</a:t>
            </a:r>
          </a:p>
          <a:p>
            <a:pPr algn="l"/>
            <a:r>
              <a:rPr sz="900" b="1" i="0">
                <a:solidFill>
                  <a:srgbClr val="B71C1C"/>
                </a:solidFill>
                <a:latin typeface="Arial"/>
              </a:rPr>
              <a:t>ASET VISUAL BELUM DIHASILKAN — NOT_MMD_ASSET</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Baris modul: T03B03-ROW-064, T03B03-ROW-065, T03B03-ROW-066, T03B03-ROW-068, T03B03-ROW-067, T03B03-ROW-069, T03B03-ROW-071, T03B03-ROW-073, T03B03-ROW-075, T03B03-ROW-070 (+3)</a:t>
            </a:r>
          </a:p>
          <a:p>
            <a:pPr algn="l"/>
            <a:r>
              <a:rPr sz="800" b="0" i="0">
                <a:solidFill>
                  <a:srgbClr val="6B6B6B"/>
                </a:solidFill>
                <a:latin typeface="Arial"/>
              </a:rPr>
              <a:t>Keputusan Bariah: A1, A2</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9 daripada 12  ·  halaman 2/2   ·   TECHNICAL_PROOF · DRAFT_FOR_BARIAH_REVIEW · NOT_INSTRUCTIONALLY_APPROVED · NOT_LEARNER_FACING_FINAL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T03B03-S10   ·   static content   ·   RUMUSAN</a:t>
            </a:r>
          </a:p>
          <a:p>
            <a:pPr algn="l"/>
            <a:r>
              <a:rPr sz="2400" b="1" i="0">
                <a:solidFill>
                  <a:srgbClr val="1A1A1A"/>
                </a:solidFill>
                <a:latin typeface="Arial"/>
              </a:rPr>
              <a:t>Rumusan</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a:t>
            </a:r>
          </a:p>
          <a:p>
            <a:pPr algn="l"/>
            <a:r>
              <a:rPr sz="1400" b="0" i="0">
                <a:solidFill>
                  <a:srgbClr val="6A1B9A"/>
                </a:solidFill>
                <a:latin typeface="Arial"/>
              </a:rPr>
              <a:t>[R] Kepentingan: Enam komponen infrastruktur landskap dan fungsi setiap satu.</a:t>
            </a:r>
          </a:p>
          <a:p>
            <a:pPr algn="l"/>
            <a:r>
              <a:rPr sz="1400" b="0" i="0">
                <a:solidFill>
                  <a:srgbClr val="6A1B9A"/>
                </a:solidFill>
                <a:latin typeface="Arial"/>
              </a:rPr>
              <a:t>[R] Skop dan Isi Utama: Titik kegagalan yang paling kerap bagi setiap komponen.</a:t>
            </a:r>
          </a:p>
          <a:p>
            <a:pPr algn="l"/>
            <a:r>
              <a:rPr sz="1400" b="0" i="0">
                <a:solidFill>
                  <a:srgbClr val="6A1B9A"/>
                </a:solidFill>
                <a:latin typeface="Arial"/>
              </a:rPr>
              <a:t>[R] Manfaat: Dokumen kawalan yang mengikat kontraktor: lukisan struktur, pelan ukur, pelan saliran.</a:t>
            </a:r>
          </a:p>
          <a:p>
            <a:pPr algn="l"/>
            <a:r>
              <a:rPr sz="1400" b="0" i="0">
                <a:solidFill>
                  <a:srgbClr val="B71C1C"/>
                </a:solidFill>
                <a:latin typeface="Arial"/>
              </a:rPr>
              <a:t>[P] MONTAJ RUMUSAN · PROVISIONAL_VISUAL_DIRECTION · PENDING_BARIAH_UNIT_REVIEW · NOT_MMD_ASSET</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1">
                <a:solidFill>
                  <a:srgbClr val="6B6B6B"/>
                </a:solidFill>
                <a:latin typeface="Arial"/>
              </a:rPr>
              <a:t>Tiada interaksi — skrin statik</a:t>
            </a:r>
          </a:p>
          <a:p>
            <a:pPr algn="l"/>
            <a:r>
              <a:rPr sz="800" b="0" i="0">
                <a:solidFill>
                  <a:srgbClr val="1A1A1A"/>
                </a:solidFill>
                <a:latin typeface="Arial"/>
              </a:rPr>
              <a:t/>
            </a:r>
          </a:p>
          <a:p>
            <a:pPr algn="l"/>
            <a:r>
              <a:rPr sz="1000" b="1" i="0">
                <a:solidFill>
                  <a:srgbClr val="6B6B6B"/>
                </a:solidFill>
                <a:latin typeface="Arial"/>
              </a:rPr>
              <a:t>VISUAL</a:t>
            </a:r>
          </a:p>
          <a:p>
            <a:pPr algn="l"/>
            <a:r>
              <a:rPr sz="1000" b="0" i="0">
                <a:solidFill>
                  <a:srgbClr val="1A1A1A"/>
                </a:solidFill>
                <a:latin typeface="Arial"/>
              </a:rPr>
              <a:t>Montaj tiga komponen mengikut tiga beat Rumusan</a:t>
            </a:r>
          </a:p>
          <a:p>
            <a:pPr algn="l"/>
            <a:r>
              <a:rPr sz="900" b="0" i="0">
                <a:solidFill>
                  <a:srgbClr val="6B6B6B"/>
                </a:solidFill>
                <a:latin typeface="Arial"/>
              </a:rPr>
              <a:t>Tiada rajah sumber — subjek calon sahaja</a:t>
            </a:r>
          </a:p>
          <a:p>
            <a:pPr algn="l"/>
            <a:r>
              <a:rPr sz="900" b="1" i="0">
                <a:solidFill>
                  <a:srgbClr val="B71C1C"/>
                </a:solidFill>
                <a:latin typeface="Arial"/>
              </a:rPr>
              <a:t>PROVISIONAL_VISUAL_DIRECTION · PENDING_BARIAH_UNIT_REVIEW · NOT_MMD_ASSET</a:t>
            </a:r>
          </a:p>
          <a:p>
            <a:pPr algn="l"/>
            <a:r>
              <a:rPr sz="900" b="1" i="0">
                <a:solidFill>
                  <a:srgbClr val="B71C1C"/>
                </a:solidFill>
                <a:latin typeface="Arial"/>
              </a:rPr>
              <a:t>ASET VISUAL BELUM DIHASILKAN — NOT_MMD_ASSET</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Skrin struktur — tiada baris modul</a:t>
            </a:r>
          </a:p>
          <a:p>
            <a:pPr algn="l"/>
            <a:r>
              <a:rPr sz="800" b="0" i="0">
                <a:solidFill>
                  <a:srgbClr val="6B6B6B"/>
                </a:solidFill>
                <a:latin typeface="Arial"/>
              </a:rPr>
              <a:t>Keputusan Bariah: A6</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10 daripada 12   ·   TECHNICAL_PROOF · DRAFT_FOR_BARIAH_REVIEW · NOT_INSTRUCTIONALLY_APPROVED · NOT_LEARNER_FACING_FINAL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T03B03-S11   ·   static content   ·   KUIZ</a:t>
            </a:r>
          </a:p>
          <a:p>
            <a:pPr algn="l"/>
            <a:r>
              <a:rPr sz="2400" b="1" i="0">
                <a:solidFill>
                  <a:srgbClr val="1A1A1A"/>
                </a:solidFill>
                <a:latin typeface="Arial"/>
              </a:rPr>
              <a:t>Kuiz   ·   halaman 1/2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a:t>
            </a:r>
          </a:p>
          <a:p>
            <a:pPr algn="l"/>
            <a:r>
              <a:rPr sz="1400" b="0" i="0">
                <a:solidFill>
                  <a:srgbClr val="6A1B9A"/>
                </a:solidFill>
                <a:latin typeface="Arial"/>
              </a:rPr>
              <a:t>[D] Q1 · Apakah ketebalan maksimum setiap lapisan semasa membina busut tanah (earthmound)?</a:t>
            </a:r>
          </a:p>
          <a:p>
            <a:pPr algn="l" lvl="1"/>
            <a:r>
              <a:rPr sz="1400" b="0" i="0">
                <a:solidFill>
                  <a:srgbClr val="6A1B9A"/>
                </a:solidFill>
                <a:latin typeface="Arial"/>
              </a:rPr>
              <a:t>[D] [dicadangkan betul] Tidak melebihi 300mm setiap lapisan, dan setiap lapisan dipadatkan.</a:t>
            </a:r>
          </a:p>
          <a:p>
            <a:pPr algn="l" lvl="1"/>
            <a:r>
              <a:rPr sz="1400" b="0" i="0">
                <a:solidFill>
                  <a:srgbClr val="6A1B9A"/>
                </a:solidFill>
                <a:latin typeface="Arial"/>
              </a:rPr>
              <a:t>[D] Tidak melebihi 600mm, dipadatkan sekali pada akhir</a:t>
            </a:r>
          </a:p>
          <a:p>
            <a:pPr algn="l" lvl="1"/>
            <a:r>
              <a:rPr sz="1400" b="0" i="0">
                <a:solidFill>
                  <a:srgbClr val="6A1B9A"/>
                </a:solidFill>
                <a:latin typeface="Arial"/>
              </a:rPr>
              <a:t>[D] Tiada had ketebalan selagi jentera boleh memadat</a:t>
            </a:r>
          </a:p>
          <a:p>
            <a:pPr algn="l" lvl="1"/>
            <a:r>
              <a:rPr sz="1400" b="0" i="0">
                <a:solidFill>
                  <a:srgbClr val="6A1B9A"/>
                </a:solidFill>
                <a:latin typeface="Arial"/>
              </a:rPr>
              <a:t>[D] Satu lapisan penuh sehingga ketinggian puncak</a:t>
            </a:r>
          </a:p>
          <a:p>
            <a:pPr algn="l"/>
            <a:r>
              <a:rPr sz="1400" b="0" i="0">
                <a:solidFill>
                  <a:srgbClr val="6A1B9A"/>
                </a:solidFill>
                <a:latin typeface="Arial"/>
              </a:rPr>
              <a:t>[D] Q2 · Mengapakah sistem perparitan di belakang dinding penahan adalah wajib?</a:t>
            </a:r>
          </a:p>
          <a:p>
            <a:pPr algn="l" lvl="1"/>
            <a:r>
              <a:rPr sz="1400" b="0" i="0">
                <a:solidFill>
                  <a:srgbClr val="6A1B9A"/>
                </a:solidFill>
                <a:latin typeface="Arial"/>
              </a:rPr>
              <a:t>[D] [dicadangkan betul] Kerana kegagalan dinding penahan selalunya berpunca daripada tekanan air (hydrostatic pressure).</a:t>
            </a:r>
          </a:p>
          <a:p>
            <a:pPr algn="l" lvl="1"/>
            <a:r>
              <a:rPr sz="1400" b="0" i="0">
                <a:solidFill>
                  <a:srgbClr val="6A1B9A"/>
                </a:solidFill>
                <a:latin typeface="Arial"/>
              </a:rPr>
              <a:t>[D] Kerana ia mengurangkan kos konkrit dinding</a:t>
            </a:r>
          </a:p>
          <a:p>
            <a:pPr algn="l" lvl="1"/>
            <a:r>
              <a:rPr sz="1400" b="0" i="0">
                <a:solidFill>
                  <a:srgbClr val="6A1B9A"/>
                </a:solidFill>
                <a:latin typeface="Arial"/>
              </a:rPr>
              <a:t>[D] Kerana ia diperlukan untuk kemasan estetik belakang dinding</a:t>
            </a:r>
          </a:p>
          <a:p>
            <a:pPr algn="l" lvl="1"/>
            <a:r>
              <a:rPr sz="1400" b="0" i="0">
                <a:solidFill>
                  <a:srgbClr val="6A1B9A"/>
                </a:solidFill>
                <a:latin typeface="Arial"/>
              </a:rPr>
              <a:t>[D] Kerana ia menggantikan keperluan tapak asas</a:t>
            </a:r>
          </a:p>
          <a:p>
            <a:pPr algn="l"/>
            <a:r>
              <a:rPr sz="1400" b="0" i="0">
                <a:solidFill>
                  <a:srgbClr val="6A1B9A"/>
                </a:solidFill>
                <a:latin typeface="Arial"/>
              </a:rPr>
              <a:t>[D] Q3 · Pelan manakah yang menentukan jajaran pagar di tapak?</a:t>
            </a:r>
          </a:p>
          <a:p>
            <a:pPr algn="l" lvl="1"/>
            <a:r>
              <a:rPr sz="1400" b="0" i="0">
                <a:solidFill>
                  <a:srgbClr val="6A1B9A"/>
                </a:solidFill>
                <a:latin typeface="Arial"/>
              </a:rPr>
              <a:t>[D] [dicadangkan betul] Pelan Ukur Sempadan.</a:t>
            </a:r>
          </a:p>
          <a:p>
            <a:pPr algn="l" lvl="1"/>
            <a:r>
              <a:rPr sz="1400" b="0" i="0">
                <a:solidFill>
                  <a:srgbClr val="6A1B9A"/>
                </a:solidFill>
                <a:latin typeface="Arial"/>
              </a:rPr>
              <a:t>[D] Pelan Saliran</a:t>
            </a:r>
          </a:p>
          <a:p>
            <a:pPr algn="l" lvl="1"/>
            <a:r>
              <a:rPr sz="1400" b="0" i="0">
                <a:solidFill>
                  <a:srgbClr val="6A1B9A"/>
                </a:solidFill>
                <a:latin typeface="Arial"/>
              </a:rPr>
              <a:t>[D] Lukisan Struktur Jurutera</a:t>
            </a:r>
          </a:p>
          <a:p>
            <a:pPr algn="l" lvl="1"/>
            <a:r>
              <a:rPr sz="1400" b="0" i="0">
                <a:solidFill>
                  <a:srgbClr val="6A1B9A"/>
                </a:solidFill>
                <a:latin typeface="Arial"/>
              </a:rPr>
              <a:t>[D] Pelan Susun Atur Tanaman</a:t>
            </a:r>
          </a:p>
          <a:p>
            <a:pPr algn="l"/>
            <a:r>
              <a:rPr sz="1400" b="0" i="0">
                <a:solidFill>
                  <a:srgbClr val="6A1B9A"/>
                </a:solidFill>
                <a:latin typeface="Arial"/>
              </a:rPr>
              <a:t>[D] Q4 · Apakah fungsi kamber (camber) pada permukaan jalan akses?</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1">
                <a:solidFill>
                  <a:srgbClr val="6B6B6B"/>
                </a:solidFill>
                <a:latin typeface="Arial"/>
              </a:rPr>
              <a:t>Tiada interaksi — skrin statik</a:t>
            </a:r>
          </a:p>
          <a:p>
            <a:pPr algn="l"/>
            <a:r>
              <a:rPr sz="800" b="0" i="0">
                <a:solidFill>
                  <a:srgbClr val="1A1A1A"/>
                </a:solidFill>
                <a:latin typeface="Arial"/>
              </a:rPr>
              <a:t/>
            </a:r>
          </a:p>
          <a:p>
            <a:pPr algn="l"/>
            <a:r>
              <a:rPr sz="1000" b="1" i="0">
                <a:solidFill>
                  <a:srgbClr val="6B6B6B"/>
                </a:solidFill>
                <a:latin typeface="Arial"/>
              </a:rPr>
              <a:t>VISUAL</a:t>
            </a:r>
          </a:p>
          <a:p>
            <a:pPr algn="l"/>
            <a:r>
              <a:rPr sz="1000" b="0" i="1">
                <a:solidFill>
                  <a:srgbClr val="6B6B6B"/>
                </a:solidFill>
                <a:latin typeface="Arial"/>
              </a:rPr>
              <a:t>Tiada visual khusus</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Baris modul: T03B03-ROW-013, T03B03-ROW-041, T03B03-ROW-048, T03B03-ROW-056, T03B03-ROW-058, T03B03-ROW-063, T03B03-ROW-076</a:t>
            </a:r>
          </a:p>
          <a:p>
            <a:pPr algn="l"/>
            <a:r>
              <a:rPr sz="800" b="0" i="0">
                <a:solidFill>
                  <a:srgbClr val="6B6B6B"/>
                </a:solidFill>
                <a:latin typeface="Arial"/>
              </a:rPr>
              <a:t>Keputusan Bariah: A7</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11 daripada 12  ·  halaman 1/2   ·   TECHNICAL_PROOF · DRAFT_FOR_BARIAH_REVIEW · NOT_INSTRUCTIONALLY_APPROVED · NOT_LEARNER_FACING_FINAL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T03B03-S11   ·   static content   ·   KUIZ</a:t>
            </a:r>
          </a:p>
          <a:p>
            <a:pPr algn="l"/>
            <a:r>
              <a:rPr sz="2400" b="1" i="0">
                <a:solidFill>
                  <a:srgbClr val="1A1A1A"/>
                </a:solidFill>
                <a:latin typeface="Arial"/>
              </a:rPr>
              <a:t>Kuiz   ·   halaman 2/2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 (sambungan)</a:t>
            </a:r>
          </a:p>
          <a:p>
            <a:pPr algn="l" lvl="1"/>
            <a:r>
              <a:rPr sz="1400" b="0" i="0">
                <a:solidFill>
                  <a:srgbClr val="6A1B9A"/>
                </a:solidFill>
                <a:latin typeface="Arial"/>
              </a:rPr>
              <a:t>[D] [dicadangkan betul] Memberikan kecerunan melintang dari tengah ke tepi supaya air tidak bertakung di permukaan.</a:t>
            </a:r>
          </a:p>
          <a:p>
            <a:pPr algn="l" lvl="1"/>
            <a:r>
              <a:rPr sz="1400" b="0" i="0">
                <a:solidFill>
                  <a:srgbClr val="6A1B9A"/>
                </a:solidFill>
                <a:latin typeface="Arial"/>
              </a:rPr>
              <a:t>[D] Menambah ketebalan lapisan permukaan di bahagian tengah</a:t>
            </a:r>
          </a:p>
          <a:p>
            <a:pPr algn="l" lvl="1"/>
            <a:r>
              <a:rPr sz="1400" b="0" i="0">
                <a:solidFill>
                  <a:srgbClr val="6A1B9A"/>
                </a:solidFill>
                <a:latin typeface="Arial"/>
              </a:rPr>
              <a:t>[D] Menandakan sempadan jalan untuk pemandu</a:t>
            </a:r>
          </a:p>
          <a:p>
            <a:pPr algn="l" lvl="1"/>
            <a:r>
              <a:rPr sz="1400" b="0" i="0">
                <a:solidFill>
                  <a:srgbClr val="6A1B9A"/>
                </a:solidFill>
                <a:latin typeface="Arial"/>
              </a:rPr>
              <a:t>[D] Menahan lapisan permukaan daripada bergerak ke tepi</a:t>
            </a:r>
          </a:p>
          <a:p>
            <a:pPr algn="l"/>
            <a:r>
              <a:rPr sz="1400" b="0" i="0">
                <a:solidFill>
                  <a:srgbClr val="6A1B9A"/>
                </a:solidFill>
                <a:latin typeface="Arial"/>
              </a:rPr>
              <a:t>[D] Q5 · Pilih SEMUA ciri yang menepati swale sebagai alternatif kepada longkang konkrit.</a:t>
            </a:r>
          </a:p>
          <a:p>
            <a:pPr algn="l" lvl="1"/>
            <a:r>
              <a:rPr sz="1400" b="0" i="0">
                <a:solidFill>
                  <a:srgbClr val="6A1B9A"/>
                </a:solidFill>
                <a:latin typeface="Arial"/>
              </a:rPr>
              <a:t>[D] [dicadangkan betul] Parit yang cetek dan lebar</a:t>
            </a:r>
          </a:p>
          <a:p>
            <a:pPr algn="l" lvl="1"/>
            <a:r>
              <a:rPr sz="1400" b="0" i="0">
                <a:solidFill>
                  <a:srgbClr val="6A1B9A"/>
                </a:solidFill>
                <a:latin typeface="Arial"/>
              </a:rPr>
              <a:t>[D] [dicadangkan betul] Ditanami rumput atau tumbuhan tahan air</a:t>
            </a:r>
          </a:p>
          <a:p>
            <a:pPr algn="l" lvl="1"/>
            <a:r>
              <a:rPr sz="1400" b="0" i="0">
                <a:solidFill>
                  <a:srgbClr val="6A1B9A"/>
                </a:solidFill>
                <a:latin typeface="Arial"/>
              </a:rPr>
              <a:t>[D] [dicadangkan betul] Memperlahankan aliran air larian permukaan</a:t>
            </a:r>
          </a:p>
          <a:p>
            <a:pPr algn="l" lvl="1"/>
            <a:r>
              <a:rPr sz="1400" b="0" i="0">
                <a:solidFill>
                  <a:srgbClr val="6A1B9A"/>
                </a:solidFill>
                <a:latin typeface="Arial"/>
              </a:rPr>
              <a:t>[D] [dicadangkan betul] Menggalakkan penyerapan air ke dalam tanah</a:t>
            </a:r>
          </a:p>
          <a:p>
            <a:pPr algn="l" lvl="1"/>
            <a:r>
              <a:rPr sz="1400" b="0" i="0">
                <a:solidFill>
                  <a:srgbClr val="6A1B9A"/>
                </a:solidFill>
                <a:latin typeface="Arial"/>
              </a:rPr>
              <a:t>[D] Dilapisi konkrit di seluruh permukaannya</a:t>
            </a:r>
          </a:p>
          <a:p>
            <a:pPr algn="l" lvl="1"/>
            <a:r>
              <a:rPr sz="1400" b="0" i="0">
                <a:solidFill>
                  <a:srgbClr val="6A1B9A"/>
                </a:solidFill>
                <a:latin typeface="Arial"/>
              </a:rPr>
              <a:t>[D] Direka untuk mempercepatkan aliran ke saluran keluar</a:t>
            </a:r>
          </a:p>
          <a:p>
            <a:pPr algn="l"/>
            <a:r>
              <a:rPr sz="1400" b="0" i="0">
                <a:solidFill>
                  <a:srgbClr val="1B5E20"/>
                </a:solidFill>
                <a:latin typeface="Arial"/>
              </a:rPr>
              <a:t>[A] Markah lulus 60 peratus</a:t>
            </a:r>
          </a:p>
          <a:p>
            <a:pPr algn="l"/>
            <a:r>
              <a:rPr sz="1400" b="0" i="0">
                <a:solidFill>
                  <a:srgbClr val="B71C1C"/>
                </a:solidFill>
                <a:latin typeface="Arial"/>
              </a:rPr>
              <a:t>[P] KUNCI JAWAPAN: DRAFTED_NOT_APPROVED</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1">
                <a:solidFill>
                  <a:srgbClr val="6B6B6B"/>
                </a:solidFill>
                <a:latin typeface="Arial"/>
              </a:rPr>
              <a:t>Tiada interaksi — skrin statik</a:t>
            </a:r>
          </a:p>
          <a:p>
            <a:pPr algn="l"/>
            <a:r>
              <a:rPr sz="800" b="0" i="0">
                <a:solidFill>
                  <a:srgbClr val="1A1A1A"/>
                </a:solidFill>
                <a:latin typeface="Arial"/>
              </a:rPr>
              <a:t/>
            </a:r>
          </a:p>
          <a:p>
            <a:pPr algn="l"/>
            <a:r>
              <a:rPr sz="1000" b="1" i="0">
                <a:solidFill>
                  <a:srgbClr val="6B6B6B"/>
                </a:solidFill>
                <a:latin typeface="Arial"/>
              </a:rPr>
              <a:t>VISUAL</a:t>
            </a:r>
          </a:p>
          <a:p>
            <a:pPr algn="l"/>
            <a:r>
              <a:rPr sz="1000" b="0" i="1">
                <a:solidFill>
                  <a:srgbClr val="6B6B6B"/>
                </a:solidFill>
                <a:latin typeface="Arial"/>
              </a:rPr>
              <a:t>Tiada visual khusus</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Baris modul: T03B03-ROW-013, T03B03-ROW-041, T03B03-ROW-048, T03B03-ROW-056, T03B03-ROW-058, T03B03-ROW-063, T03B03-ROW-076</a:t>
            </a:r>
          </a:p>
          <a:p>
            <a:pPr algn="l"/>
            <a:r>
              <a:rPr sz="800" b="0" i="0">
                <a:solidFill>
                  <a:srgbClr val="6B6B6B"/>
                </a:solidFill>
                <a:latin typeface="Arial"/>
              </a:rPr>
              <a:t>Keputusan Bariah: A7</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11 daripada 12  ·  halaman 2/2   ·   TECHNICAL_PROOF · DRAFT_FOR_BARIAH_REVIEW · NOT_INSTRUCTIONALLY_APPROVED · NOT_LEARNER_FACING_FINAL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noAutofit/>
          </a:bodyPr>
          <a:lstStyle/>
          <a:p>
            <a:pPr algn="l"/>
            <a:r>
              <a:rPr sz="1100" b="1" i="0">
                <a:solidFill>
                  <a:srgbClr val="6B6B6B"/>
                </a:solidFill>
                <a:latin typeface="Arial"/>
              </a:rPr>
              <a:t>T03B03-S12   ·   static content   ·   TAMAT</a:t>
            </a:r>
          </a:p>
          <a:p>
            <a:pPr algn="l"/>
            <a:r>
              <a:rPr sz="2400" b="1" i="0">
                <a:solidFill>
                  <a:srgbClr val="1A1A1A"/>
                </a:solidFill>
                <a:latin typeface="Arial"/>
              </a:rPr>
              <a:t>Tamat Bahagian</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0">
            <a:schemeClr val="accent1"/>
          </a:effectRef>
          <a:fontRef idx="minor">
            <a:schemeClr val="lt1"/>
          </a:fontRef>
        </p:style>
        <p:txBody>
          <a:bodyPr rtlCol="0" anchor="ctr">
            <a:noAutofit/>
          </a:bodyPr>
          <a:lstStyle/>
          <a:p>
            <a:pPr algn="ctr"/>
          </a:p>
        </p:txBody>
      </p:sp>
      <p:sp>
        <p:nvSpPr>
          <p:cNvPr id="4" name="TextBox 3"/>
          <p:cNvSpPr txBox="1"/>
          <p:nvPr/>
        </p:nvSpPr>
        <p:spPr>
          <a:xfrm>
            <a:off x="457200" y="1320000"/>
            <a:ext cx="6766560" cy="4600000"/>
          </a:xfrm>
          <a:prstGeom prst="rect">
            <a:avLst/>
          </a:prstGeom>
          <a:noFill/>
        </p:spPr>
        <p:txBody>
          <a:bodyPr wrap="square" lIns="0" rIns="0" tIns="0" bIns="0">
            <a:noAutofit/>
          </a:bodyPr>
          <a:lstStyle/>
          <a:p>
            <a:pPr algn="l"/>
            <a:r>
              <a:rPr sz="1000" b="1" i="0">
                <a:solidFill>
                  <a:srgbClr val="6B6B6B"/>
                </a:solidFill>
                <a:latin typeface="Arial"/>
              </a:rPr>
              <a:t>KANDUNGAN SKRIN</a:t>
            </a:r>
          </a:p>
          <a:p>
            <a:pPr algn="l"/>
            <a:r>
              <a:rPr sz="1400" b="0" i="0">
                <a:solidFill>
                  <a:srgbClr val="1B5E20"/>
                </a:solidFill>
                <a:latin typeface="Arial"/>
              </a:rPr>
              <a:t>[A] Tamat Bahagian 3. Teruskan pembelajaran ke bahagian seterusnya</a:t>
            </a:r>
          </a:p>
          <a:p>
            <a:pPr algn="l"/>
            <a:r>
              <a:rPr sz="1200" b="0" i="0">
                <a:solidFill>
                  <a:srgbClr val="6B6B6B"/>
                </a:solidFill>
                <a:latin typeface="Arial"/>
              </a:rPr>
              <a:t>[U] SETERUSNYA</a:t>
            </a:r>
          </a:p>
        </p:txBody>
      </p:sp>
      <p:sp>
        <p:nvSpPr>
          <p:cNvPr id="5" name="TextBox 4"/>
          <p:cNvSpPr txBox="1"/>
          <p:nvPr/>
        </p:nvSpPr>
        <p:spPr>
          <a:xfrm>
            <a:off x="7523760" y="1320000"/>
            <a:ext cx="4211040" cy="4600000"/>
          </a:xfrm>
          <a:prstGeom prst="rect">
            <a:avLst/>
          </a:prstGeom>
          <a:noFill/>
        </p:spPr>
        <p:txBody>
          <a:bodyPr wrap="square" lIns="0" rIns="0" tIns="0" bIns="0">
            <a:noAutofit/>
          </a:bodyPr>
          <a:lstStyle/>
          <a:p>
            <a:pPr algn="l"/>
            <a:r>
              <a:rPr sz="1000" b="1" i="0">
                <a:solidFill>
                  <a:srgbClr val="6B6B6B"/>
                </a:solidFill>
                <a:latin typeface="Arial"/>
              </a:rPr>
              <a:t>INTERAKSI</a:t>
            </a:r>
          </a:p>
          <a:p>
            <a:pPr algn="l"/>
            <a:r>
              <a:rPr sz="1000" b="0" i="1">
                <a:solidFill>
                  <a:srgbClr val="6B6B6B"/>
                </a:solidFill>
                <a:latin typeface="Arial"/>
              </a:rPr>
              <a:t>Tiada interaksi — skrin statik</a:t>
            </a:r>
          </a:p>
          <a:p>
            <a:pPr algn="l"/>
            <a:r>
              <a:rPr sz="800" b="0" i="0">
                <a:solidFill>
                  <a:srgbClr val="1A1A1A"/>
                </a:solidFill>
                <a:latin typeface="Arial"/>
              </a:rPr>
              <a:t/>
            </a:r>
          </a:p>
          <a:p>
            <a:pPr algn="l"/>
            <a:r>
              <a:rPr sz="1000" b="1" i="0">
                <a:solidFill>
                  <a:srgbClr val="6B6B6B"/>
                </a:solidFill>
                <a:latin typeface="Arial"/>
              </a:rPr>
              <a:t>VISUAL</a:t>
            </a:r>
          </a:p>
          <a:p>
            <a:pPr algn="l"/>
            <a:r>
              <a:rPr sz="1000" b="0" i="1">
                <a:solidFill>
                  <a:srgbClr val="6B6B6B"/>
                </a:solidFill>
                <a:latin typeface="Arial"/>
              </a:rPr>
              <a:t>Tiada visual khusus</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0D47A1"/>
                </a:solidFill>
                <a:latin typeface="Arial"/>
              </a:rPr>
              <a:t>Skrin struktur — tiada baris modul</a:t>
            </a:r>
          </a:p>
          <a:p>
            <a:pPr algn="l"/>
            <a:r>
              <a:rPr sz="800" b="0" i="0">
                <a:solidFill>
                  <a:srgbClr val="6B6B6B"/>
                </a:solidFill>
                <a:latin typeface="Arial"/>
              </a:rPr>
              <a:t>Keputusan Bariah: D4</a:t>
            </a:r>
          </a:p>
        </p:txBody>
      </p:sp>
      <p:sp>
        <p:nvSpPr>
          <p:cNvPr id="6" name="TextBox 5"/>
          <p:cNvSpPr txBox="1"/>
          <p:nvPr/>
        </p:nvSpPr>
        <p:spPr>
          <a:xfrm>
            <a:off x="457200" y="6150000"/>
            <a:ext cx="11277600" cy="500000"/>
          </a:xfrm>
          <a:prstGeom prst="rect">
            <a:avLst/>
          </a:prstGeom>
          <a:noFill/>
        </p:spPr>
        <p:txBody>
          <a:bodyPr wrap="square" lIns="0" rIns="0" tIns="0" bIns="0">
            <a:noAutofit/>
          </a:bodyPr>
          <a:lstStyle/>
          <a:p>
            <a:pPr algn="l"/>
            <a:r>
              <a:rPr sz="900" b="0" i="0">
                <a:solidFill>
                  <a:srgbClr val="6B6B6B"/>
                </a:solidFill>
                <a:latin typeface="Arial"/>
              </a:rPr>
              <a:t>K5-PL06-T03-B03 · skrin 12 daripada 12   ·   TECHNICAL_PROOF · DRAFT_FOR_BARIAH_REVIEW · NOT_INSTRUCTIONALLY_APPROVED · NOT_LEARNER_FACING_FINAL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