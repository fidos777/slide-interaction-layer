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1400000"/>
            <a:ext cx="11277600" cy="3200000"/>
          </a:xfrm>
          <a:prstGeom prst="rect">
            <a:avLst/>
          </a:prstGeom>
          <a:noFill/>
        </p:spPr>
        <p:txBody>
          <a:bodyPr wrap="square" lIns="0" rIns="0" tIns="0" bIns="0">
            <a:spAutoFit/>
          </a:bodyPr>
          <a:lstStyle/>
          <a:p>
            <a:pPr algn="l"/>
            <a:r>
              <a:rPr sz="1600" b="1" i="0">
                <a:solidFill>
                  <a:srgbClr val="6B6B6B"/>
                </a:solidFill>
                <a:latin typeface="Arial"/>
              </a:rPr>
              <a:t>LAMPIRAN SEMAKAN KEADAAN RUNTIME</a:t>
            </a:r>
          </a:p>
          <a:p>
            <a:pPr algn="l"/>
            <a:r>
              <a:rPr sz="3000" b="1" i="0">
                <a:solidFill>
                  <a:srgbClr val="1A1A1A"/>
                </a:solidFill>
                <a:latin typeface="Arial"/>
              </a:rPr>
              <a:t>K5-PL06-T03-B03: Infrastruktur</a:t>
            </a:r>
          </a:p>
          <a:p>
            <a:pPr algn="l"/>
            <a:r>
              <a:rPr sz="1500" b="0" i="0">
                <a:solidFill>
                  <a:srgbClr val="6B6B6B"/>
                </a:solidFill>
                <a:latin typeface="Arial"/>
              </a:rPr>
              <a:t>38 keadaan dipanelkan daripada 43 keadaan runtime · 2 panel setiap halaman · 20 halaman</a:t>
            </a:r>
          </a:p>
          <a:p>
            <a:pPr algn="l"/>
            <a:r>
              <a:rPr sz="800" b="0" i="0">
                <a:solidFill>
                  <a:srgbClr val="1A1A1A"/>
                </a:solidFill>
                <a:latin typeface="Arial"/>
              </a:rPr>
              <a:t/>
            </a:r>
          </a:p>
          <a:p>
            <a:pPr algn="l"/>
            <a:r>
              <a:rPr sz="1200" b="1" i="0">
                <a:solidFill>
                  <a:srgbClr val="B71C1C"/>
                </a:solidFill>
                <a:latin typeface="Arial"/>
              </a:rPr>
              <a:t>DRAFT_FOR_BARIAH_REVIEW · NOT_INSTRUCTIONALLY_APPROVED · NOT_LEARNER_FACING_FINAL</a:t>
            </a:r>
          </a:p>
          <a:p>
            <a:pPr algn="l"/>
            <a:r>
              <a:rPr sz="1100" b="0" i="1">
                <a:solidFill>
                  <a:srgbClr val="B71C1C"/>
                </a:solidFill>
                <a:latin typeface="Arial"/>
              </a:rPr>
              <a:t>Kepadatan panel adalah UJIAN B2. Dua versi dijana daripada kandungan yang sama; tiada kepadatan dibekukan di sini.</a:t>
            </a:r>
          </a:p>
          <a:p>
            <a:pPr algn="l"/>
            <a:r>
              <a:rPr sz="1100" b="0" i="1">
                <a:solidFill>
                  <a:srgbClr val="6B6B6B"/>
                </a:solidFill>
                <a:latin typeface="Arial"/>
              </a:rPr>
              <a:t>Setiap panel menjawab lima perkara: pencetus, kandungan, beza daripada keadaan asas, cara kembali, dan sumber serta kuasa.</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spAutoFit/>
          </a:bodyPr>
          <a:lstStyle/>
          <a:p>
            <a:pPr algn="l"/>
            <a:r>
              <a:rPr sz="1100" b="1" i="0">
                <a:solidFill>
                  <a:srgbClr val="6B6B6B"/>
                </a:solidFill>
                <a:latin typeface="Arial"/>
              </a:rPr>
              <a:t>T03B03-S04   ·   click-to-reveal</a:t>
            </a:r>
          </a:p>
          <a:p>
            <a:pPr algn="l"/>
            <a:r>
              <a:rPr sz="2200" b="1" i="0">
                <a:solidFill>
                  <a:srgbClr val="1A1A1A"/>
                </a:solidFill>
                <a:latin typeface="Arial"/>
              </a:rPr>
              <a:t>Landform / Earthmound</a:t>
            </a:r>
          </a:p>
        </p:txBody>
      </p:sp>
      <p:sp>
        <p:nvSpPr>
          <p:cNvPr id="3" name="Rectangle 2"/>
          <p:cNvSpPr/>
          <p:nvPr/>
        </p:nvSpPr>
        <p:spPr>
          <a:xfrm>
            <a:off x="457200" y="1120000"/>
            <a:ext cx="11277600"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280000"/>
            <a:ext cx="5538800"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7200" y="1460000"/>
            <a:ext cx="5178800" cy="4340000"/>
          </a:xfrm>
          <a:prstGeom prst="rect">
            <a:avLst/>
          </a:prstGeom>
          <a:noFill/>
        </p:spPr>
        <p:txBody>
          <a:bodyPr wrap="square" lIns="0" rIns="0" tIns="0" bIns="0">
            <a:spAutoFit/>
          </a:bodyPr>
          <a:lstStyle/>
          <a:p>
            <a:pPr algn="l"/>
            <a:r>
              <a:rPr sz="1100" b="1" i="0">
                <a:solidFill>
                  <a:srgbClr val="6B6B6B"/>
                </a:solidFill>
                <a:latin typeface="Arial"/>
              </a:rPr>
              <a:t>T03B03-S04-ST-BASE   ·   Keadaan asas</a:t>
            </a:r>
          </a:p>
          <a:p>
            <a:pPr algn="l"/>
            <a:r>
              <a:rPr sz="1200" b="1" i="0">
                <a:solidFill>
                  <a:srgbClr val="1B5E20"/>
                </a:solidFill>
                <a:latin typeface="Arial"/>
              </a:rPr>
              <a:t>Pencetus: screen entry</a:t>
            </a:r>
          </a:p>
          <a:p>
            <a:pPr algn="l"/>
            <a:r>
              <a:rPr sz="1000" b="1" i="0">
                <a:solidFill>
                  <a:srgbClr val="6B6B6B"/>
                </a:solidFill>
                <a:latin typeface="Arial"/>
              </a:rPr>
              <a:t>Apa yang dipaparkan</a:t>
            </a:r>
          </a:p>
          <a:p>
            <a:pPr algn="l" lvl="1"/>
            <a:r>
              <a:rPr sz="1000" b="0" i="0">
                <a:solidFill>
                  <a:srgbClr val="1A1A1A"/>
                </a:solidFill>
                <a:latin typeface="Arial"/>
              </a:rPr>
              <a:t>· Landform / Earthmound</a:t>
            </a:r>
          </a:p>
          <a:p>
            <a:pPr algn="l" lvl="1"/>
            <a:r>
              <a:rPr sz="1000" b="0" i="0">
                <a:solidFill>
                  <a:srgbClr val="1A1A1A"/>
                </a:solidFill>
                <a:latin typeface="Arial"/>
              </a:rPr>
              <a:t>· Fungsi</a:t>
            </a:r>
          </a:p>
          <a:p>
            <a:pPr algn="l" lvl="1"/>
            <a:r>
              <a:rPr sz="1000" b="0" i="0">
                <a:solidFill>
                  <a:srgbClr val="1A1A1A"/>
                </a:solidFill>
                <a:latin typeface="Arial"/>
              </a:rPr>
              <a:t>· Mewujudkan pemandangan yang menarik secara visual serta mengurangkan kerataan tapak.</a:t>
            </a:r>
          </a:p>
          <a:p>
            <a:pPr algn="l" lvl="1"/>
            <a:r>
              <a:rPr sz="1000" b="0" i="0">
                <a:solidFill>
                  <a:srgbClr val="1A1A1A"/>
                </a:solidFill>
                <a:latin typeface="Arial"/>
              </a:rPr>
              <a:t>· Berfungsi sebagai penghadang visual atau bunyi.</a:t>
            </a:r>
          </a:p>
          <a:p>
            <a:pPr algn="l" lvl="1"/>
            <a:r>
              <a:rPr sz="1000" b="0" i="0">
                <a:solidFill>
                  <a:srgbClr val="1A1A1A"/>
                </a:solidFill>
                <a:latin typeface="Arial"/>
              </a:rPr>
              <a:t>· Mengawal dan mengarahkan aliran air permukaan.</a:t>
            </a:r>
          </a:p>
          <a:p>
            <a:pPr algn="l" lvl="1"/>
            <a:r>
              <a:rPr sz="1000" b="0" i="0">
                <a:solidFill>
                  <a:srgbClr val="1A1A1A"/>
                </a:solidFill>
                <a:latin typeface="Arial"/>
              </a:rPr>
              <a:t>· Fokus Utama Kontraktor</a:t>
            </a:r>
          </a:p>
          <a:p>
            <a:pPr algn="l" lvl="1"/>
            <a:r>
              <a:rPr sz="1000" b="0" i="0">
                <a:solidFill>
                  <a:srgbClr val="1A1A1A"/>
                </a:solidFill>
                <a:latin typeface="Arial"/>
              </a:rPr>
              <a:t>· Penandaan Tapak (Setting Out)</a:t>
            </a:r>
          </a:p>
          <a:p>
            <a:pPr algn="l" lvl="1"/>
            <a:r>
              <a:rPr sz="900" b="0" i="0">
                <a:solidFill>
                  <a:srgbClr val="6B6B6B"/>
                </a:solidFill>
                <a:latin typeface="Arial"/>
              </a:rPr>
              <a:t>· … 4 rekod lagi</a:t>
            </a:r>
          </a:p>
          <a:p>
            <a:pPr algn="l"/>
            <a:r>
              <a:rPr sz="1000" b="1" i="0">
                <a:solidFill>
                  <a:srgbClr val="6B6B6B"/>
                </a:solidFill>
                <a:latin typeface="Arial"/>
              </a:rPr>
              <a:t>Beza daripada keadaan asas</a:t>
            </a:r>
          </a:p>
          <a:p>
            <a:pPr algn="l" lvl="1"/>
            <a:r>
              <a:rPr sz="1000" b="0" i="0">
                <a:solidFill>
                  <a:srgbClr val="1A1A1A"/>
                </a:solidFill>
                <a:latin typeface="Arial"/>
              </a:rPr>
              <a:t>— ini keadaan asas —</a:t>
            </a:r>
          </a:p>
          <a:p>
            <a:pPr algn="l"/>
            <a:r>
              <a:rPr sz="1000" b="1" i="0">
                <a:solidFill>
                  <a:srgbClr val="6B6B6B"/>
                </a:solidFill>
                <a:latin typeface="Arial"/>
              </a:rPr>
              <a:t>Cara pelajar kembali / meneruskan</a:t>
            </a:r>
          </a:p>
          <a:p>
            <a:pPr algn="l" lvl="1"/>
            <a:r>
              <a:rPr sz="1000" b="0" i="0">
                <a:solidFill>
                  <a:srgbClr val="1A1A1A"/>
                </a:solidFill>
                <a:latin typeface="Arial"/>
              </a:rPr>
              <a:t>Keadaan masuk. Pelajar meneruskan dengan SETERUSNYA setelah syarat selesai dipenuhi.</a:t>
            </a:r>
          </a:p>
          <a:p>
            <a:pPr algn="l"/>
            <a:r>
              <a:rPr sz="1000" b="1" i="0">
                <a:solidFill>
                  <a:srgbClr val="6B6B6B"/>
                </a:solidFill>
                <a:latin typeface="Arial"/>
              </a:rPr>
              <a:t>Sumber dan kuasa</a:t>
            </a:r>
          </a:p>
          <a:p>
            <a:pPr algn="l" lvl="1"/>
            <a:r>
              <a:rPr sz="900" b="0" i="0">
                <a:solidFill>
                  <a:srgbClr val="0D47A1"/>
                </a:solidFill>
                <a:latin typeface="Arial"/>
              </a:rPr>
              <a:t>Baris: T03B03-ROW-002, T03B03-ROW-003, T03B03-ROW-004, T03B03-ROW-005, T03B03-ROW-006, T03B03-ROW-007, T03B03-ROW-008, T03B03-ROW-010, T03B03-ROW-012, T03B03-ROW-014</a:t>
            </a:r>
          </a:p>
          <a:p>
            <a:pPr algn="l" lvl="1"/>
            <a:r>
              <a:rPr sz="900" b="0" i="0">
                <a:solidFill>
                  <a:srgbClr val="6B6B6B"/>
                </a:solidFill>
                <a:latin typeface="Arial"/>
              </a:rPr>
              <a:t>Keputusan: A1, A2</a:t>
            </a:r>
          </a:p>
        </p:txBody>
      </p:sp>
      <p:sp>
        <p:nvSpPr>
          <p:cNvPr id="6" name="Rectangle 5"/>
          <p:cNvSpPr/>
          <p:nvPr/>
        </p:nvSpPr>
        <p:spPr>
          <a:xfrm>
            <a:off x="6196000" y="1280000"/>
            <a:ext cx="5538800"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76000" y="1460000"/>
            <a:ext cx="5178800" cy="4340000"/>
          </a:xfrm>
          <a:prstGeom prst="rect">
            <a:avLst/>
          </a:prstGeom>
          <a:noFill/>
        </p:spPr>
        <p:txBody>
          <a:bodyPr wrap="square" lIns="0" rIns="0" tIns="0" bIns="0">
            <a:spAutoFit/>
          </a:bodyPr>
          <a:lstStyle/>
          <a:p>
            <a:pPr algn="l"/>
            <a:r>
              <a:rPr sz="1100" b="1" i="0">
                <a:solidFill>
                  <a:srgbClr val="6B6B6B"/>
                </a:solidFill>
                <a:latin typeface="Arial"/>
              </a:rPr>
              <a:t>T03B03-S04-ST-01   ·   Panel pendedahan</a:t>
            </a:r>
          </a:p>
          <a:p>
            <a:pPr algn="l"/>
            <a:r>
              <a:rPr sz="1200" b="1" i="0">
                <a:solidFill>
                  <a:srgbClr val="37474F"/>
                </a:solidFill>
                <a:latin typeface="Arial"/>
              </a:rPr>
              <a:t>Pencetus: Penandaan Tapak (Setting Out)  [T03B03-S04-TRG-01]</a:t>
            </a:r>
          </a:p>
          <a:p>
            <a:pPr algn="l"/>
            <a:r>
              <a:rPr sz="1000" b="1" i="0">
                <a:solidFill>
                  <a:srgbClr val="6B6B6B"/>
                </a:solidFill>
                <a:latin typeface="Arial"/>
              </a:rPr>
              <a:t>Apa yang dipaparkan</a:t>
            </a:r>
          </a:p>
          <a:p>
            <a:pPr algn="l" lvl="1"/>
            <a:r>
              <a:rPr sz="1000" b="0" i="0">
                <a:solidFill>
                  <a:srgbClr val="1A1A1A"/>
                </a:solidFill>
                <a:latin typeface="Arial"/>
              </a:rPr>
              <a:t>· Lokasi, keluasan tapak, dan ketinggian puncak busut mesti ditanda dengan tepat di tapak mengikut pelan kerja tanah (Earthwork Plan).</a:t>
            </a:r>
          </a:p>
          <a:p>
            <a:pPr algn="l"/>
            <a:r>
              <a:rPr sz="1000" b="1" i="0">
                <a:solidFill>
                  <a:srgbClr val="6B6B6B"/>
                </a:solidFill>
                <a:latin typeface="Arial"/>
              </a:rPr>
              <a:t>Beza daripada keadaan asas</a:t>
            </a:r>
          </a:p>
          <a:p>
            <a:pPr algn="l" lvl="1"/>
            <a:r>
              <a:rPr sz="1000" b="0" i="0">
                <a:solidFill>
                  <a:srgbClr val="1A1A1A"/>
                </a:solidFill>
                <a:latin typeface="Arial"/>
              </a:rPr>
              <a:t>Menambah 1 rekod yang tersembunyi dalam keadaan asas.</a:t>
            </a:r>
          </a:p>
          <a:p>
            <a:pPr algn="l"/>
            <a:r>
              <a:rPr sz="1000" b="1" i="0">
                <a:solidFill>
                  <a:srgbClr val="6B6B6B"/>
                </a:solidFill>
                <a:latin typeface="Arial"/>
              </a:rPr>
              <a:t>Cara pelajar kembali / meneruskan</a:t>
            </a:r>
          </a:p>
          <a:p>
            <a:pPr algn="l" lvl="1"/>
            <a:r>
              <a:rPr sz="1000" b="0" i="0">
                <a:solidFill>
                  <a:srgbClr val="1A1A1A"/>
                </a:solidFill>
                <a:latin typeface="Arial"/>
              </a:rPr>
              <a:t>Panel tertutup apabila ditekan sekali lagi atau apabila panel lain dibuka. Keadaan asas kembali dan sentiasa boleh dicapai. Tiada navigasi berlaku.</a:t>
            </a:r>
          </a:p>
          <a:p>
            <a:pPr algn="l"/>
            <a:r>
              <a:rPr sz="1000" b="1" i="0">
                <a:solidFill>
                  <a:srgbClr val="6B6B6B"/>
                </a:solidFill>
                <a:latin typeface="Arial"/>
              </a:rPr>
              <a:t>Sumber dan kuasa</a:t>
            </a:r>
          </a:p>
          <a:p>
            <a:pPr algn="l" lvl="1"/>
            <a:r>
              <a:rPr sz="900" b="0" i="0">
                <a:solidFill>
                  <a:srgbClr val="0D47A1"/>
                </a:solidFill>
                <a:latin typeface="Arial"/>
              </a:rPr>
              <a:t>Baris: T03B03-ROW-009</a:t>
            </a:r>
          </a:p>
          <a:p>
            <a:pPr algn="l" lvl="1"/>
            <a:r>
              <a:rPr sz="900" b="0" i="0">
                <a:solidFill>
                  <a:srgbClr val="6B6B6B"/>
                </a:solidFill>
                <a:latin typeface="Arial"/>
              </a:rPr>
              <a:t>Keputusan: A1, A2</a:t>
            </a:r>
          </a:p>
        </p:txBody>
      </p:sp>
      <p:sp>
        <p:nvSpPr>
          <p:cNvPr id="8" name="TextBox 7"/>
          <p:cNvSpPr txBox="1"/>
          <p:nvPr/>
        </p:nvSpPr>
        <p:spPr>
          <a:xfrm>
            <a:off x="457200" y="6150000"/>
            <a:ext cx="11277600" cy="400000"/>
          </a:xfrm>
          <a:prstGeom prst="rect">
            <a:avLst/>
          </a:prstGeom>
          <a:noFill/>
        </p:spPr>
        <p:txBody>
          <a:bodyPr wrap="square" lIns="0" rIns="0" tIns="0" bIns="0">
            <a:spAutoFit/>
          </a:bodyPr>
          <a:lstStyle/>
          <a:p>
            <a:pPr algn="l"/>
            <a:r>
              <a:rPr sz="900" b="0" i="0">
                <a:solidFill>
                  <a:srgbClr val="6B6B6B"/>
                </a:solidFill>
                <a:latin typeface="Arial"/>
              </a:rPr>
              <a:t>Lampiran keadaan · 2 panel/halaman · halaman 1 daripada 20   ·   DRAFT_FOR_BARIAH_REVIEW · NOT_INSTRUCTIONALLY_APPROVED · NOT_LEARNER_FACING_FINAL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spAutoFit/>
          </a:bodyPr>
          <a:lstStyle/>
          <a:p>
            <a:pPr algn="l"/>
            <a:r>
              <a:rPr sz="1100" b="1" i="0">
                <a:solidFill>
                  <a:srgbClr val="6B6B6B"/>
                </a:solidFill>
                <a:latin typeface="Arial"/>
              </a:rPr>
              <a:t>T03B03-S04   ·   click-to-reveal</a:t>
            </a:r>
          </a:p>
          <a:p>
            <a:pPr algn="l"/>
            <a:r>
              <a:rPr sz="2200" b="1" i="0">
                <a:solidFill>
                  <a:srgbClr val="1A1A1A"/>
                </a:solidFill>
                <a:latin typeface="Arial"/>
              </a:rPr>
              <a:t>Landform / Earthmound</a:t>
            </a:r>
          </a:p>
        </p:txBody>
      </p:sp>
      <p:sp>
        <p:nvSpPr>
          <p:cNvPr id="3" name="Rectangle 2"/>
          <p:cNvSpPr/>
          <p:nvPr/>
        </p:nvSpPr>
        <p:spPr>
          <a:xfrm>
            <a:off x="457200" y="1120000"/>
            <a:ext cx="11277600"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280000"/>
            <a:ext cx="5538800"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7200" y="1460000"/>
            <a:ext cx="5178800" cy="4340000"/>
          </a:xfrm>
          <a:prstGeom prst="rect">
            <a:avLst/>
          </a:prstGeom>
          <a:noFill/>
        </p:spPr>
        <p:txBody>
          <a:bodyPr wrap="square" lIns="0" rIns="0" tIns="0" bIns="0">
            <a:spAutoFit/>
          </a:bodyPr>
          <a:lstStyle/>
          <a:p>
            <a:pPr algn="l"/>
            <a:r>
              <a:rPr sz="1100" b="1" i="0">
                <a:solidFill>
                  <a:srgbClr val="6B6B6B"/>
                </a:solidFill>
                <a:latin typeface="Arial"/>
              </a:rPr>
              <a:t>T03B03-S04-ST-02   ·   Panel pendedahan</a:t>
            </a:r>
          </a:p>
          <a:p>
            <a:pPr algn="l"/>
            <a:r>
              <a:rPr sz="1200" b="1" i="0">
                <a:solidFill>
                  <a:srgbClr val="37474F"/>
                </a:solidFill>
                <a:latin typeface="Arial"/>
              </a:rPr>
              <a:t>Pencetus: Bahan Timbus  [T03B03-S04-TRG-02]</a:t>
            </a:r>
          </a:p>
          <a:p>
            <a:pPr algn="l"/>
            <a:r>
              <a:rPr sz="1000" b="1" i="0">
                <a:solidFill>
                  <a:srgbClr val="6B6B6B"/>
                </a:solidFill>
                <a:latin typeface="Arial"/>
              </a:rPr>
              <a:t>Apa yang dipaparkan</a:t>
            </a:r>
          </a:p>
          <a:p>
            <a:pPr algn="l" lvl="1"/>
            <a:r>
              <a:rPr sz="1000" b="0" i="0">
                <a:solidFill>
                  <a:srgbClr val="1A1A1A"/>
                </a:solidFill>
                <a:latin typeface="Arial"/>
              </a:rPr>
              <a:t>· Bahan tanah yang digunakan mestilah bahan yang sesuai, bebas daripada sisa binaan, akar kayu, dan batu besar. Tanah mestilah diluluskan oleh Pegawai Penguasa (S.O.).</a:t>
            </a:r>
          </a:p>
          <a:p>
            <a:pPr algn="l"/>
            <a:r>
              <a:rPr sz="1000" b="1" i="0">
                <a:solidFill>
                  <a:srgbClr val="6B6B6B"/>
                </a:solidFill>
                <a:latin typeface="Arial"/>
              </a:rPr>
              <a:t>Beza daripada keadaan asas</a:t>
            </a:r>
          </a:p>
          <a:p>
            <a:pPr algn="l" lvl="1"/>
            <a:r>
              <a:rPr sz="1000" b="0" i="0">
                <a:solidFill>
                  <a:srgbClr val="1A1A1A"/>
                </a:solidFill>
                <a:latin typeface="Arial"/>
              </a:rPr>
              <a:t>Menambah 1 rekod yang tersembunyi dalam keadaan asas.</a:t>
            </a:r>
          </a:p>
          <a:p>
            <a:pPr algn="l"/>
            <a:r>
              <a:rPr sz="1000" b="1" i="0">
                <a:solidFill>
                  <a:srgbClr val="6B6B6B"/>
                </a:solidFill>
                <a:latin typeface="Arial"/>
              </a:rPr>
              <a:t>Cara pelajar kembali / meneruskan</a:t>
            </a:r>
          </a:p>
          <a:p>
            <a:pPr algn="l" lvl="1"/>
            <a:r>
              <a:rPr sz="1000" b="0" i="0">
                <a:solidFill>
                  <a:srgbClr val="1A1A1A"/>
                </a:solidFill>
                <a:latin typeface="Arial"/>
              </a:rPr>
              <a:t>Panel tertutup apabila ditekan sekali lagi atau apabila panel lain dibuka. Keadaan asas kembali dan sentiasa boleh dicapai. Tiada navigasi berlaku.</a:t>
            </a:r>
          </a:p>
          <a:p>
            <a:pPr algn="l"/>
            <a:r>
              <a:rPr sz="1000" b="1" i="0">
                <a:solidFill>
                  <a:srgbClr val="6B6B6B"/>
                </a:solidFill>
                <a:latin typeface="Arial"/>
              </a:rPr>
              <a:t>Sumber dan kuasa</a:t>
            </a:r>
          </a:p>
          <a:p>
            <a:pPr algn="l" lvl="1"/>
            <a:r>
              <a:rPr sz="900" b="0" i="0">
                <a:solidFill>
                  <a:srgbClr val="0D47A1"/>
                </a:solidFill>
                <a:latin typeface="Arial"/>
              </a:rPr>
              <a:t>Baris: T03B03-ROW-011</a:t>
            </a:r>
          </a:p>
          <a:p>
            <a:pPr algn="l" lvl="1"/>
            <a:r>
              <a:rPr sz="900" b="0" i="0">
                <a:solidFill>
                  <a:srgbClr val="6B6B6B"/>
                </a:solidFill>
                <a:latin typeface="Arial"/>
              </a:rPr>
              <a:t>Keputusan: A1, A2</a:t>
            </a:r>
          </a:p>
        </p:txBody>
      </p:sp>
      <p:sp>
        <p:nvSpPr>
          <p:cNvPr id="6" name="Rectangle 5"/>
          <p:cNvSpPr/>
          <p:nvPr/>
        </p:nvSpPr>
        <p:spPr>
          <a:xfrm>
            <a:off x="6196000" y="1280000"/>
            <a:ext cx="5538800"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76000" y="1460000"/>
            <a:ext cx="5178800" cy="4340000"/>
          </a:xfrm>
          <a:prstGeom prst="rect">
            <a:avLst/>
          </a:prstGeom>
          <a:noFill/>
        </p:spPr>
        <p:txBody>
          <a:bodyPr wrap="square" lIns="0" rIns="0" tIns="0" bIns="0">
            <a:spAutoFit/>
          </a:bodyPr>
          <a:lstStyle/>
          <a:p>
            <a:pPr algn="l"/>
            <a:r>
              <a:rPr sz="1100" b="1" i="0">
                <a:solidFill>
                  <a:srgbClr val="6B6B6B"/>
                </a:solidFill>
                <a:latin typeface="Arial"/>
              </a:rPr>
              <a:t>T03B03-S04-ST-03   ·   Panel pendedahan</a:t>
            </a:r>
          </a:p>
          <a:p>
            <a:pPr algn="l"/>
            <a:r>
              <a:rPr sz="1200" b="1" i="0">
                <a:solidFill>
                  <a:srgbClr val="37474F"/>
                </a:solidFill>
                <a:latin typeface="Arial"/>
              </a:rPr>
              <a:t>Pencetus: Pemadatan Berlapis  [T03B03-S04-TRG-03]</a:t>
            </a:r>
          </a:p>
          <a:p>
            <a:pPr algn="l"/>
            <a:r>
              <a:rPr sz="1000" b="1" i="0">
                <a:solidFill>
                  <a:srgbClr val="6B6B6B"/>
                </a:solidFill>
                <a:latin typeface="Arial"/>
              </a:rPr>
              <a:t>Apa yang dipaparkan</a:t>
            </a:r>
          </a:p>
          <a:p>
            <a:pPr algn="l" lvl="1"/>
            <a:r>
              <a:rPr sz="1000" b="0" i="0">
                <a:solidFill>
                  <a:srgbClr val="1A1A1A"/>
                </a:solidFill>
                <a:latin typeface="Arial"/>
              </a:rPr>
              <a:t>· Busut tanah mesti dibina secara berperingkat dalam lapisan-lapisan tidak melebihi 300mm tebal. Setiap lapisan wajib dipadatkan dengan sempurna menggunakan jentera pemadat (compactor) untuk mengelakkan mendapan (settlement) pada masa hadapan.</a:t>
            </a:r>
          </a:p>
          <a:p>
            <a:pPr algn="l"/>
            <a:r>
              <a:rPr sz="1000" b="1" i="0">
                <a:solidFill>
                  <a:srgbClr val="6B6B6B"/>
                </a:solidFill>
                <a:latin typeface="Arial"/>
              </a:rPr>
              <a:t>Beza daripada keadaan asas</a:t>
            </a:r>
          </a:p>
          <a:p>
            <a:pPr algn="l" lvl="1"/>
            <a:r>
              <a:rPr sz="1000" b="0" i="0">
                <a:solidFill>
                  <a:srgbClr val="1A1A1A"/>
                </a:solidFill>
                <a:latin typeface="Arial"/>
              </a:rPr>
              <a:t>Menambah 1 rekod yang tersembunyi dalam keadaan asas.</a:t>
            </a:r>
          </a:p>
          <a:p>
            <a:pPr algn="l"/>
            <a:r>
              <a:rPr sz="1000" b="1" i="0">
                <a:solidFill>
                  <a:srgbClr val="6B6B6B"/>
                </a:solidFill>
                <a:latin typeface="Arial"/>
              </a:rPr>
              <a:t>Cara pelajar kembali / meneruskan</a:t>
            </a:r>
          </a:p>
          <a:p>
            <a:pPr algn="l" lvl="1"/>
            <a:r>
              <a:rPr sz="1000" b="0" i="0">
                <a:solidFill>
                  <a:srgbClr val="1A1A1A"/>
                </a:solidFill>
                <a:latin typeface="Arial"/>
              </a:rPr>
              <a:t>Panel tertutup apabila ditekan sekali lagi atau apabila panel lain dibuka. Keadaan asas kembali dan sentiasa boleh dicapai. Tiada navigasi berlaku.</a:t>
            </a:r>
          </a:p>
          <a:p>
            <a:pPr algn="l"/>
            <a:r>
              <a:rPr sz="1000" b="1" i="0">
                <a:solidFill>
                  <a:srgbClr val="6B6B6B"/>
                </a:solidFill>
                <a:latin typeface="Arial"/>
              </a:rPr>
              <a:t>Sumber dan kuasa</a:t>
            </a:r>
          </a:p>
          <a:p>
            <a:pPr algn="l" lvl="1"/>
            <a:r>
              <a:rPr sz="900" b="0" i="0">
                <a:solidFill>
                  <a:srgbClr val="0D47A1"/>
                </a:solidFill>
                <a:latin typeface="Arial"/>
              </a:rPr>
              <a:t>Baris: T03B03-ROW-013</a:t>
            </a:r>
          </a:p>
          <a:p>
            <a:pPr algn="l" lvl="1"/>
            <a:r>
              <a:rPr sz="900" b="0" i="0">
                <a:solidFill>
                  <a:srgbClr val="6B6B6B"/>
                </a:solidFill>
                <a:latin typeface="Arial"/>
              </a:rPr>
              <a:t>Keputusan: A1, A2</a:t>
            </a:r>
          </a:p>
        </p:txBody>
      </p:sp>
      <p:sp>
        <p:nvSpPr>
          <p:cNvPr id="8" name="TextBox 7"/>
          <p:cNvSpPr txBox="1"/>
          <p:nvPr/>
        </p:nvSpPr>
        <p:spPr>
          <a:xfrm>
            <a:off x="457200" y="6150000"/>
            <a:ext cx="11277600" cy="400000"/>
          </a:xfrm>
          <a:prstGeom prst="rect">
            <a:avLst/>
          </a:prstGeom>
          <a:noFill/>
        </p:spPr>
        <p:txBody>
          <a:bodyPr wrap="square" lIns="0" rIns="0" tIns="0" bIns="0">
            <a:spAutoFit/>
          </a:bodyPr>
          <a:lstStyle/>
          <a:p>
            <a:pPr algn="l"/>
            <a:r>
              <a:rPr sz="900" b="0" i="0">
                <a:solidFill>
                  <a:srgbClr val="6B6B6B"/>
                </a:solidFill>
                <a:latin typeface="Arial"/>
              </a:rPr>
              <a:t>Lampiran keadaan · 2 panel/halaman · halaman 2 daripada 20   ·   DRAFT_FOR_BARIAH_REVIEW · NOT_INSTRUCTIONALLY_APPROVED · NOT_LEARNER_FACING_FINAL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spAutoFit/>
          </a:bodyPr>
          <a:lstStyle/>
          <a:p>
            <a:pPr algn="l"/>
            <a:r>
              <a:rPr sz="1100" b="1" i="0">
                <a:solidFill>
                  <a:srgbClr val="6B6B6B"/>
                </a:solidFill>
                <a:latin typeface="Arial"/>
              </a:rPr>
              <a:t>T03B03-S04   ·   click-to-reveal</a:t>
            </a:r>
          </a:p>
          <a:p>
            <a:pPr algn="l"/>
            <a:r>
              <a:rPr sz="2200" b="1" i="0">
                <a:solidFill>
                  <a:srgbClr val="1A1A1A"/>
                </a:solidFill>
                <a:latin typeface="Arial"/>
              </a:rPr>
              <a:t>Landform / Earthmound</a:t>
            </a:r>
          </a:p>
        </p:txBody>
      </p:sp>
      <p:sp>
        <p:nvSpPr>
          <p:cNvPr id="3" name="Rectangle 2"/>
          <p:cNvSpPr/>
          <p:nvPr/>
        </p:nvSpPr>
        <p:spPr>
          <a:xfrm>
            <a:off x="457200" y="1120000"/>
            <a:ext cx="11277600"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280000"/>
            <a:ext cx="5538800"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7200" y="1460000"/>
            <a:ext cx="5178800" cy="4340000"/>
          </a:xfrm>
          <a:prstGeom prst="rect">
            <a:avLst/>
          </a:prstGeom>
          <a:noFill/>
        </p:spPr>
        <p:txBody>
          <a:bodyPr wrap="square" lIns="0" rIns="0" tIns="0" bIns="0">
            <a:spAutoFit/>
          </a:bodyPr>
          <a:lstStyle/>
          <a:p>
            <a:pPr algn="l"/>
            <a:r>
              <a:rPr sz="1100" b="1" i="0">
                <a:solidFill>
                  <a:srgbClr val="6B6B6B"/>
                </a:solidFill>
                <a:latin typeface="Arial"/>
              </a:rPr>
              <a:t>T03B03-S04-ST-04   ·   Panel pendedahan</a:t>
            </a:r>
          </a:p>
          <a:p>
            <a:pPr algn="l"/>
            <a:r>
              <a:rPr sz="1200" b="1" i="0">
                <a:solidFill>
                  <a:srgbClr val="37474F"/>
                </a:solidFill>
                <a:latin typeface="Arial"/>
              </a:rPr>
              <a:t>Pencetus: Kecerunan Akhir  [T03B03-S04-TRG-04]</a:t>
            </a:r>
          </a:p>
          <a:p>
            <a:pPr algn="l"/>
            <a:r>
              <a:rPr sz="1000" b="1" i="0">
                <a:solidFill>
                  <a:srgbClr val="6B6B6B"/>
                </a:solidFill>
                <a:latin typeface="Arial"/>
              </a:rPr>
              <a:t>Apa yang dipaparkan</a:t>
            </a:r>
          </a:p>
          <a:p>
            <a:pPr algn="l" lvl="1"/>
            <a:r>
              <a:rPr sz="1000" b="0" i="0">
                <a:solidFill>
                  <a:srgbClr val="1A1A1A"/>
                </a:solidFill>
                <a:latin typeface="Arial"/>
              </a:rPr>
              <a:t>· Kecerunan busut mesti dibentuk mengikut nisbah yang ditetapkan dalam lukisan (cth: 1:3) untuk memastikan kestabilan dan mengelakkan hakisan. Permukaan akhir mesti dilindungi segera dengan rumput atau tanaman penutup bumi.</a:t>
            </a:r>
          </a:p>
          <a:p>
            <a:pPr algn="l"/>
            <a:r>
              <a:rPr sz="1000" b="1" i="0">
                <a:solidFill>
                  <a:srgbClr val="6B6B6B"/>
                </a:solidFill>
                <a:latin typeface="Arial"/>
              </a:rPr>
              <a:t>Beza daripada keadaan asas</a:t>
            </a:r>
          </a:p>
          <a:p>
            <a:pPr algn="l" lvl="1"/>
            <a:r>
              <a:rPr sz="1000" b="0" i="0">
                <a:solidFill>
                  <a:srgbClr val="1A1A1A"/>
                </a:solidFill>
                <a:latin typeface="Arial"/>
              </a:rPr>
              <a:t>Menambah 1 rekod yang tersembunyi dalam keadaan asas.</a:t>
            </a:r>
          </a:p>
          <a:p>
            <a:pPr algn="l"/>
            <a:r>
              <a:rPr sz="1000" b="1" i="0">
                <a:solidFill>
                  <a:srgbClr val="6B6B6B"/>
                </a:solidFill>
                <a:latin typeface="Arial"/>
              </a:rPr>
              <a:t>Cara pelajar kembali / meneruskan</a:t>
            </a:r>
          </a:p>
          <a:p>
            <a:pPr algn="l" lvl="1"/>
            <a:r>
              <a:rPr sz="1000" b="0" i="0">
                <a:solidFill>
                  <a:srgbClr val="1A1A1A"/>
                </a:solidFill>
                <a:latin typeface="Arial"/>
              </a:rPr>
              <a:t>Panel tertutup apabila ditekan sekali lagi atau apabila panel lain dibuka. Keadaan asas kembali dan sentiasa boleh dicapai. Tiada navigasi berlaku.</a:t>
            </a:r>
          </a:p>
          <a:p>
            <a:pPr algn="l"/>
            <a:r>
              <a:rPr sz="1000" b="1" i="0">
                <a:solidFill>
                  <a:srgbClr val="6B6B6B"/>
                </a:solidFill>
                <a:latin typeface="Arial"/>
              </a:rPr>
              <a:t>Sumber dan kuasa</a:t>
            </a:r>
          </a:p>
          <a:p>
            <a:pPr algn="l" lvl="1"/>
            <a:r>
              <a:rPr sz="900" b="0" i="0">
                <a:solidFill>
                  <a:srgbClr val="0D47A1"/>
                </a:solidFill>
                <a:latin typeface="Arial"/>
              </a:rPr>
              <a:t>Baris: T03B03-ROW-015</a:t>
            </a:r>
          </a:p>
          <a:p>
            <a:pPr algn="l" lvl="1"/>
            <a:r>
              <a:rPr sz="900" b="0" i="0">
                <a:solidFill>
                  <a:srgbClr val="6B6B6B"/>
                </a:solidFill>
                <a:latin typeface="Arial"/>
              </a:rPr>
              <a:t>Keputusan: A1, A2</a:t>
            </a:r>
          </a:p>
        </p:txBody>
      </p:sp>
      <p:sp>
        <p:nvSpPr>
          <p:cNvPr id="6" name="Rectangle 5"/>
          <p:cNvSpPr/>
          <p:nvPr/>
        </p:nvSpPr>
        <p:spPr>
          <a:xfrm>
            <a:off x="6196000" y="1280000"/>
            <a:ext cx="5538800"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76000" y="1460000"/>
            <a:ext cx="5178800" cy="4340000"/>
          </a:xfrm>
          <a:prstGeom prst="rect">
            <a:avLst/>
          </a:prstGeom>
          <a:noFill/>
        </p:spPr>
        <p:txBody>
          <a:bodyPr wrap="square" lIns="0" rIns="0" tIns="0" bIns="0">
            <a:spAutoFit/>
          </a:bodyPr>
          <a:lstStyle/>
          <a:p>
            <a:pPr algn="l"/>
            <a:r>
              <a:rPr sz="1100" b="1" i="0">
                <a:solidFill>
                  <a:srgbClr val="6B6B6B"/>
                </a:solidFill>
                <a:latin typeface="Arial"/>
              </a:rPr>
              <a:t>T03B03-S04-ST-ALL_VIEWED   ·   Penanda selesai</a:t>
            </a:r>
          </a:p>
          <a:p>
            <a:pPr algn="l"/>
            <a:r>
              <a:rPr sz="1200" b="1" i="0">
                <a:solidFill>
                  <a:srgbClr val="37474F"/>
                </a:solidFill>
                <a:latin typeface="Arial"/>
              </a:rPr>
              <a:t>Pencetus: semua 4 panel dilihat  [T03B03-S04-TRG-ALL]</a:t>
            </a:r>
          </a:p>
          <a:p>
            <a:pPr algn="l"/>
            <a:r>
              <a:rPr sz="1000" b="1" i="0">
                <a:solidFill>
                  <a:srgbClr val="6B6B6B"/>
                </a:solidFill>
                <a:latin typeface="Arial"/>
              </a:rPr>
              <a:t>Apa yang dipaparkan</a:t>
            </a:r>
          </a:p>
          <a:p>
            <a:pPr algn="l" lvl="1"/>
            <a:r>
              <a:rPr sz="1000" b="0" i="1">
                <a:solidFill>
                  <a:srgbClr val="6B6B6B"/>
                </a:solidFill>
                <a:latin typeface="Arial"/>
              </a:rPr>
              <a:t>Tiada kandungan dipaparkan — penanda sahaja.</a:t>
            </a:r>
          </a:p>
          <a:p>
            <a:pPr algn="l"/>
            <a:r>
              <a:rPr sz="1000" b="1" i="0">
                <a:solidFill>
                  <a:srgbClr val="6B6B6B"/>
                </a:solidFill>
                <a:latin typeface="Arial"/>
              </a:rPr>
              <a:t>Beza daripada keadaan asas</a:t>
            </a:r>
          </a:p>
          <a:p>
            <a:pPr algn="l" lvl="1"/>
            <a:r>
              <a:rPr sz="1000" b="0" i="0">
                <a:solidFill>
                  <a:srgbClr val="1A1A1A"/>
                </a:solidFill>
                <a:latin typeface="Arial"/>
              </a:rPr>
              <a:t>Tidak dipaparkan; membuka SETERUSNYA.</a:t>
            </a:r>
          </a:p>
          <a:p>
            <a:pPr algn="l"/>
            <a:r>
              <a:rPr sz="1000" b="1" i="0">
                <a:solidFill>
                  <a:srgbClr val="6B6B6B"/>
                </a:solidFill>
                <a:latin typeface="Arial"/>
              </a:rPr>
              <a:t>Cara pelajar kembali / meneruskan</a:t>
            </a:r>
          </a:p>
          <a:p>
            <a:pPr algn="l" lvl="1"/>
            <a:r>
              <a:rPr sz="1000" b="0" i="0">
                <a:solidFill>
                  <a:srgbClr val="1A1A1A"/>
                </a:solidFill>
                <a:latin typeface="Arial"/>
              </a:rPr>
              <a:t>Bukan keadaan yang dipaparkan. Penanda yang menjadi benar setelah semua pendedahan dilihat, dan inilah yang membuka SETERUSNYA.</a:t>
            </a:r>
          </a:p>
          <a:p>
            <a:pPr algn="l"/>
            <a:r>
              <a:rPr sz="1000" b="1" i="0">
                <a:solidFill>
                  <a:srgbClr val="6B6B6B"/>
                </a:solidFill>
                <a:latin typeface="Arial"/>
              </a:rPr>
              <a:t>Sumber dan kuasa</a:t>
            </a:r>
          </a:p>
          <a:p>
            <a:pPr algn="l" lvl="1"/>
            <a:r>
              <a:rPr sz="900" b="0" i="0">
                <a:solidFill>
                  <a:srgbClr val="0D47A1"/>
                </a:solidFill>
                <a:latin typeface="Arial"/>
              </a:rPr>
              <a:t>Tiada baris modul — keadaan struktur</a:t>
            </a:r>
          </a:p>
          <a:p>
            <a:pPr algn="l" lvl="1"/>
            <a:r>
              <a:rPr sz="900" b="0" i="0">
                <a:solidFill>
                  <a:srgbClr val="6B6B6B"/>
                </a:solidFill>
                <a:latin typeface="Arial"/>
              </a:rPr>
              <a:t>Keputusan: A1, A2</a:t>
            </a:r>
          </a:p>
        </p:txBody>
      </p:sp>
      <p:sp>
        <p:nvSpPr>
          <p:cNvPr id="8" name="TextBox 7"/>
          <p:cNvSpPr txBox="1"/>
          <p:nvPr/>
        </p:nvSpPr>
        <p:spPr>
          <a:xfrm>
            <a:off x="457200" y="6150000"/>
            <a:ext cx="11277600" cy="400000"/>
          </a:xfrm>
          <a:prstGeom prst="rect">
            <a:avLst/>
          </a:prstGeom>
          <a:noFill/>
        </p:spPr>
        <p:txBody>
          <a:bodyPr wrap="square" lIns="0" rIns="0" tIns="0" bIns="0">
            <a:spAutoFit/>
          </a:bodyPr>
          <a:lstStyle/>
          <a:p>
            <a:pPr algn="l"/>
            <a:r>
              <a:rPr sz="900" b="0" i="0">
                <a:solidFill>
                  <a:srgbClr val="6B6B6B"/>
                </a:solidFill>
                <a:latin typeface="Arial"/>
              </a:rPr>
              <a:t>Lampiran keadaan · 2 panel/halaman · halaman 3 daripada 20   ·   DRAFT_FOR_BARIAH_REVIEW · NOT_INSTRUCTIONALLY_APPROVED · NOT_LEARNER_FACING_FINAL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spAutoFit/>
          </a:bodyPr>
          <a:lstStyle/>
          <a:p>
            <a:pPr algn="l"/>
            <a:r>
              <a:rPr sz="1100" b="1" i="0">
                <a:solidFill>
                  <a:srgbClr val="6B6B6B"/>
                </a:solidFill>
                <a:latin typeface="Arial"/>
              </a:rPr>
              <a:t>T03B03-S05   ·   click-to-reveal</a:t>
            </a:r>
          </a:p>
          <a:p>
            <a:pPr algn="l"/>
            <a:r>
              <a:rPr sz="2200" b="1" i="0">
                <a:solidFill>
                  <a:srgbClr val="1A1A1A"/>
                </a:solidFill>
                <a:latin typeface="Arial"/>
              </a:rPr>
              <a:t>Sub soil drainage</a:t>
            </a:r>
          </a:p>
        </p:txBody>
      </p:sp>
      <p:sp>
        <p:nvSpPr>
          <p:cNvPr id="3" name="Rectangle 2"/>
          <p:cNvSpPr/>
          <p:nvPr/>
        </p:nvSpPr>
        <p:spPr>
          <a:xfrm>
            <a:off x="457200" y="1120000"/>
            <a:ext cx="11277600"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280000"/>
            <a:ext cx="5538800"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7200" y="1460000"/>
            <a:ext cx="5178800" cy="4340000"/>
          </a:xfrm>
          <a:prstGeom prst="rect">
            <a:avLst/>
          </a:prstGeom>
          <a:noFill/>
        </p:spPr>
        <p:txBody>
          <a:bodyPr wrap="square" lIns="0" rIns="0" tIns="0" bIns="0">
            <a:spAutoFit/>
          </a:bodyPr>
          <a:lstStyle/>
          <a:p>
            <a:pPr algn="l"/>
            <a:r>
              <a:rPr sz="1100" b="1" i="0">
                <a:solidFill>
                  <a:srgbClr val="6B6B6B"/>
                </a:solidFill>
                <a:latin typeface="Arial"/>
              </a:rPr>
              <a:t>T03B03-S05-ST-BASE   ·   Keadaan asas</a:t>
            </a:r>
          </a:p>
          <a:p>
            <a:pPr algn="l"/>
            <a:r>
              <a:rPr sz="1200" b="1" i="0">
                <a:solidFill>
                  <a:srgbClr val="1B5E20"/>
                </a:solidFill>
                <a:latin typeface="Arial"/>
              </a:rPr>
              <a:t>Pencetus: screen entry</a:t>
            </a:r>
          </a:p>
          <a:p>
            <a:pPr algn="l"/>
            <a:r>
              <a:rPr sz="1000" b="1" i="0">
                <a:solidFill>
                  <a:srgbClr val="6B6B6B"/>
                </a:solidFill>
                <a:latin typeface="Arial"/>
              </a:rPr>
              <a:t>Apa yang dipaparkan</a:t>
            </a:r>
          </a:p>
          <a:p>
            <a:pPr algn="l" lvl="1"/>
            <a:r>
              <a:rPr sz="1000" b="0" i="0">
                <a:solidFill>
                  <a:srgbClr val="1A1A1A"/>
                </a:solidFill>
                <a:latin typeface="Arial"/>
              </a:rPr>
              <a:t>· Sub soil drainage</a:t>
            </a:r>
          </a:p>
          <a:p>
            <a:pPr algn="l" lvl="1"/>
            <a:r>
              <a:rPr sz="1000" b="0" i="0">
                <a:solidFill>
                  <a:srgbClr val="1A1A1A"/>
                </a:solidFill>
                <a:latin typeface="Arial"/>
              </a:rPr>
              <a:t>· Fungsi</a:t>
            </a:r>
          </a:p>
          <a:p>
            <a:pPr algn="l" lvl="1"/>
            <a:r>
              <a:rPr sz="1000" b="0" i="0">
                <a:solidFill>
                  <a:srgbClr val="1A1A1A"/>
                </a:solidFill>
                <a:latin typeface="Arial"/>
              </a:rPr>
              <a:t>· Mengelakkan tanah daripada menjadi tepu air, yang boleh merosakkan akar tanaman dan menjadikan kawasan tidak boleh digunakan.</a:t>
            </a:r>
          </a:p>
          <a:p>
            <a:pPr algn="l" lvl="1"/>
            <a:r>
              <a:rPr sz="1000" b="0" i="0">
                <a:solidFill>
                  <a:srgbClr val="1A1A1A"/>
                </a:solidFill>
                <a:latin typeface="Arial"/>
              </a:rPr>
              <a:t>· Fokus Utama Kontraktor</a:t>
            </a:r>
          </a:p>
          <a:p>
            <a:pPr algn="l" lvl="1"/>
            <a:r>
              <a:rPr sz="1000" b="0" i="0">
                <a:solidFill>
                  <a:srgbClr val="1A1A1A"/>
                </a:solidFill>
                <a:latin typeface="Arial"/>
              </a:rPr>
              <a:t>· Penggalian Peparit</a:t>
            </a:r>
          </a:p>
          <a:p>
            <a:pPr algn="l" lvl="1"/>
            <a:r>
              <a:rPr sz="1000" b="0" i="0">
                <a:solidFill>
                  <a:srgbClr val="1A1A1A"/>
                </a:solidFill>
                <a:latin typeface="Arial"/>
              </a:rPr>
              <a:t>· Pemasangan Sistematik</a:t>
            </a:r>
          </a:p>
          <a:p>
            <a:pPr algn="l" lvl="1"/>
            <a:r>
              <a:rPr sz="1000" b="0" i="0">
                <a:solidFill>
                  <a:srgbClr val="1A1A1A"/>
                </a:solidFill>
                <a:latin typeface="Arial"/>
              </a:rPr>
              <a:t>· Sambungan ke Saluran Keluar</a:t>
            </a:r>
          </a:p>
          <a:p>
            <a:pPr algn="l" lvl="1"/>
            <a:r>
              <a:rPr sz="900" b="0" i="0">
                <a:solidFill>
                  <a:srgbClr val="6B6B6B"/>
                </a:solidFill>
                <a:latin typeface="Arial"/>
              </a:rPr>
              <a:t>· … 1 rekod lagi</a:t>
            </a:r>
          </a:p>
          <a:p>
            <a:pPr algn="l"/>
            <a:r>
              <a:rPr sz="1000" b="1" i="0">
                <a:solidFill>
                  <a:srgbClr val="6B6B6B"/>
                </a:solidFill>
                <a:latin typeface="Arial"/>
              </a:rPr>
              <a:t>Beza daripada keadaan asas</a:t>
            </a:r>
          </a:p>
          <a:p>
            <a:pPr algn="l" lvl="1"/>
            <a:r>
              <a:rPr sz="1000" b="0" i="0">
                <a:solidFill>
                  <a:srgbClr val="1A1A1A"/>
                </a:solidFill>
                <a:latin typeface="Arial"/>
              </a:rPr>
              <a:t>— ini keadaan asas —</a:t>
            </a:r>
          </a:p>
          <a:p>
            <a:pPr algn="l"/>
            <a:r>
              <a:rPr sz="1000" b="1" i="0">
                <a:solidFill>
                  <a:srgbClr val="6B6B6B"/>
                </a:solidFill>
                <a:latin typeface="Arial"/>
              </a:rPr>
              <a:t>Cara pelajar kembali / meneruskan</a:t>
            </a:r>
          </a:p>
          <a:p>
            <a:pPr algn="l" lvl="1"/>
            <a:r>
              <a:rPr sz="1000" b="0" i="0">
                <a:solidFill>
                  <a:srgbClr val="1A1A1A"/>
                </a:solidFill>
                <a:latin typeface="Arial"/>
              </a:rPr>
              <a:t>Keadaan masuk. Pelajar meneruskan dengan SETERUSNYA setelah syarat selesai dipenuhi.</a:t>
            </a:r>
          </a:p>
          <a:p>
            <a:pPr algn="l"/>
            <a:r>
              <a:rPr sz="1000" b="1" i="0">
                <a:solidFill>
                  <a:srgbClr val="6B6B6B"/>
                </a:solidFill>
                <a:latin typeface="Arial"/>
              </a:rPr>
              <a:t>Sumber dan kuasa</a:t>
            </a:r>
          </a:p>
          <a:p>
            <a:pPr algn="l" lvl="1"/>
            <a:r>
              <a:rPr sz="900" b="0" i="0">
                <a:solidFill>
                  <a:srgbClr val="0D47A1"/>
                </a:solidFill>
                <a:latin typeface="Arial"/>
              </a:rPr>
              <a:t>Baris: T03B03-ROW-016, T03B03-ROW-017, T03B03-ROW-018, T03B03-ROW-019, T03B03-ROW-020, T03B03-ROW-022, T03B03-ROW-030</a:t>
            </a:r>
          </a:p>
          <a:p>
            <a:pPr algn="l" lvl="1"/>
            <a:r>
              <a:rPr sz="900" b="0" i="0">
                <a:solidFill>
                  <a:srgbClr val="6B6B6B"/>
                </a:solidFill>
                <a:latin typeface="Arial"/>
              </a:rPr>
              <a:t>Keputusan: A1, A2</a:t>
            </a:r>
          </a:p>
        </p:txBody>
      </p:sp>
      <p:sp>
        <p:nvSpPr>
          <p:cNvPr id="6" name="Rectangle 5"/>
          <p:cNvSpPr/>
          <p:nvPr/>
        </p:nvSpPr>
        <p:spPr>
          <a:xfrm>
            <a:off x="6196000" y="1280000"/>
            <a:ext cx="5538800"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76000" y="1460000"/>
            <a:ext cx="5178800" cy="4340000"/>
          </a:xfrm>
          <a:prstGeom prst="rect">
            <a:avLst/>
          </a:prstGeom>
          <a:noFill/>
        </p:spPr>
        <p:txBody>
          <a:bodyPr wrap="square" lIns="0" rIns="0" tIns="0" bIns="0">
            <a:spAutoFit/>
          </a:bodyPr>
          <a:lstStyle/>
          <a:p>
            <a:pPr algn="l"/>
            <a:r>
              <a:rPr sz="1100" b="1" i="0">
                <a:solidFill>
                  <a:srgbClr val="6B6B6B"/>
                </a:solidFill>
                <a:latin typeface="Arial"/>
              </a:rPr>
              <a:t>T03B03-S05-ST-01   ·   Panel pendedahan</a:t>
            </a:r>
          </a:p>
          <a:p>
            <a:pPr algn="l"/>
            <a:r>
              <a:rPr sz="1200" b="1" i="0">
                <a:solidFill>
                  <a:srgbClr val="37474F"/>
                </a:solidFill>
                <a:latin typeface="Arial"/>
              </a:rPr>
              <a:t>Pencetus: Penggalian Peparit  [T03B03-S05-TRG-01]</a:t>
            </a:r>
          </a:p>
          <a:p>
            <a:pPr algn="l"/>
            <a:r>
              <a:rPr sz="1000" b="1" i="0">
                <a:solidFill>
                  <a:srgbClr val="6B6B6B"/>
                </a:solidFill>
                <a:latin typeface="Arial"/>
              </a:rPr>
              <a:t>Apa yang dipaparkan</a:t>
            </a:r>
          </a:p>
          <a:p>
            <a:pPr algn="l" lvl="1"/>
            <a:r>
              <a:rPr sz="1000" b="0" i="0">
                <a:solidFill>
                  <a:srgbClr val="1A1A1A"/>
                </a:solidFill>
                <a:latin typeface="Arial"/>
              </a:rPr>
              <a:t>· Peparit (trench) digali mengikut jajaran, kedalaman, dan kecerunan yang ditetapkan dalam Pelan Saliran (Drainage Plan). Kecerunan yang betul adalah kritikal untuk memastikan air mengalir.</a:t>
            </a:r>
          </a:p>
          <a:p>
            <a:pPr algn="l"/>
            <a:r>
              <a:rPr sz="1000" b="1" i="0">
                <a:solidFill>
                  <a:srgbClr val="6B6B6B"/>
                </a:solidFill>
                <a:latin typeface="Arial"/>
              </a:rPr>
              <a:t>Beza daripada keadaan asas</a:t>
            </a:r>
          </a:p>
          <a:p>
            <a:pPr algn="l" lvl="1"/>
            <a:r>
              <a:rPr sz="1000" b="0" i="0">
                <a:solidFill>
                  <a:srgbClr val="1A1A1A"/>
                </a:solidFill>
                <a:latin typeface="Arial"/>
              </a:rPr>
              <a:t>Menambah 1 rekod yang tersembunyi dalam keadaan asas.</a:t>
            </a:r>
          </a:p>
          <a:p>
            <a:pPr algn="l"/>
            <a:r>
              <a:rPr sz="1000" b="1" i="0">
                <a:solidFill>
                  <a:srgbClr val="6B6B6B"/>
                </a:solidFill>
                <a:latin typeface="Arial"/>
              </a:rPr>
              <a:t>Cara pelajar kembali / meneruskan</a:t>
            </a:r>
          </a:p>
          <a:p>
            <a:pPr algn="l" lvl="1"/>
            <a:r>
              <a:rPr sz="1000" b="0" i="0">
                <a:solidFill>
                  <a:srgbClr val="1A1A1A"/>
                </a:solidFill>
                <a:latin typeface="Arial"/>
              </a:rPr>
              <a:t>Panel tertutup apabila ditekan sekali lagi atau apabila panel lain dibuka. Keadaan asas kembali dan sentiasa boleh dicapai. Tiada navigasi berlaku.</a:t>
            </a:r>
          </a:p>
          <a:p>
            <a:pPr algn="l"/>
            <a:r>
              <a:rPr sz="1000" b="1" i="0">
                <a:solidFill>
                  <a:srgbClr val="6B6B6B"/>
                </a:solidFill>
                <a:latin typeface="Arial"/>
              </a:rPr>
              <a:t>Sumber dan kuasa</a:t>
            </a:r>
          </a:p>
          <a:p>
            <a:pPr algn="l" lvl="1"/>
            <a:r>
              <a:rPr sz="900" b="0" i="0">
                <a:solidFill>
                  <a:srgbClr val="0D47A1"/>
                </a:solidFill>
                <a:latin typeface="Arial"/>
              </a:rPr>
              <a:t>Baris: T03B03-ROW-021</a:t>
            </a:r>
          </a:p>
          <a:p>
            <a:pPr algn="l" lvl="1"/>
            <a:r>
              <a:rPr sz="900" b="0" i="0">
                <a:solidFill>
                  <a:srgbClr val="6B6B6B"/>
                </a:solidFill>
                <a:latin typeface="Arial"/>
              </a:rPr>
              <a:t>Keputusan: A1, A2</a:t>
            </a:r>
          </a:p>
        </p:txBody>
      </p:sp>
      <p:sp>
        <p:nvSpPr>
          <p:cNvPr id="8" name="TextBox 7"/>
          <p:cNvSpPr txBox="1"/>
          <p:nvPr/>
        </p:nvSpPr>
        <p:spPr>
          <a:xfrm>
            <a:off x="457200" y="6150000"/>
            <a:ext cx="11277600" cy="400000"/>
          </a:xfrm>
          <a:prstGeom prst="rect">
            <a:avLst/>
          </a:prstGeom>
          <a:noFill/>
        </p:spPr>
        <p:txBody>
          <a:bodyPr wrap="square" lIns="0" rIns="0" tIns="0" bIns="0">
            <a:spAutoFit/>
          </a:bodyPr>
          <a:lstStyle/>
          <a:p>
            <a:pPr algn="l"/>
            <a:r>
              <a:rPr sz="900" b="0" i="0">
                <a:solidFill>
                  <a:srgbClr val="6B6B6B"/>
                </a:solidFill>
                <a:latin typeface="Arial"/>
              </a:rPr>
              <a:t>Lampiran keadaan · 2 panel/halaman · halaman 4 daripada 20   ·   DRAFT_FOR_BARIAH_REVIEW · NOT_INSTRUCTIONALLY_APPROVED · NOT_LEARNER_FACING_FINAL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spAutoFit/>
          </a:bodyPr>
          <a:lstStyle/>
          <a:p>
            <a:pPr algn="l"/>
            <a:r>
              <a:rPr sz="1100" b="1" i="0">
                <a:solidFill>
                  <a:srgbClr val="6B6B6B"/>
                </a:solidFill>
                <a:latin typeface="Arial"/>
              </a:rPr>
              <a:t>T03B03-S05   ·   click-to-reveal</a:t>
            </a:r>
          </a:p>
          <a:p>
            <a:pPr algn="l"/>
            <a:r>
              <a:rPr sz="2200" b="1" i="0">
                <a:solidFill>
                  <a:srgbClr val="1A1A1A"/>
                </a:solidFill>
                <a:latin typeface="Arial"/>
              </a:rPr>
              <a:t>Sub soil drainage</a:t>
            </a:r>
          </a:p>
        </p:txBody>
      </p:sp>
      <p:sp>
        <p:nvSpPr>
          <p:cNvPr id="3" name="Rectangle 2"/>
          <p:cNvSpPr/>
          <p:nvPr/>
        </p:nvSpPr>
        <p:spPr>
          <a:xfrm>
            <a:off x="457200" y="1120000"/>
            <a:ext cx="11277600"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280000"/>
            <a:ext cx="5538800"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7200" y="1460000"/>
            <a:ext cx="5178800" cy="4340000"/>
          </a:xfrm>
          <a:prstGeom prst="rect">
            <a:avLst/>
          </a:prstGeom>
          <a:noFill/>
        </p:spPr>
        <p:txBody>
          <a:bodyPr wrap="square" lIns="0" rIns="0" tIns="0" bIns="0">
            <a:spAutoFit/>
          </a:bodyPr>
          <a:lstStyle/>
          <a:p>
            <a:pPr algn="l"/>
            <a:r>
              <a:rPr sz="1100" b="1" i="0">
                <a:solidFill>
                  <a:srgbClr val="6B6B6B"/>
                </a:solidFill>
                <a:latin typeface="Arial"/>
              </a:rPr>
              <a:t>T03B03-S05-ST-02   ·   Panel pendedahan</a:t>
            </a:r>
          </a:p>
          <a:p>
            <a:pPr algn="l"/>
            <a:r>
              <a:rPr sz="1200" b="1" i="0">
                <a:solidFill>
                  <a:srgbClr val="37474F"/>
                </a:solidFill>
                <a:latin typeface="Arial"/>
              </a:rPr>
              <a:t>Pencetus: Pemasangan Sistematik  [T03B03-S05-TRG-02]</a:t>
            </a:r>
          </a:p>
          <a:p>
            <a:pPr algn="l"/>
            <a:r>
              <a:rPr sz="1000" b="1" i="0">
                <a:solidFill>
                  <a:srgbClr val="6B6B6B"/>
                </a:solidFill>
                <a:latin typeface="Arial"/>
              </a:rPr>
              <a:t>Apa yang dipaparkan</a:t>
            </a:r>
          </a:p>
          <a:p>
            <a:pPr algn="l" lvl="1"/>
            <a:r>
              <a:rPr sz="1000" b="0" i="0">
                <a:solidFill>
                  <a:srgbClr val="1A1A1A"/>
                </a:solidFill>
                <a:latin typeface="Arial"/>
              </a:rPr>
              <a:t>· Proses pemasangan yang betul adalah kunci kejayaan sistem ini:</a:t>
            </a:r>
          </a:p>
          <a:p>
            <a:pPr algn="l" lvl="1"/>
            <a:r>
              <a:rPr sz="1000" b="0" i="0">
                <a:solidFill>
                  <a:srgbClr val="1A1A1A"/>
                </a:solidFill>
                <a:latin typeface="Arial"/>
              </a:rPr>
              <a:t>· Lapik peparit dengan kain geotekstil (geotextile fabric).</a:t>
            </a:r>
          </a:p>
          <a:p>
            <a:pPr algn="l" lvl="1"/>
            <a:r>
              <a:rPr sz="1000" b="0" i="0">
                <a:solidFill>
                  <a:srgbClr val="1A1A1A"/>
                </a:solidFill>
                <a:latin typeface="Arial"/>
              </a:rPr>
              <a:t>· Letakkan lapisan batu kelikir penapis (filter aggregate).</a:t>
            </a:r>
          </a:p>
          <a:p>
            <a:pPr algn="l" lvl="1"/>
            <a:r>
              <a:rPr sz="1000" b="0" i="0">
                <a:solidFill>
                  <a:srgbClr val="1A1A1A"/>
                </a:solidFill>
                <a:latin typeface="Arial"/>
              </a:rPr>
              <a:t>· Pasang paip berlubang (perforated pipe) dengan lubangnya menghadap ke bawah.</a:t>
            </a:r>
          </a:p>
          <a:p>
            <a:pPr algn="l" lvl="1"/>
            <a:r>
              <a:rPr sz="1000" b="0" i="0">
                <a:solidFill>
                  <a:srgbClr val="1A1A1A"/>
                </a:solidFill>
                <a:latin typeface="Arial"/>
              </a:rPr>
              <a:t>· Timbus sekeliling paip dengan batu kelikir.</a:t>
            </a:r>
          </a:p>
          <a:p>
            <a:pPr algn="l" lvl="1"/>
            <a:r>
              <a:rPr sz="1000" b="0" i="0">
                <a:solidFill>
                  <a:srgbClr val="1A1A1A"/>
                </a:solidFill>
                <a:latin typeface="Arial"/>
              </a:rPr>
              <a:t>· Lipat lebihan geotekstil untuk menutup lapisan batu kelikir.</a:t>
            </a:r>
          </a:p>
          <a:p>
            <a:pPr algn="l" lvl="1"/>
            <a:r>
              <a:rPr sz="1000" b="0" i="0">
                <a:solidFill>
                  <a:srgbClr val="1A1A1A"/>
                </a:solidFill>
                <a:latin typeface="Arial"/>
              </a:rPr>
              <a:t>· Timbus lapisan atas dengan pasir kasar dan tanah atas.</a:t>
            </a:r>
          </a:p>
          <a:p>
            <a:pPr algn="l"/>
            <a:r>
              <a:rPr sz="1000" b="1" i="0">
                <a:solidFill>
                  <a:srgbClr val="6B6B6B"/>
                </a:solidFill>
                <a:latin typeface="Arial"/>
              </a:rPr>
              <a:t>Beza daripada keadaan asas</a:t>
            </a:r>
          </a:p>
          <a:p>
            <a:pPr algn="l" lvl="1"/>
            <a:r>
              <a:rPr sz="1000" b="0" i="0">
                <a:solidFill>
                  <a:srgbClr val="1A1A1A"/>
                </a:solidFill>
                <a:latin typeface="Arial"/>
              </a:rPr>
              <a:t>Menambah 7 rekod yang tersembunyi dalam keadaan asas.</a:t>
            </a:r>
          </a:p>
          <a:p>
            <a:pPr algn="l"/>
            <a:r>
              <a:rPr sz="1000" b="1" i="0">
                <a:solidFill>
                  <a:srgbClr val="6B6B6B"/>
                </a:solidFill>
                <a:latin typeface="Arial"/>
              </a:rPr>
              <a:t>Cara pelajar kembali / meneruskan</a:t>
            </a:r>
          </a:p>
          <a:p>
            <a:pPr algn="l" lvl="1"/>
            <a:r>
              <a:rPr sz="1000" b="0" i="0">
                <a:solidFill>
                  <a:srgbClr val="1A1A1A"/>
                </a:solidFill>
                <a:latin typeface="Arial"/>
              </a:rPr>
              <a:t>Panel tertutup apabila ditekan sekali lagi atau apabila panel lain dibuka. Keadaan asas kembali dan sentiasa boleh dicapai. Tiada navigasi berlaku.</a:t>
            </a:r>
          </a:p>
          <a:p>
            <a:pPr algn="l"/>
            <a:r>
              <a:rPr sz="1000" b="1" i="0">
                <a:solidFill>
                  <a:srgbClr val="6B6B6B"/>
                </a:solidFill>
                <a:latin typeface="Arial"/>
              </a:rPr>
              <a:t>Sumber dan kuasa</a:t>
            </a:r>
          </a:p>
          <a:p>
            <a:pPr algn="l" lvl="1"/>
            <a:r>
              <a:rPr sz="900" b="0" i="0">
                <a:solidFill>
                  <a:srgbClr val="0D47A1"/>
                </a:solidFill>
                <a:latin typeface="Arial"/>
              </a:rPr>
              <a:t>Baris: T03B03-ROW-023, T03B03-ROW-024, T03B03-ROW-025, T03B03-ROW-026, T03B03-ROW-027, T03B03-ROW-028, T03B03-ROW-029</a:t>
            </a:r>
          </a:p>
          <a:p>
            <a:pPr algn="l" lvl="1"/>
            <a:r>
              <a:rPr sz="900" b="0" i="0">
                <a:solidFill>
                  <a:srgbClr val="6B6B6B"/>
                </a:solidFill>
                <a:latin typeface="Arial"/>
              </a:rPr>
              <a:t>Keputusan: A1, A2</a:t>
            </a:r>
          </a:p>
        </p:txBody>
      </p:sp>
      <p:sp>
        <p:nvSpPr>
          <p:cNvPr id="6" name="Rectangle 5"/>
          <p:cNvSpPr/>
          <p:nvPr/>
        </p:nvSpPr>
        <p:spPr>
          <a:xfrm>
            <a:off x="6196000" y="1280000"/>
            <a:ext cx="5538800"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76000" y="1460000"/>
            <a:ext cx="5178800" cy="4340000"/>
          </a:xfrm>
          <a:prstGeom prst="rect">
            <a:avLst/>
          </a:prstGeom>
          <a:noFill/>
        </p:spPr>
        <p:txBody>
          <a:bodyPr wrap="square" lIns="0" rIns="0" tIns="0" bIns="0">
            <a:spAutoFit/>
          </a:bodyPr>
          <a:lstStyle/>
          <a:p>
            <a:pPr algn="l"/>
            <a:r>
              <a:rPr sz="1100" b="1" i="0">
                <a:solidFill>
                  <a:srgbClr val="6B6B6B"/>
                </a:solidFill>
                <a:latin typeface="Arial"/>
              </a:rPr>
              <a:t>T03B03-S05-ST-03   ·   Panel pendedahan</a:t>
            </a:r>
          </a:p>
          <a:p>
            <a:pPr algn="l"/>
            <a:r>
              <a:rPr sz="1200" b="1" i="0">
                <a:solidFill>
                  <a:srgbClr val="37474F"/>
                </a:solidFill>
                <a:latin typeface="Arial"/>
              </a:rPr>
              <a:t>Pencetus: Sambungan ke Saluran Keluar  [T03B03-S05-TRG-03]</a:t>
            </a:r>
          </a:p>
          <a:p>
            <a:pPr algn="l"/>
            <a:r>
              <a:rPr sz="1000" b="1" i="0">
                <a:solidFill>
                  <a:srgbClr val="6B6B6B"/>
                </a:solidFill>
                <a:latin typeface="Arial"/>
              </a:rPr>
              <a:t>Apa yang dipaparkan</a:t>
            </a:r>
          </a:p>
          <a:p>
            <a:pPr algn="l" lvl="1"/>
            <a:r>
              <a:rPr sz="1000" b="0" i="0">
                <a:solidFill>
                  <a:srgbClr val="1A1A1A"/>
                </a:solidFill>
                <a:latin typeface="Arial"/>
              </a:rPr>
              <a:t>· Pastikan sistem saliran bawah tanah ini disambungkan ke saluran keluar yang berfungsi seperti parit utama atau sump.</a:t>
            </a:r>
          </a:p>
          <a:p>
            <a:pPr algn="l"/>
            <a:r>
              <a:rPr sz="1000" b="1" i="0">
                <a:solidFill>
                  <a:srgbClr val="6B6B6B"/>
                </a:solidFill>
                <a:latin typeface="Arial"/>
              </a:rPr>
              <a:t>Beza daripada keadaan asas</a:t>
            </a:r>
          </a:p>
          <a:p>
            <a:pPr algn="l" lvl="1"/>
            <a:r>
              <a:rPr sz="1000" b="0" i="0">
                <a:solidFill>
                  <a:srgbClr val="1A1A1A"/>
                </a:solidFill>
                <a:latin typeface="Arial"/>
              </a:rPr>
              <a:t>Menambah 1 rekod yang tersembunyi dalam keadaan asas.</a:t>
            </a:r>
          </a:p>
          <a:p>
            <a:pPr algn="l"/>
            <a:r>
              <a:rPr sz="1000" b="1" i="0">
                <a:solidFill>
                  <a:srgbClr val="6B6B6B"/>
                </a:solidFill>
                <a:latin typeface="Arial"/>
              </a:rPr>
              <a:t>Cara pelajar kembali / meneruskan</a:t>
            </a:r>
          </a:p>
          <a:p>
            <a:pPr algn="l" lvl="1"/>
            <a:r>
              <a:rPr sz="1000" b="0" i="0">
                <a:solidFill>
                  <a:srgbClr val="1A1A1A"/>
                </a:solidFill>
                <a:latin typeface="Arial"/>
              </a:rPr>
              <a:t>Panel tertutup apabila ditekan sekali lagi atau apabila panel lain dibuka. Keadaan asas kembali dan sentiasa boleh dicapai. Tiada navigasi berlaku.</a:t>
            </a:r>
          </a:p>
          <a:p>
            <a:pPr algn="l"/>
            <a:r>
              <a:rPr sz="1000" b="1" i="0">
                <a:solidFill>
                  <a:srgbClr val="6B6B6B"/>
                </a:solidFill>
                <a:latin typeface="Arial"/>
              </a:rPr>
              <a:t>Sumber dan kuasa</a:t>
            </a:r>
          </a:p>
          <a:p>
            <a:pPr algn="l" lvl="1"/>
            <a:r>
              <a:rPr sz="900" b="0" i="0">
                <a:solidFill>
                  <a:srgbClr val="0D47A1"/>
                </a:solidFill>
                <a:latin typeface="Arial"/>
              </a:rPr>
              <a:t>Baris: T03B03-ROW-031</a:t>
            </a:r>
          </a:p>
          <a:p>
            <a:pPr algn="l" lvl="1"/>
            <a:r>
              <a:rPr sz="900" b="0" i="0">
                <a:solidFill>
                  <a:srgbClr val="6B6B6B"/>
                </a:solidFill>
                <a:latin typeface="Arial"/>
              </a:rPr>
              <a:t>Keputusan: A1, A2</a:t>
            </a:r>
          </a:p>
        </p:txBody>
      </p:sp>
      <p:sp>
        <p:nvSpPr>
          <p:cNvPr id="8" name="TextBox 7"/>
          <p:cNvSpPr txBox="1"/>
          <p:nvPr/>
        </p:nvSpPr>
        <p:spPr>
          <a:xfrm>
            <a:off x="457200" y="6150000"/>
            <a:ext cx="11277600" cy="400000"/>
          </a:xfrm>
          <a:prstGeom prst="rect">
            <a:avLst/>
          </a:prstGeom>
          <a:noFill/>
        </p:spPr>
        <p:txBody>
          <a:bodyPr wrap="square" lIns="0" rIns="0" tIns="0" bIns="0">
            <a:spAutoFit/>
          </a:bodyPr>
          <a:lstStyle/>
          <a:p>
            <a:pPr algn="l"/>
            <a:r>
              <a:rPr sz="900" b="0" i="0">
                <a:solidFill>
                  <a:srgbClr val="6B6B6B"/>
                </a:solidFill>
                <a:latin typeface="Arial"/>
              </a:rPr>
              <a:t>Lampiran keadaan · 2 panel/halaman · halaman 5 daripada 20   ·   DRAFT_FOR_BARIAH_REVIEW · NOT_INSTRUCTIONALLY_APPROVED · NOT_LEARNER_FACING_FINAL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spAutoFit/>
          </a:bodyPr>
          <a:lstStyle/>
          <a:p>
            <a:pPr algn="l"/>
            <a:r>
              <a:rPr sz="1100" b="1" i="0">
                <a:solidFill>
                  <a:srgbClr val="6B6B6B"/>
                </a:solidFill>
                <a:latin typeface="Arial"/>
              </a:rPr>
              <a:t>T03B03-S05   ·   click-to-reveal</a:t>
            </a:r>
          </a:p>
          <a:p>
            <a:pPr algn="l"/>
            <a:r>
              <a:rPr sz="2200" b="1" i="0">
                <a:solidFill>
                  <a:srgbClr val="1A1A1A"/>
                </a:solidFill>
                <a:latin typeface="Arial"/>
              </a:rPr>
              <a:t>Sub soil drainage</a:t>
            </a:r>
          </a:p>
        </p:txBody>
      </p:sp>
      <p:sp>
        <p:nvSpPr>
          <p:cNvPr id="3" name="Rectangle 2"/>
          <p:cNvSpPr/>
          <p:nvPr/>
        </p:nvSpPr>
        <p:spPr>
          <a:xfrm>
            <a:off x="457200" y="1120000"/>
            <a:ext cx="11277600"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280000"/>
            <a:ext cx="5538800"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7200" y="1460000"/>
            <a:ext cx="5178800" cy="4340000"/>
          </a:xfrm>
          <a:prstGeom prst="rect">
            <a:avLst/>
          </a:prstGeom>
          <a:noFill/>
        </p:spPr>
        <p:txBody>
          <a:bodyPr wrap="square" lIns="0" rIns="0" tIns="0" bIns="0">
            <a:spAutoFit/>
          </a:bodyPr>
          <a:lstStyle/>
          <a:p>
            <a:pPr algn="l"/>
            <a:r>
              <a:rPr sz="1100" b="1" i="0">
                <a:solidFill>
                  <a:srgbClr val="6B6B6B"/>
                </a:solidFill>
                <a:latin typeface="Arial"/>
              </a:rPr>
              <a:t>T03B03-S05-ST-ALL_VIEWED   ·   Penanda selesai</a:t>
            </a:r>
          </a:p>
          <a:p>
            <a:pPr algn="l"/>
            <a:r>
              <a:rPr sz="1200" b="1" i="0">
                <a:solidFill>
                  <a:srgbClr val="37474F"/>
                </a:solidFill>
                <a:latin typeface="Arial"/>
              </a:rPr>
              <a:t>Pencetus: semua 3 panel dilihat  [T03B03-S05-TRG-ALL]</a:t>
            </a:r>
          </a:p>
          <a:p>
            <a:pPr algn="l"/>
            <a:r>
              <a:rPr sz="1000" b="1" i="0">
                <a:solidFill>
                  <a:srgbClr val="6B6B6B"/>
                </a:solidFill>
                <a:latin typeface="Arial"/>
              </a:rPr>
              <a:t>Apa yang dipaparkan</a:t>
            </a:r>
          </a:p>
          <a:p>
            <a:pPr algn="l" lvl="1"/>
            <a:r>
              <a:rPr sz="1000" b="0" i="1">
                <a:solidFill>
                  <a:srgbClr val="6B6B6B"/>
                </a:solidFill>
                <a:latin typeface="Arial"/>
              </a:rPr>
              <a:t>Tiada kandungan dipaparkan — penanda sahaja.</a:t>
            </a:r>
          </a:p>
          <a:p>
            <a:pPr algn="l"/>
            <a:r>
              <a:rPr sz="1000" b="1" i="0">
                <a:solidFill>
                  <a:srgbClr val="6B6B6B"/>
                </a:solidFill>
                <a:latin typeface="Arial"/>
              </a:rPr>
              <a:t>Beza daripada keadaan asas</a:t>
            </a:r>
          </a:p>
          <a:p>
            <a:pPr algn="l" lvl="1"/>
            <a:r>
              <a:rPr sz="1000" b="0" i="0">
                <a:solidFill>
                  <a:srgbClr val="1A1A1A"/>
                </a:solidFill>
                <a:latin typeface="Arial"/>
              </a:rPr>
              <a:t>Tidak dipaparkan; membuka SETERUSNYA.</a:t>
            </a:r>
          </a:p>
          <a:p>
            <a:pPr algn="l"/>
            <a:r>
              <a:rPr sz="1000" b="1" i="0">
                <a:solidFill>
                  <a:srgbClr val="6B6B6B"/>
                </a:solidFill>
                <a:latin typeface="Arial"/>
              </a:rPr>
              <a:t>Cara pelajar kembali / meneruskan</a:t>
            </a:r>
          </a:p>
          <a:p>
            <a:pPr algn="l" lvl="1"/>
            <a:r>
              <a:rPr sz="1000" b="0" i="0">
                <a:solidFill>
                  <a:srgbClr val="1A1A1A"/>
                </a:solidFill>
                <a:latin typeface="Arial"/>
              </a:rPr>
              <a:t>Bukan keadaan yang dipaparkan. Penanda yang menjadi benar setelah semua pendedahan dilihat, dan inilah yang membuka SETERUSNYA.</a:t>
            </a:r>
          </a:p>
          <a:p>
            <a:pPr algn="l"/>
            <a:r>
              <a:rPr sz="1000" b="1" i="0">
                <a:solidFill>
                  <a:srgbClr val="6B6B6B"/>
                </a:solidFill>
                <a:latin typeface="Arial"/>
              </a:rPr>
              <a:t>Sumber dan kuasa</a:t>
            </a:r>
          </a:p>
          <a:p>
            <a:pPr algn="l" lvl="1"/>
            <a:r>
              <a:rPr sz="900" b="0" i="0">
                <a:solidFill>
                  <a:srgbClr val="0D47A1"/>
                </a:solidFill>
                <a:latin typeface="Arial"/>
              </a:rPr>
              <a:t>Tiada baris modul — keadaan struktur</a:t>
            </a:r>
          </a:p>
          <a:p>
            <a:pPr algn="l" lvl="1"/>
            <a:r>
              <a:rPr sz="900" b="0" i="0">
                <a:solidFill>
                  <a:srgbClr val="6B6B6B"/>
                </a:solidFill>
                <a:latin typeface="Arial"/>
              </a:rPr>
              <a:t>Keputusan: A1, A2</a:t>
            </a:r>
          </a:p>
        </p:txBody>
      </p:sp>
      <p:sp>
        <p:nvSpPr>
          <p:cNvPr id="6" name="TextBox 5"/>
          <p:cNvSpPr txBox="1"/>
          <p:nvPr/>
        </p:nvSpPr>
        <p:spPr>
          <a:xfrm>
            <a:off x="457200" y="6150000"/>
            <a:ext cx="11277600" cy="400000"/>
          </a:xfrm>
          <a:prstGeom prst="rect">
            <a:avLst/>
          </a:prstGeom>
          <a:noFill/>
        </p:spPr>
        <p:txBody>
          <a:bodyPr wrap="square" lIns="0" rIns="0" tIns="0" bIns="0">
            <a:spAutoFit/>
          </a:bodyPr>
          <a:lstStyle/>
          <a:p>
            <a:pPr algn="l"/>
            <a:r>
              <a:rPr sz="900" b="0" i="0">
                <a:solidFill>
                  <a:srgbClr val="6B6B6B"/>
                </a:solidFill>
                <a:latin typeface="Arial"/>
              </a:rPr>
              <a:t>Lampiran keadaan · 2 panel/halaman · halaman 6 daripada 20   ·   DRAFT_FOR_BARIAH_REVIEW · NOT_INSTRUCTIONALLY_APPROVED · NOT_LEARNER_FACING_FINAL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spAutoFit/>
          </a:bodyPr>
          <a:lstStyle/>
          <a:p>
            <a:pPr algn="l"/>
            <a:r>
              <a:rPr sz="1100" b="1" i="0">
                <a:solidFill>
                  <a:srgbClr val="6B6B6B"/>
                </a:solidFill>
                <a:latin typeface="Arial"/>
              </a:rPr>
              <a:t>T03B03-S06   ·   click-to-reveal</a:t>
            </a:r>
          </a:p>
          <a:p>
            <a:pPr algn="l"/>
            <a:r>
              <a:rPr sz="2200" b="1" i="0">
                <a:solidFill>
                  <a:srgbClr val="1A1A1A"/>
                </a:solidFill>
                <a:latin typeface="Arial"/>
              </a:rPr>
              <a:t>Dinding Penahan (Retaining Wall)</a:t>
            </a:r>
          </a:p>
        </p:txBody>
      </p:sp>
      <p:sp>
        <p:nvSpPr>
          <p:cNvPr id="3" name="Rectangle 2"/>
          <p:cNvSpPr/>
          <p:nvPr/>
        </p:nvSpPr>
        <p:spPr>
          <a:xfrm>
            <a:off x="457200" y="1120000"/>
            <a:ext cx="11277600"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280000"/>
            <a:ext cx="5538800"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7200" y="1460000"/>
            <a:ext cx="5178800" cy="4340000"/>
          </a:xfrm>
          <a:prstGeom prst="rect">
            <a:avLst/>
          </a:prstGeom>
          <a:noFill/>
        </p:spPr>
        <p:txBody>
          <a:bodyPr wrap="square" lIns="0" rIns="0" tIns="0" bIns="0">
            <a:spAutoFit/>
          </a:bodyPr>
          <a:lstStyle/>
          <a:p>
            <a:pPr algn="l"/>
            <a:r>
              <a:rPr sz="1100" b="1" i="0">
                <a:solidFill>
                  <a:srgbClr val="6B6B6B"/>
                </a:solidFill>
                <a:latin typeface="Arial"/>
              </a:rPr>
              <a:t>T03B03-S06-ST-BASE   ·   Keadaan asas</a:t>
            </a:r>
          </a:p>
          <a:p>
            <a:pPr algn="l"/>
            <a:r>
              <a:rPr sz="1200" b="1" i="0">
                <a:solidFill>
                  <a:srgbClr val="1B5E20"/>
                </a:solidFill>
                <a:latin typeface="Arial"/>
              </a:rPr>
              <a:t>Pencetus: screen entry</a:t>
            </a:r>
          </a:p>
          <a:p>
            <a:pPr algn="l"/>
            <a:r>
              <a:rPr sz="1000" b="1" i="0">
                <a:solidFill>
                  <a:srgbClr val="6B6B6B"/>
                </a:solidFill>
                <a:latin typeface="Arial"/>
              </a:rPr>
              <a:t>Apa yang dipaparkan</a:t>
            </a:r>
          </a:p>
          <a:p>
            <a:pPr algn="l" lvl="1"/>
            <a:r>
              <a:rPr sz="1000" b="0" i="0">
                <a:solidFill>
                  <a:srgbClr val="1A1A1A"/>
                </a:solidFill>
                <a:latin typeface="Arial"/>
              </a:rPr>
              <a:t>· Dinding Penahan (Retaining Wall)</a:t>
            </a:r>
          </a:p>
          <a:p>
            <a:pPr algn="l" lvl="1"/>
            <a:r>
              <a:rPr sz="1000" b="0" i="0">
                <a:solidFill>
                  <a:srgbClr val="1A1A1A"/>
                </a:solidFill>
                <a:latin typeface="Arial"/>
              </a:rPr>
              <a:t>· Fungsi</a:t>
            </a:r>
          </a:p>
          <a:p>
            <a:pPr algn="l" lvl="1"/>
            <a:r>
              <a:rPr sz="1000" b="0" i="0">
                <a:solidFill>
                  <a:srgbClr val="1A1A1A"/>
                </a:solidFill>
                <a:latin typeface="Arial"/>
              </a:rPr>
              <a:t>· Membentuk kawasan rata di lereng bukit, menstabilkan cerun, dan menetapkan sempadan aras.</a:t>
            </a:r>
          </a:p>
          <a:p>
            <a:pPr algn="l" lvl="1"/>
            <a:r>
              <a:rPr sz="1000" b="0" i="0">
                <a:solidFill>
                  <a:srgbClr val="1A1A1A"/>
                </a:solidFill>
                <a:latin typeface="Arial"/>
              </a:rPr>
              <a:t>· Fokus Utama Kontraktor</a:t>
            </a:r>
          </a:p>
          <a:p>
            <a:pPr algn="l" lvl="1"/>
            <a:r>
              <a:rPr sz="1000" b="0" i="0">
                <a:solidFill>
                  <a:srgbClr val="1A1A1A"/>
                </a:solidFill>
                <a:latin typeface="Arial"/>
              </a:rPr>
              <a:t>· Lukisan Jurutera</a:t>
            </a:r>
          </a:p>
          <a:p>
            <a:pPr algn="l" lvl="1"/>
            <a:r>
              <a:rPr sz="1000" b="0" i="0">
                <a:solidFill>
                  <a:srgbClr val="1A1A1A"/>
                </a:solidFill>
                <a:latin typeface="Arial"/>
              </a:rPr>
              <a:t>· Pembinaan Tapak Asas (Foundation)</a:t>
            </a:r>
          </a:p>
          <a:p>
            <a:pPr algn="l" lvl="1"/>
            <a:r>
              <a:rPr sz="1000" b="0" i="0">
                <a:solidFill>
                  <a:srgbClr val="1A1A1A"/>
                </a:solidFill>
                <a:latin typeface="Arial"/>
              </a:rPr>
              <a:t>· Sistem Perparitan di Belakang Dinding</a:t>
            </a:r>
          </a:p>
          <a:p>
            <a:pPr algn="l" lvl="1"/>
            <a:r>
              <a:rPr sz="900" b="0" i="0">
                <a:solidFill>
                  <a:srgbClr val="6B6B6B"/>
                </a:solidFill>
                <a:latin typeface="Arial"/>
              </a:rPr>
              <a:t>· … 1 rekod lagi</a:t>
            </a:r>
          </a:p>
          <a:p>
            <a:pPr algn="l"/>
            <a:r>
              <a:rPr sz="1000" b="1" i="0">
                <a:solidFill>
                  <a:srgbClr val="6B6B6B"/>
                </a:solidFill>
                <a:latin typeface="Arial"/>
              </a:rPr>
              <a:t>Beza daripada keadaan asas</a:t>
            </a:r>
          </a:p>
          <a:p>
            <a:pPr algn="l" lvl="1"/>
            <a:r>
              <a:rPr sz="1000" b="0" i="0">
                <a:solidFill>
                  <a:srgbClr val="1A1A1A"/>
                </a:solidFill>
                <a:latin typeface="Arial"/>
              </a:rPr>
              <a:t>— ini keadaan asas —</a:t>
            </a:r>
          </a:p>
          <a:p>
            <a:pPr algn="l"/>
            <a:r>
              <a:rPr sz="1000" b="1" i="0">
                <a:solidFill>
                  <a:srgbClr val="6B6B6B"/>
                </a:solidFill>
                <a:latin typeface="Arial"/>
              </a:rPr>
              <a:t>Cara pelajar kembali / meneruskan</a:t>
            </a:r>
          </a:p>
          <a:p>
            <a:pPr algn="l" lvl="1"/>
            <a:r>
              <a:rPr sz="1000" b="0" i="0">
                <a:solidFill>
                  <a:srgbClr val="1A1A1A"/>
                </a:solidFill>
                <a:latin typeface="Arial"/>
              </a:rPr>
              <a:t>Keadaan masuk. Pelajar meneruskan dengan SETERUSNYA setelah syarat selesai dipenuhi.</a:t>
            </a:r>
          </a:p>
          <a:p>
            <a:pPr algn="l"/>
            <a:r>
              <a:rPr sz="1000" b="1" i="0">
                <a:solidFill>
                  <a:srgbClr val="6B6B6B"/>
                </a:solidFill>
                <a:latin typeface="Arial"/>
              </a:rPr>
              <a:t>Sumber dan kuasa</a:t>
            </a:r>
          </a:p>
          <a:p>
            <a:pPr algn="l" lvl="1"/>
            <a:r>
              <a:rPr sz="900" b="0" i="0">
                <a:solidFill>
                  <a:srgbClr val="0D47A1"/>
                </a:solidFill>
                <a:latin typeface="Arial"/>
              </a:rPr>
              <a:t>Baris: T03B03-ROW-032, T03B03-ROW-033, T03B03-ROW-034, T03B03-ROW-035, T03B03-ROW-036, T03B03-ROW-038, T03B03-ROW-040</a:t>
            </a:r>
          </a:p>
          <a:p>
            <a:pPr algn="l" lvl="1"/>
            <a:r>
              <a:rPr sz="900" b="0" i="0">
                <a:solidFill>
                  <a:srgbClr val="6B6B6B"/>
                </a:solidFill>
                <a:latin typeface="Arial"/>
              </a:rPr>
              <a:t>Keputusan: A1, A2</a:t>
            </a:r>
          </a:p>
        </p:txBody>
      </p:sp>
      <p:sp>
        <p:nvSpPr>
          <p:cNvPr id="6" name="Rectangle 5"/>
          <p:cNvSpPr/>
          <p:nvPr/>
        </p:nvSpPr>
        <p:spPr>
          <a:xfrm>
            <a:off x="6196000" y="1280000"/>
            <a:ext cx="5538800"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76000" y="1460000"/>
            <a:ext cx="5178800" cy="4340000"/>
          </a:xfrm>
          <a:prstGeom prst="rect">
            <a:avLst/>
          </a:prstGeom>
          <a:noFill/>
        </p:spPr>
        <p:txBody>
          <a:bodyPr wrap="square" lIns="0" rIns="0" tIns="0" bIns="0">
            <a:spAutoFit/>
          </a:bodyPr>
          <a:lstStyle/>
          <a:p>
            <a:pPr algn="l"/>
            <a:r>
              <a:rPr sz="1100" b="1" i="0">
                <a:solidFill>
                  <a:srgbClr val="6B6B6B"/>
                </a:solidFill>
                <a:latin typeface="Arial"/>
              </a:rPr>
              <a:t>T03B03-S06-ST-01   ·   Panel pendedahan</a:t>
            </a:r>
          </a:p>
          <a:p>
            <a:pPr algn="l"/>
            <a:r>
              <a:rPr sz="1200" b="1" i="0">
                <a:solidFill>
                  <a:srgbClr val="37474F"/>
                </a:solidFill>
                <a:latin typeface="Arial"/>
              </a:rPr>
              <a:t>Pencetus: Lukisan Jurutera  [T03B03-S06-TRG-01]</a:t>
            </a:r>
          </a:p>
          <a:p>
            <a:pPr algn="l"/>
            <a:r>
              <a:rPr sz="1000" b="1" i="0">
                <a:solidFill>
                  <a:srgbClr val="6B6B6B"/>
                </a:solidFill>
                <a:latin typeface="Arial"/>
              </a:rPr>
              <a:t>Apa yang dipaparkan</a:t>
            </a:r>
          </a:p>
          <a:p>
            <a:pPr algn="l" lvl="1"/>
            <a:r>
              <a:rPr sz="1000" b="0" i="0">
                <a:solidFill>
                  <a:srgbClr val="1A1A1A"/>
                </a:solidFill>
                <a:latin typeface="Arial"/>
              </a:rPr>
              <a:t>· Dinding penahan mesti dibina dengan mematuhi sepenuhnya Lukisan Struktur Jurutera Bertauliah (Ir.). Sebarang perubahan memerlukan kelulusan jurutera.</a:t>
            </a:r>
          </a:p>
          <a:p>
            <a:pPr algn="l"/>
            <a:r>
              <a:rPr sz="1000" b="1" i="0">
                <a:solidFill>
                  <a:srgbClr val="6B6B6B"/>
                </a:solidFill>
                <a:latin typeface="Arial"/>
              </a:rPr>
              <a:t>Beza daripada keadaan asas</a:t>
            </a:r>
          </a:p>
          <a:p>
            <a:pPr algn="l" lvl="1"/>
            <a:r>
              <a:rPr sz="1000" b="0" i="0">
                <a:solidFill>
                  <a:srgbClr val="1A1A1A"/>
                </a:solidFill>
                <a:latin typeface="Arial"/>
              </a:rPr>
              <a:t>Menambah 1 rekod yang tersembunyi dalam keadaan asas.</a:t>
            </a:r>
          </a:p>
          <a:p>
            <a:pPr algn="l"/>
            <a:r>
              <a:rPr sz="1000" b="1" i="0">
                <a:solidFill>
                  <a:srgbClr val="6B6B6B"/>
                </a:solidFill>
                <a:latin typeface="Arial"/>
              </a:rPr>
              <a:t>Cara pelajar kembali / meneruskan</a:t>
            </a:r>
          </a:p>
          <a:p>
            <a:pPr algn="l" lvl="1"/>
            <a:r>
              <a:rPr sz="1000" b="0" i="0">
                <a:solidFill>
                  <a:srgbClr val="1A1A1A"/>
                </a:solidFill>
                <a:latin typeface="Arial"/>
              </a:rPr>
              <a:t>Panel tertutup apabila ditekan sekali lagi atau apabila panel lain dibuka. Keadaan asas kembali dan sentiasa boleh dicapai. Tiada navigasi berlaku.</a:t>
            </a:r>
          </a:p>
          <a:p>
            <a:pPr algn="l"/>
            <a:r>
              <a:rPr sz="1000" b="1" i="0">
                <a:solidFill>
                  <a:srgbClr val="6B6B6B"/>
                </a:solidFill>
                <a:latin typeface="Arial"/>
              </a:rPr>
              <a:t>Sumber dan kuasa</a:t>
            </a:r>
          </a:p>
          <a:p>
            <a:pPr algn="l" lvl="1"/>
            <a:r>
              <a:rPr sz="900" b="0" i="0">
                <a:solidFill>
                  <a:srgbClr val="0D47A1"/>
                </a:solidFill>
                <a:latin typeface="Arial"/>
              </a:rPr>
              <a:t>Baris: T03B03-ROW-037</a:t>
            </a:r>
          </a:p>
          <a:p>
            <a:pPr algn="l" lvl="1"/>
            <a:r>
              <a:rPr sz="900" b="0" i="0">
                <a:solidFill>
                  <a:srgbClr val="6B6B6B"/>
                </a:solidFill>
                <a:latin typeface="Arial"/>
              </a:rPr>
              <a:t>Keputusan: A1, A2</a:t>
            </a:r>
          </a:p>
        </p:txBody>
      </p:sp>
      <p:sp>
        <p:nvSpPr>
          <p:cNvPr id="8" name="TextBox 7"/>
          <p:cNvSpPr txBox="1"/>
          <p:nvPr/>
        </p:nvSpPr>
        <p:spPr>
          <a:xfrm>
            <a:off x="457200" y="6150000"/>
            <a:ext cx="11277600" cy="400000"/>
          </a:xfrm>
          <a:prstGeom prst="rect">
            <a:avLst/>
          </a:prstGeom>
          <a:noFill/>
        </p:spPr>
        <p:txBody>
          <a:bodyPr wrap="square" lIns="0" rIns="0" tIns="0" bIns="0">
            <a:spAutoFit/>
          </a:bodyPr>
          <a:lstStyle/>
          <a:p>
            <a:pPr algn="l"/>
            <a:r>
              <a:rPr sz="900" b="0" i="0">
                <a:solidFill>
                  <a:srgbClr val="6B6B6B"/>
                </a:solidFill>
                <a:latin typeface="Arial"/>
              </a:rPr>
              <a:t>Lampiran keadaan · 2 panel/halaman · halaman 7 daripada 20   ·   DRAFT_FOR_BARIAH_REVIEW · NOT_INSTRUCTIONALLY_APPROVED · NOT_LEARNER_FACING_FINAL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spAutoFit/>
          </a:bodyPr>
          <a:lstStyle/>
          <a:p>
            <a:pPr algn="l"/>
            <a:r>
              <a:rPr sz="1100" b="1" i="0">
                <a:solidFill>
                  <a:srgbClr val="6B6B6B"/>
                </a:solidFill>
                <a:latin typeface="Arial"/>
              </a:rPr>
              <a:t>T03B03-S06   ·   click-to-reveal</a:t>
            </a:r>
          </a:p>
          <a:p>
            <a:pPr algn="l"/>
            <a:r>
              <a:rPr sz="2200" b="1" i="0">
                <a:solidFill>
                  <a:srgbClr val="1A1A1A"/>
                </a:solidFill>
                <a:latin typeface="Arial"/>
              </a:rPr>
              <a:t>Dinding Penahan (Retaining Wall)</a:t>
            </a:r>
          </a:p>
        </p:txBody>
      </p:sp>
      <p:sp>
        <p:nvSpPr>
          <p:cNvPr id="3" name="Rectangle 2"/>
          <p:cNvSpPr/>
          <p:nvPr/>
        </p:nvSpPr>
        <p:spPr>
          <a:xfrm>
            <a:off x="457200" y="1120000"/>
            <a:ext cx="11277600"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280000"/>
            <a:ext cx="5538800"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7200" y="1460000"/>
            <a:ext cx="5178800" cy="4340000"/>
          </a:xfrm>
          <a:prstGeom prst="rect">
            <a:avLst/>
          </a:prstGeom>
          <a:noFill/>
        </p:spPr>
        <p:txBody>
          <a:bodyPr wrap="square" lIns="0" rIns="0" tIns="0" bIns="0">
            <a:spAutoFit/>
          </a:bodyPr>
          <a:lstStyle/>
          <a:p>
            <a:pPr algn="l"/>
            <a:r>
              <a:rPr sz="1100" b="1" i="0">
                <a:solidFill>
                  <a:srgbClr val="6B6B6B"/>
                </a:solidFill>
                <a:latin typeface="Arial"/>
              </a:rPr>
              <a:t>T03B03-S06-ST-02   ·   Panel pendedahan</a:t>
            </a:r>
          </a:p>
          <a:p>
            <a:pPr algn="l"/>
            <a:r>
              <a:rPr sz="1200" b="1" i="0">
                <a:solidFill>
                  <a:srgbClr val="37474F"/>
                </a:solidFill>
                <a:latin typeface="Arial"/>
              </a:rPr>
              <a:t>Pencetus: Pembinaan Tapak Asas (Foundation)  [T03B03-S06-TRG-02]</a:t>
            </a:r>
          </a:p>
          <a:p>
            <a:pPr algn="l"/>
            <a:r>
              <a:rPr sz="1000" b="1" i="0">
                <a:solidFill>
                  <a:srgbClr val="6B6B6B"/>
                </a:solidFill>
                <a:latin typeface="Arial"/>
              </a:rPr>
              <a:t>Apa yang dipaparkan</a:t>
            </a:r>
          </a:p>
          <a:p>
            <a:pPr algn="l" lvl="1"/>
            <a:r>
              <a:rPr sz="1000" b="0" i="0">
                <a:solidFill>
                  <a:srgbClr val="1A1A1A"/>
                </a:solidFill>
                <a:latin typeface="Arial"/>
              </a:rPr>
              <a:t>· Tapak asas adalah komponen paling kritikal. Ia mesti dibina di atas tanah yang stabil pada kedalaman dan saiz yang betul.</a:t>
            </a:r>
          </a:p>
          <a:p>
            <a:pPr algn="l"/>
            <a:r>
              <a:rPr sz="1000" b="1" i="0">
                <a:solidFill>
                  <a:srgbClr val="6B6B6B"/>
                </a:solidFill>
                <a:latin typeface="Arial"/>
              </a:rPr>
              <a:t>Beza daripada keadaan asas</a:t>
            </a:r>
          </a:p>
          <a:p>
            <a:pPr algn="l" lvl="1"/>
            <a:r>
              <a:rPr sz="1000" b="0" i="0">
                <a:solidFill>
                  <a:srgbClr val="1A1A1A"/>
                </a:solidFill>
                <a:latin typeface="Arial"/>
              </a:rPr>
              <a:t>Menambah 1 rekod yang tersembunyi dalam keadaan asas.</a:t>
            </a:r>
          </a:p>
          <a:p>
            <a:pPr algn="l"/>
            <a:r>
              <a:rPr sz="1000" b="1" i="0">
                <a:solidFill>
                  <a:srgbClr val="6B6B6B"/>
                </a:solidFill>
                <a:latin typeface="Arial"/>
              </a:rPr>
              <a:t>Cara pelajar kembali / meneruskan</a:t>
            </a:r>
          </a:p>
          <a:p>
            <a:pPr algn="l" lvl="1"/>
            <a:r>
              <a:rPr sz="1000" b="0" i="0">
                <a:solidFill>
                  <a:srgbClr val="1A1A1A"/>
                </a:solidFill>
                <a:latin typeface="Arial"/>
              </a:rPr>
              <a:t>Panel tertutup apabila ditekan sekali lagi atau apabila panel lain dibuka. Keadaan asas kembali dan sentiasa boleh dicapai. Tiada navigasi berlaku.</a:t>
            </a:r>
          </a:p>
          <a:p>
            <a:pPr algn="l"/>
            <a:r>
              <a:rPr sz="1000" b="1" i="0">
                <a:solidFill>
                  <a:srgbClr val="6B6B6B"/>
                </a:solidFill>
                <a:latin typeface="Arial"/>
              </a:rPr>
              <a:t>Sumber dan kuasa</a:t>
            </a:r>
          </a:p>
          <a:p>
            <a:pPr algn="l" lvl="1"/>
            <a:r>
              <a:rPr sz="900" b="0" i="0">
                <a:solidFill>
                  <a:srgbClr val="0D47A1"/>
                </a:solidFill>
                <a:latin typeface="Arial"/>
              </a:rPr>
              <a:t>Baris: T03B03-ROW-039</a:t>
            </a:r>
          </a:p>
          <a:p>
            <a:pPr algn="l" lvl="1"/>
            <a:r>
              <a:rPr sz="900" b="0" i="0">
                <a:solidFill>
                  <a:srgbClr val="6B6B6B"/>
                </a:solidFill>
                <a:latin typeface="Arial"/>
              </a:rPr>
              <a:t>Keputusan: A1, A2</a:t>
            </a:r>
          </a:p>
        </p:txBody>
      </p:sp>
      <p:sp>
        <p:nvSpPr>
          <p:cNvPr id="6" name="Rectangle 5"/>
          <p:cNvSpPr/>
          <p:nvPr/>
        </p:nvSpPr>
        <p:spPr>
          <a:xfrm>
            <a:off x="6196000" y="1280000"/>
            <a:ext cx="5538800"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76000" y="1460000"/>
            <a:ext cx="5178800" cy="4340000"/>
          </a:xfrm>
          <a:prstGeom prst="rect">
            <a:avLst/>
          </a:prstGeom>
          <a:noFill/>
        </p:spPr>
        <p:txBody>
          <a:bodyPr wrap="square" lIns="0" rIns="0" tIns="0" bIns="0">
            <a:spAutoFit/>
          </a:bodyPr>
          <a:lstStyle/>
          <a:p>
            <a:pPr algn="l"/>
            <a:r>
              <a:rPr sz="1100" b="1" i="0">
                <a:solidFill>
                  <a:srgbClr val="6B6B6B"/>
                </a:solidFill>
                <a:latin typeface="Arial"/>
              </a:rPr>
              <a:t>T03B03-S06-ST-03   ·   Panel pendedahan</a:t>
            </a:r>
          </a:p>
          <a:p>
            <a:pPr algn="l"/>
            <a:r>
              <a:rPr sz="1200" b="1" i="0">
                <a:solidFill>
                  <a:srgbClr val="37474F"/>
                </a:solidFill>
                <a:latin typeface="Arial"/>
              </a:rPr>
              <a:t>Pencetus: Sistem Perparitan di Belakang Dinding  [T03B03-S06-TRG-03]</a:t>
            </a:r>
          </a:p>
          <a:p>
            <a:pPr algn="l"/>
            <a:r>
              <a:rPr sz="1000" b="1" i="0">
                <a:solidFill>
                  <a:srgbClr val="6B6B6B"/>
                </a:solidFill>
                <a:latin typeface="Arial"/>
              </a:rPr>
              <a:t>Apa yang dipaparkan</a:t>
            </a:r>
          </a:p>
          <a:p>
            <a:pPr algn="l" lvl="1"/>
            <a:r>
              <a:rPr sz="1000" b="0" i="0">
                <a:solidFill>
                  <a:srgbClr val="1A1A1A"/>
                </a:solidFill>
                <a:latin typeface="Arial"/>
              </a:rPr>
              <a:t>· Kegagalan dinding penahan selalunya berpunca daripada tekanan air (hydrostatic pressure). Kontraktor wajib memastikan lubang saliran air (weep holes) dibina dan lapisan penapis (seperti batu kelikir) diletakkan di belakang dinding untuk membolehkan air keluar.</a:t>
            </a:r>
          </a:p>
          <a:p>
            <a:pPr algn="l"/>
            <a:r>
              <a:rPr sz="1000" b="1" i="0">
                <a:solidFill>
                  <a:srgbClr val="6B6B6B"/>
                </a:solidFill>
                <a:latin typeface="Arial"/>
              </a:rPr>
              <a:t>Beza daripada keadaan asas</a:t>
            </a:r>
          </a:p>
          <a:p>
            <a:pPr algn="l" lvl="1"/>
            <a:r>
              <a:rPr sz="1000" b="0" i="0">
                <a:solidFill>
                  <a:srgbClr val="1A1A1A"/>
                </a:solidFill>
                <a:latin typeface="Arial"/>
              </a:rPr>
              <a:t>Menambah 1 rekod yang tersembunyi dalam keadaan asas.</a:t>
            </a:r>
          </a:p>
          <a:p>
            <a:pPr algn="l"/>
            <a:r>
              <a:rPr sz="1000" b="1" i="0">
                <a:solidFill>
                  <a:srgbClr val="6B6B6B"/>
                </a:solidFill>
                <a:latin typeface="Arial"/>
              </a:rPr>
              <a:t>Cara pelajar kembali / meneruskan</a:t>
            </a:r>
          </a:p>
          <a:p>
            <a:pPr algn="l" lvl="1"/>
            <a:r>
              <a:rPr sz="1000" b="0" i="0">
                <a:solidFill>
                  <a:srgbClr val="1A1A1A"/>
                </a:solidFill>
                <a:latin typeface="Arial"/>
              </a:rPr>
              <a:t>Panel tertutup apabila ditekan sekali lagi atau apabila panel lain dibuka. Keadaan asas kembali dan sentiasa boleh dicapai. Tiada navigasi berlaku.</a:t>
            </a:r>
          </a:p>
          <a:p>
            <a:pPr algn="l"/>
            <a:r>
              <a:rPr sz="1000" b="1" i="0">
                <a:solidFill>
                  <a:srgbClr val="6B6B6B"/>
                </a:solidFill>
                <a:latin typeface="Arial"/>
              </a:rPr>
              <a:t>Sumber dan kuasa</a:t>
            </a:r>
          </a:p>
          <a:p>
            <a:pPr algn="l" lvl="1"/>
            <a:r>
              <a:rPr sz="900" b="0" i="0">
                <a:solidFill>
                  <a:srgbClr val="0D47A1"/>
                </a:solidFill>
                <a:latin typeface="Arial"/>
              </a:rPr>
              <a:t>Baris: T03B03-ROW-041</a:t>
            </a:r>
          </a:p>
          <a:p>
            <a:pPr algn="l" lvl="1"/>
            <a:r>
              <a:rPr sz="900" b="0" i="0">
                <a:solidFill>
                  <a:srgbClr val="6B6B6B"/>
                </a:solidFill>
                <a:latin typeface="Arial"/>
              </a:rPr>
              <a:t>Keputusan: A1, A2</a:t>
            </a:r>
          </a:p>
        </p:txBody>
      </p:sp>
      <p:sp>
        <p:nvSpPr>
          <p:cNvPr id="8" name="TextBox 7"/>
          <p:cNvSpPr txBox="1"/>
          <p:nvPr/>
        </p:nvSpPr>
        <p:spPr>
          <a:xfrm>
            <a:off x="457200" y="6150000"/>
            <a:ext cx="11277600" cy="400000"/>
          </a:xfrm>
          <a:prstGeom prst="rect">
            <a:avLst/>
          </a:prstGeom>
          <a:noFill/>
        </p:spPr>
        <p:txBody>
          <a:bodyPr wrap="square" lIns="0" rIns="0" tIns="0" bIns="0">
            <a:spAutoFit/>
          </a:bodyPr>
          <a:lstStyle/>
          <a:p>
            <a:pPr algn="l"/>
            <a:r>
              <a:rPr sz="900" b="0" i="0">
                <a:solidFill>
                  <a:srgbClr val="6B6B6B"/>
                </a:solidFill>
                <a:latin typeface="Arial"/>
              </a:rPr>
              <a:t>Lampiran keadaan · 2 panel/halaman · halaman 8 daripada 20   ·   DRAFT_FOR_BARIAH_REVIEW · NOT_INSTRUCTIONALLY_APPROVED · NOT_LEARNER_FACING_FINAL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spAutoFit/>
          </a:bodyPr>
          <a:lstStyle/>
          <a:p>
            <a:pPr algn="l"/>
            <a:r>
              <a:rPr sz="1100" b="1" i="0">
                <a:solidFill>
                  <a:srgbClr val="6B6B6B"/>
                </a:solidFill>
                <a:latin typeface="Arial"/>
              </a:rPr>
              <a:t>T03B03-S06   ·   click-to-reveal</a:t>
            </a:r>
          </a:p>
          <a:p>
            <a:pPr algn="l"/>
            <a:r>
              <a:rPr sz="2200" b="1" i="0">
                <a:solidFill>
                  <a:srgbClr val="1A1A1A"/>
                </a:solidFill>
                <a:latin typeface="Arial"/>
              </a:rPr>
              <a:t>Dinding Penahan (Retaining Wall)</a:t>
            </a:r>
          </a:p>
        </p:txBody>
      </p:sp>
      <p:sp>
        <p:nvSpPr>
          <p:cNvPr id="3" name="Rectangle 2"/>
          <p:cNvSpPr/>
          <p:nvPr/>
        </p:nvSpPr>
        <p:spPr>
          <a:xfrm>
            <a:off x="457200" y="1120000"/>
            <a:ext cx="11277600"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280000"/>
            <a:ext cx="5538800"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7200" y="1460000"/>
            <a:ext cx="5178800" cy="4340000"/>
          </a:xfrm>
          <a:prstGeom prst="rect">
            <a:avLst/>
          </a:prstGeom>
          <a:noFill/>
        </p:spPr>
        <p:txBody>
          <a:bodyPr wrap="square" lIns="0" rIns="0" tIns="0" bIns="0">
            <a:spAutoFit/>
          </a:bodyPr>
          <a:lstStyle/>
          <a:p>
            <a:pPr algn="l"/>
            <a:r>
              <a:rPr sz="1100" b="1" i="0">
                <a:solidFill>
                  <a:srgbClr val="6B6B6B"/>
                </a:solidFill>
                <a:latin typeface="Arial"/>
              </a:rPr>
              <a:t>T03B03-S06-ST-ALL_VIEWED   ·   Penanda selesai</a:t>
            </a:r>
          </a:p>
          <a:p>
            <a:pPr algn="l"/>
            <a:r>
              <a:rPr sz="1200" b="1" i="0">
                <a:solidFill>
                  <a:srgbClr val="37474F"/>
                </a:solidFill>
                <a:latin typeface="Arial"/>
              </a:rPr>
              <a:t>Pencetus: semua 3 panel dilihat  [T03B03-S06-TRG-ALL]</a:t>
            </a:r>
          </a:p>
          <a:p>
            <a:pPr algn="l"/>
            <a:r>
              <a:rPr sz="1000" b="1" i="0">
                <a:solidFill>
                  <a:srgbClr val="6B6B6B"/>
                </a:solidFill>
                <a:latin typeface="Arial"/>
              </a:rPr>
              <a:t>Apa yang dipaparkan</a:t>
            </a:r>
          </a:p>
          <a:p>
            <a:pPr algn="l" lvl="1"/>
            <a:r>
              <a:rPr sz="1000" b="0" i="1">
                <a:solidFill>
                  <a:srgbClr val="6B6B6B"/>
                </a:solidFill>
                <a:latin typeface="Arial"/>
              </a:rPr>
              <a:t>Tiada kandungan dipaparkan — penanda sahaja.</a:t>
            </a:r>
          </a:p>
          <a:p>
            <a:pPr algn="l"/>
            <a:r>
              <a:rPr sz="1000" b="1" i="0">
                <a:solidFill>
                  <a:srgbClr val="6B6B6B"/>
                </a:solidFill>
                <a:latin typeface="Arial"/>
              </a:rPr>
              <a:t>Beza daripada keadaan asas</a:t>
            </a:r>
          </a:p>
          <a:p>
            <a:pPr algn="l" lvl="1"/>
            <a:r>
              <a:rPr sz="1000" b="0" i="0">
                <a:solidFill>
                  <a:srgbClr val="1A1A1A"/>
                </a:solidFill>
                <a:latin typeface="Arial"/>
              </a:rPr>
              <a:t>Tidak dipaparkan; membuka SETERUSNYA.</a:t>
            </a:r>
          </a:p>
          <a:p>
            <a:pPr algn="l"/>
            <a:r>
              <a:rPr sz="1000" b="1" i="0">
                <a:solidFill>
                  <a:srgbClr val="6B6B6B"/>
                </a:solidFill>
                <a:latin typeface="Arial"/>
              </a:rPr>
              <a:t>Cara pelajar kembali / meneruskan</a:t>
            </a:r>
          </a:p>
          <a:p>
            <a:pPr algn="l" lvl="1"/>
            <a:r>
              <a:rPr sz="1000" b="0" i="0">
                <a:solidFill>
                  <a:srgbClr val="1A1A1A"/>
                </a:solidFill>
                <a:latin typeface="Arial"/>
              </a:rPr>
              <a:t>Bukan keadaan yang dipaparkan. Penanda yang menjadi benar setelah semua pendedahan dilihat, dan inilah yang membuka SETERUSNYA.</a:t>
            </a:r>
          </a:p>
          <a:p>
            <a:pPr algn="l"/>
            <a:r>
              <a:rPr sz="1000" b="1" i="0">
                <a:solidFill>
                  <a:srgbClr val="6B6B6B"/>
                </a:solidFill>
                <a:latin typeface="Arial"/>
              </a:rPr>
              <a:t>Sumber dan kuasa</a:t>
            </a:r>
          </a:p>
          <a:p>
            <a:pPr algn="l" lvl="1"/>
            <a:r>
              <a:rPr sz="900" b="0" i="0">
                <a:solidFill>
                  <a:srgbClr val="0D47A1"/>
                </a:solidFill>
                <a:latin typeface="Arial"/>
              </a:rPr>
              <a:t>Tiada baris modul — keadaan struktur</a:t>
            </a:r>
          </a:p>
          <a:p>
            <a:pPr algn="l" lvl="1"/>
            <a:r>
              <a:rPr sz="900" b="0" i="0">
                <a:solidFill>
                  <a:srgbClr val="6B6B6B"/>
                </a:solidFill>
                <a:latin typeface="Arial"/>
              </a:rPr>
              <a:t>Keputusan: A1, A2</a:t>
            </a:r>
          </a:p>
        </p:txBody>
      </p:sp>
      <p:sp>
        <p:nvSpPr>
          <p:cNvPr id="6" name="TextBox 5"/>
          <p:cNvSpPr txBox="1"/>
          <p:nvPr/>
        </p:nvSpPr>
        <p:spPr>
          <a:xfrm>
            <a:off x="457200" y="6150000"/>
            <a:ext cx="11277600" cy="400000"/>
          </a:xfrm>
          <a:prstGeom prst="rect">
            <a:avLst/>
          </a:prstGeom>
          <a:noFill/>
        </p:spPr>
        <p:txBody>
          <a:bodyPr wrap="square" lIns="0" rIns="0" tIns="0" bIns="0">
            <a:spAutoFit/>
          </a:bodyPr>
          <a:lstStyle/>
          <a:p>
            <a:pPr algn="l"/>
            <a:r>
              <a:rPr sz="900" b="0" i="0">
                <a:solidFill>
                  <a:srgbClr val="6B6B6B"/>
                </a:solidFill>
                <a:latin typeface="Arial"/>
              </a:rPr>
              <a:t>Lampiran keadaan · 2 panel/halaman · halaman 9 daripada 20   ·   DRAFT_FOR_BARIAH_REVIEW · NOT_INSTRUCTIONALLY_APPROVED · NOT_LEARNER_FACING_FINAL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spAutoFit/>
          </a:bodyPr>
          <a:lstStyle/>
          <a:p>
            <a:pPr algn="l"/>
            <a:r>
              <a:rPr sz="1100" b="1" i="0">
                <a:solidFill>
                  <a:srgbClr val="6B6B6B"/>
                </a:solidFill>
                <a:latin typeface="Arial"/>
              </a:rPr>
              <a:t>T03B03-S07   ·   click-to-reveal</a:t>
            </a:r>
          </a:p>
          <a:p>
            <a:pPr algn="l"/>
            <a:r>
              <a:rPr sz="2200" b="1" i="0">
                <a:solidFill>
                  <a:srgbClr val="1A1A1A"/>
                </a:solidFill>
                <a:latin typeface="Arial"/>
              </a:rPr>
              <a:t>Fencing</a:t>
            </a:r>
          </a:p>
        </p:txBody>
      </p:sp>
      <p:sp>
        <p:nvSpPr>
          <p:cNvPr id="3" name="Rectangle 2"/>
          <p:cNvSpPr/>
          <p:nvPr/>
        </p:nvSpPr>
        <p:spPr>
          <a:xfrm>
            <a:off x="457200" y="1120000"/>
            <a:ext cx="11277600"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280000"/>
            <a:ext cx="5538800"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7200" y="1460000"/>
            <a:ext cx="5178800" cy="4340000"/>
          </a:xfrm>
          <a:prstGeom prst="rect">
            <a:avLst/>
          </a:prstGeom>
          <a:noFill/>
        </p:spPr>
        <p:txBody>
          <a:bodyPr wrap="square" lIns="0" rIns="0" tIns="0" bIns="0">
            <a:spAutoFit/>
          </a:bodyPr>
          <a:lstStyle/>
          <a:p>
            <a:pPr algn="l"/>
            <a:r>
              <a:rPr sz="1100" b="1" i="0">
                <a:solidFill>
                  <a:srgbClr val="6B6B6B"/>
                </a:solidFill>
                <a:latin typeface="Arial"/>
              </a:rPr>
              <a:t>T03B03-S07-ST-BASE   ·   Keadaan asas</a:t>
            </a:r>
          </a:p>
          <a:p>
            <a:pPr algn="l"/>
            <a:r>
              <a:rPr sz="1200" b="1" i="0">
                <a:solidFill>
                  <a:srgbClr val="1B5E20"/>
                </a:solidFill>
                <a:latin typeface="Arial"/>
              </a:rPr>
              <a:t>Pencetus: screen entry</a:t>
            </a:r>
          </a:p>
          <a:p>
            <a:pPr algn="l"/>
            <a:r>
              <a:rPr sz="1000" b="1" i="0">
                <a:solidFill>
                  <a:srgbClr val="6B6B6B"/>
                </a:solidFill>
                <a:latin typeface="Arial"/>
              </a:rPr>
              <a:t>Apa yang dipaparkan</a:t>
            </a:r>
          </a:p>
          <a:p>
            <a:pPr algn="l" lvl="1"/>
            <a:r>
              <a:rPr sz="1000" b="0" i="0">
                <a:solidFill>
                  <a:srgbClr val="1A1A1A"/>
                </a:solidFill>
                <a:latin typeface="Arial"/>
              </a:rPr>
              <a:t>· Fencing</a:t>
            </a:r>
          </a:p>
          <a:p>
            <a:pPr algn="l" lvl="1"/>
            <a:r>
              <a:rPr sz="1000" b="0" i="0">
                <a:solidFill>
                  <a:srgbClr val="1A1A1A"/>
                </a:solidFill>
                <a:latin typeface="Arial"/>
              </a:rPr>
              <a:t>· Pagar dibina untuk tujuan keselamatan, menandakan sempadan, privasi, atau sebagai elemen hiasan.</a:t>
            </a:r>
          </a:p>
          <a:p>
            <a:pPr algn="l" lvl="1"/>
            <a:r>
              <a:rPr sz="1000" b="0" i="0">
                <a:solidFill>
                  <a:srgbClr val="1A1A1A"/>
                </a:solidFill>
                <a:latin typeface="Arial"/>
              </a:rPr>
              <a:t>· Fungsi</a:t>
            </a:r>
          </a:p>
          <a:p>
            <a:pPr algn="l" lvl="1"/>
            <a:r>
              <a:rPr sz="1000" b="0" i="0">
                <a:solidFill>
                  <a:srgbClr val="1A1A1A"/>
                </a:solidFill>
                <a:latin typeface="Arial"/>
              </a:rPr>
              <a:t>· Mengawal akses, menetapkan sempadan hartanah, dan meningkatkan keselamatan.</a:t>
            </a:r>
          </a:p>
          <a:p>
            <a:pPr algn="l" lvl="1"/>
            <a:r>
              <a:rPr sz="1000" b="0" i="0">
                <a:solidFill>
                  <a:srgbClr val="1A1A1A"/>
                </a:solidFill>
                <a:latin typeface="Arial"/>
              </a:rPr>
              <a:t>· Fokus Utama Kontraktor</a:t>
            </a:r>
          </a:p>
          <a:p>
            <a:pPr algn="l" lvl="1"/>
            <a:r>
              <a:rPr sz="1000" b="0" i="0">
                <a:solidFill>
                  <a:srgbClr val="1A1A1A"/>
                </a:solidFill>
                <a:latin typeface="Arial"/>
              </a:rPr>
              <a:t>· Penjajaran Sempadan</a:t>
            </a:r>
          </a:p>
          <a:p>
            <a:pPr algn="l" lvl="1"/>
            <a:r>
              <a:rPr sz="1000" b="0" i="0">
                <a:solidFill>
                  <a:srgbClr val="1A1A1A"/>
                </a:solidFill>
                <a:latin typeface="Arial"/>
              </a:rPr>
              <a:t>· Pemasangan Tiang</a:t>
            </a:r>
          </a:p>
          <a:p>
            <a:pPr algn="l" lvl="1"/>
            <a:r>
              <a:rPr sz="900" b="0" i="0">
                <a:solidFill>
                  <a:srgbClr val="6B6B6B"/>
                </a:solidFill>
                <a:latin typeface="Arial"/>
              </a:rPr>
              <a:t>· … 3 rekod lagi</a:t>
            </a:r>
          </a:p>
          <a:p>
            <a:pPr algn="l"/>
            <a:r>
              <a:rPr sz="1000" b="1" i="0">
                <a:solidFill>
                  <a:srgbClr val="6B6B6B"/>
                </a:solidFill>
                <a:latin typeface="Arial"/>
              </a:rPr>
              <a:t>Beza daripada keadaan asas</a:t>
            </a:r>
          </a:p>
          <a:p>
            <a:pPr algn="l" lvl="1"/>
            <a:r>
              <a:rPr sz="1000" b="0" i="0">
                <a:solidFill>
                  <a:srgbClr val="1A1A1A"/>
                </a:solidFill>
                <a:latin typeface="Arial"/>
              </a:rPr>
              <a:t>— ini keadaan asas —</a:t>
            </a:r>
          </a:p>
          <a:p>
            <a:pPr algn="l"/>
            <a:r>
              <a:rPr sz="1000" b="1" i="0">
                <a:solidFill>
                  <a:srgbClr val="6B6B6B"/>
                </a:solidFill>
                <a:latin typeface="Arial"/>
              </a:rPr>
              <a:t>Cara pelajar kembali / meneruskan</a:t>
            </a:r>
          </a:p>
          <a:p>
            <a:pPr algn="l" lvl="1"/>
            <a:r>
              <a:rPr sz="1000" b="0" i="0">
                <a:solidFill>
                  <a:srgbClr val="1A1A1A"/>
                </a:solidFill>
                <a:latin typeface="Arial"/>
              </a:rPr>
              <a:t>Keadaan masuk. Pelajar meneruskan dengan SETERUSNYA setelah syarat selesai dipenuhi.</a:t>
            </a:r>
          </a:p>
          <a:p>
            <a:pPr algn="l"/>
            <a:r>
              <a:rPr sz="1000" b="1" i="0">
                <a:solidFill>
                  <a:srgbClr val="6B6B6B"/>
                </a:solidFill>
                <a:latin typeface="Arial"/>
              </a:rPr>
              <a:t>Sumber dan kuasa</a:t>
            </a:r>
          </a:p>
          <a:p>
            <a:pPr algn="l" lvl="1"/>
            <a:r>
              <a:rPr sz="900" b="0" i="0">
                <a:solidFill>
                  <a:srgbClr val="0D47A1"/>
                </a:solidFill>
                <a:latin typeface="Arial"/>
              </a:rPr>
              <a:t>Baris: T03B03-ROW-042, T03B03-ROW-043, T03B03-ROW-044, T03B03-ROW-045, T03B03-ROW-046, T03B03-ROW-047, T03B03-ROW-049, T03B03-ROW-051, T03B03-ROW-053</a:t>
            </a:r>
          </a:p>
          <a:p>
            <a:pPr algn="l" lvl="1"/>
            <a:r>
              <a:rPr sz="900" b="0" i="0">
                <a:solidFill>
                  <a:srgbClr val="6B6B6B"/>
                </a:solidFill>
                <a:latin typeface="Arial"/>
              </a:rPr>
              <a:t>Keputusan: A1, A2</a:t>
            </a:r>
          </a:p>
        </p:txBody>
      </p:sp>
      <p:sp>
        <p:nvSpPr>
          <p:cNvPr id="6" name="Rectangle 5"/>
          <p:cNvSpPr/>
          <p:nvPr/>
        </p:nvSpPr>
        <p:spPr>
          <a:xfrm>
            <a:off x="6196000" y="1280000"/>
            <a:ext cx="5538800"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76000" y="1460000"/>
            <a:ext cx="5178800" cy="4340000"/>
          </a:xfrm>
          <a:prstGeom prst="rect">
            <a:avLst/>
          </a:prstGeom>
          <a:noFill/>
        </p:spPr>
        <p:txBody>
          <a:bodyPr wrap="square" lIns="0" rIns="0" tIns="0" bIns="0">
            <a:spAutoFit/>
          </a:bodyPr>
          <a:lstStyle/>
          <a:p>
            <a:pPr algn="l"/>
            <a:r>
              <a:rPr sz="1100" b="1" i="0">
                <a:solidFill>
                  <a:srgbClr val="6B6B6B"/>
                </a:solidFill>
                <a:latin typeface="Arial"/>
              </a:rPr>
              <a:t>T03B03-S07-ST-01   ·   Panel pendedahan</a:t>
            </a:r>
          </a:p>
          <a:p>
            <a:pPr algn="l"/>
            <a:r>
              <a:rPr sz="1200" b="1" i="0">
                <a:solidFill>
                  <a:srgbClr val="37474F"/>
                </a:solidFill>
                <a:latin typeface="Arial"/>
              </a:rPr>
              <a:t>Pencetus: Penjajaran Sempadan  [T03B03-S07-TRG-01]</a:t>
            </a:r>
          </a:p>
          <a:p>
            <a:pPr algn="l"/>
            <a:r>
              <a:rPr sz="1000" b="1" i="0">
                <a:solidFill>
                  <a:srgbClr val="6B6B6B"/>
                </a:solidFill>
                <a:latin typeface="Arial"/>
              </a:rPr>
              <a:t>Apa yang dipaparkan</a:t>
            </a:r>
          </a:p>
          <a:p>
            <a:pPr algn="l" lvl="1"/>
            <a:r>
              <a:rPr sz="1000" b="0" i="0">
                <a:solidFill>
                  <a:srgbClr val="1A1A1A"/>
                </a:solidFill>
                <a:latin typeface="Arial"/>
              </a:rPr>
              <a:t>· Jajaran pagar mesti ditanda mengikut Pelan Ukur Sempadan untuk mengelakkan isu pencerobohan tanah.</a:t>
            </a:r>
          </a:p>
          <a:p>
            <a:pPr algn="l"/>
            <a:r>
              <a:rPr sz="1000" b="1" i="0">
                <a:solidFill>
                  <a:srgbClr val="6B6B6B"/>
                </a:solidFill>
                <a:latin typeface="Arial"/>
              </a:rPr>
              <a:t>Beza daripada keadaan asas</a:t>
            </a:r>
          </a:p>
          <a:p>
            <a:pPr algn="l" lvl="1"/>
            <a:r>
              <a:rPr sz="1000" b="0" i="0">
                <a:solidFill>
                  <a:srgbClr val="1A1A1A"/>
                </a:solidFill>
                <a:latin typeface="Arial"/>
              </a:rPr>
              <a:t>Menambah 1 rekod yang tersembunyi dalam keadaan asas.</a:t>
            </a:r>
          </a:p>
          <a:p>
            <a:pPr algn="l"/>
            <a:r>
              <a:rPr sz="1000" b="1" i="0">
                <a:solidFill>
                  <a:srgbClr val="6B6B6B"/>
                </a:solidFill>
                <a:latin typeface="Arial"/>
              </a:rPr>
              <a:t>Cara pelajar kembali / meneruskan</a:t>
            </a:r>
          </a:p>
          <a:p>
            <a:pPr algn="l" lvl="1"/>
            <a:r>
              <a:rPr sz="1000" b="0" i="0">
                <a:solidFill>
                  <a:srgbClr val="1A1A1A"/>
                </a:solidFill>
                <a:latin typeface="Arial"/>
              </a:rPr>
              <a:t>Panel tertutup apabila ditekan sekali lagi atau apabila panel lain dibuka. Keadaan asas kembali dan sentiasa boleh dicapai. Tiada navigasi berlaku.</a:t>
            </a:r>
          </a:p>
          <a:p>
            <a:pPr algn="l"/>
            <a:r>
              <a:rPr sz="1000" b="1" i="0">
                <a:solidFill>
                  <a:srgbClr val="6B6B6B"/>
                </a:solidFill>
                <a:latin typeface="Arial"/>
              </a:rPr>
              <a:t>Sumber dan kuasa</a:t>
            </a:r>
          </a:p>
          <a:p>
            <a:pPr algn="l" lvl="1"/>
            <a:r>
              <a:rPr sz="900" b="0" i="0">
                <a:solidFill>
                  <a:srgbClr val="0D47A1"/>
                </a:solidFill>
                <a:latin typeface="Arial"/>
              </a:rPr>
              <a:t>Baris: T03B03-ROW-048</a:t>
            </a:r>
          </a:p>
          <a:p>
            <a:pPr algn="l" lvl="1"/>
            <a:r>
              <a:rPr sz="900" b="0" i="0">
                <a:solidFill>
                  <a:srgbClr val="6B6B6B"/>
                </a:solidFill>
                <a:latin typeface="Arial"/>
              </a:rPr>
              <a:t>Keputusan: A1, A2</a:t>
            </a:r>
          </a:p>
        </p:txBody>
      </p:sp>
      <p:sp>
        <p:nvSpPr>
          <p:cNvPr id="8" name="TextBox 7"/>
          <p:cNvSpPr txBox="1"/>
          <p:nvPr/>
        </p:nvSpPr>
        <p:spPr>
          <a:xfrm>
            <a:off x="457200" y="6150000"/>
            <a:ext cx="11277600" cy="400000"/>
          </a:xfrm>
          <a:prstGeom prst="rect">
            <a:avLst/>
          </a:prstGeom>
          <a:noFill/>
        </p:spPr>
        <p:txBody>
          <a:bodyPr wrap="square" lIns="0" rIns="0" tIns="0" bIns="0">
            <a:spAutoFit/>
          </a:bodyPr>
          <a:lstStyle/>
          <a:p>
            <a:pPr algn="l"/>
            <a:r>
              <a:rPr sz="900" b="0" i="0">
                <a:solidFill>
                  <a:srgbClr val="6B6B6B"/>
                </a:solidFill>
                <a:latin typeface="Arial"/>
              </a:rPr>
              <a:t>Lampiran keadaan · 2 panel/halaman · halaman 10 daripada 20   ·   DRAFT_FOR_BARIAH_REVIEW · NOT_INSTRUCTIONALLY_APPROVED · NOT_LEARNER_FACING_FINAL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spAutoFit/>
          </a:bodyPr>
          <a:lstStyle/>
          <a:p>
            <a:pPr algn="l"/>
            <a:r>
              <a:rPr sz="1100" b="1" i="0">
                <a:solidFill>
                  <a:srgbClr val="6B6B6B"/>
                </a:solidFill>
                <a:latin typeface="Arial"/>
              </a:rPr>
              <a:t>T03B03-S07   ·   click-to-reveal</a:t>
            </a:r>
          </a:p>
          <a:p>
            <a:pPr algn="l"/>
            <a:r>
              <a:rPr sz="2200" b="1" i="0">
                <a:solidFill>
                  <a:srgbClr val="1A1A1A"/>
                </a:solidFill>
                <a:latin typeface="Arial"/>
              </a:rPr>
              <a:t>Fencing</a:t>
            </a:r>
          </a:p>
        </p:txBody>
      </p:sp>
      <p:sp>
        <p:nvSpPr>
          <p:cNvPr id="3" name="Rectangle 2"/>
          <p:cNvSpPr/>
          <p:nvPr/>
        </p:nvSpPr>
        <p:spPr>
          <a:xfrm>
            <a:off x="457200" y="1120000"/>
            <a:ext cx="11277600"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280000"/>
            <a:ext cx="5538800"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7200" y="1460000"/>
            <a:ext cx="5178800" cy="4340000"/>
          </a:xfrm>
          <a:prstGeom prst="rect">
            <a:avLst/>
          </a:prstGeom>
          <a:noFill/>
        </p:spPr>
        <p:txBody>
          <a:bodyPr wrap="square" lIns="0" rIns="0" tIns="0" bIns="0">
            <a:spAutoFit/>
          </a:bodyPr>
          <a:lstStyle/>
          <a:p>
            <a:pPr algn="l"/>
            <a:r>
              <a:rPr sz="1100" b="1" i="0">
                <a:solidFill>
                  <a:srgbClr val="6B6B6B"/>
                </a:solidFill>
                <a:latin typeface="Arial"/>
              </a:rPr>
              <a:t>T03B03-S07-ST-02   ·   Panel pendedahan</a:t>
            </a:r>
          </a:p>
          <a:p>
            <a:pPr algn="l"/>
            <a:r>
              <a:rPr sz="1200" b="1" i="0">
                <a:solidFill>
                  <a:srgbClr val="37474F"/>
                </a:solidFill>
                <a:latin typeface="Arial"/>
              </a:rPr>
              <a:t>Pencetus: Pemasangan Tiang  [T03B03-S07-TRG-02]</a:t>
            </a:r>
          </a:p>
          <a:p>
            <a:pPr algn="l"/>
            <a:r>
              <a:rPr sz="1000" b="1" i="0">
                <a:solidFill>
                  <a:srgbClr val="6B6B6B"/>
                </a:solidFill>
                <a:latin typeface="Arial"/>
              </a:rPr>
              <a:t>Apa yang dipaparkan</a:t>
            </a:r>
          </a:p>
          <a:p>
            <a:pPr algn="l" lvl="1"/>
            <a:r>
              <a:rPr sz="1000" b="0" i="0">
                <a:solidFill>
                  <a:srgbClr val="1A1A1A"/>
                </a:solidFill>
                <a:latin typeface="Arial"/>
              </a:rPr>
              <a:t>· Kestabilan pagar bergantung pada tiangnya. Tiang mesti dipasang pada jarak yang seragam dan ditanam dalam tapak konkrit dengan saiz dan kedalaman yang mencukupi seperti dalam spesifikasi.</a:t>
            </a:r>
          </a:p>
          <a:p>
            <a:pPr algn="l"/>
            <a:r>
              <a:rPr sz="1000" b="1" i="0">
                <a:solidFill>
                  <a:srgbClr val="6B6B6B"/>
                </a:solidFill>
                <a:latin typeface="Arial"/>
              </a:rPr>
              <a:t>Beza daripada keadaan asas</a:t>
            </a:r>
          </a:p>
          <a:p>
            <a:pPr algn="l" lvl="1"/>
            <a:r>
              <a:rPr sz="1000" b="0" i="0">
                <a:solidFill>
                  <a:srgbClr val="1A1A1A"/>
                </a:solidFill>
                <a:latin typeface="Arial"/>
              </a:rPr>
              <a:t>Menambah 1 rekod yang tersembunyi dalam keadaan asas.</a:t>
            </a:r>
          </a:p>
          <a:p>
            <a:pPr algn="l"/>
            <a:r>
              <a:rPr sz="1000" b="1" i="0">
                <a:solidFill>
                  <a:srgbClr val="6B6B6B"/>
                </a:solidFill>
                <a:latin typeface="Arial"/>
              </a:rPr>
              <a:t>Cara pelajar kembali / meneruskan</a:t>
            </a:r>
          </a:p>
          <a:p>
            <a:pPr algn="l" lvl="1"/>
            <a:r>
              <a:rPr sz="1000" b="0" i="0">
                <a:solidFill>
                  <a:srgbClr val="1A1A1A"/>
                </a:solidFill>
                <a:latin typeface="Arial"/>
              </a:rPr>
              <a:t>Panel tertutup apabila ditekan sekali lagi atau apabila panel lain dibuka. Keadaan asas kembali dan sentiasa boleh dicapai. Tiada navigasi berlaku.</a:t>
            </a:r>
          </a:p>
          <a:p>
            <a:pPr algn="l"/>
            <a:r>
              <a:rPr sz="1000" b="1" i="0">
                <a:solidFill>
                  <a:srgbClr val="6B6B6B"/>
                </a:solidFill>
                <a:latin typeface="Arial"/>
              </a:rPr>
              <a:t>Sumber dan kuasa</a:t>
            </a:r>
          </a:p>
          <a:p>
            <a:pPr algn="l" lvl="1"/>
            <a:r>
              <a:rPr sz="900" b="0" i="0">
                <a:solidFill>
                  <a:srgbClr val="0D47A1"/>
                </a:solidFill>
                <a:latin typeface="Arial"/>
              </a:rPr>
              <a:t>Baris: T03B03-ROW-050</a:t>
            </a:r>
          </a:p>
          <a:p>
            <a:pPr algn="l" lvl="1"/>
            <a:r>
              <a:rPr sz="900" b="0" i="0">
                <a:solidFill>
                  <a:srgbClr val="6B6B6B"/>
                </a:solidFill>
                <a:latin typeface="Arial"/>
              </a:rPr>
              <a:t>Keputusan: A1, A2</a:t>
            </a:r>
          </a:p>
        </p:txBody>
      </p:sp>
      <p:sp>
        <p:nvSpPr>
          <p:cNvPr id="6" name="Rectangle 5"/>
          <p:cNvSpPr/>
          <p:nvPr/>
        </p:nvSpPr>
        <p:spPr>
          <a:xfrm>
            <a:off x="6196000" y="1280000"/>
            <a:ext cx="5538800"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76000" y="1460000"/>
            <a:ext cx="5178800" cy="4340000"/>
          </a:xfrm>
          <a:prstGeom prst="rect">
            <a:avLst/>
          </a:prstGeom>
          <a:noFill/>
        </p:spPr>
        <p:txBody>
          <a:bodyPr wrap="square" lIns="0" rIns="0" tIns="0" bIns="0">
            <a:spAutoFit/>
          </a:bodyPr>
          <a:lstStyle/>
          <a:p>
            <a:pPr algn="l"/>
            <a:r>
              <a:rPr sz="1100" b="1" i="0">
                <a:solidFill>
                  <a:srgbClr val="6B6B6B"/>
                </a:solidFill>
                <a:latin typeface="Arial"/>
              </a:rPr>
              <a:t>T03B03-S07-ST-03   ·   Panel pendedahan</a:t>
            </a:r>
          </a:p>
          <a:p>
            <a:pPr algn="l"/>
            <a:r>
              <a:rPr sz="1200" b="1" i="0">
                <a:solidFill>
                  <a:srgbClr val="37474F"/>
                </a:solidFill>
                <a:latin typeface="Arial"/>
              </a:rPr>
              <a:t>Pencetus: Ketegangan Pemasangan  [T03B03-S07-TRG-03]</a:t>
            </a:r>
          </a:p>
          <a:p>
            <a:pPr algn="l"/>
            <a:r>
              <a:rPr sz="1000" b="1" i="0">
                <a:solidFill>
                  <a:srgbClr val="6B6B6B"/>
                </a:solidFill>
                <a:latin typeface="Arial"/>
              </a:rPr>
              <a:t>Apa yang dipaparkan</a:t>
            </a:r>
          </a:p>
          <a:p>
            <a:pPr algn="l" lvl="1"/>
            <a:r>
              <a:rPr sz="1000" b="0" i="0">
                <a:solidFill>
                  <a:srgbClr val="1A1A1A"/>
                </a:solidFill>
                <a:latin typeface="Arial"/>
              </a:rPr>
              <a:t>· Bagi pagar jenis jejaring (chain-link) atau BRC, ia mesti ditegangkan dengan sempurna untuk mengelakkannya daripada melendut.</a:t>
            </a:r>
          </a:p>
          <a:p>
            <a:pPr algn="l"/>
            <a:r>
              <a:rPr sz="1000" b="1" i="0">
                <a:solidFill>
                  <a:srgbClr val="6B6B6B"/>
                </a:solidFill>
                <a:latin typeface="Arial"/>
              </a:rPr>
              <a:t>Beza daripada keadaan asas</a:t>
            </a:r>
          </a:p>
          <a:p>
            <a:pPr algn="l" lvl="1"/>
            <a:r>
              <a:rPr sz="1000" b="0" i="0">
                <a:solidFill>
                  <a:srgbClr val="1A1A1A"/>
                </a:solidFill>
                <a:latin typeface="Arial"/>
              </a:rPr>
              <a:t>Menambah 1 rekod yang tersembunyi dalam keadaan asas.</a:t>
            </a:r>
          </a:p>
          <a:p>
            <a:pPr algn="l"/>
            <a:r>
              <a:rPr sz="1000" b="1" i="0">
                <a:solidFill>
                  <a:srgbClr val="6B6B6B"/>
                </a:solidFill>
                <a:latin typeface="Arial"/>
              </a:rPr>
              <a:t>Cara pelajar kembali / meneruskan</a:t>
            </a:r>
          </a:p>
          <a:p>
            <a:pPr algn="l" lvl="1"/>
            <a:r>
              <a:rPr sz="1000" b="0" i="0">
                <a:solidFill>
                  <a:srgbClr val="1A1A1A"/>
                </a:solidFill>
                <a:latin typeface="Arial"/>
              </a:rPr>
              <a:t>Panel tertutup apabila ditekan sekali lagi atau apabila panel lain dibuka. Keadaan asas kembali dan sentiasa boleh dicapai. Tiada navigasi berlaku.</a:t>
            </a:r>
          </a:p>
          <a:p>
            <a:pPr algn="l"/>
            <a:r>
              <a:rPr sz="1000" b="1" i="0">
                <a:solidFill>
                  <a:srgbClr val="6B6B6B"/>
                </a:solidFill>
                <a:latin typeface="Arial"/>
              </a:rPr>
              <a:t>Sumber dan kuasa</a:t>
            </a:r>
          </a:p>
          <a:p>
            <a:pPr algn="l" lvl="1"/>
            <a:r>
              <a:rPr sz="900" b="0" i="0">
                <a:solidFill>
                  <a:srgbClr val="0D47A1"/>
                </a:solidFill>
                <a:latin typeface="Arial"/>
              </a:rPr>
              <a:t>Baris: T03B03-ROW-052</a:t>
            </a:r>
          </a:p>
          <a:p>
            <a:pPr algn="l" lvl="1"/>
            <a:r>
              <a:rPr sz="900" b="0" i="0">
                <a:solidFill>
                  <a:srgbClr val="6B6B6B"/>
                </a:solidFill>
                <a:latin typeface="Arial"/>
              </a:rPr>
              <a:t>Keputusan: A1, A2</a:t>
            </a:r>
          </a:p>
        </p:txBody>
      </p:sp>
      <p:sp>
        <p:nvSpPr>
          <p:cNvPr id="8" name="TextBox 7"/>
          <p:cNvSpPr txBox="1"/>
          <p:nvPr/>
        </p:nvSpPr>
        <p:spPr>
          <a:xfrm>
            <a:off x="457200" y="6150000"/>
            <a:ext cx="11277600" cy="400000"/>
          </a:xfrm>
          <a:prstGeom prst="rect">
            <a:avLst/>
          </a:prstGeom>
          <a:noFill/>
        </p:spPr>
        <p:txBody>
          <a:bodyPr wrap="square" lIns="0" rIns="0" tIns="0" bIns="0">
            <a:spAutoFit/>
          </a:bodyPr>
          <a:lstStyle/>
          <a:p>
            <a:pPr algn="l"/>
            <a:r>
              <a:rPr sz="900" b="0" i="0">
                <a:solidFill>
                  <a:srgbClr val="6B6B6B"/>
                </a:solidFill>
                <a:latin typeface="Arial"/>
              </a:rPr>
              <a:t>Lampiran keadaan · 2 panel/halaman · halaman 11 daripada 20   ·   DRAFT_FOR_BARIAH_REVIEW · NOT_INSTRUCTIONALLY_APPROVED · NOT_LEARNER_FACING_FINAL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spAutoFit/>
          </a:bodyPr>
          <a:lstStyle/>
          <a:p>
            <a:pPr algn="l"/>
            <a:r>
              <a:rPr sz="1100" b="1" i="0">
                <a:solidFill>
                  <a:srgbClr val="6B6B6B"/>
                </a:solidFill>
                <a:latin typeface="Arial"/>
              </a:rPr>
              <a:t>T03B03-S07   ·   click-to-reveal</a:t>
            </a:r>
          </a:p>
          <a:p>
            <a:pPr algn="l"/>
            <a:r>
              <a:rPr sz="2200" b="1" i="0">
                <a:solidFill>
                  <a:srgbClr val="1A1A1A"/>
                </a:solidFill>
                <a:latin typeface="Arial"/>
              </a:rPr>
              <a:t>Fencing</a:t>
            </a:r>
          </a:p>
        </p:txBody>
      </p:sp>
      <p:sp>
        <p:nvSpPr>
          <p:cNvPr id="3" name="Rectangle 2"/>
          <p:cNvSpPr/>
          <p:nvPr/>
        </p:nvSpPr>
        <p:spPr>
          <a:xfrm>
            <a:off x="457200" y="1120000"/>
            <a:ext cx="11277600"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280000"/>
            <a:ext cx="5538800"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7200" y="1460000"/>
            <a:ext cx="5178800" cy="4340000"/>
          </a:xfrm>
          <a:prstGeom prst="rect">
            <a:avLst/>
          </a:prstGeom>
          <a:noFill/>
        </p:spPr>
        <p:txBody>
          <a:bodyPr wrap="square" lIns="0" rIns="0" tIns="0" bIns="0">
            <a:spAutoFit/>
          </a:bodyPr>
          <a:lstStyle/>
          <a:p>
            <a:pPr algn="l"/>
            <a:r>
              <a:rPr sz="1100" b="1" i="0">
                <a:solidFill>
                  <a:srgbClr val="6B6B6B"/>
                </a:solidFill>
                <a:latin typeface="Arial"/>
              </a:rPr>
              <a:t>T03B03-S07-ST-04   ·   Panel pendedahan</a:t>
            </a:r>
          </a:p>
          <a:p>
            <a:pPr algn="l"/>
            <a:r>
              <a:rPr sz="1200" b="1" i="0">
                <a:solidFill>
                  <a:srgbClr val="37474F"/>
                </a:solidFill>
                <a:latin typeface="Arial"/>
              </a:rPr>
              <a:t>Pencetus: Kemasan Anti-Karat  [T03B03-S07-TRG-04]</a:t>
            </a:r>
          </a:p>
          <a:p>
            <a:pPr algn="l"/>
            <a:r>
              <a:rPr sz="1000" b="1" i="0">
                <a:solidFill>
                  <a:srgbClr val="6B6B6B"/>
                </a:solidFill>
                <a:latin typeface="Arial"/>
              </a:rPr>
              <a:t>Apa yang dipaparkan</a:t>
            </a:r>
          </a:p>
          <a:p>
            <a:pPr algn="l" lvl="1"/>
            <a:r>
              <a:rPr sz="1000" b="0" i="0">
                <a:solidFill>
                  <a:srgbClr val="1A1A1A"/>
                </a:solidFill>
                <a:latin typeface="Arial"/>
              </a:rPr>
              <a:t>· Pastikan semua komponen keluli mempunyai lapisan pelindung karat yang sempurna seperti tergalvani panas (hot-dip galvanized) atau cat epoksi.</a:t>
            </a:r>
          </a:p>
          <a:p>
            <a:pPr algn="l"/>
            <a:r>
              <a:rPr sz="1000" b="1" i="0">
                <a:solidFill>
                  <a:srgbClr val="6B6B6B"/>
                </a:solidFill>
                <a:latin typeface="Arial"/>
              </a:rPr>
              <a:t>Beza daripada keadaan asas</a:t>
            </a:r>
          </a:p>
          <a:p>
            <a:pPr algn="l" lvl="1"/>
            <a:r>
              <a:rPr sz="1000" b="0" i="0">
                <a:solidFill>
                  <a:srgbClr val="1A1A1A"/>
                </a:solidFill>
                <a:latin typeface="Arial"/>
              </a:rPr>
              <a:t>Menambah 1 rekod yang tersembunyi dalam keadaan asas.</a:t>
            </a:r>
          </a:p>
          <a:p>
            <a:pPr algn="l"/>
            <a:r>
              <a:rPr sz="1000" b="1" i="0">
                <a:solidFill>
                  <a:srgbClr val="6B6B6B"/>
                </a:solidFill>
                <a:latin typeface="Arial"/>
              </a:rPr>
              <a:t>Cara pelajar kembali / meneruskan</a:t>
            </a:r>
          </a:p>
          <a:p>
            <a:pPr algn="l" lvl="1"/>
            <a:r>
              <a:rPr sz="1000" b="0" i="0">
                <a:solidFill>
                  <a:srgbClr val="1A1A1A"/>
                </a:solidFill>
                <a:latin typeface="Arial"/>
              </a:rPr>
              <a:t>Panel tertutup apabila ditekan sekali lagi atau apabila panel lain dibuka. Keadaan asas kembali dan sentiasa boleh dicapai. Tiada navigasi berlaku.</a:t>
            </a:r>
          </a:p>
          <a:p>
            <a:pPr algn="l"/>
            <a:r>
              <a:rPr sz="1000" b="1" i="0">
                <a:solidFill>
                  <a:srgbClr val="6B6B6B"/>
                </a:solidFill>
                <a:latin typeface="Arial"/>
              </a:rPr>
              <a:t>Sumber dan kuasa</a:t>
            </a:r>
          </a:p>
          <a:p>
            <a:pPr algn="l" lvl="1"/>
            <a:r>
              <a:rPr sz="900" b="0" i="0">
                <a:solidFill>
                  <a:srgbClr val="0D47A1"/>
                </a:solidFill>
                <a:latin typeface="Arial"/>
              </a:rPr>
              <a:t>Baris: T03B03-ROW-054</a:t>
            </a:r>
          </a:p>
          <a:p>
            <a:pPr algn="l" lvl="1"/>
            <a:r>
              <a:rPr sz="900" b="0" i="0">
                <a:solidFill>
                  <a:srgbClr val="6B6B6B"/>
                </a:solidFill>
                <a:latin typeface="Arial"/>
              </a:rPr>
              <a:t>Keputusan: A1, A2</a:t>
            </a:r>
          </a:p>
        </p:txBody>
      </p:sp>
      <p:sp>
        <p:nvSpPr>
          <p:cNvPr id="6" name="Rectangle 5"/>
          <p:cNvSpPr/>
          <p:nvPr/>
        </p:nvSpPr>
        <p:spPr>
          <a:xfrm>
            <a:off x="6196000" y="1280000"/>
            <a:ext cx="5538800"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76000" y="1460000"/>
            <a:ext cx="5178800" cy="4340000"/>
          </a:xfrm>
          <a:prstGeom prst="rect">
            <a:avLst/>
          </a:prstGeom>
          <a:noFill/>
        </p:spPr>
        <p:txBody>
          <a:bodyPr wrap="square" lIns="0" rIns="0" tIns="0" bIns="0">
            <a:spAutoFit/>
          </a:bodyPr>
          <a:lstStyle/>
          <a:p>
            <a:pPr algn="l"/>
            <a:r>
              <a:rPr sz="1100" b="1" i="0">
                <a:solidFill>
                  <a:srgbClr val="6B6B6B"/>
                </a:solidFill>
                <a:latin typeface="Arial"/>
              </a:rPr>
              <a:t>T03B03-S07-ST-ALL_VIEWED   ·   Penanda selesai</a:t>
            </a:r>
          </a:p>
          <a:p>
            <a:pPr algn="l"/>
            <a:r>
              <a:rPr sz="1200" b="1" i="0">
                <a:solidFill>
                  <a:srgbClr val="37474F"/>
                </a:solidFill>
                <a:latin typeface="Arial"/>
              </a:rPr>
              <a:t>Pencetus: semua 4 panel dilihat  [T03B03-S07-TRG-ALL]</a:t>
            </a:r>
          </a:p>
          <a:p>
            <a:pPr algn="l"/>
            <a:r>
              <a:rPr sz="1000" b="1" i="0">
                <a:solidFill>
                  <a:srgbClr val="6B6B6B"/>
                </a:solidFill>
                <a:latin typeface="Arial"/>
              </a:rPr>
              <a:t>Apa yang dipaparkan</a:t>
            </a:r>
          </a:p>
          <a:p>
            <a:pPr algn="l" lvl="1"/>
            <a:r>
              <a:rPr sz="1000" b="0" i="1">
                <a:solidFill>
                  <a:srgbClr val="6B6B6B"/>
                </a:solidFill>
                <a:latin typeface="Arial"/>
              </a:rPr>
              <a:t>Tiada kandungan dipaparkan — penanda sahaja.</a:t>
            </a:r>
          </a:p>
          <a:p>
            <a:pPr algn="l"/>
            <a:r>
              <a:rPr sz="1000" b="1" i="0">
                <a:solidFill>
                  <a:srgbClr val="6B6B6B"/>
                </a:solidFill>
                <a:latin typeface="Arial"/>
              </a:rPr>
              <a:t>Beza daripada keadaan asas</a:t>
            </a:r>
          </a:p>
          <a:p>
            <a:pPr algn="l" lvl="1"/>
            <a:r>
              <a:rPr sz="1000" b="0" i="0">
                <a:solidFill>
                  <a:srgbClr val="1A1A1A"/>
                </a:solidFill>
                <a:latin typeface="Arial"/>
              </a:rPr>
              <a:t>Tidak dipaparkan; membuka SETERUSNYA.</a:t>
            </a:r>
          </a:p>
          <a:p>
            <a:pPr algn="l"/>
            <a:r>
              <a:rPr sz="1000" b="1" i="0">
                <a:solidFill>
                  <a:srgbClr val="6B6B6B"/>
                </a:solidFill>
                <a:latin typeface="Arial"/>
              </a:rPr>
              <a:t>Cara pelajar kembali / meneruskan</a:t>
            </a:r>
          </a:p>
          <a:p>
            <a:pPr algn="l" lvl="1"/>
            <a:r>
              <a:rPr sz="1000" b="0" i="0">
                <a:solidFill>
                  <a:srgbClr val="1A1A1A"/>
                </a:solidFill>
                <a:latin typeface="Arial"/>
              </a:rPr>
              <a:t>Bukan keadaan yang dipaparkan. Penanda yang menjadi benar setelah semua pendedahan dilihat, dan inilah yang membuka SETERUSNYA.</a:t>
            </a:r>
          </a:p>
          <a:p>
            <a:pPr algn="l"/>
            <a:r>
              <a:rPr sz="1000" b="1" i="0">
                <a:solidFill>
                  <a:srgbClr val="6B6B6B"/>
                </a:solidFill>
                <a:latin typeface="Arial"/>
              </a:rPr>
              <a:t>Sumber dan kuasa</a:t>
            </a:r>
          </a:p>
          <a:p>
            <a:pPr algn="l" lvl="1"/>
            <a:r>
              <a:rPr sz="900" b="0" i="0">
                <a:solidFill>
                  <a:srgbClr val="0D47A1"/>
                </a:solidFill>
                <a:latin typeface="Arial"/>
              </a:rPr>
              <a:t>Tiada baris modul — keadaan struktur</a:t>
            </a:r>
          </a:p>
          <a:p>
            <a:pPr algn="l" lvl="1"/>
            <a:r>
              <a:rPr sz="900" b="0" i="0">
                <a:solidFill>
                  <a:srgbClr val="6B6B6B"/>
                </a:solidFill>
                <a:latin typeface="Arial"/>
              </a:rPr>
              <a:t>Keputusan: A1, A2</a:t>
            </a:r>
          </a:p>
        </p:txBody>
      </p:sp>
      <p:sp>
        <p:nvSpPr>
          <p:cNvPr id="8" name="TextBox 7"/>
          <p:cNvSpPr txBox="1"/>
          <p:nvPr/>
        </p:nvSpPr>
        <p:spPr>
          <a:xfrm>
            <a:off x="457200" y="6150000"/>
            <a:ext cx="11277600" cy="400000"/>
          </a:xfrm>
          <a:prstGeom prst="rect">
            <a:avLst/>
          </a:prstGeom>
          <a:noFill/>
        </p:spPr>
        <p:txBody>
          <a:bodyPr wrap="square" lIns="0" rIns="0" tIns="0" bIns="0">
            <a:spAutoFit/>
          </a:bodyPr>
          <a:lstStyle/>
          <a:p>
            <a:pPr algn="l"/>
            <a:r>
              <a:rPr sz="900" b="0" i="0">
                <a:solidFill>
                  <a:srgbClr val="6B6B6B"/>
                </a:solidFill>
                <a:latin typeface="Arial"/>
              </a:rPr>
              <a:t>Lampiran keadaan · 2 panel/halaman · halaman 12 daripada 20   ·   DRAFT_FOR_BARIAH_REVIEW · NOT_INSTRUCTIONALLY_APPROVED · NOT_LEARNER_FACING_FINAL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spAutoFit/>
          </a:bodyPr>
          <a:lstStyle/>
          <a:p>
            <a:pPr algn="l"/>
            <a:r>
              <a:rPr sz="1100" b="1" i="0">
                <a:solidFill>
                  <a:srgbClr val="6B6B6B"/>
                </a:solidFill>
                <a:latin typeface="Arial"/>
              </a:rPr>
              <a:t>T03B03-S08   ·   click-to-reveal</a:t>
            </a:r>
          </a:p>
          <a:p>
            <a:pPr algn="l"/>
            <a:r>
              <a:rPr sz="2200" b="1" i="0">
                <a:solidFill>
                  <a:srgbClr val="1A1A1A"/>
                </a:solidFill>
                <a:latin typeface="Arial"/>
              </a:rPr>
              <a:t>Swale/ Natural Drain</a:t>
            </a:r>
          </a:p>
        </p:txBody>
      </p:sp>
      <p:sp>
        <p:nvSpPr>
          <p:cNvPr id="3" name="Rectangle 2"/>
          <p:cNvSpPr/>
          <p:nvPr/>
        </p:nvSpPr>
        <p:spPr>
          <a:xfrm>
            <a:off x="457200" y="1120000"/>
            <a:ext cx="11277600"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280000"/>
            <a:ext cx="5538800"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7200" y="1460000"/>
            <a:ext cx="5178800" cy="4340000"/>
          </a:xfrm>
          <a:prstGeom prst="rect">
            <a:avLst/>
          </a:prstGeom>
          <a:noFill/>
        </p:spPr>
        <p:txBody>
          <a:bodyPr wrap="square" lIns="0" rIns="0" tIns="0" bIns="0">
            <a:spAutoFit/>
          </a:bodyPr>
          <a:lstStyle/>
          <a:p>
            <a:pPr algn="l"/>
            <a:r>
              <a:rPr sz="1100" b="1" i="0">
                <a:solidFill>
                  <a:srgbClr val="6B6B6B"/>
                </a:solidFill>
                <a:latin typeface="Arial"/>
              </a:rPr>
              <a:t>T03B03-S08-ST-BASE   ·   Keadaan asas</a:t>
            </a:r>
          </a:p>
          <a:p>
            <a:pPr algn="l"/>
            <a:r>
              <a:rPr sz="1200" b="1" i="0">
                <a:solidFill>
                  <a:srgbClr val="1B5E20"/>
                </a:solidFill>
                <a:latin typeface="Arial"/>
              </a:rPr>
              <a:t>Pencetus: screen entry</a:t>
            </a:r>
          </a:p>
          <a:p>
            <a:pPr algn="l"/>
            <a:r>
              <a:rPr sz="1000" b="1" i="0">
                <a:solidFill>
                  <a:srgbClr val="6B6B6B"/>
                </a:solidFill>
                <a:latin typeface="Arial"/>
              </a:rPr>
              <a:t>Apa yang dipaparkan</a:t>
            </a:r>
          </a:p>
          <a:p>
            <a:pPr algn="l" lvl="1"/>
            <a:r>
              <a:rPr sz="1000" b="0" i="0">
                <a:solidFill>
                  <a:srgbClr val="1A1A1A"/>
                </a:solidFill>
                <a:latin typeface="Arial"/>
              </a:rPr>
              <a:t>· Swale/ Natural Drain</a:t>
            </a:r>
          </a:p>
          <a:p>
            <a:pPr algn="l" lvl="1"/>
            <a:r>
              <a:rPr sz="1000" b="0" i="0">
                <a:solidFill>
                  <a:srgbClr val="1A1A1A"/>
                </a:solidFill>
                <a:latin typeface="Arial"/>
              </a:rPr>
              <a:t>· Swale adalah sejenis parit yang cetek, lebar, dan ditanami dengan rumput atau tumbuhan. Ia merupakan alternatif mesra alam kepada parit konkrit.</a:t>
            </a:r>
          </a:p>
          <a:p>
            <a:pPr algn="l" lvl="1"/>
            <a:r>
              <a:rPr sz="1000" b="0" i="0">
                <a:solidFill>
                  <a:srgbClr val="1A1A1A"/>
                </a:solidFill>
                <a:latin typeface="Arial"/>
              </a:rPr>
              <a:t>· Swale ialah parit cetek dan lebar yang ditanami tumbuhan, alternatif kepada longkang konkrit, yang memperlahankan aliran dan menggalakkan penyerapan.</a:t>
            </a:r>
          </a:p>
          <a:p>
            <a:pPr algn="l" lvl="1"/>
            <a:r>
              <a:rPr sz="1000" b="0" i="0">
                <a:solidFill>
                  <a:srgbClr val="1A1A1A"/>
                </a:solidFill>
                <a:latin typeface="Arial"/>
              </a:rPr>
              <a:t>· Fungsi</a:t>
            </a:r>
          </a:p>
          <a:p>
            <a:pPr algn="l" lvl="1"/>
            <a:r>
              <a:rPr sz="1000" b="0" i="0">
                <a:solidFill>
                  <a:srgbClr val="1A1A1A"/>
                </a:solidFill>
                <a:latin typeface="Arial"/>
              </a:rPr>
              <a:t>· Menguruskan aliran air larian permukaan dengan memperlahankannya, menggalakkan penyerapan air ke dalam tanah, dan menapis bahan cemar.</a:t>
            </a:r>
          </a:p>
          <a:p>
            <a:pPr algn="l" lvl="1"/>
            <a:r>
              <a:rPr sz="1000" b="0" i="0">
                <a:solidFill>
                  <a:srgbClr val="1A1A1A"/>
                </a:solidFill>
                <a:latin typeface="Arial"/>
              </a:rPr>
              <a:t>· Fokus Utama Kontraktor:</a:t>
            </a:r>
          </a:p>
          <a:p>
            <a:pPr algn="l" lvl="1"/>
            <a:r>
              <a:rPr sz="1000" b="0" i="0">
                <a:solidFill>
                  <a:srgbClr val="1A1A1A"/>
                </a:solidFill>
                <a:latin typeface="Arial"/>
              </a:rPr>
              <a:t>· Pembentukan Landskap</a:t>
            </a:r>
          </a:p>
          <a:p>
            <a:pPr algn="l" lvl="1"/>
            <a:r>
              <a:rPr sz="900" b="0" i="0">
                <a:solidFill>
                  <a:srgbClr val="6B6B6B"/>
                </a:solidFill>
                <a:latin typeface="Arial"/>
              </a:rPr>
              <a:t>· … 2 rekod lagi</a:t>
            </a:r>
          </a:p>
          <a:p>
            <a:pPr algn="l"/>
            <a:r>
              <a:rPr sz="1000" b="1" i="0">
                <a:solidFill>
                  <a:srgbClr val="6B6B6B"/>
                </a:solidFill>
                <a:latin typeface="Arial"/>
              </a:rPr>
              <a:t>Beza daripada keadaan asas</a:t>
            </a:r>
          </a:p>
          <a:p>
            <a:pPr algn="l" lvl="1"/>
            <a:r>
              <a:rPr sz="1000" b="0" i="0">
                <a:solidFill>
                  <a:srgbClr val="1A1A1A"/>
                </a:solidFill>
                <a:latin typeface="Arial"/>
              </a:rPr>
              <a:t>— ini keadaan asas —</a:t>
            </a:r>
          </a:p>
          <a:p>
            <a:pPr algn="l"/>
            <a:r>
              <a:rPr sz="1000" b="1" i="0">
                <a:solidFill>
                  <a:srgbClr val="6B6B6B"/>
                </a:solidFill>
                <a:latin typeface="Arial"/>
              </a:rPr>
              <a:t>Cara pelajar kembali / meneruskan</a:t>
            </a:r>
          </a:p>
          <a:p>
            <a:pPr algn="l" lvl="1"/>
            <a:r>
              <a:rPr sz="1000" b="0" i="0">
                <a:solidFill>
                  <a:srgbClr val="1A1A1A"/>
                </a:solidFill>
                <a:latin typeface="Arial"/>
              </a:rPr>
              <a:t>Keadaan masuk. Pelajar meneruskan dengan SETERUSNYA setelah syarat selesai dipenuhi.</a:t>
            </a:r>
          </a:p>
          <a:p>
            <a:pPr algn="l"/>
            <a:r>
              <a:rPr sz="1000" b="1" i="0">
                <a:solidFill>
                  <a:srgbClr val="6B6B6B"/>
                </a:solidFill>
                <a:latin typeface="Arial"/>
              </a:rPr>
              <a:t>Sumber dan kuasa</a:t>
            </a:r>
          </a:p>
          <a:p>
            <a:pPr algn="l" lvl="1"/>
            <a:r>
              <a:rPr sz="900" b="0" i="0">
                <a:solidFill>
                  <a:srgbClr val="0D47A1"/>
                </a:solidFill>
                <a:latin typeface="Arial"/>
              </a:rPr>
              <a:t>Baris: T03B03-ROW-055, T03B03-ROW-056, T03B03-ROW-056, T03B03-ROW-057, T03B03-ROW-058, T03B03-ROW-059, T03B03-ROW-060, T03B03-ROW-062</a:t>
            </a:r>
          </a:p>
          <a:p>
            <a:pPr algn="l" lvl="1"/>
            <a:r>
              <a:rPr sz="900" b="0" i="0">
                <a:solidFill>
                  <a:srgbClr val="6B6B6B"/>
                </a:solidFill>
                <a:latin typeface="Arial"/>
              </a:rPr>
              <a:t>Keputusan: A1, A2</a:t>
            </a:r>
          </a:p>
        </p:txBody>
      </p:sp>
      <p:sp>
        <p:nvSpPr>
          <p:cNvPr id="6" name="Rectangle 5"/>
          <p:cNvSpPr/>
          <p:nvPr/>
        </p:nvSpPr>
        <p:spPr>
          <a:xfrm>
            <a:off x="6196000" y="1280000"/>
            <a:ext cx="5538800"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76000" y="1460000"/>
            <a:ext cx="5178800" cy="4340000"/>
          </a:xfrm>
          <a:prstGeom prst="rect">
            <a:avLst/>
          </a:prstGeom>
          <a:noFill/>
        </p:spPr>
        <p:txBody>
          <a:bodyPr wrap="square" lIns="0" rIns="0" tIns="0" bIns="0">
            <a:spAutoFit/>
          </a:bodyPr>
          <a:lstStyle/>
          <a:p>
            <a:pPr algn="l"/>
            <a:r>
              <a:rPr sz="1100" b="1" i="0">
                <a:solidFill>
                  <a:srgbClr val="6B6B6B"/>
                </a:solidFill>
                <a:latin typeface="Arial"/>
              </a:rPr>
              <a:t>T03B03-S08-ST-01   ·   Panel pendedahan</a:t>
            </a:r>
          </a:p>
          <a:p>
            <a:pPr algn="l"/>
            <a:r>
              <a:rPr sz="1200" b="1" i="0">
                <a:solidFill>
                  <a:srgbClr val="37474F"/>
                </a:solidFill>
                <a:latin typeface="Arial"/>
              </a:rPr>
              <a:t>Pencetus: Pembentukan Landskap  [T03B03-S08-TRG-01]</a:t>
            </a:r>
          </a:p>
          <a:p>
            <a:pPr algn="l"/>
            <a:r>
              <a:rPr sz="1000" b="1" i="0">
                <a:solidFill>
                  <a:srgbClr val="6B6B6B"/>
                </a:solidFill>
                <a:latin typeface="Arial"/>
              </a:rPr>
              <a:t>Apa yang dipaparkan</a:t>
            </a:r>
          </a:p>
          <a:p>
            <a:pPr algn="l" lvl="1"/>
            <a:r>
              <a:rPr sz="1000" b="0" i="0">
                <a:solidFill>
                  <a:srgbClr val="1A1A1A"/>
                </a:solidFill>
                <a:latin typeface="Arial"/>
              </a:rPr>
              <a:t>· Swale dibentuk melalui kerja penggalian yang minimum untuk menghasilkan satu lekukan yang landai dan lebar, bukannya parit yang dalam dan curam.</a:t>
            </a:r>
          </a:p>
          <a:p>
            <a:pPr algn="l"/>
            <a:r>
              <a:rPr sz="1000" b="1" i="0">
                <a:solidFill>
                  <a:srgbClr val="6B6B6B"/>
                </a:solidFill>
                <a:latin typeface="Arial"/>
              </a:rPr>
              <a:t>Beza daripada keadaan asas</a:t>
            </a:r>
          </a:p>
          <a:p>
            <a:pPr algn="l" lvl="1"/>
            <a:r>
              <a:rPr sz="1000" b="0" i="0">
                <a:solidFill>
                  <a:srgbClr val="1A1A1A"/>
                </a:solidFill>
                <a:latin typeface="Arial"/>
              </a:rPr>
              <a:t>Menambah 1 rekod yang tersembunyi dalam keadaan asas.</a:t>
            </a:r>
          </a:p>
          <a:p>
            <a:pPr algn="l"/>
            <a:r>
              <a:rPr sz="1000" b="1" i="0">
                <a:solidFill>
                  <a:srgbClr val="6B6B6B"/>
                </a:solidFill>
                <a:latin typeface="Arial"/>
              </a:rPr>
              <a:t>Cara pelajar kembali / meneruskan</a:t>
            </a:r>
          </a:p>
          <a:p>
            <a:pPr algn="l" lvl="1"/>
            <a:r>
              <a:rPr sz="1000" b="0" i="0">
                <a:solidFill>
                  <a:srgbClr val="1A1A1A"/>
                </a:solidFill>
                <a:latin typeface="Arial"/>
              </a:rPr>
              <a:t>Panel tertutup apabila ditekan sekali lagi atau apabila panel lain dibuka. Keadaan asas kembali dan sentiasa boleh dicapai. Tiada navigasi berlaku.</a:t>
            </a:r>
          </a:p>
          <a:p>
            <a:pPr algn="l"/>
            <a:r>
              <a:rPr sz="1000" b="1" i="0">
                <a:solidFill>
                  <a:srgbClr val="6B6B6B"/>
                </a:solidFill>
                <a:latin typeface="Arial"/>
              </a:rPr>
              <a:t>Sumber dan kuasa</a:t>
            </a:r>
          </a:p>
          <a:p>
            <a:pPr algn="l" lvl="1"/>
            <a:r>
              <a:rPr sz="900" b="0" i="0">
                <a:solidFill>
                  <a:srgbClr val="0D47A1"/>
                </a:solidFill>
                <a:latin typeface="Arial"/>
              </a:rPr>
              <a:t>Baris: T03B03-ROW-061</a:t>
            </a:r>
          </a:p>
          <a:p>
            <a:pPr algn="l" lvl="1"/>
            <a:r>
              <a:rPr sz="900" b="0" i="0">
                <a:solidFill>
                  <a:srgbClr val="6B6B6B"/>
                </a:solidFill>
                <a:latin typeface="Arial"/>
              </a:rPr>
              <a:t>Keputusan: A1, A2</a:t>
            </a:r>
          </a:p>
        </p:txBody>
      </p:sp>
      <p:sp>
        <p:nvSpPr>
          <p:cNvPr id="8" name="TextBox 7"/>
          <p:cNvSpPr txBox="1"/>
          <p:nvPr/>
        </p:nvSpPr>
        <p:spPr>
          <a:xfrm>
            <a:off x="457200" y="6150000"/>
            <a:ext cx="11277600" cy="400000"/>
          </a:xfrm>
          <a:prstGeom prst="rect">
            <a:avLst/>
          </a:prstGeom>
          <a:noFill/>
        </p:spPr>
        <p:txBody>
          <a:bodyPr wrap="square" lIns="0" rIns="0" tIns="0" bIns="0">
            <a:spAutoFit/>
          </a:bodyPr>
          <a:lstStyle/>
          <a:p>
            <a:pPr algn="l"/>
            <a:r>
              <a:rPr sz="900" b="0" i="0">
                <a:solidFill>
                  <a:srgbClr val="6B6B6B"/>
                </a:solidFill>
                <a:latin typeface="Arial"/>
              </a:rPr>
              <a:t>Lampiran keadaan · 2 panel/halaman · halaman 13 daripada 20   ·   DRAFT_FOR_BARIAH_REVIEW · NOT_INSTRUCTIONALLY_APPROVED · NOT_LEARNER_FACING_FINAL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spAutoFit/>
          </a:bodyPr>
          <a:lstStyle/>
          <a:p>
            <a:pPr algn="l"/>
            <a:r>
              <a:rPr sz="1100" b="1" i="0">
                <a:solidFill>
                  <a:srgbClr val="6B6B6B"/>
                </a:solidFill>
                <a:latin typeface="Arial"/>
              </a:rPr>
              <a:t>T03B03-S08   ·   click-to-reveal</a:t>
            </a:r>
          </a:p>
          <a:p>
            <a:pPr algn="l"/>
            <a:r>
              <a:rPr sz="2200" b="1" i="0">
                <a:solidFill>
                  <a:srgbClr val="1A1A1A"/>
                </a:solidFill>
                <a:latin typeface="Arial"/>
              </a:rPr>
              <a:t>Swale/ Natural Drain</a:t>
            </a:r>
          </a:p>
        </p:txBody>
      </p:sp>
      <p:sp>
        <p:nvSpPr>
          <p:cNvPr id="3" name="Rectangle 2"/>
          <p:cNvSpPr/>
          <p:nvPr/>
        </p:nvSpPr>
        <p:spPr>
          <a:xfrm>
            <a:off x="457200" y="1120000"/>
            <a:ext cx="11277600"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280000"/>
            <a:ext cx="5538800"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7200" y="1460000"/>
            <a:ext cx="5178800" cy="4340000"/>
          </a:xfrm>
          <a:prstGeom prst="rect">
            <a:avLst/>
          </a:prstGeom>
          <a:noFill/>
        </p:spPr>
        <p:txBody>
          <a:bodyPr wrap="square" lIns="0" rIns="0" tIns="0" bIns="0">
            <a:spAutoFit/>
          </a:bodyPr>
          <a:lstStyle/>
          <a:p>
            <a:pPr algn="l"/>
            <a:r>
              <a:rPr sz="1100" b="1" i="0">
                <a:solidFill>
                  <a:srgbClr val="6B6B6B"/>
                </a:solidFill>
                <a:latin typeface="Arial"/>
              </a:rPr>
              <a:t>T03B03-S08-ST-02   ·   Panel pendedahan</a:t>
            </a:r>
          </a:p>
          <a:p>
            <a:pPr algn="l"/>
            <a:r>
              <a:rPr sz="1200" b="1" i="0">
                <a:solidFill>
                  <a:srgbClr val="37474F"/>
                </a:solidFill>
                <a:latin typeface="Arial"/>
              </a:rPr>
              <a:t>Pencetus: Penanaman Tumbuhan  [T03B03-S08-TRG-02]</a:t>
            </a:r>
          </a:p>
          <a:p>
            <a:pPr algn="l"/>
            <a:r>
              <a:rPr sz="1000" b="1" i="0">
                <a:solidFill>
                  <a:srgbClr val="6B6B6B"/>
                </a:solidFill>
                <a:latin typeface="Arial"/>
              </a:rPr>
              <a:t>Apa yang dipaparkan</a:t>
            </a:r>
          </a:p>
          <a:p>
            <a:pPr algn="l" lvl="1"/>
            <a:r>
              <a:rPr sz="1000" b="0" i="0">
                <a:solidFill>
                  <a:srgbClr val="1A1A1A"/>
                </a:solidFill>
                <a:latin typeface="Arial"/>
              </a:rPr>
              <a:t>· Permukaan swale mesti ditanam dengan spesies rumput atau tumbuhan tahan air yang sesuai. Tumbuh-tumbuhan ini berfungsi untuk menstabilkan tanah, mengelakkan hakisan, dan membantu dalam proses penapisan air.</a:t>
            </a:r>
          </a:p>
          <a:p>
            <a:pPr algn="l"/>
            <a:r>
              <a:rPr sz="1000" b="1" i="0">
                <a:solidFill>
                  <a:srgbClr val="6B6B6B"/>
                </a:solidFill>
                <a:latin typeface="Arial"/>
              </a:rPr>
              <a:t>Beza daripada keadaan asas</a:t>
            </a:r>
          </a:p>
          <a:p>
            <a:pPr algn="l" lvl="1"/>
            <a:r>
              <a:rPr sz="1000" b="0" i="0">
                <a:solidFill>
                  <a:srgbClr val="1A1A1A"/>
                </a:solidFill>
                <a:latin typeface="Arial"/>
              </a:rPr>
              <a:t>Menambah 1 rekod yang tersembunyi dalam keadaan asas.</a:t>
            </a:r>
          </a:p>
          <a:p>
            <a:pPr algn="l"/>
            <a:r>
              <a:rPr sz="1000" b="1" i="0">
                <a:solidFill>
                  <a:srgbClr val="6B6B6B"/>
                </a:solidFill>
                <a:latin typeface="Arial"/>
              </a:rPr>
              <a:t>Cara pelajar kembali / meneruskan</a:t>
            </a:r>
          </a:p>
          <a:p>
            <a:pPr algn="l" lvl="1"/>
            <a:r>
              <a:rPr sz="1000" b="0" i="0">
                <a:solidFill>
                  <a:srgbClr val="1A1A1A"/>
                </a:solidFill>
                <a:latin typeface="Arial"/>
              </a:rPr>
              <a:t>Panel tertutup apabila ditekan sekali lagi atau apabila panel lain dibuka. Keadaan asas kembali dan sentiasa boleh dicapai. Tiada navigasi berlaku.</a:t>
            </a:r>
          </a:p>
          <a:p>
            <a:pPr algn="l"/>
            <a:r>
              <a:rPr sz="1000" b="1" i="0">
                <a:solidFill>
                  <a:srgbClr val="6B6B6B"/>
                </a:solidFill>
                <a:latin typeface="Arial"/>
              </a:rPr>
              <a:t>Sumber dan kuasa</a:t>
            </a:r>
          </a:p>
          <a:p>
            <a:pPr algn="l" lvl="1"/>
            <a:r>
              <a:rPr sz="900" b="0" i="0">
                <a:solidFill>
                  <a:srgbClr val="0D47A1"/>
                </a:solidFill>
                <a:latin typeface="Arial"/>
              </a:rPr>
              <a:t>Baris: T03B03-ROW-063</a:t>
            </a:r>
          </a:p>
          <a:p>
            <a:pPr algn="l" lvl="1"/>
            <a:r>
              <a:rPr sz="900" b="0" i="0">
                <a:solidFill>
                  <a:srgbClr val="6B6B6B"/>
                </a:solidFill>
                <a:latin typeface="Arial"/>
              </a:rPr>
              <a:t>Keputusan: A1, A2</a:t>
            </a:r>
          </a:p>
        </p:txBody>
      </p:sp>
      <p:sp>
        <p:nvSpPr>
          <p:cNvPr id="6" name="Rectangle 5"/>
          <p:cNvSpPr/>
          <p:nvPr/>
        </p:nvSpPr>
        <p:spPr>
          <a:xfrm>
            <a:off x="6196000" y="1280000"/>
            <a:ext cx="5538800"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76000" y="1460000"/>
            <a:ext cx="5178800" cy="4340000"/>
          </a:xfrm>
          <a:prstGeom prst="rect">
            <a:avLst/>
          </a:prstGeom>
          <a:noFill/>
        </p:spPr>
        <p:txBody>
          <a:bodyPr wrap="square" lIns="0" rIns="0" tIns="0" bIns="0">
            <a:spAutoFit/>
          </a:bodyPr>
          <a:lstStyle/>
          <a:p>
            <a:pPr algn="l"/>
            <a:r>
              <a:rPr sz="1100" b="1" i="0">
                <a:solidFill>
                  <a:srgbClr val="6B6B6B"/>
                </a:solidFill>
                <a:latin typeface="Arial"/>
              </a:rPr>
              <a:t>T03B03-S08-ST-ALL_VIEWED   ·   Penanda selesai</a:t>
            </a:r>
          </a:p>
          <a:p>
            <a:pPr algn="l"/>
            <a:r>
              <a:rPr sz="1200" b="1" i="0">
                <a:solidFill>
                  <a:srgbClr val="37474F"/>
                </a:solidFill>
                <a:latin typeface="Arial"/>
              </a:rPr>
              <a:t>Pencetus: semua 2 panel dilihat  [T03B03-S08-TRG-ALL]</a:t>
            </a:r>
          </a:p>
          <a:p>
            <a:pPr algn="l"/>
            <a:r>
              <a:rPr sz="1000" b="1" i="0">
                <a:solidFill>
                  <a:srgbClr val="6B6B6B"/>
                </a:solidFill>
                <a:latin typeface="Arial"/>
              </a:rPr>
              <a:t>Apa yang dipaparkan</a:t>
            </a:r>
          </a:p>
          <a:p>
            <a:pPr algn="l" lvl="1"/>
            <a:r>
              <a:rPr sz="1000" b="0" i="1">
                <a:solidFill>
                  <a:srgbClr val="6B6B6B"/>
                </a:solidFill>
                <a:latin typeface="Arial"/>
              </a:rPr>
              <a:t>Tiada kandungan dipaparkan — penanda sahaja.</a:t>
            </a:r>
          </a:p>
          <a:p>
            <a:pPr algn="l"/>
            <a:r>
              <a:rPr sz="1000" b="1" i="0">
                <a:solidFill>
                  <a:srgbClr val="6B6B6B"/>
                </a:solidFill>
                <a:latin typeface="Arial"/>
              </a:rPr>
              <a:t>Beza daripada keadaan asas</a:t>
            </a:r>
          </a:p>
          <a:p>
            <a:pPr algn="l" lvl="1"/>
            <a:r>
              <a:rPr sz="1000" b="0" i="0">
                <a:solidFill>
                  <a:srgbClr val="1A1A1A"/>
                </a:solidFill>
                <a:latin typeface="Arial"/>
              </a:rPr>
              <a:t>Tidak dipaparkan; membuka SETERUSNYA.</a:t>
            </a:r>
          </a:p>
          <a:p>
            <a:pPr algn="l"/>
            <a:r>
              <a:rPr sz="1000" b="1" i="0">
                <a:solidFill>
                  <a:srgbClr val="6B6B6B"/>
                </a:solidFill>
                <a:latin typeface="Arial"/>
              </a:rPr>
              <a:t>Cara pelajar kembali / meneruskan</a:t>
            </a:r>
          </a:p>
          <a:p>
            <a:pPr algn="l" lvl="1"/>
            <a:r>
              <a:rPr sz="1000" b="0" i="0">
                <a:solidFill>
                  <a:srgbClr val="1A1A1A"/>
                </a:solidFill>
                <a:latin typeface="Arial"/>
              </a:rPr>
              <a:t>Bukan keadaan yang dipaparkan. Penanda yang menjadi benar setelah semua pendedahan dilihat, dan inilah yang membuka SETERUSNYA.</a:t>
            </a:r>
          </a:p>
          <a:p>
            <a:pPr algn="l"/>
            <a:r>
              <a:rPr sz="1000" b="1" i="0">
                <a:solidFill>
                  <a:srgbClr val="6B6B6B"/>
                </a:solidFill>
                <a:latin typeface="Arial"/>
              </a:rPr>
              <a:t>Sumber dan kuasa</a:t>
            </a:r>
          </a:p>
          <a:p>
            <a:pPr algn="l" lvl="1"/>
            <a:r>
              <a:rPr sz="900" b="0" i="0">
                <a:solidFill>
                  <a:srgbClr val="0D47A1"/>
                </a:solidFill>
                <a:latin typeface="Arial"/>
              </a:rPr>
              <a:t>Tiada baris modul — keadaan struktur</a:t>
            </a:r>
          </a:p>
          <a:p>
            <a:pPr algn="l" lvl="1"/>
            <a:r>
              <a:rPr sz="900" b="0" i="0">
                <a:solidFill>
                  <a:srgbClr val="6B6B6B"/>
                </a:solidFill>
                <a:latin typeface="Arial"/>
              </a:rPr>
              <a:t>Keputusan: A1, A2</a:t>
            </a:r>
          </a:p>
        </p:txBody>
      </p:sp>
      <p:sp>
        <p:nvSpPr>
          <p:cNvPr id="8" name="TextBox 7"/>
          <p:cNvSpPr txBox="1"/>
          <p:nvPr/>
        </p:nvSpPr>
        <p:spPr>
          <a:xfrm>
            <a:off x="457200" y="6150000"/>
            <a:ext cx="11277600" cy="400000"/>
          </a:xfrm>
          <a:prstGeom prst="rect">
            <a:avLst/>
          </a:prstGeom>
          <a:noFill/>
        </p:spPr>
        <p:txBody>
          <a:bodyPr wrap="square" lIns="0" rIns="0" tIns="0" bIns="0">
            <a:spAutoFit/>
          </a:bodyPr>
          <a:lstStyle/>
          <a:p>
            <a:pPr algn="l"/>
            <a:r>
              <a:rPr sz="900" b="0" i="0">
                <a:solidFill>
                  <a:srgbClr val="6B6B6B"/>
                </a:solidFill>
                <a:latin typeface="Arial"/>
              </a:rPr>
              <a:t>Lampiran keadaan · 2 panel/halaman · halaman 14 daripada 20   ·   DRAFT_FOR_BARIAH_REVIEW · NOT_INSTRUCTIONALLY_APPROVED · NOT_LEARNER_FACING_FINAL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spAutoFit/>
          </a:bodyPr>
          <a:lstStyle/>
          <a:p>
            <a:pPr algn="l"/>
            <a:r>
              <a:rPr sz="1100" b="1" i="0">
                <a:solidFill>
                  <a:srgbClr val="6B6B6B"/>
                </a:solidFill>
                <a:latin typeface="Arial"/>
              </a:rPr>
              <a:t>T03B03-S09   ·   click-to-reveal</a:t>
            </a:r>
          </a:p>
          <a:p>
            <a:pPr algn="l"/>
            <a:r>
              <a:rPr sz="2200" b="1" i="0">
                <a:solidFill>
                  <a:srgbClr val="1A1A1A"/>
                </a:solidFill>
                <a:latin typeface="Arial"/>
              </a:rPr>
              <a:t>Jalan akses</a:t>
            </a:r>
          </a:p>
        </p:txBody>
      </p:sp>
      <p:sp>
        <p:nvSpPr>
          <p:cNvPr id="3" name="Rectangle 2"/>
          <p:cNvSpPr/>
          <p:nvPr/>
        </p:nvSpPr>
        <p:spPr>
          <a:xfrm>
            <a:off x="457200" y="1120000"/>
            <a:ext cx="11277600"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280000"/>
            <a:ext cx="5538800"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7200" y="1460000"/>
            <a:ext cx="5178800" cy="4340000"/>
          </a:xfrm>
          <a:prstGeom prst="rect">
            <a:avLst/>
          </a:prstGeom>
          <a:noFill/>
        </p:spPr>
        <p:txBody>
          <a:bodyPr wrap="square" lIns="0" rIns="0" tIns="0" bIns="0">
            <a:spAutoFit/>
          </a:bodyPr>
          <a:lstStyle/>
          <a:p>
            <a:pPr algn="l"/>
            <a:r>
              <a:rPr sz="1100" b="1" i="0">
                <a:solidFill>
                  <a:srgbClr val="6B6B6B"/>
                </a:solidFill>
                <a:latin typeface="Arial"/>
              </a:rPr>
              <a:t>T03B03-S09-ST-BASE   ·   Keadaan asas</a:t>
            </a:r>
          </a:p>
          <a:p>
            <a:pPr algn="l"/>
            <a:r>
              <a:rPr sz="1200" b="1" i="0">
                <a:solidFill>
                  <a:srgbClr val="1B5E20"/>
                </a:solidFill>
                <a:latin typeface="Arial"/>
              </a:rPr>
              <a:t>Pencetus: screen entry</a:t>
            </a:r>
          </a:p>
          <a:p>
            <a:pPr algn="l"/>
            <a:r>
              <a:rPr sz="1000" b="1" i="0">
                <a:solidFill>
                  <a:srgbClr val="6B6B6B"/>
                </a:solidFill>
                <a:latin typeface="Arial"/>
              </a:rPr>
              <a:t>Apa yang dipaparkan</a:t>
            </a:r>
          </a:p>
          <a:p>
            <a:pPr algn="l" lvl="1"/>
            <a:r>
              <a:rPr sz="1000" b="0" i="0">
                <a:solidFill>
                  <a:srgbClr val="1A1A1A"/>
                </a:solidFill>
                <a:latin typeface="Arial"/>
              </a:rPr>
              <a:t>· Jalan akses</a:t>
            </a:r>
          </a:p>
          <a:p>
            <a:pPr algn="l" lvl="1"/>
            <a:r>
              <a:rPr sz="1000" b="0" i="0">
                <a:solidFill>
                  <a:srgbClr val="1A1A1A"/>
                </a:solidFill>
                <a:latin typeface="Arial"/>
              </a:rPr>
              <a:t>· Jalan akses dalam konteks landskap menyediakan laluan untuk kenderaan penyelenggaraan atau laluan pejalan kaki utama.</a:t>
            </a:r>
          </a:p>
          <a:p>
            <a:pPr algn="l" lvl="1"/>
            <a:r>
              <a:rPr sz="1000" b="0" i="0">
                <a:solidFill>
                  <a:srgbClr val="1A1A1A"/>
                </a:solidFill>
                <a:latin typeface="Arial"/>
              </a:rPr>
              <a:t>· Fungsi</a:t>
            </a:r>
          </a:p>
          <a:p>
            <a:pPr algn="l" lvl="1"/>
            <a:r>
              <a:rPr sz="1000" b="0" i="0">
                <a:solidFill>
                  <a:srgbClr val="1A1A1A"/>
                </a:solidFill>
                <a:latin typeface="Arial"/>
              </a:rPr>
              <a:t>· Menyediakan perhubungan dan akses ke seluruh kawasan tapak.</a:t>
            </a:r>
          </a:p>
          <a:p>
            <a:pPr algn="l" lvl="1"/>
            <a:r>
              <a:rPr sz="1000" b="0" i="0">
                <a:solidFill>
                  <a:srgbClr val="1A1A1A"/>
                </a:solidFill>
                <a:latin typeface="Arial"/>
              </a:rPr>
              <a:t>· Fokus Utama Kontraktor</a:t>
            </a:r>
          </a:p>
          <a:p>
            <a:pPr algn="l" lvl="1"/>
            <a:r>
              <a:rPr sz="1000" b="0" i="0">
                <a:solidFill>
                  <a:srgbClr val="1A1A1A"/>
                </a:solidFill>
                <a:latin typeface="Arial"/>
              </a:rPr>
              <a:t>· Penyediaan Tapak Asas (Sub-base)</a:t>
            </a:r>
          </a:p>
          <a:p>
            <a:pPr algn="l" lvl="1"/>
            <a:r>
              <a:rPr sz="1000" b="0" i="0">
                <a:solidFill>
                  <a:srgbClr val="1A1A1A"/>
                </a:solidFill>
                <a:latin typeface="Arial"/>
              </a:rPr>
              <a:t>· Pemasangan Bebendul (Kerb)</a:t>
            </a:r>
          </a:p>
          <a:p>
            <a:pPr algn="l" lvl="1"/>
            <a:r>
              <a:rPr sz="900" b="0" i="0">
                <a:solidFill>
                  <a:srgbClr val="6B6B6B"/>
                </a:solidFill>
                <a:latin typeface="Arial"/>
              </a:rPr>
              <a:t>· … 3 rekod lagi</a:t>
            </a:r>
          </a:p>
          <a:p>
            <a:pPr algn="l"/>
            <a:r>
              <a:rPr sz="1000" b="1" i="0">
                <a:solidFill>
                  <a:srgbClr val="6B6B6B"/>
                </a:solidFill>
                <a:latin typeface="Arial"/>
              </a:rPr>
              <a:t>Beza daripada keadaan asas</a:t>
            </a:r>
          </a:p>
          <a:p>
            <a:pPr algn="l" lvl="1"/>
            <a:r>
              <a:rPr sz="1000" b="0" i="0">
                <a:solidFill>
                  <a:srgbClr val="1A1A1A"/>
                </a:solidFill>
                <a:latin typeface="Arial"/>
              </a:rPr>
              <a:t>— ini keadaan asas —</a:t>
            </a:r>
          </a:p>
          <a:p>
            <a:pPr algn="l"/>
            <a:r>
              <a:rPr sz="1000" b="1" i="0">
                <a:solidFill>
                  <a:srgbClr val="6B6B6B"/>
                </a:solidFill>
                <a:latin typeface="Arial"/>
              </a:rPr>
              <a:t>Cara pelajar kembali / meneruskan</a:t>
            </a:r>
          </a:p>
          <a:p>
            <a:pPr algn="l" lvl="1"/>
            <a:r>
              <a:rPr sz="1000" b="0" i="0">
                <a:solidFill>
                  <a:srgbClr val="1A1A1A"/>
                </a:solidFill>
                <a:latin typeface="Arial"/>
              </a:rPr>
              <a:t>Keadaan masuk. Pelajar meneruskan dengan SETERUSNYA setelah syarat selesai dipenuhi.</a:t>
            </a:r>
          </a:p>
          <a:p>
            <a:pPr algn="l"/>
            <a:r>
              <a:rPr sz="1000" b="1" i="0">
                <a:solidFill>
                  <a:srgbClr val="6B6B6B"/>
                </a:solidFill>
                <a:latin typeface="Arial"/>
              </a:rPr>
              <a:t>Sumber dan kuasa</a:t>
            </a:r>
          </a:p>
          <a:p>
            <a:pPr algn="l" lvl="1"/>
            <a:r>
              <a:rPr sz="900" b="0" i="0">
                <a:solidFill>
                  <a:srgbClr val="0D47A1"/>
                </a:solidFill>
                <a:latin typeface="Arial"/>
              </a:rPr>
              <a:t>Baris: T03B03-ROW-064, T03B03-ROW-065, T03B03-ROW-066, T03B03-ROW-067, T03B03-ROW-068, T03B03-ROW-069, T03B03-ROW-071, T03B03-ROW-073, T03B03-ROW-075</a:t>
            </a:r>
          </a:p>
          <a:p>
            <a:pPr algn="l" lvl="1"/>
            <a:r>
              <a:rPr sz="900" b="0" i="0">
                <a:solidFill>
                  <a:srgbClr val="6B6B6B"/>
                </a:solidFill>
                <a:latin typeface="Arial"/>
              </a:rPr>
              <a:t>Keputusan: A1, A2</a:t>
            </a:r>
          </a:p>
        </p:txBody>
      </p:sp>
      <p:sp>
        <p:nvSpPr>
          <p:cNvPr id="6" name="Rectangle 5"/>
          <p:cNvSpPr/>
          <p:nvPr/>
        </p:nvSpPr>
        <p:spPr>
          <a:xfrm>
            <a:off x="6196000" y="1280000"/>
            <a:ext cx="5538800"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76000" y="1460000"/>
            <a:ext cx="5178800" cy="4340000"/>
          </a:xfrm>
          <a:prstGeom prst="rect">
            <a:avLst/>
          </a:prstGeom>
          <a:noFill/>
        </p:spPr>
        <p:txBody>
          <a:bodyPr wrap="square" lIns="0" rIns="0" tIns="0" bIns="0">
            <a:spAutoFit/>
          </a:bodyPr>
          <a:lstStyle/>
          <a:p>
            <a:pPr algn="l"/>
            <a:r>
              <a:rPr sz="1100" b="1" i="0">
                <a:solidFill>
                  <a:srgbClr val="6B6B6B"/>
                </a:solidFill>
                <a:latin typeface="Arial"/>
              </a:rPr>
              <a:t>T03B03-S09-ST-01   ·   Panel pendedahan</a:t>
            </a:r>
          </a:p>
          <a:p>
            <a:pPr algn="l"/>
            <a:r>
              <a:rPr sz="1200" b="1" i="0">
                <a:solidFill>
                  <a:srgbClr val="37474F"/>
                </a:solidFill>
                <a:latin typeface="Arial"/>
              </a:rPr>
              <a:t>Pencetus: Penyediaan Tapak Asas (Sub-base)  [T03B03-S09-TRG-01]</a:t>
            </a:r>
          </a:p>
          <a:p>
            <a:pPr algn="l"/>
            <a:r>
              <a:rPr sz="1000" b="1" i="0">
                <a:solidFill>
                  <a:srgbClr val="6B6B6B"/>
                </a:solidFill>
                <a:latin typeface="Arial"/>
              </a:rPr>
              <a:t>Apa yang dipaparkan</a:t>
            </a:r>
          </a:p>
          <a:p>
            <a:pPr algn="l" lvl="1"/>
            <a:r>
              <a:rPr sz="1000" b="0" i="0">
                <a:solidFill>
                  <a:srgbClr val="1A1A1A"/>
                </a:solidFill>
                <a:latin typeface="Arial"/>
              </a:rPr>
              <a:t>· Kualiti jalan bergantung pada tapak asasnya. Lapisan tanah asal mesti dipadatkan, diikuti dengan lapisan batu kasaran (crusher run) yang dipadatkan mengikut ketebalan yang ditetapkan dalam lukisan.</a:t>
            </a:r>
          </a:p>
          <a:p>
            <a:pPr algn="l"/>
            <a:r>
              <a:rPr sz="1000" b="1" i="0">
                <a:solidFill>
                  <a:srgbClr val="6B6B6B"/>
                </a:solidFill>
                <a:latin typeface="Arial"/>
              </a:rPr>
              <a:t>Beza daripada keadaan asas</a:t>
            </a:r>
          </a:p>
          <a:p>
            <a:pPr algn="l" lvl="1"/>
            <a:r>
              <a:rPr sz="1000" b="0" i="0">
                <a:solidFill>
                  <a:srgbClr val="1A1A1A"/>
                </a:solidFill>
                <a:latin typeface="Arial"/>
              </a:rPr>
              <a:t>Menambah 1 rekod yang tersembunyi dalam keadaan asas.</a:t>
            </a:r>
          </a:p>
          <a:p>
            <a:pPr algn="l"/>
            <a:r>
              <a:rPr sz="1000" b="1" i="0">
                <a:solidFill>
                  <a:srgbClr val="6B6B6B"/>
                </a:solidFill>
                <a:latin typeface="Arial"/>
              </a:rPr>
              <a:t>Cara pelajar kembali / meneruskan</a:t>
            </a:r>
          </a:p>
          <a:p>
            <a:pPr algn="l" lvl="1"/>
            <a:r>
              <a:rPr sz="1000" b="0" i="0">
                <a:solidFill>
                  <a:srgbClr val="1A1A1A"/>
                </a:solidFill>
                <a:latin typeface="Arial"/>
              </a:rPr>
              <a:t>Panel tertutup apabila ditekan sekali lagi atau apabila panel lain dibuka. Keadaan asas kembali dan sentiasa boleh dicapai. Tiada navigasi berlaku.</a:t>
            </a:r>
          </a:p>
          <a:p>
            <a:pPr algn="l"/>
            <a:r>
              <a:rPr sz="1000" b="1" i="0">
                <a:solidFill>
                  <a:srgbClr val="6B6B6B"/>
                </a:solidFill>
                <a:latin typeface="Arial"/>
              </a:rPr>
              <a:t>Sumber dan kuasa</a:t>
            </a:r>
          </a:p>
          <a:p>
            <a:pPr algn="l" lvl="1"/>
            <a:r>
              <a:rPr sz="900" b="0" i="0">
                <a:solidFill>
                  <a:srgbClr val="0D47A1"/>
                </a:solidFill>
                <a:latin typeface="Arial"/>
              </a:rPr>
              <a:t>Baris: T03B03-ROW-070</a:t>
            </a:r>
          </a:p>
          <a:p>
            <a:pPr algn="l" lvl="1"/>
            <a:r>
              <a:rPr sz="900" b="0" i="0">
                <a:solidFill>
                  <a:srgbClr val="6B6B6B"/>
                </a:solidFill>
                <a:latin typeface="Arial"/>
              </a:rPr>
              <a:t>Keputusan: A1, A2</a:t>
            </a:r>
          </a:p>
        </p:txBody>
      </p:sp>
      <p:sp>
        <p:nvSpPr>
          <p:cNvPr id="8" name="TextBox 7"/>
          <p:cNvSpPr txBox="1"/>
          <p:nvPr/>
        </p:nvSpPr>
        <p:spPr>
          <a:xfrm>
            <a:off x="457200" y="6150000"/>
            <a:ext cx="11277600" cy="400000"/>
          </a:xfrm>
          <a:prstGeom prst="rect">
            <a:avLst/>
          </a:prstGeom>
          <a:noFill/>
        </p:spPr>
        <p:txBody>
          <a:bodyPr wrap="square" lIns="0" rIns="0" tIns="0" bIns="0">
            <a:spAutoFit/>
          </a:bodyPr>
          <a:lstStyle/>
          <a:p>
            <a:pPr algn="l"/>
            <a:r>
              <a:rPr sz="900" b="0" i="0">
                <a:solidFill>
                  <a:srgbClr val="6B6B6B"/>
                </a:solidFill>
                <a:latin typeface="Arial"/>
              </a:rPr>
              <a:t>Lampiran keadaan · 2 panel/halaman · halaman 15 daripada 20   ·   DRAFT_FOR_BARIAH_REVIEW · NOT_INSTRUCTIONALLY_APPROVED · NOT_LEARNER_FACING_FINAL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spAutoFit/>
          </a:bodyPr>
          <a:lstStyle/>
          <a:p>
            <a:pPr algn="l"/>
            <a:r>
              <a:rPr sz="1100" b="1" i="0">
                <a:solidFill>
                  <a:srgbClr val="6B6B6B"/>
                </a:solidFill>
                <a:latin typeface="Arial"/>
              </a:rPr>
              <a:t>T03B03-S09   ·   click-to-reveal</a:t>
            </a:r>
          </a:p>
          <a:p>
            <a:pPr algn="l"/>
            <a:r>
              <a:rPr sz="2200" b="1" i="0">
                <a:solidFill>
                  <a:srgbClr val="1A1A1A"/>
                </a:solidFill>
                <a:latin typeface="Arial"/>
              </a:rPr>
              <a:t>Jalan akses</a:t>
            </a:r>
          </a:p>
        </p:txBody>
      </p:sp>
      <p:sp>
        <p:nvSpPr>
          <p:cNvPr id="3" name="Rectangle 2"/>
          <p:cNvSpPr/>
          <p:nvPr/>
        </p:nvSpPr>
        <p:spPr>
          <a:xfrm>
            <a:off x="457200" y="1120000"/>
            <a:ext cx="11277600"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280000"/>
            <a:ext cx="5538800"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7200" y="1460000"/>
            <a:ext cx="5178800" cy="4340000"/>
          </a:xfrm>
          <a:prstGeom prst="rect">
            <a:avLst/>
          </a:prstGeom>
          <a:noFill/>
        </p:spPr>
        <p:txBody>
          <a:bodyPr wrap="square" lIns="0" rIns="0" tIns="0" bIns="0">
            <a:spAutoFit/>
          </a:bodyPr>
          <a:lstStyle/>
          <a:p>
            <a:pPr algn="l"/>
            <a:r>
              <a:rPr sz="1100" b="1" i="0">
                <a:solidFill>
                  <a:srgbClr val="6B6B6B"/>
                </a:solidFill>
                <a:latin typeface="Arial"/>
              </a:rPr>
              <a:t>T03B03-S09-ST-02   ·   Panel pendedahan</a:t>
            </a:r>
          </a:p>
          <a:p>
            <a:pPr algn="l"/>
            <a:r>
              <a:rPr sz="1200" b="1" i="0">
                <a:solidFill>
                  <a:srgbClr val="37474F"/>
                </a:solidFill>
                <a:latin typeface="Arial"/>
              </a:rPr>
              <a:t>Pencetus: Pemasangan Bebendul (Kerb)  [T03B03-S09-TRG-02]</a:t>
            </a:r>
          </a:p>
          <a:p>
            <a:pPr algn="l"/>
            <a:r>
              <a:rPr sz="1000" b="1" i="0">
                <a:solidFill>
                  <a:srgbClr val="6B6B6B"/>
                </a:solidFill>
                <a:latin typeface="Arial"/>
              </a:rPr>
              <a:t>Apa yang dipaparkan</a:t>
            </a:r>
          </a:p>
          <a:p>
            <a:pPr algn="l" lvl="1"/>
            <a:r>
              <a:rPr sz="1000" b="0" i="0">
                <a:solidFill>
                  <a:srgbClr val="1A1A1A"/>
                </a:solidFill>
                <a:latin typeface="Arial"/>
              </a:rPr>
              <a:t>· Bebendul konkrit dipasang di kedua-dua belah jalan untuk menetapkan jajaran dan menahan lapisan permukaan.</a:t>
            </a:r>
          </a:p>
          <a:p>
            <a:pPr algn="l"/>
            <a:r>
              <a:rPr sz="1000" b="1" i="0">
                <a:solidFill>
                  <a:srgbClr val="6B6B6B"/>
                </a:solidFill>
                <a:latin typeface="Arial"/>
              </a:rPr>
              <a:t>Beza daripada keadaan asas</a:t>
            </a:r>
          </a:p>
          <a:p>
            <a:pPr algn="l" lvl="1"/>
            <a:r>
              <a:rPr sz="1000" b="0" i="0">
                <a:solidFill>
                  <a:srgbClr val="1A1A1A"/>
                </a:solidFill>
                <a:latin typeface="Arial"/>
              </a:rPr>
              <a:t>Menambah 1 rekod yang tersembunyi dalam keadaan asas.</a:t>
            </a:r>
          </a:p>
          <a:p>
            <a:pPr algn="l"/>
            <a:r>
              <a:rPr sz="1000" b="1" i="0">
                <a:solidFill>
                  <a:srgbClr val="6B6B6B"/>
                </a:solidFill>
                <a:latin typeface="Arial"/>
              </a:rPr>
              <a:t>Cara pelajar kembali / meneruskan</a:t>
            </a:r>
          </a:p>
          <a:p>
            <a:pPr algn="l" lvl="1"/>
            <a:r>
              <a:rPr sz="1000" b="0" i="0">
                <a:solidFill>
                  <a:srgbClr val="1A1A1A"/>
                </a:solidFill>
                <a:latin typeface="Arial"/>
              </a:rPr>
              <a:t>Panel tertutup apabila ditekan sekali lagi atau apabila panel lain dibuka. Keadaan asas kembali dan sentiasa boleh dicapai. Tiada navigasi berlaku.</a:t>
            </a:r>
          </a:p>
          <a:p>
            <a:pPr algn="l"/>
            <a:r>
              <a:rPr sz="1000" b="1" i="0">
                <a:solidFill>
                  <a:srgbClr val="6B6B6B"/>
                </a:solidFill>
                <a:latin typeface="Arial"/>
              </a:rPr>
              <a:t>Sumber dan kuasa</a:t>
            </a:r>
          </a:p>
          <a:p>
            <a:pPr algn="l" lvl="1"/>
            <a:r>
              <a:rPr sz="900" b="0" i="0">
                <a:solidFill>
                  <a:srgbClr val="0D47A1"/>
                </a:solidFill>
                <a:latin typeface="Arial"/>
              </a:rPr>
              <a:t>Baris: T03B03-ROW-072</a:t>
            </a:r>
          </a:p>
          <a:p>
            <a:pPr algn="l" lvl="1"/>
            <a:r>
              <a:rPr sz="900" b="0" i="0">
                <a:solidFill>
                  <a:srgbClr val="6B6B6B"/>
                </a:solidFill>
                <a:latin typeface="Arial"/>
              </a:rPr>
              <a:t>Keputusan: A1, A2</a:t>
            </a:r>
          </a:p>
        </p:txBody>
      </p:sp>
      <p:sp>
        <p:nvSpPr>
          <p:cNvPr id="6" name="Rectangle 5"/>
          <p:cNvSpPr/>
          <p:nvPr/>
        </p:nvSpPr>
        <p:spPr>
          <a:xfrm>
            <a:off x="6196000" y="1280000"/>
            <a:ext cx="5538800"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76000" y="1460000"/>
            <a:ext cx="5178800" cy="4340000"/>
          </a:xfrm>
          <a:prstGeom prst="rect">
            <a:avLst/>
          </a:prstGeom>
          <a:noFill/>
        </p:spPr>
        <p:txBody>
          <a:bodyPr wrap="square" lIns="0" rIns="0" tIns="0" bIns="0">
            <a:spAutoFit/>
          </a:bodyPr>
          <a:lstStyle/>
          <a:p>
            <a:pPr algn="l"/>
            <a:r>
              <a:rPr sz="1100" b="1" i="0">
                <a:solidFill>
                  <a:srgbClr val="6B6B6B"/>
                </a:solidFill>
                <a:latin typeface="Arial"/>
              </a:rPr>
              <a:t>T03B03-S09-ST-03   ·   Panel pendedahan</a:t>
            </a:r>
          </a:p>
          <a:p>
            <a:pPr algn="l"/>
            <a:r>
              <a:rPr sz="1200" b="1" i="0">
                <a:solidFill>
                  <a:srgbClr val="37474F"/>
                </a:solidFill>
                <a:latin typeface="Arial"/>
              </a:rPr>
              <a:t>Pencetus: Lapisan Permukaan  [T03B03-S09-TRG-03]</a:t>
            </a:r>
          </a:p>
          <a:p>
            <a:pPr algn="l"/>
            <a:r>
              <a:rPr sz="1000" b="1" i="0">
                <a:solidFill>
                  <a:srgbClr val="6B6B6B"/>
                </a:solidFill>
                <a:latin typeface="Arial"/>
              </a:rPr>
              <a:t>Apa yang dipaparkan</a:t>
            </a:r>
          </a:p>
          <a:p>
            <a:pPr algn="l" lvl="1"/>
            <a:r>
              <a:rPr sz="1000" b="0" i="0">
                <a:solidFill>
                  <a:srgbClr val="1A1A1A"/>
                </a:solidFill>
                <a:latin typeface="Arial"/>
              </a:rPr>
              <a:t>· Permukaan akhir boleh terdiri daripada pelbagai bahan seperti premix/asphalt, blok turapan (interlocking pavers), atau konkrit bertetulang, dan mesti dibina mengikut spesifikasi yang betul.</a:t>
            </a:r>
          </a:p>
          <a:p>
            <a:pPr algn="l"/>
            <a:r>
              <a:rPr sz="1000" b="1" i="0">
                <a:solidFill>
                  <a:srgbClr val="6B6B6B"/>
                </a:solidFill>
                <a:latin typeface="Arial"/>
              </a:rPr>
              <a:t>Beza daripada keadaan asas</a:t>
            </a:r>
          </a:p>
          <a:p>
            <a:pPr algn="l" lvl="1"/>
            <a:r>
              <a:rPr sz="1000" b="0" i="0">
                <a:solidFill>
                  <a:srgbClr val="1A1A1A"/>
                </a:solidFill>
                <a:latin typeface="Arial"/>
              </a:rPr>
              <a:t>Menambah 1 rekod yang tersembunyi dalam keadaan asas.</a:t>
            </a:r>
          </a:p>
          <a:p>
            <a:pPr algn="l"/>
            <a:r>
              <a:rPr sz="1000" b="1" i="0">
                <a:solidFill>
                  <a:srgbClr val="6B6B6B"/>
                </a:solidFill>
                <a:latin typeface="Arial"/>
              </a:rPr>
              <a:t>Cara pelajar kembali / meneruskan</a:t>
            </a:r>
          </a:p>
          <a:p>
            <a:pPr algn="l" lvl="1"/>
            <a:r>
              <a:rPr sz="1000" b="0" i="0">
                <a:solidFill>
                  <a:srgbClr val="1A1A1A"/>
                </a:solidFill>
                <a:latin typeface="Arial"/>
              </a:rPr>
              <a:t>Panel tertutup apabila ditekan sekali lagi atau apabila panel lain dibuka. Keadaan asas kembali dan sentiasa boleh dicapai. Tiada navigasi berlaku.</a:t>
            </a:r>
          </a:p>
          <a:p>
            <a:pPr algn="l"/>
            <a:r>
              <a:rPr sz="1000" b="1" i="0">
                <a:solidFill>
                  <a:srgbClr val="6B6B6B"/>
                </a:solidFill>
                <a:latin typeface="Arial"/>
              </a:rPr>
              <a:t>Sumber dan kuasa</a:t>
            </a:r>
          </a:p>
          <a:p>
            <a:pPr algn="l" lvl="1"/>
            <a:r>
              <a:rPr sz="900" b="0" i="0">
                <a:solidFill>
                  <a:srgbClr val="0D47A1"/>
                </a:solidFill>
                <a:latin typeface="Arial"/>
              </a:rPr>
              <a:t>Baris: T03B03-ROW-074</a:t>
            </a:r>
          </a:p>
          <a:p>
            <a:pPr algn="l" lvl="1"/>
            <a:r>
              <a:rPr sz="900" b="0" i="0">
                <a:solidFill>
                  <a:srgbClr val="6B6B6B"/>
                </a:solidFill>
                <a:latin typeface="Arial"/>
              </a:rPr>
              <a:t>Keputusan: A1, A2</a:t>
            </a:r>
          </a:p>
        </p:txBody>
      </p:sp>
      <p:sp>
        <p:nvSpPr>
          <p:cNvPr id="8" name="TextBox 7"/>
          <p:cNvSpPr txBox="1"/>
          <p:nvPr/>
        </p:nvSpPr>
        <p:spPr>
          <a:xfrm>
            <a:off x="457200" y="6150000"/>
            <a:ext cx="11277600" cy="400000"/>
          </a:xfrm>
          <a:prstGeom prst="rect">
            <a:avLst/>
          </a:prstGeom>
          <a:noFill/>
        </p:spPr>
        <p:txBody>
          <a:bodyPr wrap="square" lIns="0" rIns="0" tIns="0" bIns="0">
            <a:spAutoFit/>
          </a:bodyPr>
          <a:lstStyle/>
          <a:p>
            <a:pPr algn="l"/>
            <a:r>
              <a:rPr sz="900" b="0" i="0">
                <a:solidFill>
                  <a:srgbClr val="6B6B6B"/>
                </a:solidFill>
                <a:latin typeface="Arial"/>
              </a:rPr>
              <a:t>Lampiran keadaan · 2 panel/halaman · halaman 16 daripada 20   ·   DRAFT_FOR_BARIAH_REVIEW · NOT_INSTRUCTIONALLY_APPROVED · NOT_LEARNER_FACING_FINAL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spAutoFit/>
          </a:bodyPr>
          <a:lstStyle/>
          <a:p>
            <a:pPr algn="l"/>
            <a:r>
              <a:rPr sz="1100" b="1" i="0">
                <a:solidFill>
                  <a:srgbClr val="6B6B6B"/>
                </a:solidFill>
                <a:latin typeface="Arial"/>
              </a:rPr>
              <a:t>T03B03-S09   ·   click-to-reveal</a:t>
            </a:r>
          </a:p>
          <a:p>
            <a:pPr algn="l"/>
            <a:r>
              <a:rPr sz="2200" b="1" i="0">
                <a:solidFill>
                  <a:srgbClr val="1A1A1A"/>
                </a:solidFill>
                <a:latin typeface="Arial"/>
              </a:rPr>
              <a:t>Jalan akses</a:t>
            </a:r>
          </a:p>
        </p:txBody>
      </p:sp>
      <p:sp>
        <p:nvSpPr>
          <p:cNvPr id="3" name="Rectangle 2"/>
          <p:cNvSpPr/>
          <p:nvPr/>
        </p:nvSpPr>
        <p:spPr>
          <a:xfrm>
            <a:off x="457200" y="1120000"/>
            <a:ext cx="11277600"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280000"/>
            <a:ext cx="5538800"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7200" y="1460000"/>
            <a:ext cx="5178800" cy="4340000"/>
          </a:xfrm>
          <a:prstGeom prst="rect">
            <a:avLst/>
          </a:prstGeom>
          <a:noFill/>
        </p:spPr>
        <p:txBody>
          <a:bodyPr wrap="square" lIns="0" rIns="0" tIns="0" bIns="0">
            <a:spAutoFit/>
          </a:bodyPr>
          <a:lstStyle/>
          <a:p>
            <a:pPr algn="l"/>
            <a:r>
              <a:rPr sz="1100" b="1" i="0">
                <a:solidFill>
                  <a:srgbClr val="6B6B6B"/>
                </a:solidFill>
                <a:latin typeface="Arial"/>
              </a:rPr>
              <a:t>T03B03-S09-ST-04   ·   Panel pendedahan</a:t>
            </a:r>
          </a:p>
          <a:p>
            <a:pPr algn="l"/>
            <a:r>
              <a:rPr sz="1200" b="1" i="0">
                <a:solidFill>
                  <a:srgbClr val="37474F"/>
                </a:solidFill>
                <a:latin typeface="Arial"/>
              </a:rPr>
              <a:t>Pencetus: Kamber (Camber)  [T03B03-S09-TRG-04]</a:t>
            </a:r>
          </a:p>
          <a:p>
            <a:pPr algn="l"/>
            <a:r>
              <a:rPr sz="1000" b="1" i="0">
                <a:solidFill>
                  <a:srgbClr val="6B6B6B"/>
                </a:solidFill>
                <a:latin typeface="Arial"/>
              </a:rPr>
              <a:t>Apa yang dipaparkan</a:t>
            </a:r>
          </a:p>
          <a:p>
            <a:pPr algn="l" lvl="1"/>
            <a:r>
              <a:rPr sz="1000" b="0" i="0">
                <a:solidFill>
                  <a:srgbClr val="1A1A1A"/>
                </a:solidFill>
                <a:latin typeface="Arial"/>
              </a:rPr>
              <a:t>· Permukaan jalan mesti dibina dengan sedikit kecerunan melintang dari bahagian tengah ke tepi untuk memastikan air hujan mengalir ke sistem perparitan.</a:t>
            </a:r>
          </a:p>
          <a:p>
            <a:pPr algn="l"/>
            <a:r>
              <a:rPr sz="1000" b="1" i="0">
                <a:solidFill>
                  <a:srgbClr val="6B6B6B"/>
                </a:solidFill>
                <a:latin typeface="Arial"/>
              </a:rPr>
              <a:t>Beza daripada keadaan asas</a:t>
            </a:r>
          </a:p>
          <a:p>
            <a:pPr algn="l" lvl="1"/>
            <a:r>
              <a:rPr sz="1000" b="0" i="0">
                <a:solidFill>
                  <a:srgbClr val="1A1A1A"/>
                </a:solidFill>
                <a:latin typeface="Arial"/>
              </a:rPr>
              <a:t>Menambah 1 rekod yang tersembunyi dalam keadaan asas.</a:t>
            </a:r>
          </a:p>
          <a:p>
            <a:pPr algn="l"/>
            <a:r>
              <a:rPr sz="1000" b="1" i="0">
                <a:solidFill>
                  <a:srgbClr val="6B6B6B"/>
                </a:solidFill>
                <a:latin typeface="Arial"/>
              </a:rPr>
              <a:t>Cara pelajar kembali / meneruskan</a:t>
            </a:r>
          </a:p>
          <a:p>
            <a:pPr algn="l" lvl="1"/>
            <a:r>
              <a:rPr sz="1000" b="0" i="0">
                <a:solidFill>
                  <a:srgbClr val="1A1A1A"/>
                </a:solidFill>
                <a:latin typeface="Arial"/>
              </a:rPr>
              <a:t>Panel tertutup apabila ditekan sekali lagi atau apabila panel lain dibuka. Keadaan asas kembali dan sentiasa boleh dicapai. Tiada navigasi berlaku.</a:t>
            </a:r>
          </a:p>
          <a:p>
            <a:pPr algn="l"/>
            <a:r>
              <a:rPr sz="1000" b="1" i="0">
                <a:solidFill>
                  <a:srgbClr val="6B6B6B"/>
                </a:solidFill>
                <a:latin typeface="Arial"/>
              </a:rPr>
              <a:t>Sumber dan kuasa</a:t>
            </a:r>
          </a:p>
          <a:p>
            <a:pPr algn="l" lvl="1"/>
            <a:r>
              <a:rPr sz="900" b="0" i="0">
                <a:solidFill>
                  <a:srgbClr val="0D47A1"/>
                </a:solidFill>
                <a:latin typeface="Arial"/>
              </a:rPr>
              <a:t>Baris: T03B03-ROW-076</a:t>
            </a:r>
          </a:p>
          <a:p>
            <a:pPr algn="l" lvl="1"/>
            <a:r>
              <a:rPr sz="900" b="0" i="0">
                <a:solidFill>
                  <a:srgbClr val="6B6B6B"/>
                </a:solidFill>
                <a:latin typeface="Arial"/>
              </a:rPr>
              <a:t>Keputusan: A1, A2</a:t>
            </a:r>
          </a:p>
        </p:txBody>
      </p:sp>
      <p:sp>
        <p:nvSpPr>
          <p:cNvPr id="6" name="Rectangle 5"/>
          <p:cNvSpPr/>
          <p:nvPr/>
        </p:nvSpPr>
        <p:spPr>
          <a:xfrm>
            <a:off x="6196000" y="1280000"/>
            <a:ext cx="5538800"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76000" y="1460000"/>
            <a:ext cx="5178800" cy="4340000"/>
          </a:xfrm>
          <a:prstGeom prst="rect">
            <a:avLst/>
          </a:prstGeom>
          <a:noFill/>
        </p:spPr>
        <p:txBody>
          <a:bodyPr wrap="square" lIns="0" rIns="0" tIns="0" bIns="0">
            <a:spAutoFit/>
          </a:bodyPr>
          <a:lstStyle/>
          <a:p>
            <a:pPr algn="l"/>
            <a:r>
              <a:rPr sz="1100" b="1" i="0">
                <a:solidFill>
                  <a:srgbClr val="6B6B6B"/>
                </a:solidFill>
                <a:latin typeface="Arial"/>
              </a:rPr>
              <a:t>T03B03-S09-ST-ALL_VIEWED   ·   Penanda selesai</a:t>
            </a:r>
          </a:p>
          <a:p>
            <a:pPr algn="l"/>
            <a:r>
              <a:rPr sz="1200" b="1" i="0">
                <a:solidFill>
                  <a:srgbClr val="37474F"/>
                </a:solidFill>
                <a:latin typeface="Arial"/>
              </a:rPr>
              <a:t>Pencetus: semua 4 panel dilihat  [T03B03-S09-TRG-ALL]</a:t>
            </a:r>
          </a:p>
          <a:p>
            <a:pPr algn="l"/>
            <a:r>
              <a:rPr sz="1000" b="1" i="0">
                <a:solidFill>
                  <a:srgbClr val="6B6B6B"/>
                </a:solidFill>
                <a:latin typeface="Arial"/>
              </a:rPr>
              <a:t>Apa yang dipaparkan</a:t>
            </a:r>
          </a:p>
          <a:p>
            <a:pPr algn="l" lvl="1"/>
            <a:r>
              <a:rPr sz="1000" b="0" i="1">
                <a:solidFill>
                  <a:srgbClr val="6B6B6B"/>
                </a:solidFill>
                <a:latin typeface="Arial"/>
              </a:rPr>
              <a:t>Tiada kandungan dipaparkan — penanda sahaja.</a:t>
            </a:r>
          </a:p>
          <a:p>
            <a:pPr algn="l"/>
            <a:r>
              <a:rPr sz="1000" b="1" i="0">
                <a:solidFill>
                  <a:srgbClr val="6B6B6B"/>
                </a:solidFill>
                <a:latin typeface="Arial"/>
              </a:rPr>
              <a:t>Beza daripada keadaan asas</a:t>
            </a:r>
          </a:p>
          <a:p>
            <a:pPr algn="l" lvl="1"/>
            <a:r>
              <a:rPr sz="1000" b="0" i="0">
                <a:solidFill>
                  <a:srgbClr val="1A1A1A"/>
                </a:solidFill>
                <a:latin typeface="Arial"/>
              </a:rPr>
              <a:t>Tidak dipaparkan; membuka SETERUSNYA.</a:t>
            </a:r>
          </a:p>
          <a:p>
            <a:pPr algn="l"/>
            <a:r>
              <a:rPr sz="1000" b="1" i="0">
                <a:solidFill>
                  <a:srgbClr val="6B6B6B"/>
                </a:solidFill>
                <a:latin typeface="Arial"/>
              </a:rPr>
              <a:t>Cara pelajar kembali / meneruskan</a:t>
            </a:r>
          </a:p>
          <a:p>
            <a:pPr algn="l" lvl="1"/>
            <a:r>
              <a:rPr sz="1000" b="0" i="0">
                <a:solidFill>
                  <a:srgbClr val="1A1A1A"/>
                </a:solidFill>
                <a:latin typeface="Arial"/>
              </a:rPr>
              <a:t>Bukan keadaan yang dipaparkan. Penanda yang menjadi benar setelah semua pendedahan dilihat, dan inilah yang membuka SETERUSNYA.</a:t>
            </a:r>
          </a:p>
          <a:p>
            <a:pPr algn="l"/>
            <a:r>
              <a:rPr sz="1000" b="1" i="0">
                <a:solidFill>
                  <a:srgbClr val="6B6B6B"/>
                </a:solidFill>
                <a:latin typeface="Arial"/>
              </a:rPr>
              <a:t>Sumber dan kuasa</a:t>
            </a:r>
          </a:p>
          <a:p>
            <a:pPr algn="l" lvl="1"/>
            <a:r>
              <a:rPr sz="900" b="0" i="0">
                <a:solidFill>
                  <a:srgbClr val="0D47A1"/>
                </a:solidFill>
                <a:latin typeface="Arial"/>
              </a:rPr>
              <a:t>Tiada baris modul — keadaan struktur</a:t>
            </a:r>
          </a:p>
          <a:p>
            <a:pPr algn="l" lvl="1"/>
            <a:r>
              <a:rPr sz="900" b="0" i="0">
                <a:solidFill>
                  <a:srgbClr val="6B6B6B"/>
                </a:solidFill>
                <a:latin typeface="Arial"/>
              </a:rPr>
              <a:t>Keputusan: A1, A2</a:t>
            </a:r>
          </a:p>
        </p:txBody>
      </p:sp>
      <p:sp>
        <p:nvSpPr>
          <p:cNvPr id="8" name="TextBox 7"/>
          <p:cNvSpPr txBox="1"/>
          <p:nvPr/>
        </p:nvSpPr>
        <p:spPr>
          <a:xfrm>
            <a:off x="457200" y="6150000"/>
            <a:ext cx="11277600" cy="400000"/>
          </a:xfrm>
          <a:prstGeom prst="rect">
            <a:avLst/>
          </a:prstGeom>
          <a:noFill/>
        </p:spPr>
        <p:txBody>
          <a:bodyPr wrap="square" lIns="0" rIns="0" tIns="0" bIns="0">
            <a:spAutoFit/>
          </a:bodyPr>
          <a:lstStyle/>
          <a:p>
            <a:pPr algn="l"/>
            <a:r>
              <a:rPr sz="900" b="0" i="0">
                <a:solidFill>
                  <a:srgbClr val="6B6B6B"/>
                </a:solidFill>
                <a:latin typeface="Arial"/>
              </a:rPr>
              <a:t>Lampiran keadaan · 2 panel/halaman · halaman 17 daripada 20   ·   DRAFT_FOR_BARIAH_REVIEW · NOT_INSTRUCTIONALLY_APPROVED · NOT_LEARNER_FACING_FINAL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spAutoFit/>
          </a:bodyPr>
          <a:lstStyle/>
          <a:p>
            <a:pPr algn="l"/>
            <a:r>
              <a:rPr sz="1100" b="1" i="0">
                <a:solidFill>
                  <a:srgbClr val="6B6B6B"/>
                </a:solidFill>
                <a:latin typeface="Arial"/>
              </a:rPr>
              <a:t>T03B03-S11   ·   static content</a:t>
            </a:r>
          </a:p>
          <a:p>
            <a:pPr algn="l"/>
            <a:r>
              <a:rPr sz="2200" b="1" i="0">
                <a:solidFill>
                  <a:srgbClr val="1A1A1A"/>
                </a:solidFill>
                <a:latin typeface="Arial"/>
              </a:rPr>
              <a:t>Kuiz</a:t>
            </a:r>
          </a:p>
        </p:txBody>
      </p:sp>
      <p:sp>
        <p:nvSpPr>
          <p:cNvPr id="3" name="Rectangle 2"/>
          <p:cNvSpPr/>
          <p:nvPr/>
        </p:nvSpPr>
        <p:spPr>
          <a:xfrm>
            <a:off x="457200" y="1120000"/>
            <a:ext cx="11277600"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280000"/>
            <a:ext cx="5538800"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7200" y="1460000"/>
            <a:ext cx="5178800" cy="4340000"/>
          </a:xfrm>
          <a:prstGeom prst="rect">
            <a:avLst/>
          </a:prstGeom>
          <a:noFill/>
        </p:spPr>
        <p:txBody>
          <a:bodyPr wrap="square" lIns="0" rIns="0" tIns="0" bIns="0">
            <a:spAutoFit/>
          </a:bodyPr>
          <a:lstStyle/>
          <a:p>
            <a:pPr algn="l"/>
            <a:r>
              <a:rPr sz="1100" b="1" i="0">
                <a:solidFill>
                  <a:srgbClr val="6B6B6B"/>
                </a:solidFill>
                <a:latin typeface="Arial"/>
              </a:rPr>
              <a:t>T03B03-S11-ST-01   ·   Item kuiz</a:t>
            </a:r>
          </a:p>
          <a:p>
            <a:pPr algn="l"/>
            <a:r>
              <a:rPr sz="1200" b="1" i="0">
                <a:solidFill>
                  <a:srgbClr val="37474F"/>
                </a:solidFill>
                <a:latin typeface="Arial"/>
              </a:rPr>
              <a:t>Pencetus: Q1 · MULTIPLE_CHOICE  [T03B03-S11-TRG-01]</a:t>
            </a:r>
          </a:p>
          <a:p>
            <a:pPr algn="l"/>
            <a:r>
              <a:rPr sz="1000" b="1" i="0">
                <a:solidFill>
                  <a:srgbClr val="6B6B6B"/>
                </a:solidFill>
                <a:latin typeface="Arial"/>
              </a:rPr>
              <a:t>Apa yang dipaparkan</a:t>
            </a:r>
          </a:p>
          <a:p>
            <a:pPr algn="l" lvl="1"/>
            <a:r>
              <a:rPr sz="1000" b="0" i="0">
                <a:solidFill>
                  <a:srgbClr val="1A1A1A"/>
                </a:solidFill>
                <a:latin typeface="Arial"/>
              </a:rPr>
              <a:t>· Apakah ketebalan maksimum setiap lapisan semasa membina busut tanah (earthmound)?</a:t>
            </a:r>
          </a:p>
          <a:p>
            <a:pPr algn="l" lvl="1"/>
            <a:r>
              <a:rPr sz="1000" b="0" i="0">
                <a:solidFill>
                  <a:srgbClr val="1A1A1A"/>
                </a:solidFill>
                <a:latin typeface="Arial"/>
              </a:rPr>
              <a:t>· Tidak melebihi 300mm setiap lapisan, dan setiap lapisan dipadatkan.</a:t>
            </a:r>
          </a:p>
          <a:p>
            <a:pPr algn="l" lvl="1"/>
            <a:r>
              <a:rPr sz="1000" b="0" i="0">
                <a:solidFill>
                  <a:srgbClr val="1A1A1A"/>
                </a:solidFill>
                <a:latin typeface="Arial"/>
              </a:rPr>
              <a:t>· Tidak melebihi 600mm, dipadatkan sekali pada akhir</a:t>
            </a:r>
          </a:p>
          <a:p>
            <a:pPr algn="l" lvl="1"/>
            <a:r>
              <a:rPr sz="1000" b="0" i="0">
                <a:solidFill>
                  <a:srgbClr val="1A1A1A"/>
                </a:solidFill>
                <a:latin typeface="Arial"/>
              </a:rPr>
              <a:t>· Tiada had ketebalan selagi jentera boleh memadat</a:t>
            </a:r>
          </a:p>
          <a:p>
            <a:pPr algn="l" lvl="1"/>
            <a:r>
              <a:rPr sz="1000" b="0" i="0">
                <a:solidFill>
                  <a:srgbClr val="1A1A1A"/>
                </a:solidFill>
                <a:latin typeface="Arial"/>
              </a:rPr>
              <a:t>· Satu lapisan penuh sehingga ketinggian puncak</a:t>
            </a:r>
          </a:p>
          <a:p>
            <a:pPr algn="l"/>
            <a:r>
              <a:rPr sz="1000" b="1" i="0">
                <a:solidFill>
                  <a:srgbClr val="6B6B6B"/>
                </a:solidFill>
                <a:latin typeface="Arial"/>
              </a:rPr>
              <a:t>Beza daripada keadaan asas</a:t>
            </a:r>
          </a:p>
          <a:p>
            <a:pPr algn="l" lvl="1"/>
            <a:r>
              <a:rPr sz="1000" b="0" i="0">
                <a:solidFill>
                  <a:srgbClr val="1A1A1A"/>
                </a:solidFill>
                <a:latin typeface="Arial"/>
              </a:rPr>
              <a:t>Item 1 daripada 5.</a:t>
            </a:r>
          </a:p>
          <a:p>
            <a:pPr algn="l"/>
            <a:r>
              <a:rPr sz="1000" b="1" i="0">
                <a:solidFill>
                  <a:srgbClr val="6B6B6B"/>
                </a:solidFill>
                <a:latin typeface="Arial"/>
              </a:rPr>
              <a:t>Cara pelajar kembali / meneruskan</a:t>
            </a:r>
          </a:p>
          <a:p>
            <a:pPr algn="l" lvl="1"/>
            <a:r>
              <a:rPr sz="1000" b="0" i="0">
                <a:solidFill>
                  <a:srgbClr val="1A1A1A"/>
                </a:solidFill>
                <a:latin typeface="Arial"/>
              </a:rPr>
              <a:t>Menghantar jawapan membawa pelajar ke item berikutnya. Tiada navigasi kembali antara item kuiz.</a:t>
            </a:r>
          </a:p>
          <a:p>
            <a:pPr algn="l"/>
            <a:r>
              <a:rPr sz="1000" b="1" i="0">
                <a:solidFill>
                  <a:srgbClr val="6B6B6B"/>
                </a:solidFill>
                <a:latin typeface="Arial"/>
              </a:rPr>
              <a:t>Sumber dan kuasa</a:t>
            </a:r>
          </a:p>
          <a:p>
            <a:pPr algn="l" lvl="1"/>
            <a:r>
              <a:rPr sz="900" b="0" i="0">
                <a:solidFill>
                  <a:srgbClr val="0D47A1"/>
                </a:solidFill>
                <a:latin typeface="Arial"/>
              </a:rPr>
              <a:t>Baris: T03B03-ROW-013</a:t>
            </a:r>
          </a:p>
          <a:p>
            <a:pPr algn="l" lvl="1"/>
            <a:r>
              <a:rPr sz="900" b="0" i="0">
                <a:solidFill>
                  <a:srgbClr val="6B6B6B"/>
                </a:solidFill>
                <a:latin typeface="Arial"/>
              </a:rPr>
              <a:t>Keputusan: A7</a:t>
            </a:r>
          </a:p>
          <a:p>
            <a:pPr algn="l" lvl="1"/>
            <a:r>
              <a:rPr sz="900" b="0" i="0">
                <a:solidFill>
                  <a:srgbClr val="B71C1C"/>
                </a:solidFill>
                <a:latin typeface="Arial"/>
              </a:rPr>
              <a:t>HAD: Kunci jawapan draf — belum disahkan.</a:t>
            </a:r>
          </a:p>
        </p:txBody>
      </p:sp>
      <p:sp>
        <p:nvSpPr>
          <p:cNvPr id="6" name="Rectangle 5"/>
          <p:cNvSpPr/>
          <p:nvPr/>
        </p:nvSpPr>
        <p:spPr>
          <a:xfrm>
            <a:off x="6196000" y="1280000"/>
            <a:ext cx="5538800"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76000" y="1460000"/>
            <a:ext cx="5178800" cy="4340000"/>
          </a:xfrm>
          <a:prstGeom prst="rect">
            <a:avLst/>
          </a:prstGeom>
          <a:noFill/>
        </p:spPr>
        <p:txBody>
          <a:bodyPr wrap="square" lIns="0" rIns="0" tIns="0" bIns="0">
            <a:spAutoFit/>
          </a:bodyPr>
          <a:lstStyle/>
          <a:p>
            <a:pPr algn="l"/>
            <a:r>
              <a:rPr sz="1100" b="1" i="0">
                <a:solidFill>
                  <a:srgbClr val="6B6B6B"/>
                </a:solidFill>
                <a:latin typeface="Arial"/>
              </a:rPr>
              <a:t>T03B03-S11-ST-02   ·   Item kuiz</a:t>
            </a:r>
          </a:p>
          <a:p>
            <a:pPr algn="l"/>
            <a:r>
              <a:rPr sz="1200" b="1" i="0">
                <a:solidFill>
                  <a:srgbClr val="37474F"/>
                </a:solidFill>
                <a:latin typeface="Arial"/>
              </a:rPr>
              <a:t>Pencetus: Q2 · MULTIPLE_CHOICE  [T03B03-S11-TRG-02]</a:t>
            </a:r>
          </a:p>
          <a:p>
            <a:pPr algn="l"/>
            <a:r>
              <a:rPr sz="1000" b="1" i="0">
                <a:solidFill>
                  <a:srgbClr val="6B6B6B"/>
                </a:solidFill>
                <a:latin typeface="Arial"/>
              </a:rPr>
              <a:t>Apa yang dipaparkan</a:t>
            </a:r>
          </a:p>
          <a:p>
            <a:pPr algn="l" lvl="1"/>
            <a:r>
              <a:rPr sz="1000" b="0" i="0">
                <a:solidFill>
                  <a:srgbClr val="1A1A1A"/>
                </a:solidFill>
                <a:latin typeface="Arial"/>
              </a:rPr>
              <a:t>· Mengapakah sistem perparitan di belakang dinding penahan adalah wajib?</a:t>
            </a:r>
          </a:p>
          <a:p>
            <a:pPr algn="l" lvl="1"/>
            <a:r>
              <a:rPr sz="1000" b="0" i="0">
                <a:solidFill>
                  <a:srgbClr val="1A1A1A"/>
                </a:solidFill>
                <a:latin typeface="Arial"/>
              </a:rPr>
              <a:t>· Kerana kegagalan dinding penahan selalunya berpunca daripada tekanan air (hydrostatic pressure).</a:t>
            </a:r>
          </a:p>
          <a:p>
            <a:pPr algn="l" lvl="1"/>
            <a:r>
              <a:rPr sz="1000" b="0" i="0">
                <a:solidFill>
                  <a:srgbClr val="1A1A1A"/>
                </a:solidFill>
                <a:latin typeface="Arial"/>
              </a:rPr>
              <a:t>· Kerana ia mengurangkan kos konkrit dinding</a:t>
            </a:r>
          </a:p>
          <a:p>
            <a:pPr algn="l" lvl="1"/>
            <a:r>
              <a:rPr sz="1000" b="0" i="0">
                <a:solidFill>
                  <a:srgbClr val="1A1A1A"/>
                </a:solidFill>
                <a:latin typeface="Arial"/>
              </a:rPr>
              <a:t>· Kerana ia diperlukan untuk kemasan estetik belakang dinding</a:t>
            </a:r>
          </a:p>
          <a:p>
            <a:pPr algn="l" lvl="1"/>
            <a:r>
              <a:rPr sz="1000" b="0" i="0">
                <a:solidFill>
                  <a:srgbClr val="1A1A1A"/>
                </a:solidFill>
                <a:latin typeface="Arial"/>
              </a:rPr>
              <a:t>· Kerana ia menggantikan keperluan tapak asas</a:t>
            </a:r>
          </a:p>
          <a:p>
            <a:pPr algn="l"/>
            <a:r>
              <a:rPr sz="1000" b="1" i="0">
                <a:solidFill>
                  <a:srgbClr val="6B6B6B"/>
                </a:solidFill>
                <a:latin typeface="Arial"/>
              </a:rPr>
              <a:t>Beza daripada keadaan asas</a:t>
            </a:r>
          </a:p>
          <a:p>
            <a:pPr algn="l" lvl="1"/>
            <a:r>
              <a:rPr sz="1000" b="0" i="0">
                <a:solidFill>
                  <a:srgbClr val="1A1A1A"/>
                </a:solidFill>
                <a:latin typeface="Arial"/>
              </a:rPr>
              <a:t>Item 2 daripada 5.</a:t>
            </a:r>
          </a:p>
          <a:p>
            <a:pPr algn="l"/>
            <a:r>
              <a:rPr sz="1000" b="1" i="0">
                <a:solidFill>
                  <a:srgbClr val="6B6B6B"/>
                </a:solidFill>
                <a:latin typeface="Arial"/>
              </a:rPr>
              <a:t>Cara pelajar kembali / meneruskan</a:t>
            </a:r>
          </a:p>
          <a:p>
            <a:pPr algn="l" lvl="1"/>
            <a:r>
              <a:rPr sz="1000" b="0" i="0">
                <a:solidFill>
                  <a:srgbClr val="1A1A1A"/>
                </a:solidFill>
                <a:latin typeface="Arial"/>
              </a:rPr>
              <a:t>Menghantar jawapan membawa pelajar ke item berikutnya. Tiada navigasi kembali antara item kuiz.</a:t>
            </a:r>
          </a:p>
          <a:p>
            <a:pPr algn="l"/>
            <a:r>
              <a:rPr sz="1000" b="1" i="0">
                <a:solidFill>
                  <a:srgbClr val="6B6B6B"/>
                </a:solidFill>
                <a:latin typeface="Arial"/>
              </a:rPr>
              <a:t>Sumber dan kuasa</a:t>
            </a:r>
          </a:p>
          <a:p>
            <a:pPr algn="l" lvl="1"/>
            <a:r>
              <a:rPr sz="900" b="0" i="0">
                <a:solidFill>
                  <a:srgbClr val="0D47A1"/>
                </a:solidFill>
                <a:latin typeface="Arial"/>
              </a:rPr>
              <a:t>Baris: T03B03-ROW-041</a:t>
            </a:r>
          </a:p>
          <a:p>
            <a:pPr algn="l" lvl="1"/>
            <a:r>
              <a:rPr sz="900" b="0" i="0">
                <a:solidFill>
                  <a:srgbClr val="6B6B6B"/>
                </a:solidFill>
                <a:latin typeface="Arial"/>
              </a:rPr>
              <a:t>Keputusan: A7</a:t>
            </a:r>
          </a:p>
          <a:p>
            <a:pPr algn="l" lvl="1"/>
            <a:r>
              <a:rPr sz="900" b="0" i="0">
                <a:solidFill>
                  <a:srgbClr val="B71C1C"/>
                </a:solidFill>
                <a:latin typeface="Arial"/>
              </a:rPr>
              <a:t>HAD: Kunci jawapan draf — belum disahkan.</a:t>
            </a:r>
          </a:p>
        </p:txBody>
      </p:sp>
      <p:sp>
        <p:nvSpPr>
          <p:cNvPr id="8" name="TextBox 7"/>
          <p:cNvSpPr txBox="1"/>
          <p:nvPr/>
        </p:nvSpPr>
        <p:spPr>
          <a:xfrm>
            <a:off x="457200" y="6150000"/>
            <a:ext cx="11277600" cy="400000"/>
          </a:xfrm>
          <a:prstGeom prst="rect">
            <a:avLst/>
          </a:prstGeom>
          <a:noFill/>
        </p:spPr>
        <p:txBody>
          <a:bodyPr wrap="square" lIns="0" rIns="0" tIns="0" bIns="0">
            <a:spAutoFit/>
          </a:bodyPr>
          <a:lstStyle/>
          <a:p>
            <a:pPr algn="l"/>
            <a:r>
              <a:rPr sz="900" b="0" i="0">
                <a:solidFill>
                  <a:srgbClr val="6B6B6B"/>
                </a:solidFill>
                <a:latin typeface="Arial"/>
              </a:rPr>
              <a:t>Lampiran keadaan · 2 panel/halaman · halaman 18 daripada 20   ·   DRAFT_FOR_BARIAH_REVIEW · NOT_INSTRUCTIONALLY_APPROVED · NOT_LEARNER_FACING_FINAL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spAutoFit/>
          </a:bodyPr>
          <a:lstStyle/>
          <a:p>
            <a:pPr algn="l"/>
            <a:r>
              <a:rPr sz="1100" b="1" i="0">
                <a:solidFill>
                  <a:srgbClr val="6B6B6B"/>
                </a:solidFill>
                <a:latin typeface="Arial"/>
              </a:rPr>
              <a:t>T03B03-S11   ·   static content</a:t>
            </a:r>
          </a:p>
          <a:p>
            <a:pPr algn="l"/>
            <a:r>
              <a:rPr sz="2200" b="1" i="0">
                <a:solidFill>
                  <a:srgbClr val="1A1A1A"/>
                </a:solidFill>
                <a:latin typeface="Arial"/>
              </a:rPr>
              <a:t>Kuiz</a:t>
            </a:r>
          </a:p>
        </p:txBody>
      </p:sp>
      <p:sp>
        <p:nvSpPr>
          <p:cNvPr id="3" name="Rectangle 2"/>
          <p:cNvSpPr/>
          <p:nvPr/>
        </p:nvSpPr>
        <p:spPr>
          <a:xfrm>
            <a:off x="457200" y="1120000"/>
            <a:ext cx="11277600"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280000"/>
            <a:ext cx="5538800"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7200" y="1460000"/>
            <a:ext cx="5178800" cy="4340000"/>
          </a:xfrm>
          <a:prstGeom prst="rect">
            <a:avLst/>
          </a:prstGeom>
          <a:noFill/>
        </p:spPr>
        <p:txBody>
          <a:bodyPr wrap="square" lIns="0" rIns="0" tIns="0" bIns="0">
            <a:spAutoFit/>
          </a:bodyPr>
          <a:lstStyle/>
          <a:p>
            <a:pPr algn="l"/>
            <a:r>
              <a:rPr sz="1100" b="1" i="0">
                <a:solidFill>
                  <a:srgbClr val="6B6B6B"/>
                </a:solidFill>
                <a:latin typeface="Arial"/>
              </a:rPr>
              <a:t>T03B03-S11-ST-03   ·   Item kuiz</a:t>
            </a:r>
          </a:p>
          <a:p>
            <a:pPr algn="l"/>
            <a:r>
              <a:rPr sz="1200" b="1" i="0">
                <a:solidFill>
                  <a:srgbClr val="37474F"/>
                </a:solidFill>
                <a:latin typeface="Arial"/>
              </a:rPr>
              <a:t>Pencetus: Q3 · MULTIPLE_CHOICE  [T03B03-S11-TRG-03]</a:t>
            </a:r>
          </a:p>
          <a:p>
            <a:pPr algn="l"/>
            <a:r>
              <a:rPr sz="1000" b="1" i="0">
                <a:solidFill>
                  <a:srgbClr val="6B6B6B"/>
                </a:solidFill>
                <a:latin typeface="Arial"/>
              </a:rPr>
              <a:t>Apa yang dipaparkan</a:t>
            </a:r>
          </a:p>
          <a:p>
            <a:pPr algn="l" lvl="1"/>
            <a:r>
              <a:rPr sz="1000" b="0" i="0">
                <a:solidFill>
                  <a:srgbClr val="1A1A1A"/>
                </a:solidFill>
                <a:latin typeface="Arial"/>
              </a:rPr>
              <a:t>· Pelan manakah yang menentukan jajaran pagar di tapak?</a:t>
            </a:r>
          </a:p>
          <a:p>
            <a:pPr algn="l" lvl="1"/>
            <a:r>
              <a:rPr sz="1000" b="0" i="0">
                <a:solidFill>
                  <a:srgbClr val="1A1A1A"/>
                </a:solidFill>
                <a:latin typeface="Arial"/>
              </a:rPr>
              <a:t>· Pelan Ukur Sempadan.</a:t>
            </a:r>
          </a:p>
          <a:p>
            <a:pPr algn="l" lvl="1"/>
            <a:r>
              <a:rPr sz="1000" b="0" i="0">
                <a:solidFill>
                  <a:srgbClr val="1A1A1A"/>
                </a:solidFill>
                <a:latin typeface="Arial"/>
              </a:rPr>
              <a:t>· Pelan Saliran</a:t>
            </a:r>
          </a:p>
          <a:p>
            <a:pPr algn="l" lvl="1"/>
            <a:r>
              <a:rPr sz="1000" b="0" i="0">
                <a:solidFill>
                  <a:srgbClr val="1A1A1A"/>
                </a:solidFill>
                <a:latin typeface="Arial"/>
              </a:rPr>
              <a:t>· Lukisan Struktur Jurutera</a:t>
            </a:r>
          </a:p>
          <a:p>
            <a:pPr algn="l" lvl="1"/>
            <a:r>
              <a:rPr sz="1000" b="0" i="0">
                <a:solidFill>
                  <a:srgbClr val="1A1A1A"/>
                </a:solidFill>
                <a:latin typeface="Arial"/>
              </a:rPr>
              <a:t>· Pelan Susun Atur Tanaman</a:t>
            </a:r>
          </a:p>
          <a:p>
            <a:pPr algn="l"/>
            <a:r>
              <a:rPr sz="1000" b="1" i="0">
                <a:solidFill>
                  <a:srgbClr val="6B6B6B"/>
                </a:solidFill>
                <a:latin typeface="Arial"/>
              </a:rPr>
              <a:t>Beza daripada keadaan asas</a:t>
            </a:r>
          </a:p>
          <a:p>
            <a:pPr algn="l" lvl="1"/>
            <a:r>
              <a:rPr sz="1000" b="0" i="0">
                <a:solidFill>
                  <a:srgbClr val="1A1A1A"/>
                </a:solidFill>
                <a:latin typeface="Arial"/>
              </a:rPr>
              <a:t>Item 3 daripada 5.</a:t>
            </a:r>
          </a:p>
          <a:p>
            <a:pPr algn="l"/>
            <a:r>
              <a:rPr sz="1000" b="1" i="0">
                <a:solidFill>
                  <a:srgbClr val="6B6B6B"/>
                </a:solidFill>
                <a:latin typeface="Arial"/>
              </a:rPr>
              <a:t>Cara pelajar kembali / meneruskan</a:t>
            </a:r>
          </a:p>
          <a:p>
            <a:pPr algn="l" lvl="1"/>
            <a:r>
              <a:rPr sz="1000" b="0" i="0">
                <a:solidFill>
                  <a:srgbClr val="1A1A1A"/>
                </a:solidFill>
                <a:latin typeface="Arial"/>
              </a:rPr>
              <a:t>Menghantar jawapan membawa pelajar ke item berikutnya. Tiada navigasi kembali antara item kuiz.</a:t>
            </a:r>
          </a:p>
          <a:p>
            <a:pPr algn="l"/>
            <a:r>
              <a:rPr sz="1000" b="1" i="0">
                <a:solidFill>
                  <a:srgbClr val="6B6B6B"/>
                </a:solidFill>
                <a:latin typeface="Arial"/>
              </a:rPr>
              <a:t>Sumber dan kuasa</a:t>
            </a:r>
          </a:p>
          <a:p>
            <a:pPr algn="l" lvl="1"/>
            <a:r>
              <a:rPr sz="900" b="0" i="0">
                <a:solidFill>
                  <a:srgbClr val="0D47A1"/>
                </a:solidFill>
                <a:latin typeface="Arial"/>
              </a:rPr>
              <a:t>Baris: T03B03-ROW-048</a:t>
            </a:r>
          </a:p>
          <a:p>
            <a:pPr algn="l" lvl="1"/>
            <a:r>
              <a:rPr sz="900" b="0" i="0">
                <a:solidFill>
                  <a:srgbClr val="6B6B6B"/>
                </a:solidFill>
                <a:latin typeface="Arial"/>
              </a:rPr>
              <a:t>Keputusan: A7</a:t>
            </a:r>
          </a:p>
          <a:p>
            <a:pPr algn="l" lvl="1"/>
            <a:r>
              <a:rPr sz="900" b="0" i="0">
                <a:solidFill>
                  <a:srgbClr val="B71C1C"/>
                </a:solidFill>
                <a:latin typeface="Arial"/>
              </a:rPr>
              <a:t>HAD: Kunci jawapan draf — belum disahkan.</a:t>
            </a:r>
          </a:p>
        </p:txBody>
      </p:sp>
      <p:sp>
        <p:nvSpPr>
          <p:cNvPr id="6" name="Rectangle 5"/>
          <p:cNvSpPr/>
          <p:nvPr/>
        </p:nvSpPr>
        <p:spPr>
          <a:xfrm>
            <a:off x="6196000" y="1280000"/>
            <a:ext cx="5538800"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76000" y="1460000"/>
            <a:ext cx="5178800" cy="4340000"/>
          </a:xfrm>
          <a:prstGeom prst="rect">
            <a:avLst/>
          </a:prstGeom>
          <a:noFill/>
        </p:spPr>
        <p:txBody>
          <a:bodyPr wrap="square" lIns="0" rIns="0" tIns="0" bIns="0">
            <a:spAutoFit/>
          </a:bodyPr>
          <a:lstStyle/>
          <a:p>
            <a:pPr algn="l"/>
            <a:r>
              <a:rPr sz="1100" b="1" i="0">
                <a:solidFill>
                  <a:srgbClr val="6B6B6B"/>
                </a:solidFill>
                <a:latin typeface="Arial"/>
              </a:rPr>
              <a:t>T03B03-S11-ST-04   ·   Item kuiz</a:t>
            </a:r>
          </a:p>
          <a:p>
            <a:pPr algn="l"/>
            <a:r>
              <a:rPr sz="1200" b="1" i="0">
                <a:solidFill>
                  <a:srgbClr val="37474F"/>
                </a:solidFill>
                <a:latin typeface="Arial"/>
              </a:rPr>
              <a:t>Pencetus: Q4 · MULTIPLE_CHOICE  [T03B03-S11-TRG-04]</a:t>
            </a:r>
          </a:p>
          <a:p>
            <a:pPr algn="l"/>
            <a:r>
              <a:rPr sz="1000" b="1" i="0">
                <a:solidFill>
                  <a:srgbClr val="6B6B6B"/>
                </a:solidFill>
                <a:latin typeface="Arial"/>
              </a:rPr>
              <a:t>Apa yang dipaparkan</a:t>
            </a:r>
          </a:p>
          <a:p>
            <a:pPr algn="l" lvl="1"/>
            <a:r>
              <a:rPr sz="1000" b="0" i="0">
                <a:solidFill>
                  <a:srgbClr val="1A1A1A"/>
                </a:solidFill>
                <a:latin typeface="Arial"/>
              </a:rPr>
              <a:t>· Apakah fungsi kamber (camber) pada permukaan jalan akses?</a:t>
            </a:r>
          </a:p>
          <a:p>
            <a:pPr algn="l" lvl="1"/>
            <a:r>
              <a:rPr sz="1000" b="0" i="0">
                <a:solidFill>
                  <a:srgbClr val="1A1A1A"/>
                </a:solidFill>
                <a:latin typeface="Arial"/>
              </a:rPr>
              <a:t>· Memberikan kecerunan melintang dari tengah ke tepi supaya air tidak bertakung di permukaan.</a:t>
            </a:r>
          </a:p>
          <a:p>
            <a:pPr algn="l" lvl="1"/>
            <a:r>
              <a:rPr sz="1000" b="0" i="0">
                <a:solidFill>
                  <a:srgbClr val="1A1A1A"/>
                </a:solidFill>
                <a:latin typeface="Arial"/>
              </a:rPr>
              <a:t>· Menambah ketebalan lapisan permukaan di bahagian tengah</a:t>
            </a:r>
          </a:p>
          <a:p>
            <a:pPr algn="l" lvl="1"/>
            <a:r>
              <a:rPr sz="1000" b="0" i="0">
                <a:solidFill>
                  <a:srgbClr val="1A1A1A"/>
                </a:solidFill>
                <a:latin typeface="Arial"/>
              </a:rPr>
              <a:t>· Menandakan sempadan jalan untuk pemandu</a:t>
            </a:r>
          </a:p>
          <a:p>
            <a:pPr algn="l" lvl="1"/>
            <a:r>
              <a:rPr sz="1000" b="0" i="0">
                <a:solidFill>
                  <a:srgbClr val="1A1A1A"/>
                </a:solidFill>
                <a:latin typeface="Arial"/>
              </a:rPr>
              <a:t>· Menahan lapisan permukaan daripada bergerak ke tepi</a:t>
            </a:r>
          </a:p>
          <a:p>
            <a:pPr algn="l"/>
            <a:r>
              <a:rPr sz="1000" b="1" i="0">
                <a:solidFill>
                  <a:srgbClr val="6B6B6B"/>
                </a:solidFill>
                <a:latin typeface="Arial"/>
              </a:rPr>
              <a:t>Beza daripada keadaan asas</a:t>
            </a:r>
          </a:p>
          <a:p>
            <a:pPr algn="l" lvl="1"/>
            <a:r>
              <a:rPr sz="1000" b="0" i="0">
                <a:solidFill>
                  <a:srgbClr val="1A1A1A"/>
                </a:solidFill>
                <a:latin typeface="Arial"/>
              </a:rPr>
              <a:t>Item 4 daripada 5.</a:t>
            </a:r>
          </a:p>
          <a:p>
            <a:pPr algn="l"/>
            <a:r>
              <a:rPr sz="1000" b="1" i="0">
                <a:solidFill>
                  <a:srgbClr val="6B6B6B"/>
                </a:solidFill>
                <a:latin typeface="Arial"/>
              </a:rPr>
              <a:t>Cara pelajar kembali / meneruskan</a:t>
            </a:r>
          </a:p>
          <a:p>
            <a:pPr algn="l" lvl="1"/>
            <a:r>
              <a:rPr sz="1000" b="0" i="0">
                <a:solidFill>
                  <a:srgbClr val="1A1A1A"/>
                </a:solidFill>
                <a:latin typeface="Arial"/>
              </a:rPr>
              <a:t>Menghantar jawapan membawa pelajar ke item berikutnya. Tiada navigasi kembali antara item kuiz.</a:t>
            </a:r>
          </a:p>
          <a:p>
            <a:pPr algn="l"/>
            <a:r>
              <a:rPr sz="1000" b="1" i="0">
                <a:solidFill>
                  <a:srgbClr val="6B6B6B"/>
                </a:solidFill>
                <a:latin typeface="Arial"/>
              </a:rPr>
              <a:t>Sumber dan kuasa</a:t>
            </a:r>
          </a:p>
          <a:p>
            <a:pPr algn="l" lvl="1"/>
            <a:r>
              <a:rPr sz="900" b="0" i="0">
                <a:solidFill>
                  <a:srgbClr val="0D47A1"/>
                </a:solidFill>
                <a:latin typeface="Arial"/>
              </a:rPr>
              <a:t>Baris: T03B03-ROW-076</a:t>
            </a:r>
          </a:p>
          <a:p>
            <a:pPr algn="l" lvl="1"/>
            <a:r>
              <a:rPr sz="900" b="0" i="0">
                <a:solidFill>
                  <a:srgbClr val="6B6B6B"/>
                </a:solidFill>
                <a:latin typeface="Arial"/>
              </a:rPr>
              <a:t>Keputusan: A7</a:t>
            </a:r>
          </a:p>
          <a:p>
            <a:pPr algn="l" lvl="1"/>
            <a:r>
              <a:rPr sz="900" b="0" i="0">
                <a:solidFill>
                  <a:srgbClr val="B71C1C"/>
                </a:solidFill>
                <a:latin typeface="Arial"/>
              </a:rPr>
              <a:t>HAD: Kunci jawapan draf — belum disahkan.</a:t>
            </a:r>
          </a:p>
        </p:txBody>
      </p:sp>
      <p:sp>
        <p:nvSpPr>
          <p:cNvPr id="8" name="TextBox 7"/>
          <p:cNvSpPr txBox="1"/>
          <p:nvPr/>
        </p:nvSpPr>
        <p:spPr>
          <a:xfrm>
            <a:off x="457200" y="6150000"/>
            <a:ext cx="11277600" cy="400000"/>
          </a:xfrm>
          <a:prstGeom prst="rect">
            <a:avLst/>
          </a:prstGeom>
          <a:noFill/>
        </p:spPr>
        <p:txBody>
          <a:bodyPr wrap="square" lIns="0" rIns="0" tIns="0" bIns="0">
            <a:spAutoFit/>
          </a:bodyPr>
          <a:lstStyle/>
          <a:p>
            <a:pPr algn="l"/>
            <a:r>
              <a:rPr sz="900" b="0" i="0">
                <a:solidFill>
                  <a:srgbClr val="6B6B6B"/>
                </a:solidFill>
                <a:latin typeface="Arial"/>
              </a:rPr>
              <a:t>Lampiran keadaan · 2 panel/halaman · halaman 19 daripada 20   ·   DRAFT_FOR_BARIAH_REVIEW · NOT_INSTRUCTIONALLY_APPROVED · NOT_LEARNER_FACING_FINAL</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457200" y="320000"/>
            <a:ext cx="11277600" cy="700000"/>
          </a:xfrm>
          <a:prstGeom prst="rect">
            <a:avLst/>
          </a:prstGeom>
          <a:noFill/>
        </p:spPr>
        <p:txBody>
          <a:bodyPr wrap="square" lIns="0" rIns="0" tIns="0" bIns="0">
            <a:spAutoFit/>
          </a:bodyPr>
          <a:lstStyle/>
          <a:p>
            <a:pPr algn="l"/>
            <a:r>
              <a:rPr sz="1100" b="1" i="0">
                <a:solidFill>
                  <a:srgbClr val="6B6B6B"/>
                </a:solidFill>
                <a:latin typeface="Arial"/>
              </a:rPr>
              <a:t>T03B03-S11   ·   static content</a:t>
            </a:r>
          </a:p>
          <a:p>
            <a:pPr algn="l"/>
            <a:r>
              <a:rPr sz="2200" b="1" i="0">
                <a:solidFill>
                  <a:srgbClr val="1A1A1A"/>
                </a:solidFill>
                <a:latin typeface="Arial"/>
              </a:rPr>
              <a:t>Kuiz</a:t>
            </a:r>
          </a:p>
        </p:txBody>
      </p:sp>
      <p:sp>
        <p:nvSpPr>
          <p:cNvPr id="3" name="Rectangle 2"/>
          <p:cNvSpPr/>
          <p:nvPr/>
        </p:nvSpPr>
        <p:spPr>
          <a:xfrm>
            <a:off x="457200" y="1120000"/>
            <a:ext cx="11277600" cy="9525"/>
          </a:xfrm>
          <a:prstGeom prst="rect">
            <a:avLst/>
          </a:prstGeom>
          <a:solidFill>
            <a:srgbClr val="D8D8D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457200" y="1280000"/>
            <a:ext cx="5538800"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7200" y="1460000"/>
            <a:ext cx="5178800" cy="4340000"/>
          </a:xfrm>
          <a:prstGeom prst="rect">
            <a:avLst/>
          </a:prstGeom>
          <a:noFill/>
        </p:spPr>
        <p:txBody>
          <a:bodyPr wrap="square" lIns="0" rIns="0" tIns="0" bIns="0">
            <a:spAutoFit/>
          </a:bodyPr>
          <a:lstStyle/>
          <a:p>
            <a:pPr algn="l"/>
            <a:r>
              <a:rPr sz="1100" b="1" i="0">
                <a:solidFill>
                  <a:srgbClr val="6B6B6B"/>
                </a:solidFill>
                <a:latin typeface="Arial"/>
              </a:rPr>
              <a:t>T03B03-S11-ST-05   ·   Item kuiz</a:t>
            </a:r>
          </a:p>
          <a:p>
            <a:pPr algn="l"/>
            <a:r>
              <a:rPr sz="1200" b="1" i="0">
                <a:solidFill>
                  <a:srgbClr val="37474F"/>
                </a:solidFill>
                <a:latin typeface="Arial"/>
              </a:rPr>
              <a:t>Pencetus: Q5 · MULTIPLE_RESPONSE  [T03B03-S11-TRG-05]</a:t>
            </a:r>
          </a:p>
          <a:p>
            <a:pPr algn="l"/>
            <a:r>
              <a:rPr sz="1000" b="1" i="0">
                <a:solidFill>
                  <a:srgbClr val="6B6B6B"/>
                </a:solidFill>
                <a:latin typeface="Arial"/>
              </a:rPr>
              <a:t>Apa yang dipaparkan</a:t>
            </a:r>
          </a:p>
          <a:p>
            <a:pPr algn="l" lvl="1"/>
            <a:r>
              <a:rPr sz="1000" b="0" i="0">
                <a:solidFill>
                  <a:srgbClr val="1A1A1A"/>
                </a:solidFill>
                <a:latin typeface="Arial"/>
              </a:rPr>
              <a:t>· Pilih SEMUA ciri yang menepati swale sebagai alternatif kepada longkang konkrit.</a:t>
            </a:r>
          </a:p>
          <a:p>
            <a:pPr algn="l" lvl="1"/>
            <a:r>
              <a:rPr sz="1000" b="0" i="0">
                <a:solidFill>
                  <a:srgbClr val="1A1A1A"/>
                </a:solidFill>
                <a:latin typeface="Arial"/>
              </a:rPr>
              <a:t>· Parit yang cetek dan lebar</a:t>
            </a:r>
          </a:p>
          <a:p>
            <a:pPr algn="l" lvl="1"/>
            <a:r>
              <a:rPr sz="1000" b="0" i="0">
                <a:solidFill>
                  <a:srgbClr val="1A1A1A"/>
                </a:solidFill>
                <a:latin typeface="Arial"/>
              </a:rPr>
              <a:t>· Ditanami rumput atau tumbuhan tahan air</a:t>
            </a:r>
          </a:p>
          <a:p>
            <a:pPr algn="l" lvl="1"/>
            <a:r>
              <a:rPr sz="1000" b="0" i="0">
                <a:solidFill>
                  <a:srgbClr val="1A1A1A"/>
                </a:solidFill>
                <a:latin typeface="Arial"/>
              </a:rPr>
              <a:t>· Memperlahankan aliran air larian permukaan</a:t>
            </a:r>
          </a:p>
          <a:p>
            <a:pPr algn="l" lvl="1"/>
            <a:r>
              <a:rPr sz="1000" b="0" i="0">
                <a:solidFill>
                  <a:srgbClr val="1A1A1A"/>
                </a:solidFill>
                <a:latin typeface="Arial"/>
              </a:rPr>
              <a:t>· Menggalakkan penyerapan air ke dalam tanah</a:t>
            </a:r>
          </a:p>
          <a:p>
            <a:pPr algn="l" lvl="1"/>
            <a:r>
              <a:rPr sz="1000" b="0" i="0">
                <a:solidFill>
                  <a:srgbClr val="1A1A1A"/>
                </a:solidFill>
                <a:latin typeface="Arial"/>
              </a:rPr>
              <a:t>· Dilapisi konkrit di seluruh permukaannya</a:t>
            </a:r>
          </a:p>
          <a:p>
            <a:pPr algn="l" lvl="1"/>
            <a:r>
              <a:rPr sz="1000" b="0" i="0">
                <a:solidFill>
                  <a:srgbClr val="1A1A1A"/>
                </a:solidFill>
                <a:latin typeface="Arial"/>
              </a:rPr>
              <a:t>· Direka untuk mempercepatkan aliran ke saluran keluar</a:t>
            </a:r>
          </a:p>
          <a:p>
            <a:pPr algn="l"/>
            <a:r>
              <a:rPr sz="1000" b="1" i="0">
                <a:solidFill>
                  <a:srgbClr val="6B6B6B"/>
                </a:solidFill>
                <a:latin typeface="Arial"/>
              </a:rPr>
              <a:t>Beza daripada keadaan asas</a:t>
            </a:r>
          </a:p>
          <a:p>
            <a:pPr algn="l" lvl="1"/>
            <a:r>
              <a:rPr sz="1000" b="0" i="0">
                <a:solidFill>
                  <a:srgbClr val="1A1A1A"/>
                </a:solidFill>
                <a:latin typeface="Arial"/>
              </a:rPr>
              <a:t>Item 5 daripada 5.</a:t>
            </a:r>
          </a:p>
          <a:p>
            <a:pPr algn="l"/>
            <a:r>
              <a:rPr sz="1000" b="1" i="0">
                <a:solidFill>
                  <a:srgbClr val="6B6B6B"/>
                </a:solidFill>
                <a:latin typeface="Arial"/>
              </a:rPr>
              <a:t>Cara pelajar kembali / meneruskan</a:t>
            </a:r>
          </a:p>
          <a:p>
            <a:pPr algn="l" lvl="1"/>
            <a:r>
              <a:rPr sz="1000" b="0" i="0">
                <a:solidFill>
                  <a:srgbClr val="1A1A1A"/>
                </a:solidFill>
                <a:latin typeface="Arial"/>
              </a:rPr>
              <a:t>Menghantar jawapan membawa pelajar ke item berikutnya. Tiada navigasi kembali antara item kuiz.</a:t>
            </a:r>
          </a:p>
          <a:p>
            <a:pPr algn="l"/>
            <a:r>
              <a:rPr sz="1000" b="1" i="0">
                <a:solidFill>
                  <a:srgbClr val="6B6B6B"/>
                </a:solidFill>
                <a:latin typeface="Arial"/>
              </a:rPr>
              <a:t>Sumber dan kuasa</a:t>
            </a:r>
          </a:p>
          <a:p>
            <a:pPr algn="l" lvl="1"/>
            <a:r>
              <a:rPr sz="900" b="0" i="0">
                <a:solidFill>
                  <a:srgbClr val="0D47A1"/>
                </a:solidFill>
                <a:latin typeface="Arial"/>
              </a:rPr>
              <a:t>Baris: T03B03-ROW-056, T03B03-ROW-058, T03B03-ROW-063</a:t>
            </a:r>
          </a:p>
          <a:p>
            <a:pPr algn="l" lvl="1"/>
            <a:r>
              <a:rPr sz="900" b="0" i="0">
                <a:solidFill>
                  <a:srgbClr val="6B6B6B"/>
                </a:solidFill>
                <a:latin typeface="Arial"/>
              </a:rPr>
              <a:t>Keputusan: A7</a:t>
            </a:r>
          </a:p>
          <a:p>
            <a:pPr algn="l" lvl="1"/>
            <a:r>
              <a:rPr sz="900" b="0" i="0">
                <a:solidFill>
                  <a:srgbClr val="B71C1C"/>
                </a:solidFill>
                <a:latin typeface="Arial"/>
              </a:rPr>
              <a:t>HAD: Kunci jawapan draf — belum disahkan.</a:t>
            </a:r>
          </a:p>
        </p:txBody>
      </p:sp>
      <p:sp>
        <p:nvSpPr>
          <p:cNvPr id="6" name="Rectangle 5"/>
          <p:cNvSpPr/>
          <p:nvPr/>
        </p:nvSpPr>
        <p:spPr>
          <a:xfrm>
            <a:off x="6196000" y="1280000"/>
            <a:ext cx="5538800" cy="4700000"/>
          </a:xfrm>
          <a:prstGeom prst="rect">
            <a:avLst/>
          </a:prstGeom>
          <a:solidFill>
            <a:srgbClr val="F7F7F7"/>
          </a:solidFill>
          <a:ln>
            <a:solidFill>
              <a:srgbClr val="D8D8D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376000" y="1460000"/>
            <a:ext cx="5178800" cy="4340000"/>
          </a:xfrm>
          <a:prstGeom prst="rect">
            <a:avLst/>
          </a:prstGeom>
          <a:noFill/>
        </p:spPr>
        <p:txBody>
          <a:bodyPr wrap="square" lIns="0" rIns="0" tIns="0" bIns="0">
            <a:spAutoFit/>
          </a:bodyPr>
          <a:lstStyle/>
          <a:p>
            <a:pPr algn="l"/>
            <a:r>
              <a:rPr sz="1100" b="1" i="0">
                <a:solidFill>
                  <a:srgbClr val="6B6B6B"/>
                </a:solidFill>
                <a:latin typeface="Arial"/>
              </a:rPr>
              <a:t>T03B03-S11-ST-RESULT   ·   Keputusan kuiz</a:t>
            </a:r>
          </a:p>
          <a:p>
            <a:pPr algn="l"/>
            <a:r>
              <a:rPr sz="1200" b="1" i="0">
                <a:solidFill>
                  <a:srgbClr val="37474F"/>
                </a:solidFill>
                <a:latin typeface="Arial"/>
              </a:rPr>
              <a:t>Pencetus: item terakhir dihantar  [T03B03-S11-TRG-RESULT]</a:t>
            </a:r>
          </a:p>
          <a:p>
            <a:pPr algn="l"/>
            <a:r>
              <a:rPr sz="1000" b="1" i="0">
                <a:solidFill>
                  <a:srgbClr val="6B6B6B"/>
                </a:solidFill>
                <a:latin typeface="Arial"/>
              </a:rPr>
              <a:t>Apa yang dipaparkan</a:t>
            </a:r>
          </a:p>
          <a:p>
            <a:pPr algn="l" lvl="1"/>
            <a:r>
              <a:rPr sz="1000" b="0" i="0">
                <a:solidFill>
                  <a:srgbClr val="1A1A1A"/>
                </a:solidFill>
                <a:latin typeface="Arial"/>
              </a:rPr>
              <a:t>· Markah lulus 60 peratus</a:t>
            </a:r>
          </a:p>
          <a:p>
            <a:pPr algn="l"/>
            <a:r>
              <a:rPr sz="1000" b="1" i="0">
                <a:solidFill>
                  <a:srgbClr val="6B6B6B"/>
                </a:solidFill>
                <a:latin typeface="Arial"/>
              </a:rPr>
              <a:t>Beza daripada keadaan asas</a:t>
            </a:r>
          </a:p>
          <a:p>
            <a:pPr algn="l" lvl="1"/>
            <a:r>
              <a:rPr sz="1000" b="0" i="0">
                <a:solidFill>
                  <a:srgbClr val="1A1A1A"/>
                </a:solidFill>
                <a:latin typeface="Arial"/>
              </a:rPr>
              <a:t>Markah dipaparkan selepas item kelima.</a:t>
            </a:r>
          </a:p>
          <a:p>
            <a:pPr algn="l"/>
            <a:r>
              <a:rPr sz="1000" b="1" i="0">
                <a:solidFill>
                  <a:srgbClr val="6B6B6B"/>
                </a:solidFill>
                <a:latin typeface="Arial"/>
              </a:rPr>
              <a:t>Cara pelajar kembali / meneruskan</a:t>
            </a:r>
          </a:p>
          <a:p>
            <a:pPr algn="l" lvl="1"/>
            <a:r>
              <a:rPr sz="1000" b="0" i="0">
                <a:solidFill>
                  <a:srgbClr val="1A1A1A"/>
                </a:solidFill>
                <a:latin typeface="Arial"/>
              </a:rPr>
              <a:t>Keadaan akhir bagi skrin ini. Pelajar meneruskan dengan SETERUSNYA.</a:t>
            </a:r>
          </a:p>
          <a:p>
            <a:pPr algn="l"/>
            <a:r>
              <a:rPr sz="1000" b="1" i="0">
                <a:solidFill>
                  <a:srgbClr val="6B6B6B"/>
                </a:solidFill>
                <a:latin typeface="Arial"/>
              </a:rPr>
              <a:t>Sumber dan kuasa</a:t>
            </a:r>
          </a:p>
          <a:p>
            <a:pPr algn="l" lvl="1"/>
            <a:r>
              <a:rPr sz="900" b="0" i="0">
                <a:solidFill>
                  <a:srgbClr val="0D47A1"/>
                </a:solidFill>
                <a:latin typeface="Arial"/>
              </a:rPr>
              <a:t>Tiada baris modul — keadaan struktur</a:t>
            </a:r>
          </a:p>
          <a:p>
            <a:pPr algn="l" lvl="1"/>
            <a:r>
              <a:rPr sz="900" b="0" i="0">
                <a:solidFill>
                  <a:srgbClr val="6B6B6B"/>
                </a:solidFill>
                <a:latin typeface="Arial"/>
              </a:rPr>
              <a:t>Keputusan: A7</a:t>
            </a:r>
          </a:p>
        </p:txBody>
      </p:sp>
      <p:sp>
        <p:nvSpPr>
          <p:cNvPr id="8" name="TextBox 7"/>
          <p:cNvSpPr txBox="1"/>
          <p:nvPr/>
        </p:nvSpPr>
        <p:spPr>
          <a:xfrm>
            <a:off x="457200" y="6150000"/>
            <a:ext cx="11277600" cy="400000"/>
          </a:xfrm>
          <a:prstGeom prst="rect">
            <a:avLst/>
          </a:prstGeom>
          <a:noFill/>
        </p:spPr>
        <p:txBody>
          <a:bodyPr wrap="square" lIns="0" rIns="0" tIns="0" bIns="0">
            <a:spAutoFit/>
          </a:bodyPr>
          <a:lstStyle/>
          <a:p>
            <a:pPr algn="l"/>
            <a:r>
              <a:rPr sz="900" b="0" i="0">
                <a:solidFill>
                  <a:srgbClr val="6B6B6B"/>
                </a:solidFill>
                <a:latin typeface="Arial"/>
              </a:rPr>
              <a:t>Lampiran keadaan · 2 panel/halaman · halaman 20 daripada 20   ·   DRAFT_FOR_BARIAH_REVIEW · NOT_INSTRUCTIONALLY_APPROVED · NOT_LEARNER_FACING_FINAL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