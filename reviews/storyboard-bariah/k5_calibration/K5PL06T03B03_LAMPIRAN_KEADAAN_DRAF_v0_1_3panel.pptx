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400000"/>
            <a:ext cx="11277600" cy="3200000"/>
          </a:xfrm>
          <a:prstGeom prst="rect">
            <a:avLst/>
          </a:prstGeom>
          <a:noFill/>
        </p:spPr>
        <p:txBody>
          <a:bodyPr wrap="square" lIns="0" rIns="0" tIns="0" bIns="0">
            <a:noAutofit/>
          </a:bodyPr>
          <a:lstStyle/>
          <a:p>
            <a:pPr algn="l"/>
            <a:r>
              <a:rPr sz="1600" b="1" i="0">
                <a:solidFill>
                  <a:srgbClr val="6B6B6B"/>
                </a:solidFill>
                <a:latin typeface="Arial"/>
              </a:rPr>
              <a:t>LAMPIRAN SEMAKAN KEADAAN RUNTIME</a:t>
            </a:r>
          </a:p>
          <a:p>
            <a:pPr algn="l"/>
            <a:r>
              <a:rPr sz="3000" b="1" i="0">
                <a:solidFill>
                  <a:srgbClr val="1A1A1A"/>
                </a:solidFill>
                <a:latin typeface="Arial"/>
              </a:rPr>
              <a:t>K5-PL06-T03-B03: Infrastruktur</a:t>
            </a:r>
          </a:p>
          <a:p>
            <a:pPr algn="l"/>
            <a:r>
              <a:rPr sz="1500" b="0" i="0">
                <a:solidFill>
                  <a:srgbClr val="6B6B6B"/>
                </a:solidFill>
                <a:latin typeface="Arial"/>
              </a:rPr>
              <a:t>41 keadaan dipanelkan daripada 46 keadaan runtime · 3 panel setiap halaman · 15 halaman</a:t>
            </a:r>
          </a:p>
          <a:p>
            <a:pPr algn="l"/>
            <a:r>
              <a:rPr sz="800" b="0" i="0">
                <a:solidFill>
                  <a:srgbClr val="1A1A1A"/>
                </a:solidFill>
                <a:latin typeface="Arial"/>
              </a:rPr>
              <a:t/>
            </a:r>
          </a:p>
          <a:p>
            <a:pPr algn="l"/>
            <a:r>
              <a:rPr sz="1200" b="1" i="0">
                <a:solidFill>
                  <a:srgbClr val="B71C1C"/>
                </a:solidFill>
                <a:latin typeface="Arial"/>
              </a:rPr>
              <a:t>TECHNICAL_PROOF · DRAFT_FOR_BARIAH_REVIEW · NOT_INSTRUCTIONALLY_APPROVED · NOT_LEARNER_FACING_FINAL</a:t>
            </a:r>
          </a:p>
          <a:p>
            <a:pPr algn="l"/>
            <a:r>
              <a:rPr sz="1100" b="0" i="1">
                <a:solidFill>
                  <a:srgbClr val="B71C1C"/>
                </a:solidFill>
                <a:latin typeface="Arial"/>
              </a:rPr>
              <a:t>Kepadatan panel adalah UJIAN B2. Dua versi dijana daripada kandungan yang sama; tiada kepadatan dibekukan di sini.</a:t>
            </a:r>
          </a:p>
          <a:p>
            <a:pPr algn="l"/>
            <a:r>
              <a:rPr sz="1100" b="0" i="1">
                <a:solidFill>
                  <a:srgbClr val="6B6B6B"/>
                </a:solidFill>
                <a:latin typeface="Arial"/>
              </a:rPr>
              <a:t>Setiap panel menjawab lima perkara: pencetus, kandungan, beza daripada keadaan asas, cara kembali, dan sumber serta kuasa.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Landform / Earthmound</a:t>
            </a:r>
          </a:p>
          <a:p>
            <a:pPr algn="l" lvl="1"/>
            <a:r>
              <a:rPr sz="1000" b="0" i="0">
                <a:solidFill>
                  <a:srgbClr val="1A1A1A"/>
                </a:solidFill>
                <a:latin typeface="Arial"/>
              </a:rPr>
              <a:t>· Fungsi</a:t>
            </a:r>
          </a:p>
          <a:p>
            <a:pPr algn="l" lvl="1"/>
            <a:r>
              <a:rPr sz="1000" b="0" i="0">
                <a:solidFill>
                  <a:srgbClr val="1A1A1A"/>
                </a:solidFill>
                <a:latin typeface="Arial"/>
              </a:rPr>
              <a:t>· Mewujudkan pemandangan yang menarik secara visual serta mengurangkan kerataan tapak.</a:t>
            </a:r>
          </a:p>
          <a:p>
            <a:pPr algn="l" lvl="1"/>
            <a:r>
              <a:rPr sz="1000" b="0" i="0">
                <a:solidFill>
                  <a:srgbClr val="1A1A1A"/>
                </a:solidFill>
                <a:latin typeface="Arial"/>
              </a:rPr>
              <a:t>· Berfungsi sebagai penghadang visual atau bunyi.</a:t>
            </a:r>
          </a:p>
          <a:p>
            <a:pPr algn="l" lvl="1"/>
            <a:r>
              <a:rPr sz="1000" b="0" i="0">
                <a:solidFill>
                  <a:srgbClr val="1A1A1A"/>
                </a:solidFill>
                <a:latin typeface="Arial"/>
              </a:rPr>
              <a:t>· Mengawal dan mengarahkan aliran air permukaan.</a:t>
            </a:r>
          </a:p>
          <a:p>
            <a:pPr algn="l" lvl="1"/>
            <a:r>
              <a:rPr sz="1000" b="0" i="0">
                <a:solidFill>
                  <a:srgbClr val="1A1A1A"/>
                </a:solidFill>
                <a:latin typeface="Arial"/>
              </a:rPr>
              <a:t>· Fokus Utama Kontraktor</a:t>
            </a:r>
          </a:p>
          <a:p>
            <a:pPr algn="l" lvl="1"/>
            <a:r>
              <a:rPr sz="1000" b="0" i="0">
                <a:solidFill>
                  <a:srgbClr val="1A1A1A"/>
                </a:solidFill>
                <a:latin typeface="Arial"/>
              </a:rPr>
              <a:t>· Penandaan Tapak (Setting Out)</a:t>
            </a:r>
          </a:p>
          <a:p>
            <a:pPr algn="l" lvl="1"/>
            <a:r>
              <a:rPr sz="900" b="0" i="0">
                <a:solidFill>
                  <a:srgbClr val="6B6B6B"/>
                </a:solidFill>
                <a:latin typeface="Arial"/>
              </a:rPr>
              <a:t>· … 4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T03B03-ROW-002, T03B03-ROW-003, (+8)</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T03B03-S04-ST-01   ·   Panel pendedahan</a:t>
            </a:r>
          </a:p>
          <a:p>
            <a:pPr algn="l"/>
            <a:r>
              <a:rPr sz="1200" b="1" i="0">
                <a:solidFill>
                  <a:srgbClr val="37474F"/>
                </a:solidFill>
                <a:latin typeface="Arial"/>
              </a:rPr>
              <a:t>Pencetus: Penandaan Tapak (Setting Out)  [T03B03-S04-TRG-01]</a:t>
            </a:r>
          </a:p>
          <a:p>
            <a:pPr algn="l"/>
            <a:r>
              <a:rPr sz="1000" b="1" i="0">
                <a:solidFill>
                  <a:srgbClr val="6B6B6B"/>
                </a:solidFill>
                <a:latin typeface="Arial"/>
              </a:rPr>
              <a:t>Apa yang dipaparkan</a:t>
            </a:r>
          </a:p>
          <a:p>
            <a:pPr algn="l" lvl="1"/>
            <a:r>
              <a:rPr sz="1000" b="0" i="0">
                <a:solidFill>
                  <a:srgbClr val="1A1A1A"/>
                </a:solidFill>
                <a:latin typeface="Arial"/>
              </a:rPr>
              <a:t>· Lokasi, keluasan tapak, dan ketinggian puncak busut mesti ditanda dengan tepat di tapak mengikut pelan kerja tanah (Earthwork Plan).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T03B03-ROW-009</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T03B03-S04-ST-02   ·   Panel pendedahan</a:t>
            </a:r>
          </a:p>
          <a:p>
            <a:pPr algn="l"/>
            <a:r>
              <a:rPr sz="1200" b="1" i="0">
                <a:solidFill>
                  <a:srgbClr val="37474F"/>
                </a:solidFill>
                <a:latin typeface="Arial"/>
              </a:rPr>
              <a:t>Pencetus: Bahan Timbus  [T03B03-S04-TRG-02]</a:t>
            </a:r>
          </a:p>
          <a:p>
            <a:pPr algn="l"/>
            <a:r>
              <a:rPr sz="1000" b="1" i="0">
                <a:solidFill>
                  <a:srgbClr val="6B6B6B"/>
                </a:solidFill>
                <a:latin typeface="Arial"/>
              </a:rPr>
              <a:t>Apa yang dipaparkan</a:t>
            </a:r>
          </a:p>
          <a:p>
            <a:pPr algn="l" lvl="1"/>
            <a:r>
              <a:rPr sz="1000" b="0" i="0">
                <a:solidFill>
                  <a:srgbClr val="1A1A1A"/>
                </a:solidFill>
                <a:latin typeface="Arial"/>
              </a:rPr>
              <a:t>· Bahan tanah yang digunakan mestilah bahan yang sesuai, bebas daripada sisa binaan, akar kayu, dan batu besar. Tanah mestilah diluluskan oleh Pegawai Penguasa (S.O.).</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T03B03-ROW-011</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 daripada 15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T03B03-S04-ST-03   ·   Panel pendedahan</a:t>
            </a:r>
          </a:p>
          <a:p>
            <a:pPr algn="l"/>
            <a:r>
              <a:rPr sz="1200" b="1" i="0">
                <a:solidFill>
                  <a:srgbClr val="37474F"/>
                </a:solidFill>
                <a:latin typeface="Arial"/>
              </a:rPr>
              <a:t>Pencetus: Pemadatan Berlapis  [T03B03-S04-TRG-03]</a:t>
            </a:r>
          </a:p>
          <a:p>
            <a:pPr algn="l"/>
            <a:r>
              <a:rPr sz="1000" b="1" i="0">
                <a:solidFill>
                  <a:srgbClr val="6B6B6B"/>
                </a:solidFill>
                <a:latin typeface="Arial"/>
              </a:rPr>
              <a:t>Apa yang dipaparkan</a:t>
            </a:r>
          </a:p>
          <a:p>
            <a:pPr algn="l" lvl="1"/>
            <a:r>
              <a:rPr sz="1000" b="0" i="0">
                <a:solidFill>
                  <a:srgbClr val="1A1A1A"/>
                </a:solidFill>
                <a:latin typeface="Arial"/>
              </a:rPr>
              <a:t>· Busut tanah mesti dibina secara berperingkat dalam lapisan-lapisan tidak melebihi 300mm tebal. Setiap lapisan wajib dipadatkan dengan sempurna menggunakan jentera pemadat (compactor) untuk mengelakkan mendapan (settlement) pada masa hadapan.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T03B03-S04-ST-04   ·   Panel pendedahan</a:t>
            </a:r>
          </a:p>
          <a:p>
            <a:pPr algn="l"/>
            <a:r>
              <a:rPr sz="1200" b="1" i="0">
                <a:solidFill>
                  <a:srgbClr val="37474F"/>
                </a:solidFill>
                <a:latin typeface="Arial"/>
              </a:rPr>
              <a:t>Pencetus: Kecerunan Akhir  [T03B03-S04-TRG-04]</a:t>
            </a:r>
          </a:p>
          <a:p>
            <a:pPr algn="l"/>
            <a:r>
              <a:rPr sz="1000" b="1" i="0">
                <a:solidFill>
                  <a:srgbClr val="6B6B6B"/>
                </a:solidFill>
                <a:latin typeface="Arial"/>
              </a:rPr>
              <a:t>Apa yang dipaparkan</a:t>
            </a:r>
          </a:p>
          <a:p>
            <a:pPr algn="l" lvl="1"/>
            <a:r>
              <a:rPr sz="1000" b="0" i="0">
                <a:solidFill>
                  <a:srgbClr val="1A1A1A"/>
                </a:solidFill>
                <a:latin typeface="Arial"/>
              </a:rPr>
              <a:t>· Kecerunan busut mesti dibentuk mengikut nisbah yang ditetapkan dalam lukisan (cth: 1:3) untuk memastikan kestabilan dan mengelakkan hakisan. Permukaan akhir mesti dilindungi segera dengan rumput atau tanaman penutup bumi.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T03B03-ROW-015</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T03B03-S04-ST-ALL_VIEWED   ·   Penanda selesai</a:t>
            </a:r>
          </a:p>
          <a:p>
            <a:pPr algn="l"/>
            <a:r>
              <a:rPr sz="1200" b="1" i="0">
                <a:solidFill>
                  <a:srgbClr val="37474F"/>
                </a:solidFill>
                <a:latin typeface="Arial"/>
              </a:rPr>
              <a:t>Pencetus: semua 4 panel dilihat  [T03B03-S04-TRG-ALL]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2 daripada 15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Sub soil drainage</a:t>
            </a:r>
          </a:p>
          <a:p>
            <a:pPr algn="l" lvl="1"/>
            <a:r>
              <a:rPr sz="1000" b="0" i="0">
                <a:solidFill>
                  <a:srgbClr val="1A1A1A"/>
                </a:solidFill>
                <a:latin typeface="Arial"/>
              </a:rPr>
              <a:t>· Sistem saliran bawah tanah mesti disambungkan ke saluran keluar yang berfungsi.</a:t>
            </a:r>
          </a:p>
          <a:p>
            <a:pPr algn="l" lvl="1"/>
            <a:r>
              <a:rPr sz="1000" b="0" i="0">
                <a:solidFill>
                  <a:srgbClr val="1A1A1A"/>
                </a:solidFill>
                <a:latin typeface="Arial"/>
              </a:rPr>
              <a:t>· Fungsi</a:t>
            </a:r>
          </a:p>
          <a:p>
            <a:pPr algn="l" lvl="1"/>
            <a:r>
              <a:rPr sz="1000" b="0" i="0">
                <a:solidFill>
                  <a:srgbClr val="1A1A1A"/>
                </a:solidFill>
                <a:latin typeface="Arial"/>
              </a:rPr>
              <a:t>· Mengelakkan tanah daripada menjadi tepu air, yang boleh merosakkan akar tanaman dan menjadikan kawasan tidak boleh digunakan.</a:t>
            </a:r>
          </a:p>
          <a:p>
            <a:pPr algn="l" lvl="1"/>
            <a:r>
              <a:rPr sz="1000" b="0" i="0">
                <a:solidFill>
                  <a:srgbClr val="1A1A1A"/>
                </a:solidFill>
                <a:latin typeface="Arial"/>
              </a:rPr>
              <a:t>· Fokus Utama Kontraktor</a:t>
            </a:r>
          </a:p>
          <a:p>
            <a:pPr algn="l" lvl="1"/>
            <a:r>
              <a:rPr sz="1000" b="0" i="0">
                <a:solidFill>
                  <a:srgbClr val="1A1A1A"/>
                </a:solidFill>
                <a:latin typeface="Arial"/>
              </a:rPr>
              <a:t>· Penggalian Peparit</a:t>
            </a:r>
          </a:p>
          <a:p>
            <a:pPr algn="l" lvl="1"/>
            <a:r>
              <a:rPr sz="1000" b="0" i="0">
                <a:solidFill>
                  <a:srgbClr val="1A1A1A"/>
                </a:solidFill>
                <a:latin typeface="Arial"/>
              </a:rPr>
              <a:t>· Pemasangan Sistematik</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T03B03-ROW-016, T03B03-ROW-031, (+7)</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T03B03-S05-ST-01   ·   Langkah proses</a:t>
            </a:r>
          </a:p>
          <a:p>
            <a:pPr algn="l"/>
            <a:r>
              <a:rPr sz="1200" b="1" i="0">
                <a:solidFill>
                  <a:srgbClr val="37474F"/>
                </a:solidFill>
                <a:latin typeface="Arial"/>
              </a:rPr>
              <a:t>Pencetus: langkah 1  [T03B03-S05-TRG-01]</a:t>
            </a:r>
          </a:p>
          <a:p>
            <a:pPr algn="l"/>
            <a:r>
              <a:rPr sz="1000" b="1" i="0">
                <a:solidFill>
                  <a:srgbClr val="6B6B6B"/>
                </a:solidFill>
                <a:latin typeface="Arial"/>
              </a:rPr>
              <a:t>Apa yang dipaparkan</a:t>
            </a:r>
          </a:p>
          <a:p>
            <a:pPr algn="l" lvl="1"/>
            <a:r>
              <a:rPr sz="1000" b="0" i="0">
                <a:solidFill>
                  <a:srgbClr val="1A1A1A"/>
                </a:solidFill>
                <a:latin typeface="Arial"/>
              </a:rPr>
              <a:t>· Lapik peparit dengan kain geotekstil (geotextile fabric).</a:t>
            </a:r>
          </a:p>
          <a:p>
            <a:pPr algn="l"/>
            <a:r>
              <a:rPr sz="1000" b="1" i="0">
                <a:solidFill>
                  <a:srgbClr val="6B6B6B"/>
                </a:solidFill>
                <a:latin typeface="Arial"/>
              </a:rPr>
              <a:t>Beza daripada keadaan asas</a:t>
            </a:r>
          </a:p>
          <a:p>
            <a:pPr algn="l" lvl="1"/>
            <a:r>
              <a:rPr sz="1000" b="0" i="0">
                <a:solidFill>
                  <a:srgbClr val="1A1A1A"/>
                </a:solidFill>
                <a:latin typeface="Arial"/>
              </a:rPr>
              <a:t>Langkah 1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T03B03-ROW-024</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T03B03-S05-ST-02   ·   Langkah proses</a:t>
            </a:r>
          </a:p>
          <a:p>
            <a:pPr algn="l"/>
            <a:r>
              <a:rPr sz="1200" b="1" i="0">
                <a:solidFill>
                  <a:srgbClr val="37474F"/>
                </a:solidFill>
                <a:latin typeface="Arial"/>
              </a:rPr>
              <a:t>Pencetus: langkah 2  [T03B03-S05-TRG-02]</a:t>
            </a:r>
          </a:p>
          <a:p>
            <a:pPr algn="l"/>
            <a:r>
              <a:rPr sz="1000" b="1" i="0">
                <a:solidFill>
                  <a:srgbClr val="6B6B6B"/>
                </a:solidFill>
                <a:latin typeface="Arial"/>
              </a:rPr>
              <a:t>Apa yang dipaparkan</a:t>
            </a:r>
          </a:p>
          <a:p>
            <a:pPr algn="l" lvl="1"/>
            <a:r>
              <a:rPr sz="1000" b="0" i="0">
                <a:solidFill>
                  <a:srgbClr val="1A1A1A"/>
                </a:solidFill>
                <a:latin typeface="Arial"/>
              </a:rPr>
              <a:t>· Letakkan lapisan batu kelikir penapis (filter aggregate).</a:t>
            </a:r>
          </a:p>
          <a:p>
            <a:pPr algn="l"/>
            <a:r>
              <a:rPr sz="1000" b="1" i="0">
                <a:solidFill>
                  <a:srgbClr val="6B6B6B"/>
                </a:solidFill>
                <a:latin typeface="Arial"/>
              </a:rPr>
              <a:t>Beza daripada keadaan asas</a:t>
            </a:r>
          </a:p>
          <a:p>
            <a:pPr algn="l" lvl="1"/>
            <a:r>
              <a:rPr sz="1000" b="0" i="0">
                <a:solidFill>
                  <a:srgbClr val="1A1A1A"/>
                </a:solidFill>
                <a:latin typeface="Arial"/>
              </a:rPr>
              <a:t>Langkah 2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T03B03-ROW-025</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3 daripada 15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T03B03-S05-ST-03   ·   Langkah proses</a:t>
            </a:r>
          </a:p>
          <a:p>
            <a:pPr algn="l"/>
            <a:r>
              <a:rPr sz="1200" b="1" i="0">
                <a:solidFill>
                  <a:srgbClr val="37474F"/>
                </a:solidFill>
                <a:latin typeface="Arial"/>
              </a:rPr>
              <a:t>Pencetus: langkah 3  [T03B03-S05-TRG-03]</a:t>
            </a:r>
          </a:p>
          <a:p>
            <a:pPr algn="l"/>
            <a:r>
              <a:rPr sz="1000" b="1" i="0">
                <a:solidFill>
                  <a:srgbClr val="6B6B6B"/>
                </a:solidFill>
                <a:latin typeface="Arial"/>
              </a:rPr>
              <a:t>Apa yang dipaparkan</a:t>
            </a:r>
          </a:p>
          <a:p>
            <a:pPr algn="l" lvl="1"/>
            <a:r>
              <a:rPr sz="1000" b="0" i="0">
                <a:solidFill>
                  <a:srgbClr val="1A1A1A"/>
                </a:solidFill>
                <a:latin typeface="Arial"/>
              </a:rPr>
              <a:t>· Pasang paip berlubang (perforated pipe) dengan lubangnya menghadap ke bawah.</a:t>
            </a:r>
          </a:p>
          <a:p>
            <a:pPr algn="l"/>
            <a:r>
              <a:rPr sz="1000" b="1" i="0">
                <a:solidFill>
                  <a:srgbClr val="6B6B6B"/>
                </a:solidFill>
                <a:latin typeface="Arial"/>
              </a:rPr>
              <a:t>Beza daripada keadaan asas</a:t>
            </a:r>
          </a:p>
          <a:p>
            <a:pPr algn="l" lvl="1"/>
            <a:r>
              <a:rPr sz="1000" b="0" i="0">
                <a:solidFill>
                  <a:srgbClr val="1A1A1A"/>
                </a:solidFill>
                <a:latin typeface="Arial"/>
              </a:rPr>
              <a:t>Langkah 3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T03B03-ROW-026</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T03B03-S05-ST-04   ·   Langkah proses</a:t>
            </a:r>
          </a:p>
          <a:p>
            <a:pPr algn="l"/>
            <a:r>
              <a:rPr sz="1200" b="1" i="0">
                <a:solidFill>
                  <a:srgbClr val="37474F"/>
                </a:solidFill>
                <a:latin typeface="Arial"/>
              </a:rPr>
              <a:t>Pencetus: langkah 4  [T03B03-S05-TRG-04]</a:t>
            </a:r>
          </a:p>
          <a:p>
            <a:pPr algn="l"/>
            <a:r>
              <a:rPr sz="1000" b="1" i="0">
                <a:solidFill>
                  <a:srgbClr val="6B6B6B"/>
                </a:solidFill>
                <a:latin typeface="Arial"/>
              </a:rPr>
              <a:t>Apa yang dipaparkan</a:t>
            </a:r>
          </a:p>
          <a:p>
            <a:pPr algn="l" lvl="1"/>
            <a:r>
              <a:rPr sz="1000" b="0" i="0">
                <a:solidFill>
                  <a:srgbClr val="1A1A1A"/>
                </a:solidFill>
                <a:latin typeface="Arial"/>
              </a:rPr>
              <a:t>· Timbus sekeliling paip dengan batu kelikir.</a:t>
            </a:r>
          </a:p>
          <a:p>
            <a:pPr algn="l"/>
            <a:r>
              <a:rPr sz="1000" b="1" i="0">
                <a:solidFill>
                  <a:srgbClr val="6B6B6B"/>
                </a:solidFill>
                <a:latin typeface="Arial"/>
              </a:rPr>
              <a:t>Beza daripada keadaan asas</a:t>
            </a:r>
          </a:p>
          <a:p>
            <a:pPr algn="l" lvl="1"/>
            <a:r>
              <a:rPr sz="1000" b="0" i="0">
                <a:solidFill>
                  <a:srgbClr val="1A1A1A"/>
                </a:solidFill>
                <a:latin typeface="Arial"/>
              </a:rPr>
              <a:t>Langkah 4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T03B03-ROW-027</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T03B03-S05-ST-05   ·   Langkah proses</a:t>
            </a:r>
          </a:p>
          <a:p>
            <a:pPr algn="l"/>
            <a:r>
              <a:rPr sz="1200" b="1" i="0">
                <a:solidFill>
                  <a:srgbClr val="37474F"/>
                </a:solidFill>
                <a:latin typeface="Arial"/>
              </a:rPr>
              <a:t>Pencetus: langkah 5  [T03B03-S05-TRG-05]</a:t>
            </a:r>
          </a:p>
          <a:p>
            <a:pPr algn="l"/>
            <a:r>
              <a:rPr sz="1000" b="1" i="0">
                <a:solidFill>
                  <a:srgbClr val="6B6B6B"/>
                </a:solidFill>
                <a:latin typeface="Arial"/>
              </a:rPr>
              <a:t>Apa yang dipaparkan</a:t>
            </a:r>
          </a:p>
          <a:p>
            <a:pPr algn="l" lvl="1"/>
            <a:r>
              <a:rPr sz="1000" b="0" i="0">
                <a:solidFill>
                  <a:srgbClr val="1A1A1A"/>
                </a:solidFill>
                <a:latin typeface="Arial"/>
              </a:rPr>
              <a:t>· Lipat lebihan geotekstil untuk menutup lapisan batu kelikir.</a:t>
            </a:r>
          </a:p>
          <a:p>
            <a:pPr algn="l"/>
            <a:r>
              <a:rPr sz="1000" b="1" i="0">
                <a:solidFill>
                  <a:srgbClr val="6B6B6B"/>
                </a:solidFill>
                <a:latin typeface="Arial"/>
              </a:rPr>
              <a:t>Beza daripada keadaan asas</a:t>
            </a:r>
          </a:p>
          <a:p>
            <a:pPr algn="l" lvl="1"/>
            <a:r>
              <a:rPr sz="1000" b="0" i="0">
                <a:solidFill>
                  <a:srgbClr val="1A1A1A"/>
                </a:solidFill>
                <a:latin typeface="Arial"/>
              </a:rPr>
              <a:t>Langkah 5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T03B03-ROW-028</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4 daripada 15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T03B03-S05-ST-06   ·   Langkah proses</a:t>
            </a:r>
          </a:p>
          <a:p>
            <a:pPr algn="l"/>
            <a:r>
              <a:rPr sz="1200" b="1" i="0">
                <a:solidFill>
                  <a:srgbClr val="37474F"/>
                </a:solidFill>
                <a:latin typeface="Arial"/>
              </a:rPr>
              <a:t>Pencetus: langkah 6  [T03B03-S05-TRG-06]</a:t>
            </a:r>
          </a:p>
          <a:p>
            <a:pPr algn="l"/>
            <a:r>
              <a:rPr sz="1000" b="1" i="0">
                <a:solidFill>
                  <a:srgbClr val="6B6B6B"/>
                </a:solidFill>
                <a:latin typeface="Arial"/>
              </a:rPr>
              <a:t>Apa yang dipaparkan</a:t>
            </a:r>
          </a:p>
          <a:p>
            <a:pPr algn="l" lvl="1"/>
            <a:r>
              <a:rPr sz="1000" b="0" i="0">
                <a:solidFill>
                  <a:srgbClr val="1A1A1A"/>
                </a:solidFill>
                <a:latin typeface="Arial"/>
              </a:rPr>
              <a:t>· Timbus lapisan atas dengan pasir kasar dan tanah atas.</a:t>
            </a:r>
          </a:p>
          <a:p>
            <a:pPr algn="l"/>
            <a:r>
              <a:rPr sz="1000" b="1" i="0">
                <a:solidFill>
                  <a:srgbClr val="6B6B6B"/>
                </a:solidFill>
                <a:latin typeface="Arial"/>
              </a:rPr>
              <a:t>Beza daripada keadaan asas</a:t>
            </a:r>
          </a:p>
          <a:p>
            <a:pPr algn="l" lvl="1"/>
            <a:r>
              <a:rPr sz="1000" b="0" i="0">
                <a:solidFill>
                  <a:srgbClr val="1A1A1A"/>
                </a:solidFill>
                <a:latin typeface="Arial"/>
              </a:rPr>
              <a:t>Langkah 6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T03B03-ROW-029</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T03B03-S05-ST-ALL_VIEWED   ·   Penanda selesai</a:t>
            </a:r>
          </a:p>
          <a:p>
            <a:pPr algn="l"/>
            <a:r>
              <a:rPr sz="1200" b="1" i="0">
                <a:solidFill>
                  <a:srgbClr val="37474F"/>
                </a:solidFill>
                <a:latin typeface="Arial"/>
              </a:rPr>
              <a:t>Pencetus: semua 6 langkah dilihat  [T03B03-S05-TRG-ALL]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5 daripada 15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Dinding Penahan (Retaining Wall)</a:t>
            </a:r>
          </a:p>
          <a:p>
            <a:pPr algn="l" lvl="1"/>
            <a:r>
              <a:rPr sz="1000" b="0" i="0">
                <a:solidFill>
                  <a:srgbClr val="1A1A1A"/>
                </a:solidFill>
                <a:latin typeface="Arial"/>
              </a:rPr>
              <a:t>· Fungsi</a:t>
            </a:r>
          </a:p>
          <a:p>
            <a:pPr algn="l" lvl="1"/>
            <a:r>
              <a:rPr sz="1000" b="0" i="0">
                <a:solidFill>
                  <a:srgbClr val="1A1A1A"/>
                </a:solidFill>
                <a:latin typeface="Arial"/>
              </a:rPr>
              <a:t>· Membentuk kawasan rata di lereng bukit, menstabilkan cerun, dan menetapkan sempadan aras.</a:t>
            </a:r>
          </a:p>
          <a:p>
            <a:pPr algn="l" lvl="1"/>
            <a:r>
              <a:rPr sz="1000" b="0" i="0">
                <a:solidFill>
                  <a:srgbClr val="1A1A1A"/>
                </a:solidFill>
                <a:latin typeface="Arial"/>
              </a:rPr>
              <a:t>· Fokus Utama Kontraktor</a:t>
            </a:r>
          </a:p>
          <a:p>
            <a:pPr algn="l" lvl="1"/>
            <a:r>
              <a:rPr sz="1000" b="0" i="0">
                <a:solidFill>
                  <a:srgbClr val="1A1A1A"/>
                </a:solidFill>
                <a:latin typeface="Arial"/>
              </a:rPr>
              <a:t>· Lukisan Jurutera</a:t>
            </a:r>
          </a:p>
          <a:p>
            <a:pPr algn="l" lvl="1"/>
            <a:r>
              <a:rPr sz="1000" b="0" i="0">
                <a:solidFill>
                  <a:srgbClr val="1A1A1A"/>
                </a:solidFill>
                <a:latin typeface="Arial"/>
              </a:rPr>
              <a:t>· Pembinaan Tapak Asas (Foundation)</a:t>
            </a:r>
          </a:p>
          <a:p>
            <a:pPr algn="l" lvl="1"/>
            <a:r>
              <a:rPr sz="1000" b="0" i="0">
                <a:solidFill>
                  <a:srgbClr val="1A1A1A"/>
                </a:solidFill>
                <a:latin typeface="Arial"/>
              </a:rPr>
              <a:t>· Sistem Perparitan di Belakang Dinding</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T03B03-ROW-032, T03B03-ROW-033, (+5)</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T03B03-S06-ST-01   ·   Panel pendedahan</a:t>
            </a:r>
          </a:p>
          <a:p>
            <a:pPr algn="l"/>
            <a:r>
              <a:rPr sz="1200" b="1" i="0">
                <a:solidFill>
                  <a:srgbClr val="37474F"/>
                </a:solidFill>
                <a:latin typeface="Arial"/>
              </a:rPr>
              <a:t>Pencetus: Lukisan Jurutera  [T03B03-S06-TRG-01]</a:t>
            </a:r>
          </a:p>
          <a:p>
            <a:pPr algn="l"/>
            <a:r>
              <a:rPr sz="1000" b="1" i="0">
                <a:solidFill>
                  <a:srgbClr val="6B6B6B"/>
                </a:solidFill>
                <a:latin typeface="Arial"/>
              </a:rPr>
              <a:t>Apa yang dipaparkan</a:t>
            </a:r>
          </a:p>
          <a:p>
            <a:pPr algn="l" lvl="1"/>
            <a:r>
              <a:rPr sz="1000" b="0" i="0">
                <a:solidFill>
                  <a:srgbClr val="1A1A1A"/>
                </a:solidFill>
                <a:latin typeface="Arial"/>
              </a:rPr>
              <a:t>· Dinding penahan mesti dibina dengan mematuhi sepenuhnya Lukisan Struktur Jurutera Bertauliah (Ir.). Sebarang perubahan memerlukan kelulusan jurutera.</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T03B03-ROW-037</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T03B03-S06-ST-02   ·   Panel pendedahan</a:t>
            </a:r>
          </a:p>
          <a:p>
            <a:pPr algn="l"/>
            <a:r>
              <a:rPr sz="1200" b="1" i="0">
                <a:solidFill>
                  <a:srgbClr val="37474F"/>
                </a:solidFill>
                <a:latin typeface="Arial"/>
              </a:rPr>
              <a:t>Pencetus: Pembinaan Tapak Asas (Foundation)  [T03B03-S06-TRG-02]</a:t>
            </a:r>
          </a:p>
          <a:p>
            <a:pPr algn="l"/>
            <a:r>
              <a:rPr sz="1000" b="1" i="0">
                <a:solidFill>
                  <a:srgbClr val="6B6B6B"/>
                </a:solidFill>
                <a:latin typeface="Arial"/>
              </a:rPr>
              <a:t>Apa yang dipaparkan</a:t>
            </a:r>
          </a:p>
          <a:p>
            <a:pPr algn="l" lvl="1"/>
            <a:r>
              <a:rPr sz="1000" b="0" i="0">
                <a:solidFill>
                  <a:srgbClr val="1A1A1A"/>
                </a:solidFill>
                <a:latin typeface="Arial"/>
              </a:rPr>
              <a:t>· Tapak asas adalah komponen paling kritikal. Ia mesti dibina di atas tanah yang stabil pada kedalaman dan saiz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T03B03-ROW-039</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6 daripada 15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T03B03-S06-ST-03   ·   Panel pendedahan</a:t>
            </a:r>
          </a:p>
          <a:p>
            <a:pPr algn="l"/>
            <a:r>
              <a:rPr sz="1200" b="1" i="0">
                <a:solidFill>
                  <a:srgbClr val="37474F"/>
                </a:solidFill>
                <a:latin typeface="Arial"/>
              </a:rPr>
              <a:t>Pencetus: Sistem Perparitan di Belakang Dinding  [T03B03-S06-TRG-03]</a:t>
            </a:r>
          </a:p>
          <a:p>
            <a:pPr algn="l"/>
            <a:r>
              <a:rPr sz="1000" b="1" i="0">
                <a:solidFill>
                  <a:srgbClr val="6B6B6B"/>
                </a:solidFill>
                <a:latin typeface="Arial"/>
              </a:rPr>
              <a:t>Apa yang dipaparkan</a:t>
            </a:r>
          </a:p>
          <a:p>
            <a:pPr algn="l" lvl="1"/>
            <a:r>
              <a:rPr sz="1000" b="0" i="0">
                <a:solidFill>
                  <a:srgbClr val="1A1A1A"/>
                </a:solidFill>
                <a:latin typeface="Arial"/>
              </a:rPr>
              <a:t>·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T03B03-S06-ST-ALL_VIEWED   ·   Penanda selesai</a:t>
            </a:r>
          </a:p>
          <a:p>
            <a:pPr algn="l"/>
            <a:r>
              <a:rPr sz="1200" b="1" i="0">
                <a:solidFill>
                  <a:srgbClr val="37474F"/>
                </a:solidFill>
                <a:latin typeface="Arial"/>
              </a:rPr>
              <a:t>Pencetus: semua 3 panel dilihat  [T03B03-S06-TRG-ALL]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7 daripada 15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Fencing</a:t>
            </a:r>
          </a:p>
          <a:p>
            <a:pPr algn="l" lvl="1"/>
            <a:r>
              <a:rPr sz="1000" b="0" i="0">
                <a:solidFill>
                  <a:srgbClr val="1A1A1A"/>
                </a:solidFill>
                <a:latin typeface="Arial"/>
              </a:rPr>
              <a:t>· Pagar dibina untuk tujuan keselamatan, menandakan sempadan, privasi, atau sebagai elemen hiasan.</a:t>
            </a:r>
          </a:p>
          <a:p>
            <a:pPr algn="l" lvl="1"/>
            <a:r>
              <a:rPr sz="1000" b="0" i="0">
                <a:solidFill>
                  <a:srgbClr val="1A1A1A"/>
                </a:solidFill>
                <a:latin typeface="Arial"/>
              </a:rPr>
              <a:t>· Fungsi</a:t>
            </a:r>
          </a:p>
          <a:p>
            <a:pPr algn="l" lvl="1"/>
            <a:r>
              <a:rPr sz="1000" b="0" i="0">
                <a:solidFill>
                  <a:srgbClr val="1A1A1A"/>
                </a:solidFill>
                <a:latin typeface="Arial"/>
              </a:rPr>
              <a:t>· Mengawal akses, menetapkan sempadan hartanah, dan meningkatkan keselamatan.</a:t>
            </a:r>
          </a:p>
          <a:p>
            <a:pPr algn="l" lvl="1"/>
            <a:r>
              <a:rPr sz="1000" b="0" i="0">
                <a:solidFill>
                  <a:srgbClr val="1A1A1A"/>
                </a:solidFill>
                <a:latin typeface="Arial"/>
              </a:rPr>
              <a:t>· Fokus Utama Kontraktor</a:t>
            </a:r>
          </a:p>
          <a:p>
            <a:pPr algn="l" lvl="1"/>
            <a:r>
              <a:rPr sz="1000" b="0" i="0">
                <a:solidFill>
                  <a:srgbClr val="1A1A1A"/>
                </a:solidFill>
                <a:latin typeface="Arial"/>
              </a:rPr>
              <a:t>· Penjajaran Sempadan</a:t>
            </a:r>
          </a:p>
          <a:p>
            <a:pPr algn="l" lvl="1"/>
            <a:r>
              <a:rPr sz="1000" b="0" i="0">
                <a:solidFill>
                  <a:srgbClr val="1A1A1A"/>
                </a:solidFill>
                <a:latin typeface="Arial"/>
              </a:rPr>
              <a:t>· Pemasangan Tiang</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T03B03-ROW-042, T03B03-ROW-043, (+7)</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T03B03-S07-ST-01   ·   Panel pendedahan</a:t>
            </a:r>
          </a:p>
          <a:p>
            <a:pPr algn="l"/>
            <a:r>
              <a:rPr sz="1200" b="1" i="0">
                <a:solidFill>
                  <a:srgbClr val="37474F"/>
                </a:solidFill>
                <a:latin typeface="Arial"/>
              </a:rPr>
              <a:t>Pencetus: Penjajaran Sempadan  [T03B03-S07-TRG-01]</a:t>
            </a:r>
          </a:p>
          <a:p>
            <a:pPr algn="l"/>
            <a:r>
              <a:rPr sz="1000" b="1" i="0">
                <a:solidFill>
                  <a:srgbClr val="6B6B6B"/>
                </a:solidFill>
                <a:latin typeface="Arial"/>
              </a:rPr>
              <a:t>Apa yang dipaparkan</a:t>
            </a:r>
          </a:p>
          <a:p>
            <a:pPr algn="l" lvl="1"/>
            <a:r>
              <a:rPr sz="1000" b="0" i="0">
                <a:solidFill>
                  <a:srgbClr val="1A1A1A"/>
                </a:solidFill>
                <a:latin typeface="Arial"/>
              </a:rPr>
              <a:t>· Jajaran pagar mesti ditanda mengikut Pelan Ukur Sempadan untuk mengelakkan isu pencerobohan tanah.</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T03B03-S07-ST-02   ·   Panel pendedahan</a:t>
            </a:r>
          </a:p>
          <a:p>
            <a:pPr algn="l"/>
            <a:r>
              <a:rPr sz="1200" b="1" i="0">
                <a:solidFill>
                  <a:srgbClr val="37474F"/>
                </a:solidFill>
                <a:latin typeface="Arial"/>
              </a:rPr>
              <a:t>Pencetus: Pemasangan Tiang  [T03B03-S07-TRG-02]</a:t>
            </a:r>
          </a:p>
          <a:p>
            <a:pPr algn="l"/>
            <a:r>
              <a:rPr sz="1000" b="1" i="0">
                <a:solidFill>
                  <a:srgbClr val="6B6B6B"/>
                </a:solidFill>
                <a:latin typeface="Arial"/>
              </a:rPr>
              <a:t>Apa yang dipaparkan</a:t>
            </a:r>
          </a:p>
          <a:p>
            <a:pPr algn="l" lvl="1"/>
            <a:r>
              <a:rPr sz="1000" b="0" i="0">
                <a:solidFill>
                  <a:srgbClr val="1A1A1A"/>
                </a:solidFill>
                <a:latin typeface="Arial"/>
              </a:rPr>
              <a:t>· Kestabilan pagar bergantung pada tiangnya. Tiang mesti dipasang pada jarak yang seragam dan ditanam dalam tapak konkrit dengan saiz dan kedalaman yang mencukupi seperti dalam spesifikasi.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T03B03-ROW-050</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8 daripada 15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T03B03-S07-ST-03   ·   Panel pendedahan</a:t>
            </a:r>
          </a:p>
          <a:p>
            <a:pPr algn="l"/>
            <a:r>
              <a:rPr sz="1200" b="1" i="0">
                <a:solidFill>
                  <a:srgbClr val="37474F"/>
                </a:solidFill>
                <a:latin typeface="Arial"/>
              </a:rPr>
              <a:t>Pencetus: Ketegangan Pemasangan  [T03B03-S07-TRG-03]</a:t>
            </a:r>
          </a:p>
          <a:p>
            <a:pPr algn="l"/>
            <a:r>
              <a:rPr sz="1000" b="1" i="0">
                <a:solidFill>
                  <a:srgbClr val="6B6B6B"/>
                </a:solidFill>
                <a:latin typeface="Arial"/>
              </a:rPr>
              <a:t>Apa yang dipaparkan</a:t>
            </a:r>
          </a:p>
          <a:p>
            <a:pPr algn="l" lvl="1"/>
            <a:r>
              <a:rPr sz="1000" b="0" i="0">
                <a:solidFill>
                  <a:srgbClr val="1A1A1A"/>
                </a:solidFill>
                <a:latin typeface="Arial"/>
              </a:rPr>
              <a:t>· Bagi pagar jenis jejaring (chain-link) atau BRC, ia mesti ditegangkan dengan sempurna untuk mengelakkannya daripada melendut.</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T03B03-ROW-052</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T03B03-S07-ST-04   ·   Panel pendedahan</a:t>
            </a:r>
          </a:p>
          <a:p>
            <a:pPr algn="l"/>
            <a:r>
              <a:rPr sz="1200" b="1" i="0">
                <a:solidFill>
                  <a:srgbClr val="37474F"/>
                </a:solidFill>
                <a:latin typeface="Arial"/>
              </a:rPr>
              <a:t>Pencetus: Kemasan Anti-Karat  [T03B03-S07-TRG-04]</a:t>
            </a:r>
          </a:p>
          <a:p>
            <a:pPr algn="l"/>
            <a:r>
              <a:rPr sz="1000" b="1" i="0">
                <a:solidFill>
                  <a:srgbClr val="6B6B6B"/>
                </a:solidFill>
                <a:latin typeface="Arial"/>
              </a:rPr>
              <a:t>Apa yang dipaparkan</a:t>
            </a:r>
          </a:p>
          <a:p>
            <a:pPr algn="l" lvl="1"/>
            <a:r>
              <a:rPr sz="1000" b="0" i="0">
                <a:solidFill>
                  <a:srgbClr val="1A1A1A"/>
                </a:solidFill>
                <a:latin typeface="Arial"/>
              </a:rPr>
              <a:t>· Pastikan semua komponen keluli mempunyai lapisan pelindung karat yang sempurna seperti tergalvani panas (hot-dip galvanized) atau cat epoksi.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T03B03-ROW-054</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T03B03-S07-ST-ALL_VIEWED   ·   Penanda selesai</a:t>
            </a:r>
          </a:p>
          <a:p>
            <a:pPr algn="l"/>
            <a:r>
              <a:rPr sz="1200" b="1" i="0">
                <a:solidFill>
                  <a:srgbClr val="37474F"/>
                </a:solidFill>
                <a:latin typeface="Arial"/>
              </a:rPr>
              <a:t>Pencetus: semua 4 panel dilihat  [T03B03-S07-TRG-ALL]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9 daripada 15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Swale/ Natural Drain</a:t>
            </a:r>
          </a:p>
          <a:p>
            <a:pPr algn="l" lvl="1"/>
            <a:r>
              <a:rPr sz="1000" b="0" i="0">
                <a:solidFill>
                  <a:srgbClr val="1A1A1A"/>
                </a:solidFill>
                <a:latin typeface="Arial"/>
              </a:rPr>
              <a:t>· Swale adalah sejenis parit yang cetek, lebar, dan ditanami dengan rumput atau tumbuhan. Ia merupakan alternatif mesra alam kepada parit konkrit.</a:t>
            </a:r>
          </a:p>
          <a:p>
            <a:pPr algn="l" lvl="1"/>
            <a:r>
              <a:rPr sz="1000" b="0" i="0">
                <a:solidFill>
                  <a:srgbClr val="1A1A1A"/>
                </a:solidFill>
                <a:latin typeface="Arial"/>
              </a:rPr>
              <a:t>· Swale ialah parit cetek dan lebar yang ditanami tumbuhan, alternatif kepada longkang konkrit, yang memperlahankan aliran dan menggalakkan penyerapan.</a:t>
            </a:r>
          </a:p>
          <a:p>
            <a:pPr algn="l" lvl="1"/>
            <a:r>
              <a:rPr sz="1000" b="0" i="0">
                <a:solidFill>
                  <a:srgbClr val="1A1A1A"/>
                </a:solidFill>
                <a:latin typeface="Arial"/>
              </a:rPr>
              <a:t>· Fungsi</a:t>
            </a:r>
          </a:p>
          <a:p>
            <a:pPr algn="l" lvl="1"/>
            <a:r>
              <a:rPr sz="1000" b="0" i="0">
                <a:solidFill>
                  <a:srgbClr val="1A1A1A"/>
                </a:solidFill>
                <a:latin typeface="Arial"/>
              </a:rPr>
              <a:t>· Menguruskan aliran air larian permukaan dengan memperlahankannya, menggalakkan penyerapan air ke dalam tanah, dan menapis bahan cemar.</a:t>
            </a:r>
          </a:p>
          <a:p>
            <a:pPr algn="l" lvl="1"/>
            <a:r>
              <a:rPr sz="1000" b="0" i="0">
                <a:solidFill>
                  <a:srgbClr val="1A1A1A"/>
                </a:solidFill>
                <a:latin typeface="Arial"/>
              </a:rPr>
              <a:t>· Fokus Utama Kontraktor:</a:t>
            </a:r>
          </a:p>
          <a:p>
            <a:pPr algn="l" lvl="1"/>
            <a:r>
              <a:rPr sz="1000" b="0" i="0">
                <a:solidFill>
                  <a:srgbClr val="1A1A1A"/>
                </a:solidFill>
                <a:latin typeface="Arial"/>
              </a:rPr>
              <a:t>· Pembentukan Landskap</a:t>
            </a:r>
          </a:p>
          <a:p>
            <a:pPr algn="l" lvl="1"/>
            <a:r>
              <a:rPr sz="900" b="0" i="0">
                <a:solidFill>
                  <a:srgbClr val="6B6B6B"/>
                </a:solidFill>
                <a:latin typeface="Arial"/>
              </a:rPr>
              <a:t>· … 2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T03B03-ROW-055, T03B03-ROW-056, (+6)</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T03B03-S08-ST-01   ·   Panel pendedahan</a:t>
            </a:r>
          </a:p>
          <a:p>
            <a:pPr algn="l"/>
            <a:r>
              <a:rPr sz="1200" b="1" i="0">
                <a:solidFill>
                  <a:srgbClr val="37474F"/>
                </a:solidFill>
                <a:latin typeface="Arial"/>
              </a:rPr>
              <a:t>Pencetus: Pembentukan Landskap  [T03B03-S08-TRG-01]</a:t>
            </a:r>
          </a:p>
          <a:p>
            <a:pPr algn="l"/>
            <a:r>
              <a:rPr sz="1000" b="1" i="0">
                <a:solidFill>
                  <a:srgbClr val="6B6B6B"/>
                </a:solidFill>
                <a:latin typeface="Arial"/>
              </a:rPr>
              <a:t>Apa yang dipaparkan</a:t>
            </a:r>
          </a:p>
          <a:p>
            <a:pPr algn="l" lvl="1"/>
            <a:r>
              <a:rPr sz="1000" b="0" i="0">
                <a:solidFill>
                  <a:srgbClr val="1A1A1A"/>
                </a:solidFill>
                <a:latin typeface="Arial"/>
              </a:rPr>
              <a:t>· Swale dibentuk melalui kerja penggalian yang minimum untuk menghasilkan satu lekukan yang landai dan lebar, bukannya parit yang dalam dan curam.</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T03B03-ROW-061</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T03B03-S08-ST-02   ·   Panel pendedahan</a:t>
            </a:r>
          </a:p>
          <a:p>
            <a:pPr algn="l"/>
            <a:r>
              <a:rPr sz="1200" b="1" i="0">
                <a:solidFill>
                  <a:srgbClr val="37474F"/>
                </a:solidFill>
                <a:latin typeface="Arial"/>
              </a:rPr>
              <a:t>Pencetus: Penanaman Tumbuhan  [T03B03-S08-TRG-02]</a:t>
            </a:r>
          </a:p>
          <a:p>
            <a:pPr algn="l"/>
            <a:r>
              <a:rPr sz="1000" b="1" i="0">
                <a:solidFill>
                  <a:srgbClr val="6B6B6B"/>
                </a:solidFill>
                <a:latin typeface="Arial"/>
              </a:rPr>
              <a:t>Apa yang dipaparkan</a:t>
            </a:r>
          </a:p>
          <a:p>
            <a:pPr algn="l" lvl="1"/>
            <a:r>
              <a:rPr sz="1000" b="0" i="0">
                <a:solidFill>
                  <a:srgbClr val="1A1A1A"/>
                </a:solidFill>
                <a:latin typeface="Arial"/>
              </a:rPr>
              <a:t>· Permukaan swale mesti ditanam dengan spesies rumput atau tumbuhan tahan air yang sesuai. Tumbuh-tumbuhan ini berfungsi untuk menstabilkan tanah, mengelakkan hakisan, dan membantu dalam proses penapisan air.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T03B03-ROW-063</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10 daripada 15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T03B03-S08-ST-ALL_VIEWED   ·   Penanda selesai</a:t>
            </a:r>
          </a:p>
          <a:p>
            <a:pPr algn="l"/>
            <a:r>
              <a:rPr sz="1200" b="1" i="0">
                <a:solidFill>
                  <a:srgbClr val="37474F"/>
                </a:solidFill>
                <a:latin typeface="Arial"/>
              </a:rPr>
              <a:t>Pencetus: semua 2 panel dilihat  [T03B03-S08-TRG-ALL]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6" name="TextBox 5"/>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11 daripada 15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Jalan akses</a:t>
            </a:r>
          </a:p>
          <a:p>
            <a:pPr algn="l" lvl="1"/>
            <a:r>
              <a:rPr sz="1000" b="0" i="0">
                <a:solidFill>
                  <a:srgbClr val="1A1A1A"/>
                </a:solidFill>
                <a:latin typeface="Arial"/>
              </a:rPr>
              <a:t>· Jalan akses dalam konteks landskap menyediakan laluan untuk kenderaan penyelenggaraan atau laluan pejalan kaki utama.</a:t>
            </a:r>
          </a:p>
          <a:p>
            <a:pPr algn="l" lvl="1"/>
            <a:r>
              <a:rPr sz="1000" b="0" i="0">
                <a:solidFill>
                  <a:srgbClr val="1A1A1A"/>
                </a:solidFill>
                <a:latin typeface="Arial"/>
              </a:rPr>
              <a:t>· Fungsi</a:t>
            </a:r>
          </a:p>
          <a:p>
            <a:pPr algn="l" lvl="1"/>
            <a:r>
              <a:rPr sz="1000" b="0" i="0">
                <a:solidFill>
                  <a:srgbClr val="1A1A1A"/>
                </a:solidFill>
                <a:latin typeface="Arial"/>
              </a:rPr>
              <a:t>· Menyediakan perhubungan dan akses ke seluruh kawasan tapak.</a:t>
            </a:r>
          </a:p>
          <a:p>
            <a:pPr algn="l" lvl="1"/>
            <a:r>
              <a:rPr sz="1000" b="0" i="0">
                <a:solidFill>
                  <a:srgbClr val="1A1A1A"/>
                </a:solidFill>
                <a:latin typeface="Arial"/>
              </a:rPr>
              <a:t>· Fokus Utama Kontraktor</a:t>
            </a:r>
          </a:p>
          <a:p>
            <a:pPr algn="l" lvl="1"/>
            <a:r>
              <a:rPr sz="1000" b="0" i="0">
                <a:solidFill>
                  <a:srgbClr val="1A1A1A"/>
                </a:solidFill>
                <a:latin typeface="Arial"/>
              </a:rPr>
              <a:t>· Penyediaan Tapak Asas (Sub-base)</a:t>
            </a:r>
          </a:p>
          <a:p>
            <a:pPr algn="l" lvl="1"/>
            <a:r>
              <a:rPr sz="1000" b="0" i="0">
                <a:solidFill>
                  <a:srgbClr val="1A1A1A"/>
                </a:solidFill>
                <a:latin typeface="Arial"/>
              </a:rPr>
              <a:t>· Pemasangan Bebendul (Kerb)</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T03B03-ROW-064, T03B03-ROW-065, (+7)</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T03B03-S09-ST-01   ·   Panel pendedahan</a:t>
            </a:r>
          </a:p>
          <a:p>
            <a:pPr algn="l"/>
            <a:r>
              <a:rPr sz="1200" b="1" i="0">
                <a:solidFill>
                  <a:srgbClr val="37474F"/>
                </a:solidFill>
                <a:latin typeface="Arial"/>
              </a:rPr>
              <a:t>Pencetus: Penyediaan Tapak Asas (Sub-base)  [T03B03-S09-TRG-01]</a:t>
            </a:r>
          </a:p>
          <a:p>
            <a:pPr algn="l"/>
            <a:r>
              <a:rPr sz="1000" b="1" i="0">
                <a:solidFill>
                  <a:srgbClr val="6B6B6B"/>
                </a:solidFill>
                <a:latin typeface="Arial"/>
              </a:rPr>
              <a:t>Apa yang dipaparkan</a:t>
            </a:r>
          </a:p>
          <a:p>
            <a:pPr algn="l" lvl="1"/>
            <a:r>
              <a:rPr sz="1000" b="0" i="0">
                <a:solidFill>
                  <a:srgbClr val="1A1A1A"/>
                </a:solidFill>
                <a:latin typeface="Arial"/>
              </a:rPr>
              <a:t>· Kualiti jalan bergantung pada tapak asasnya. Lapisan tanah asal mesti dipadatkan, diikuti dengan lapisan batu kasaran (crusher run) yang dipadatkan mengikut ketebalan yang ditetapkan dalam lukisan.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T03B03-ROW-070</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T03B03-S09-ST-02   ·   Panel pendedahan</a:t>
            </a:r>
          </a:p>
          <a:p>
            <a:pPr algn="l"/>
            <a:r>
              <a:rPr sz="1200" b="1" i="0">
                <a:solidFill>
                  <a:srgbClr val="37474F"/>
                </a:solidFill>
                <a:latin typeface="Arial"/>
              </a:rPr>
              <a:t>Pencetus: Pemasangan Bebendul (Kerb)  [T03B03-S09-TRG-02]</a:t>
            </a:r>
          </a:p>
          <a:p>
            <a:pPr algn="l"/>
            <a:r>
              <a:rPr sz="1000" b="1" i="0">
                <a:solidFill>
                  <a:srgbClr val="6B6B6B"/>
                </a:solidFill>
                <a:latin typeface="Arial"/>
              </a:rPr>
              <a:t>Apa yang dipaparkan</a:t>
            </a:r>
          </a:p>
          <a:p>
            <a:pPr algn="l" lvl="1"/>
            <a:r>
              <a:rPr sz="1000" b="0" i="0">
                <a:solidFill>
                  <a:srgbClr val="1A1A1A"/>
                </a:solidFill>
                <a:latin typeface="Arial"/>
              </a:rPr>
              <a:t>· Bebendul konkrit dipasang di kedua-dua belah jalan untuk menetapkan jajaran dan menahan lapisan permukaan.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T03B03-ROW-072</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12 daripada 15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T03B03-S09-ST-03   ·   Panel pendedahan</a:t>
            </a:r>
          </a:p>
          <a:p>
            <a:pPr algn="l"/>
            <a:r>
              <a:rPr sz="1200" b="1" i="0">
                <a:solidFill>
                  <a:srgbClr val="37474F"/>
                </a:solidFill>
                <a:latin typeface="Arial"/>
              </a:rPr>
              <a:t>Pencetus: Lapisan Permukaan  [T03B03-S09-TRG-03]</a:t>
            </a:r>
          </a:p>
          <a:p>
            <a:pPr algn="l"/>
            <a:r>
              <a:rPr sz="1000" b="1" i="0">
                <a:solidFill>
                  <a:srgbClr val="6B6B6B"/>
                </a:solidFill>
                <a:latin typeface="Arial"/>
              </a:rPr>
              <a:t>Apa yang dipaparkan</a:t>
            </a:r>
          </a:p>
          <a:p>
            <a:pPr algn="l" lvl="1"/>
            <a:r>
              <a:rPr sz="1000" b="0" i="0">
                <a:solidFill>
                  <a:srgbClr val="1A1A1A"/>
                </a:solidFill>
                <a:latin typeface="Arial"/>
              </a:rPr>
              <a:t>· Permukaan akhir boleh terdiri daripada pelbagai bahan seperti premix/asphalt, blok turapan (interlocking pavers), atau konkrit bertetulang, dan mesti dibina mengikut spesifikasi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T03B03-ROW-074</a:t>
            </a:r>
          </a:p>
          <a:p>
            <a:pPr algn="l" lvl="1"/>
            <a:r>
              <a:rPr sz="900" b="0" i="0">
                <a:solidFill>
                  <a:srgbClr val="6B6B6B"/>
                </a:solidFill>
                <a:latin typeface="Arial"/>
              </a:rPr>
              <a:t>Keputusan: A1, A2</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T03B03-S09-ST-04   ·   Panel pendedahan</a:t>
            </a:r>
          </a:p>
          <a:p>
            <a:pPr algn="l"/>
            <a:r>
              <a:rPr sz="1200" b="1" i="0">
                <a:solidFill>
                  <a:srgbClr val="37474F"/>
                </a:solidFill>
                <a:latin typeface="Arial"/>
              </a:rPr>
              <a:t>Pencetus: Kamber (Camber)  [T03B03-S09-TRG-04]</a:t>
            </a:r>
          </a:p>
          <a:p>
            <a:pPr algn="l"/>
            <a:r>
              <a:rPr sz="1000" b="1" i="0">
                <a:solidFill>
                  <a:srgbClr val="6B6B6B"/>
                </a:solidFill>
                <a:latin typeface="Arial"/>
              </a:rPr>
              <a:t>Apa yang dipaparkan</a:t>
            </a:r>
          </a:p>
          <a:p>
            <a:pPr algn="l" lvl="1"/>
            <a:r>
              <a:rPr sz="1000" b="0" i="0">
                <a:solidFill>
                  <a:srgbClr val="1A1A1A"/>
                </a:solidFill>
                <a:latin typeface="Arial"/>
              </a:rPr>
              <a:t>· Permukaan jalan mesti dibina dengan sedikit kecerunan melintang dari bahagian tengah ke tepi untuk memastikan air hujan mengalir ke sistem perparitan.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A1, A2</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T03B03-S09-ST-ALL_VIEWED   ·   Penanda selesai</a:t>
            </a:r>
          </a:p>
          <a:p>
            <a:pPr algn="l"/>
            <a:r>
              <a:rPr sz="1200" b="1" i="0">
                <a:solidFill>
                  <a:srgbClr val="37474F"/>
                </a:solidFill>
                <a:latin typeface="Arial"/>
              </a:rPr>
              <a:t>Pencetus: semua 4 panel dilihat  [T03B03-S09-TRG-ALL]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13 daripada 15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T03B03-S11-ST-01   ·   Item kuiz</a:t>
            </a:r>
          </a:p>
          <a:p>
            <a:pPr algn="l"/>
            <a:r>
              <a:rPr sz="1200" b="1" i="0">
                <a:solidFill>
                  <a:srgbClr val="37474F"/>
                </a:solidFill>
                <a:latin typeface="Arial"/>
              </a:rPr>
              <a:t>Pencetus: Q1 · MULTIPLE_CHOICE  [T03B03-S11-TRG-01]</a:t>
            </a:r>
          </a:p>
          <a:p>
            <a:pPr algn="l"/>
            <a:r>
              <a:rPr sz="1000" b="1" i="0">
                <a:solidFill>
                  <a:srgbClr val="6B6B6B"/>
                </a:solidFill>
                <a:latin typeface="Arial"/>
              </a:rPr>
              <a:t>Apa yang dipaparkan</a:t>
            </a:r>
          </a:p>
          <a:p>
            <a:pPr algn="l" lvl="1"/>
            <a:r>
              <a:rPr sz="1000" b="0" i="0">
                <a:solidFill>
                  <a:srgbClr val="1A1A1A"/>
                </a:solidFill>
                <a:latin typeface="Arial"/>
              </a:rPr>
              <a:t>· Apakah ketebalan maksimum setiap lapisan semasa membina busut tanah (earthmound)?</a:t>
            </a:r>
          </a:p>
          <a:p>
            <a:pPr algn="l" lvl="1"/>
            <a:r>
              <a:rPr sz="1000" b="0" i="0">
                <a:solidFill>
                  <a:srgbClr val="1A1A1A"/>
                </a:solidFill>
                <a:latin typeface="Arial"/>
              </a:rPr>
              <a:t>· Tidak melebihi 300mm setiap lapisan, dan setiap lapisan dipadatkan.</a:t>
            </a:r>
          </a:p>
          <a:p>
            <a:pPr algn="l" lvl="1"/>
            <a:r>
              <a:rPr sz="1000" b="0" i="0">
                <a:solidFill>
                  <a:srgbClr val="1A1A1A"/>
                </a:solidFill>
                <a:latin typeface="Arial"/>
              </a:rPr>
              <a:t>· Tidak melebihi 600mm, dipadatkan sekali pada akhir</a:t>
            </a:r>
          </a:p>
          <a:p>
            <a:pPr algn="l" lvl="1"/>
            <a:r>
              <a:rPr sz="1000" b="0" i="0">
                <a:solidFill>
                  <a:srgbClr val="1A1A1A"/>
                </a:solidFill>
                <a:latin typeface="Arial"/>
              </a:rPr>
              <a:t>· Tiada had ketebalan selagi jentera boleh memadat</a:t>
            </a:r>
          </a:p>
          <a:p>
            <a:pPr algn="l" lvl="1"/>
            <a:r>
              <a:rPr sz="1000" b="0" i="0">
                <a:solidFill>
                  <a:srgbClr val="1A1A1A"/>
                </a:solidFill>
                <a:latin typeface="Arial"/>
              </a:rPr>
              <a:t>· Satu lapisan penuh sehingga ketinggian puncak</a:t>
            </a:r>
          </a:p>
          <a:p>
            <a:pPr algn="l"/>
            <a:r>
              <a:rPr sz="1000" b="1" i="0">
                <a:solidFill>
                  <a:srgbClr val="6B6B6B"/>
                </a:solidFill>
                <a:latin typeface="Arial"/>
              </a:rPr>
              <a:t>Beza daripada keadaan asas</a:t>
            </a:r>
          </a:p>
          <a:p>
            <a:pPr algn="l" lvl="1"/>
            <a:r>
              <a:rPr sz="1000" b="0" i="0">
                <a:solidFill>
                  <a:srgbClr val="1A1A1A"/>
                </a:solidFill>
                <a:latin typeface="Arial"/>
              </a:rPr>
              <a:t>Item 1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T03B03-S11-ST-02   ·   Item kuiz</a:t>
            </a:r>
          </a:p>
          <a:p>
            <a:pPr algn="l"/>
            <a:r>
              <a:rPr sz="1200" b="1" i="0">
                <a:solidFill>
                  <a:srgbClr val="37474F"/>
                </a:solidFill>
                <a:latin typeface="Arial"/>
              </a:rPr>
              <a:t>Pencetus: Q2 · MULTIPLE_CHOICE  [T03B03-S11-TRG-02]</a:t>
            </a:r>
          </a:p>
          <a:p>
            <a:pPr algn="l"/>
            <a:r>
              <a:rPr sz="1000" b="1" i="0">
                <a:solidFill>
                  <a:srgbClr val="6B6B6B"/>
                </a:solidFill>
                <a:latin typeface="Arial"/>
              </a:rPr>
              <a:t>Apa yang dipaparkan</a:t>
            </a:r>
          </a:p>
          <a:p>
            <a:pPr algn="l" lvl="1"/>
            <a:r>
              <a:rPr sz="1000" b="0" i="0">
                <a:solidFill>
                  <a:srgbClr val="1A1A1A"/>
                </a:solidFill>
                <a:latin typeface="Arial"/>
              </a:rPr>
              <a:t>· Mengapakah sistem perparitan di belakang dinding penahan adalah wajib?</a:t>
            </a:r>
          </a:p>
          <a:p>
            <a:pPr algn="l" lvl="1"/>
            <a:r>
              <a:rPr sz="1000" b="0" i="0">
                <a:solidFill>
                  <a:srgbClr val="1A1A1A"/>
                </a:solidFill>
                <a:latin typeface="Arial"/>
              </a:rPr>
              <a:t>· Kerana kegagalan dinding penahan selalunya berpunca daripada tekanan air (hydrostatic pressure).</a:t>
            </a:r>
          </a:p>
          <a:p>
            <a:pPr algn="l" lvl="1"/>
            <a:r>
              <a:rPr sz="1000" b="0" i="0">
                <a:solidFill>
                  <a:srgbClr val="1A1A1A"/>
                </a:solidFill>
                <a:latin typeface="Arial"/>
              </a:rPr>
              <a:t>· Kerana ia mengurangkan kos konkrit dinding</a:t>
            </a:r>
          </a:p>
          <a:p>
            <a:pPr algn="l" lvl="1"/>
            <a:r>
              <a:rPr sz="1000" b="0" i="0">
                <a:solidFill>
                  <a:srgbClr val="1A1A1A"/>
                </a:solidFill>
                <a:latin typeface="Arial"/>
              </a:rPr>
              <a:t>· Kerana ia diperlukan untuk kemasan estetik belakang dinding</a:t>
            </a:r>
          </a:p>
          <a:p>
            <a:pPr algn="l" lvl="1"/>
            <a:r>
              <a:rPr sz="1000" b="0" i="0">
                <a:solidFill>
                  <a:srgbClr val="1A1A1A"/>
                </a:solidFill>
                <a:latin typeface="Arial"/>
              </a:rPr>
              <a:t>· Kerana ia menggantikan keperluan tapak asas</a:t>
            </a:r>
          </a:p>
          <a:p>
            <a:pPr algn="l"/>
            <a:r>
              <a:rPr sz="1000" b="1" i="0">
                <a:solidFill>
                  <a:srgbClr val="6B6B6B"/>
                </a:solidFill>
                <a:latin typeface="Arial"/>
              </a:rPr>
              <a:t>Beza daripada keadaan asas</a:t>
            </a:r>
          </a:p>
          <a:p>
            <a:pPr algn="l" lvl="1"/>
            <a:r>
              <a:rPr sz="1000" b="0" i="0">
                <a:solidFill>
                  <a:srgbClr val="1A1A1A"/>
                </a:solidFill>
                <a:latin typeface="Arial"/>
              </a:rPr>
              <a:t>Item 2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T03B03-S11-ST-03   ·   Item kuiz</a:t>
            </a:r>
          </a:p>
          <a:p>
            <a:pPr algn="l"/>
            <a:r>
              <a:rPr sz="1200" b="1" i="0">
                <a:solidFill>
                  <a:srgbClr val="37474F"/>
                </a:solidFill>
                <a:latin typeface="Arial"/>
              </a:rPr>
              <a:t>Pencetus: Q3 · MULTIPLE_CHOICE  [T03B03-S11-TRG-03]</a:t>
            </a:r>
          </a:p>
          <a:p>
            <a:pPr algn="l"/>
            <a:r>
              <a:rPr sz="1000" b="1" i="0">
                <a:solidFill>
                  <a:srgbClr val="6B6B6B"/>
                </a:solidFill>
                <a:latin typeface="Arial"/>
              </a:rPr>
              <a:t>Apa yang dipaparkan</a:t>
            </a:r>
          </a:p>
          <a:p>
            <a:pPr algn="l" lvl="1"/>
            <a:r>
              <a:rPr sz="1000" b="0" i="0">
                <a:solidFill>
                  <a:srgbClr val="1A1A1A"/>
                </a:solidFill>
                <a:latin typeface="Arial"/>
              </a:rPr>
              <a:t>· Pelan manakah yang menentukan jajaran pagar di tapak?</a:t>
            </a:r>
          </a:p>
          <a:p>
            <a:pPr algn="l" lvl="1"/>
            <a:r>
              <a:rPr sz="1000" b="0" i="0">
                <a:solidFill>
                  <a:srgbClr val="1A1A1A"/>
                </a:solidFill>
                <a:latin typeface="Arial"/>
              </a:rPr>
              <a:t>· Pelan Ukur Sempadan.</a:t>
            </a:r>
          </a:p>
          <a:p>
            <a:pPr algn="l" lvl="1"/>
            <a:r>
              <a:rPr sz="1000" b="0" i="0">
                <a:solidFill>
                  <a:srgbClr val="1A1A1A"/>
                </a:solidFill>
                <a:latin typeface="Arial"/>
              </a:rPr>
              <a:t>· Pelan Saliran</a:t>
            </a:r>
          </a:p>
          <a:p>
            <a:pPr algn="l" lvl="1"/>
            <a:r>
              <a:rPr sz="1000" b="0" i="0">
                <a:solidFill>
                  <a:srgbClr val="1A1A1A"/>
                </a:solidFill>
                <a:latin typeface="Arial"/>
              </a:rPr>
              <a:t>· Lukisan Struktur Jurutera</a:t>
            </a:r>
          </a:p>
          <a:p>
            <a:pPr algn="l" lvl="1"/>
            <a:r>
              <a:rPr sz="1000" b="0" i="0">
                <a:solidFill>
                  <a:srgbClr val="1A1A1A"/>
                </a:solidFill>
                <a:latin typeface="Arial"/>
              </a:rPr>
              <a:t>· Pelan Susun Atur Tanaman</a:t>
            </a:r>
          </a:p>
          <a:p>
            <a:pPr algn="l"/>
            <a:r>
              <a:rPr sz="1000" b="1" i="0">
                <a:solidFill>
                  <a:srgbClr val="6B6B6B"/>
                </a:solidFill>
                <a:latin typeface="Arial"/>
              </a:rPr>
              <a:t>Beza daripada keadaan asas</a:t>
            </a:r>
          </a:p>
          <a:p>
            <a:pPr algn="l" lvl="1"/>
            <a:r>
              <a:rPr sz="1000" b="0" i="0">
                <a:solidFill>
                  <a:srgbClr val="1A1A1A"/>
                </a:solidFill>
                <a:latin typeface="Arial"/>
              </a:rPr>
              <a:t>Item 3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14 daripada 15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T03B03-S11-ST-04   ·   Item kuiz</a:t>
            </a:r>
          </a:p>
          <a:p>
            <a:pPr algn="l"/>
            <a:r>
              <a:rPr sz="1200" b="1" i="0">
                <a:solidFill>
                  <a:srgbClr val="37474F"/>
                </a:solidFill>
                <a:latin typeface="Arial"/>
              </a:rPr>
              <a:t>Pencetus: Q4 · MULTIPLE_CHOICE  [T03B03-S11-TRG-04]</a:t>
            </a:r>
          </a:p>
          <a:p>
            <a:pPr algn="l"/>
            <a:r>
              <a:rPr sz="1000" b="1" i="0">
                <a:solidFill>
                  <a:srgbClr val="6B6B6B"/>
                </a:solidFill>
                <a:latin typeface="Arial"/>
              </a:rPr>
              <a:t>Apa yang dipaparkan</a:t>
            </a:r>
          </a:p>
          <a:p>
            <a:pPr algn="l" lvl="1"/>
            <a:r>
              <a:rPr sz="1000" b="0" i="0">
                <a:solidFill>
                  <a:srgbClr val="1A1A1A"/>
                </a:solidFill>
                <a:latin typeface="Arial"/>
              </a:rPr>
              <a:t>· Apakah fungsi kamber (camber) pada permukaan jalan akses?</a:t>
            </a:r>
          </a:p>
          <a:p>
            <a:pPr algn="l" lvl="1"/>
            <a:r>
              <a:rPr sz="1000" b="0" i="0">
                <a:solidFill>
                  <a:srgbClr val="1A1A1A"/>
                </a:solidFill>
                <a:latin typeface="Arial"/>
              </a:rPr>
              <a:t>· Memberikan kecerunan melintang dari tengah ke tepi supaya air tidak bertakung di permukaan.</a:t>
            </a:r>
          </a:p>
          <a:p>
            <a:pPr algn="l" lvl="1"/>
            <a:r>
              <a:rPr sz="1000" b="0" i="0">
                <a:solidFill>
                  <a:srgbClr val="1A1A1A"/>
                </a:solidFill>
                <a:latin typeface="Arial"/>
              </a:rPr>
              <a:t>· Menambah ketebalan lapisan permukaan di bahagian tengah</a:t>
            </a:r>
          </a:p>
          <a:p>
            <a:pPr algn="l" lvl="1"/>
            <a:r>
              <a:rPr sz="1000" b="0" i="0">
                <a:solidFill>
                  <a:srgbClr val="1A1A1A"/>
                </a:solidFill>
                <a:latin typeface="Arial"/>
              </a:rPr>
              <a:t>· Menandakan sempadan jalan untuk pemandu</a:t>
            </a:r>
          </a:p>
          <a:p>
            <a:pPr algn="l" lvl="1"/>
            <a:r>
              <a:rPr sz="1000" b="0" i="0">
                <a:solidFill>
                  <a:srgbClr val="1A1A1A"/>
                </a:solidFill>
                <a:latin typeface="Arial"/>
              </a:rPr>
              <a:t>· Menahan lapisan permukaan daripada bergerak ke tepi</a:t>
            </a:r>
          </a:p>
          <a:p>
            <a:pPr algn="l"/>
            <a:r>
              <a:rPr sz="1000" b="1" i="0">
                <a:solidFill>
                  <a:srgbClr val="6B6B6B"/>
                </a:solidFill>
                <a:latin typeface="Arial"/>
              </a:rPr>
              <a:t>Beza daripada keadaan asas</a:t>
            </a:r>
          </a:p>
          <a:p>
            <a:pPr algn="l" lvl="1"/>
            <a:r>
              <a:rPr sz="1000" b="0" i="0">
                <a:solidFill>
                  <a:srgbClr val="1A1A1A"/>
                </a:solidFill>
                <a:latin typeface="Arial"/>
              </a:rPr>
              <a:t>Item 4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4283066"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4463066"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T03B03-S11-ST-05   ·   Item kuiz</a:t>
            </a:r>
          </a:p>
          <a:p>
            <a:pPr algn="l"/>
            <a:r>
              <a:rPr sz="1200" b="1" i="0">
                <a:solidFill>
                  <a:srgbClr val="37474F"/>
                </a:solidFill>
                <a:latin typeface="Arial"/>
              </a:rPr>
              <a:t>Pencetus: Q5 · MULTIPLE_RESPONSE  [T03B03-S11-TRG-05]</a:t>
            </a:r>
          </a:p>
          <a:p>
            <a:pPr algn="l"/>
            <a:r>
              <a:rPr sz="1000" b="1" i="0">
                <a:solidFill>
                  <a:srgbClr val="6B6B6B"/>
                </a:solidFill>
                <a:latin typeface="Arial"/>
              </a:rPr>
              <a:t>Apa yang dipaparkan</a:t>
            </a:r>
          </a:p>
          <a:p>
            <a:pPr algn="l" lvl="1"/>
            <a:r>
              <a:rPr sz="1000" b="0" i="0">
                <a:solidFill>
                  <a:srgbClr val="1A1A1A"/>
                </a:solidFill>
                <a:latin typeface="Arial"/>
              </a:rPr>
              <a:t>· Pilih SEMUA ciri yang menepati swale sebagai alternatif kepada longkang konkrit.</a:t>
            </a:r>
          </a:p>
          <a:p>
            <a:pPr algn="l" lvl="1"/>
            <a:r>
              <a:rPr sz="1000" b="0" i="0">
                <a:solidFill>
                  <a:srgbClr val="1A1A1A"/>
                </a:solidFill>
                <a:latin typeface="Arial"/>
              </a:rPr>
              <a:t>· Parit yang cetek dan lebar</a:t>
            </a:r>
          </a:p>
          <a:p>
            <a:pPr algn="l" lvl="1"/>
            <a:r>
              <a:rPr sz="1000" b="0" i="0">
                <a:solidFill>
                  <a:srgbClr val="1A1A1A"/>
                </a:solidFill>
                <a:latin typeface="Arial"/>
              </a:rPr>
              <a:t>· Ditanami rumput atau tumbuhan tahan air</a:t>
            </a:r>
          </a:p>
          <a:p>
            <a:pPr algn="l" lvl="1"/>
            <a:r>
              <a:rPr sz="1000" b="0" i="0">
                <a:solidFill>
                  <a:srgbClr val="1A1A1A"/>
                </a:solidFill>
                <a:latin typeface="Arial"/>
              </a:rPr>
              <a:t>· Memperlahankan aliran air larian permukaan</a:t>
            </a:r>
          </a:p>
          <a:p>
            <a:pPr algn="l" lvl="1"/>
            <a:r>
              <a:rPr sz="1000" b="0" i="0">
                <a:solidFill>
                  <a:srgbClr val="1A1A1A"/>
                </a:solidFill>
                <a:latin typeface="Arial"/>
              </a:rPr>
              <a:t>· Menggalakkan penyerapan air ke dalam tanah</a:t>
            </a:r>
          </a:p>
          <a:p>
            <a:pPr algn="l" lvl="1"/>
            <a:r>
              <a:rPr sz="1000" b="0" i="0">
                <a:solidFill>
                  <a:srgbClr val="1A1A1A"/>
                </a:solidFill>
                <a:latin typeface="Arial"/>
              </a:rPr>
              <a:t>· Dilapisi konkrit di seluruh permukaannya</a:t>
            </a:r>
          </a:p>
          <a:p>
            <a:pPr algn="l" lvl="1"/>
            <a:r>
              <a:rPr sz="1000" b="0" i="0">
                <a:solidFill>
                  <a:srgbClr val="1A1A1A"/>
                </a:solidFill>
                <a:latin typeface="Arial"/>
              </a:rPr>
              <a:t>· Direka untuk mempercepatkan aliran ke saluran keluar</a:t>
            </a:r>
          </a:p>
          <a:p>
            <a:pPr algn="l"/>
            <a:r>
              <a:rPr sz="1000" b="1" i="0">
                <a:solidFill>
                  <a:srgbClr val="6B6B6B"/>
                </a:solidFill>
                <a:latin typeface="Arial"/>
              </a:rPr>
              <a:t>Beza daripada keadaan asas</a:t>
            </a:r>
          </a:p>
          <a:p>
            <a:pPr algn="l" lvl="1"/>
            <a:r>
              <a:rPr sz="1000" b="0" i="0">
                <a:solidFill>
                  <a:srgbClr val="1A1A1A"/>
                </a:solidFill>
                <a:latin typeface="Arial"/>
              </a:rPr>
              <a:t>Item 5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T03B03-ROW-056, T03B03-ROW-058, (+1)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Rectangle 7"/>
          <p:cNvSpPr/>
          <p:nvPr/>
        </p:nvSpPr>
        <p:spPr>
          <a:xfrm>
            <a:off x="8108932" y="1280000"/>
            <a:ext cx="3625866"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9" name="TextBox 8"/>
          <p:cNvSpPr txBox="1"/>
          <p:nvPr/>
        </p:nvSpPr>
        <p:spPr>
          <a:xfrm>
            <a:off x="8288932" y="1460000"/>
            <a:ext cx="3265866" cy="4340000"/>
          </a:xfrm>
          <a:prstGeom prst="rect">
            <a:avLst/>
          </a:prstGeom>
          <a:noFill/>
        </p:spPr>
        <p:txBody>
          <a:bodyPr wrap="square" lIns="0" rIns="0" tIns="0" bIns="0">
            <a:noAutofit/>
          </a:bodyPr>
          <a:lstStyle/>
          <a:p>
            <a:pPr algn="l"/>
            <a:r>
              <a:rPr sz="1100" b="1" i="0">
                <a:solidFill>
                  <a:srgbClr val="6B6B6B"/>
                </a:solidFill>
                <a:latin typeface="Arial"/>
              </a:rPr>
              <a:t>T03B03-S11-ST-RESULT   ·   Keputusan kuiz</a:t>
            </a:r>
          </a:p>
          <a:p>
            <a:pPr algn="l"/>
            <a:r>
              <a:rPr sz="1200" b="1" i="0">
                <a:solidFill>
                  <a:srgbClr val="37474F"/>
                </a:solidFill>
                <a:latin typeface="Arial"/>
              </a:rPr>
              <a:t>Pencetus: item terakhir dihantar  [T03B03-S11-TRG-RESULT]</a:t>
            </a:r>
          </a:p>
          <a:p>
            <a:pPr algn="l"/>
            <a:r>
              <a:rPr sz="1000" b="1" i="0">
                <a:solidFill>
                  <a:srgbClr val="6B6B6B"/>
                </a:solidFill>
                <a:latin typeface="Arial"/>
              </a:rPr>
              <a:t>Apa yang dipaparkan</a:t>
            </a:r>
          </a:p>
          <a:p>
            <a:pPr algn="l" lvl="1"/>
            <a:r>
              <a:rPr sz="1000" b="0" i="0">
                <a:solidFill>
                  <a:srgbClr val="1A1A1A"/>
                </a:solidFill>
                <a:latin typeface="Arial"/>
              </a:rPr>
              <a:t>· Markah lulus 60 peratus</a:t>
            </a:r>
          </a:p>
          <a:p>
            <a:pPr algn="l"/>
            <a:r>
              <a:rPr sz="1000" b="1" i="0">
                <a:solidFill>
                  <a:srgbClr val="6B6B6B"/>
                </a:solidFill>
                <a:latin typeface="Arial"/>
              </a:rPr>
              <a:t>Beza daripada keadaan asas</a:t>
            </a:r>
          </a:p>
          <a:p>
            <a:pPr algn="l" lvl="1"/>
            <a:r>
              <a:rPr sz="1000" b="0" i="0">
                <a:solidFill>
                  <a:srgbClr val="1A1A1A"/>
                </a:solidFill>
                <a:latin typeface="Arial"/>
              </a:rPr>
              <a:t>Markah dipaparkan selepas item kelima.</a:t>
            </a:r>
          </a:p>
          <a:p>
            <a:pPr algn="l"/>
            <a:r>
              <a:rPr sz="1000" b="1" i="0">
                <a:solidFill>
                  <a:srgbClr val="6B6B6B"/>
                </a:solidFill>
                <a:latin typeface="Arial"/>
              </a:rPr>
              <a:t>Cara pelajar kembali / meneruskan</a:t>
            </a:r>
          </a:p>
          <a:p>
            <a:pPr algn="l" lvl="1"/>
            <a:r>
              <a:rPr sz="1000" b="0" i="0">
                <a:solidFill>
                  <a:srgbClr val="1A1A1A"/>
                </a:solidFill>
                <a:latin typeface="Arial"/>
              </a:rPr>
              <a:t>Keadaan akhir bagi skrin ini. Pelajar meneruskan dengan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A7</a:t>
            </a:r>
          </a:p>
        </p:txBody>
      </p:sp>
      <p:sp>
        <p:nvSpPr>
          <p:cNvPr id="10" name="TextBox 9"/>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3 panel/halaman · halaman 15 daripada 15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