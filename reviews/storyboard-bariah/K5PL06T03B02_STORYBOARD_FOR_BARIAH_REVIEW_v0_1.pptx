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301" r:id="rId101"/>
    <p:sldId id="9302" r:id="rId102"/>
    <p:sldId id="9303" r:id="rId103"/>
    <p:sldId id="9304" r:id="rId104"/>
    <p:sldId id="9305" r:id="rId105"/>
    <p:sldId id="9306" r:id="rId106"/>
    <p:sldId id="9307" r:id="rId107"/>
    <p:sldId id="9308" r:id="rId108"/>
    <p:sldId id="9309" r:id="rId109"/>
    <p:sldId id="9310" r:id="rId110"/>
    <p:sldId id="9311" r:id="rId111"/>
    <p:sldId id="9312" r:id="rId112"/>
    <p:sldId id="9313" r:id="rId113"/>
    <p:sldId id="9314" r:id="rId114"/>
    <p:sldId id="9315" r:id="rId115"/>
    <p:sldId id="9316" r:id="rId116"/>
    <p:sldId id="9317" r:id="rId117"/>
    <p:sldId id="9318" r:id="rId118"/>
    <p:sldId id="9319"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S01 — TAJUK</a:t>
            </a:r>
          </a:p>
          <a:p>
            <a:endParaRPr lang="en-MY" dirty="0"/>
          </a:p>
          <a:p>
            <a:r>
              <a:rPr lang="en-MY" dirty="0"/>
              <a:t>VO PENUH:</a:t>
            </a:r>
          </a:p>
          <a:p>
            <a:r>
              <a:rPr lang="en-MY" dirty="0"/>
              <a:t>Selamat datang ke Topik 3 Bahagian 2, Komponen Landskap. Dalam bahagian ini kita akan meneliti dua kumpulan komponen yang membentuk sesebuah ruang landskap, iaitu struktur taman dan perabot taman.</a:t>
            </a:r>
          </a:p>
          <a:p>
            <a:endParaRPr lang="en-MY" dirty="0"/>
          </a:p>
          <a:p>
            <a:r>
              <a:rPr lang="en-MY" dirty="0"/>
              <a:t>NOTA: VO skrin tajuk adalah cadangan dan belum diluluskan. Rujuk D-04.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S02 — DIALOG (cadangan)</a:t>
            </a:r>
          </a:p>
          <a:p>
            <a:endParaRPr lang="en-MY" dirty="0"/>
          </a:p>
          <a:p>
            <a:r>
              <a:rPr lang="en-MY" dirty="0"/>
              <a:t>VO PENUH:</a:t>
            </a:r>
          </a:p>
          <a:p>
            <a:r>
              <a:rPr lang="en-MY" dirty="0"/>
              <a:t>[PELATIH] Encik, kerja tanaman di tapak ini dah siap. Apa lagi yang tinggal?</a:t>
            </a:r>
          </a:p>
          <a:p>
            <a:r>
              <a:rPr lang="en-MY" dirty="0"/>
              <a:t>[PENYELIA TAPAK] Tinggal komponen binaan. Dua kumpulan — struktur taman dan perabot taman.</a:t>
            </a:r>
          </a:p>
          <a:p>
            <a:r>
              <a:rPr lang="en-MY" dirty="0"/>
              <a:t>[PELATIH] Kedua-duanya sama sahaja?</a:t>
            </a:r>
          </a:p>
          <a:p>
            <a:r>
              <a:rPr lang="en-MY" dirty="0"/>
              <a:t>[PENYELIA TAPAK] Tidak. Struktur taman ialah binaan seperti dek, teduhan dan kemudahan awam. Perabot taman ialah kelengkapan seperti kerusi, papan tanda dan tong sampah. Fungsi dan kaedah pemasangannya berbeza.</a:t>
            </a:r>
          </a:p>
          <a:p>
            <a:r>
              <a:rPr lang="en-MY" dirty="0"/>
              <a:t>[PELATIH] Jadi saya perlu tahu bezanya sebelum merancang kerja.</a:t>
            </a:r>
          </a:p>
          <a:p>
            <a:endParaRPr lang="en-MY" dirty="0"/>
          </a:p>
          <a:p>
            <a:r>
              <a:rPr lang="en-MY" dirty="0"/>
              <a:t>NOTA: Keseluruhan dialog ini adalah CADANGAN untuk semakan Bariah.</a:t>
            </a:r>
          </a:p>
          <a:p>
            <a:r>
              <a:rPr lang="en-MY" dirty="0"/>
              <a:t>Tiada watak bernama digunakan. Cast Bible peringkat kursus masih OPEN.</a:t>
            </a:r>
          </a:p>
          <a:p>
            <a:r>
              <a:rPr lang="en-MY" dirty="0"/>
              <a:t>Rujuk BARIAH_REVIEW_DECISION_LIST D-01 (senario dan kaset).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S03 — GAMBARAN KESELURUHAN (cadangan)</a:t>
            </a:r>
          </a:p>
          <a:p>
            <a:endParaRPr lang="en-MY" dirty="0"/>
          </a:p>
          <a:p>
            <a:r>
              <a:rPr lang="en-MY" dirty="0"/>
              <a:t>VO PENUH:</a:t>
            </a:r>
          </a:p>
          <a:p>
            <a:r>
              <a:rPr lang="en-MY" dirty="0"/>
              <a:t>Bahagian ini memperkenalkan dua kumpulan komponen landskap. Yang pertama ialah struktur taman, iaitu binaan yang membentuk fungsi dan estetika sesebuah ruang landskap. Ia merangkumi struktur persisir air, struktur teduhan, kemudahan awam dan water feature. Yang kedua ialah perabot taman, iaitu kelengkapan yang menyokong keselesaan dan kegunaan harian pengguna. Ia merangkumi kerusi taman, papan tanda, tong sampah, drinking fountain dan BBQ pit. Setiap komponen akan diteroka satu persatu.</a:t>
            </a:r>
          </a:p>
          <a:p>
            <a:endParaRPr lang="en-MY" dirty="0"/>
          </a:p>
          <a:p>
            <a:r>
              <a:rPr lang="en-MY" dirty="0"/>
              <a:t>NOTA: Hilmi diperkenalkan SECARA VISUAL sahaja. Tiada awalan "Hilmi:" pada VO.</a:t>
            </a:r>
          </a:p>
          <a:p>
            <a:r>
              <a:rPr lang="en-MY" dirty="0"/>
              <a:t>Kandungan gambaran keseluruhan adalah CADANGAN — rujuk D-02.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S04 — KAD INDUK — Struktur Taman</a:t>
            </a:r>
          </a:p>
          <a:p>
            <a:endParaRPr lang="en-MY" dirty="0"/>
          </a:p>
          <a:p>
            <a:r>
              <a:rPr lang="en-MY" dirty="0"/>
              <a:t>VO PENUH:</a:t>
            </a:r>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a:p>
            <a:endParaRPr lang="en-MY" dirty="0"/>
          </a:p>
          <a:p>
            <a:r>
              <a:rPr lang="en-MY" dirty="0"/>
              <a:t>Sumber: modul ms 237 (3.3.). VO disahkan terhadap probe notesSlide4.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S05 — PERINCIAN — Struktur Persisir Air</a:t>
            </a:r>
          </a:p>
          <a:p>
            <a:endParaRPr lang="en-MY" dirty="0"/>
          </a:p>
          <a:p>
            <a:r>
              <a:rPr lang="en-MY" dirty="0"/>
              <a:t>VO PENUH:</a:t>
            </a:r>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Jenisnya termasuk Promenade, Jeti, Dek Kayu, Boardwalk dan Footbridge.</a:t>
            </a:r>
          </a:p>
          <a:p>
            <a:endParaRPr lang="en-MY" dirty="0"/>
          </a:p>
          <a:p>
            <a:r>
              <a:rPr lang="en-MY" dirty="0"/>
              <a:t>Sumber: Modul ms 238 (fizikal 257) - 3.3.1 Struktur Persisir Air.</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S06 — PERINCIAN — Struktur Teduhan</a:t>
            </a:r>
          </a:p>
          <a:p>
            <a:endParaRPr lang="en-MY" dirty="0"/>
          </a:p>
          <a:p>
            <a:r>
              <a:rPr lang="en-MY" dirty="0"/>
              <a:t>VO PENUH:</a:t>
            </a:r>
          </a:p>
          <a:p>
            <a:r>
              <a:rPr lang="en-MY" dirty="0"/>
              <a:t>Struktur teduhan seperti Gazebo, Wakaf dan Pergola direka untuk memberikan perlindungan daripada matahari dan hujan, mewujudkan ruang yang selesa untuk bersantai atau berinteraksi. Wakaf ialah struktur tradisional Melayu yang digunakan sebagai tempat berehat, manakala Pergola ialah rangka struktur terbuka yang biasanya ditumbuhi tanaman pemanjat. Struktur teduhan moden menggunakan bahan seperti keluli dan panel lutsinar atau berlubang untuk mencipta corak cahaya dan bayangan.</a:t>
            </a:r>
          </a:p>
          <a:p>
            <a:endParaRPr lang="en-MY" dirty="0"/>
          </a:p>
          <a:p>
            <a:r>
              <a:rPr lang="en-MY" dirty="0"/>
              <a:t>Sumber: Modul ms 239 (fizikal 258) - 3.3.2 Struktur Teduhan.</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S07 — PERINCIAN — Kemudahan Awam</a:t>
            </a:r>
          </a:p>
          <a:p>
            <a:endParaRPr lang="en-MY" dirty="0"/>
          </a:p>
          <a:p>
            <a:r>
              <a:rPr lang="en-MY" dirty="0"/>
              <a:t>VO PENUH:</a:t>
            </a:r>
          </a:p>
          <a:p>
            <a:r>
              <a:rPr lang="en-MY" dirty="0"/>
              <a:t>Kemudahan awam seperti tandas, surau dan bangunan interpretatif adalah bangunan atau struktur yang menyediakan perkhidmatan asas untuk keselesaan dan pendidikan pengguna taman. Ia memerlukan reka bentuk yang berfungsi, tahan lasak, dan mudah diselenggara. Aksesibiliti untuk OKU adalah pertimbangan penting, dan bahan yang digunakan harus tahan vandalisme dan cuaca.</a:t>
            </a:r>
          </a:p>
          <a:p>
            <a:endParaRPr lang="en-MY" dirty="0"/>
          </a:p>
          <a:p>
            <a:r>
              <a:rPr lang="en-MY" dirty="0"/>
              <a:t>Sumber: Modul ms 240 (fizikal 259) - 3.3.3 Kemudahan Awam.</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S08 — PERINCIAN — Water Feature</a:t>
            </a:r>
          </a:p>
          <a:p>
            <a:endParaRPr lang="en-MY" dirty="0"/>
          </a:p>
          <a:p>
            <a:r>
              <a:rPr lang="en-MY" dirty="0"/>
              <a:t>VO PENUH:</a:t>
            </a:r>
          </a:p>
          <a:p>
            <a:r>
              <a:rPr lang="en-MY" dirty="0"/>
              <a:t>Ciri air adalah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a:t>
            </a:r>
          </a:p>
          <a:p>
            <a:endParaRPr lang="en-MY" dirty="0"/>
          </a:p>
          <a:p>
            <a:r>
              <a:rPr lang="en-MY" dirty="0"/>
              <a:t>Sumber: Modul ms 241 (fizikal 260) - 3.3.4 Water Feature.</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S09 — STATE SELESAI bagi S04</a:t>
            </a:r>
          </a:p>
          <a:p>
            <a:endParaRPr lang="en-MY" dirty="0"/>
          </a:p>
          <a:p>
            <a:r>
              <a:rPr lang="en-MY" dirty="0"/>
              <a:t>VO PENUH:</a:t>
            </a:r>
          </a:p>
          <a:p>
            <a:r>
              <a:rPr lang="en-MY" dirty="0"/>
              <a:t>[VO SENGAJA KOSONG — konvensyen state selesai. Bukan VO yang hilang.]</a:t>
            </a:r>
          </a:p>
          <a:p>
            <a:endParaRPr lang="en-MY" dirty="0"/>
          </a:p>
          <a:p>
            <a:r>
              <a:rPr lang="en-MY" dirty="0"/>
              <a:t>Konvensyen ini disahkan pada probe (notesSlide6, 0 aksara).</a:t>
            </a:r>
          </a:p>
          <a:p>
            <a:r>
              <a:rPr lang="en-MY" dirty="0"/>
              <a:t>Untuk pengesahan Bariah — rujuk D-09.</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S10 — KAD INDUK — Perabot Taman</a:t>
            </a:r>
          </a:p>
          <a:p>
            <a:endParaRPr lang="en-MY" dirty="0"/>
          </a:p>
          <a:p>
            <a:r>
              <a:rPr lang="en-MY" dirty="0"/>
              <a:t>VO PENUH:</a:t>
            </a:r>
          </a:p>
          <a:p>
            <a:r>
              <a:rPr lang="en-MY" dirty="0"/>
              <a:t>Perabot taman ialah kelengkapan yang menyokong keselesaan dan kegunaan harian pengguna dalam sesebuah ruang landskap. Terdapat lima jenis perabot taman yang diteliti dalam bahagian ini: Kerusi Taman, Papan Tanda, Tong Sampah, Drinking Fountain dan BBQ pit.</a:t>
            </a:r>
          </a:p>
          <a:p>
            <a:endParaRPr lang="en-MY" dirty="0"/>
          </a:p>
          <a:p>
            <a:r>
              <a:rPr lang="en-MY" dirty="0"/>
              <a:t>NOTA: VO ini adalah CADANGAN, dibina daripada nama item yang diukur pada modul ms 242.</a:t>
            </a:r>
          </a:p>
          <a:p>
            <a:r>
              <a:rPr lang="en-MY" dirty="0"/>
              <a:t>Ia bukan petikan verbatim daripada modul. Rujuk D-04.</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S11 — PERINCIAN — Kerusi Taman</a:t>
            </a:r>
          </a:p>
          <a:p>
            <a:endParaRPr lang="en-MY" dirty="0"/>
          </a:p>
          <a:p>
            <a:r>
              <a:rPr lang="en-MY" dirty="0"/>
              <a:t>VO PENUH:</a:t>
            </a:r>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endParaRPr lang="en-MY" dirty="0"/>
          </a:p>
          <a:p>
            <a:r>
              <a:rPr lang="en-MY" dirty="0"/>
              <a:t>Sumber: Modul ms 242 (fizikal 261) - 3.4.1 Kerusi Taman.</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S12 — PERINCIAN — Papan Tanda</a:t>
            </a:r>
          </a:p>
          <a:p>
            <a:endParaRPr lang="en-MY" dirty="0"/>
          </a:p>
          <a:p>
            <a:r>
              <a:rPr lang="en-MY" dirty="0"/>
              <a:t>VO PENUH:</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a:p>
            <a:endParaRPr lang="en-MY" dirty="0"/>
          </a:p>
          <a:p>
            <a:r>
              <a:rPr lang="en-MY" dirty="0"/>
              <a:t>Sumber: Modul ms 243 (fizikal 262) - 3.4.1 Papan Tanda.</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S13 — PERINCIAN — Tong Sampah</a:t>
            </a:r>
          </a:p>
          <a:p>
            <a:endParaRPr lang="en-MY" dirty="0"/>
          </a:p>
          <a:p>
            <a:r>
              <a:rPr lang="en-MY" dirty="0"/>
              <a:t>VO PENUH:</a:t>
            </a:r>
          </a:p>
          <a:p>
            <a:r>
              <a:rPr lang="en-MY" dirty="0"/>
              <a:t>Tong sampah adalah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endParaRPr lang="en-MY" dirty="0"/>
          </a:p>
          <a:p>
            <a:r>
              <a:rPr lang="en-MY" dirty="0"/>
              <a:t>Sumber: Modul ms 245 (fizikal 264) - 3.4.1 Tong Sampah.</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S14 — PERINCIAN — Drinking Fountain</a:t>
            </a:r>
          </a:p>
          <a:p>
            <a:endParaRPr lang="en-MY" dirty="0"/>
          </a:p>
          <a:p>
            <a:r>
              <a:rPr lang="en-MY" dirty="0"/>
              <a:t>VO PENUH:</a:t>
            </a:r>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endParaRPr lang="en-MY" dirty="0"/>
          </a:p>
          <a:p>
            <a:r>
              <a:rPr lang="en-MY" dirty="0"/>
              <a:t>Sumber: Modul ms 247 (fizikal 266) - 3.4.2 Drinking Fountain.</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S15 — PERINCIAN — BBQ pit</a:t>
            </a:r>
          </a:p>
          <a:p>
            <a:endParaRPr lang="en-MY" dirty="0"/>
          </a:p>
          <a:p>
            <a:r>
              <a:rPr lang="en-MY" dirty="0"/>
              <a:t>VO PENUH:</a:t>
            </a:r>
          </a:p>
          <a:p>
            <a:r>
              <a:rPr lang="en-MY" dirty="0"/>
              <a:t>BBQ pit atau kawasan barbeku menyediakan kemudahan untuk aktiviti memasak dan bersosial di luar. Biasanya ia dibina daripada bata, blok konkrit, atau batu tahan api. Ia memerlukan reka bentuk yang selamat untuk mengandungi api, dengan ruang untuk memanggang dan seringkali kawasan kerja yang berdekatan. Saliran yang baik dan jarak selamat dari bahan mudah terbakar adalah kritikal.</a:t>
            </a:r>
          </a:p>
          <a:p>
            <a:endParaRPr lang="en-MY" dirty="0"/>
          </a:p>
          <a:p>
            <a:r>
              <a:rPr lang="en-MY" dirty="0"/>
              <a:t>Sumber: Modul ms 249 (fizikal 268) - 3.4.3 BBQ pit.</a:t>
            </a:r>
          </a:p>
          <a:p>
            <a:r>
              <a:rPr lang="en-MY" dirty="0"/>
              <a:t>Teks paparan diringkaskan; VO membawa ayat sumber yang lebih penuh.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S16 — STATE SELESAI bagi S10</a:t>
            </a:r>
          </a:p>
          <a:p>
            <a:endParaRPr lang="en-MY" dirty="0"/>
          </a:p>
          <a:p>
            <a:r>
              <a:rPr lang="en-MY" dirty="0"/>
              <a:t>VO PENUH:</a:t>
            </a:r>
          </a:p>
          <a:p>
            <a:r>
              <a:rPr lang="en-MY" dirty="0"/>
              <a:t>[VO SENGAJA KOSONG — konvensyen state selesai. Bukan VO yang hilang.]</a:t>
            </a:r>
          </a:p>
          <a:p>
            <a:endParaRPr lang="en-MY" dirty="0"/>
          </a:p>
          <a:p>
            <a:r>
              <a:rPr lang="en-MY" dirty="0"/>
              <a:t>Untuk pengesahan Bariah — rujuk D-09.</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S17 — RUMUSAN</a:t>
            </a:r>
          </a:p>
          <a:p>
            <a:endParaRPr lang="en-MY" dirty="0"/>
          </a:p>
          <a:p>
            <a:r>
              <a:rPr lang="en-MY" dirty="0"/>
              <a:t>VO PENUH:</a:t>
            </a:r>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a:p>
            <a:endParaRPr lang="en-MY" dirty="0"/>
          </a:p>
          <a:p>
            <a:r>
              <a:rPr lang="en-MY" dirty="0"/>
              <a:t>Klausa manfaat terakhir dibina mengikut pertimbangan dan tidak boleh disahkan secara mekanikal.</a:t>
            </a:r>
          </a:p>
          <a:p>
            <a:r>
              <a:rPr lang="en-MY" dirty="0"/>
              <a:t>Rujuk D-05.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S18 — KUIZ (draf)</a:t>
            </a:r>
          </a:p>
          <a:p>
            <a:endParaRPr lang="en-MY" dirty="0"/>
          </a:p>
          <a:p>
            <a:r>
              <a:rPr lang="en-MY" dirty="0"/>
              <a:t>VO PENUH:</a:t>
            </a:r>
          </a:p>
          <a:p>
            <a:r>
              <a:rPr lang="en-MY" dirty="0"/>
              <a:t>Sekarang mari kita uji kefahaman anda. Terdapat lima soalan berdasarkan komponen landskap yang baru kita teliti. Empat soalan pertama adalah aneka pilihan dengan satu jawapan sahaja. Soalan kelima memerlukan anda memilih lebih daripada satu jawapan. Baca setiap soalan dengan teliti sebelum menghantar jawapan anda.</a:t>
            </a:r>
          </a:p>
          <a:p>
            <a:r>
              <a:rPr lang="en-MY" dirty="0"/>
              <a:t>[Teks soalan dan pilihan dibaca pada skrin. Tiada VO berasingan bagi setiap item; maklum balas dipaparkan sebagai teks.]</a:t>
            </a:r>
          </a:p>
          <a:p>
            <a:endParaRPr lang="en-MY" dirty="0"/>
          </a:p>
          <a:p>
            <a:r>
              <a:rPr lang="en-MY" dirty="0"/>
              <a:t>DRAFT_FOR_BARIAH_REVIEW — kandungan penilaian ini adalah DRAF.</a:t>
            </a:r>
          </a:p>
          <a:p>
            <a:r>
              <a:rPr lang="en-MY" dirty="0"/>
              <a:t>Modul tidak membawa bank soalan. Item dibina daripada kandungan sumber ms 238-249.</a:t>
            </a:r>
          </a:p>
          <a:p>
            <a:endParaRPr lang="en-MY" dirty="0"/>
          </a:p>
          <a:p>
            <a:r>
              <a:rPr lang="en-MY" dirty="0"/>
              <a:t>BANK ITEM PENUH:</a:t>
            </a:r>
          </a:p>
          <a:p>
            <a:endParaRPr lang="en-MY" dirty="0"/>
          </a:p>
          <a:p>
            <a:r>
              <a:rPr lang="en-MY" dirty="0"/>
              <a:t>Soalan 1 — MCQ   (sumber: modul ms 238 (3.3.1))</a:t>
            </a:r>
          </a:p>
          <a:p>
            <a:r>
              <a:rPr lang="en-MY" dirty="0"/>
              <a:t>Soalan: Struktur persisir air dibina di tepi badan air seperti tasik, sungai atau pantai. Apakah keperluan pembinaan yang paling kritikal bagi struktur ini?</a:t>
            </a:r>
          </a:p>
          <a:p>
            <a:r>
              <a:rPr lang="en-MY" dirty="0"/>
              <a:t>   A. Warna permukaan yang menarik</a:t>
            </a:r>
          </a:p>
          <a:p>
            <a:r>
              <a:rPr lang="en-MY" dirty="0"/>
              <a:t>   B. Asas yang stabil dan rata dengan saliran permukaan yang berkesan</a:t>
            </a:r>
          </a:p>
          <a:p>
            <a:r>
              <a:rPr lang="en-MY" dirty="0"/>
              <a:t>   C. Ketinggian struktur melebihi dua meter</a:t>
            </a:r>
          </a:p>
          <a:p>
            <a:r>
              <a:rPr lang="en-MY" dirty="0"/>
              <a:t>   D. Penggunaan bahan import</a:t>
            </a:r>
          </a:p>
          <a:p>
            <a:r>
              <a:rPr lang="en-MY" dirty="0"/>
              <a:t>Jawapan betul: B</a:t>
            </a:r>
          </a:p>
          <a:p>
            <a:r>
              <a:rPr lang="en-MY" dirty="0"/>
              <a:t>Maklum balas serta-merta (betul): Betul. Persekitaran lembap dan berpotensi hakisan memerlukan asas yang stabil dan rata, serta saliran permukaan yang berkesan.</a:t>
            </a:r>
          </a:p>
          <a:p>
            <a:r>
              <a:rPr lang="en-MY" dirty="0"/>
              <a:t>Maklum balas serta-merta (salah): Belum tepat. Rujuk semula Struktur Persisir Air — asas yang stabil dan saliran permukaan yang berkesan adalah keperluan kritikal.</a:t>
            </a:r>
          </a:p>
          <a:p>
            <a:endParaRPr lang="en-MY" dirty="0"/>
          </a:p>
          <a:p>
            <a:r>
              <a:rPr lang="en-MY" dirty="0"/>
              <a:t>Soalan 2 — MCQ   (sumber: modul ms 239 (3.3.2))</a:t>
            </a:r>
          </a:p>
          <a:p>
            <a:r>
              <a:rPr lang="en-MY" dirty="0"/>
              <a:t>Soalan: Manakah antara berikut merupakan struktur teduhan tradisional Melayu yang digunakan sebagai tempat berehat?</a:t>
            </a:r>
          </a:p>
          <a:p>
            <a:r>
              <a:rPr lang="en-MY" dirty="0"/>
              <a:t>   A. Pergola</a:t>
            </a:r>
          </a:p>
          <a:p>
            <a:r>
              <a:rPr lang="en-MY" dirty="0"/>
              <a:t>   B. Canopy</a:t>
            </a:r>
          </a:p>
          <a:p>
            <a:r>
              <a:rPr lang="en-MY" dirty="0"/>
              <a:t>   C. Wakaf</a:t>
            </a:r>
          </a:p>
          <a:p>
            <a:r>
              <a:rPr lang="en-MY" dirty="0"/>
              <a:t>   D. Gazebo</a:t>
            </a:r>
          </a:p>
          <a:p>
            <a:r>
              <a:rPr lang="en-MY" dirty="0"/>
              <a:t>Jawapan betul: C</a:t>
            </a:r>
          </a:p>
          <a:p>
            <a:r>
              <a:rPr lang="en-MY" dirty="0"/>
              <a:t>Maklum balas serta-merta (betul): Betul. Wakaf ialah struktur tradisional Melayu yang digunakan sebagai tempat berehat.</a:t>
            </a:r>
          </a:p>
          <a:p>
            <a:r>
              <a:rPr lang="en-MY" dirty="0"/>
              <a:t>Maklum balas serta-merta (salah): Belum tepat. Pergola ialah rangka struktur terbuka yang ditumbuhi tanaman pemanjat. Wakaf ialah struktur tradisional Melayu.</a:t>
            </a:r>
          </a:p>
          <a:p>
            <a:endParaRPr lang="en-MY" dirty="0"/>
          </a:p>
          <a:p>
            <a:r>
              <a:rPr lang="en-MY" dirty="0"/>
              <a:t>Soalan 3 — MCQ   (sumber: modul ms 240 (3.3.3))</a:t>
            </a:r>
          </a:p>
          <a:p>
            <a:r>
              <a:rPr lang="en-MY" dirty="0"/>
              <a:t>Soalan: Apakah pertimbangan utama dalam pemilihan bahan bagi kemudahan awam seperti tandas dan surau di taman?</a:t>
            </a:r>
          </a:p>
          <a:p>
            <a:r>
              <a:rPr lang="en-MY" dirty="0"/>
              <a:t>   A. Bahan yang tahan vandalisme dan cuaca</a:t>
            </a:r>
          </a:p>
          <a:p>
            <a:r>
              <a:rPr lang="en-MY" dirty="0"/>
              <a:t>   B. Bahan yang paling murah di pasaran</a:t>
            </a:r>
          </a:p>
          <a:p>
            <a:r>
              <a:rPr lang="en-MY" dirty="0"/>
              <a:t>   C. Bahan yang perlu dicat semula setiap bulan</a:t>
            </a:r>
          </a:p>
          <a:p>
            <a:r>
              <a:rPr lang="en-MY" dirty="0"/>
              <a:t>   D. Bahan yang seragam dengan perabot taman</a:t>
            </a:r>
          </a:p>
          <a:p>
            <a:r>
              <a:rPr lang="en-MY" dirty="0"/>
              <a:t>Jawapan betul: A</a:t>
            </a:r>
          </a:p>
          <a:p>
            <a:r>
              <a:rPr lang="en-MY" dirty="0"/>
              <a:t>Maklum balas serta-merta (betul): Betul. Kemudahan awam memerlukan bahan yang tahan vandalisme dan cuaca, serta mudah diselenggara.</a:t>
            </a:r>
          </a:p>
          <a:p>
            <a:r>
              <a:rPr lang="en-MY" dirty="0"/>
              <a:t>Maklum balas serta-merta (salah): Belum tepat. Rujuk semula Kemudahan Awam — ketahanan terhadap vandalisme dan cuaca adalah pertimbangan utama.</a:t>
            </a:r>
          </a:p>
          <a:p>
            <a:endParaRPr lang="en-MY" dirty="0"/>
          </a:p>
          <a:p>
            <a:r>
              <a:rPr lang="en-MY" dirty="0"/>
              <a:t>Soalan 4 — MCQ   (sumber: modul ms 241 (3.3.4))</a:t>
            </a:r>
          </a:p>
          <a:p>
            <a:r>
              <a:rPr lang="en-MY" dirty="0"/>
              <a:t>Soalan: Dalam pembinaan water feature, apakah aspek kawalan kualiti air yang dinyatakan dalam modul?</a:t>
            </a:r>
          </a:p>
          <a:p>
            <a:r>
              <a:rPr lang="en-MY" dirty="0"/>
              <a:t>   A. Penambahan garam</a:t>
            </a:r>
          </a:p>
          <a:p>
            <a:r>
              <a:rPr lang="en-MY" dirty="0"/>
              <a:t>   B. Pencegahan alga</a:t>
            </a:r>
          </a:p>
          <a:p>
            <a:r>
              <a:rPr lang="en-MY" dirty="0"/>
              <a:t>   C. Pemanasan air</a:t>
            </a:r>
          </a:p>
          <a:p>
            <a:r>
              <a:rPr lang="en-MY" dirty="0"/>
              <a:t>   D. Pewarnaan air</a:t>
            </a:r>
          </a:p>
          <a:p>
            <a:r>
              <a:rPr lang="en-MY" dirty="0"/>
              <a:t>Jawapan betul: B</a:t>
            </a:r>
          </a:p>
          <a:p>
            <a:r>
              <a:rPr lang="en-MY" dirty="0"/>
              <a:t>Maklum balas serta-merta (betul): Betul. Kawalan kualiti air termasuk pencegahan alga.</a:t>
            </a:r>
          </a:p>
          <a:p>
            <a:r>
              <a:rPr lang="en-MY" dirty="0"/>
              <a:t>Maklum balas serta-merta (salah): Belum tepat. Pencegahan alga adalah sebahagian daripada kawalan kualiti air bagi water feature.</a:t>
            </a:r>
          </a:p>
          <a:p>
            <a:endParaRPr lang="en-MY" dirty="0"/>
          </a:p>
          <a:p>
            <a:r>
              <a:rPr lang="en-MY" dirty="0"/>
              <a:t>Soalan 5 — MULTIPLE RESPONSE   (sumber: modul ms 242-249 (3.4.1-3.4.3))</a:t>
            </a:r>
          </a:p>
          <a:p>
            <a:r>
              <a:rPr lang="en-MY" dirty="0"/>
              <a:t>Soalan: Pilih SEMUA komponen yang tergolong dalam Perabot Taman.</a:t>
            </a:r>
          </a:p>
          <a:p>
            <a:r>
              <a:rPr lang="en-MY" dirty="0"/>
              <a:t>   A. Kerusi Taman</a:t>
            </a:r>
          </a:p>
          <a:p>
            <a:r>
              <a:rPr lang="en-MY" dirty="0"/>
              <a:t>   B. Papan Tanda</a:t>
            </a:r>
          </a:p>
          <a:p>
            <a:r>
              <a:rPr lang="en-MY" dirty="0"/>
              <a:t>   C. Boardwalk</a:t>
            </a:r>
          </a:p>
          <a:p>
            <a:r>
              <a:rPr lang="en-MY" dirty="0"/>
              <a:t>   D. Tong Sampah</a:t>
            </a:r>
          </a:p>
          <a:p>
            <a:r>
              <a:rPr lang="en-MY" dirty="0"/>
              <a:t>   E. Drinking Fountain</a:t>
            </a:r>
          </a:p>
          <a:p>
            <a:r>
              <a:rPr lang="en-MY" dirty="0"/>
              <a:t>   F. BBQ pit</a:t>
            </a:r>
          </a:p>
          <a:p>
            <a:r>
              <a:rPr lang="en-MY" dirty="0"/>
              <a:t>   G. Gazebo</a:t>
            </a:r>
          </a:p>
          <a:p>
            <a:r>
              <a:rPr lang="en-MY" dirty="0"/>
              <a:t>Jawapan betul: A, B, D, E, F</a:t>
            </a:r>
          </a:p>
          <a:p>
            <a:r>
              <a:rPr lang="en-MY" dirty="0"/>
              <a:t>Maklum balas serta-merta (betul): Betul. Perabot taman merangkumi Kerusi Taman, Papan Tanda, Tong Sampah, Drinking Fountain dan BBQ pit.</a:t>
            </a:r>
          </a:p>
          <a:p>
            <a:r>
              <a:rPr lang="en-MY" dirty="0"/>
              <a:t>Maklum balas serta-merta (salah): Belum tepat. Boardwalk ialah struktur persisir air dan Gazebo ialah struktur teduhan — kedua-duanya struktur taman, bukan perabot taman.</a:t>
            </a:r>
          </a:p>
          <a:p>
            <a:endParaRPr lang="en-MY" dirty="0"/>
          </a:p>
          <a:p>
            <a:r>
              <a:rPr lang="en-MY" dirty="0"/>
              <a:t>ANDAIAN LALUAN (belum diputuskan, bukan keputusan CAIR):</a:t>
            </a:r>
          </a:p>
          <a:p>
            <a:r>
              <a:rPr lang="en-MY" dirty="0"/>
              <a:t>  Markah lulus: BELUM DITETAPKAN.</a:t>
            </a:r>
          </a:p>
          <a:p>
            <a:r>
              <a:rPr lang="en-MY" dirty="0"/>
              <a:t>  Bilangan cubaan: BELUM DITETAPKAN.</a:t>
            </a:r>
          </a:p>
          <a:p>
            <a:r>
              <a:rPr lang="en-MY" dirty="0"/>
              <a:t>  Laluan gagal: BELUM DITETAPKAN.</a:t>
            </a:r>
          </a:p>
          <a:p>
            <a:r>
              <a:rPr lang="en-MY" dirty="0"/>
              <a:t>  Rujuk D-10.</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PAPAN CERITA — STORYBOARD_REVIEW_DRAFT · PENDING_BARIAH_APPROVAL</a:t>
            </a:r>
          </a:p>
          <a:p>
            <a:endParaRPr lang="en-MY" dirty="0"/>
          </a:p>
          <a:p>
            <a:r>
              <a:rPr lang="en-MY" dirty="0"/>
              <a:t>S19 — TAMAT BAHAGIAN (cadangan)</a:t>
            </a:r>
          </a:p>
          <a:p>
            <a:endParaRPr lang="en-MY" dirty="0"/>
          </a:p>
          <a:p>
            <a:r>
              <a:rPr lang="en-MY" dirty="0"/>
              <a:t>VO PENUH:</a:t>
            </a:r>
          </a:p>
          <a:p>
            <a:r>
              <a:rPr lang="en-MY" dirty="0"/>
              <a:t>Anda telah melengkapkan Topik 3 Bahagian 2, Komponen Landskap. Struktur taman dan perabot taman telah diteroka sepenuhnya. Sila teruskan ke bahagian seterusnya apabila anda bersedia.</a:t>
            </a:r>
          </a:p>
          <a:p>
            <a:endParaRPr lang="en-MY" dirty="0"/>
          </a:p>
          <a:p>
            <a:r>
              <a:rPr lang="en-MY" dirty="0"/>
              <a:t>NOTA: Kata-kata ini adalah CADANGAN untuk semakan Bariah — rujuk D-11.</a:t>
            </a:r>
          </a:p>
          <a:p>
            <a:r>
              <a:rPr lang="en-MY" dirty="0"/>
              <a:t>ANDAIAN LALUAN (bukan keputusan CAIR):</a:t>
            </a:r>
          </a:p>
          <a:p>
            <a:r>
              <a:rPr lang="en-MY" dirty="0"/>
              <a:t>  A1. Selepas S18 pelajar dihalakan ke S19 tanpa syarat.</a:t>
            </a:r>
          </a:p>
          <a:p>
            <a:r>
              <a:rPr lang="en-MY" dirty="0"/>
              <a:t>  A2. S19 keluar ke bahagian berikutnya dalam urutan Topik 3.</a:t>
            </a:r>
          </a:p>
          <a:p>
            <a:r>
              <a:rPr lang="en-MY" dirty="0"/>
              <a:t>      Kewujudan dan nombor bahagian berikutnya TIDAK disahkan.</a:t>
            </a:r>
          </a:p>
          <a:p>
            <a:r>
              <a:rPr lang="en-MY" dirty="0"/>
              <a:t>  A3. Tiada peraturan ulangan kuiz ditetapkan sebelum S19 dicapai.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S01 · SKRIN TAJUK · pembuka bahagian</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S01 — TAJUK</a:t>
            </a:r>
          </a:p>
          <a:p>
            <a:r>
              <a:rPr lang="en-MY" sz="900" b="1" dirty="0"/>
              <a:t>FUNGSI: Skrin pembuka bahagian. Menetapkan kursus, topik dan bahagian.</a:t>
            </a:r>
          </a:p>
          <a:p>
            <a:r>
              <a:rPr lang="en-MY" sz="900" dirty="0"/>
              <a:t/>
            </a:r>
          </a:p>
          <a:p>
            <a:r>
              <a:rPr lang="en-MY" sz="900" b="1" dirty="0"/>
              <a:t>INTERAKSI:</a:t>
            </a:r>
          </a:p>
          <a:p>
            <a:r>
              <a:rPr lang="en-MY" sz="900" dirty="0"/>
              <a:t>  Tiada interaksi pengguna. Skrin auto-maju selepas VO tamat, atau butang Mula (cadangan).</a:t>
            </a:r>
          </a:p>
          <a:p>
            <a:r>
              <a:rPr lang="en-MY" sz="900" dirty="0"/>
              <a:t/>
            </a:r>
          </a:p>
          <a:p>
            <a:r>
              <a:rPr lang="en-MY" sz="900" b="1" dirty="0"/>
              <a:t>STATE / PERALIHAN:</a:t>
            </a:r>
          </a:p>
          <a:p>
            <a:r>
              <a:rPr lang="en-MY" sz="900" dirty="0"/>
              <a:t>  Satu state sahaja. Peralihan: fade masuk, kemudian ke S02.</a:t>
            </a:r>
          </a:p>
          <a:p>
            <a:r>
              <a:rPr lang="en-MY" sz="900" dirty="0"/>
              <a:t/>
            </a:r>
          </a:p>
          <a:p>
            <a:r>
              <a:rPr lang="en-MY" sz="900" b="1" dirty="0"/>
              <a:t>VISUAL (spesifikasi sahaja — tidak dibenamkan):</a:t>
            </a:r>
          </a:p>
          <a:p>
            <a:r>
              <a:rPr lang="en-MY" sz="900" dirty="0"/>
              <a:t>  [Visual: Imej pembuka bahagian — cadangan foto tapak landskap siap dengan struktur dan perabot taman kelihatan. Belum dipilih.]</a:t>
            </a:r>
          </a:p>
          <a:p>
            <a:r>
              <a:rPr lang="en-MY" sz="900" dirty="0"/>
              <a:t>  Tiada imej sumber modul untuk skrin tajuk. Aset akan ditentukan pada peringkat MMD.</a:t>
            </a:r>
          </a:p>
          <a:p>
            <a:r>
              <a:rPr lang="en-MY" sz="900" dirty="0"/>
              <a:t/>
            </a:r>
          </a:p>
          <a:p>
            <a:r>
              <a:rPr lang="en-MY" sz="900" b="1" dirty="0"/>
              <a:t>SUMBER MODUL:</a:t>
            </a:r>
          </a:p>
          <a:p>
            <a:r>
              <a:rPr lang="en-MY" sz="900" dirty="0"/>
              <a:t>  Tajuk kursus dan topik: rentetan disahkan (probe notes header, keempat-empat skrin).</a:t>
            </a:r>
          </a:p>
          <a:p>
            <a:r>
              <a:rPr lang="en-MY" sz="900" dirty="0"/>
              <a:t>  Tiada halaman modul khusus untuk skrin tajuk.</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Butang Mula belum diputuskan — lihat BARIAH_REVIEW_DECISION_LIST D-08.</a:t>
            </a:r>
          </a:p>
          <a:p>
            <a:r>
              <a:rPr lang="en-MY" sz="900" dirty="0"/>
              <a:t/>
            </a:r>
          </a:p>
          <a:p>
            <a:r>
              <a:rPr lang="en-MY" sz="900" b="1" dirty="0"/>
              <a:t>STATUS KEPUTUSAN:</a:t>
            </a:r>
          </a:p>
          <a:p>
            <a:r>
              <a:rPr lang="en-MY" sz="900" dirty="0"/>
              <a:t>  SOURCE_BOUND_TEXT (tajuk kursus/topik)</a:t>
            </a:r>
          </a:p>
          <a:p>
            <a:r>
              <a:rPr lang="en-MY" sz="900" dirty="0"/>
              <a:t>  Reka bentuk visual: PROPOSED_FOR_BARIAH_REVIEW</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Komponen Landskap</a:t>
            </a:r>
          </a:p>
        </p:txBody>
      </p:sp>
      <p:sp>
        <p:nvSpPr>
          <p:cNvPr id="20" name="TextBox A"/>
          <p:cNvSpPr txBox="1"/>
          <p:nvPr/>
        </p:nvSpPr>
        <p:spPr>
          <a:xfrm>
            <a:off x="723930" y="2148840"/>
            <a:ext cx="10744200" cy="566928"/>
          </a:xfrm>
          <a:prstGeom prst="rect">
            <a:avLst/>
          </a:prstGeom>
          <a:noFill/>
        </p:spPr>
        <p:txBody>
          <a:bodyPr wrap="square">
            <a:noAutofit/>
          </a:bodyPr>
          <a:lstStyle/>
          <a:p>
            <a:pPr algn="ctr"/>
            <a:r>
              <a:rPr lang="en-MY" sz="2800" b="1" dirty="0">
                <a:solidFill>
                  <a:schemeClr val="tx1">
                    <a:lumMod val="85000"/>
                    <a:lumOff val="15000"/>
                  </a:schemeClr>
                </a:solidFill>
              </a:rPr>
              <a:t>PL06: Pengurusan Operasi Pembinaan Landskap</a:t>
            </a:r>
          </a:p>
        </p:txBody>
      </p:sp>
      <p:sp>
        <p:nvSpPr>
          <p:cNvPr id="21" name="TextBox B"/>
          <p:cNvSpPr txBox="1"/>
          <p:nvPr/>
        </p:nvSpPr>
        <p:spPr>
          <a:xfrm>
            <a:off x="723930" y="2834640"/>
            <a:ext cx="10744200" cy="502920"/>
          </a:xfrm>
          <a:prstGeom prst="rect">
            <a:avLst/>
          </a:prstGeom>
          <a:noFill/>
        </p:spPr>
        <p:txBody>
          <a:bodyPr wrap="square">
            <a:noAutofit/>
          </a:bodyPr>
          <a:lstStyle/>
          <a:p>
            <a:pPr algn="ctr"/>
            <a:r>
              <a:rPr lang="en-MY" sz="2200" dirty="0">
                <a:solidFill>
                  <a:schemeClr val="tx1">
                    <a:lumMod val="85000"/>
                    <a:lumOff val="15000"/>
                  </a:schemeClr>
                </a:solidFill>
              </a:rPr>
              <a:t>Topik 3 Bahagian 2: Komponen Landskap</a:t>
            </a:r>
          </a:p>
        </p:txBody>
      </p:sp>
      <p:sp>
        <p:nvSpPr>
          <p:cNvPr id="22" name="Rectangle 9"/>
          <p:cNvSpPr/>
          <p:nvPr/>
        </p:nvSpPr>
        <p:spPr>
          <a:xfrm>
            <a:off x="723930" y="3703320"/>
            <a:ext cx="10744200" cy="14173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 TIDAK DIBENAMKAN</a:t>
            </a:r>
          </a:p>
          <a:p>
            <a:r>
              <a:rPr lang="en-MY" sz="1200" dirty="0">
                <a:solidFill>
                  <a:schemeClr val="tx1">
                    <a:lumMod val="85000"/>
                    <a:lumOff val="15000"/>
                  </a:schemeClr>
                </a:solidFill>
              </a:rPr>
              <a:t>[Visual: Imej pembuka bahagian. Cadangan: foto tapak landskap siap yang</a:t>
            </a:r>
          </a:p>
          <a:p>
            <a:r>
              <a:rPr lang="en-MY" sz="1200" dirty="0">
                <a:solidFill>
                  <a:schemeClr val="tx1">
                    <a:lumMod val="85000"/>
                    <a:lumOff val="15000"/>
                  </a:schemeClr>
                </a:solidFill>
              </a:rPr>
              <a:t>memaparkan struktur taman dan perabot taman dalam satu bingkai.]</a:t>
            </a:r>
          </a:p>
          <a:p>
            <a:r>
              <a:rPr lang="en-MY" sz="1200" dirty="0">
                <a:solidFill>
                  <a:schemeClr val="tx1">
                    <a:lumMod val="85000"/>
                    <a:lumOff val="15000"/>
                  </a:schemeClr>
                </a:solidFill>
              </a:rPr>
              <a:t>Tiada imej modul yang khusus untuk skrin tajuk. Aset belum dipilih.</a:t>
            </a:r>
          </a:p>
        </p:txBody>
      </p:sp>
      <p:sp>
        <p:nvSpPr>
          <p:cNvPr id="23" name="Interact"/>
          <p:cNvSpPr txBox="1"/>
          <p:nvPr/>
        </p:nvSpPr>
        <p:spPr>
          <a:xfrm>
            <a:off x="723930" y="5349240"/>
            <a:ext cx="10744200" cy="411480"/>
          </a:xfrm>
          <a:prstGeom prst="rect">
            <a:avLst/>
          </a:prstGeom>
          <a:noFill/>
        </p:spPr>
        <p:txBody>
          <a:bodyPr wrap="square">
            <a:noAutofit/>
          </a:bodyPr>
          <a:lstStyle/>
          <a:p>
            <a:pPr algn="ctr"/>
            <a:r>
              <a:rPr lang="en-MY" sz="1400" dirty="0">
                <a:solidFill>
                  <a:srgbClr val="7F6000"/>
                </a:solidFill>
              </a:rPr>
              <a:t>Interaksi: tiada. Skrin auto-maju selepas VO.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Dialog</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S02 · SKRIN DIALOG · konteks tapak · PROPOSED_FOR_BARIAH_REVIEW</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S02 — DIALOG</a:t>
            </a:r>
          </a:p>
          <a:p>
            <a:r>
              <a:rPr lang="en-MY" sz="900" b="1" dirty="0"/>
              <a:t>FUNGSI: Menetapkan konteks tapak dan sebab mengapa pembahagian komponen penting kepada kontraktor.</a:t>
            </a:r>
          </a:p>
          <a:p>
            <a:r>
              <a:rPr lang="en-MY" sz="900" dirty="0"/>
              <a:t/>
            </a:r>
          </a:p>
          <a:p>
            <a:r>
              <a:rPr lang="en-MY" sz="900" b="1" dirty="0"/>
              <a:t>INTERAKSI:</a:t>
            </a:r>
          </a:p>
          <a:p>
            <a:r>
              <a:rPr lang="en-MY" sz="900" dirty="0"/>
              <a:t>  Tiada interaksi pengguna. Dialog dimainkan sebagai satu urutan VO dengan penonjolan watak.</a:t>
            </a:r>
          </a:p>
          <a:p>
            <a:r>
              <a:rPr lang="en-MY" sz="900" dirty="0"/>
              <a:t>  Alternatif untuk pertimbangan Bariah: butang Seterusnya untuk setiap giliran dialog.</a:t>
            </a:r>
          </a:p>
          <a:p>
            <a:r>
              <a:rPr lang="en-MY" sz="900" dirty="0"/>
              <a:t/>
            </a:r>
          </a:p>
          <a:p>
            <a:r>
              <a:rPr lang="en-MY" sz="900" b="1" dirty="0"/>
              <a:t>STATE / PERALIHAN:</a:t>
            </a:r>
          </a:p>
          <a:p>
            <a:r>
              <a:rPr lang="en-MY" sz="900" dirty="0"/>
              <a:t>  Lima giliran dialog, ditonjolkan satu demi satu mengikut VO.</a:t>
            </a:r>
          </a:p>
          <a:p>
            <a:r>
              <a:rPr lang="en-MY" sz="900" dirty="0"/>
              <a:t>  Peralihan ke S03 selepas giliran kelima.</a:t>
            </a:r>
          </a:p>
          <a:p>
            <a:r>
              <a:rPr lang="en-MY" sz="900" dirty="0"/>
              <a:t/>
            </a:r>
          </a:p>
          <a:p>
            <a:r>
              <a:rPr lang="en-MY" sz="900" b="1" dirty="0"/>
              <a:t>VISUAL (spesifikasi sahaja — tidak dibenamkan):</a:t>
            </a:r>
          </a:p>
          <a:p>
            <a:r>
              <a:rPr lang="en-MY" sz="900" dirty="0"/>
              <a:t>  [Visual: Latar tapak landskap dalam pembinaan — dua watak berdiri di kawasan</a:t>
            </a:r>
          </a:p>
          <a:p>
            <a:r>
              <a:rPr lang="en-MY" sz="900" dirty="0"/>
              <a:t>  yang sudah ditanam, dengan struktur taman kelihatan di latar belakang.]</a:t>
            </a:r>
          </a:p>
          <a:p>
            <a:r>
              <a:rPr lang="en-MY" sz="900" dirty="0"/>
              <a:t>  Watak: NEUTRAL PERANAN. Tiada nama diberikan.</a:t>
            </a:r>
          </a:p>
          <a:p>
            <a:r>
              <a:rPr lang="en-MY" sz="900" dirty="0"/>
              <a:t>  Cast Bible peringkat kursus masih OPEN — tiada bukti kaset semasa untuk B02.</a:t>
            </a:r>
          </a:p>
          <a:p>
            <a:r>
              <a:rPr lang="en-MY" sz="900" dirty="0"/>
              <a:t/>
            </a:r>
          </a:p>
          <a:p>
            <a:r>
              <a:rPr lang="en-MY" sz="900" b="1" dirty="0"/>
              <a:t>SUMBER MODUL:</a:t>
            </a:r>
          </a:p>
          <a:p>
            <a:r>
              <a:rPr lang="en-MY" sz="900" dirty="0"/>
              <a:t>  Kandungan dialog diterbitkan daripada modul ms 237 dan ms 242</a:t>
            </a:r>
          </a:p>
          <a:p>
            <a:r>
              <a:rPr lang="en-MY" sz="900" dirty="0"/>
              <a:t>  (3.3 Struktur Taman, 3.4 Perabot Taman). Dialog itu sendiri BUKAN teks modul.</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Jika Bariah meluluskan watak bernama, semua rujukan peranan digantikan sekali.</a:t>
            </a:r>
          </a:p>
          <a:p>
            <a:r>
              <a:rPr lang="en-MY" sz="900" dirty="0"/>
              <a:t/>
            </a:r>
          </a:p>
          <a:p>
            <a:r>
              <a:rPr lang="en-MY" sz="900" b="1" dirty="0"/>
              <a:t>STATUS KEPUTUSAN:</a:t>
            </a:r>
          </a:p>
          <a:p>
            <a:r>
              <a:rPr lang="en-MY" sz="900" dirty="0"/>
              <a:t>  PROPOSED_FOR_BARIAH_REVIEW — senario, bilangan giliran dan kaset.</a:t>
            </a:r>
          </a:p>
          <a:p>
            <a:r>
              <a:rPr lang="en-MY" sz="900" dirty="0"/>
              <a:t>  Keputusan casting pada meja PL06 s02 masih KOSONG.</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Dialog</a:t>
            </a:r>
          </a:p>
        </p:txBody>
      </p:sp>
      <p:sp>
        <p:nvSpPr>
          <p:cNvPr id="19" name="Rectangle 9"/>
          <p:cNvSpPr/>
          <p:nvPr/>
        </p:nvSpPr>
        <p:spPr>
          <a:xfrm>
            <a:off x="723930" y="1463040"/>
            <a:ext cx="10744200" cy="91440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 TIDAK DIBENAMKAN</a:t>
            </a:r>
          </a:p>
          <a:p>
            <a:r>
              <a:rPr lang="en-MY" sz="1200" dirty="0">
                <a:solidFill>
                  <a:schemeClr val="tx1">
                    <a:lumMod val="85000"/>
                    <a:lumOff val="15000"/>
                  </a:schemeClr>
                </a:solidFill>
              </a:rPr>
              <a:t>[Visual: Latar tapak landskap dalam pembinaan. Dua watak neutral peranan —</a:t>
            </a:r>
          </a:p>
          <a:p>
            <a:r>
              <a:rPr lang="en-MY" sz="1200" dirty="0">
                <a:solidFill>
                  <a:schemeClr val="tx1">
                    <a:lumMod val="85000"/>
                    <a:lumOff val="15000"/>
                  </a:schemeClr>
                </a:solidFill>
              </a:rPr>
              <a:t>PELATIH dan PENYELIA TAPAK — berdiri di kawasan yang sudah ditanam.]</a:t>
            </a:r>
          </a:p>
        </p:txBody>
      </p:sp>
      <p:sp>
        <p:nvSpPr>
          <p:cNvPr id="20" name="Role"/>
          <p:cNvSpPr txBox="1"/>
          <p:nvPr/>
        </p:nvSpPr>
        <p:spPr>
          <a:xfrm>
            <a:off x="723930" y="2560320"/>
            <a:ext cx="1874520" cy="292608"/>
          </a:xfrm>
          <a:prstGeom prst="rect">
            <a:avLst/>
          </a:prstGeom>
          <a:noFill/>
        </p:spPr>
        <p:txBody>
          <a:bodyPr wrap="square">
            <a:noAutofit/>
          </a:bodyPr>
          <a:lstStyle/>
          <a:p>
            <a:r>
              <a:rPr lang="en-MY" sz="1300" b="1" dirty="0">
                <a:solidFill>
                  <a:srgbClr val="7F6000"/>
                </a:solidFill>
              </a:rPr>
              <a:t>[PELATIH]</a:t>
            </a:r>
          </a:p>
        </p:txBody>
      </p:sp>
      <p:sp>
        <p:nvSpPr>
          <p:cNvPr id="21" name="Line"/>
          <p:cNvSpPr txBox="1"/>
          <p:nvPr/>
        </p:nvSpPr>
        <p:spPr>
          <a:xfrm>
            <a:off x="2689890" y="2560320"/>
            <a:ext cx="8778240" cy="292608"/>
          </a:xfrm>
          <a:prstGeom prst="rect">
            <a:avLst/>
          </a:prstGeom>
          <a:noFill/>
        </p:spPr>
        <p:txBody>
          <a:bodyPr wrap="square">
            <a:spAutoFit/>
          </a:bodyPr>
          <a:lstStyle/>
          <a:p>
            <a:r>
              <a:rPr lang="en-MY" sz="1400" dirty="0">
                <a:solidFill>
                  <a:schemeClr val="tx1">
                    <a:lumMod val="85000"/>
                    <a:lumOff val="15000"/>
                  </a:schemeClr>
                </a:solidFill>
              </a:rPr>
              <a:t>Encik, kerja tanaman di tapak ini dah siap. Apa lagi yang tinggal?</a:t>
            </a:r>
          </a:p>
        </p:txBody>
      </p:sp>
      <p:sp>
        <p:nvSpPr>
          <p:cNvPr id="22" name="Role"/>
          <p:cNvSpPr txBox="1"/>
          <p:nvPr/>
        </p:nvSpPr>
        <p:spPr>
          <a:xfrm>
            <a:off x="723930" y="3273552"/>
            <a:ext cx="1874520" cy="292608"/>
          </a:xfrm>
          <a:prstGeom prst="rect">
            <a:avLst/>
          </a:prstGeom>
          <a:noFill/>
        </p:spPr>
        <p:txBody>
          <a:bodyPr wrap="square">
            <a:noAutofit/>
          </a:bodyPr>
          <a:lstStyle/>
          <a:p>
            <a:r>
              <a:rPr lang="en-MY" sz="1300" b="1" dirty="0">
                <a:solidFill>
                  <a:srgbClr val="7F6000"/>
                </a:solidFill>
              </a:rPr>
              <a:t>[PENYELIA TAPAK]</a:t>
            </a:r>
          </a:p>
        </p:txBody>
      </p:sp>
      <p:sp>
        <p:nvSpPr>
          <p:cNvPr id="23" name="Line"/>
          <p:cNvSpPr txBox="1"/>
          <p:nvPr/>
        </p:nvSpPr>
        <p:spPr>
          <a:xfrm>
            <a:off x="2689890" y="3273552"/>
            <a:ext cx="8778240" cy="292608"/>
          </a:xfrm>
          <a:prstGeom prst="rect">
            <a:avLst/>
          </a:prstGeom>
          <a:noFill/>
        </p:spPr>
        <p:txBody>
          <a:bodyPr wrap="square">
            <a:spAutoFit/>
          </a:bodyPr>
          <a:lstStyle/>
          <a:p>
            <a:r>
              <a:rPr lang="en-MY" sz="1400" dirty="0">
                <a:solidFill>
                  <a:schemeClr val="tx1">
                    <a:lumMod val="85000"/>
                    <a:lumOff val="15000"/>
                  </a:schemeClr>
                </a:solidFill>
              </a:rPr>
              <a:t>Tinggal komponen binaan. Dua kumpulan — struktur taman dan perabot taman.</a:t>
            </a:r>
          </a:p>
        </p:txBody>
      </p:sp>
      <p:sp>
        <p:nvSpPr>
          <p:cNvPr id="24" name="Role"/>
          <p:cNvSpPr txBox="1"/>
          <p:nvPr/>
        </p:nvSpPr>
        <p:spPr>
          <a:xfrm>
            <a:off x="723930" y="3986784"/>
            <a:ext cx="1874520" cy="292608"/>
          </a:xfrm>
          <a:prstGeom prst="rect">
            <a:avLst/>
          </a:prstGeom>
          <a:noFill/>
        </p:spPr>
        <p:txBody>
          <a:bodyPr wrap="square">
            <a:noAutofit/>
          </a:bodyPr>
          <a:lstStyle/>
          <a:p>
            <a:r>
              <a:rPr lang="en-MY" sz="1300" b="1" dirty="0">
                <a:solidFill>
                  <a:srgbClr val="7F6000"/>
                </a:solidFill>
              </a:rPr>
              <a:t>[PELATIH]</a:t>
            </a:r>
          </a:p>
        </p:txBody>
      </p:sp>
      <p:sp>
        <p:nvSpPr>
          <p:cNvPr id="25" name="Line"/>
          <p:cNvSpPr txBox="1"/>
          <p:nvPr/>
        </p:nvSpPr>
        <p:spPr>
          <a:xfrm>
            <a:off x="2689890" y="3986784"/>
            <a:ext cx="8778240" cy="292608"/>
          </a:xfrm>
          <a:prstGeom prst="rect">
            <a:avLst/>
          </a:prstGeom>
          <a:noFill/>
        </p:spPr>
        <p:txBody>
          <a:bodyPr wrap="square">
            <a:spAutoFit/>
          </a:bodyPr>
          <a:lstStyle/>
          <a:p>
            <a:r>
              <a:rPr lang="en-MY" sz="1400" dirty="0">
                <a:solidFill>
                  <a:schemeClr val="tx1">
                    <a:lumMod val="85000"/>
                    <a:lumOff val="15000"/>
                  </a:schemeClr>
                </a:solidFill>
              </a:rPr>
              <a:t>Kedua-duanya sama sahaja?</a:t>
            </a:r>
          </a:p>
        </p:txBody>
      </p:sp>
      <p:sp>
        <p:nvSpPr>
          <p:cNvPr id="26" name="Role"/>
          <p:cNvSpPr txBox="1"/>
          <p:nvPr/>
        </p:nvSpPr>
        <p:spPr>
          <a:xfrm>
            <a:off x="723930" y="4700016"/>
            <a:ext cx="1874520" cy="292608"/>
          </a:xfrm>
          <a:prstGeom prst="rect">
            <a:avLst/>
          </a:prstGeom>
          <a:noFill/>
        </p:spPr>
        <p:txBody>
          <a:bodyPr wrap="square">
            <a:noAutofit/>
          </a:bodyPr>
          <a:lstStyle/>
          <a:p>
            <a:r>
              <a:rPr lang="en-MY" sz="1300" b="1" dirty="0">
                <a:solidFill>
                  <a:srgbClr val="7F6000"/>
                </a:solidFill>
              </a:rPr>
              <a:t>[PENYELIA TAPAK]</a:t>
            </a:r>
          </a:p>
        </p:txBody>
      </p:sp>
      <p:sp>
        <p:nvSpPr>
          <p:cNvPr id="27" name="Line"/>
          <p:cNvSpPr txBox="1"/>
          <p:nvPr/>
        </p:nvSpPr>
        <p:spPr>
          <a:xfrm>
            <a:off x="2689890" y="4700016"/>
            <a:ext cx="8778240" cy="292608"/>
          </a:xfrm>
          <a:prstGeom prst="rect">
            <a:avLst/>
          </a:prstGeom>
          <a:noFill/>
        </p:spPr>
        <p:txBody>
          <a:bodyPr wrap="square">
            <a:spAutoFit/>
          </a:bodyPr>
          <a:lstStyle/>
          <a:p>
            <a:r>
              <a:rPr lang="en-MY" sz="1400" dirty="0">
                <a:solidFill>
                  <a:schemeClr val="tx1">
                    <a:lumMod val="85000"/>
                    <a:lumOff val="15000"/>
                  </a:schemeClr>
                </a:solidFill>
              </a:rPr>
              <a:t>Tidak. Struktur taman ialah binaan seperti dek, teduhan dan kemudahan awam. Perabot taman ialah kelengkapan seperti kerusi, papan tanda dan tong sampah. Fungsi dan kaedah pemasangannya berbeza.</a:t>
            </a:r>
          </a:p>
        </p:txBody>
      </p:sp>
      <p:sp>
        <p:nvSpPr>
          <p:cNvPr id="28" name="Role"/>
          <p:cNvSpPr txBox="1"/>
          <p:nvPr/>
        </p:nvSpPr>
        <p:spPr>
          <a:xfrm>
            <a:off x="723930" y="5413248"/>
            <a:ext cx="1874520" cy="292608"/>
          </a:xfrm>
          <a:prstGeom prst="rect">
            <a:avLst/>
          </a:prstGeom>
          <a:noFill/>
        </p:spPr>
        <p:txBody>
          <a:bodyPr wrap="square">
            <a:noAutofit/>
          </a:bodyPr>
          <a:lstStyle/>
          <a:p>
            <a:r>
              <a:rPr lang="en-MY" sz="1300" b="1" dirty="0">
                <a:solidFill>
                  <a:srgbClr val="7F6000"/>
                </a:solidFill>
              </a:rPr>
              <a:t>[PELATIH]</a:t>
            </a:r>
          </a:p>
        </p:txBody>
      </p:sp>
      <p:sp>
        <p:nvSpPr>
          <p:cNvPr id="29" name="Line"/>
          <p:cNvSpPr txBox="1"/>
          <p:nvPr/>
        </p:nvSpPr>
        <p:spPr>
          <a:xfrm>
            <a:off x="2689890" y="5413248"/>
            <a:ext cx="8778240" cy="292608"/>
          </a:xfrm>
          <a:prstGeom prst="rect">
            <a:avLst/>
          </a:prstGeom>
          <a:noFill/>
        </p:spPr>
        <p:txBody>
          <a:bodyPr wrap="square">
            <a:spAutoFit/>
          </a:bodyPr>
          <a:lstStyle/>
          <a:p>
            <a:r>
              <a:rPr lang="en-MY" sz="1400" dirty="0">
                <a:solidFill>
                  <a:schemeClr val="tx1">
                    <a:lumMod val="85000"/>
                    <a:lumOff val="15000"/>
                  </a:schemeClr>
                </a:solidFill>
              </a:rPr>
              <a:t>Jadi saya perlu tahu bezanya sebelum merancang kerja.</a:t>
            </a:r>
          </a:p>
        </p:txBody>
      </p:sp>
      <p:sp>
        <p:nvSpPr>
          <p:cNvPr id="40" name="Prov"/>
          <p:cNvSpPr txBox="1"/>
          <p:nvPr/>
        </p:nvSpPr>
        <p:spPr>
          <a:xfrm>
            <a:off x="723930" y="6419088"/>
            <a:ext cx="10744200" cy="329184"/>
          </a:xfrm>
          <a:prstGeom prst="rect">
            <a:avLst/>
          </a:prstGeom>
          <a:noFill/>
        </p:spPr>
        <p:txBody>
          <a:bodyPr wrap="square">
            <a:noAutofit/>
          </a:bodyPr>
          <a:lstStyle/>
          <a:p>
            <a:r>
              <a:rPr lang="en-MY" sz="1200" b="1" dirty="0">
                <a:solidFill>
                  <a:srgbClr val="7F6000"/>
                </a:solidFill>
              </a:rPr>
              <a:t>PROPOSED_FOR_BARIAH_REVIEW — dialog dan kaset dicadangkan, belum diluluskan. Watak neutral peranan.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Gambaran Keseluruhan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S03 · SKRIN GAMBARAN KESELURUHAN · pengenalan narator · PROPOSED_FOR_BARIAH_REVIEW</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S03 — GAMBARAN KESELURUHAN</a:t>
            </a:r>
          </a:p>
          <a:p>
            <a:r>
              <a:rPr lang="en-MY" sz="900" b="1" dirty="0"/>
              <a:t>FUNGSI: Memperkenalkan Hilmi sebagai narator secara visual, dan memberi gambaran ringkas Struktur Taman dan Perabot Taman.</a:t>
            </a:r>
          </a:p>
          <a:p>
            <a:r>
              <a:rPr lang="en-MY" sz="900" dirty="0"/>
              <a:t/>
            </a:r>
          </a:p>
          <a:p>
            <a:r>
              <a:rPr lang="en-MY" sz="900" b="1" dirty="0"/>
              <a:t>INTERAKSI:</a:t>
            </a:r>
          </a:p>
          <a:p>
            <a:r>
              <a:rPr lang="en-MY" sz="900" dirty="0"/>
              <a:t>  Tiada interaksi pengguna. Skrin auto-maju selepas VO.</a:t>
            </a:r>
          </a:p>
          <a:p>
            <a:r>
              <a:rPr lang="en-MY" sz="900" dirty="0"/>
              <a:t/>
            </a:r>
          </a:p>
          <a:p>
            <a:r>
              <a:rPr lang="en-MY" sz="900" b="1" dirty="0"/>
              <a:t>STATE / PERALIHAN:</a:t>
            </a:r>
          </a:p>
          <a:p>
            <a:r>
              <a:rPr lang="en-MY" sz="900" dirty="0"/>
              <a:t>  Kad narator muncul dahulu, kemudian empat baris gambaran keseluruhan satu demi satu.</a:t>
            </a:r>
          </a:p>
          <a:p>
            <a:r>
              <a:rPr lang="en-MY" sz="900" dirty="0"/>
              <a:t>  Peralihan ke S04.</a:t>
            </a:r>
          </a:p>
          <a:p>
            <a:r>
              <a:rPr lang="en-MY" sz="900" dirty="0"/>
              <a:t/>
            </a:r>
          </a:p>
          <a:p>
            <a:r>
              <a:rPr lang="en-MY" sz="900" b="1" dirty="0"/>
              <a:t>VISUAL (spesifikasi sahaja — tidak dibenamkan):</a:t>
            </a:r>
          </a:p>
          <a:p>
            <a:r>
              <a:rPr lang="en-MY" sz="900" dirty="0"/>
              <a:t>  [Visual: Kad narator Hilmi — potret separuh badan, pakaian kerja lapangan,</a:t>
            </a:r>
          </a:p>
          <a:p>
            <a:r>
              <a:rPr lang="en-MY" sz="900" dirty="0"/>
              <a:t>  latar tapak landskap kabur. Diperkenalkan secara visual di skrin ini sahaja.]</a:t>
            </a:r>
          </a:p>
          <a:p>
            <a:r>
              <a:rPr lang="en-MY" sz="900" dirty="0"/>
              <a:t>  [Visual: Panel kanan - dua ikon kumpulan, Struktur Taman dan Perabot Taman.]</a:t>
            </a:r>
          </a:p>
          <a:p>
            <a:r>
              <a:rPr lang="en-MY" sz="900" dirty="0"/>
              <a:t>  Hilmi diperkenalkan SECARA VISUAL. Tiada awalan "Hilmi:" dalam mana-mana VO.</a:t>
            </a:r>
          </a:p>
          <a:p>
            <a:r>
              <a:rPr lang="en-MY" sz="900" dirty="0"/>
              <a:t/>
            </a:r>
          </a:p>
          <a:p>
            <a:r>
              <a:rPr lang="en-MY" sz="900" b="1" dirty="0"/>
              <a:t>SUMBER MODUL:</a:t>
            </a:r>
          </a:p>
          <a:p>
            <a:r>
              <a:rPr lang="en-MY" sz="900" dirty="0"/>
              <a:t>  Gambaran keseluruhan diterbitkan daripada modul ms 237 (3.3) dan ms 242 (3.4).</a:t>
            </a:r>
          </a:p>
          <a:p>
            <a:r>
              <a:rPr lang="en-MY" sz="900" dirty="0"/>
              <a:t>  Bilangan komponen (4 + 5) diukur daripada tajuk kecil 3.3.1-3.3.4 dan 3.4.1-3.4.3.</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Aset watak Hilmi belum wujud. Ia bukan aset modul.</a:t>
            </a:r>
          </a:p>
          <a:p>
            <a:r>
              <a:rPr lang="en-MY" sz="900" dirty="0"/>
              <a:t>  Narator identiti: LOCKED pada peringkat kursus; persembahan visual: terbuka.</a:t>
            </a:r>
          </a:p>
          <a:p>
            <a:r>
              <a:rPr lang="en-MY" sz="900" dirty="0"/>
              <a:t/>
            </a:r>
          </a:p>
          <a:p>
            <a:r>
              <a:rPr lang="en-MY" sz="900" b="1" dirty="0"/>
              <a:t>STATUS KEPUTUSAN:</a:t>
            </a:r>
          </a:p>
          <a:p>
            <a:r>
              <a:rPr lang="en-MY" sz="900" dirty="0"/>
              <a:t>  PROPOSED_FOR_BARIAH_REVIEW — persembahan narator dan skop gambaran keseluruhan.</a:t>
            </a:r>
          </a:p>
          <a:p>
            <a:r>
              <a:rPr lang="en-MY" sz="900" dirty="0"/>
              <a:t>  Slot keputusan PL06 s03 (Reflection Prompt) masih KOSONG. Tiada soalan refleksi dicadangkan.</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Gambaran Keseluruhan</a:t>
            </a:r>
          </a:p>
        </p:txBody>
      </p:sp>
      <p:sp>
        <p:nvSpPr>
          <p:cNvPr id="19" name="Rectangle 9"/>
          <p:cNvSpPr/>
          <p:nvPr/>
        </p:nvSpPr>
        <p:spPr>
          <a:xfrm>
            <a:off x="723930" y="1463040"/>
            <a:ext cx="4206240" cy="23317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[Visual: Kad narator Hilmi —</a:t>
            </a:r>
          </a:p>
          <a:p>
            <a:r>
              <a:rPr lang="en-MY" sz="1200" dirty="0">
                <a:solidFill>
                  <a:schemeClr val="tx1">
                    <a:lumMod val="85000"/>
                    <a:lumOff val="15000"/>
                  </a:schemeClr>
                </a:solidFill>
              </a:rPr>
              <a:t>potret separuh badan, pakaian</a:t>
            </a:r>
          </a:p>
          <a:p>
            <a:r>
              <a:rPr lang="en-MY" sz="1200" dirty="0">
                <a:solidFill>
                  <a:schemeClr val="tx1">
                    <a:lumMod val="85000"/>
                    <a:lumOff val="15000"/>
                  </a:schemeClr>
                </a:solidFill>
              </a:rPr>
              <a:t>kerja lapangan, latar tapak</a:t>
            </a:r>
          </a:p>
          <a:p>
            <a:r>
              <a:rPr lang="en-MY" sz="1200" dirty="0">
                <a:solidFill>
                  <a:schemeClr val="tx1">
                    <a:lumMod val="85000"/>
                    <a:lumOff val="15000"/>
                  </a:schemeClr>
                </a:solidFill>
              </a:rPr>
              <a:t>landskap kabur.]</a:t>
            </a:r>
          </a:p>
          <a:p>
            <a:r>
              <a:rPr lang="en-MY" sz="1200" dirty="0">
                <a:solidFill>
                  <a:schemeClr val="tx1">
                    <a:lumMod val="85000"/>
                    <a:lumOff val="15000"/>
                  </a:schemeClr>
                </a:solidFill>
              </a:rPr>
              <a:t>Diperkenalkan secara visual</a:t>
            </a:r>
          </a:p>
          <a:p>
            <a:r>
              <a:rPr lang="en-MY" sz="1200" dirty="0">
                <a:solidFill>
                  <a:schemeClr val="tx1">
                    <a:lumMod val="85000"/>
                    <a:lumOff val="15000"/>
                  </a:schemeClr>
                </a:solidFill>
              </a:rPr>
              <a:t>di skrin ini sahaja.</a:t>
            </a:r>
          </a:p>
        </p:txBody>
      </p:sp>
      <p:sp>
        <p:nvSpPr>
          <p:cNvPr id="20" name="Narrator"/>
          <p:cNvSpPr txBox="1"/>
          <p:nvPr/>
        </p:nvSpPr>
        <p:spPr>
          <a:xfrm>
            <a:off x="5120640" y="1463040"/>
            <a:ext cx="6347490" cy="457200"/>
          </a:xfrm>
          <a:prstGeom prst="rect">
            <a:avLst/>
          </a:prstGeom>
          <a:noFill/>
        </p:spPr>
        <p:txBody>
          <a:bodyPr wrap="square">
            <a:noAutofit/>
          </a:bodyPr>
          <a:lstStyle/>
          <a:p>
            <a:r>
              <a:rPr lang="en-MY" sz="2400" b="1" dirty="0">
                <a:solidFill>
                  <a:schemeClr val="tx1">
                    <a:lumMod val="85000"/>
                    <a:lumOff val="15000"/>
                  </a:schemeClr>
                </a:solidFill>
              </a:rPr>
              <a:t>Hilmi</a:t>
            </a:r>
          </a:p>
        </p:txBody>
      </p:sp>
      <p:sp>
        <p:nvSpPr>
          <p:cNvPr id="21" name="NarratorRole"/>
          <p:cNvSpPr txBox="1"/>
          <p:nvPr/>
        </p:nvSpPr>
        <p:spPr>
          <a:xfrm>
            <a:off x="5120640" y="2011680"/>
            <a:ext cx="6347490" cy="384048"/>
          </a:xfrm>
          <a:prstGeom prst="rect">
            <a:avLst/>
          </a:prstGeom>
          <a:noFill/>
        </p:spPr>
        <p:txBody>
          <a:bodyPr wrap="square">
            <a:noAutofit/>
          </a:bodyPr>
          <a:lstStyle/>
          <a:p>
            <a:r>
              <a:rPr lang="en-MY" sz="1600" dirty="0">
                <a:solidFill>
                  <a:schemeClr val="tx1">
                    <a:lumMod val="85000"/>
                    <a:lumOff val="15000"/>
                  </a:schemeClr>
                </a:solidFill>
              </a:rPr>
              <a:t>Narator kursus — suara latar sahaja</a:t>
            </a:r>
          </a:p>
        </p:txBody>
      </p:sp>
      <p:sp>
        <p:nvSpPr>
          <p:cNvPr id="22" name="NarratorProv"/>
          <p:cNvSpPr txBox="1"/>
          <p:nvPr/>
        </p:nvSpPr>
        <p:spPr>
          <a:xfrm>
            <a:off x="5120640" y="2468880"/>
            <a:ext cx="6347490" cy="658368"/>
          </a:xfrm>
          <a:prstGeom prst="rect">
            <a:avLst/>
          </a:prstGeom>
          <a:noFill/>
        </p:spPr>
        <p:txBody>
          <a:bodyPr wrap="square">
            <a:noAutofit/>
          </a:bodyPr>
          <a:lstStyle/>
          <a:p>
            <a:r>
              <a:rPr lang="en-MY" sz="1200" dirty="0">
                <a:solidFill>
                  <a:srgbClr val="7F6000"/>
                </a:solidFill>
              </a:rPr>
              <a:t>Identiti narator: LOCKED pada peringkat kursus.</a:t>
            </a:r>
          </a:p>
          <a:p>
            <a:r>
              <a:rPr lang="en-MY" sz="1200" dirty="0">
                <a:solidFill>
                  <a:srgbClr val="7F6000"/>
                </a:solidFill>
              </a:rPr>
              <a:t>Tiada awalan "Hilmi:" digunakan dalam mana-mana VO bahagian ini.</a:t>
            </a:r>
          </a:p>
        </p:txBody>
      </p:sp>
      <p:sp>
        <p:nvSpPr>
          <p:cNvPr id="23" name="OvHead"/>
          <p:cNvSpPr txBox="1"/>
          <p:nvPr/>
        </p:nvSpPr>
        <p:spPr>
          <a:xfrm>
            <a:off x="723930" y="4069080"/>
            <a:ext cx="10744200" cy="365760"/>
          </a:xfrm>
          <a:prstGeom prst="rect">
            <a:avLst/>
          </a:prstGeom>
          <a:noFill/>
        </p:spPr>
        <p:txBody>
          <a:bodyPr wrap="square">
            <a:noAutofit/>
          </a:bodyPr>
          <a:lstStyle/>
          <a:p>
            <a:r>
              <a:rPr lang="en-MY" sz="1800" b="1" dirty="0">
                <a:solidFill>
                  <a:schemeClr val="tx1">
                    <a:lumMod val="85000"/>
                    <a:lumOff val="15000"/>
                  </a:schemeClr>
                </a:solidFill>
              </a:rPr>
              <a:t>Dalam bahagian ini</a:t>
            </a:r>
          </a:p>
        </p:txBody>
      </p:sp>
      <p:sp>
        <p:nvSpPr>
          <p:cNvPr id="24" name="OvBody"/>
          <p:cNvSpPr txBox="1"/>
          <p:nvPr/>
        </p:nvSpPr>
        <p:spPr>
          <a:xfrm>
            <a:off x="723930" y="4526280"/>
            <a:ext cx="10744200" cy="169164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600" dirty="0"/>
              <a:t>Struktur Taman - binaan yang membentuk fungsi dan estetika ruang landskap</a:t>
            </a:r>
          </a:p>
          <a:p>
            <a:pPr marL="285750" indent="-285750">
              <a:spcBef>
                <a:spcPts val="400"/>
              </a:spcBef>
              <a:buFont typeface="Arial" panose="020B0604020202020204" pitchFamily="34" charset="0"/>
              <a:buChar char="•"/>
            </a:pPr>
            <a:r>
              <a:rPr lang="en-MY" sz="1600" dirty="0"/>
              <a:t>Perabot Taman - kelengkapan yang menyokong keselesaan dan kegunaan harian pengguna</a:t>
            </a:r>
          </a:p>
          <a:p>
            <a:pPr marL="285750" indent="-285750">
              <a:spcBef>
                <a:spcPts val="400"/>
              </a:spcBef>
              <a:buFont typeface="Arial" panose="020B0604020202020204" pitchFamily="34" charset="0"/>
              <a:buChar char="•"/>
            </a:pPr>
            <a:r>
              <a:rPr lang="en-MY" sz="1600" dirty="0"/>
              <a:t>Bahagian ini merangkumi empat struktur taman dan lima perabot taman</a:t>
            </a:r>
          </a:p>
          <a:p>
            <a:pPr marL="285750" indent="-285750">
              <a:spcBef>
                <a:spcPts val="400"/>
              </a:spcBef>
              <a:buFont typeface="Arial" panose="020B0604020202020204" pitchFamily="34" charset="0"/>
              <a:buChar char="•"/>
            </a:pPr>
            <a:r>
              <a:rPr lang="en-MY" sz="1600" dirty="0"/>
              <a:t>Setiap komponen diteroka satu persatu melalui skrin kad</a:t>
            </a:r>
          </a:p>
        </p:txBody>
      </p:sp>
      <p:sp>
        <p:nvSpPr>
          <p:cNvPr id="25" name="Prov"/>
          <p:cNvSpPr txBox="1"/>
          <p:nvPr/>
        </p:nvSpPr>
        <p:spPr>
          <a:xfrm>
            <a:off x="723930" y="6419088"/>
            <a:ext cx="10744200" cy="329184"/>
          </a:xfrm>
          <a:prstGeom prst="rect">
            <a:avLst/>
          </a:prstGeom>
          <a:noFill/>
        </p:spPr>
        <p:txBody>
          <a:bodyPr wrap="square">
            <a:noAutofit/>
          </a:bodyPr>
          <a:lstStyle/>
          <a:p>
            <a:r>
              <a:rPr lang="en-MY" sz="1200" b="1" dirty="0">
                <a:solidFill>
                  <a:srgbClr val="7F6000"/>
                </a:solidFill>
              </a:rPr>
              <a:t>PROPOSED_FOR_BARIAH_REVIEW — persembahan narator dan skop gambaran keseluruhan.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S04 · KAD INDUK (CLICK_REVEAL / KAD / FULL_SLIDE) · 4 kad -&gt; S05 S06 S07 S08</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S04 — KAD INDUK (Struktur Taman)</a:t>
            </a:r>
          </a:p>
          <a:p>
            <a:r>
              <a:rPr lang="en-MY" sz="900" b="1" dirty="0"/>
              <a:t>FUNGSI: Skrin induk empat kad. Pintu masuk kepada empat skrin perincian struktur taman.</a:t>
            </a:r>
          </a:p>
          <a:p>
            <a:r>
              <a:rPr lang="en-MY" sz="900" dirty="0"/>
              <a:t/>
            </a:r>
          </a:p>
          <a:p>
            <a:r>
              <a:rPr lang="en-MY" sz="900" b="1" dirty="0"/>
              <a:t>INTERAKSI:</a:t>
            </a:r>
          </a:p>
          <a:p>
            <a:r>
              <a:rPr lang="en-MY" sz="900" dirty="0"/>
              <a:t>  CLICK_REVEAL. Pencetus: KAD. Pendedahan: FULL_SLIDE.</a:t>
            </a:r>
          </a:p>
          <a:p>
            <a:r>
              <a:rPr lang="en-MY" sz="900" dirty="0"/>
              <a:t>  Klik kad 1 - S05. Kad 2 - S06. Kad 3 - S07. Kad 4 - S08.</a:t>
            </a:r>
          </a:p>
          <a:p>
            <a:r>
              <a:rPr lang="en-MY" sz="900" dirty="0"/>
              <a:t>  Baris arahan: "Klik pada setiap struktur untuk penjelasan lanjut." (disahkan sumber).</a:t>
            </a:r>
          </a:p>
          <a:p>
            <a:r>
              <a:rPr lang="en-MY" sz="900" dirty="0"/>
              <a:t/>
            </a:r>
          </a:p>
          <a:p>
            <a:r>
              <a:rPr lang="en-MY" sz="900" b="1" dirty="0"/>
              <a:t>STATE / PERALIHAN:</a:t>
            </a:r>
          </a:p>
          <a:p>
            <a:r>
              <a:rPr lang="en-MY" sz="900" dirty="0"/>
              <a:t>  State asas: empat kad belum dilawati.</a:t>
            </a:r>
          </a:p>
          <a:p>
            <a:r>
              <a:rPr lang="en-MY" sz="900" dirty="0"/>
              <a:t>  Selepas setiap kad dilawati, kad itu ditanda selesai apabila kembali.</a:t>
            </a:r>
          </a:p>
          <a:p>
            <a:r>
              <a:rPr lang="en-MY" sz="900" dirty="0"/>
              <a:t>  Apabila keempat-empat kad selesai, skrin beralih ke S09 (state selesai).</a:t>
            </a:r>
          </a:p>
          <a:p>
            <a:r>
              <a:rPr lang="en-MY" sz="900" dirty="0"/>
              <a:t>  nav-lock-until-complete: butang maju dikunci sehingga keempat-empat dilawati.</a:t>
            </a:r>
          </a:p>
          <a:p>
            <a:r>
              <a:rPr lang="en-MY" sz="900" dirty="0"/>
              <a:t/>
            </a:r>
          </a:p>
          <a:p>
            <a:r>
              <a:rPr lang="en-MY" sz="900" b="1" dirty="0"/>
              <a:t>VISUAL (spesifikasi sahaja — tidak dibenamkan):</a:t>
            </a:r>
          </a:p>
          <a:p>
            <a:r>
              <a:rPr lang="en-MY" sz="900" dirty="0"/>
              <a:t>  [Visual: Kad 1 - gunakan Rajah 23, Contoh Boardwalk dalam Taman Paya Bakau, modul ms 239]</a:t>
            </a:r>
          </a:p>
          <a:p>
            <a:r>
              <a:rPr lang="en-MY" sz="900" dirty="0"/>
              <a:t>  [Visual: Kad 2 - gunakan Rajah 24, Contoh Pergola, modul ms 240]</a:t>
            </a:r>
          </a:p>
          <a:p>
            <a:r>
              <a:rPr lang="en-MY" sz="900" dirty="0"/>
              <a:t>  [Visual: Kad 3 - TIADA IMEJ SUMBER, cadangan rajah native (lihat S07)]</a:t>
            </a:r>
          </a:p>
          <a:p>
            <a:r>
              <a:rPr lang="en-MY" sz="900" dirty="0"/>
              <a:t>  [Visual: Kad 4 - TIADA IMEJ SUMBER, cadangan rajah native (lihat S08)]</a:t>
            </a:r>
          </a:p>
          <a:p>
            <a:r>
              <a:rPr lang="en-MY" sz="900" dirty="0"/>
              <a:t>  Locator sedia ada K5PL06T03-B02-IMG-01, modul ms 237 dikekalkan.</a:t>
            </a:r>
          </a:p>
          <a:p>
            <a:r>
              <a:rPr lang="en-MY" sz="900" dirty="0"/>
              <a:t>  Nota: modul ms 237 tidak membawa sebarang imej terbenam. Apa yang IMG-01 rujuk masih terbuka.</a:t>
            </a:r>
          </a:p>
          <a:p>
            <a:r>
              <a:rPr lang="en-MY" sz="900" dirty="0"/>
              <a:t/>
            </a:r>
          </a:p>
          <a:p>
            <a:r>
              <a:rPr lang="en-MY" sz="900" b="1" dirty="0"/>
              <a:t>SUMBER MODUL:</a:t>
            </a:r>
          </a:p>
          <a:p>
            <a:r>
              <a:rPr lang="en-MY" sz="900" dirty="0"/>
              <a:t>  Modul ms 237 (fizikal 256) - 3.3. Struktur Taman.</a:t>
            </a:r>
          </a:p>
          <a:p>
            <a:r>
              <a:rPr lang="en-MY" sz="900" dirty="0"/>
              <a:t>  Empat tajuk kecil 3.3.1 hingga 3.3.4 memberi empat kad.</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Geometri kad: 3.935 x 1.9901 in, GAP_X 0.7074, GAP_Y 0.25.</a:t>
            </a:r>
          </a:p>
          <a:p>
            <a:r>
              <a:rPr lang="en-MY" sz="900" dirty="0"/>
              <a:t>  Label 3.6202 x 0.50 in pada 20pt, dipusatkan pada kadnya sendiri.</a:t>
            </a:r>
          </a:p>
          <a:p>
            <a:r>
              <a:rPr lang="en-MY" sz="900" dirty="0"/>
              <a:t/>
            </a:r>
          </a:p>
          <a:p>
            <a:r>
              <a:rPr lang="en-MY" sz="900" b="1" dirty="0"/>
              <a:t>STATUS KEPUTUSAN:</a:t>
            </a:r>
          </a:p>
          <a:p>
            <a:r>
              <a:rPr lang="en-MY" sz="900" dirty="0"/>
              <a:t>  SOURCE_BOUND_TEXT - label kad dan baris arahan disahkan.</a:t>
            </a:r>
          </a:p>
          <a:p>
            <a:r>
              <a:rPr lang="en-MY" sz="900" dirty="0"/>
              <a:t>  Susunan kad dan rawatan kad: untuk pengesahan Bariah (D-03).</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Struktur Persisir Air]</a:t>
            </a:r>
          </a:p>
          <a:p>
            <a:r>
              <a:rPr lang="en-MY" sz="1200" dirty="0">
                <a:solidFill>
                  <a:schemeClr val="tx1">
                    <a:lumMod val="85000"/>
                    <a:lumOff val="15000"/>
                  </a:schemeClr>
                </a:solidFill>
              </a:rPr>
              <a:t>Gunakan Rajah 23 - Contoh</a:t>
            </a:r>
          </a:p>
          <a:p>
            <a:r>
              <a:rPr lang="en-MY" sz="1200" dirty="0">
                <a:solidFill>
                  <a:schemeClr val="tx1">
                    <a:lumMod val="85000"/>
                    <a:lumOff val="15000"/>
                  </a:schemeClr>
                </a:solidFill>
              </a:rPr>
              <a:t>Boardwalk dalam Taman Paya</a:t>
            </a:r>
          </a:p>
          <a:p>
            <a:r>
              <a:rPr lang="en-MY" sz="1200" dirty="0">
                <a:solidFill>
                  <a:schemeClr val="tx1">
                    <a:lumMod val="85000"/>
                    <a:lumOff val="15000"/>
                  </a:schemeClr>
                </a:solidFill>
              </a:rPr>
              <a:t>Bakau, modul ms 239</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Struktur Teduhan]</a:t>
            </a:r>
          </a:p>
          <a:p>
            <a:r>
              <a:rPr lang="en-MY" sz="1200" dirty="0">
                <a:solidFill>
                  <a:schemeClr val="tx1">
                    <a:lumMod val="85000"/>
                    <a:lumOff val="15000"/>
                  </a:schemeClr>
                </a:solidFill>
              </a:rPr>
              <a:t>Gunakan Rajah 24 - Contoh</a:t>
            </a:r>
          </a:p>
          <a:p>
            <a:r>
              <a:rPr lang="en-MY" sz="1200" dirty="0">
                <a:solidFill>
                  <a:schemeClr val="tx1">
                    <a:lumMod val="85000"/>
                    <a:lumOff val="15000"/>
                  </a:schemeClr>
                </a:solidFill>
              </a:rPr>
              <a:t>Pergola, modul ms 240</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S07</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S08</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S05 · SKRIN PERINCIAN (FULL_SLIDE) · induk S04 · Struktur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S05 — SKRIN PERINCIAN (Struktur Persisir Air)</a:t>
            </a:r>
          </a:p>
          <a:p>
            <a:r>
              <a:rPr lang="en-MY" sz="900" b="1" dirty="0"/>
              <a:t>FUNGSI: Menerangkan fungsi, keperluan pembinaan dan jenis struktur persisir air.</a:t>
            </a:r>
          </a:p>
          <a:p>
            <a:r>
              <a:rPr lang="en-MY" sz="900" dirty="0"/>
              <a:t/>
            </a:r>
          </a:p>
          <a:p>
            <a:r>
              <a:rPr lang="en-MY" sz="900" b="1" dirty="0"/>
              <a:t>INTERAKSI:</a:t>
            </a:r>
          </a:p>
          <a:p>
            <a:r>
              <a:rPr lang="en-MY" sz="900" dirty="0"/>
              <a:t>  Dicapai dengan klik kad "Struktur Persisir Air" pada S04.</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S04, dengan kad "Struktur Persisir Air"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Rajah 23 - Contoh Boardwalk dalam Taman Paya Bakau, modul ms 239]</a:t>
            </a:r>
          </a:p>
          <a:p>
            <a:r>
              <a:rPr lang="en-MY" sz="900" dirty="0"/>
              <a:t>  Aset dikenal pasti dan diukur, tetapi TIDAK diikat pada peringkat ini.</a:t>
            </a:r>
          </a:p>
          <a:p>
            <a:r>
              <a:rPr lang="en-MY" sz="900" dirty="0"/>
              <a:t>  Satu imej sumber tersedia untuk skrin ini.</a:t>
            </a:r>
          </a:p>
          <a:p>
            <a:r>
              <a:rPr lang="en-MY" sz="900" dirty="0"/>
              <a:t/>
            </a:r>
          </a:p>
          <a:p>
            <a:r>
              <a:rPr lang="en-MY" sz="900" b="1" dirty="0"/>
              <a:t>SUMBER MODUL:</a:t>
            </a:r>
          </a:p>
          <a:p>
            <a:r>
              <a:rPr lang="en-MY" sz="900" dirty="0"/>
              <a:t>  Modul ms 238 (fizikal 257) - 3.3.1 Struktur Persisir Air.</a:t>
            </a:r>
          </a:p>
          <a:p>
            <a:r>
              <a:rPr lang="en-MY" sz="900" dirty="0"/>
              <a:t>  Imej: Rajah 23, modul ms 239 (fizikal 258).</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Ejaan tajuk modul "Promenande" dibetulkan kepada "Promenade" dalam paparan dan VO (D-1).</a:t>
            </a:r>
          </a:p>
          <a:p>
            <a:r>
              <a:rPr lang="en-MY" sz="900" dirty="0"/>
              <a:t/>
            </a:r>
          </a:p>
          <a:p>
            <a:r>
              <a:rPr lang="en-MY" sz="900" b="1" dirty="0"/>
              <a:t>STATUS KEPUTUSAN:</a:t>
            </a:r>
          </a:p>
          <a:p>
            <a:r>
              <a:rPr lang="en-MY" sz="900" dirty="0"/>
              <a:t>  SOURCE_BOUND_TEXT - paparan dan VO diterbitkan daripada modul.</a:t>
            </a:r>
          </a:p>
          <a:p>
            <a:r>
              <a:rPr lang="en-MY" sz="900" dirty="0"/>
              <a:t>  Pilihan aset akhir: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Persisir Air</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Rajah 23 -</a:t>
            </a:r>
          </a:p>
          <a:p>
            <a:r>
              <a:rPr lang="en-MY" sz="1200" dirty="0">
                <a:solidFill>
                  <a:schemeClr val="tx1">
                    <a:lumMod val="85000"/>
                    <a:lumOff val="15000"/>
                  </a:schemeClr>
                </a:solidFill>
              </a:rPr>
              <a:t>Contoh Boardwalk dalam Taman</a:t>
            </a:r>
          </a:p>
          <a:p>
            <a:r>
              <a:rPr lang="en-MY" sz="1200" dirty="0">
                <a:solidFill>
                  <a:schemeClr val="tx1">
                    <a:lumMod val="85000"/>
                    <a:lumOff val="15000"/>
                  </a:schemeClr>
                </a:solidFill>
              </a:rPr>
              <a:t>Paya Bakau, modul ms 239]</a:t>
            </a:r>
          </a:p>
          <a:p>
            <a:r>
              <a:rPr lang="en-MY" sz="1200" dirty="0">
                <a:solidFill>
                  <a:schemeClr val="tx1">
                    <a:lumMod val="85000"/>
                    <a:lumOff val="15000"/>
                  </a:schemeClr>
                </a:solidFill>
              </a:rPr>
              <a:t/>
            </a:r>
          </a:p>
          <a:p>
            <a:r>
              <a:rPr lang="en-MY" sz="1200" dirty="0">
                <a:solidFill>
                  <a:schemeClr val="tx1">
                    <a:lumMod val="85000"/>
                    <a:lumOff val="15000"/>
                  </a:schemeClr>
                </a:solidFill>
              </a:rPr>
              <a:t>Satu imej sumber tersedia.</a:t>
            </a:r>
          </a:p>
          <a:p>
            <a:r>
              <a:rPr lang="en-MY" sz="1200" dirty="0">
                <a:solidFill>
                  <a:schemeClr val="tx1">
                    <a:lumMod val="85000"/>
                    <a:lumOff val="15000"/>
                  </a:schemeClr>
                </a:solidFill>
              </a:rPr>
              <a:t>Belum diikat.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Persisir Air</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Meningkatkan akses dan pengalaman pengguna di tepi badan air</a:t>
            </a:r>
          </a:p>
          <a:p>
            <a:pPr marL="285750" indent="-285750">
              <a:buFont typeface="Arial" panose="020B0604020202020204" pitchFamily="34" charset="0"/>
              <a:buChar char="•"/>
            </a:pPr>
            <a:r>
              <a:rPr lang="en-MY" dirty="0"/>
              <a:t>Untuk tasik, sungai atau pantai</a:t>
            </a:r>
          </a:p>
          <a:p>
            <a:pPr marL="285750" indent="-285750">
              <a:buFont typeface="Arial" panose="020B0604020202020204" pitchFamily="34" charset="0"/>
              <a:buChar char="•"/>
            </a:pPr>
            <a:r>
              <a:rPr lang="en-MY" dirty="0"/>
              <a:t>Perlu kepakaran pembinaan di persekitaran lembap dan berpotensi hakisan</a:t>
            </a:r>
          </a:p>
          <a:p>
            <a:pPr marL="285750" indent="-285750">
              <a:buFont typeface="Arial" panose="020B0604020202020204" pitchFamily="34" charset="0"/>
              <a:buChar char="•"/>
            </a:pPr>
            <a:r>
              <a:rPr lang="en-MY" dirty="0"/>
              <a:t>Asas stabil dan rata, dengan saliran permukaan yang berkesan</a:t>
            </a:r>
          </a:p>
          <a:p>
            <a:pPr marL="285750" indent="-285750">
              <a:buFont typeface="Arial" panose="020B0604020202020204" pitchFamily="34" charset="0"/>
              <a:buChar char="•"/>
            </a:pPr>
            <a:r>
              <a:rPr lang="en-MY" dirty="0"/>
              <a:t>Jenis: Promenade, Jeti, Dek Kayu, Boardwalk, Footbridge</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S06 · SKRIN PERINCIAN (FULL_SLIDE) · induk S04 · Struktur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S06 — SKRIN PERINCIAN (Struktur Teduhan)</a:t>
            </a:r>
          </a:p>
          <a:p>
            <a:r>
              <a:rPr lang="en-MY" sz="900" b="1" dirty="0"/>
              <a:t>FUNGSI: Menerangkan fungsi dan jenis struktur teduhan.</a:t>
            </a:r>
          </a:p>
          <a:p>
            <a:r>
              <a:rPr lang="en-MY" sz="900" dirty="0"/>
              <a:t/>
            </a:r>
          </a:p>
          <a:p>
            <a:r>
              <a:rPr lang="en-MY" sz="900" b="1" dirty="0"/>
              <a:t>INTERAKSI:</a:t>
            </a:r>
          </a:p>
          <a:p>
            <a:r>
              <a:rPr lang="en-MY" sz="900" dirty="0"/>
              <a:t>  Dicapai dengan klik kad "Struktur Teduhan" pada S04.</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S04, dengan kad "Struktur Teduhan"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Rajah 24 - Contoh Pergola, modul ms 240]</a:t>
            </a:r>
          </a:p>
          <a:p>
            <a:r>
              <a:rPr lang="en-MY" sz="900" dirty="0"/>
              <a:t>  Aset dikenal pasti dan diukur, tetapi TIDAK diikat pada peringkat ini.</a:t>
            </a:r>
          </a:p>
          <a:p>
            <a:r>
              <a:rPr lang="en-MY" sz="900" dirty="0"/>
              <a:t>  Satu imej sumber tersedia untuk skrin ini.</a:t>
            </a:r>
          </a:p>
          <a:p>
            <a:r>
              <a:rPr lang="en-MY" sz="900" dirty="0"/>
              <a:t/>
            </a:r>
          </a:p>
          <a:p>
            <a:r>
              <a:rPr lang="en-MY" sz="900" b="1" dirty="0"/>
              <a:t>SUMBER MODUL:</a:t>
            </a:r>
          </a:p>
          <a:p>
            <a:r>
              <a:rPr lang="en-MY" sz="900" dirty="0"/>
              <a:t>  Modul ms 239 (fizikal 258) - 3.3.2 Struktur Teduhan.</a:t>
            </a:r>
          </a:p>
          <a:p>
            <a:r>
              <a:rPr lang="en-MY" sz="900" dirty="0"/>
              <a:t>  Imej: Rajah 24, modul ms 240 (fizikal 259).</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Wakaf ialah istilah Melayu dan TIDAK dicondongkan.</a:t>
            </a:r>
          </a:p>
          <a:p>
            <a:r>
              <a:rPr lang="en-MY" sz="900" dirty="0"/>
              <a:t>  Subseksyen ini tiada blok Aspek Pembinaan - satu-satunya dalam 3.3.</a:t>
            </a:r>
          </a:p>
          <a:p>
            <a:r>
              <a:rPr lang="en-MY" sz="900" dirty="0"/>
              <a:t/>
            </a:r>
          </a:p>
          <a:p>
            <a:r>
              <a:rPr lang="en-MY" sz="900" b="1" dirty="0"/>
              <a:t>STATUS KEPUTUSAN:</a:t>
            </a:r>
          </a:p>
          <a:p>
            <a:r>
              <a:rPr lang="en-MY" sz="900" dirty="0"/>
              <a:t>  SOURCE_BOUND_TEXT - paparan dan VO diterbitkan daripada modul.</a:t>
            </a:r>
          </a:p>
          <a:p>
            <a:r>
              <a:rPr lang="en-MY" sz="900" dirty="0"/>
              <a:t>  Pilihan aset akhir: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Teduhan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Rajah 24 -</a:t>
            </a:r>
          </a:p>
          <a:p>
            <a:r>
              <a:rPr lang="en-MY" sz="1200" dirty="0">
                <a:solidFill>
                  <a:schemeClr val="tx1">
                    <a:lumMod val="85000"/>
                    <a:lumOff val="15000"/>
                  </a:schemeClr>
                </a:solidFill>
              </a:rPr>
              <a:t>Contoh Pergola, modul ms 240]</a:t>
            </a:r>
          </a:p>
          <a:p>
            <a:r>
              <a:rPr lang="en-MY" sz="1200" dirty="0">
                <a:solidFill>
                  <a:schemeClr val="tx1">
                    <a:lumMod val="85000"/>
                    <a:lumOff val="15000"/>
                  </a:schemeClr>
                </a:solidFill>
              </a:rPr>
              <a:t/>
            </a:r>
          </a:p>
          <a:p>
            <a:r>
              <a:rPr lang="en-MY" sz="1200" dirty="0">
                <a:solidFill>
                  <a:schemeClr val="tx1">
                    <a:lumMod val="85000"/>
                    <a:lumOff val="15000"/>
                  </a:schemeClr>
                </a:solidFill>
              </a:rPr>
              <a:t>Satu imej sumber tersedia.</a:t>
            </a:r>
          </a:p>
          <a:p>
            <a:r>
              <a:rPr lang="en-MY" sz="1200" dirty="0">
                <a:solidFill>
                  <a:schemeClr val="tx1">
                    <a:lumMod val="85000"/>
                    <a:lumOff val="15000"/>
                  </a:schemeClr>
                </a:solidFill>
              </a:rPr>
              <a:t>Belum diikat.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Teduhan</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Perlindungan daripada matahari dan hujan</a:t>
            </a:r>
          </a:p>
          <a:p>
            <a:pPr marL="285750" indent="-285750">
              <a:buFont typeface="Arial" panose="020B0604020202020204" pitchFamily="34" charset="0"/>
              <a:buChar char="•"/>
            </a:pPr>
            <a:r>
              <a:rPr lang="en-MY" dirty="0"/>
              <a:t>Mewujudkan ruang selesa untuk bersantai atau berinteraksi</a:t>
            </a:r>
          </a:p>
          <a:p>
            <a:pPr marL="285750" indent="-285750">
              <a:buFont typeface="Arial" panose="020B0604020202020204" pitchFamily="34" charset="0"/>
              <a:buChar char="•"/>
            </a:pPr>
            <a:r>
              <a:rPr lang="en-MY" dirty="0"/>
              <a:t>Jenis: Gazebo, Wakaf, Pergola, Canopy, Struktur Teduhan Moden</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S07 · SKRIN PERINCIAN (FULL_SLIDE) · induk S04 · Struktur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S07 — SKRIN PERINCIAN (Kemudahan Awam)</a:t>
            </a:r>
          </a:p>
          <a:p>
            <a:r>
              <a:rPr lang="en-MY" sz="900" b="1" dirty="0"/>
              <a:t>FUNGSI: Menerangkan fungsi, keperluan reka bentuk dan contoh kemudahan awam.</a:t>
            </a:r>
          </a:p>
          <a:p>
            <a:r>
              <a:rPr lang="en-MY" sz="900" dirty="0"/>
              <a:t/>
            </a:r>
          </a:p>
          <a:p>
            <a:r>
              <a:rPr lang="en-MY" sz="900" b="1" dirty="0"/>
              <a:t>INTERAKSI:</a:t>
            </a:r>
          </a:p>
          <a:p>
            <a:r>
              <a:rPr lang="en-MY" sz="900" dirty="0"/>
              <a:t>  Dicapai dengan klik kad "Kemudahan Awam" pada S04.</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S04, dengan kad "Kemudahan Awam"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NO_DEDICATED_SOURCE_IMAGE - disahkan dalam PDF terpapar, bukan kegagalan pengekstrakan.</a:t>
            </a:r>
          </a:p>
          <a:p>
            <a:r>
              <a:rPr lang="en-MY" sz="900" dirty="0"/>
              <a:t>  Modul ms 240 hanya membawa satu imej dan imej itu milik 3.3.2 (S06).</a:t>
            </a:r>
          </a:p>
          <a:p>
            <a:r>
              <a:rPr lang="en-MY" sz="900" dirty="0"/>
              <a:t>  [Visual: Cadangan rajah native - tiga sel berlabel disusun mendatar:</a:t>
            </a:r>
          </a:p>
          <a:p>
            <a:r>
              <a:rPr lang="en-MY" sz="900" dirty="0"/>
              <a:t>    Tandas Awam | Surau | Bangunan Interpretatif.</a:t>
            </a:r>
          </a:p>
          <a:p>
            <a:r>
              <a:rPr lang="en-MY" sz="900" dirty="0"/>
              <a:t>    Setiap sel membawa satu baris gloss daripada jadual spesifikasi modul,</a:t>
            </a:r>
          </a:p>
          <a:p>
            <a:r>
              <a:rPr lang="en-MY" sz="900" dirty="0"/>
              <a:t>    dan satu ikon aksesibiliti OKU pada sel yang berkenaan.</a:t>
            </a:r>
          </a:p>
          <a:p>
            <a:r>
              <a:rPr lang="en-MY" sz="900" dirty="0"/>
              <a:t>    Palet dan bentuk mengikut geometri native dek ini.]</a:t>
            </a:r>
          </a:p>
          <a:p>
            <a:r>
              <a:rPr lang="en-MY" sz="900" dirty="0"/>
              <a:t>  RAJAH INI TIDAK DILUKIS DAN TIDAK DIBENAMKAN PADA PERINGKAT INI.</a:t>
            </a:r>
          </a:p>
          <a:p>
            <a:r>
              <a:rPr lang="en-MY" sz="900" dirty="0"/>
              <a:t>  Ia diterangkan dalam arahan visual sahaja, untuk keputusan Bariah.</a:t>
            </a:r>
          </a:p>
          <a:p>
            <a:r>
              <a:rPr lang="en-MY" sz="900" dirty="0"/>
              <a:t/>
            </a:r>
          </a:p>
          <a:p>
            <a:r>
              <a:rPr lang="en-MY" sz="900" b="1" dirty="0"/>
              <a:t>SUMBER MODUL:</a:t>
            </a:r>
          </a:p>
          <a:p>
            <a:r>
              <a:rPr lang="en-MY" sz="900" dirty="0"/>
              <a:t>  Modul ms 240 (fizikal 259) - 3.3.3 Kemudahan Awam.</a:t>
            </a:r>
          </a:p>
          <a:p>
            <a:r>
              <a:rPr lang="en-MY" sz="900" dirty="0"/>
              <a:t>  Imej: TIADA. NO_DEDICATED_SOURCE_IMAGE (disahkan dalam PDF terpapar).</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Rajah native adalah CADANGAN sahaja. Tidak dilukis, tidak dibenamkan.</a:t>
            </a:r>
          </a:p>
          <a:p>
            <a:r>
              <a:rPr lang="en-MY" sz="900" dirty="0"/>
              <a:t>  Alternatif B (potong jadual spesifikasi daripada PDF) juga terbuka - lihat D-06.</a:t>
            </a:r>
          </a:p>
          <a:p>
            <a:r>
              <a:rPr lang="en-MY" sz="900" dirty="0"/>
              <a:t/>
            </a:r>
          </a:p>
          <a:p>
            <a:r>
              <a:rPr lang="en-MY" sz="900" b="1" dirty="0"/>
              <a:t>STATUS KEPUTUSAN:</a:t>
            </a:r>
          </a:p>
          <a:p>
            <a:r>
              <a:rPr lang="en-MY" sz="900" dirty="0"/>
              <a:t>  SOURCE_BOUND_TEXT - paparan dan VO diterbitkan daripada modul.</a:t>
            </a:r>
          </a:p>
          <a:p>
            <a:r>
              <a:rPr lang="en-MY" sz="900" dirty="0"/>
              <a:t>  Rawatan visual: OPEN_DECISION, PROPOSED_FOR_BARIAH_REVIEW (D-06).</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Kemudahan Awam</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NO_DEDICATED_SOURCE_IMAGE</a:t>
            </a:r>
          </a:p>
          <a:p>
            <a:r>
              <a:rPr lang="en-MY" sz="1200" dirty="0">
                <a:solidFill>
                  <a:schemeClr val="tx1">
                    <a:lumMod val="85000"/>
                    <a:lumOff val="15000"/>
                  </a:schemeClr>
                </a:solidFill>
              </a:rPr>
              <a:t>Modul ms 240 tiada imej untuk 3.3.3.</a:t>
            </a:r>
          </a:p>
          <a:p>
            <a:r>
              <a:rPr lang="en-MY" sz="1200" dirty="0">
                <a:solidFill>
                  <a:schemeClr val="tx1">
                    <a:lumMod val="85000"/>
                    <a:lumOff val="15000"/>
                  </a:schemeClr>
                </a:solidFill>
              </a:rPr>
              <a:t/>
            </a:r>
          </a:p>
          <a:p>
            <a:r>
              <a:rPr lang="en-MY" sz="1200" dirty="0">
                <a:solidFill>
                  <a:schemeClr val="tx1">
                    <a:lumMod val="85000"/>
                    <a:lumOff val="15000"/>
                  </a:schemeClr>
                </a:solidFill>
              </a:rPr>
              <a:t>[Visual: Cadangan rajah native -</a:t>
            </a:r>
          </a:p>
          <a:p>
            <a:r>
              <a:rPr lang="en-MY" sz="1200" dirty="0">
                <a:solidFill>
                  <a:schemeClr val="tx1">
                    <a:lumMod val="85000"/>
                    <a:lumOff val="15000"/>
                  </a:schemeClr>
                </a:solidFill>
              </a:rPr>
              <a:t>tiga sel berlabel mendatar:</a:t>
            </a:r>
          </a:p>
          <a:p>
            <a:r>
              <a:rPr lang="en-MY" sz="1200" dirty="0">
                <a:solidFill>
                  <a:schemeClr val="tx1">
                    <a:lumMod val="85000"/>
                    <a:lumOff val="15000"/>
                  </a:schemeClr>
                </a:solidFill>
              </a:rPr>
              <a:t>Tandas Awam | Surau |</a:t>
            </a:r>
          </a:p>
          <a:p>
            <a:r>
              <a:rPr lang="en-MY" sz="1200" dirty="0">
                <a:solidFill>
                  <a:schemeClr val="tx1">
                    <a:lumMod val="85000"/>
                    <a:lumOff val="15000"/>
                  </a:schemeClr>
                </a:solidFill>
              </a:rPr>
              <a:t>Bangunan Interpretatif, setiap satu</a:t>
            </a:r>
          </a:p>
          <a:p>
            <a:r>
              <a:rPr lang="en-MY" sz="1200" dirty="0">
                <a:solidFill>
                  <a:schemeClr val="tx1">
                    <a:lumMod val="85000"/>
                    <a:lumOff val="15000"/>
                  </a:schemeClr>
                </a:solidFill>
              </a:rPr>
              <a:t>dengan gloss daripada jadual</a:t>
            </a:r>
          </a:p>
          <a:p>
            <a:r>
              <a:rPr lang="en-MY" sz="1200" dirty="0">
                <a:solidFill>
                  <a:schemeClr val="tx1">
                    <a:lumMod val="85000"/>
                    <a:lumOff val="15000"/>
                  </a:schemeClr>
                </a:solidFill>
              </a:rPr>
              <a:t>spesifikasi modul, dan ikon</a:t>
            </a:r>
          </a:p>
          <a:p>
            <a:r>
              <a:rPr lang="en-MY" sz="1200" dirty="0">
                <a:solidFill>
                  <a:schemeClr val="tx1">
                    <a:lumMod val="85000"/>
                    <a:lumOff val="15000"/>
                  </a:schemeClr>
                </a:solidFill>
              </a:rPr>
              <a:t>aksesibiliti OKU.]</a:t>
            </a:r>
          </a:p>
          <a:p>
            <a:r>
              <a:rPr lang="en-MY" sz="1200" dirty="0">
                <a:solidFill>
                  <a:schemeClr val="tx1">
                    <a:lumMod val="85000"/>
                    <a:lumOff val="15000"/>
                  </a:schemeClr>
                </a:solidFill>
              </a:rPr>
              <a:t/>
            </a:r>
          </a:p>
          <a:p>
            <a:r>
              <a:rPr lang="en-MY" sz="1200" dirty="0">
                <a:solidFill>
                  <a:schemeClr val="tx1">
                    <a:lumMod val="85000"/>
                    <a:lumOff val="15000"/>
                  </a:schemeClr>
                </a:solidFill>
              </a:rPr>
              <a:t>Rajah TIDAK dilukis di sini.</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Kemudahan Awam</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Perkhidmatan asas untuk keselesaan dan pendidikan pengguna taman</a:t>
            </a:r>
          </a:p>
          <a:p>
            <a:pPr marL="285750" indent="-285750">
              <a:buFont typeface="Arial" panose="020B0604020202020204" pitchFamily="34" charset="0"/>
              <a:buChar char="•"/>
            </a:pPr>
            <a:r>
              <a:rPr lang="en-MY" dirty="0"/>
              <a:t>Reka bentuk berfungsi, tahan lasak dan mudah diselenggara</a:t>
            </a:r>
          </a:p>
          <a:p>
            <a:pPr marL="285750" indent="-285750">
              <a:buFont typeface="Arial" panose="020B0604020202020204" pitchFamily="34" charset="0"/>
              <a:buChar char="•"/>
            </a:pPr>
            <a:r>
              <a:rPr lang="en-MY" dirty="0"/>
              <a:t>Aksesibiliti OKU satu pertimbangan penting</a:t>
            </a:r>
          </a:p>
          <a:p>
            <a:pPr marL="285750" indent="-285750">
              <a:buFont typeface="Arial" panose="020B0604020202020204" pitchFamily="34" charset="0"/>
              <a:buChar char="•"/>
            </a:pPr>
            <a:r>
              <a:rPr lang="en-MY" dirty="0"/>
              <a:t>Bahan tahan vandalisme dan cuaca</a:t>
            </a:r>
          </a:p>
          <a:p>
            <a:pPr marL="285750" indent="-285750">
              <a:buFont typeface="Arial" panose="020B0604020202020204" pitchFamily="34" charset="0"/>
              <a:buChar char="•"/>
            </a:pPr>
            <a:r>
              <a:rPr lang="en-MY" dirty="0"/>
              <a:t>Contoh: Tandas Awam, Surau, Bangunan Interpretatif</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S08 · SKRIN PERINCIAN (FULL_SLIDE) · induk S04 · Struktur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S08 — SKRIN PERINCIAN (Water Feature)</a:t>
            </a:r>
          </a:p>
          <a:p>
            <a:r>
              <a:rPr lang="en-MY" sz="900" b="1" dirty="0"/>
              <a:t>FUNGSI: Menerangkan fungsi, keperluan sistem dan contoh water feature.</a:t>
            </a:r>
          </a:p>
          <a:p>
            <a:r>
              <a:rPr lang="en-MY" sz="900" dirty="0"/>
              <a:t/>
            </a:r>
          </a:p>
          <a:p>
            <a:r>
              <a:rPr lang="en-MY" sz="900" b="1" dirty="0"/>
              <a:t>INTERAKSI:</a:t>
            </a:r>
          </a:p>
          <a:p>
            <a:r>
              <a:rPr lang="en-MY" sz="900" dirty="0"/>
              <a:t>  Dicapai dengan klik kad "Water Feature" pada S04.</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S04, dengan kad "Water Feature"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NO_DEDICATED_SOURCE_IMAGE - modul ms 241 tiada sebarang imej terbenam.</a:t>
            </a:r>
          </a:p>
          <a:p>
            <a:r>
              <a:rPr lang="en-MY" sz="900" dirty="0"/>
              <a:t>  [Visual: Cadangan rajah native - keratan rentas ringkas sebuah water feature</a:t>
            </a:r>
          </a:p>
          <a:p>
            <a:r>
              <a:rPr lang="en-MY" sz="900" dirty="0"/>
              <a:t>    menunjukkan empat komponen berlabel: pam air, penapis, paip dan saliran;</a:t>
            </a:r>
          </a:p>
          <a:p>
            <a:r>
              <a:rPr lang="en-MY" sz="900" dirty="0"/>
              <a:t>    serta tiga sel contoh berlabel Air Pancut | Kolam | Kolam Renang atau Hiasan.</a:t>
            </a:r>
          </a:p>
          <a:p>
            <a:r>
              <a:rPr lang="en-MY" sz="900" dirty="0"/>
              <a:t>    Semua label diambil daripada jadual spesifikasi modul.</a:t>
            </a:r>
          </a:p>
          <a:p>
            <a:r>
              <a:rPr lang="en-MY" sz="900" dirty="0"/>
              <a:t>    Palet dan bentuk mengikut geometri native dek ini.]</a:t>
            </a:r>
          </a:p>
          <a:p>
            <a:r>
              <a:rPr lang="en-MY" sz="900" dirty="0"/>
              <a:t>  RAJAH INI TIDAK DILUKIS DAN TIDAK DIBENAMKAN PADA PERINGKAT INI.</a:t>
            </a:r>
          </a:p>
          <a:p>
            <a:r>
              <a:rPr lang="en-MY" sz="900" dirty="0"/>
              <a:t>  Ia diterangkan dalam arahan visual sahaja, untuk keputusan Bariah.</a:t>
            </a:r>
          </a:p>
          <a:p>
            <a:r>
              <a:rPr lang="en-MY" sz="900" dirty="0"/>
              <a:t/>
            </a:r>
          </a:p>
          <a:p>
            <a:r>
              <a:rPr lang="en-MY" sz="900" b="1" dirty="0"/>
              <a:t>SUMBER MODUL:</a:t>
            </a:r>
          </a:p>
          <a:p>
            <a:r>
              <a:rPr lang="en-MY" sz="900" dirty="0"/>
              <a:t>  Modul ms 241 (fizikal 260) - 3.3.4 Water Feature.</a:t>
            </a:r>
          </a:p>
          <a:p>
            <a:r>
              <a:rPr lang="en-MY" sz="900" dirty="0"/>
              <a:t>  Imej: TIADA. NO_DEDICATED_SOURCE_IMAGE (disahkan dalam PDF terpapar).</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Rajah native adalah CADANGAN sahaja. Tidak dilukis, tidak dibenamkan.</a:t>
            </a:r>
          </a:p>
          <a:p>
            <a:r>
              <a:rPr lang="en-MY" sz="900" dirty="0"/>
              <a:t>  Modul menggunakan "Ciri air" dalam badan teks dan "Water Feature" pada tajuk.</a:t>
            </a:r>
          </a:p>
          <a:p>
            <a:r>
              <a:rPr lang="en-MY" sz="900" dirty="0"/>
              <a:t>  Kedua-dua bentuk disahkan sumber; label kad menggunakan Water Feature (condong).</a:t>
            </a:r>
          </a:p>
          <a:p>
            <a:r>
              <a:rPr lang="en-MY" sz="900" dirty="0"/>
              <a:t/>
            </a:r>
          </a:p>
          <a:p>
            <a:r>
              <a:rPr lang="en-MY" sz="900" b="1" dirty="0"/>
              <a:t>STATUS KEPUTUSAN:</a:t>
            </a:r>
          </a:p>
          <a:p>
            <a:r>
              <a:rPr lang="en-MY" sz="900" dirty="0"/>
              <a:t>  SOURCE_BOUND_TEXT - paparan dan VO diterbitkan daripada modul.</a:t>
            </a:r>
          </a:p>
          <a:p>
            <a:r>
              <a:rPr lang="en-MY" sz="900" dirty="0"/>
              <a:t>  Rawatan visual: OPEN_DECISION, PROPOSED_FOR_BARIAH_REVIEW (D-06).</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i="1" dirty="0"/>
              <a:t>Water Feature</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NO_DEDICATED_SOURCE_IMAGE</a:t>
            </a:r>
          </a:p>
          <a:p>
            <a:r>
              <a:rPr lang="en-MY" sz="1200" dirty="0">
                <a:solidFill>
                  <a:schemeClr val="tx1">
                    <a:lumMod val="85000"/>
                    <a:lumOff val="15000"/>
                  </a:schemeClr>
                </a:solidFill>
              </a:rPr>
              <a:t>Modul ms 241 tiada imej langsung.</a:t>
            </a:r>
          </a:p>
          <a:p>
            <a:r>
              <a:rPr lang="en-MY" sz="1200" dirty="0">
                <a:solidFill>
                  <a:schemeClr val="tx1">
                    <a:lumMod val="85000"/>
                    <a:lumOff val="15000"/>
                  </a:schemeClr>
                </a:solidFill>
              </a:rPr>
              <a:t/>
            </a:r>
          </a:p>
          <a:p>
            <a:r>
              <a:rPr lang="en-MY" sz="1200" dirty="0">
                <a:solidFill>
                  <a:schemeClr val="tx1">
                    <a:lumMod val="85000"/>
                    <a:lumOff val="15000"/>
                  </a:schemeClr>
                </a:solidFill>
              </a:rPr>
              <a:t>[Visual: Cadangan rajah native -</a:t>
            </a:r>
          </a:p>
          <a:p>
            <a:r>
              <a:rPr lang="en-MY" sz="1200" dirty="0">
                <a:solidFill>
                  <a:schemeClr val="tx1">
                    <a:lumMod val="85000"/>
                    <a:lumOff val="15000"/>
                  </a:schemeClr>
                </a:solidFill>
              </a:rPr>
              <a:t>keratan rentas water feature dengan</a:t>
            </a:r>
          </a:p>
          <a:p>
            <a:r>
              <a:rPr lang="en-MY" sz="1200" dirty="0">
                <a:solidFill>
                  <a:schemeClr val="tx1">
                    <a:lumMod val="85000"/>
                    <a:lumOff val="15000"/>
                  </a:schemeClr>
                </a:solidFill>
              </a:rPr>
              <a:t>pam air, penapis, paip dan saliran</a:t>
            </a:r>
          </a:p>
          <a:p>
            <a:r>
              <a:rPr lang="en-MY" sz="1200" dirty="0">
                <a:solidFill>
                  <a:schemeClr val="tx1">
                    <a:lumMod val="85000"/>
                    <a:lumOff val="15000"/>
                  </a:schemeClr>
                </a:solidFill>
              </a:rPr>
              <a:t>berlabel; serta tiga sel contoh:</a:t>
            </a:r>
          </a:p>
          <a:p>
            <a:r>
              <a:rPr lang="en-MY" sz="1200" dirty="0">
                <a:solidFill>
                  <a:schemeClr val="tx1">
                    <a:lumMod val="85000"/>
                    <a:lumOff val="15000"/>
                  </a:schemeClr>
                </a:solidFill>
              </a:rPr>
              <a:t>Air Pancut | Kolam | Kolam Renang</a:t>
            </a:r>
          </a:p>
          <a:p>
            <a:r>
              <a:rPr lang="en-MY" sz="1200" dirty="0">
                <a:solidFill>
                  <a:schemeClr val="tx1">
                    <a:lumMod val="85000"/>
                    <a:lumOff val="15000"/>
                  </a:schemeClr>
                </a:solidFill>
              </a:rPr>
              <a:t>atau Hiasan.]</a:t>
            </a:r>
          </a:p>
          <a:p>
            <a:r>
              <a:rPr lang="en-MY" sz="1200" dirty="0">
                <a:solidFill>
                  <a:schemeClr val="tx1">
                    <a:lumMod val="85000"/>
                    <a:lumOff val="15000"/>
                  </a:schemeClr>
                </a:solidFill>
              </a:rPr>
              <a:t/>
            </a:r>
          </a:p>
          <a:p>
            <a:r>
              <a:rPr lang="en-MY" sz="1200" dirty="0">
                <a:solidFill>
                  <a:schemeClr val="tx1">
                    <a:lumMod val="85000"/>
                    <a:lumOff val="15000"/>
                  </a:schemeClr>
                </a:solidFill>
              </a:rPr>
              <a:t>Rajah TIDAK dilukis di sini.</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Water Feature</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landskap yang menggunakan air untuk estetika, bunyi atau titik tumpuan</a:t>
            </a:r>
          </a:p>
          <a:p>
            <a:pPr marL="285750" indent="-285750">
              <a:buFont typeface="Arial" panose="020B0604020202020204" pitchFamily="34" charset="0"/>
              <a:buChar char="•"/>
            </a:pPr>
            <a:r>
              <a:rPr lang="en-MY" dirty="0"/>
              <a:t>Perlu sistem paip, pam air, penapisan dan saliran yang betul</a:t>
            </a:r>
          </a:p>
          <a:p>
            <a:pPr marL="285750" indent="-285750">
              <a:buFont typeface="Arial" panose="020B0604020202020204" pitchFamily="34" charset="0"/>
              <a:buChar char="•"/>
            </a:pPr>
            <a:r>
              <a:rPr lang="en-MY" dirty="0"/>
              <a:t>Kawalan kualiti air termasuk pencegahan alga</a:t>
            </a:r>
          </a:p>
          <a:p>
            <a:pPr marL="285750" indent="-285750">
              <a:buFont typeface="Arial" panose="020B0604020202020204" pitchFamily="34" charset="0"/>
              <a:buChar char="•"/>
            </a:pPr>
            <a:r>
              <a:rPr lang="en-MY" dirty="0"/>
              <a:t>Keselamatan: kedalaman dan permukaan yang tidak licin</a:t>
            </a:r>
          </a:p>
          <a:p>
            <a:pPr marL="285750" indent="-285750">
              <a:buFont typeface="Arial" panose="020B0604020202020204" pitchFamily="34" charset="0"/>
              <a:buChar char="•"/>
            </a:pPr>
            <a:r>
              <a:rPr lang="en-MY" dirty="0"/>
              <a:t>Contoh: Air Pancut, Kolam, Kolam Renang atau Kolam Hiasan</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S09 · STATE SELESAI bagi S04 · empat kad ditanda selesai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S09 — KAD INDUK, STATE SELESAI (Struktur Taman)</a:t>
            </a:r>
          </a:p>
          <a:p>
            <a:r>
              <a:rPr lang="en-MY" sz="900" b="1" dirty="0"/>
              <a:t>FUNGSI: State selesai bagi S04. Menunjukkan keempat-empat struktur telah dilawati.</a:t>
            </a:r>
          </a:p>
          <a:p>
            <a:r>
              <a:rPr lang="en-MY" sz="900" dirty="0"/>
              <a:t/>
            </a:r>
          </a:p>
          <a:p>
            <a:r>
              <a:rPr lang="en-MY" sz="900" b="1" dirty="0"/>
              <a:t>INTERAKSI:</a:t>
            </a:r>
          </a:p>
          <a:p>
            <a:r>
              <a:rPr lang="en-MY" sz="900" dirty="0"/>
              <a:t>  Tiada klik kad baharu diperlukan. Kad kekal boleh diklik untuk semakan semula.</a:t>
            </a:r>
          </a:p>
          <a:p>
            <a:r>
              <a:rPr lang="en-MY" sz="900" dirty="0"/>
              <a:t>  Butang maju dibuka. Peralihan ke S10.</a:t>
            </a:r>
          </a:p>
          <a:p>
            <a:r>
              <a:rPr lang="en-MY" sz="900" dirty="0"/>
              <a:t/>
            </a:r>
          </a:p>
          <a:p>
            <a:r>
              <a:rPr lang="en-MY" sz="900" b="1" dirty="0"/>
              <a:t>STATE / PERALIHAN:</a:t>
            </a:r>
          </a:p>
          <a:p>
            <a:r>
              <a:rPr lang="en-MY" sz="900" dirty="0"/>
              <a:t>  Dicapai secara automatik apabila keempat-empat kad S04 selesai.</a:t>
            </a:r>
          </a:p>
          <a:p>
            <a:r>
              <a:rPr lang="en-MY" sz="900" dirty="0"/>
              <a:t>  Setiap kad membawa tanda selesai (tik hijau) di tengah kad.</a:t>
            </a:r>
          </a:p>
          <a:p>
            <a:r>
              <a:rPr lang="en-MY" sz="900" dirty="0"/>
              <a:t>  nav-lock-until-complete dilepaskan pada state ini.</a:t>
            </a:r>
          </a:p>
          <a:p>
            <a:r>
              <a:rPr lang="en-MY" sz="900" dirty="0"/>
              <a:t/>
            </a:r>
          </a:p>
          <a:p>
            <a:r>
              <a:rPr lang="en-MY" sz="900" b="1" dirty="0"/>
              <a:t>VISUAL (spesifikasi sahaja — tidak dibenamkan):</a:t>
            </a:r>
          </a:p>
          <a:p>
            <a:r>
              <a:rPr lang="en-MY" sz="900" dirty="0"/>
              <a:t>  Tiada visual baharu. Warisi arahan visual S04.</a:t>
            </a:r>
          </a:p>
          <a:p>
            <a:r>
              <a:rPr lang="en-MY" sz="900" dirty="0"/>
              <a:t>  Tanda selesai dilukis sebagai geometri native, bukan imej.</a:t>
            </a:r>
          </a:p>
          <a:p>
            <a:r>
              <a:rPr lang="en-MY" sz="900" dirty="0"/>
              <a:t/>
            </a:r>
          </a:p>
          <a:p>
            <a:r>
              <a:rPr lang="en-MY" sz="900" b="1" dirty="0"/>
              <a:t>SUMBER MODUL:</a:t>
            </a:r>
          </a:p>
          <a:p>
            <a:r>
              <a:rPr lang="en-MY" sz="900" dirty="0"/>
              <a:t>  Modul ms 237 (fizikal 256) - warisi S04.</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Tik: 0.3937 in, dipusatkan pada setiap kad, warna 2E7D32.</a:t>
            </a:r>
          </a:p>
          <a:p>
            <a:r>
              <a:rPr lang="en-MY" sz="900" dirty="0"/>
              <a:t>  Tik adalah geometri native - ia BUKAN aset multimedia.</a:t>
            </a:r>
          </a:p>
          <a:p>
            <a:r>
              <a:rPr lang="en-MY" sz="900" dirty="0"/>
              <a:t/>
            </a:r>
          </a:p>
          <a:p>
            <a:r>
              <a:rPr lang="en-MY" sz="900" b="1" dirty="0"/>
              <a:t>STATUS KEPUTUSAN:</a:t>
            </a:r>
          </a:p>
          <a:p>
            <a:r>
              <a:rPr lang="en-MY" sz="900" dirty="0"/>
              <a:t>  SOURCE_BOUND_TEXT - warisi S04.</a:t>
            </a:r>
          </a:p>
          <a:p>
            <a:r>
              <a:rPr lang="en-MY" sz="900" dirty="0"/>
              <a:t>  VO sengaja KOSONG mengikut konvensyen state selesai. Untuk pengesahan Bariah (D-09).</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Struktur Persisir Air]</a:t>
            </a:r>
          </a:p>
          <a:p>
            <a:r>
              <a:rPr lang="en-MY" sz="1200" dirty="0">
                <a:solidFill>
                  <a:schemeClr val="tx1">
                    <a:lumMod val="85000"/>
                    <a:lumOff val="15000"/>
                  </a:schemeClr>
                </a:solidFill>
              </a:rPr>
              <a:t>Gunakan Rajah 23 - Contoh</a:t>
            </a:r>
          </a:p>
          <a:p>
            <a:r>
              <a:rPr lang="en-MY" sz="1200" dirty="0">
                <a:solidFill>
                  <a:schemeClr val="tx1">
                    <a:lumMod val="85000"/>
                    <a:lumOff val="15000"/>
                  </a:schemeClr>
                </a:solidFill>
              </a:rPr>
              <a:t>Boardwalk dalam Taman Paya</a:t>
            </a:r>
          </a:p>
          <a:p>
            <a:r>
              <a:rPr lang="en-MY" sz="1200" dirty="0">
                <a:solidFill>
                  <a:schemeClr val="tx1">
                    <a:lumMod val="85000"/>
                    <a:lumOff val="15000"/>
                  </a:schemeClr>
                </a:solidFill>
              </a:rPr>
              <a:t>Bakau, modul ms 239</a:t>
            </a:r>
          </a:p>
          <a:p>
            <a:r>
              <a:rPr lang="en-MY" sz="1200" dirty="0">
                <a:solidFill>
                  <a:schemeClr val="tx1">
                    <a:lumMod val="85000"/>
                    <a:lumOff val="15000"/>
                  </a:schemeClr>
                </a:solidFill>
              </a:rPr>
              <a:t>SELESAI</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Struktur Teduhan]</a:t>
            </a:r>
          </a:p>
          <a:p>
            <a:r>
              <a:rPr lang="en-MY" sz="1200" dirty="0">
                <a:solidFill>
                  <a:schemeClr val="tx1">
                    <a:lumMod val="85000"/>
                    <a:lumOff val="15000"/>
                  </a:schemeClr>
                </a:solidFill>
              </a:rPr>
              <a:t>Gunakan Rajah 24 - Contoh</a:t>
            </a:r>
          </a:p>
          <a:p>
            <a:r>
              <a:rPr lang="en-MY" sz="1200" dirty="0">
                <a:solidFill>
                  <a:schemeClr val="tx1">
                    <a:lumMod val="85000"/>
                    <a:lumOff val="15000"/>
                  </a:schemeClr>
                </a:solidFill>
              </a:rPr>
              <a:t>Pergola, modul ms 240</a:t>
            </a:r>
          </a:p>
          <a:p>
            <a:r>
              <a:rPr lang="en-MY" sz="1200" dirty="0">
                <a:solidFill>
                  <a:schemeClr val="tx1">
                    <a:lumMod val="85000"/>
                    <a:lumOff val="15000"/>
                  </a:schemeClr>
                </a:solidFill>
              </a:rPr>
              <a:t>SELESAI</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S07</a:t>
            </a:r>
          </a:p>
          <a:p>
            <a:r>
              <a:rPr lang="en-MY" sz="1200" dirty="0">
                <a:solidFill>
                  <a:schemeClr val="tx1">
                    <a:lumMod val="85000"/>
                    <a:lumOff val="15000"/>
                  </a:schemeClr>
                </a:solidFill>
              </a:rPr>
              <a:t>SELESAI</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S08</a:t>
            </a:r>
          </a:p>
          <a:p>
            <a:r>
              <a:rPr lang="en-MY" sz="1200" dirty="0">
                <a:solidFill>
                  <a:schemeClr val="tx1">
                    <a:lumMod val="85000"/>
                    <a:lumOff val="15000"/>
                  </a:schemeClr>
                </a:solidFill>
              </a:rPr>
              <a:t>SELESAI</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
        <p:nvSpPr>
          <p:cNvPr id="80" name="Tick"/>
          <p:cNvSpPr/>
          <p:nvPr/>
        </p:nvSpPr>
        <p:spPr>
          <a:xfrm>
            <a:off x="379348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803849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379348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803849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S10 · KAD INDUK (CLICK_REVEAL / KAD / FULL_SLIDE) · 5 kad -&gt; S11 S12 S13 S14 S15</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S10 — KAD INDUK (Perabot Taman)</a:t>
            </a:r>
          </a:p>
          <a:p>
            <a:r>
              <a:rPr lang="en-MY" sz="900" b="1" dirty="0"/>
              <a:t>FUNGSI: Skrin induk lima kad. Pintu masuk kepada lima skrin perincian perabot taman.</a:t>
            </a:r>
          </a:p>
          <a:p>
            <a:r>
              <a:rPr lang="en-MY" sz="900" dirty="0"/>
              <a:t/>
            </a:r>
          </a:p>
          <a:p>
            <a:r>
              <a:rPr lang="en-MY" sz="900" b="1" dirty="0"/>
              <a:t>INTERAKSI:</a:t>
            </a:r>
          </a:p>
          <a:p>
            <a:r>
              <a:rPr lang="en-MY" sz="900" dirty="0"/>
              <a:t>  CLICK_REVEAL. Pencetus: KAD. Pendedahan: FULL_SLIDE.</a:t>
            </a:r>
          </a:p>
          <a:p>
            <a:r>
              <a:rPr lang="en-MY" sz="900" dirty="0"/>
              <a:t>  Klik kad 1 - S11. Kad 2 - S12. Kad 3 - S13. Kad 4 - S14. Kad 5 - S15.</a:t>
            </a:r>
          </a:p>
          <a:p>
            <a:r>
              <a:rPr lang="en-MY" sz="900" dirty="0"/>
              <a:t>  Baris arahan "Klik pada setiap perabot untuk penjelasan lanjut." adalah CADANGAN,</a:t>
            </a:r>
          </a:p>
          <a:p>
            <a:r>
              <a:rPr lang="en-MY" sz="900" dirty="0"/>
              <a:t>  dibina selari dengan baris arahan S04 yang disahkan sumber.</a:t>
            </a:r>
          </a:p>
          <a:p>
            <a:r>
              <a:rPr lang="en-MY" sz="900" dirty="0"/>
              <a:t/>
            </a:r>
          </a:p>
          <a:p>
            <a:r>
              <a:rPr lang="en-MY" sz="900" b="1" dirty="0"/>
              <a:t>STATE / PERALIHAN:</a:t>
            </a:r>
          </a:p>
          <a:p>
            <a:r>
              <a:rPr lang="en-MY" sz="900" dirty="0"/>
              <a:t>  State asas: lima kad belum dilawati.</a:t>
            </a:r>
          </a:p>
          <a:p>
            <a:r>
              <a:rPr lang="en-MY" sz="900" dirty="0"/>
              <a:t>  Selepas setiap kad dilawati, kad itu ditanda selesai apabila kembali.</a:t>
            </a:r>
          </a:p>
          <a:p>
            <a:r>
              <a:rPr lang="en-MY" sz="900" dirty="0"/>
              <a:t>  Apabila kelima-lima kad selesai, skrin beralih ke S16 (state selesai).</a:t>
            </a:r>
          </a:p>
          <a:p>
            <a:r>
              <a:rPr lang="en-MY" sz="900" dirty="0"/>
              <a:t>  nav-lock-until-complete: butang maju dikunci sehingga kelima-lima dilawati.</a:t>
            </a:r>
          </a:p>
          <a:p>
            <a:r>
              <a:rPr lang="en-MY" sz="900" dirty="0"/>
              <a:t/>
            </a:r>
          </a:p>
          <a:p>
            <a:r>
              <a:rPr lang="en-MY" sz="900" b="1" dirty="0"/>
              <a:t>VISUAL (spesifikasi sahaja — tidak dibenamkan):</a:t>
            </a:r>
          </a:p>
          <a:p>
            <a:r>
              <a:rPr lang="en-MY" sz="900" dirty="0"/>
              <a:t>  [Visual: Kad 1 Kerusi Taman - foto jadual spesifikasi, modul ms 242-243 (3 imej tersedia)]</a:t>
            </a:r>
          </a:p>
          <a:p>
            <a:r>
              <a:rPr lang="en-MY" sz="900" dirty="0"/>
              <a:t>  [Visual: Kad 2 Papan Tanda - Rajah 25 / Rajah 26, modul ms 245 (2 imej tersedia)]</a:t>
            </a:r>
          </a:p>
          <a:p>
            <a:r>
              <a:rPr lang="en-MY" sz="900" dirty="0"/>
              <a:t>  [Visual: Kad 3 Tong Sampah - foto jadual spesifikasi, modul ms 246-247 (4 imej tersedia)]</a:t>
            </a:r>
          </a:p>
          <a:p>
            <a:r>
              <a:rPr lang="en-MY" sz="900" dirty="0"/>
              <a:t>  [Visual: Kad 4 Drinking Fountain - foto jadual spesifikasi, modul ms 248-249 (2 imej)]</a:t>
            </a:r>
          </a:p>
          <a:p>
            <a:r>
              <a:rPr lang="en-MY" sz="900" dirty="0"/>
              <a:t>  [Visual: Kad 5 BBQ pit - foto jadual spesifikasi, modul ms 249 (1 imej tersedia)]</a:t>
            </a:r>
          </a:p>
          <a:p>
            <a:r>
              <a:rPr lang="en-MY" sz="900" dirty="0"/>
              <a:t>  Tiada imej diikat. Pilihan akhir untuk peringkat MMD selepas kelulusan.</a:t>
            </a:r>
          </a:p>
          <a:p>
            <a:r>
              <a:rPr lang="en-MY" sz="900" dirty="0"/>
              <a:t/>
            </a:r>
          </a:p>
          <a:p>
            <a:r>
              <a:rPr lang="en-MY" sz="900" b="1" dirty="0"/>
              <a:t>SUMBER MODUL:</a:t>
            </a:r>
          </a:p>
          <a:p>
            <a:r>
              <a:rPr lang="en-MY" sz="900" dirty="0"/>
              <a:t>  Modul ms 242 (fizikal 261) - 3.4. Perabot Taman.</a:t>
            </a:r>
          </a:p>
          <a:p>
            <a:r>
              <a:rPr lang="en-MY" sz="900" dirty="0"/>
              <a:t>  Lima item diukur daripada tajuk kecil 3.4.1 (x3), 3.4.2 dan 3.4.3.</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Susunan lima kad 3+2: CARD_W 3.60, GAP_X 0.4750, jalur 0.7917/11.75.</a:t>
            </a:r>
          </a:p>
          <a:p>
            <a:r>
              <a:rPr lang="en-MY" sz="900" dirty="0"/>
              <a:t>  Baris 2 dipusatkan. Arah sampel FIRDAUS_SAMPLE_DIRECTION - BUKAN KANONIKAL.</a:t>
            </a:r>
          </a:p>
          <a:p>
            <a:r>
              <a:rPr lang="en-MY" sz="900" dirty="0"/>
              <a:t>  BERSYARAT - jika S10 diselesaikan sebagai HOTSPOT, skrin ini dibina semula.</a:t>
            </a:r>
          </a:p>
          <a:p>
            <a:r>
              <a:rPr lang="en-MY" sz="900" dirty="0"/>
              <a:t/>
            </a:r>
          </a:p>
          <a:p>
            <a:r>
              <a:rPr lang="en-MY" sz="900" b="1" dirty="0"/>
              <a:t>STATUS KEPUTUSAN:</a:t>
            </a:r>
          </a:p>
          <a:p>
            <a:r>
              <a:rPr lang="en-MY" sz="900" dirty="0"/>
              <a:t>  SOURCE_BOUND_TEXT - nama item diukur daripada tajuk modul.</a:t>
            </a:r>
          </a:p>
          <a:p>
            <a:r>
              <a:rPr lang="en-MY" sz="900" dirty="0"/>
              <a:t>  Baris arahan: PROPOSED_FOR_BARIAH_REVIEW (selari dengan S04).</a:t>
            </a:r>
          </a:p>
          <a:p>
            <a:r>
              <a:rPr lang="en-MY" sz="900" dirty="0"/>
              <a:t>  Susunan lima kad 3+2: PROPOSED_FOR_BARIAH_REVIEW (D-03).</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TextBox 14"/>
          <p:cNvSpPr txBox="1"/>
          <p:nvPr/>
        </p:nvSpPr>
        <p:spPr>
          <a:xfrm>
            <a:off x="723930" y="1182868"/>
            <a:ext cx="10744200" cy="369326"/>
          </a:xfrm>
          <a:prstGeom prst="rect">
            <a:avLst/>
          </a:prstGeom>
          <a:noFill/>
        </p:spPr>
        <p:txBody>
          <a:bodyPr wrap="square">
            <a:spAutoFit/>
          </a:bodyPr>
          <a:lstStyle/>
          <a:p>
            <a:pPr algn="ctr"/>
            <a:r>
              <a:rPr lang="en-MY" dirty="0"/>
              <a:t>Klik pada setiap perabot untuk penjelasan lanjut.</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(3 imej tersedia)</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Papan Tanda]</a:t>
            </a:r>
          </a:p>
          <a:p>
            <a:r>
              <a:rPr lang="en-MY" sz="1200" dirty="0">
                <a:solidFill>
                  <a:schemeClr val="tx1">
                    <a:lumMod val="85000"/>
                    <a:lumOff val="15000"/>
                  </a:schemeClr>
                </a:solidFill>
              </a:rPr>
              <a:t>Rajah 25 /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(2 imej tersedia)</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(4 imej tersedia)</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(2 imej tersedia)</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(1 imej tersedia)</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
        <p:nvSpPr>
          <p:cNvPr id="26" name="InstrStat"/>
          <p:cNvSpPr txBox="1"/>
          <p:nvPr/>
        </p:nvSpPr>
        <p:spPr>
          <a:xfrm>
            <a:off x="723930" y="6419088"/>
            <a:ext cx="10744200" cy="329184"/>
          </a:xfrm>
          <a:prstGeom prst="rect">
            <a:avLst/>
          </a:prstGeom>
          <a:noFill/>
        </p:spPr>
        <p:txBody>
          <a:bodyPr wrap="square">
            <a:noAutofit/>
          </a:bodyPr>
          <a:lstStyle/>
          <a:p>
            <a:r>
              <a:rPr lang="en-MY" sz="1200" b="1" dirty="0">
                <a:solidFill>
                  <a:srgbClr val="7F6000"/>
                </a:solidFill>
              </a:rPr>
              <a:t>PROPOSED_FOR_BARIAH_REVIEW — baris arahan dibina selari dengan S04; susunan lima kad 3+2 adalah arah sampel, bukan kanonikal.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S11 · SKRIN PERINCIAN (FULL_SLIDE) · induk S10 · Perabot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S11 — SKRIN PERINCIAN (Kerusi Taman)</a:t>
            </a:r>
          </a:p>
          <a:p>
            <a:r>
              <a:rPr lang="en-MY" sz="900" b="1" dirty="0"/>
              <a:t>FUNGSI: Menerangkan fungsi, faktor pemilihan dan bahan kerusi taman.</a:t>
            </a:r>
          </a:p>
          <a:p>
            <a:r>
              <a:rPr lang="en-MY" sz="900" dirty="0"/>
              <a:t/>
            </a:r>
          </a:p>
          <a:p>
            <a:r>
              <a:rPr lang="en-MY" sz="900" b="1" dirty="0"/>
              <a:t>INTERAKSI:</a:t>
            </a:r>
          </a:p>
          <a:p>
            <a:r>
              <a:rPr lang="en-MY" sz="900" dirty="0"/>
              <a:t>  Dicapai dengan klik kad "Kerusi Taman" pada S10.</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S10, dengan kad "Kerusi Taman"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foto jadual spesifikasi Kerusi Taman - tiga bahan,</a:t>
            </a:r>
          </a:p>
          <a:p>
            <a:r>
              <a:rPr lang="en-MY" sz="900" dirty="0"/>
              <a:t>    modul ms 242 (Kerusi Kayu Keras) dan ms 243 (Kerusi Konkrit, Komposit/WPC)]</a:t>
            </a:r>
          </a:p>
          <a:p>
            <a:r>
              <a:rPr lang="en-MY" sz="900" dirty="0"/>
              <a:t>  Tiga imej sumber tersedia. Pilihan akhir belum dibuat dan TIDAK diikat.</a:t>
            </a:r>
          </a:p>
          <a:p>
            <a:r>
              <a:rPr lang="en-MY" sz="900" dirty="0"/>
              <a:t/>
            </a:r>
          </a:p>
          <a:p>
            <a:r>
              <a:rPr lang="en-MY" sz="900" b="1" dirty="0"/>
              <a:t>SUMBER MODUL:</a:t>
            </a:r>
          </a:p>
          <a:p>
            <a:r>
              <a:rPr lang="en-MY" sz="900" dirty="0"/>
              <a:t>  Modul ms 242 (fizikal 261) - 3.4.1 Kerusi Taman.</a:t>
            </a:r>
          </a:p>
          <a:p>
            <a:r>
              <a:rPr lang="en-MY" sz="900" dirty="0"/>
              <a:t>  Imej: 3 foto jadual, modul ms 242-243 (fizikal 261-262).</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Tajuk modul 3.4.1 digunakan tiga kali (Kerusi Taman, Papan Tanda, Tong Sampah).</a:t>
            </a:r>
          </a:p>
          <a:p>
            <a:r>
              <a:rPr lang="en-MY" sz="900" dirty="0"/>
              <a:t>  Skrin dikenal pasti melalui TAJUK, yang unik. Pertembungan nombor tidak menjejaskan pemetaan.</a:t>
            </a:r>
          </a:p>
          <a:p>
            <a:r>
              <a:rPr lang="en-MY" sz="900" dirty="0"/>
              <a:t/>
            </a:r>
          </a:p>
          <a:p>
            <a:r>
              <a:rPr lang="en-MY" sz="900" b="1" dirty="0"/>
              <a:t>STATUS KEPUTUSAN:</a:t>
            </a:r>
          </a:p>
          <a:p>
            <a:r>
              <a:rPr lang="en-MY" sz="900" dirty="0"/>
              <a:t>  SOURCE_BOUND_TEXT - paparan dan VO diterbitkan daripada modul.</a:t>
            </a:r>
          </a:p>
          <a:p>
            <a:r>
              <a:rPr lang="en-MY" sz="900" dirty="0"/>
              <a:t>  Pilihan antara tiga imej: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Kerusi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foto jadual</a:t>
            </a:r>
          </a:p>
          <a:p>
            <a:r>
              <a:rPr lang="en-MY" sz="1200" dirty="0">
                <a:solidFill>
                  <a:schemeClr val="tx1">
                    <a:lumMod val="85000"/>
                    <a:lumOff val="15000"/>
                  </a:schemeClr>
                </a:solidFill>
              </a:rPr>
              <a:t>spesifikasi Kerusi Taman -</a:t>
            </a:r>
          </a:p>
          <a:p>
            <a:r>
              <a:rPr lang="en-MY" sz="1200" dirty="0">
                <a:solidFill>
                  <a:schemeClr val="tx1">
                    <a:lumMod val="85000"/>
                    <a:lumOff val="15000"/>
                  </a:schemeClr>
                </a:solidFill>
              </a:rPr>
              <a:t>tiga bahan, modul ms 242-243:</a:t>
            </a:r>
          </a:p>
          <a:p>
            <a:r>
              <a:rPr lang="en-MY" sz="1200" dirty="0">
                <a:solidFill>
                  <a:schemeClr val="tx1">
                    <a:lumMod val="85000"/>
                    <a:lumOff val="15000"/>
                  </a:schemeClr>
                </a:solidFill>
              </a:rPr>
              <a:t>Kayu Keras, Konkrit, Komposit/WPC]</a:t>
            </a:r>
          </a:p>
          <a:p>
            <a:r>
              <a:rPr lang="en-MY" sz="1200" dirty="0">
                <a:solidFill>
                  <a:schemeClr val="tx1">
                    <a:lumMod val="85000"/>
                    <a:lumOff val="15000"/>
                  </a:schemeClr>
                </a:solidFill>
              </a:rPr>
              <a:t/>
            </a:r>
          </a:p>
          <a:p>
            <a:r>
              <a:rPr lang="en-MY" sz="1200" dirty="0">
                <a:solidFill>
                  <a:schemeClr val="tx1">
                    <a:lumMod val="85000"/>
                    <a:lumOff val="15000"/>
                  </a:schemeClr>
                </a:solidFill>
              </a:rPr>
              <a:t>Tiga imej sumber tersedia.</a:t>
            </a:r>
          </a:p>
          <a:p>
            <a:r>
              <a:rPr lang="en-MY" sz="1200" dirty="0">
                <a:solidFill>
                  <a:schemeClr val="tx1">
                    <a:lumMod val="85000"/>
                    <a:lumOff val="15000"/>
                  </a:schemeClr>
                </a:solidFill>
              </a:rPr>
              <a:t>Pilihan akhir belum dibuat.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Kerusi Taman</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Tempat duduk untuk pengguna berehat dan menikmati persekitaran</a:t>
            </a:r>
          </a:p>
          <a:p>
            <a:pPr marL="285750" indent="-285750">
              <a:buFont typeface="Arial" panose="020B0604020202020204" pitchFamily="34" charset="0"/>
              <a:buChar char="•"/>
            </a:pPr>
            <a:r>
              <a:rPr lang="en-MY" dirty="0"/>
              <a:t>Elemen asas keselesaan di ruang awam dan peribadi</a:t>
            </a:r>
          </a:p>
          <a:p>
            <a:pPr marL="285750" indent="-285750">
              <a:buFont typeface="Arial" panose="020B0604020202020204" pitchFamily="34" charset="0"/>
              <a:buChar char="•"/>
            </a:pPr>
            <a:r>
              <a:rPr lang="en-MY" dirty="0"/>
              <a:t>Pemilihan ambil kira keselesaan, ketahanan cuaca dan estetika</a:t>
            </a:r>
          </a:p>
          <a:p>
            <a:pPr marL="285750" indent="-285750">
              <a:buFont typeface="Arial" panose="020B0604020202020204" pitchFamily="34" charset="0"/>
              <a:buChar char="•"/>
            </a:pPr>
            <a:r>
              <a:rPr lang="en-MY" dirty="0"/>
              <a:t>Pemasangan mungkin ditetapkan ke tanah bagi mengelak kecurian</a:t>
            </a:r>
          </a:p>
          <a:p>
            <a:pPr marL="285750" indent="-285750">
              <a:buFont typeface="Arial" panose="020B0604020202020204" pitchFamily="34" charset="0"/>
              <a:buChar char="•"/>
            </a:pPr>
            <a:r>
              <a:rPr lang="en-MY" dirty="0"/>
              <a:t>Bahan: kayu keras, konkrit, komposit</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S12 · SKRIN PERINCIAN (FULL_SLIDE) · induk S10 · Perabot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S12 — SKRIN PERINCIAN (Papan Tanda)</a:t>
            </a:r>
          </a:p>
          <a:p>
            <a:r>
              <a:rPr lang="en-MY" sz="900" b="1" dirty="0"/>
              <a:t>FUNGSI: Menerangkan fungsi, ciri dan jenis papan tanda dalam ruang landskap.</a:t>
            </a:r>
          </a:p>
          <a:p>
            <a:r>
              <a:rPr lang="en-MY" sz="900" dirty="0"/>
              <a:t/>
            </a:r>
          </a:p>
          <a:p>
            <a:r>
              <a:rPr lang="en-MY" sz="900" b="1" dirty="0"/>
              <a:t>INTERAKSI:</a:t>
            </a:r>
          </a:p>
          <a:p>
            <a:r>
              <a:rPr lang="en-MY" sz="900" dirty="0"/>
              <a:t>  Dicapai dengan klik kad "Papan Tanda" pada S10.</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S10, dengan kad "Papan Tanda"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Rajah 25 - Contoh Lukisan Spesifikasi Papan Tanda Informasi,</a:t>
            </a:r>
          </a:p>
          <a:p>
            <a:r>
              <a:rPr lang="en-MY" sz="900" dirty="0"/>
              <a:t>    modul ms 245; dan/atau Rajah 26 - Contoh Spesifikasi Papan Tanda Penunjuk Arah,</a:t>
            </a:r>
          </a:p>
          <a:p>
            <a:r>
              <a:rPr lang="en-MY" sz="900" dirty="0"/>
              <a:t>    modul ms 245]</a:t>
            </a:r>
          </a:p>
          <a:p>
            <a:r>
              <a:rPr lang="en-MY" sz="900" dirty="0"/>
              <a:t>  Dua imej sumber tersedia. Sama ada satu atau kedua-duanya digunakan: belum diputuskan.</a:t>
            </a:r>
          </a:p>
          <a:p>
            <a:r>
              <a:rPr lang="en-MY" sz="900" dirty="0"/>
              <a:t/>
            </a:r>
          </a:p>
          <a:p>
            <a:r>
              <a:rPr lang="en-MY" sz="900" b="1" dirty="0"/>
              <a:t>SUMBER MODUL:</a:t>
            </a:r>
          </a:p>
          <a:p>
            <a:r>
              <a:rPr lang="en-MY" sz="900" dirty="0"/>
              <a:t>  Modul ms 243 (fizikal 262) - 3.4.1 Papan Tanda.</a:t>
            </a:r>
          </a:p>
          <a:p>
            <a:r>
              <a:rPr lang="en-MY" sz="900" dirty="0"/>
              <a:t>  Imej: Rajah 25 dan Rajah 26, kedua-duanya modul ms 245 (fizikal 264).</a:t>
            </a:r>
          </a:p>
          <a:p>
            <a:r>
              <a:rPr lang="en-MY" sz="900" dirty="0"/>
              <a:t>  Locator sedia ada K5PL06T03-B02-IMG-05, ms 243 - disahkan tepat.</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Skrin ini adalah rujukan penentukuran. Paparan dan VO disahkan verbatim terhadap modul.</a:t>
            </a:r>
          </a:p>
          <a:p>
            <a:r>
              <a:rPr lang="en-MY" sz="900" dirty="0"/>
              <a:t>  Papan Tanda mempunyai DUA rajah, bukan satu.</a:t>
            </a:r>
          </a:p>
          <a:p>
            <a:r>
              <a:rPr lang="en-MY" sz="900" dirty="0"/>
              <a:t/>
            </a:r>
          </a:p>
          <a:p>
            <a:r>
              <a:rPr lang="en-MY" sz="900" b="1" dirty="0"/>
              <a:t>STATUS KEPUTUSAN:</a:t>
            </a:r>
          </a:p>
          <a:p>
            <a:r>
              <a:rPr lang="en-MY" sz="900" dirty="0"/>
              <a:t>  SOURCE_BOUND_TEXT - disahkan verbatim terhadap modul.</a:t>
            </a:r>
          </a:p>
          <a:p>
            <a:r>
              <a:rPr lang="en-MY" sz="900" dirty="0"/>
              <a:t>  Pilihan antara dua rajah: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Rajah 25 -</a:t>
            </a:r>
          </a:p>
          <a:p>
            <a:r>
              <a:rPr lang="en-MY" sz="1200" dirty="0">
                <a:solidFill>
                  <a:schemeClr val="tx1">
                    <a:lumMod val="85000"/>
                    <a:lumOff val="15000"/>
                  </a:schemeClr>
                </a:solidFill>
              </a:rPr>
              <a:t>Lukisan Spesifikasi Papan Tanda</a:t>
            </a:r>
          </a:p>
          <a:p>
            <a:r>
              <a:rPr lang="en-MY" sz="1200" dirty="0">
                <a:solidFill>
                  <a:schemeClr val="tx1">
                    <a:lumMod val="85000"/>
                    <a:lumOff val="15000"/>
                  </a:schemeClr>
                </a:solidFill>
              </a:rPr>
              <a:t>Informasi, modul ms 245;</a:t>
            </a:r>
          </a:p>
          <a:p>
            <a:r>
              <a:rPr lang="en-MY" sz="1200" dirty="0">
                <a:solidFill>
                  <a:schemeClr val="tx1">
                    <a:lumMod val="85000"/>
                    <a:lumOff val="15000"/>
                  </a:schemeClr>
                </a:solidFill>
              </a:rPr>
              <a:t>dan/atau Rajah 26 - Spesifikasi</a:t>
            </a:r>
          </a:p>
          <a:p>
            <a:r>
              <a:rPr lang="en-MY" sz="1200" dirty="0">
                <a:solidFill>
                  <a:schemeClr val="tx1">
                    <a:lumMod val="85000"/>
                    <a:lumOff val="15000"/>
                  </a:schemeClr>
                </a:solidFill>
              </a:rPr>
              <a:t>Papan Tanda Penunjuk Arah,</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
            </a:r>
          </a:p>
          <a:p>
            <a:r>
              <a:rPr lang="en-MY" sz="1200" dirty="0">
                <a:solidFill>
                  <a:schemeClr val="tx1">
                    <a:lumMod val="85000"/>
                    <a:lumOff val="15000"/>
                  </a:schemeClr>
                </a:solidFill>
              </a:rPr>
              <a:t>Dua imej sumber tersedia.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S13 · SKRIN PERINCIAN (FULL_SLIDE) · induk S10 · Perabot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S13 — SKRIN PERINCIAN (Tong Sampah)</a:t>
            </a:r>
          </a:p>
          <a:p>
            <a:r>
              <a:rPr lang="en-MY" sz="900" b="1" dirty="0"/>
              <a:t>FUNGSI: Menerangkan fungsi, penempatan dan reka bentuk tong sampah.</a:t>
            </a:r>
          </a:p>
          <a:p>
            <a:r>
              <a:rPr lang="en-MY" sz="900" dirty="0"/>
              <a:t/>
            </a:r>
          </a:p>
          <a:p>
            <a:r>
              <a:rPr lang="en-MY" sz="900" b="1" dirty="0"/>
              <a:t>INTERAKSI:</a:t>
            </a:r>
          </a:p>
          <a:p>
            <a:r>
              <a:rPr lang="en-MY" sz="900" dirty="0"/>
              <a:t>  Dicapai dengan klik kad "Tong Sampah" pada S10.</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S10, dengan kad "Tong Sampah"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foto jadual spesifikasi Tong Sampah - empat bahan,</a:t>
            </a:r>
          </a:p>
          <a:p>
            <a:r>
              <a:rPr lang="en-MY" sz="900" dirty="0"/>
              <a:t>    modul ms 246 (Logam) dan ms 247 (Konkrit/Batu, dua foto Plastik HDPE)]</a:t>
            </a:r>
          </a:p>
          <a:p>
            <a:r>
              <a:rPr lang="en-MY" sz="900" dirty="0"/>
              <a:t>  Empat imej sumber tersedia. Pilihan akhir belum dibuat dan TIDAK diikat.</a:t>
            </a:r>
          </a:p>
          <a:p>
            <a:r>
              <a:rPr lang="en-MY" sz="900" dirty="0"/>
              <a:t/>
            </a:r>
          </a:p>
          <a:p>
            <a:r>
              <a:rPr lang="en-MY" sz="900" b="1" dirty="0"/>
              <a:t>SUMBER MODUL:</a:t>
            </a:r>
          </a:p>
          <a:p>
            <a:r>
              <a:rPr lang="en-MY" sz="900" dirty="0"/>
              <a:t>  Modul ms 245 (fizikal 264) - 3.4.1 Tong Sampah.</a:t>
            </a:r>
          </a:p>
          <a:p>
            <a:r>
              <a:rPr lang="en-MY" sz="900" dirty="0"/>
              <a:t>  Imej: 4 foto jadual, modul ms 246-247 (fizikal 265-266).</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Tiga foto pada modul ms 247 terletak DI ATAS tajuk 3.4.2, jadi milik Tong Sampah.</a:t>
            </a:r>
          </a:p>
          <a:p>
            <a:r>
              <a:rPr lang="en-MY" sz="900" dirty="0"/>
              <a:t/>
            </a:r>
          </a:p>
          <a:p>
            <a:r>
              <a:rPr lang="en-MY" sz="900" b="1" dirty="0"/>
              <a:t>STATUS KEPUTUSAN:</a:t>
            </a:r>
          </a:p>
          <a:p>
            <a:r>
              <a:rPr lang="en-MY" sz="900" dirty="0"/>
              <a:t>  SOURCE_BOUND_TEXT - paparan dan VO diterbitkan daripada modul.</a:t>
            </a:r>
          </a:p>
          <a:p>
            <a:r>
              <a:rPr lang="en-MY" sz="900" dirty="0"/>
              <a:t>  Pilihan antara empat imej: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Tong Sampah</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foto jadual</a:t>
            </a:r>
          </a:p>
          <a:p>
            <a:r>
              <a:rPr lang="en-MY" sz="1200" dirty="0">
                <a:solidFill>
                  <a:schemeClr val="tx1">
                    <a:lumMod val="85000"/>
                    <a:lumOff val="15000"/>
                  </a:schemeClr>
                </a:solidFill>
              </a:rPr>
              <a:t>spesifikasi Tong Sampah -</a:t>
            </a:r>
          </a:p>
          <a:p>
            <a:r>
              <a:rPr lang="en-MY" sz="1200" dirty="0">
                <a:solidFill>
                  <a:schemeClr val="tx1">
                    <a:lumMod val="85000"/>
                    <a:lumOff val="15000"/>
                  </a:schemeClr>
                </a:solidFill>
              </a:rPr>
              <a:t>empat bahan, modul ms 246-247:</a:t>
            </a:r>
          </a:p>
          <a:p>
            <a:r>
              <a:rPr lang="en-MY" sz="1200" dirty="0">
                <a:solidFill>
                  <a:schemeClr val="tx1">
                    <a:lumMod val="85000"/>
                    <a:lumOff val="15000"/>
                  </a:schemeClr>
                </a:solidFill>
              </a:rPr>
              <a:t>Logam, Konkrit/Batu,</a:t>
            </a:r>
          </a:p>
          <a:p>
            <a:r>
              <a:rPr lang="en-MY" sz="1200" dirty="0">
                <a:solidFill>
                  <a:schemeClr val="tx1">
                    <a:lumMod val="85000"/>
                    <a:lumOff val="15000"/>
                  </a:schemeClr>
                </a:solidFill>
              </a:rPr>
              <a:t>Plastik HDPE (dua foto)]</a:t>
            </a:r>
          </a:p>
          <a:p>
            <a:r>
              <a:rPr lang="en-MY" sz="1200" dirty="0">
                <a:solidFill>
                  <a:schemeClr val="tx1">
                    <a:lumMod val="85000"/>
                    <a:lumOff val="15000"/>
                  </a:schemeClr>
                </a:solidFill>
              </a:rPr>
              <a:t/>
            </a:r>
          </a:p>
          <a:p>
            <a:r>
              <a:rPr lang="en-MY" sz="1200" dirty="0">
                <a:solidFill>
                  <a:schemeClr val="tx1">
                    <a:lumMod val="85000"/>
                    <a:lumOff val="15000"/>
                  </a:schemeClr>
                </a:solidFill>
              </a:rPr>
              <a:t>Empat imej sumber tersedia.</a:t>
            </a:r>
          </a:p>
          <a:p>
            <a:r>
              <a:rPr lang="en-MY" sz="1200" dirty="0">
                <a:solidFill>
                  <a:schemeClr val="tx1">
                    <a:lumMod val="85000"/>
                    <a:lumOff val="15000"/>
                  </a:schemeClr>
                </a:solidFill>
              </a:rPr>
              <a:t>Pilihan akhir belum dibuat.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Tong Sampah</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Kemudahan asas pengurusan sisa dan kebersihan ruang landskap</a:t>
            </a:r>
          </a:p>
          <a:p>
            <a:pPr marL="285750" indent="-285750">
              <a:buFont typeface="Arial" panose="020B0604020202020204" pitchFamily="34" charset="0"/>
              <a:buChar char="•"/>
            </a:pPr>
            <a:r>
              <a:rPr lang="en-MY" dirty="0"/>
              <a:t>Bilangan mencukupi, diletakkan di lokasi mudah diakses</a:t>
            </a:r>
          </a:p>
          <a:p>
            <a:pPr marL="285750" indent="-285750">
              <a:buFont typeface="Arial" panose="020B0604020202020204" pitchFamily="34" charset="0"/>
              <a:buChar char="•"/>
            </a:pPr>
            <a:r>
              <a:rPr lang="en-MY" dirty="0"/>
              <a:t>Reka bentuk tahan lama dan mudah dikosongkan</a:t>
            </a:r>
          </a:p>
          <a:p>
            <a:pPr marL="285750" indent="-285750">
              <a:buFont typeface="Arial" panose="020B0604020202020204" pitchFamily="34" charset="0"/>
              <a:buChar char="•"/>
            </a:pPr>
            <a:r>
              <a:rPr lang="en-MY" dirty="0"/>
              <a:t>Menghalang haiwan daripada mengusik sampah</a:t>
            </a:r>
          </a:p>
          <a:p>
            <a:pPr marL="285750" indent="-285750">
              <a:buFont typeface="Arial" panose="020B0604020202020204" pitchFamily="34" charset="0"/>
              <a:buChar char="•"/>
            </a:pPr>
            <a:r>
              <a:rPr lang="en-MY" dirty="0"/>
              <a:t>Sesetengah direka untuk pengasingan sisa kitar semula</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S14 · SKRIN PERINCIAN (FULL_SLIDE) · induk S10 · Perabot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S14 — SKRIN PERINCIAN (Drinking Fountain)</a:t>
            </a:r>
          </a:p>
          <a:p>
            <a:r>
              <a:rPr lang="en-MY" sz="900" b="1" dirty="0"/>
              <a:t>FUNGSI: Menerangkan fungsi, keperluan pembinaan dan aksesibiliti drinking fountain.</a:t>
            </a:r>
          </a:p>
          <a:p>
            <a:r>
              <a:rPr lang="en-MY" sz="900" dirty="0"/>
              <a:t/>
            </a:r>
          </a:p>
          <a:p>
            <a:r>
              <a:rPr lang="en-MY" sz="900" b="1" dirty="0"/>
              <a:t>INTERAKSI:</a:t>
            </a:r>
          </a:p>
          <a:p>
            <a:r>
              <a:rPr lang="en-MY" sz="900" dirty="0"/>
              <a:t>  Dicapai dengan klik kad "Drinking Fountain" pada S10.</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S10, dengan kad "Drinking Fountain"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foto jadual spesifikasi Drinking Fountain - dua bahan,</a:t>
            </a:r>
          </a:p>
          <a:p>
            <a:r>
              <a:rPr lang="en-MY" sz="900" dirty="0"/>
              <a:t>    modul ms 248 (Keluli Tahan Karat) dan ms 249 (Konkrit/Batu)]</a:t>
            </a:r>
          </a:p>
          <a:p>
            <a:r>
              <a:rPr lang="en-MY" sz="900" dirty="0"/>
              <a:t>  Dua imej sumber tersedia. Pilihan akhir belum dibuat dan TIDAK diikat.</a:t>
            </a:r>
          </a:p>
          <a:p>
            <a:r>
              <a:rPr lang="en-MY" sz="900" dirty="0"/>
              <a:t/>
            </a:r>
          </a:p>
          <a:p>
            <a:r>
              <a:rPr lang="en-MY" sz="900" b="1" dirty="0"/>
              <a:t>SUMBER MODUL:</a:t>
            </a:r>
          </a:p>
          <a:p>
            <a:r>
              <a:rPr lang="en-MY" sz="900" dirty="0"/>
              <a:t>  Modul ms 247 (fizikal 266) - 3.4.2 Drinking Fountain.</a:t>
            </a:r>
          </a:p>
          <a:p>
            <a:r>
              <a:rPr lang="en-MY" sz="900" dirty="0"/>
              <a:t>  Imej: 2 foto jadual, modul ms 248-249 (fizikal 267-268).</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Seksyen bermula pada ms 247 tetapi imejnya pada ms 248-249.</a:t>
            </a:r>
          </a:p>
          <a:p>
            <a:r>
              <a:rPr lang="en-MY" sz="900" dirty="0"/>
              <a:t>  Penghalusan ini dibangkitkan untuk pengesahan dan tidak dikenakan secara senyap.</a:t>
            </a:r>
          </a:p>
          <a:p>
            <a:r>
              <a:rPr lang="en-MY" sz="900" dirty="0"/>
              <a:t>  Modul menggunakan "Pancutan air minum" dalam badan teks; tajuk dan label kad menggunakan Drinking Fountain.</a:t>
            </a:r>
          </a:p>
          <a:p>
            <a:r>
              <a:rPr lang="en-MY" sz="900" dirty="0"/>
              <a:t/>
            </a:r>
          </a:p>
          <a:p>
            <a:r>
              <a:rPr lang="en-MY" sz="900" b="1" dirty="0"/>
              <a:t>STATUS KEPUTUSAN:</a:t>
            </a:r>
          </a:p>
          <a:p>
            <a:r>
              <a:rPr lang="en-MY" sz="900" dirty="0"/>
              <a:t>  SOURCE_BOUND_TEXT - paparan dan VO diterbitkan daripada modul.</a:t>
            </a:r>
          </a:p>
          <a:p>
            <a:r>
              <a:rPr lang="en-MY" sz="900" dirty="0"/>
              <a:t>  Pemilikan imej ms 248-249: untuk pengesahan (D-07).</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i="1" dirty="0"/>
              <a:t>Drinking Fountain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foto jadual</a:t>
            </a:r>
          </a:p>
          <a:p>
            <a:r>
              <a:rPr lang="en-MY" sz="1200" dirty="0">
                <a:solidFill>
                  <a:schemeClr val="tx1">
                    <a:lumMod val="85000"/>
                    <a:lumOff val="15000"/>
                  </a:schemeClr>
                </a:solidFill>
              </a:rPr>
              <a:t>spesifikasi Drinking Fountain -</a:t>
            </a:r>
          </a:p>
          <a:p>
            <a:r>
              <a:rPr lang="en-MY" sz="1200" dirty="0">
                <a:solidFill>
                  <a:schemeClr val="tx1">
                    <a:lumMod val="85000"/>
                    <a:lumOff val="15000"/>
                  </a:schemeClr>
                </a:solidFill>
              </a:rPr>
              <a:t>dua bahan, modul ms 248-249:</a:t>
            </a:r>
          </a:p>
          <a:p>
            <a:r>
              <a:rPr lang="en-MY" sz="1200" dirty="0">
                <a:solidFill>
                  <a:schemeClr val="tx1">
                    <a:lumMod val="85000"/>
                    <a:lumOff val="15000"/>
                  </a:schemeClr>
                </a:solidFill>
              </a:rPr>
              <a:t>Keluli Tahan Karat,</a:t>
            </a:r>
          </a:p>
          <a:p>
            <a:r>
              <a:rPr lang="en-MY" sz="1200" dirty="0">
                <a:solidFill>
                  <a:schemeClr val="tx1">
                    <a:lumMod val="85000"/>
                    <a:lumOff val="15000"/>
                  </a:schemeClr>
                </a:solidFill>
              </a:rPr>
              <a:t>Konkrit/Batu]</a:t>
            </a:r>
          </a:p>
          <a:p>
            <a:r>
              <a:rPr lang="en-MY" sz="1200" dirty="0">
                <a:solidFill>
                  <a:schemeClr val="tx1">
                    <a:lumMod val="85000"/>
                    <a:lumOff val="15000"/>
                  </a:schemeClr>
                </a:solidFill>
              </a:rPr>
              <a:t/>
            </a:r>
          </a:p>
          <a:p>
            <a:r>
              <a:rPr lang="en-MY" sz="1200" dirty="0">
                <a:solidFill>
                  <a:schemeClr val="tx1">
                    <a:lumMod val="85000"/>
                    <a:lumOff val="15000"/>
                  </a:schemeClr>
                </a:solidFill>
              </a:rPr>
              <a:t>Dua imej sumber tersedia.</a:t>
            </a:r>
          </a:p>
          <a:p>
            <a:r>
              <a:rPr lang="en-MY" sz="1200" dirty="0">
                <a:solidFill>
                  <a:schemeClr val="tx1">
                    <a:lumMod val="85000"/>
                    <a:lumOff val="15000"/>
                  </a:schemeClr>
                </a:solidFill>
              </a:rPr>
              <a:t>Pilihan akhir belum dibuat.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Drinking Fountain</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Akses mudah kepada air bersih untuk pengguna taman</a:t>
            </a:r>
          </a:p>
          <a:p>
            <a:pPr marL="285750" indent="-285750">
              <a:buFont typeface="Arial" panose="020B0604020202020204" pitchFamily="34" charset="0"/>
              <a:buChar char="•"/>
            </a:pPr>
            <a:r>
              <a:rPr lang="en-MY" dirty="0"/>
              <a:t>Dibina dengan bahan yang bersih dan tahan lasak</a:t>
            </a:r>
          </a:p>
          <a:p>
            <a:pPr marL="285750" indent="-285750">
              <a:buFont typeface="Arial" panose="020B0604020202020204" pitchFamily="34" charset="0"/>
              <a:buChar char="•"/>
            </a:pPr>
            <a:r>
              <a:rPr lang="en-MY" dirty="0"/>
              <a:t>Perlu sambungan paip bersih dan saliran berkesan untuk air buangan</a:t>
            </a:r>
          </a:p>
          <a:p>
            <a:pPr marL="285750" indent="-285750">
              <a:buFont typeface="Arial" panose="020B0604020202020204" pitchFamily="34" charset="0"/>
              <a:buChar char="•"/>
            </a:pPr>
            <a:r>
              <a:rPr lang="en-MY" dirty="0"/>
              <a:t>Ketinggian berbeza untuk kanak-kanak dan orang dewasa</a:t>
            </a:r>
          </a:p>
          <a:p>
            <a:pPr marL="285750" indent="-285750">
              <a:buFont typeface="Arial" panose="020B0604020202020204" pitchFamily="34" charset="0"/>
              <a:buChar char="•"/>
            </a:pPr>
            <a:r>
              <a:rPr lang="en-MY" dirty="0"/>
              <a:t>Akses untuk kerusi roda</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S15 · SKRIN PERINCIAN (FULL_SLIDE) · induk S10 · Perabot Taman</a:t>
            </a:r>
          </a:p>
        </p:txBody>
      </p:sp>
      <p:sp>
        <p:nvSpPr>
          <p:cNvPr id="6"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S15 — SKRIN PERINCIAN (BBQ pit)</a:t>
            </a:r>
          </a:p>
          <a:p>
            <a:r>
              <a:rPr lang="en-MY" sz="900" b="1" dirty="0"/>
              <a:t>FUNGSI: Menerangkan fungsi, bahan binaan dan keperluan keselamatan BBQ pit.</a:t>
            </a:r>
          </a:p>
          <a:p>
            <a:r>
              <a:rPr lang="en-MY" sz="900" dirty="0"/>
              <a:t/>
            </a:r>
          </a:p>
          <a:p>
            <a:r>
              <a:rPr lang="en-MY" sz="900" b="1" dirty="0"/>
              <a:t>INTERAKSI:</a:t>
            </a:r>
          </a:p>
          <a:p>
            <a:r>
              <a:rPr lang="en-MY" sz="900" dirty="0"/>
              <a:t>  Dicapai dengan klik kad "BBQ pit" pada S10.</a:t>
            </a:r>
          </a:p>
          <a:p>
            <a:r>
              <a:rPr lang="en-MY" sz="900" dirty="0"/>
              <a:t>  Klik Kembali untuk kembali ke skrin induk.</a:t>
            </a:r>
          </a:p>
          <a:p>
            <a:r>
              <a:rPr lang="en-MY" sz="900" dirty="0"/>
              <a:t>  Tiada interaksi lain pada skrin ini.</a:t>
            </a:r>
          </a:p>
          <a:p>
            <a:r>
              <a:rPr lang="en-MY" sz="900" dirty="0"/>
              <a:t/>
            </a:r>
          </a:p>
          <a:p>
            <a:r>
              <a:rPr lang="en-MY" sz="900" b="1" dirty="0"/>
              <a:t>STATE / PERALIHAN:</a:t>
            </a:r>
          </a:p>
          <a:p>
            <a:r>
              <a:rPr lang="en-MY" sz="900" dirty="0"/>
              <a:t>  Satu state sahaja. Masuk: skrin penuh menggantikan skrin induk.</a:t>
            </a:r>
          </a:p>
          <a:p>
            <a:r>
              <a:rPr lang="en-MY" sz="900" dirty="0"/>
              <a:t>  Keluar: Kembali - S10, dengan kad "BBQ pit" ditanda selesai.</a:t>
            </a:r>
          </a:p>
          <a:p>
            <a:r>
              <a:rPr lang="en-MY" sz="900" dirty="0"/>
              <a:t>  VO bermula pada kemasukan dan tidak diulang jika dilawati semula.</a:t>
            </a:r>
          </a:p>
          <a:p>
            <a:r>
              <a:rPr lang="en-MY" sz="900" dirty="0"/>
              <a:t/>
            </a:r>
          </a:p>
          <a:p>
            <a:r>
              <a:rPr lang="en-MY" sz="900" b="1" dirty="0"/>
              <a:t>VISUAL (spesifikasi sahaja — tidak dibenamkan):</a:t>
            </a:r>
          </a:p>
          <a:p>
            <a:r>
              <a:rPr lang="en-MY" sz="900" dirty="0"/>
              <a:t>  [Visual: Gunakan foto jadual spesifikasi BBQ pit - Struktur Kekal, modul ms 249]</a:t>
            </a:r>
          </a:p>
          <a:p>
            <a:r>
              <a:rPr lang="en-MY" sz="900" dirty="0"/>
              <a:t>  Satu imej sumber tersedia. TIDAK diikat pada peringkat ini.</a:t>
            </a:r>
          </a:p>
          <a:p>
            <a:r>
              <a:rPr lang="en-MY" sz="900" dirty="0"/>
              <a:t/>
            </a:r>
          </a:p>
          <a:p>
            <a:r>
              <a:rPr lang="en-MY" sz="900" b="1" dirty="0"/>
              <a:t>SUMBER MODUL:</a:t>
            </a:r>
          </a:p>
          <a:p>
            <a:r>
              <a:rPr lang="en-MY" sz="900" dirty="0"/>
              <a:t>  Modul ms 249 (fizikal 268) - 3.4.3 BBQ pit.</a:t>
            </a:r>
          </a:p>
          <a:p>
            <a:r>
              <a:rPr lang="en-MY" sz="900" dirty="0"/>
              <a:t>  Imej: 1 foto jadual, modul ms 249 (fizikal 268).</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Bentuk sumber "BBQ pit" dengan huruf p kecil - disahkan pada tajuk modul.</a:t>
            </a:r>
          </a:p>
          <a:p>
            <a:r>
              <a:rPr lang="en-MY" sz="900" dirty="0"/>
              <a:t/>
            </a:r>
          </a:p>
          <a:p>
            <a:r>
              <a:rPr lang="en-MY" sz="900" b="1" dirty="0"/>
              <a:t>STATUS KEPUTUSAN:</a:t>
            </a:r>
          </a:p>
          <a:p>
            <a:r>
              <a:rPr lang="en-MY" sz="900" dirty="0"/>
              <a:t>  SOURCE_BOUND_TEXT - paparan dan VO diterbitkan daripada modul.</a:t>
            </a:r>
          </a:p>
          <a:p>
            <a:r>
              <a:rPr lang="en-MY" sz="900" dirty="0"/>
              <a:t>  Pilihan aset akhir: PENDING_BARIAH_APPROVAL.</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i="1" dirty="0"/>
              <a:t>BBQ pit</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r>
              <a:rPr lang="en-MY" sz="1200" dirty="0">
                <a:solidFill>
                  <a:schemeClr val="tx1">
                    <a:lumMod val="85000"/>
                    <a:lumOff val="15000"/>
                  </a:schemeClr>
                </a:solidFill>
              </a:rPr>
              <a:t/>
            </a:r>
          </a:p>
          <a:p>
            <a:r>
              <a:rPr lang="en-MY" sz="1200" dirty="0">
                <a:solidFill>
                  <a:schemeClr val="tx1">
                    <a:lumMod val="85000"/>
                    <a:lumOff val="15000"/>
                  </a:schemeClr>
                </a:solidFill>
              </a:rPr>
              <a:t>[Visual: Gunakan foto jadual</a:t>
            </a:r>
          </a:p>
          <a:p>
            <a:r>
              <a:rPr lang="en-MY" sz="1200" dirty="0">
                <a:solidFill>
                  <a:schemeClr val="tx1">
                    <a:lumMod val="85000"/>
                    <a:lumOff val="15000"/>
                  </a:schemeClr>
                </a:solidFill>
              </a:rPr>
              <a:t>spesifikasi BBQ pit -</a:t>
            </a:r>
          </a:p>
          <a:p>
            <a:r>
              <a:rPr lang="en-MY" sz="1200" dirty="0">
                <a:solidFill>
                  <a:schemeClr val="tx1">
                    <a:lumMod val="85000"/>
                    <a:lumOff val="15000"/>
                  </a:schemeClr>
                </a:solidFill>
              </a:rPr>
              <a:t>Struktur Kekal, modul ms 249]</a:t>
            </a:r>
          </a:p>
          <a:p>
            <a:r>
              <a:rPr lang="en-MY" sz="1200" dirty="0">
                <a:solidFill>
                  <a:schemeClr val="tx1">
                    <a:lumMod val="85000"/>
                    <a:lumOff val="15000"/>
                  </a:schemeClr>
                </a:solidFill>
              </a:rPr>
              <a:t/>
            </a:r>
          </a:p>
          <a:p>
            <a:r>
              <a:rPr lang="en-MY" sz="1200" dirty="0">
                <a:solidFill>
                  <a:schemeClr val="tx1">
                    <a:lumMod val="85000"/>
                    <a:lumOff val="15000"/>
                  </a:schemeClr>
                </a:solidFill>
              </a:rPr>
              <a:t>Satu imej sumber tersedia.</a:t>
            </a:r>
          </a:p>
          <a:p>
            <a:r>
              <a:rPr lang="en-MY" sz="1200" dirty="0">
                <a:solidFill>
                  <a:schemeClr val="tx1">
                    <a:lumMod val="85000"/>
                    <a:lumOff val="15000"/>
                  </a:schemeClr>
                </a:solidFill>
              </a:rPr>
              <a:t>Belum diikat.</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BBQ pit</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Kemudahan untuk aktiviti memasak dan bersosial di luar</a:t>
            </a:r>
          </a:p>
          <a:p>
            <a:pPr marL="285750" indent="-285750">
              <a:buFont typeface="Arial" panose="020B0604020202020204" pitchFamily="34" charset="0"/>
              <a:buChar char="•"/>
            </a:pPr>
            <a:r>
              <a:rPr lang="en-MY" dirty="0"/>
              <a:t>Dibina daripada bata, blok konkrit atau batu tahan api</a:t>
            </a:r>
          </a:p>
          <a:p>
            <a:pPr marL="285750" indent="-285750">
              <a:buFont typeface="Arial" panose="020B0604020202020204" pitchFamily="34" charset="0"/>
              <a:buChar char="•"/>
            </a:pPr>
            <a:r>
              <a:rPr lang="en-MY" dirty="0"/>
              <a:t>Reka bentuk yang selamat untuk mengandungi api</a:t>
            </a:r>
          </a:p>
          <a:p>
            <a:pPr marL="285750" indent="-285750">
              <a:buFont typeface="Arial" panose="020B0604020202020204" pitchFamily="34" charset="0"/>
              <a:buChar char="•"/>
            </a:pPr>
            <a:r>
              <a:rPr lang="en-MY" dirty="0"/>
              <a:t>Ruang memanggang dan kawasan kerja berdekatan</a:t>
            </a:r>
          </a:p>
          <a:p>
            <a:pPr marL="285750" indent="-285750">
              <a:buFont typeface="Arial" panose="020B0604020202020204" pitchFamily="34" charset="0"/>
              <a:buChar char="•"/>
            </a:pPr>
            <a:r>
              <a:rPr lang="en-MY" dirty="0"/>
              <a:t>Saliran baik dan jarak selamat dari bahan mudah terbakar</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S16 · STATE SELESAI bagi S10 · lima kad ditanda selesai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S16 — KAD INDUK, STATE SELESAI (Perabot Taman)</a:t>
            </a:r>
          </a:p>
          <a:p>
            <a:r>
              <a:rPr lang="en-MY" sz="900" b="1" dirty="0"/>
              <a:t>FUNGSI: State selesai bagi S10. Menunjukkan kelima-lima perabot telah dilawati.</a:t>
            </a:r>
          </a:p>
          <a:p>
            <a:r>
              <a:rPr lang="en-MY" sz="900" dirty="0"/>
              <a:t/>
            </a:r>
          </a:p>
          <a:p>
            <a:r>
              <a:rPr lang="en-MY" sz="900" b="1" dirty="0"/>
              <a:t>INTERAKSI:</a:t>
            </a:r>
          </a:p>
          <a:p>
            <a:r>
              <a:rPr lang="en-MY" sz="900" dirty="0"/>
              <a:t>  Tiada klik kad baharu diperlukan. Kad kekal boleh diklik untuk semakan semula.</a:t>
            </a:r>
          </a:p>
          <a:p>
            <a:r>
              <a:rPr lang="en-MY" sz="900" dirty="0"/>
              <a:t>  Butang maju dibuka. Peralihan ke S17.</a:t>
            </a:r>
          </a:p>
          <a:p>
            <a:r>
              <a:rPr lang="en-MY" sz="900" dirty="0"/>
              <a:t/>
            </a:r>
          </a:p>
          <a:p>
            <a:r>
              <a:rPr lang="en-MY" sz="900" b="1" dirty="0"/>
              <a:t>STATE / PERALIHAN:</a:t>
            </a:r>
          </a:p>
          <a:p>
            <a:r>
              <a:rPr lang="en-MY" sz="900" dirty="0"/>
              <a:t>  Dicapai secara automatik apabila kelima-lima kad S10 selesai.</a:t>
            </a:r>
          </a:p>
          <a:p>
            <a:r>
              <a:rPr lang="en-MY" sz="900" dirty="0"/>
              <a:t>  Setiap kad membawa tanda selesai (tik hijau) di tengah kad.</a:t>
            </a:r>
          </a:p>
          <a:p>
            <a:r>
              <a:rPr lang="en-MY" sz="900" dirty="0"/>
              <a:t>  nav-lock-until-complete dilepaskan pada state ini.</a:t>
            </a:r>
          </a:p>
          <a:p>
            <a:r>
              <a:rPr lang="en-MY" sz="900" dirty="0"/>
              <a:t/>
            </a:r>
          </a:p>
          <a:p>
            <a:r>
              <a:rPr lang="en-MY" sz="900" b="1" dirty="0"/>
              <a:t>VISUAL (spesifikasi sahaja — tidak dibenamkan):</a:t>
            </a:r>
          </a:p>
          <a:p>
            <a:r>
              <a:rPr lang="en-MY" sz="900" dirty="0"/>
              <a:t>  Tiada visual baharu. Warisi arahan visual S10.</a:t>
            </a:r>
          </a:p>
          <a:p>
            <a:r>
              <a:rPr lang="en-MY" sz="900" dirty="0"/>
              <a:t>  Tanda selesai dilukis sebagai geometri native, bukan imej.</a:t>
            </a:r>
          </a:p>
          <a:p>
            <a:r>
              <a:rPr lang="en-MY" sz="900" dirty="0"/>
              <a:t/>
            </a:r>
          </a:p>
          <a:p>
            <a:r>
              <a:rPr lang="en-MY" sz="900" b="1" dirty="0"/>
              <a:t>SUMBER MODUL:</a:t>
            </a:r>
          </a:p>
          <a:p>
            <a:r>
              <a:rPr lang="en-MY" sz="900" dirty="0"/>
              <a:t>  Modul ms 242 (fizikal 261) - warisi S10.</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Tik: 0.3937 in, dipusatkan pada setiap kad, warna 2E7D32.</a:t>
            </a:r>
          </a:p>
          <a:p>
            <a:r>
              <a:rPr lang="en-MY" sz="900" dirty="0"/>
              <a:t/>
            </a:r>
          </a:p>
          <a:p>
            <a:r>
              <a:rPr lang="en-MY" sz="900" b="1" dirty="0"/>
              <a:t>STATUS KEPUTUSAN:</a:t>
            </a:r>
          </a:p>
          <a:p>
            <a:r>
              <a:rPr lang="en-MY" sz="900" dirty="0"/>
              <a:t>  SOURCE_BOUND_TEXT - warisi S10.</a:t>
            </a:r>
          </a:p>
          <a:p>
            <a:r>
              <a:rPr lang="en-MY" sz="900" dirty="0"/>
              <a:t>  VO sengaja KOSONG mengikut konvensyen state selesai (D-09).</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TextBox 14"/>
          <p:cNvSpPr txBox="1"/>
          <p:nvPr/>
        </p:nvSpPr>
        <p:spPr>
          <a:xfrm>
            <a:off x="723930" y="1182868"/>
            <a:ext cx="10744200" cy="369326"/>
          </a:xfrm>
          <a:prstGeom prst="rect">
            <a:avLst/>
          </a:prstGeom>
          <a:noFill/>
        </p:spPr>
        <p:txBody>
          <a:bodyPr wrap="square">
            <a:spAutoFit/>
          </a:bodyPr>
          <a:lstStyle/>
          <a:p>
            <a:pPr algn="ctr"/>
            <a:r>
              <a:rPr lang="en-MY" dirty="0"/>
              <a:t>Klik pada setiap perabot untuk penjelasan lanjut.</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(3 imej tersedia)</a:t>
            </a:r>
          </a:p>
          <a:p>
            <a:r>
              <a:rPr lang="en-MY" sz="1200" dirty="0">
                <a:solidFill>
                  <a:schemeClr val="tx1">
                    <a:lumMod val="85000"/>
                    <a:lumOff val="15000"/>
                  </a:schemeClr>
                </a:solidFill>
              </a:rPr>
              <a:t>SELESAI</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Papan Tanda]</a:t>
            </a:r>
          </a:p>
          <a:p>
            <a:r>
              <a:rPr lang="en-MY" sz="1200" dirty="0">
                <a:solidFill>
                  <a:schemeClr val="tx1">
                    <a:lumMod val="85000"/>
                    <a:lumOff val="15000"/>
                  </a:schemeClr>
                </a:solidFill>
              </a:rPr>
              <a:t>Rajah 25 /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(2 imej tersedia)</a:t>
            </a:r>
          </a:p>
          <a:p>
            <a:r>
              <a:rPr lang="en-MY" sz="1200" dirty="0">
                <a:solidFill>
                  <a:schemeClr val="tx1">
                    <a:lumMod val="85000"/>
                    <a:lumOff val="15000"/>
                  </a:schemeClr>
                </a:solidFill>
              </a:rPr>
              <a:t>SELESAI</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(4 imej tersedia)</a:t>
            </a:r>
          </a:p>
          <a:p>
            <a:r>
              <a:rPr lang="en-MY" sz="1200" dirty="0">
                <a:solidFill>
                  <a:schemeClr val="tx1">
                    <a:lumMod val="85000"/>
                    <a:lumOff val="15000"/>
                  </a:schemeClr>
                </a:solidFill>
              </a:rPr>
              <a:t>SELESAI</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(2 imej tersedia)</a:t>
            </a:r>
          </a:p>
          <a:p>
            <a:r>
              <a:rPr lang="en-MY" sz="1200" dirty="0">
                <a:solidFill>
                  <a:schemeClr val="tx1">
                    <a:lumMod val="85000"/>
                    <a:lumOff val="15000"/>
                  </a:schemeClr>
                </a:solidFill>
              </a:rPr>
              <a:t>SELESAI</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sz="1200" b="1"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(1 imej tersedia)</a:t>
            </a:r>
          </a:p>
          <a:p>
            <a:r>
              <a:rPr lang="en-MY" sz="1200" dirty="0">
                <a:solidFill>
                  <a:schemeClr val="tx1">
                    <a:lumMod val="85000"/>
                    <a:lumOff val="15000"/>
                  </a:schemeClr>
                </a:solidFill>
              </a:rPr>
              <a:t>SELESAI</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
        <p:nvSpPr>
          <p:cNvPr id="80" name="Tick"/>
          <p:cNvSpPr/>
          <p:nvPr/>
        </p:nvSpPr>
        <p:spPr>
          <a:xfrm>
            <a:off x="218985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591603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964221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405289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4" name="Tick"/>
          <p:cNvSpPr/>
          <p:nvPr/>
        </p:nvSpPr>
        <p:spPr>
          <a:xfrm>
            <a:off x="777907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6" name="InstrStat"/>
          <p:cNvSpPr txBox="1"/>
          <p:nvPr/>
        </p:nvSpPr>
        <p:spPr>
          <a:xfrm>
            <a:off x="723930" y="6419088"/>
            <a:ext cx="10744200" cy="329184"/>
          </a:xfrm>
          <a:prstGeom prst="rect">
            <a:avLst/>
          </a:prstGeom>
          <a:noFill/>
        </p:spPr>
        <p:txBody>
          <a:bodyPr wrap="square">
            <a:noAutofit/>
          </a:bodyPr>
          <a:lstStyle/>
          <a:p>
            <a:r>
              <a:rPr lang="en-MY" sz="1200" b="1" dirty="0">
                <a:solidFill>
                  <a:srgbClr val="7F6000"/>
                </a:solidFill>
              </a:rPr>
              <a:t>PROPOSED_FOR_BARIAH_REVIEW — warisi S10.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178308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 TIDAK DIBENAMKAN</a:t>
            </a:r>
          </a:p>
          <a:p>
            <a:r>
              <a:rPr lang="en-MY" sz="1200" dirty="0">
                <a:solidFill>
                  <a:schemeClr val="tx1">
                    <a:lumMod val="85000"/>
                    <a:lumOff val="15000"/>
                  </a:schemeClr>
                </a:solidFill>
              </a:rPr>
              <a:t>[Visual: Papan rumusan - dua kumpulan komponen dipaparkan bersebelahan,</a:t>
            </a:r>
          </a:p>
          <a:p>
            <a:r>
              <a:rPr lang="en-MY" sz="1200" dirty="0">
                <a:solidFill>
                  <a:schemeClr val="tx1">
                    <a:lumMod val="85000"/>
                    <a:lumOff val="15000"/>
                  </a:schemeClr>
                </a:solidFill>
              </a:rPr>
              <a:t>Struktur Taman (4 item) dan Perabot Taman (5 item), sebagai ikon atau kad kecil.]</a:t>
            </a:r>
          </a:p>
          <a:p>
            <a:r>
              <a:rPr lang="en-MY" sz="1200" dirty="0">
                <a:solidFill>
                  <a:schemeClr val="tx1">
                    <a:lumMod val="85000"/>
                    <a:lumOff val="15000"/>
                  </a:schemeClr>
                </a:solidFill>
              </a:rPr>
              <a:t>Tiada imej modul khusus untuk skrin rumusan. Aset belum dipilih.</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S17 · SKRIN RUMUSAN · rumusan bahagian, bukan topik penuh</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S17 — RUMUSAN</a:t>
            </a:r>
          </a:p>
          <a:p>
            <a:r>
              <a:rPr lang="en-MY" sz="900" b="1" dirty="0"/>
              <a:t>FUNGSI: Merumuskan bahagian ini. Bukan rumusan topik penuh.</a:t>
            </a:r>
          </a:p>
          <a:p>
            <a:r>
              <a:rPr lang="en-MY" sz="900" dirty="0"/>
              <a:t/>
            </a:r>
          </a:p>
          <a:p>
            <a:r>
              <a:rPr lang="en-MY" sz="900" b="1" dirty="0"/>
              <a:t>INTERAKSI:</a:t>
            </a:r>
          </a:p>
          <a:p>
            <a:r>
              <a:rPr lang="en-MY" sz="900" dirty="0"/>
              <a:t>  Tiada interaksi pengguna. Skrin auto-maju selepas VO, kemudian ke S18.</a:t>
            </a:r>
          </a:p>
          <a:p>
            <a:r>
              <a:rPr lang="en-MY" sz="900" dirty="0"/>
              <a:t/>
            </a:r>
          </a:p>
          <a:p>
            <a:r>
              <a:rPr lang="en-MY" sz="900" b="1" dirty="0"/>
              <a:t>STATE / PERALIHAN:</a:t>
            </a:r>
          </a:p>
          <a:p>
            <a:r>
              <a:rPr lang="en-MY" sz="900" dirty="0"/>
              <a:t>  Satu state. Empat titik rumusan boleh muncul satu demi satu mengikut VO.</a:t>
            </a:r>
          </a:p>
          <a:p>
            <a:r>
              <a:rPr lang="en-MY" sz="900" dirty="0"/>
              <a:t/>
            </a:r>
          </a:p>
          <a:p>
            <a:r>
              <a:rPr lang="en-MY" sz="900" b="1" dirty="0"/>
              <a:t>VISUAL (spesifikasi sahaja — tidak dibenamkan):</a:t>
            </a:r>
          </a:p>
          <a:p>
            <a:r>
              <a:rPr lang="en-MY" sz="900" dirty="0"/>
              <a:t>  [Visual: Papan rumusan - dua kumpulan komponen dipaparkan bersebelahan,</a:t>
            </a:r>
          </a:p>
          <a:p>
            <a:r>
              <a:rPr lang="en-MY" sz="900" dirty="0"/>
              <a:t>   Struktur Taman (4 item) dan Perabot Taman (5 item), sebagai ikon atau kad kecil.]</a:t>
            </a:r>
          </a:p>
          <a:p>
            <a:r>
              <a:rPr lang="en-MY" sz="900" dirty="0"/>
              <a:t>  Tiada imej modul khusus untuk skrin rumusan.</a:t>
            </a:r>
          </a:p>
          <a:p>
            <a:r>
              <a:rPr lang="en-MY" sz="900" dirty="0"/>
              <a:t/>
            </a:r>
          </a:p>
          <a:p>
            <a:r>
              <a:rPr lang="en-MY" sz="900" b="1" dirty="0"/>
              <a:t>SUMBER MODUL:</a:t>
            </a:r>
          </a:p>
          <a:p>
            <a:r>
              <a:rPr lang="en-MY" sz="900" dirty="0"/>
              <a:t>  Modul ms 237-250 (fizikal 256-269) - keseluruhan skop bahagian.</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Label struktur (Kepentingan / Isi Utama / Manfaat) DIBUANG mengikut arahan SME.</a:t>
            </a:r>
          </a:p>
          <a:p>
            <a:r>
              <a:rPr lang="en-MY" sz="900" dirty="0"/>
              <a:t>  Penerima: kontraktor, bukan "anda".</a:t>
            </a:r>
          </a:p>
          <a:p>
            <a:r>
              <a:rPr lang="en-MY" sz="900" dirty="0"/>
              <a:t>  Istilah asal Inggeris dicondongkan: Water Feature, Drinking Fountain, BBQ pit.</a:t>
            </a:r>
          </a:p>
          <a:p>
            <a:r>
              <a:rPr lang="en-MY" sz="900" dirty="0"/>
              <a:t/>
            </a:r>
          </a:p>
          <a:p>
            <a:r>
              <a:rPr lang="en-MY" sz="900" b="1" dirty="0"/>
              <a:t>STATUS KEPUTUSAN:</a:t>
            </a:r>
          </a:p>
          <a:p>
            <a:r>
              <a:rPr lang="en-MY" sz="900" dirty="0"/>
              <a:t>  SOURCE_BOUND_TEXT - disahkan terhadap probe notesSlide12.</a:t>
            </a:r>
          </a:p>
          <a:p>
            <a:r>
              <a:rPr lang="en-MY" sz="900" dirty="0"/>
              <a:t>  Klausa manfaat (baris keempat) dibina mengikut pertimbangan - untuk semakan Bariah (D-05).</a:t>
            </a:r>
          </a:p>
        </p:txBody>
      </p:sp>
      <p:sp>
        <p:nvSpPr>
          <p:cNvPr id="24" name="RumHead"/>
          <p:cNvSpPr txBox="1"/>
          <p:nvPr/>
        </p:nvSpPr>
        <p:spPr>
          <a:xfrm>
            <a:off x="742950" y="3584448"/>
            <a:ext cx="10706070" cy="411480"/>
          </a:xfrm>
          <a:prstGeom prst="rect">
            <a:avLst/>
          </a:prstGeom>
          <a:noFill/>
        </p:spPr>
        <p:txBody>
          <a:bodyPr wrap="square">
            <a:noAutofit/>
          </a:bodyPr>
          <a:lstStyle/>
          <a:p>
            <a:r>
              <a:rPr lang="en-MY" sz="1800" b="1" dirty="0">
                <a:solidFill>
                  <a:schemeClr val="tx1">
                    <a:lumMod val="85000"/>
                    <a:lumOff val="15000"/>
                  </a:schemeClr>
                </a:solidFill>
              </a:rPr>
              <a:t>Komponen Landskap — Struktur Taman dan Perabot Taman</a:t>
            </a:r>
          </a:p>
        </p:txBody>
      </p:sp>
      <p:sp>
        <p:nvSpPr>
          <p:cNvPr id="25" name="TextBox 24"/>
          <p:cNvSpPr txBox="1"/>
          <p:nvPr/>
        </p:nvSpPr>
        <p:spPr>
          <a:xfrm>
            <a:off x="742950" y="4069080"/>
            <a:ext cx="10725180" cy="233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MY" dirty="0"/>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dirty="0"/>
              <a:t>Struktur Taman - Struktur Persisir Air, Struktur Teduhan, Kemudahan Awam, </a:t>
            </a:r>
            <a:r>
              <a:rPr lang="en-MY" i="1" dirty="0"/>
              <a:t>Water Feature</a:t>
            </a:r>
          </a:p>
          <a:p>
            <a:pPr marL="285750" indent="-285750">
              <a:spcBef>
                <a:spcPts val="600"/>
              </a:spcBef>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spcBef>
                <a:spcPts val="600"/>
              </a:spcBef>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S18 · SKRIN KUIZ · 4 MCQ + 1 Multiple Response · DRAFT_FOR_BARIAH_REVIEW</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S18 — KUIZ</a:t>
            </a:r>
          </a:p>
          <a:p>
            <a:r>
              <a:rPr lang="en-MY" sz="900" b="1" dirty="0"/>
              <a:t>FUNGSI: Menilai kefahaman terhadap komponen landskap yang diteroka dalam bahagian ini.</a:t>
            </a:r>
          </a:p>
          <a:p>
            <a:r>
              <a:rPr lang="en-MY" sz="900" dirty="0"/>
              <a:t/>
            </a:r>
          </a:p>
          <a:p>
            <a:r>
              <a:rPr lang="en-MY" sz="900" b="1" dirty="0"/>
              <a:t>INTERAKSI:</a:t>
            </a:r>
          </a:p>
          <a:p>
            <a:r>
              <a:rPr lang="en-MY" sz="900" dirty="0"/>
              <a:t>  Lima item disampaikan satu demi satu.</a:t>
            </a:r>
          </a:p>
          <a:p>
            <a:r>
              <a:rPr lang="en-MY" sz="900" dirty="0"/>
              <a:t>  Soalan 1-4: pilihan tunggal (MCQ). Soalan 5: pilihan berbilang (Multiple Response).</a:t>
            </a:r>
          </a:p>
          <a:p>
            <a:r>
              <a:rPr lang="en-MY" sz="900" dirty="0"/>
              <a:t>  Maklum balas serta-merta dipaparkan selepas setiap penghantaran jawapan.</a:t>
            </a:r>
          </a:p>
          <a:p>
            <a:r>
              <a:rPr lang="en-MY" sz="900" dirty="0"/>
              <a:t>  Butang Hantar bagi setiap item; butang Seterusnya selepas maklum balas.</a:t>
            </a:r>
          </a:p>
          <a:p>
            <a:r>
              <a:rPr lang="en-MY" sz="900" dirty="0"/>
              <a:t/>
            </a:r>
          </a:p>
          <a:p>
            <a:r>
              <a:rPr lang="en-MY" sz="900" b="1" dirty="0"/>
              <a:t>STATE / PERALIHAN:</a:t>
            </a:r>
          </a:p>
          <a:p>
            <a:r>
              <a:rPr lang="en-MY" sz="900" dirty="0"/>
              <a:t>  Setiap item: state soalan - state maklum balas - state seterusnya.</a:t>
            </a:r>
          </a:p>
          <a:p>
            <a:r>
              <a:rPr lang="en-MY" sz="900" dirty="0"/>
              <a:t>  K5 memerlukan kesemua lima jawapan betul dipilih dan dua pengganggu tidak dipilih.</a:t>
            </a:r>
          </a:p>
          <a:p>
            <a:r>
              <a:rPr lang="en-MY" sz="900" dirty="0"/>
              <a:t>  Peralihan ke S19 selepas item kelima.</a:t>
            </a:r>
          </a:p>
          <a:p>
            <a:r>
              <a:rPr lang="en-MY" sz="900" dirty="0"/>
              <a:t>  Peraturan markah lulus, bilangan cubaan dan laluan gagal: BELUM DITETAPKAN.</a:t>
            </a:r>
          </a:p>
          <a:p>
            <a:r>
              <a:rPr lang="en-MY" sz="900" dirty="0"/>
              <a:t/>
            </a:r>
          </a:p>
          <a:p>
            <a:r>
              <a:rPr lang="en-MY" sz="900" b="1" dirty="0"/>
              <a:t>VISUAL (spesifikasi sahaja — tidak dibenamkan):</a:t>
            </a:r>
          </a:p>
          <a:p>
            <a:r>
              <a:rPr lang="en-MY" sz="900" dirty="0"/>
              <a:t>  [Visual: Bingkai kuiz standard - kawasan soalan di atas, pilihan di bawah,</a:t>
            </a:r>
          </a:p>
          <a:p>
            <a:r>
              <a:rPr lang="en-MY" sz="900" dirty="0"/>
              <a:t>   kawasan maklum balas muncul di bawah pilihan.]</a:t>
            </a:r>
          </a:p>
          <a:p>
            <a:r>
              <a:rPr lang="en-MY" sz="900" dirty="0"/>
              <a:t>  Tiada imej sumber diperlukan. Tiada imej dibenamkan.</a:t>
            </a:r>
          </a:p>
          <a:p>
            <a:r>
              <a:rPr lang="en-MY" sz="900" dirty="0"/>
              <a:t/>
            </a:r>
          </a:p>
          <a:p>
            <a:r>
              <a:rPr lang="en-MY" sz="900" b="1" dirty="0"/>
              <a:t>SUMBER MODUL:</a:t>
            </a:r>
          </a:p>
          <a:p>
            <a:r>
              <a:rPr lang="en-MY" sz="900" dirty="0"/>
              <a:t>  Kesemua lima item diterbitkan daripada modul ms 238-249.</a:t>
            </a:r>
          </a:p>
          <a:p>
            <a:r>
              <a:rPr lang="en-MY" sz="900" dirty="0"/>
              <a:t>  Setiap item membawa rujukan halaman sumbernya sendiri (lihat nota skrin).</a:t>
            </a:r>
          </a:p>
          <a:p>
            <a:r>
              <a:rPr lang="en-MY" sz="900" dirty="0"/>
              <a:t>  Modul TIDAK membawa bank soalan. Item ini DIBINA daripada kandungan sumber.</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Pengenal interaksi produksi tidak dipetik di sini.</a:t>
            </a:r>
          </a:p>
          <a:p>
            <a:r>
              <a:rPr lang="en-MY" sz="900" dirty="0"/>
              <a:t>  Teks penuh pilihan dan maklum balas berada pada nota skrin.</a:t>
            </a:r>
          </a:p>
          <a:p>
            <a:r>
              <a:rPr lang="en-MY" sz="900" dirty="0"/>
              <a:t/>
            </a:r>
          </a:p>
          <a:p>
            <a:r>
              <a:rPr lang="en-MY" sz="900" b="1" dirty="0"/>
              <a:t>STATUS KEPUTUSAN:</a:t>
            </a:r>
          </a:p>
          <a:p>
            <a:r>
              <a:rPr lang="en-MY" sz="900" dirty="0"/>
              <a:t>  DRAFT_FOR_BARIAH_REVIEW — kesemua lima item, kunci jawapan dan maklum balas.</a:t>
            </a:r>
          </a:p>
          <a:p>
            <a:r>
              <a:rPr lang="en-MY" sz="900" dirty="0"/>
              <a:t>  Ini adalah draf penilaian. Ia BUKAN kandungan penilaian yang diluluskan.</a:t>
            </a:r>
          </a:p>
          <a:p>
            <a:r>
              <a:rPr lang="en-MY" sz="900" dirty="0"/>
              <a:t>  Peraturan markah lulus dan laluan gagal: OPEN_DECISION (D-10).</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Kuiz</a:t>
            </a:r>
          </a:p>
        </p:txBody>
      </p:sp>
      <p:sp>
        <p:nvSpPr>
          <p:cNvPr id="20" name="QHead"/>
          <p:cNvSpPr txBox="1"/>
          <p:nvPr/>
        </p:nvSpPr>
        <p:spPr>
          <a:xfrm>
            <a:off x="723930" y="1207008"/>
            <a:ext cx="10744200" cy="329184"/>
          </a:xfrm>
          <a:prstGeom prst="rect">
            <a:avLst/>
          </a:prstGeom>
          <a:noFill/>
        </p:spPr>
        <p:txBody>
          <a:bodyPr wrap="square">
            <a:noAutofit/>
          </a:bodyPr>
          <a:lstStyle/>
          <a:p>
            <a:r>
              <a:rPr lang="en-MY" sz="1400" b="1" dirty="0">
                <a:solidFill>
                  <a:schemeClr val="tx1">
                    <a:lumMod val="85000"/>
                    <a:lumOff val="15000"/>
                  </a:schemeClr>
                </a:solidFill>
              </a:rPr>
              <a:t>Draf lima item — 4 aneka pilihan (MCQ) + 1 pilihan berbilang (Multiple Response)</a:t>
            </a:r>
          </a:p>
        </p:txBody>
      </p:sp>
      <p:sp>
        <p:nvSpPr>
          <p:cNvPr id="21" name="QBody"/>
          <p:cNvSpPr txBox="1"/>
          <p:nvPr/>
        </p:nvSpPr>
        <p:spPr>
          <a:xfrm>
            <a:off x="723930" y="1627632"/>
            <a:ext cx="10744200" cy="4480560"/>
          </a:xfrm>
          <a:prstGeom prst="rect">
            <a:avLst/>
          </a:prstGeom>
          <a:noFill/>
        </p:spPr>
        <p:txBody>
          <a:bodyPr wrap="square">
            <a:noAutofit/>
          </a:bodyPr>
          <a:lstStyle/>
          <a:p>
            <a:pPr marL="285750" indent="-285750">
              <a:spcBef>
                <a:spcPts val="300"/>
              </a:spcBef>
              <a:buFont typeface="Arial" panose="020B0604020202020204" pitchFamily="34" charset="0"/>
              <a:buChar char="•"/>
            </a:pPr>
            <a:r>
              <a:rPr lang="en-MY" sz="1300" dirty="0"/>
              <a:t>Soalan 1 · MCQ — Struktur persisir air dibina di tepi badan air seperti tasik, sungai atau pantai. Apakah keperluan pembinaan yang paling kritikal bagi struktur ini?</a:t>
            </a:r>
          </a:p>
          <a:p>
            <a:pPr marL="571500" lvl="1" indent="-285750">
              <a:spcBef>
                <a:spcPts val="300"/>
              </a:spcBef>
              <a:buFont typeface="Arial" panose="020B0604020202020204" pitchFamily="34" charset="0"/>
              <a:buChar char="•"/>
            </a:pPr>
            <a:r>
              <a:rPr lang="en-MY" sz="1300" dirty="0"/>
              <a:t>Jawapan: B   ·   Pilihan: 4   ·   Sumber: modul ms 238 (3.3.1)</a:t>
            </a:r>
          </a:p>
          <a:p>
            <a:pPr marL="285750" indent="-285750">
              <a:spcBef>
                <a:spcPts val="300"/>
              </a:spcBef>
              <a:buFont typeface="Arial" panose="020B0604020202020204" pitchFamily="34" charset="0"/>
              <a:buChar char="•"/>
            </a:pPr>
            <a:r>
              <a:rPr lang="en-MY" sz="1300" dirty="0"/>
              <a:t>Soalan 2 · MCQ — Manakah antara berikut merupakan struktur teduhan tradisional Melayu yang digunakan sebagai tempat berehat?</a:t>
            </a:r>
          </a:p>
          <a:p>
            <a:pPr marL="571500" lvl="1" indent="-285750">
              <a:spcBef>
                <a:spcPts val="300"/>
              </a:spcBef>
              <a:buFont typeface="Arial" panose="020B0604020202020204" pitchFamily="34" charset="0"/>
              <a:buChar char="•"/>
            </a:pPr>
            <a:r>
              <a:rPr lang="en-MY" sz="1300" dirty="0"/>
              <a:t>Jawapan: C   ·   Pilihan: 4   ·   Sumber: modul ms 239 (3.3.2)</a:t>
            </a:r>
          </a:p>
          <a:p>
            <a:pPr marL="285750" indent="-285750">
              <a:spcBef>
                <a:spcPts val="300"/>
              </a:spcBef>
              <a:buFont typeface="Arial" panose="020B0604020202020204" pitchFamily="34" charset="0"/>
              <a:buChar char="•"/>
            </a:pPr>
            <a:r>
              <a:rPr lang="en-MY" sz="1300" dirty="0"/>
              <a:t>Soalan 3 · MCQ — Apakah pertimbangan utama dalam pemilihan bahan bagi kemudahan awam seperti tandas dan surau di taman?</a:t>
            </a:r>
          </a:p>
          <a:p>
            <a:pPr marL="571500" lvl="1" indent="-285750">
              <a:spcBef>
                <a:spcPts val="300"/>
              </a:spcBef>
              <a:buFont typeface="Arial" panose="020B0604020202020204" pitchFamily="34" charset="0"/>
              <a:buChar char="•"/>
            </a:pPr>
            <a:r>
              <a:rPr lang="en-MY" sz="1300" dirty="0"/>
              <a:t>Jawapan: A   ·   Pilihan: 4   ·   Sumber: modul ms 240 (3.3.3)</a:t>
            </a:r>
          </a:p>
          <a:p>
            <a:pPr marL="285750" indent="-285750">
              <a:spcBef>
                <a:spcPts val="300"/>
              </a:spcBef>
              <a:buFont typeface="Arial" panose="020B0604020202020204" pitchFamily="34" charset="0"/>
              <a:buChar char="•"/>
            </a:pPr>
            <a:r>
              <a:rPr lang="en-MY" sz="1300" dirty="0"/>
              <a:t>Soalan 4 · MCQ — Dalam pembinaan water feature, apakah aspek kawalan kualiti air yang dinyatakan dalam modul?</a:t>
            </a:r>
          </a:p>
          <a:p>
            <a:pPr marL="571500" lvl="1" indent="-285750">
              <a:spcBef>
                <a:spcPts val="300"/>
              </a:spcBef>
              <a:buFont typeface="Arial" panose="020B0604020202020204" pitchFamily="34" charset="0"/>
              <a:buChar char="•"/>
            </a:pPr>
            <a:r>
              <a:rPr lang="en-MY" sz="1300" dirty="0"/>
              <a:t>Jawapan: B   ·   Pilihan: 4   ·   Sumber: modul ms 241 (3.3.4)</a:t>
            </a:r>
          </a:p>
          <a:p>
            <a:pPr marL="285750" indent="-285750">
              <a:spcBef>
                <a:spcPts val="300"/>
              </a:spcBef>
              <a:buFont typeface="Arial" panose="020B0604020202020204" pitchFamily="34" charset="0"/>
              <a:buChar char="•"/>
            </a:pPr>
            <a:r>
              <a:rPr lang="en-MY" sz="1300" dirty="0"/>
              <a:t>Soalan 5 · MULTIPLE RESPONSE — Pilih SEMUA komponen yang tergolong dalam Perabot Taman.</a:t>
            </a:r>
          </a:p>
          <a:p>
            <a:pPr marL="571500" lvl="1" indent="-285750">
              <a:spcBef>
                <a:spcPts val="300"/>
              </a:spcBef>
              <a:buFont typeface="Arial" panose="020B0604020202020204" pitchFamily="34" charset="0"/>
              <a:buChar char="•"/>
            </a:pPr>
            <a:r>
              <a:rPr lang="en-MY" sz="1300" dirty="0"/>
              <a:t>Jawapan: A, B, D, E, F   ·   Pilihan: 7   ·   Sumber: modul ms 242-249 (3.4.1-3.4.3)</a:t>
            </a:r>
          </a:p>
        </p:txBody>
      </p:sp>
      <p:sp>
        <p:nvSpPr>
          <p:cNvPr id="22" name="QProv"/>
          <p:cNvSpPr txBox="1"/>
          <p:nvPr/>
        </p:nvSpPr>
        <p:spPr>
          <a:xfrm>
            <a:off x="723930" y="6419088"/>
            <a:ext cx="10744200" cy="329184"/>
          </a:xfrm>
          <a:prstGeom prst="rect">
            <a:avLst/>
          </a:prstGeom>
          <a:noFill/>
        </p:spPr>
        <p:txBody>
          <a:bodyPr wrap="square">
            <a:noAutofit/>
          </a:bodyPr>
          <a:lstStyle/>
          <a:p>
            <a:r>
              <a:rPr lang="en-MY" sz="1200" b="1" dirty="0">
                <a:solidFill>
                  <a:srgbClr val="7F6000"/>
                </a:solidFill>
              </a:rPr>
              <a:t>DRAFT_FOR_BARIAH_REVIEW — teks penuh pilihan, kunci jawapan dan maklum balas berada pada nota skrin.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 Bahagian</a:t>
            </a:r>
          </a:p>
        </p:txBody>
      </p:sp>
      <p:sp>
        <p:nvSpPr>
          <p:cNvPr id="3" name="ScreenStamp"/>
          <p:cNvSpPr txBox="1"/>
          <p:nvPr/>
        </p:nvSpPr>
        <p:spPr>
          <a:xfrm>
            <a:off x="617952" y="68580"/>
            <a:ext cx="10979658" cy="274320"/>
          </a:xfrm>
          <a:prstGeom prst="rect">
            <a:avLst/>
          </a:prstGeom>
          <a:noFill/>
        </p:spPr>
        <p:txBody>
          <a:bodyPr wrap="square">
            <a:noAutofit/>
          </a:bodyPr>
          <a:lstStyle/>
          <a:p>
            <a:r>
              <a:rPr lang="en-MY" sz="1100" b="1" dirty="0">
                <a:solidFill>
                  <a:srgbClr val="7F6000"/>
                </a:solidFill>
              </a:rPr>
              <a:t>S19 · SKRIN TAMAT BAHAGIAN · PROPOSED_FOR_BARIAH_REVIEW</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dirty="0"/>
              <a:t>K5 PL06 T03 B02 — PAPAN CERITA UNTUK SEMAKAN BARIAH  v0.1</a:t>
            </a:r>
          </a:p>
          <a:p>
            <a:r>
              <a:rPr lang="en-MY" sz="900" dirty="0"/>
              <a:t>STORYBOARD_REVIEW_DRAFT · SOURCE_BOUND_TEXT</a:t>
            </a:r>
          </a:p>
          <a:p>
            <a:r>
              <a:rPr lang="en-MY" sz="900" b="1" dirty="0"/>
              <a:t>VISUALS_NOT_EMBEDDED · MULTIMEDIA_NOT_PRODUCED</a:t>
            </a:r>
          </a:p>
          <a:p>
            <a:r>
              <a:rPr lang="en-MY" sz="900" dirty="0"/>
              <a:t>PENDING_BARIAH_APPROVAL · NOT_FOR_MMD_BUILD</a:t>
            </a:r>
          </a:p>
          <a:p>
            <a:r>
              <a:rPr lang="en-MY" sz="900" dirty="0"/>
              <a:t>Tiada imej sumber, audio, video atau animasi dibenamkan dalam fail ini.</a:t>
            </a:r>
          </a:p>
          <a:p>
            <a:r>
              <a:rPr lang="en-MY" sz="900" dirty="0"/>
              <a:t/>
            </a:r>
          </a:p>
          <a:p>
            <a:r>
              <a:rPr lang="en-MY" sz="900" b="1" dirty="0"/>
              <a:t>SCREEN: S19 — TAMAT BAHAGIAN</a:t>
            </a:r>
          </a:p>
          <a:p>
            <a:r>
              <a:rPr lang="en-MY" sz="900" b="1" dirty="0"/>
              <a:t>FUNGSI: Menutup bahagian dan mengarahkan pelajar ke langkah berikutnya.</a:t>
            </a:r>
          </a:p>
          <a:p>
            <a:r>
              <a:rPr lang="en-MY" sz="900" dirty="0"/>
              <a:t/>
            </a:r>
          </a:p>
          <a:p>
            <a:r>
              <a:rPr lang="en-MY" sz="900" b="1" dirty="0"/>
              <a:t>INTERAKSI:</a:t>
            </a:r>
          </a:p>
          <a:p>
            <a:r>
              <a:rPr lang="en-MY" sz="900" dirty="0"/>
              <a:t>  Tiada interaksi pengguna pada teks. Satu butang keluar (cadangan).</a:t>
            </a:r>
          </a:p>
          <a:p>
            <a:r>
              <a:rPr lang="en-MY" sz="900" dirty="0"/>
              <a:t>  Teks butang yang dicadangkan: "Tamat".</a:t>
            </a:r>
          </a:p>
          <a:p>
            <a:r>
              <a:rPr lang="en-MY" sz="900" dirty="0"/>
              <a:t/>
            </a:r>
          </a:p>
          <a:p>
            <a:r>
              <a:rPr lang="en-MY" sz="900" b="1" dirty="0"/>
              <a:t>STATE / PERALIHAN:</a:t>
            </a:r>
          </a:p>
          <a:p>
            <a:r>
              <a:rPr lang="en-MY" sz="900" dirty="0"/>
              <a:t>  Satu state. Peralihan keluar bergantung pada laluan yang belum ditetapkan.</a:t>
            </a:r>
          </a:p>
          <a:p>
            <a:r>
              <a:rPr lang="en-MY" sz="900" dirty="0"/>
              <a:t/>
            </a:r>
          </a:p>
          <a:p>
            <a:r>
              <a:rPr lang="en-MY" sz="900" b="1" dirty="0"/>
              <a:t>VISUAL (spesifikasi sahaja — tidak dibenamkan):</a:t>
            </a:r>
          </a:p>
          <a:p>
            <a:r>
              <a:rPr lang="en-MY" sz="900" dirty="0"/>
              <a:t>  [Visual: Papan penutup - cadangan foto tapak landskap siap, sama keluarga dengan S01,</a:t>
            </a:r>
          </a:p>
          <a:p>
            <a:r>
              <a:rPr lang="en-MY" sz="900" dirty="0"/>
              <a:t>   supaya pembukaan dan penutup bahagian berpasangan secara visual.]</a:t>
            </a:r>
          </a:p>
          <a:p>
            <a:r>
              <a:rPr lang="en-MY" sz="900" dirty="0"/>
              <a:t>  Tiada imej modul khusus untuk skrin tamat. Aset belum dipilih.</a:t>
            </a:r>
          </a:p>
          <a:p>
            <a:r>
              <a:rPr lang="en-MY" sz="900" dirty="0"/>
              <a:t/>
            </a:r>
          </a:p>
          <a:p>
            <a:r>
              <a:rPr lang="en-MY" sz="900" b="1" dirty="0"/>
              <a:t>SUMBER MODUL:</a:t>
            </a:r>
          </a:p>
          <a:p>
            <a:r>
              <a:rPr lang="en-MY" sz="900" dirty="0"/>
              <a:t>  Tiada halaman modul khusus untuk skrin tamat.</a:t>
            </a:r>
          </a:p>
          <a:p>
            <a:r>
              <a:rPr lang="en-MY" sz="900" dirty="0"/>
              <a:t>  Nama dua kumpulan komponen diambil daripada modul ms 237 dan ms 242.</a:t>
            </a:r>
          </a:p>
          <a:p>
            <a:r>
              <a:rPr lang="en-MY" sz="900" dirty="0"/>
              <a:t/>
            </a:r>
          </a:p>
          <a:p>
            <a:r>
              <a:rPr lang="en-MY" sz="900" b="1" dirty="0"/>
              <a:t>NOTA MMD:</a:t>
            </a:r>
          </a:p>
          <a:p>
            <a:r>
              <a:rPr lang="en-MY" sz="900" dirty="0"/>
              <a:t>  Tiada aset imej, audio, video atau animasi diikat pada peringkat ini.</a:t>
            </a:r>
          </a:p>
          <a:p>
            <a:r>
              <a:rPr lang="en-MY" sz="900" dirty="0"/>
              <a:t>  Pengikatan aset MMD hanya bermula selepas kelulusan Bariah.</a:t>
            </a:r>
          </a:p>
          <a:p>
            <a:r>
              <a:rPr lang="en-MY" sz="900" dirty="0"/>
              <a:t>  Teks penutup adalah CADANGAN, bukan petikan modul.</a:t>
            </a:r>
          </a:p>
          <a:p>
            <a:r>
              <a:rPr lang="en-MY" sz="900" dirty="0"/>
              <a:t/>
            </a:r>
          </a:p>
          <a:p>
            <a:r>
              <a:rPr lang="en-MY" sz="900" b="1" dirty="0"/>
              <a:t>STATUS KEPUTUSAN:</a:t>
            </a:r>
          </a:p>
          <a:p>
            <a:r>
              <a:rPr lang="en-MY" sz="900" dirty="0"/>
              <a:t>  PROPOSED_FOR_BARIAH_REVIEW — kata-kata Tamat Bahagian.</a:t>
            </a:r>
          </a:p>
          <a:p>
            <a:r>
              <a:rPr lang="en-MY" sz="900" dirty="0"/>
              <a:t>  ANDAIAN LALUAN — bukan keputusan K5 yang disahkan CAIR:</a:t>
            </a:r>
          </a:p>
          <a:p>
            <a:r>
              <a:rPr lang="en-MY" sz="900" dirty="0"/>
              <a:t>    A1. Selepas S18 pelajar dihalakan ke S19 tanpa syarat.</a:t>
            </a:r>
          </a:p>
          <a:p>
            <a:r>
              <a:rPr lang="en-MY" sz="900" dirty="0"/>
              <a:t>    A2. S19 keluar ke bahagian berikutnya dalam urutan Topik 3.</a:t>
            </a:r>
          </a:p>
          <a:p>
            <a:r>
              <a:rPr lang="en-MY" sz="900" dirty="0"/>
              <a:t>        Kewujudan dan nombor bahagian berikutnya TIDAK disahkan daripada mana-mana artifak.</a:t>
            </a:r>
          </a:p>
          <a:p>
            <a:r>
              <a:rPr lang="en-MY" sz="900" dirty="0"/>
              <a:t>    A3. Tiada peraturan ulangan kuiz ditetapkan sebelum S19 dicapai.</a:t>
            </a:r>
          </a:p>
          <a:p>
            <a:r>
              <a:rPr lang="en-MY" sz="900" dirty="0"/>
              <a:t>    Ketiga-tiga adalah andaian kerja sahaja. Rujuk D-11.</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Tamat Bahagian</a:t>
            </a:r>
          </a:p>
        </p:txBody>
      </p:sp>
      <p:sp>
        <p:nvSpPr>
          <p:cNvPr id="19" name="Rectangle 9"/>
          <p:cNvSpPr/>
          <p:nvPr/>
        </p:nvSpPr>
        <p:spPr>
          <a:xfrm>
            <a:off x="723930" y="1463040"/>
            <a:ext cx="10744200" cy="123444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 TIDAK DIBENAMKAN</a:t>
            </a:r>
          </a:p>
          <a:p>
            <a:r>
              <a:rPr lang="en-MY" sz="1200" dirty="0">
                <a:solidFill>
                  <a:schemeClr val="tx1">
                    <a:lumMod val="85000"/>
                    <a:lumOff val="15000"/>
                  </a:schemeClr>
                </a:solidFill>
              </a:rPr>
              <a:t>[Visual: Papan penutup. Cadangan: foto tapak landskap siap, sama keluarga</a:t>
            </a:r>
          </a:p>
          <a:p>
            <a:r>
              <a:rPr lang="en-MY" sz="1200" dirty="0">
                <a:solidFill>
                  <a:schemeClr val="tx1">
                    <a:lumMod val="85000"/>
                    <a:lumOff val="15000"/>
                  </a:schemeClr>
                </a:solidFill>
              </a:rPr>
              <a:t>dengan imej pembuka S01, supaya pembukaan dan penutup berpasangan.]</a:t>
            </a:r>
          </a:p>
          <a:p>
            <a:r>
              <a:rPr lang="en-MY" sz="1200" dirty="0">
                <a:solidFill>
                  <a:schemeClr val="tx1">
                    <a:lumMod val="85000"/>
                    <a:lumOff val="15000"/>
                  </a:schemeClr>
                </a:solidFill>
              </a:rPr>
              <a:t>Tiada imej modul khusus untuk skrin tamat. Aset belum dipilih.</a:t>
            </a:r>
          </a:p>
        </p:txBody>
      </p:sp>
      <p:sp>
        <p:nvSpPr>
          <p:cNvPr id="20" name="Proposal"/>
          <p:cNvSpPr txBox="1"/>
          <p:nvPr/>
        </p:nvSpPr>
        <p:spPr>
          <a:xfrm>
            <a:off x="723930" y="2926080"/>
            <a:ext cx="10744200" cy="2148840"/>
          </a:xfrm>
          <a:prstGeom prst="rect">
            <a:avLst/>
          </a:prstGeom>
          <a:solidFill>
            <a:srgbClr val="FFF8E1"/>
          </a:solidFill>
          <a:ln w="19050">
            <a:solidFill>
              <a:srgbClr val="BF8F00"/>
            </a:solidFill>
            <a:prstDash val="dash"/>
          </a:ln>
        </p:spPr>
        <p:txBody>
          <a:bodyPr wrap="square">
            <a:noAutofit/>
          </a:bodyPr>
          <a:lstStyle/>
          <a:p>
            <a:r>
              <a:rPr lang="en-MY" sz="1200" b="1" dirty="0">
                <a:solidFill>
                  <a:srgbClr val="7F6000"/>
                </a:solidFill>
              </a:rPr>
              <a:t>PROPOSED_FOR_BARIAH_REVIEW — kata-kata Tamat Bahagian</a:t>
            </a:r>
          </a:p>
          <a:p>
            <a:r>
              <a:rPr lang="en-MY" sz="1400" dirty="0">
                <a:solidFill>
                  <a:schemeClr val="tx1">
                    <a:lumMod val="85000"/>
                    <a:lumOff val="15000"/>
                  </a:schemeClr>
                </a:solidFill>
              </a:rPr>
              <a:t>Anda telah melengkapkan Topik 3 Bahagian 2: Komponen Landskap.</a:t>
            </a:r>
          </a:p>
          <a:p>
            <a:r>
              <a:rPr lang="en-MY" sz="1400" dirty="0">
                <a:solidFill>
                  <a:schemeClr val="tx1">
                    <a:lumMod val="85000"/>
                    <a:lumOff val="15000"/>
                  </a:schemeClr>
                </a:solidFill>
              </a:rPr>
              <a:t>Struktur Taman dan Perabot Taman telah diteroka sepenuhnya.</a:t>
            </a:r>
          </a:p>
          <a:p>
            <a:r>
              <a:rPr lang="en-MY" sz="1400" dirty="0">
                <a:solidFill>
                  <a:schemeClr val="tx1">
                    <a:lumMod val="85000"/>
                    <a:lumOff val="15000"/>
                  </a:schemeClr>
                </a:solidFill>
              </a:rPr>
              <a:t>Sila teruskan ke bahagian seterusnya apabila anda bersedia.</a:t>
            </a:r>
          </a:p>
        </p:txBody>
      </p:sp>
      <p:sp>
        <p:nvSpPr>
          <p:cNvPr id="21" name="RouteHead"/>
          <p:cNvSpPr txBox="1"/>
          <p:nvPr/>
        </p:nvSpPr>
        <p:spPr>
          <a:xfrm>
            <a:off x="723930" y="5257800"/>
            <a:ext cx="10744200" cy="292608"/>
          </a:xfrm>
          <a:prstGeom prst="rect">
            <a:avLst/>
          </a:prstGeom>
          <a:noFill/>
        </p:spPr>
        <p:txBody>
          <a:bodyPr wrap="square">
            <a:noAutofit/>
          </a:bodyPr>
          <a:lstStyle/>
          <a:p>
            <a:r>
              <a:rPr lang="en-MY" sz="1300" b="1" dirty="0">
                <a:solidFill>
                  <a:srgbClr val="7F6000"/>
                </a:solidFill>
              </a:rPr>
              <a:t>Andaian laluan semasa — bukan keputusan K5 yang disahkan CAIR</a:t>
            </a:r>
          </a:p>
        </p:txBody>
      </p:sp>
      <p:sp>
        <p:nvSpPr>
          <p:cNvPr id="22" name="Route"/>
          <p:cNvSpPr txBox="1"/>
          <p:nvPr/>
        </p:nvSpPr>
        <p:spPr>
          <a:xfrm>
            <a:off x="723930" y="5577840"/>
            <a:ext cx="10744200" cy="1005840"/>
          </a:xfrm>
          <a:prstGeom prst="rect">
            <a:avLst/>
          </a:prstGeom>
          <a:noFill/>
        </p:spPr>
        <p:txBody>
          <a:bodyPr wrap="square">
            <a:noAutofit/>
          </a:bodyPr>
          <a:lstStyle/>
          <a:p>
            <a:pPr marL="285750" indent="-285750">
              <a:buFont typeface="Arial" panose="020B0604020202020204" pitchFamily="34" charset="0"/>
              <a:buChar char="•"/>
            </a:pPr>
            <a:r>
              <a:rPr lang="en-MY" sz="1200" dirty="0"/>
              <a:t>A1. Selepas S18, pelajar dihalakan ke S19 tanpa syarat</a:t>
            </a:r>
          </a:p>
          <a:p>
            <a:pPr marL="285750" indent="-285750">
              <a:buFont typeface="Arial" panose="020B0604020202020204" pitchFamily="34" charset="0"/>
              <a:buChar char="•"/>
            </a:pPr>
            <a:r>
              <a:rPr lang="en-MY" sz="1200" dirty="0"/>
              <a:t>A2. S19 keluar ke bahagian berikutnya dalam urutan Topik 3 — kewujudannya belum disahkan</a:t>
            </a:r>
          </a:p>
          <a:p>
            <a:pPr marL="285750" indent="-285750">
              <a:buFont typeface="Arial" panose="020B0604020202020204" pitchFamily="34" charset="0"/>
              <a:buChar char="•"/>
            </a:pPr>
            <a:r>
              <a:rPr lang="en-MY" sz="1200" dirty="0"/>
              <a:t>A3. Tiada peraturan ulangan kuiz ditetapkan sebelum S19 dicapai</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vt:lpstr>
      <vt:lpstr>S02</vt:lpstr>
      <vt:lpstr>S03</vt:lpstr>
      <vt:lpstr>S04</vt:lpstr>
      <vt:lpstr>S05</vt:lpstr>
      <vt:lpstr>S06</vt:lpstr>
      <vt:lpstr>S07</vt:lpstr>
      <vt:lpstr>S08</vt:lpstr>
      <vt:lpstr>S09</vt:lpstr>
      <vt:lpstr>S10</vt:lpstr>
      <vt:lpstr>S11</vt:lpstr>
      <vt:lpstr>S12</vt:lpstr>
      <vt:lpstr>S13</vt:lpstr>
      <vt:lpstr>S14</vt:lpstr>
      <vt:lpstr>S15</vt:lpstr>
      <vt:lpstr>S16</vt:lpstr>
      <vt:lpstr>S17</vt:lpstr>
      <vt:lpstr>S18</vt:lpstr>
      <vt:lpstr>S19</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Papan Cerita untuk Semakan Bariah v0.1 — 19 skrin — K5 PL06 T03 B02</dc:title>
  <dc:subject>STORYBOARD_REVIEW_DRAFT. SOURCE_BOUND_TEXT. VISUALS_NOT_EMBEDDED. MULTIMEDIA_NOT_PRODUCED. PENDING_BARIAH_APPROVAL. NOT_FOR_MMD_BUILD.</dc:subject>
  <dc:creator>CAIR storyboard</dc:creator>
  <cp:keywords>storyboard-review-draft; K5PL06T03B02; visuals-not-embedded; multimedia-not-produced; not-for-mmd-build</cp:keywords>
  <dc:description>19-screen storyboard for SME review. Learner-facing display text, complete VO in the notes, interaction and state behaviour, visual direction as text specification only, module source page, MMD notes and decision status per screen. No source photograph, cropped PDF image, audio, video, animation or final multimedia asset is embedded. S02, S03, S18 and S19 carry explicit proposals marked for Bariah review.</dc:description>
  <cp:lastModifiedBy>CAIR storyboard</cp:lastModifiedBy>
  <cp:revision>1</cp:revision>
  <dcterms:created xsi:type="dcterms:W3CDTF">2026-07-31T00:00:00Z</dcterms:created>
  <dcterms:modified xsi:type="dcterms:W3CDTF">2026-07-31T00:00:00Z</dcterms:modified>
  <cp:category>Storyboard — Review Draft</cp:category>
</cp:coreProperties>
</file>