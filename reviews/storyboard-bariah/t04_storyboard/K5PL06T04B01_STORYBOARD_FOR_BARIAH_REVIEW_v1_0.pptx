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600200"/>
            <a:ext cx="11277600" cy="2400000"/>
          </a:xfrm>
          <a:prstGeom prst="rect">
            <a:avLst/>
          </a:prstGeom>
          <a:noFill/>
        </p:spPr>
        <p:txBody>
          <a:bodyPr wrap="square" lIns="0" rIns="0" tIns="0" bIns="0">
            <a:spAutoFit/>
          </a:bodyPr>
          <a:lstStyle/>
          <a:p>
            <a:pPr algn="l"/>
            <a:r>
              <a:rPr sz="1600" b="1" i="0">
                <a:solidFill>
                  <a:srgbClr val="6B6B6B"/>
                </a:solidFill>
                <a:latin typeface="Arial"/>
              </a:rPr>
              <a:t>STORYBOARD UNTUK SEMAKAN BARIAH</a:t>
            </a:r>
          </a:p>
          <a:p>
            <a:pPr algn="l"/>
            <a:r>
              <a:rPr sz="3400" b="1" i="0">
                <a:solidFill>
                  <a:srgbClr val="1A1A1A"/>
                </a:solidFill>
                <a:latin typeface="Arial"/>
              </a:rPr>
              <a:t>Topik 4: Penjagaan dan Penyelenggaraan</a:t>
            </a:r>
          </a:p>
          <a:p>
            <a:pPr algn="l"/>
            <a:r>
              <a:rPr sz="1800" b="0" i="0">
                <a:solidFill>
                  <a:srgbClr val="6B6B6B"/>
                </a:solidFill>
                <a:latin typeface="Arial"/>
              </a:rPr>
              <a:t>22 skrin pembelajaran</a:t>
            </a:r>
          </a:p>
          <a:p>
            <a:pPr algn="l"/>
            <a:r>
              <a:rPr sz="1000" b="0" i="0">
                <a:solidFill>
                  <a:srgbClr val="1A1A1A"/>
                </a:solidFill>
                <a:latin typeface="Arial"/>
              </a:rPr>
              <a:t/>
            </a:r>
          </a:p>
          <a:p>
            <a:pPr algn="l"/>
            <a:r>
              <a:rPr sz="1100" b="0" i="1">
                <a:solidFill>
                  <a:srgbClr val="6B6B6B"/>
                </a:solidFill>
                <a:latin typeface="Arial"/>
              </a:rPr>
              <a:t>Rujukan dalaman: K5-PL06-T04-B01</a:t>
            </a:r>
          </a:p>
          <a:p>
            <a:pPr algn="l"/>
            <a:r>
              <a:rPr sz="1100" b="0" i="1">
                <a:solidFill>
                  <a:srgbClr val="B71C1C"/>
                </a:solidFill>
                <a:latin typeface="Arial"/>
              </a:rPr>
              <a:t>Storyboard sahaja. Aset visual MMD belum dihasilkan.</a:t>
            </a:r>
          </a:p>
          <a:p>
            <a:pPr algn="l"/>
            <a:r>
              <a:rPr sz="1000" b="0" i="1">
                <a:solidFill>
                  <a:srgbClr val="6B6B6B"/>
                </a:solidFill>
                <a:latin typeface="Arial"/>
              </a:rPr>
              <a:t>Warna teks: biru = kandungan modul terkawal · hijau = kandungan Bariah (A = ditulis, A* = dipilih) · ungu = pilihan kuiz draf CAIR · kelabu = elemen antara muka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T04-S01   ·   TITLE</a:t>
            </a:r>
          </a:p>
          <a:p>
            <a:pPr algn="l"/>
            <a:r>
              <a:rPr sz="2400" b="1" i="0">
                <a:solidFill>
                  <a:srgbClr val="1A1A1A"/>
                </a:solidFill>
                <a:latin typeface="Arial"/>
              </a:rPr>
              <a:t>Tajuk dan Mula</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0000"/>
            <a:ext cx="6766560" cy="4600000"/>
          </a:xfrm>
          <a:prstGeom prst="rect">
            <a:avLst/>
          </a:prstGeom>
          <a:noFill/>
        </p:spPr>
        <p:txBody>
          <a:bodyPr wrap="square" lIns="0" rIns="0" tIns="0" bIns="0">
            <a:spAutoFit/>
          </a:bodyPr>
          <a:lstStyle/>
          <a:p>
            <a:pPr algn="l"/>
            <a:r>
              <a:rPr sz="1000" b="1" i="0">
                <a:solidFill>
                  <a:srgbClr val="6B6B6B"/>
                </a:solidFill>
                <a:latin typeface="Arial"/>
              </a:rPr>
              <a:t>KANDUNGAN SKRIN</a:t>
            </a:r>
          </a:p>
          <a:p>
            <a:pPr algn="l"/>
            <a:r>
              <a:rPr sz="1100" b="0" i="0">
                <a:solidFill>
                  <a:srgbClr val="6B6B6B"/>
                </a:solidFill>
                <a:latin typeface="Arial"/>
              </a:rPr>
              <a:t>u · Topik 4</a:t>
            </a:r>
          </a:p>
          <a:p>
            <a:pPr algn="l"/>
            <a:r>
              <a:rPr sz="1100" b="0" i="0">
                <a:solidFill>
                  <a:srgbClr val="6B6B6B"/>
                </a:solidFill>
                <a:latin typeface="Arial"/>
              </a:rPr>
              <a:t>u · Penjagaan dan Penyelenggaraan</a:t>
            </a:r>
          </a:p>
          <a:p>
            <a:pPr algn="l"/>
            <a:r>
              <a:rPr sz="1100" b="0" i="0">
                <a:solidFill>
                  <a:srgbClr val="6B6B6B"/>
                </a:solidFill>
                <a:latin typeface="Arial"/>
              </a:rPr>
              <a:t>u · MULA</a:t>
            </a:r>
          </a:p>
          <a:p>
            <a:pPr algn="l"/>
            <a:r>
              <a:rPr sz="1100" b="0" i="0">
                <a:solidFill>
                  <a:srgbClr val="6B6B6B"/>
                </a:solidFill>
                <a:latin typeface="Arial"/>
              </a:rPr>
              <a:t>u · SETERUSNYA</a:t>
            </a:r>
          </a:p>
        </p:txBody>
      </p:sp>
      <p:sp>
        <p:nvSpPr>
          <p:cNvPr id="5" name="TextBox 4"/>
          <p:cNvSpPr txBox="1"/>
          <p:nvPr/>
        </p:nvSpPr>
        <p:spPr>
          <a:xfrm>
            <a:off x="7523760" y="1320000"/>
            <a:ext cx="4211040" cy="4600000"/>
          </a:xfrm>
          <a:prstGeom prst="rect">
            <a:avLst/>
          </a:prstGeom>
          <a:noFill/>
        </p:spPr>
        <p:txBody>
          <a:bodyPr wrap="square" lIns="0" rIns="0" tIns="0" bIns="0">
            <a:spAutoFit/>
          </a:bodyPr>
          <a:lstStyle/>
          <a:p>
            <a:pPr algn="l"/>
            <a:r>
              <a:rPr sz="1000" b="1" i="0">
                <a:solidFill>
                  <a:srgbClr val="6B6B6B"/>
                </a:solidFill>
                <a:latin typeface="Arial"/>
              </a:rPr>
              <a:t>INTERAKSI</a:t>
            </a:r>
          </a:p>
          <a:p>
            <a:pPr algn="l"/>
            <a:r>
              <a:rPr sz="1000" b="0" i="0">
                <a:solidFill>
                  <a:srgbClr val="1A1A1A"/>
                </a:solidFill>
                <a:latin typeface="Arial"/>
              </a:rPr>
              <a:t>· BASE only</a:t>
            </a:r>
          </a:p>
          <a:p>
            <a:pPr algn="l"/>
            <a:r>
              <a:rPr sz="800" b="0" i="0">
                <a:solidFill>
                  <a:srgbClr val="1A1A1A"/>
                </a:solidFill>
                <a:latin typeface="Arial"/>
              </a:rPr>
              <a:t/>
            </a:r>
          </a:p>
          <a:p>
            <a:pPr algn="l"/>
            <a:r>
              <a:rPr sz="1000" b="1" i="0">
                <a:solidFill>
                  <a:srgbClr val="6B6B6B"/>
                </a:solidFill>
                <a:latin typeface="Arial"/>
              </a:rPr>
              <a:t>VISUAL</a:t>
            </a:r>
          </a:p>
          <a:p>
            <a:pPr algn="l"/>
            <a:r>
              <a:rPr sz="1000" b="0" i="1">
                <a:solidFill>
                  <a:srgbClr val="6B6B6B"/>
                </a:solidFill>
                <a:latin typeface="Arial"/>
              </a:rPr>
              <a:t>Tiada visual khusus</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6B6B6B"/>
                </a:solidFill>
                <a:latin typeface="Arial"/>
              </a:rPr>
              <a:t>Skrin struktur — tiada baris modul</a:t>
            </a:r>
          </a:p>
          <a:p>
            <a:pPr algn="l"/>
            <a:r>
              <a:rPr sz="800" b="0" i="0">
                <a:solidFill>
                  <a:srgbClr val="6B6B6B"/>
                </a:solidFill>
                <a:latin typeface="Arial"/>
              </a:rPr>
              <a:t>Keputusan: T04-DEC-A01</a:t>
            </a:r>
          </a:p>
        </p:txBody>
      </p:sp>
      <p:sp>
        <p:nvSpPr>
          <p:cNvPr id="6" name="TextBox 5"/>
          <p:cNvSpPr txBox="1"/>
          <p:nvPr/>
        </p:nvSpPr>
        <p:spPr>
          <a:xfrm>
            <a:off x="457200" y="6150000"/>
            <a:ext cx="11277600" cy="500000"/>
          </a:xfrm>
          <a:prstGeom prst="rect">
            <a:avLst/>
          </a:prstGeom>
          <a:noFill/>
        </p:spPr>
        <p:txBody>
          <a:bodyPr wrap="square" lIns="0" rIns="0" tIns="0" bIns="0">
            <a:spAutoFit/>
          </a:bodyPr>
          <a:lstStyle/>
          <a:p>
            <a:pPr algn="l"/>
            <a:r>
              <a:rPr sz="900" b="0" i="0">
                <a:solidFill>
                  <a:srgbClr val="6B6B6B"/>
                </a:solidFill>
                <a:latin typeface="Arial"/>
              </a:rPr>
              <a:t>Topik 4 · skrin 1 daripada 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T04-S02   ·   DIALOGUE_SCENARIO</a:t>
            </a:r>
          </a:p>
          <a:p>
            <a:pPr algn="l"/>
            <a:r>
              <a:rPr sz="2400" b="1" i="0">
                <a:solidFill>
                  <a:srgbClr val="1A1A1A"/>
                </a:solidFill>
                <a:latin typeface="Arial"/>
              </a:rPr>
              <a:t>Pengenalan — perbualan di tapak</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0000"/>
            <a:ext cx="6766560" cy="4600000"/>
          </a:xfrm>
          <a:prstGeom prst="rect">
            <a:avLst/>
          </a:prstGeom>
          <a:noFill/>
        </p:spPr>
        <p:txBody>
          <a:bodyPr wrap="square" lIns="0" rIns="0" tIns="0" bIns="0">
            <a:spAutoFit/>
          </a:bodyPr>
          <a:lstStyle/>
          <a:p>
            <a:pPr algn="l"/>
            <a:r>
              <a:rPr sz="1000" b="1" i="0">
                <a:solidFill>
                  <a:srgbClr val="6B6B6B"/>
                </a:solidFill>
                <a:latin typeface="Arial"/>
              </a:rPr>
              <a:t>KANDUNGAN SKRIN</a:t>
            </a:r>
          </a:p>
          <a:p>
            <a:pPr algn="l"/>
            <a:r>
              <a:rPr sz="1300" b="0" i="0">
                <a:solidFill>
                  <a:srgbClr val="1B5E20"/>
                </a:solidFill>
                <a:latin typeface="Arial"/>
              </a:rPr>
              <a:t>A · Alya: Encik Rahman, projek dah siap dibina. Kenapa kita masih perlu jaga taman ni setiap minggu?</a:t>
            </a:r>
          </a:p>
          <a:p>
            <a:pPr algn="l"/>
            <a:r>
              <a:rPr sz="1300" b="0" i="0">
                <a:solidFill>
                  <a:srgbClr val="1B5E20"/>
                </a:solidFill>
                <a:latin typeface="Arial"/>
              </a:rPr>
              <a:t>A · Encik Rahman: Sebab membina dan mengekalkan landskap dua benda berbeza, Alya. Tumbuhan kena disiram, dibaja dan dikawal perosak. Guna IPM, dan racun kimia pilihan terakhir. Struktur pula perlu dipantau supaya kekal berfungsi.</a:t>
            </a:r>
          </a:p>
          <a:p>
            <a:pPr algn="l"/>
            <a:r>
              <a:rPr sz="1300" b="0" i="0">
                <a:solidFill>
                  <a:srgbClr val="1B5E20"/>
                </a:solidFill>
                <a:latin typeface="Arial"/>
              </a:rPr>
              <a:t>A · Alya: Dan semua kena direkod untuk tempoh DLP?</a:t>
            </a:r>
          </a:p>
          <a:p>
            <a:pPr algn="l"/>
            <a:r>
              <a:rPr sz="1300" b="0" i="0">
                <a:solidFill>
                  <a:srgbClr val="1B5E20"/>
                </a:solidFill>
                <a:latin typeface="Arial"/>
              </a:rPr>
              <a:t>A · Encik Rahman: Ya. Penyelenggaraan berjadual dan dokumentasi lengkap, itu yang melindungi kerja pembinaan kita dan mencerminkan kualiti kontraktor.</a:t>
            </a:r>
          </a:p>
          <a:p>
            <a:pPr algn="l"/>
            <a:r>
              <a:rPr sz="1100" b="0" i="0">
                <a:solidFill>
                  <a:srgbClr val="6B6B6B"/>
                </a:solidFill>
                <a:latin typeface="Arial"/>
              </a:rPr>
              <a:t>u · SETERUSNYA</a:t>
            </a:r>
          </a:p>
        </p:txBody>
      </p:sp>
      <p:sp>
        <p:nvSpPr>
          <p:cNvPr id="5" name="TextBox 4"/>
          <p:cNvSpPr txBox="1"/>
          <p:nvPr/>
        </p:nvSpPr>
        <p:spPr>
          <a:xfrm>
            <a:off x="7523760" y="1320000"/>
            <a:ext cx="4211040" cy="4600000"/>
          </a:xfrm>
          <a:prstGeom prst="rect">
            <a:avLst/>
          </a:prstGeom>
          <a:noFill/>
        </p:spPr>
        <p:txBody>
          <a:bodyPr wrap="square" lIns="0" rIns="0" tIns="0" bIns="0">
            <a:spAutoFit/>
          </a:bodyPr>
          <a:lstStyle/>
          <a:p>
            <a:pPr algn="l"/>
            <a:r>
              <a:rPr sz="1000" b="1" i="0">
                <a:solidFill>
                  <a:srgbClr val="6B6B6B"/>
                </a:solidFill>
                <a:latin typeface="Arial"/>
              </a:rPr>
              <a:t>INTERAKSI</a:t>
            </a:r>
          </a:p>
          <a:p>
            <a:pPr algn="l"/>
            <a:r>
              <a:rPr sz="1000" b="0" i="0">
                <a:solidFill>
                  <a:srgbClr val="1A1A1A"/>
                </a:solidFill>
                <a:latin typeface="Arial"/>
              </a:rPr>
              <a:t>· BASE — dialogue plays</a:t>
            </a:r>
          </a:p>
          <a:p>
            <a:pPr algn="l"/>
            <a:r>
              <a:rPr sz="800" b="0" i="0">
                <a:solidFill>
                  <a:srgbClr val="1A1A1A"/>
                </a:solidFill>
                <a:latin typeface="Arial"/>
              </a:rPr>
              <a:t/>
            </a:r>
          </a:p>
          <a:p>
            <a:pPr algn="l"/>
            <a:r>
              <a:rPr sz="1000" b="1" i="0">
                <a:solidFill>
                  <a:srgbClr val="6B6B6B"/>
                </a:solidFill>
                <a:latin typeface="Arial"/>
              </a:rPr>
              <a:t>VISUAL</a:t>
            </a:r>
          </a:p>
          <a:p>
            <a:pPr algn="l"/>
            <a:r>
              <a:rPr sz="1100" b="1" i="0">
                <a:solidFill>
                  <a:srgbClr val="1A1A1A"/>
                </a:solidFill>
                <a:latin typeface="Arial"/>
              </a:rPr>
              <a:t>AG-02· AG-08</a:t>
            </a:r>
          </a:p>
          <a:p>
            <a:pPr algn="l"/>
            <a:r>
              <a:rPr sz="1000" b="0" i="0">
                <a:solidFill>
                  <a:srgbClr val="1A1A1A"/>
                </a:solidFill>
                <a:latin typeface="Arial"/>
              </a:rPr>
              <a:t>Landskap Lembut — kategori</a:t>
            </a:r>
          </a:p>
          <a:p>
            <a:pPr algn="l"/>
            <a:r>
              <a:rPr sz="1000" b="0" i="0">
                <a:solidFill>
                  <a:srgbClr val="1A1A1A"/>
                </a:solidFill>
                <a:latin typeface="Arial"/>
              </a:rPr>
              <a:t>Slide 2 — senario pengenalan</a:t>
            </a:r>
          </a:p>
          <a:p>
            <a:pPr algn="l"/>
            <a:r>
              <a:rPr sz="900" b="0" i="0">
                <a:solidFill>
                  <a:srgbClr val="6B6B6B"/>
                </a:solidFill>
                <a:latin typeface="Arial"/>
              </a:rPr>
              <a:t>Dasar guna semula: REUSE_WITH_CONDITIONS</a:t>
            </a:r>
          </a:p>
          <a:p>
            <a:pPr algn="l"/>
            <a:r>
              <a:rPr sz="1000" b="1" i="0">
                <a:solidFill>
                  <a:srgbClr val="B71C1C"/>
                </a:solidFill>
                <a:latin typeface="Arial"/>
              </a:rPr>
              <a:t>ASET BELUM DIHASILKAN</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6B6B6B"/>
                </a:solidFill>
                <a:latin typeface="Arial"/>
              </a:rPr>
              <a:t>Baris modul: T04-ROW-001, T04-ROW-002, T04-ROW-003, T04-ROW-004, T04-ROW-005, T04-ROW-079, T04-ROW-080</a:t>
            </a:r>
          </a:p>
          <a:p>
            <a:pPr algn="l"/>
            <a:r>
              <a:rPr sz="800" b="0" i="0">
                <a:solidFill>
                  <a:srgbClr val="6B6B6B"/>
                </a:solidFill>
                <a:latin typeface="Arial"/>
              </a:rPr>
              <a:t>Keputusan: T04-DEC-A02, T04-DEC-C01, T04-DEC-C02, T04-DEC-C03</a:t>
            </a:r>
          </a:p>
        </p:txBody>
      </p:sp>
      <p:sp>
        <p:nvSpPr>
          <p:cNvPr id="6" name="TextBox 5"/>
          <p:cNvSpPr txBox="1"/>
          <p:nvPr/>
        </p:nvSpPr>
        <p:spPr>
          <a:xfrm>
            <a:off x="457200" y="6150000"/>
            <a:ext cx="11277600" cy="500000"/>
          </a:xfrm>
          <a:prstGeom prst="rect">
            <a:avLst/>
          </a:prstGeom>
          <a:noFill/>
        </p:spPr>
        <p:txBody>
          <a:bodyPr wrap="square" lIns="0" rIns="0" tIns="0" bIns="0">
            <a:spAutoFit/>
          </a:bodyPr>
          <a:lstStyle/>
          <a:p>
            <a:pPr algn="l"/>
            <a:r>
              <a:rPr sz="900" b="0" i="0">
                <a:solidFill>
                  <a:srgbClr val="6B6B6B"/>
                </a:solidFill>
                <a:latin typeface="Arial"/>
              </a:rPr>
              <a:t>Topik 4 · skrin 2 daripada 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T04-S03   ·   PROCESS_FLOW_STEPPED</a:t>
            </a:r>
          </a:p>
          <a:p>
            <a:pPr algn="l"/>
            <a:r>
              <a:rPr sz="2400" b="1" i="0">
                <a:solidFill>
                  <a:srgbClr val="1A1A1A"/>
                </a:solidFill>
                <a:latin typeface="Arial"/>
              </a:rPr>
              <a:t>Aliran proses penjagaan dan penyelenggaraan</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0000"/>
            <a:ext cx="6766560" cy="4600000"/>
          </a:xfrm>
          <a:prstGeom prst="rect">
            <a:avLst/>
          </a:prstGeom>
          <a:noFill/>
        </p:spPr>
        <p:txBody>
          <a:bodyPr wrap="square" lIns="0" rIns="0" tIns="0" bIns="0">
            <a:spAutoFit/>
          </a:bodyPr>
          <a:lstStyle/>
          <a:p>
            <a:pPr algn="l"/>
            <a:r>
              <a:rPr sz="1000" b="1" i="0">
                <a:solidFill>
                  <a:srgbClr val="6B6B6B"/>
                </a:solidFill>
                <a:latin typeface="Arial"/>
              </a:rPr>
              <a:t>KANDUNGAN SKRIN</a:t>
            </a:r>
          </a:p>
          <a:p>
            <a:pPr algn="l"/>
            <a:r>
              <a:rPr sz="1300" b="0" i="0">
                <a:solidFill>
                  <a:srgbClr val="0D47A1"/>
                </a:solidFill>
                <a:latin typeface="Arial"/>
              </a:rPr>
              <a:t>S · PENJAGAAN DAN PENYELENGGARAAN</a:t>
            </a:r>
          </a:p>
          <a:p>
            <a:pPr algn="l"/>
            <a:r>
              <a:rPr sz="1300" b="0" i="0">
                <a:solidFill>
                  <a:srgbClr val="0D47A1"/>
                </a:solidFill>
                <a:latin typeface="Arial"/>
              </a:rPr>
              <a:t>S · Secara umumnya, berikut ialah aliran proses penjagaan dan penyelenggaran yang terlibat di dalam kerja pembinaan landskap luar:</a:t>
            </a:r>
          </a:p>
          <a:p>
            <a:pPr algn="l"/>
            <a:r>
              <a:rPr sz="1100" b="0" i="0">
                <a:solidFill>
                  <a:srgbClr val="6B6B6B"/>
                </a:solidFill>
                <a:latin typeface="Arial"/>
              </a:rPr>
              <a:t>u · Klik setiap langkah mengikut turutan.</a:t>
            </a:r>
          </a:p>
          <a:p>
            <a:pPr algn="l"/>
            <a:r>
              <a:rPr sz="1100" b="0" i="0">
                <a:solidFill>
                  <a:srgbClr val="6B6B6B"/>
                </a:solidFill>
                <a:latin typeface="Arial"/>
              </a:rPr>
              <a:t>u · SETERUSNYA</a:t>
            </a:r>
          </a:p>
        </p:txBody>
      </p:sp>
      <p:sp>
        <p:nvSpPr>
          <p:cNvPr id="5" name="TextBox 4"/>
          <p:cNvSpPr txBox="1"/>
          <p:nvPr/>
        </p:nvSpPr>
        <p:spPr>
          <a:xfrm>
            <a:off x="7523760" y="1320000"/>
            <a:ext cx="4211040" cy="4600000"/>
          </a:xfrm>
          <a:prstGeom prst="rect">
            <a:avLst/>
          </a:prstGeom>
          <a:noFill/>
        </p:spPr>
        <p:txBody>
          <a:bodyPr wrap="square" lIns="0" rIns="0" tIns="0" bIns="0">
            <a:spAutoFit/>
          </a:bodyPr>
          <a:lstStyle/>
          <a:p>
            <a:pPr algn="l"/>
            <a:r>
              <a:rPr sz="1000" b="1" i="0">
                <a:solidFill>
                  <a:srgbClr val="6B6B6B"/>
                </a:solidFill>
                <a:latin typeface="Arial"/>
              </a:rPr>
              <a:t>INTERAKSI</a:t>
            </a:r>
          </a:p>
          <a:p>
            <a:pPr algn="l"/>
            <a:r>
              <a:rPr sz="1000" b="0" i="0">
                <a:solidFill>
                  <a:srgbClr val="1A1A1A"/>
                </a:solidFill>
                <a:latin typeface="Arial"/>
              </a:rPr>
              <a:t>· BASE</a:t>
            </a:r>
          </a:p>
          <a:p>
            <a:pPr algn="l"/>
            <a:r>
              <a:rPr sz="1000" b="0" i="0">
                <a:solidFill>
                  <a:srgbClr val="1A1A1A"/>
                </a:solidFill>
                <a:latin typeface="Arial"/>
              </a:rPr>
              <a:t>· ST-01</a:t>
            </a:r>
          </a:p>
          <a:p>
            <a:pPr algn="l"/>
            <a:r>
              <a:rPr sz="1000" b="0" i="0">
                <a:solidFill>
                  <a:srgbClr val="1A1A1A"/>
                </a:solidFill>
                <a:latin typeface="Arial"/>
              </a:rPr>
              <a:t>· ST-02</a:t>
            </a:r>
          </a:p>
          <a:p>
            <a:pPr algn="l"/>
            <a:r>
              <a:rPr sz="1000" b="0" i="0">
                <a:solidFill>
                  <a:srgbClr val="1A1A1A"/>
                </a:solidFill>
                <a:latin typeface="Arial"/>
              </a:rPr>
              <a:t>· ST-03</a:t>
            </a:r>
          </a:p>
          <a:p>
            <a:pPr algn="l"/>
            <a:r>
              <a:rPr sz="1000" b="0" i="0">
                <a:solidFill>
                  <a:srgbClr val="1A1A1A"/>
                </a:solidFill>
                <a:latin typeface="Arial"/>
              </a:rPr>
              <a:t>· ST-04</a:t>
            </a:r>
          </a:p>
          <a:p>
            <a:pPr algn="l"/>
            <a:r>
              <a:rPr sz="1000" b="0" i="0">
                <a:solidFill>
                  <a:srgbClr val="1A1A1A"/>
                </a:solidFill>
                <a:latin typeface="Arial"/>
              </a:rPr>
              <a:t>· ST-05</a:t>
            </a:r>
          </a:p>
          <a:p>
            <a:pPr algn="l"/>
            <a:r>
              <a:rPr sz="1000" b="0" i="0">
                <a:solidFill>
                  <a:srgbClr val="1A1A1A"/>
                </a:solidFill>
                <a:latin typeface="Arial"/>
              </a:rPr>
              <a:t>· ST-06</a:t>
            </a:r>
          </a:p>
          <a:p>
            <a:pPr algn="l"/>
            <a:r>
              <a:rPr sz="1000" b="0" i="0">
                <a:solidFill>
                  <a:srgbClr val="1A1A1A"/>
                </a:solidFill>
                <a:latin typeface="Arial"/>
              </a:rPr>
              <a:t>· ALL_VIEWED</a:t>
            </a:r>
          </a:p>
          <a:p>
            <a:pPr algn="l"/>
            <a:r>
              <a:rPr sz="800" b="0" i="0">
                <a:solidFill>
                  <a:srgbClr val="1A1A1A"/>
                </a:solidFill>
                <a:latin typeface="Arial"/>
              </a:rPr>
              <a:t/>
            </a:r>
          </a:p>
          <a:p>
            <a:pPr algn="l"/>
            <a:r>
              <a:rPr sz="1000" b="1" i="0">
                <a:solidFill>
                  <a:srgbClr val="6B6B6B"/>
                </a:solidFill>
                <a:latin typeface="Arial"/>
              </a:rPr>
              <a:t>VISUAL</a:t>
            </a:r>
          </a:p>
          <a:p>
            <a:pPr algn="l"/>
            <a:r>
              <a:rPr sz="1100" b="1" i="0">
                <a:solidFill>
                  <a:srgbClr val="1A1A1A"/>
                </a:solidFill>
                <a:latin typeface="Arial"/>
              </a:rPr>
              <a:t>AG-01</a:t>
            </a:r>
          </a:p>
          <a:p>
            <a:pPr algn="l"/>
            <a:r>
              <a:rPr sz="1000" b="0" i="0">
                <a:solidFill>
                  <a:srgbClr val="1A1A1A"/>
                </a:solidFill>
                <a:latin typeface="Arial"/>
              </a:rPr>
              <a:t>Aliran proses enam langkah</a:t>
            </a:r>
          </a:p>
          <a:p>
            <a:pPr algn="l"/>
            <a:r>
              <a:rPr sz="900" b="0" i="0">
                <a:solidFill>
                  <a:srgbClr val="6B6B6B"/>
                </a:solidFill>
                <a:latin typeface="Arial"/>
              </a:rPr>
              <a:t>Dasar guna semula: REUSE_WITH_CONDITIONS</a:t>
            </a:r>
          </a:p>
          <a:p>
            <a:pPr algn="l"/>
            <a:r>
              <a:rPr sz="1000" b="1" i="0">
                <a:solidFill>
                  <a:srgbClr val="B71C1C"/>
                </a:solidFill>
                <a:latin typeface="Arial"/>
              </a:rPr>
              <a:t>ASET BELUM DIHASILKAN</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6B6B6B"/>
                </a:solidFill>
                <a:latin typeface="Arial"/>
              </a:rPr>
              <a:t>Baris modul: T04-ROW-001, T04-ROW-002, T04-ROW-003</a:t>
            </a:r>
          </a:p>
          <a:p>
            <a:pPr algn="l"/>
            <a:r>
              <a:rPr sz="800" b="0" i="0">
                <a:solidFill>
                  <a:srgbClr val="6B6B6B"/>
                </a:solidFill>
                <a:latin typeface="Arial"/>
              </a:rPr>
              <a:t>Keputusan: T04-DEC-A03</a:t>
            </a:r>
          </a:p>
        </p:txBody>
      </p:sp>
      <p:sp>
        <p:nvSpPr>
          <p:cNvPr id="6" name="TextBox 5"/>
          <p:cNvSpPr txBox="1"/>
          <p:nvPr/>
        </p:nvSpPr>
        <p:spPr>
          <a:xfrm>
            <a:off x="457200" y="6150000"/>
            <a:ext cx="11277600" cy="500000"/>
          </a:xfrm>
          <a:prstGeom prst="rect">
            <a:avLst/>
          </a:prstGeom>
          <a:noFill/>
        </p:spPr>
        <p:txBody>
          <a:bodyPr wrap="square" lIns="0" rIns="0" tIns="0" bIns="0">
            <a:spAutoFit/>
          </a:bodyPr>
          <a:lstStyle/>
          <a:p>
            <a:pPr algn="l"/>
            <a:r>
              <a:rPr sz="900" b="0" i="0">
                <a:solidFill>
                  <a:srgbClr val="6B6B6B"/>
                </a:solidFill>
                <a:latin typeface="Arial"/>
              </a:rPr>
              <a:t>Topik 4 · skrin 3 daripada 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T04-S04   ·   CONTENT_STATIC</a:t>
            </a:r>
          </a:p>
          <a:p>
            <a:pPr algn="l"/>
            <a:r>
              <a:rPr sz="2400" b="1" i="0">
                <a:solidFill>
                  <a:srgbClr val="1A1A1A"/>
                </a:solidFill>
                <a:latin typeface="Arial"/>
              </a:rPr>
              <a:t>Landskap Lembut — pengenalan</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0000"/>
            <a:ext cx="6766560" cy="4600000"/>
          </a:xfrm>
          <a:prstGeom prst="rect">
            <a:avLst/>
          </a:prstGeom>
          <a:noFill/>
        </p:spPr>
        <p:txBody>
          <a:bodyPr wrap="square" lIns="0" rIns="0" tIns="0" bIns="0">
            <a:spAutoFit/>
          </a:bodyPr>
          <a:lstStyle/>
          <a:p>
            <a:pPr algn="l"/>
            <a:r>
              <a:rPr sz="1000" b="1" i="0">
                <a:solidFill>
                  <a:srgbClr val="6B6B6B"/>
                </a:solidFill>
                <a:latin typeface="Arial"/>
              </a:rPr>
              <a:t>KANDUNGAN SKRIN</a:t>
            </a:r>
          </a:p>
          <a:p>
            <a:pPr algn="l" lvl="1"/>
            <a:r>
              <a:rPr sz="1300" b="0" i="0">
                <a:solidFill>
                  <a:srgbClr val="0D47A1"/>
                </a:solidFill>
                <a:latin typeface="Arial"/>
              </a:rPr>
              <a:t>S · Landskap Lembut</a:t>
            </a:r>
          </a:p>
          <a:p>
            <a:pPr algn="l"/>
            <a:r>
              <a:rPr sz="1300" b="0" i="0">
                <a:solidFill>
                  <a:srgbClr val="0D47A1"/>
                </a:solidFill>
                <a:latin typeface="Arial"/>
              </a:rPr>
              <a:t>S · Landskap lembut merujuk kepada semua elemen hortikultur atau hidupan dalam sesebuah projek landskap. Ini termasuk pokok, palma, pokok renek, penutup bumi, dan rumput. Bagi seorang kontraktor, pengurusan landskap lembut bukan sahaja terhad kepada peringkat penanaman, tetapi merangkumi tanggungjawab kritikal dalam tempoh penyelenggaraan semasa pembinaan (maintenance during construction) dan tempoh tanggungan kecacatan (Defect Liability Period - DLP).</a:t>
            </a:r>
          </a:p>
          <a:p>
            <a:pPr algn="l"/>
            <a:r>
              <a:rPr sz="1100" b="0" i="0">
                <a:solidFill>
                  <a:srgbClr val="6B6B6B"/>
                </a:solidFill>
                <a:latin typeface="Arial"/>
              </a:rPr>
              <a:t>u · SETERUSNYA</a:t>
            </a:r>
          </a:p>
        </p:txBody>
      </p:sp>
      <p:sp>
        <p:nvSpPr>
          <p:cNvPr id="5" name="TextBox 4"/>
          <p:cNvSpPr txBox="1"/>
          <p:nvPr/>
        </p:nvSpPr>
        <p:spPr>
          <a:xfrm>
            <a:off x="7523760" y="1320000"/>
            <a:ext cx="4211040" cy="4600000"/>
          </a:xfrm>
          <a:prstGeom prst="rect">
            <a:avLst/>
          </a:prstGeom>
          <a:noFill/>
        </p:spPr>
        <p:txBody>
          <a:bodyPr wrap="square" lIns="0" rIns="0" tIns="0" bIns="0">
            <a:spAutoFit/>
          </a:bodyPr>
          <a:lstStyle/>
          <a:p>
            <a:pPr algn="l"/>
            <a:r>
              <a:rPr sz="1000" b="1" i="0">
                <a:solidFill>
                  <a:srgbClr val="6B6B6B"/>
                </a:solidFill>
                <a:latin typeface="Arial"/>
              </a:rPr>
              <a:t>INTERAKSI</a:t>
            </a:r>
          </a:p>
          <a:p>
            <a:pPr algn="l"/>
            <a:r>
              <a:rPr sz="1000" b="0" i="0">
                <a:solidFill>
                  <a:srgbClr val="1A1A1A"/>
                </a:solidFill>
                <a:latin typeface="Arial"/>
              </a:rPr>
              <a:t>· BASE only</a:t>
            </a:r>
          </a:p>
          <a:p>
            <a:pPr algn="l"/>
            <a:r>
              <a:rPr sz="800" b="0" i="0">
                <a:solidFill>
                  <a:srgbClr val="1A1A1A"/>
                </a:solidFill>
                <a:latin typeface="Arial"/>
              </a:rPr>
              <a:t/>
            </a:r>
          </a:p>
          <a:p>
            <a:pPr algn="l"/>
            <a:r>
              <a:rPr sz="1000" b="1" i="0">
                <a:solidFill>
                  <a:srgbClr val="6B6B6B"/>
                </a:solidFill>
                <a:latin typeface="Arial"/>
              </a:rPr>
              <a:t>VISUAL</a:t>
            </a:r>
          </a:p>
          <a:p>
            <a:pPr algn="l"/>
            <a:r>
              <a:rPr sz="1100" b="1" i="0">
                <a:solidFill>
                  <a:srgbClr val="1A1A1A"/>
                </a:solidFill>
                <a:latin typeface="Arial"/>
              </a:rPr>
              <a:t>AG-02</a:t>
            </a:r>
          </a:p>
          <a:p>
            <a:pPr algn="l"/>
            <a:r>
              <a:rPr sz="1000" b="0" i="0">
                <a:solidFill>
                  <a:srgbClr val="1A1A1A"/>
                </a:solidFill>
                <a:latin typeface="Arial"/>
              </a:rPr>
              <a:t>Landskap Lembut — kategori</a:t>
            </a:r>
          </a:p>
          <a:p>
            <a:pPr algn="l"/>
            <a:r>
              <a:rPr sz="900" b="0" i="0">
                <a:solidFill>
                  <a:srgbClr val="6B6B6B"/>
                </a:solidFill>
                <a:latin typeface="Arial"/>
              </a:rPr>
              <a:t>Dasar guna semula: REUSE_WITH_CONDITIONS</a:t>
            </a:r>
          </a:p>
          <a:p>
            <a:pPr algn="l"/>
            <a:r>
              <a:rPr sz="1000" b="1" i="0">
                <a:solidFill>
                  <a:srgbClr val="B71C1C"/>
                </a:solidFill>
                <a:latin typeface="Arial"/>
              </a:rPr>
              <a:t>ASET BELUM DIHASILKAN</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6B6B6B"/>
                </a:solidFill>
                <a:latin typeface="Arial"/>
              </a:rPr>
              <a:t>Baris modul: T04-ROW-004, T04-ROW-005</a:t>
            </a:r>
          </a:p>
          <a:p>
            <a:pPr algn="l"/>
            <a:r>
              <a:rPr sz="800" b="0" i="0">
                <a:solidFill>
                  <a:srgbClr val="6B6B6B"/>
                </a:solidFill>
                <a:latin typeface="Arial"/>
              </a:rPr>
              <a:t>Keputusan: T04-DEC-A04</a:t>
            </a:r>
          </a:p>
        </p:txBody>
      </p:sp>
      <p:sp>
        <p:nvSpPr>
          <p:cNvPr id="6" name="TextBox 5"/>
          <p:cNvSpPr txBox="1"/>
          <p:nvPr/>
        </p:nvSpPr>
        <p:spPr>
          <a:xfrm>
            <a:off x="457200" y="6150000"/>
            <a:ext cx="11277600" cy="500000"/>
          </a:xfrm>
          <a:prstGeom prst="rect">
            <a:avLst/>
          </a:prstGeom>
          <a:noFill/>
        </p:spPr>
        <p:txBody>
          <a:bodyPr wrap="square" lIns="0" rIns="0" tIns="0" bIns="0">
            <a:spAutoFit/>
          </a:bodyPr>
          <a:lstStyle/>
          <a:p>
            <a:pPr algn="l"/>
            <a:r>
              <a:rPr sz="900" b="0" i="0">
                <a:solidFill>
                  <a:srgbClr val="6B6B6B"/>
                </a:solidFill>
                <a:latin typeface="Arial"/>
              </a:rPr>
              <a:t>Topik 4 · skrin 4 daripada 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T04-S05   ·   CONTENT_STATIC</a:t>
            </a:r>
          </a:p>
          <a:p>
            <a:pPr algn="l"/>
            <a:r>
              <a:rPr sz="2400" b="1" i="0">
                <a:solidFill>
                  <a:srgbClr val="1A1A1A"/>
                </a:solidFill>
                <a:latin typeface="Arial"/>
              </a:rPr>
              <a:t>Siram — penerangan utama</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0000"/>
            <a:ext cx="6766560" cy="4600000"/>
          </a:xfrm>
          <a:prstGeom prst="rect">
            <a:avLst/>
          </a:prstGeom>
          <a:noFill/>
        </p:spPr>
        <p:txBody>
          <a:bodyPr wrap="square" lIns="0" rIns="0" tIns="0" bIns="0">
            <a:spAutoFit/>
          </a:bodyPr>
          <a:lstStyle/>
          <a:p>
            <a:pPr algn="l"/>
            <a:r>
              <a:rPr sz="1000" b="1" i="0">
                <a:solidFill>
                  <a:srgbClr val="6B6B6B"/>
                </a:solidFill>
                <a:latin typeface="Arial"/>
              </a:rPr>
              <a:t>KANDUNGAN SKRIN</a:t>
            </a:r>
          </a:p>
          <a:p>
            <a:pPr algn="l" lvl="2"/>
            <a:r>
              <a:rPr sz="1300" b="0" i="0">
                <a:solidFill>
                  <a:srgbClr val="0D47A1"/>
                </a:solidFill>
                <a:latin typeface="Arial"/>
              </a:rPr>
              <a:t>S · Siram</a:t>
            </a:r>
          </a:p>
          <a:p>
            <a:pPr algn="l"/>
            <a:r>
              <a:rPr sz="1300" b="0" i="0">
                <a:solidFill>
                  <a:srgbClr val="0D47A1"/>
                </a:solidFill>
                <a:latin typeface="Arial"/>
              </a:rPr>
              <a:t>S · Membekalkan kuantiti air yang mencukupi untuk kelangsungan hidup dan proses fisiologi tumbuhan (fotosintesis, penyerapan nutrien), terutamanya bagi tanaman yang baru ditanam dan belum matang.</a:t>
            </a:r>
          </a:p>
          <a:p>
            <a:pPr algn="l"/>
            <a:r>
              <a:rPr sz="1100" b="0" i="0">
                <a:solidFill>
                  <a:srgbClr val="6B6B6B"/>
                </a:solidFill>
                <a:latin typeface="Arial"/>
              </a:rPr>
              <a:t>u · Aspek yang dibincangkan:</a:t>
            </a:r>
          </a:p>
          <a:p>
            <a:pPr algn="l"/>
            <a:r>
              <a:rPr sz="1100" b="0" i="0">
                <a:solidFill>
                  <a:srgbClr val="6B6B6B"/>
                </a:solidFill>
                <a:latin typeface="Arial"/>
              </a:rPr>
              <a:t>u · Kaedah Pelaksanaan</a:t>
            </a:r>
          </a:p>
          <a:p>
            <a:pPr algn="l"/>
            <a:r>
              <a:rPr sz="1100" b="0" i="0">
                <a:solidFill>
                  <a:srgbClr val="6B6B6B"/>
                </a:solidFill>
                <a:latin typeface="Arial"/>
              </a:rPr>
              <a:t>u · Aspek Pengurusan Untuk Kontraktor</a:t>
            </a:r>
          </a:p>
          <a:p>
            <a:pPr algn="l"/>
            <a:r>
              <a:rPr sz="1100" b="0" i="0">
                <a:solidFill>
                  <a:srgbClr val="6B6B6B"/>
                </a:solidFill>
                <a:latin typeface="Arial"/>
              </a:rPr>
              <a:t>u · SETERUSNYA</a:t>
            </a:r>
          </a:p>
        </p:txBody>
      </p:sp>
      <p:sp>
        <p:nvSpPr>
          <p:cNvPr id="5" name="TextBox 4"/>
          <p:cNvSpPr txBox="1"/>
          <p:nvPr/>
        </p:nvSpPr>
        <p:spPr>
          <a:xfrm>
            <a:off x="7523760" y="1320000"/>
            <a:ext cx="4211040" cy="4600000"/>
          </a:xfrm>
          <a:prstGeom prst="rect">
            <a:avLst/>
          </a:prstGeom>
          <a:noFill/>
        </p:spPr>
        <p:txBody>
          <a:bodyPr wrap="square" lIns="0" rIns="0" tIns="0" bIns="0">
            <a:spAutoFit/>
          </a:bodyPr>
          <a:lstStyle/>
          <a:p>
            <a:pPr algn="l"/>
            <a:r>
              <a:rPr sz="1000" b="1" i="0">
                <a:solidFill>
                  <a:srgbClr val="6B6B6B"/>
                </a:solidFill>
                <a:latin typeface="Arial"/>
              </a:rPr>
              <a:t>INTERAKSI</a:t>
            </a:r>
          </a:p>
          <a:p>
            <a:pPr algn="l"/>
            <a:r>
              <a:rPr sz="1000" b="0" i="0">
                <a:solidFill>
                  <a:srgbClr val="1A1A1A"/>
                </a:solidFill>
                <a:latin typeface="Arial"/>
              </a:rPr>
              <a:t>· BASE only</a:t>
            </a:r>
          </a:p>
          <a:p>
            <a:pPr algn="l"/>
            <a:r>
              <a:rPr sz="800" b="0" i="0">
                <a:solidFill>
                  <a:srgbClr val="1A1A1A"/>
                </a:solidFill>
                <a:latin typeface="Arial"/>
              </a:rPr>
              <a:t/>
            </a:r>
          </a:p>
          <a:p>
            <a:pPr algn="l"/>
            <a:r>
              <a:rPr sz="1000" b="1" i="0">
                <a:solidFill>
                  <a:srgbClr val="6B6B6B"/>
                </a:solidFill>
                <a:latin typeface="Arial"/>
              </a:rPr>
              <a:t>VISUAL</a:t>
            </a:r>
          </a:p>
          <a:p>
            <a:pPr algn="l"/>
            <a:r>
              <a:rPr sz="1100" b="1" i="0">
                <a:solidFill>
                  <a:srgbClr val="1A1A1A"/>
                </a:solidFill>
                <a:latin typeface="Arial"/>
              </a:rPr>
              <a:t>AG-03</a:t>
            </a:r>
          </a:p>
          <a:p>
            <a:pPr algn="l"/>
            <a:r>
              <a:rPr sz="1000" b="0" i="0">
                <a:solidFill>
                  <a:srgbClr val="1A1A1A"/>
                </a:solidFill>
                <a:latin typeface="Arial"/>
              </a:rPr>
              <a:t>Siram — operasi dan sub-topik</a:t>
            </a:r>
          </a:p>
          <a:p>
            <a:pPr algn="l"/>
            <a:r>
              <a:rPr sz="900" b="0" i="0">
                <a:solidFill>
                  <a:srgbClr val="6B6B6B"/>
                </a:solidFill>
                <a:latin typeface="Arial"/>
              </a:rPr>
              <a:t>Dasar guna semula: REUSE_WITH_CONDITIONS</a:t>
            </a:r>
          </a:p>
          <a:p>
            <a:pPr algn="l"/>
            <a:r>
              <a:rPr sz="1000" b="1" i="0">
                <a:solidFill>
                  <a:srgbClr val="B71C1C"/>
                </a:solidFill>
                <a:latin typeface="Arial"/>
              </a:rPr>
              <a:t>ASET BELUM DIHASILKAN</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6B6B6B"/>
                </a:solidFill>
                <a:latin typeface="Arial"/>
              </a:rPr>
              <a:t>Baris modul: T04-ROW-006, T04-ROW-007</a:t>
            </a:r>
          </a:p>
          <a:p>
            <a:pPr algn="l"/>
            <a:r>
              <a:rPr sz="800" b="0" i="0">
                <a:solidFill>
                  <a:srgbClr val="6B6B6B"/>
                </a:solidFill>
                <a:latin typeface="Arial"/>
              </a:rPr>
              <a:t>Keputusan: T04-DEC-A05</a:t>
            </a:r>
          </a:p>
        </p:txBody>
      </p:sp>
      <p:sp>
        <p:nvSpPr>
          <p:cNvPr id="6" name="TextBox 5"/>
          <p:cNvSpPr txBox="1"/>
          <p:nvPr/>
        </p:nvSpPr>
        <p:spPr>
          <a:xfrm>
            <a:off x="457200" y="6150000"/>
            <a:ext cx="11277600" cy="500000"/>
          </a:xfrm>
          <a:prstGeom prst="rect">
            <a:avLst/>
          </a:prstGeom>
          <a:noFill/>
        </p:spPr>
        <p:txBody>
          <a:bodyPr wrap="square" lIns="0" rIns="0" tIns="0" bIns="0">
            <a:spAutoFit/>
          </a:bodyPr>
          <a:lstStyle/>
          <a:p>
            <a:pPr algn="l"/>
            <a:r>
              <a:rPr sz="900" b="0" i="0">
                <a:solidFill>
                  <a:srgbClr val="6B6B6B"/>
                </a:solidFill>
                <a:latin typeface="Arial"/>
              </a:rPr>
              <a:t>Topik 4 · skrin 5 daripada 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T04-S06   ·   CLICK_TO_REVEAL</a:t>
            </a:r>
          </a:p>
          <a:p>
            <a:pPr algn="l"/>
            <a:r>
              <a:rPr sz="2400" b="1" i="0">
                <a:solidFill>
                  <a:srgbClr val="1A1A1A"/>
                </a:solidFill>
                <a:latin typeface="Arial"/>
              </a:rPr>
              <a:t>Siram — kaedah pelaksanaan</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0000"/>
            <a:ext cx="6766560" cy="4600000"/>
          </a:xfrm>
          <a:prstGeom prst="rect">
            <a:avLst/>
          </a:prstGeom>
          <a:noFill/>
        </p:spPr>
        <p:txBody>
          <a:bodyPr wrap="square" lIns="0" rIns="0" tIns="0" bIns="0">
            <a:spAutoFit/>
          </a:bodyPr>
          <a:lstStyle/>
          <a:p>
            <a:pPr algn="l"/>
            <a:r>
              <a:rPr sz="1000" b="1" i="0">
                <a:solidFill>
                  <a:srgbClr val="6B6B6B"/>
                </a:solidFill>
                <a:latin typeface="Arial"/>
              </a:rPr>
              <a:t>KANDUNGAN SKRIN</a:t>
            </a:r>
          </a:p>
          <a:p>
            <a:pPr algn="l"/>
            <a:r>
              <a:rPr sz="1300" b="0" i="0">
                <a:solidFill>
                  <a:srgbClr val="0D47A1"/>
                </a:solidFill>
                <a:latin typeface="Arial"/>
              </a:rPr>
              <a:t>S · Kaedah Pelaksanaan</a:t>
            </a:r>
          </a:p>
          <a:p>
            <a:pPr algn="l"/>
            <a:r>
              <a:rPr sz="1300" b="0" i="0">
                <a:solidFill>
                  <a:srgbClr val="0D47A1"/>
                </a:solidFill>
                <a:latin typeface="Arial"/>
              </a:rPr>
              <a:t>S · Penyiraman Manual</a:t>
            </a:r>
          </a:p>
          <a:p>
            <a:pPr algn="l"/>
            <a:r>
              <a:rPr sz="1300" b="0" i="0">
                <a:solidFill>
                  <a:srgbClr val="0D47A1"/>
                </a:solidFill>
                <a:latin typeface="Arial"/>
              </a:rPr>
              <a:t>S · Menggunakan hos getah dengan muncung semburan (nozzle). Kaedah ini fleksibel tetapi memerlukan tenaga kerja yang ramai dan kurang konsisten.</a:t>
            </a:r>
          </a:p>
          <a:p>
            <a:pPr algn="l"/>
            <a:r>
              <a:rPr sz="1300" b="0" i="0">
                <a:solidFill>
                  <a:srgbClr val="0D47A1"/>
                </a:solidFill>
                <a:latin typeface="Arial"/>
              </a:rPr>
              <a:t>S · Sistem Pengairan Automatik</a:t>
            </a:r>
          </a:p>
          <a:p>
            <a:pPr algn="l"/>
            <a:r>
              <a:rPr sz="1300" b="0" i="0">
                <a:solidFill>
                  <a:srgbClr val="0D47A1"/>
                </a:solidFill>
                <a:latin typeface="Arial"/>
              </a:rPr>
              <a:t>S · Sistem Semburan (Sprinkler System)</a:t>
            </a:r>
          </a:p>
          <a:p>
            <a:pPr algn="l"/>
            <a:r>
              <a:rPr sz="1300" b="0" i="0">
                <a:solidFill>
                  <a:srgbClr val="0D47A1"/>
                </a:solidFill>
                <a:latin typeface="Arial"/>
              </a:rPr>
              <a:t>S · Sesuai untuk kawasan rumput yang luas.</a:t>
            </a:r>
          </a:p>
          <a:p>
            <a:pPr algn="l"/>
            <a:r>
              <a:rPr sz="1300" b="0" i="0">
                <a:solidFill>
                  <a:srgbClr val="0D47A1"/>
                </a:solidFill>
                <a:latin typeface="Arial"/>
              </a:rPr>
              <a:t>S · Sistem Titis (Drip Irrigation System)</a:t>
            </a:r>
          </a:p>
          <a:p>
            <a:pPr algn="l"/>
            <a:r>
              <a:rPr sz="1300" b="0" i="0">
                <a:solidFill>
                  <a:srgbClr val="0D47A1"/>
                </a:solidFill>
                <a:latin typeface="Arial"/>
              </a:rPr>
              <a:t>S · Sangat efisien untuk pokok individu atau pokok renek kerana ia membekalkan air terus ke zon akar, mengurangkan pembaziran air melalui penyejatan.</a:t>
            </a:r>
          </a:p>
          <a:p>
            <a:pPr algn="l"/>
            <a:r>
              <a:rPr sz="1100" b="0" i="0">
                <a:solidFill>
                  <a:srgbClr val="6B6B6B"/>
                </a:solidFill>
                <a:latin typeface="Arial"/>
              </a:rPr>
              <a:t>u · SETERUSNYA</a:t>
            </a:r>
          </a:p>
        </p:txBody>
      </p:sp>
      <p:sp>
        <p:nvSpPr>
          <p:cNvPr id="5" name="TextBox 4"/>
          <p:cNvSpPr txBox="1"/>
          <p:nvPr/>
        </p:nvSpPr>
        <p:spPr>
          <a:xfrm>
            <a:off x="7523760" y="1320000"/>
            <a:ext cx="4211040" cy="4600000"/>
          </a:xfrm>
          <a:prstGeom prst="rect">
            <a:avLst/>
          </a:prstGeom>
          <a:noFill/>
        </p:spPr>
        <p:txBody>
          <a:bodyPr wrap="square" lIns="0" rIns="0" tIns="0" bIns="0">
            <a:spAutoFit/>
          </a:bodyPr>
          <a:lstStyle/>
          <a:p>
            <a:pPr algn="l"/>
            <a:r>
              <a:rPr sz="1000" b="1" i="0">
                <a:solidFill>
                  <a:srgbClr val="6B6B6B"/>
                </a:solidFill>
                <a:latin typeface="Arial"/>
              </a:rPr>
              <a:t>INTERAKSI</a:t>
            </a:r>
          </a:p>
          <a:p>
            <a:pPr algn="l"/>
            <a:r>
              <a:rPr sz="1000" b="0" i="0">
                <a:solidFill>
                  <a:srgbClr val="1A1A1A"/>
                </a:solidFill>
                <a:latin typeface="Arial"/>
              </a:rPr>
              <a:t>· BASE</a:t>
            </a:r>
          </a:p>
          <a:p>
            <a:pPr algn="l"/>
            <a:r>
              <a:rPr sz="1000" b="0" i="0">
                <a:solidFill>
                  <a:srgbClr val="1A1A1A"/>
                </a:solidFill>
                <a:latin typeface="Arial"/>
              </a:rPr>
              <a:t>· ST-01</a:t>
            </a:r>
          </a:p>
          <a:p>
            <a:pPr algn="l"/>
            <a:r>
              <a:rPr sz="1000" b="0" i="0">
                <a:solidFill>
                  <a:srgbClr val="1A1A1A"/>
                </a:solidFill>
                <a:latin typeface="Arial"/>
              </a:rPr>
              <a:t>· ST-02</a:t>
            </a:r>
          </a:p>
          <a:p>
            <a:pPr algn="l"/>
            <a:r>
              <a:rPr sz="1000" b="0" i="0">
                <a:solidFill>
                  <a:srgbClr val="1A1A1A"/>
                </a:solidFill>
                <a:latin typeface="Arial"/>
              </a:rPr>
              <a:t>· ALL_VIEWED</a:t>
            </a:r>
          </a:p>
          <a:p>
            <a:pPr algn="l"/>
            <a:r>
              <a:rPr sz="800" b="0" i="0">
                <a:solidFill>
                  <a:srgbClr val="1A1A1A"/>
                </a:solidFill>
                <a:latin typeface="Arial"/>
              </a:rPr>
              <a:t/>
            </a:r>
          </a:p>
          <a:p>
            <a:pPr algn="l"/>
            <a:r>
              <a:rPr sz="1000" b="1" i="0">
                <a:solidFill>
                  <a:srgbClr val="6B6B6B"/>
                </a:solidFill>
                <a:latin typeface="Arial"/>
              </a:rPr>
              <a:t>VISUAL</a:t>
            </a:r>
          </a:p>
          <a:p>
            <a:pPr algn="l"/>
            <a:r>
              <a:rPr sz="1100" b="1" i="0">
                <a:solidFill>
                  <a:srgbClr val="1A1A1A"/>
                </a:solidFill>
                <a:latin typeface="Arial"/>
              </a:rPr>
              <a:t>AG-03</a:t>
            </a:r>
          </a:p>
          <a:p>
            <a:pPr algn="l"/>
            <a:r>
              <a:rPr sz="1000" b="0" i="0">
                <a:solidFill>
                  <a:srgbClr val="1A1A1A"/>
                </a:solidFill>
                <a:latin typeface="Arial"/>
              </a:rPr>
              <a:t>Siram — operasi dan sub-topik</a:t>
            </a:r>
          </a:p>
          <a:p>
            <a:pPr algn="l"/>
            <a:r>
              <a:rPr sz="900" b="0" i="0">
                <a:solidFill>
                  <a:srgbClr val="6B6B6B"/>
                </a:solidFill>
                <a:latin typeface="Arial"/>
              </a:rPr>
              <a:t>Dasar guna semula: REUSE_WITH_CONDITIONS</a:t>
            </a:r>
          </a:p>
          <a:p>
            <a:pPr algn="l"/>
            <a:r>
              <a:rPr sz="1000" b="1" i="0">
                <a:solidFill>
                  <a:srgbClr val="B71C1C"/>
                </a:solidFill>
                <a:latin typeface="Arial"/>
              </a:rPr>
              <a:t>ASET BELUM DIHASILKAN</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6B6B6B"/>
                </a:solidFill>
                <a:latin typeface="Arial"/>
              </a:rPr>
              <a:t>Baris modul: T04-ROW-008, T04-ROW-009, T04-ROW-010, T04-ROW-011, T04-ROW-012, T04-ROW-013, T04-ROW-014, T04-ROW-015</a:t>
            </a:r>
          </a:p>
          <a:p>
            <a:pPr algn="l"/>
            <a:r>
              <a:rPr sz="800" b="0" i="0">
                <a:solidFill>
                  <a:srgbClr val="6B6B6B"/>
                </a:solidFill>
                <a:latin typeface="Arial"/>
              </a:rPr>
              <a:t>Keputusan: T04-DEC-A06</a:t>
            </a:r>
          </a:p>
        </p:txBody>
      </p:sp>
      <p:sp>
        <p:nvSpPr>
          <p:cNvPr id="6" name="TextBox 5"/>
          <p:cNvSpPr txBox="1"/>
          <p:nvPr/>
        </p:nvSpPr>
        <p:spPr>
          <a:xfrm>
            <a:off x="457200" y="6150000"/>
            <a:ext cx="11277600" cy="500000"/>
          </a:xfrm>
          <a:prstGeom prst="rect">
            <a:avLst/>
          </a:prstGeom>
          <a:noFill/>
        </p:spPr>
        <p:txBody>
          <a:bodyPr wrap="square" lIns="0" rIns="0" tIns="0" bIns="0">
            <a:spAutoFit/>
          </a:bodyPr>
          <a:lstStyle/>
          <a:p>
            <a:pPr algn="l"/>
            <a:r>
              <a:rPr sz="900" b="0" i="0">
                <a:solidFill>
                  <a:srgbClr val="6B6B6B"/>
                </a:solidFill>
                <a:latin typeface="Arial"/>
              </a:rPr>
              <a:t>Topik 4 · skrin 6 daripada 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T04-S07   ·   CLICK_TO_REVEAL</a:t>
            </a:r>
          </a:p>
          <a:p>
            <a:pPr algn="l"/>
            <a:r>
              <a:rPr sz="2400" b="1" i="0">
                <a:solidFill>
                  <a:srgbClr val="1A1A1A"/>
                </a:solidFill>
                <a:latin typeface="Arial"/>
              </a:rPr>
              <a:t>Siram — aspek pengurusan untuk kontraktor  (samb. 1/2)</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0000"/>
            <a:ext cx="6766560" cy="4600000"/>
          </a:xfrm>
          <a:prstGeom prst="rect">
            <a:avLst/>
          </a:prstGeom>
          <a:noFill/>
        </p:spPr>
        <p:txBody>
          <a:bodyPr wrap="square" lIns="0" rIns="0" tIns="0" bIns="0">
            <a:spAutoFit/>
          </a:bodyPr>
          <a:lstStyle/>
          <a:p>
            <a:pPr algn="l"/>
            <a:r>
              <a:rPr sz="1000" b="1" i="0">
                <a:solidFill>
                  <a:srgbClr val="6B6B6B"/>
                </a:solidFill>
                <a:latin typeface="Arial"/>
              </a:rPr>
              <a:t>KANDUNGAN SKRIN</a:t>
            </a:r>
          </a:p>
          <a:p>
            <a:pPr algn="l"/>
            <a:r>
              <a:rPr sz="1300" b="0" i="0">
                <a:solidFill>
                  <a:srgbClr val="0D47A1"/>
                </a:solidFill>
                <a:latin typeface="Arial"/>
              </a:rPr>
              <a:t>S · Aspek Pengurusan untuk Kontraktor:</a:t>
            </a:r>
          </a:p>
          <a:p>
            <a:pPr algn="l"/>
            <a:r>
              <a:rPr sz="1300" b="0" i="0">
                <a:solidFill>
                  <a:srgbClr val="0D47A1"/>
                </a:solidFill>
                <a:latin typeface="Arial"/>
              </a:rPr>
              <a:t>S · Jadual Penyiraman</a:t>
            </a:r>
          </a:p>
          <a:p>
            <a:pPr algn="l"/>
            <a:r>
              <a:rPr sz="1300" b="0" i="0">
                <a:solidFill>
                  <a:srgbClr val="0D47A1"/>
                </a:solidFill>
                <a:latin typeface="Arial"/>
              </a:rPr>
              <a:t>S · Membangunkan jadual kerja penyiraman yang sistematik. Amalan terbaik adalah menyiram pada awal pagi atau lewat petang untuk meminimumkan kehilangan air akibat penyejatan.</a:t>
            </a:r>
          </a:p>
          <a:p>
            <a:pPr algn="l"/>
            <a:r>
              <a:rPr sz="1300" b="0" i="0">
                <a:solidFill>
                  <a:srgbClr val="0D47A1"/>
                </a:solidFill>
                <a:latin typeface="Arial"/>
              </a:rPr>
              <a:t>S · Kekerapan dan kuantiti siraman mesti disesuaikan mengikut jenis tanaman, keadaan cuaca, dan peringkat tumbesaran. Tanaman baru memerlukan siraman lebih kerap.</a:t>
            </a:r>
          </a:p>
          <a:p>
            <a:pPr algn="l"/>
            <a:r>
              <a:rPr sz="1300" b="0" i="0">
                <a:solidFill>
                  <a:srgbClr val="0D47A1"/>
                </a:solidFill>
                <a:latin typeface="Arial"/>
              </a:rPr>
              <a:t>S · Pengurusan Sumber Air</a:t>
            </a:r>
          </a:p>
          <a:p>
            <a:pPr algn="l"/>
            <a:r>
              <a:rPr sz="1300" b="0" i="0">
                <a:solidFill>
                  <a:srgbClr val="0D47A1"/>
                </a:solidFill>
                <a:latin typeface="Arial"/>
              </a:rPr>
              <a:t>S · Memastikan sumber air mencukupi dan tekanan air memadai untuk keseluruhan tapak. Sekiranya menggunakan sistem automatik, kontraktor bertanggungjawab untuk memeriksa, menguji, dan membaiki sebarang kerosakan seperti muncung tersumbat atau kebocoran paip.</a:t>
            </a:r>
          </a:p>
          <a:p>
            <a:pPr algn="l"/>
            <a:r>
              <a:rPr sz="1300" b="0" i="0">
                <a:solidFill>
                  <a:srgbClr val="0D47A1"/>
                </a:solidFill>
                <a:latin typeface="Arial"/>
              </a:rPr>
              <a:t>S · Pemantauan &amp; Pelaporan</a:t>
            </a:r>
          </a:p>
          <a:p>
            <a:pPr algn="l"/>
            <a:r>
              <a:rPr sz="1300" b="0" i="0">
                <a:solidFill>
                  <a:srgbClr val="0D47A1"/>
                </a:solidFill>
                <a:latin typeface="Arial"/>
              </a:rPr>
              <a:t>S · Pekerja perlu dilatih untuk mengenal pasti tanda-tanda kekurangan air (daun layu, kering) atau terlebih air (daun kuning, akar reput). Aktiviti penyiraman perlu direkodkan dalam laporan harian tapak sebagai bukti pelaksanaan kerja.</a:t>
            </a:r>
          </a:p>
          <a:p>
            <a:pPr algn="l"/>
            <a:r>
              <a:rPr sz="1300" b="0" i="0">
                <a:solidFill>
                  <a:srgbClr val="0D47A1"/>
                </a:solidFill>
                <a:latin typeface="Arial"/>
              </a:rPr>
              <a:t>S · Kecekapan Kos</a:t>
            </a:r>
          </a:p>
        </p:txBody>
      </p:sp>
      <p:sp>
        <p:nvSpPr>
          <p:cNvPr id="5" name="TextBox 4"/>
          <p:cNvSpPr txBox="1"/>
          <p:nvPr/>
        </p:nvSpPr>
        <p:spPr>
          <a:xfrm>
            <a:off x="7523760" y="1320000"/>
            <a:ext cx="4211040" cy="4600000"/>
          </a:xfrm>
          <a:prstGeom prst="rect">
            <a:avLst/>
          </a:prstGeom>
          <a:noFill/>
        </p:spPr>
        <p:txBody>
          <a:bodyPr wrap="square" lIns="0" rIns="0" tIns="0" bIns="0">
            <a:spAutoFit/>
          </a:bodyPr>
          <a:lstStyle/>
          <a:p>
            <a:pPr algn="l"/>
            <a:r>
              <a:rPr sz="1000" b="1" i="0">
                <a:solidFill>
                  <a:srgbClr val="6B6B6B"/>
                </a:solidFill>
                <a:latin typeface="Arial"/>
              </a:rPr>
              <a:t>INTERAKSI</a:t>
            </a:r>
          </a:p>
          <a:p>
            <a:pPr algn="l"/>
            <a:r>
              <a:rPr sz="1000" b="0" i="0">
                <a:solidFill>
                  <a:srgbClr val="1A1A1A"/>
                </a:solidFill>
                <a:latin typeface="Arial"/>
              </a:rPr>
              <a:t>· BASE</a:t>
            </a:r>
          </a:p>
          <a:p>
            <a:pPr algn="l"/>
            <a:r>
              <a:rPr sz="1000" b="0" i="0">
                <a:solidFill>
                  <a:srgbClr val="1A1A1A"/>
                </a:solidFill>
                <a:latin typeface="Arial"/>
              </a:rPr>
              <a:t>· ST-01</a:t>
            </a:r>
          </a:p>
          <a:p>
            <a:pPr algn="l"/>
            <a:r>
              <a:rPr sz="1000" b="0" i="0">
                <a:solidFill>
                  <a:srgbClr val="1A1A1A"/>
                </a:solidFill>
                <a:latin typeface="Arial"/>
              </a:rPr>
              <a:t>· ST-02</a:t>
            </a:r>
          </a:p>
          <a:p>
            <a:pPr algn="l"/>
            <a:r>
              <a:rPr sz="1000" b="0" i="0">
                <a:solidFill>
                  <a:srgbClr val="1A1A1A"/>
                </a:solidFill>
                <a:latin typeface="Arial"/>
              </a:rPr>
              <a:t>· ST-03</a:t>
            </a:r>
          </a:p>
          <a:p>
            <a:pPr algn="l"/>
            <a:r>
              <a:rPr sz="1000" b="0" i="0">
                <a:solidFill>
                  <a:srgbClr val="1A1A1A"/>
                </a:solidFill>
                <a:latin typeface="Arial"/>
              </a:rPr>
              <a:t>· ST-04</a:t>
            </a:r>
          </a:p>
          <a:p>
            <a:pPr algn="l"/>
            <a:r>
              <a:rPr sz="1000" b="0" i="0">
                <a:solidFill>
                  <a:srgbClr val="1A1A1A"/>
                </a:solidFill>
                <a:latin typeface="Arial"/>
              </a:rPr>
              <a:t>· ALL_VIEWED</a:t>
            </a:r>
          </a:p>
          <a:p>
            <a:pPr algn="l"/>
            <a:r>
              <a:rPr sz="800" b="0" i="0">
                <a:solidFill>
                  <a:srgbClr val="1A1A1A"/>
                </a:solidFill>
                <a:latin typeface="Arial"/>
              </a:rPr>
              <a:t/>
            </a:r>
          </a:p>
          <a:p>
            <a:pPr algn="l"/>
            <a:r>
              <a:rPr sz="1000" b="1" i="0">
                <a:solidFill>
                  <a:srgbClr val="6B6B6B"/>
                </a:solidFill>
                <a:latin typeface="Arial"/>
              </a:rPr>
              <a:t>VISUAL</a:t>
            </a:r>
          </a:p>
          <a:p>
            <a:pPr algn="l"/>
            <a:r>
              <a:rPr sz="1100" b="1" i="0">
                <a:solidFill>
                  <a:srgbClr val="1A1A1A"/>
                </a:solidFill>
                <a:latin typeface="Arial"/>
              </a:rPr>
              <a:t>AG-03</a:t>
            </a:r>
          </a:p>
          <a:p>
            <a:pPr algn="l"/>
            <a:r>
              <a:rPr sz="1000" b="0" i="0">
                <a:solidFill>
                  <a:srgbClr val="1A1A1A"/>
                </a:solidFill>
                <a:latin typeface="Arial"/>
              </a:rPr>
              <a:t>Siram — operasi dan sub-topik</a:t>
            </a:r>
          </a:p>
          <a:p>
            <a:pPr algn="l"/>
            <a:r>
              <a:rPr sz="900" b="0" i="0">
                <a:solidFill>
                  <a:srgbClr val="6B6B6B"/>
                </a:solidFill>
                <a:latin typeface="Arial"/>
              </a:rPr>
              <a:t>Dasar guna semula: REUSE_WITH_CONDITIONS</a:t>
            </a:r>
          </a:p>
          <a:p>
            <a:pPr algn="l"/>
            <a:r>
              <a:rPr sz="1000" b="1" i="0">
                <a:solidFill>
                  <a:srgbClr val="B71C1C"/>
                </a:solidFill>
                <a:latin typeface="Arial"/>
              </a:rPr>
              <a:t>ASET BELUM DIHASILKAN</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6B6B6B"/>
                </a:solidFill>
                <a:latin typeface="Arial"/>
              </a:rPr>
              <a:t>Baris modul: T04-ROW-016, T04-ROW-017, T04-ROW-018, T04-ROW-019, T04-ROW-020, T04-ROW-021, T04-ROW-022, T04-ROW-023, T04-ROW-024, T04-ROW-025</a:t>
            </a:r>
          </a:p>
          <a:p>
            <a:pPr algn="l"/>
            <a:r>
              <a:rPr sz="800" b="0" i="0">
                <a:solidFill>
                  <a:srgbClr val="6B6B6B"/>
                </a:solidFill>
                <a:latin typeface="Arial"/>
              </a:rPr>
              <a:t>Keputusan: T04-DEC-A07</a:t>
            </a:r>
          </a:p>
        </p:txBody>
      </p:sp>
      <p:sp>
        <p:nvSpPr>
          <p:cNvPr id="6" name="TextBox 5"/>
          <p:cNvSpPr txBox="1"/>
          <p:nvPr/>
        </p:nvSpPr>
        <p:spPr>
          <a:xfrm>
            <a:off x="457200" y="6150000"/>
            <a:ext cx="11277600" cy="500000"/>
          </a:xfrm>
          <a:prstGeom prst="rect">
            <a:avLst/>
          </a:prstGeom>
          <a:noFill/>
        </p:spPr>
        <p:txBody>
          <a:bodyPr wrap="square" lIns="0" rIns="0" tIns="0" bIns="0">
            <a:spAutoFit/>
          </a:bodyPr>
          <a:lstStyle/>
          <a:p>
            <a:pPr algn="l"/>
            <a:r>
              <a:rPr sz="900" b="0" i="0">
                <a:solidFill>
                  <a:srgbClr val="6B6B6B"/>
                </a:solidFill>
                <a:latin typeface="Arial"/>
              </a:rPr>
              <a:t>Topik 4 · skrin 7 daripada 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T04-S07   ·   CLICK_TO_REVEAL</a:t>
            </a:r>
          </a:p>
          <a:p>
            <a:pPr algn="l"/>
            <a:r>
              <a:rPr sz="2400" b="1" i="0">
                <a:solidFill>
                  <a:srgbClr val="1A1A1A"/>
                </a:solidFill>
                <a:latin typeface="Arial"/>
              </a:rPr>
              <a:t>Siram — aspek pengurusan untuk kontraktor  (samb. 2/2)</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0000"/>
            <a:ext cx="6766560" cy="4600000"/>
          </a:xfrm>
          <a:prstGeom prst="rect">
            <a:avLst/>
          </a:prstGeom>
          <a:noFill/>
        </p:spPr>
        <p:txBody>
          <a:bodyPr wrap="square" lIns="0" rIns="0" tIns="0" bIns="0">
            <a:spAutoFit/>
          </a:bodyPr>
          <a:lstStyle/>
          <a:p>
            <a:pPr algn="l"/>
            <a:r>
              <a:rPr sz="1000" b="1" i="0">
                <a:solidFill>
                  <a:srgbClr val="6B6B6B"/>
                </a:solidFill>
                <a:latin typeface="Arial"/>
              </a:rPr>
              <a:t>KANDUNGAN SKRIN (sambungan)</a:t>
            </a:r>
          </a:p>
          <a:p>
            <a:pPr algn="l"/>
            <a:r>
              <a:rPr sz="1300" b="0" i="0">
                <a:solidFill>
                  <a:srgbClr val="0D47A1"/>
                </a:solidFill>
                <a:latin typeface="Arial"/>
              </a:rPr>
              <a:t>S · Mengoptimumkan kaedah penyiraman untuk mengawal kos bil air, terutamanya dalam projek berskala besar.</a:t>
            </a:r>
          </a:p>
          <a:p>
            <a:pPr algn="l"/>
            <a:r>
              <a:rPr sz="1100" b="0" i="0">
                <a:solidFill>
                  <a:srgbClr val="6B6B6B"/>
                </a:solidFill>
                <a:latin typeface="Arial"/>
              </a:rPr>
              <a:t>u · SETERUSNYA</a:t>
            </a:r>
          </a:p>
        </p:txBody>
      </p:sp>
      <p:sp>
        <p:nvSpPr>
          <p:cNvPr id="5" name="TextBox 4"/>
          <p:cNvSpPr txBox="1"/>
          <p:nvPr/>
        </p:nvSpPr>
        <p:spPr>
          <a:xfrm>
            <a:off x="7523760" y="1320000"/>
            <a:ext cx="4211040" cy="4600000"/>
          </a:xfrm>
          <a:prstGeom prst="rect">
            <a:avLst/>
          </a:prstGeom>
          <a:noFill/>
        </p:spPr>
        <p:txBody>
          <a:bodyPr wrap="square" lIns="0" rIns="0" tIns="0" bIns="0">
            <a:spAutoFit/>
          </a:bodyPr>
          <a:lstStyle/>
          <a:p>
            <a:pPr algn="l"/>
            <a:r>
              <a:rPr sz="1000" b="1" i="0">
                <a:solidFill>
                  <a:srgbClr val="6B6B6B"/>
                </a:solidFill>
                <a:latin typeface="Arial"/>
              </a:rPr>
              <a:t>INTERAKSI</a:t>
            </a:r>
          </a:p>
          <a:p>
            <a:pPr algn="l"/>
            <a:r>
              <a:rPr sz="1000" b="0" i="0">
                <a:solidFill>
                  <a:srgbClr val="1A1A1A"/>
                </a:solidFill>
                <a:latin typeface="Arial"/>
              </a:rPr>
              <a:t>· BASE</a:t>
            </a:r>
          </a:p>
          <a:p>
            <a:pPr algn="l"/>
            <a:r>
              <a:rPr sz="1000" b="0" i="0">
                <a:solidFill>
                  <a:srgbClr val="1A1A1A"/>
                </a:solidFill>
                <a:latin typeface="Arial"/>
              </a:rPr>
              <a:t>· ST-01</a:t>
            </a:r>
          </a:p>
          <a:p>
            <a:pPr algn="l"/>
            <a:r>
              <a:rPr sz="1000" b="0" i="0">
                <a:solidFill>
                  <a:srgbClr val="1A1A1A"/>
                </a:solidFill>
                <a:latin typeface="Arial"/>
              </a:rPr>
              <a:t>· ST-02</a:t>
            </a:r>
          </a:p>
          <a:p>
            <a:pPr algn="l"/>
            <a:r>
              <a:rPr sz="1000" b="0" i="0">
                <a:solidFill>
                  <a:srgbClr val="1A1A1A"/>
                </a:solidFill>
                <a:latin typeface="Arial"/>
              </a:rPr>
              <a:t>· ST-03</a:t>
            </a:r>
          </a:p>
          <a:p>
            <a:pPr algn="l"/>
            <a:r>
              <a:rPr sz="1000" b="0" i="0">
                <a:solidFill>
                  <a:srgbClr val="1A1A1A"/>
                </a:solidFill>
                <a:latin typeface="Arial"/>
              </a:rPr>
              <a:t>· ST-04</a:t>
            </a:r>
          </a:p>
          <a:p>
            <a:pPr algn="l"/>
            <a:r>
              <a:rPr sz="1000" b="0" i="0">
                <a:solidFill>
                  <a:srgbClr val="1A1A1A"/>
                </a:solidFill>
                <a:latin typeface="Arial"/>
              </a:rPr>
              <a:t>· ALL_VIEWED</a:t>
            </a:r>
          </a:p>
          <a:p>
            <a:pPr algn="l"/>
            <a:r>
              <a:rPr sz="800" b="0" i="0">
                <a:solidFill>
                  <a:srgbClr val="1A1A1A"/>
                </a:solidFill>
                <a:latin typeface="Arial"/>
              </a:rPr>
              <a:t/>
            </a:r>
          </a:p>
          <a:p>
            <a:pPr algn="l"/>
            <a:r>
              <a:rPr sz="1000" b="1" i="0">
                <a:solidFill>
                  <a:srgbClr val="6B6B6B"/>
                </a:solidFill>
                <a:latin typeface="Arial"/>
              </a:rPr>
              <a:t>VISUAL</a:t>
            </a:r>
          </a:p>
          <a:p>
            <a:pPr algn="l"/>
            <a:r>
              <a:rPr sz="1100" b="1" i="0">
                <a:solidFill>
                  <a:srgbClr val="1A1A1A"/>
                </a:solidFill>
                <a:latin typeface="Arial"/>
              </a:rPr>
              <a:t>AG-03</a:t>
            </a:r>
          </a:p>
          <a:p>
            <a:pPr algn="l"/>
            <a:r>
              <a:rPr sz="1000" b="0" i="0">
                <a:solidFill>
                  <a:srgbClr val="1A1A1A"/>
                </a:solidFill>
                <a:latin typeface="Arial"/>
              </a:rPr>
              <a:t>Siram — operasi dan sub-topik</a:t>
            </a:r>
          </a:p>
          <a:p>
            <a:pPr algn="l"/>
            <a:r>
              <a:rPr sz="900" b="0" i="0">
                <a:solidFill>
                  <a:srgbClr val="6B6B6B"/>
                </a:solidFill>
                <a:latin typeface="Arial"/>
              </a:rPr>
              <a:t>Dasar guna semula: REUSE_WITH_CONDITIONS</a:t>
            </a:r>
          </a:p>
          <a:p>
            <a:pPr algn="l"/>
            <a:r>
              <a:rPr sz="1000" b="1" i="0">
                <a:solidFill>
                  <a:srgbClr val="B71C1C"/>
                </a:solidFill>
                <a:latin typeface="Arial"/>
              </a:rPr>
              <a:t>ASET BELUM DIHASILKAN</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6B6B6B"/>
                </a:solidFill>
                <a:latin typeface="Arial"/>
              </a:rPr>
              <a:t>Baris modul: T04-ROW-016, T04-ROW-017, T04-ROW-018, T04-ROW-019, T04-ROW-020, T04-ROW-021, T04-ROW-022, T04-ROW-023, T04-ROW-024, T04-ROW-025</a:t>
            </a:r>
          </a:p>
          <a:p>
            <a:pPr algn="l"/>
            <a:r>
              <a:rPr sz="800" b="0" i="0">
                <a:solidFill>
                  <a:srgbClr val="6B6B6B"/>
                </a:solidFill>
                <a:latin typeface="Arial"/>
              </a:rPr>
              <a:t>Keputusan: T04-DEC-A07</a:t>
            </a:r>
          </a:p>
        </p:txBody>
      </p:sp>
      <p:sp>
        <p:nvSpPr>
          <p:cNvPr id="6" name="TextBox 5"/>
          <p:cNvSpPr txBox="1"/>
          <p:nvPr/>
        </p:nvSpPr>
        <p:spPr>
          <a:xfrm>
            <a:off x="457200" y="6150000"/>
            <a:ext cx="11277600" cy="500000"/>
          </a:xfrm>
          <a:prstGeom prst="rect">
            <a:avLst/>
          </a:prstGeom>
          <a:noFill/>
        </p:spPr>
        <p:txBody>
          <a:bodyPr wrap="square" lIns="0" rIns="0" tIns="0" bIns="0">
            <a:spAutoFit/>
          </a:bodyPr>
          <a:lstStyle/>
          <a:p>
            <a:pPr algn="l"/>
            <a:r>
              <a:rPr sz="900" b="0" i="0">
                <a:solidFill>
                  <a:srgbClr val="6B6B6B"/>
                </a:solidFill>
                <a:latin typeface="Arial"/>
              </a:rPr>
              <a:t>Topik 4 · skrin 7 daripada 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T04-S08   ·   CONTENT_STATIC</a:t>
            </a:r>
          </a:p>
          <a:p>
            <a:pPr algn="l"/>
            <a:r>
              <a:rPr sz="2400" b="1" i="0">
                <a:solidFill>
                  <a:srgbClr val="1A1A1A"/>
                </a:solidFill>
                <a:latin typeface="Arial"/>
              </a:rPr>
              <a:t>Baja — penerangan utama</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0000"/>
            <a:ext cx="6766560" cy="4600000"/>
          </a:xfrm>
          <a:prstGeom prst="rect">
            <a:avLst/>
          </a:prstGeom>
          <a:noFill/>
        </p:spPr>
        <p:txBody>
          <a:bodyPr wrap="square" lIns="0" rIns="0" tIns="0" bIns="0">
            <a:spAutoFit/>
          </a:bodyPr>
          <a:lstStyle/>
          <a:p>
            <a:pPr algn="l"/>
            <a:r>
              <a:rPr sz="1000" b="1" i="0">
                <a:solidFill>
                  <a:srgbClr val="6B6B6B"/>
                </a:solidFill>
                <a:latin typeface="Arial"/>
              </a:rPr>
              <a:t>KANDUNGAN SKRIN</a:t>
            </a:r>
          </a:p>
          <a:p>
            <a:pPr algn="l" lvl="2"/>
            <a:r>
              <a:rPr sz="1300" b="0" i="0">
                <a:solidFill>
                  <a:srgbClr val="0D47A1"/>
                </a:solidFill>
                <a:latin typeface="Arial"/>
              </a:rPr>
              <a:t>S · Baja</a:t>
            </a:r>
          </a:p>
          <a:p>
            <a:pPr algn="l"/>
            <a:r>
              <a:rPr sz="1300" b="0" i="0">
                <a:solidFill>
                  <a:srgbClr val="0D47A1"/>
                </a:solidFill>
                <a:latin typeface="Arial"/>
              </a:rPr>
              <a:t>S · Membekalkan nutrien penting yang mungkin kurang di dalam tanah untuk merangsang pertumbuhan yang sihat, pengeluaran bunga/buah, dan meningkatkan daya tahan tumbuhan terhadap penyakit.</a:t>
            </a:r>
          </a:p>
          <a:p>
            <a:pPr algn="l"/>
            <a:r>
              <a:rPr sz="1100" b="0" i="0">
                <a:solidFill>
                  <a:srgbClr val="6B6B6B"/>
                </a:solidFill>
                <a:latin typeface="Arial"/>
              </a:rPr>
              <a:t>u · Aspek yang dibincangkan:</a:t>
            </a:r>
          </a:p>
          <a:p>
            <a:pPr algn="l"/>
            <a:r>
              <a:rPr sz="1100" b="0" i="0">
                <a:solidFill>
                  <a:srgbClr val="6B6B6B"/>
                </a:solidFill>
                <a:latin typeface="Arial"/>
              </a:rPr>
              <a:t>u · Kaedah Pelaksanaan</a:t>
            </a:r>
          </a:p>
          <a:p>
            <a:pPr algn="l"/>
            <a:r>
              <a:rPr sz="1100" b="0" i="0">
                <a:solidFill>
                  <a:srgbClr val="6B6B6B"/>
                </a:solidFill>
                <a:latin typeface="Arial"/>
              </a:rPr>
              <a:t>u · Aspek Pengurusan Untuk Kontraktor</a:t>
            </a:r>
          </a:p>
          <a:p>
            <a:pPr algn="l"/>
            <a:r>
              <a:rPr sz="1100" b="0" i="0">
                <a:solidFill>
                  <a:srgbClr val="6B6B6B"/>
                </a:solidFill>
                <a:latin typeface="Arial"/>
              </a:rPr>
              <a:t>u · SETERUSNYA</a:t>
            </a:r>
          </a:p>
        </p:txBody>
      </p:sp>
      <p:sp>
        <p:nvSpPr>
          <p:cNvPr id="5" name="TextBox 4"/>
          <p:cNvSpPr txBox="1"/>
          <p:nvPr/>
        </p:nvSpPr>
        <p:spPr>
          <a:xfrm>
            <a:off x="7523760" y="1320000"/>
            <a:ext cx="4211040" cy="4600000"/>
          </a:xfrm>
          <a:prstGeom prst="rect">
            <a:avLst/>
          </a:prstGeom>
          <a:noFill/>
        </p:spPr>
        <p:txBody>
          <a:bodyPr wrap="square" lIns="0" rIns="0" tIns="0" bIns="0">
            <a:spAutoFit/>
          </a:bodyPr>
          <a:lstStyle/>
          <a:p>
            <a:pPr algn="l"/>
            <a:r>
              <a:rPr sz="1000" b="1" i="0">
                <a:solidFill>
                  <a:srgbClr val="6B6B6B"/>
                </a:solidFill>
                <a:latin typeface="Arial"/>
              </a:rPr>
              <a:t>INTERAKSI</a:t>
            </a:r>
          </a:p>
          <a:p>
            <a:pPr algn="l"/>
            <a:r>
              <a:rPr sz="1000" b="0" i="0">
                <a:solidFill>
                  <a:srgbClr val="1A1A1A"/>
                </a:solidFill>
                <a:latin typeface="Arial"/>
              </a:rPr>
              <a:t>· BASE only</a:t>
            </a:r>
          </a:p>
          <a:p>
            <a:pPr algn="l"/>
            <a:r>
              <a:rPr sz="800" b="0" i="0">
                <a:solidFill>
                  <a:srgbClr val="1A1A1A"/>
                </a:solidFill>
                <a:latin typeface="Arial"/>
              </a:rPr>
              <a:t/>
            </a:r>
          </a:p>
          <a:p>
            <a:pPr algn="l"/>
            <a:r>
              <a:rPr sz="1000" b="1" i="0">
                <a:solidFill>
                  <a:srgbClr val="6B6B6B"/>
                </a:solidFill>
                <a:latin typeface="Arial"/>
              </a:rPr>
              <a:t>VISUAL</a:t>
            </a:r>
          </a:p>
          <a:p>
            <a:pPr algn="l"/>
            <a:r>
              <a:rPr sz="1100" b="1" i="0">
                <a:solidFill>
                  <a:srgbClr val="1A1A1A"/>
                </a:solidFill>
                <a:latin typeface="Arial"/>
              </a:rPr>
              <a:t>AG-04</a:t>
            </a:r>
          </a:p>
          <a:p>
            <a:pPr algn="l"/>
            <a:r>
              <a:rPr sz="1000" b="0" i="0">
                <a:solidFill>
                  <a:srgbClr val="1A1A1A"/>
                </a:solidFill>
                <a:latin typeface="Arial"/>
              </a:rPr>
              <a:t>Baja — operasi dan sub-topik</a:t>
            </a:r>
          </a:p>
          <a:p>
            <a:pPr algn="l"/>
            <a:r>
              <a:rPr sz="900" b="0" i="0">
                <a:solidFill>
                  <a:srgbClr val="6B6B6B"/>
                </a:solidFill>
                <a:latin typeface="Arial"/>
              </a:rPr>
              <a:t>Dasar guna semula: REUSE_WITH_CONDITIONS</a:t>
            </a:r>
          </a:p>
          <a:p>
            <a:pPr algn="l"/>
            <a:r>
              <a:rPr sz="1000" b="1" i="0">
                <a:solidFill>
                  <a:srgbClr val="B71C1C"/>
                </a:solidFill>
                <a:latin typeface="Arial"/>
              </a:rPr>
              <a:t>ASET BELUM DIHASILKAN</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6B6B6B"/>
                </a:solidFill>
                <a:latin typeface="Arial"/>
              </a:rPr>
              <a:t>Baris modul: T04-ROW-026, T04-ROW-027</a:t>
            </a:r>
          </a:p>
          <a:p>
            <a:pPr algn="l"/>
            <a:r>
              <a:rPr sz="800" b="0" i="0">
                <a:solidFill>
                  <a:srgbClr val="6B6B6B"/>
                </a:solidFill>
                <a:latin typeface="Arial"/>
              </a:rPr>
              <a:t>Keputusan: T04-DEC-A08</a:t>
            </a:r>
          </a:p>
        </p:txBody>
      </p:sp>
      <p:sp>
        <p:nvSpPr>
          <p:cNvPr id="6" name="TextBox 5"/>
          <p:cNvSpPr txBox="1"/>
          <p:nvPr/>
        </p:nvSpPr>
        <p:spPr>
          <a:xfrm>
            <a:off x="457200" y="6150000"/>
            <a:ext cx="11277600" cy="500000"/>
          </a:xfrm>
          <a:prstGeom prst="rect">
            <a:avLst/>
          </a:prstGeom>
          <a:noFill/>
        </p:spPr>
        <p:txBody>
          <a:bodyPr wrap="square" lIns="0" rIns="0" tIns="0" bIns="0">
            <a:spAutoFit/>
          </a:bodyPr>
          <a:lstStyle/>
          <a:p>
            <a:pPr algn="l"/>
            <a:r>
              <a:rPr sz="900" b="0" i="0">
                <a:solidFill>
                  <a:srgbClr val="6B6B6B"/>
                </a:solidFill>
                <a:latin typeface="Arial"/>
              </a:rPr>
              <a:t>Topik 4 · skrin 8 daripada 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T04-S09   ·   CLICK_TO_REVEAL</a:t>
            </a:r>
          </a:p>
          <a:p>
            <a:pPr algn="l"/>
            <a:r>
              <a:rPr sz="2400" b="1" i="0">
                <a:solidFill>
                  <a:srgbClr val="1A1A1A"/>
                </a:solidFill>
                <a:latin typeface="Arial"/>
              </a:rPr>
              <a:t>Baja — kaedah pelaksanaan</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0000"/>
            <a:ext cx="6766560" cy="4600000"/>
          </a:xfrm>
          <a:prstGeom prst="rect">
            <a:avLst/>
          </a:prstGeom>
          <a:noFill/>
        </p:spPr>
        <p:txBody>
          <a:bodyPr wrap="square" lIns="0" rIns="0" tIns="0" bIns="0">
            <a:spAutoFit/>
          </a:bodyPr>
          <a:lstStyle/>
          <a:p>
            <a:pPr algn="l"/>
            <a:r>
              <a:rPr sz="1000" b="1" i="0">
                <a:solidFill>
                  <a:srgbClr val="6B6B6B"/>
                </a:solidFill>
                <a:latin typeface="Arial"/>
              </a:rPr>
              <a:t>KANDUNGAN SKRIN</a:t>
            </a:r>
          </a:p>
          <a:p>
            <a:pPr algn="l"/>
            <a:r>
              <a:rPr sz="1300" b="0" i="0">
                <a:solidFill>
                  <a:srgbClr val="0D47A1"/>
                </a:solidFill>
                <a:latin typeface="Arial"/>
              </a:rPr>
              <a:t>S · Kaedah Pelaksanaan</a:t>
            </a:r>
          </a:p>
          <a:p>
            <a:pPr algn="l"/>
            <a:r>
              <a:rPr sz="1300" b="0" i="0">
                <a:solidFill>
                  <a:srgbClr val="0D47A1"/>
                </a:solidFill>
                <a:latin typeface="Arial"/>
              </a:rPr>
              <a:t>S · Pembajaan Tabur (Broadcasting)</a:t>
            </a:r>
          </a:p>
          <a:p>
            <a:pPr algn="l"/>
            <a:r>
              <a:rPr sz="1300" b="0" i="0">
                <a:solidFill>
                  <a:srgbClr val="0D47A1"/>
                </a:solidFill>
                <a:latin typeface="Arial"/>
              </a:rPr>
              <a:t>S · Menabur baja butiran (granular) secara rata di sekeliling zon akar tumbuhan atau di atas permukaan rumput.</a:t>
            </a:r>
          </a:p>
          <a:p>
            <a:pPr algn="l"/>
            <a:r>
              <a:rPr sz="1300" b="0" i="0">
                <a:solidFill>
                  <a:srgbClr val="0D47A1"/>
                </a:solidFill>
                <a:latin typeface="Arial"/>
              </a:rPr>
              <a:t>S · Pembajaan Poket (Pocketing)</a:t>
            </a:r>
          </a:p>
          <a:p>
            <a:pPr algn="l"/>
            <a:r>
              <a:rPr sz="1300" b="0" i="0">
                <a:solidFill>
                  <a:srgbClr val="0D47A1"/>
                </a:solidFill>
                <a:latin typeface="Arial"/>
              </a:rPr>
              <a:t>S · Menggali lubang-lubang kecil di sekeliling zon akar pokok, memasukkan baja, dan menutupnya kembali. Kaedah ini lebih berkesan untuk pokok besar.</a:t>
            </a:r>
          </a:p>
          <a:p>
            <a:pPr algn="l"/>
            <a:r>
              <a:rPr sz="1300" b="0" i="0">
                <a:solidFill>
                  <a:srgbClr val="0D47A1"/>
                </a:solidFill>
                <a:latin typeface="Arial"/>
              </a:rPr>
              <a:t>S · Semburan Folia (Foliar Spray)</a:t>
            </a:r>
          </a:p>
          <a:p>
            <a:pPr algn="l"/>
            <a:r>
              <a:rPr sz="1300" b="0" i="0">
                <a:solidFill>
                  <a:srgbClr val="0D47A1"/>
                </a:solidFill>
                <a:latin typeface="Arial"/>
              </a:rPr>
              <a:t>S · Menyembur baja cecair terus ke daun untuk penyerapan nutrien yang pantas.</a:t>
            </a:r>
          </a:p>
          <a:p>
            <a:pPr algn="l"/>
            <a:r>
              <a:rPr sz="1100" b="0" i="0">
                <a:solidFill>
                  <a:srgbClr val="6B6B6B"/>
                </a:solidFill>
                <a:latin typeface="Arial"/>
              </a:rPr>
              <a:t>u · SETERUSNYA</a:t>
            </a:r>
          </a:p>
        </p:txBody>
      </p:sp>
      <p:sp>
        <p:nvSpPr>
          <p:cNvPr id="5" name="TextBox 4"/>
          <p:cNvSpPr txBox="1"/>
          <p:nvPr/>
        </p:nvSpPr>
        <p:spPr>
          <a:xfrm>
            <a:off x="7523760" y="1320000"/>
            <a:ext cx="4211040" cy="4600000"/>
          </a:xfrm>
          <a:prstGeom prst="rect">
            <a:avLst/>
          </a:prstGeom>
          <a:noFill/>
        </p:spPr>
        <p:txBody>
          <a:bodyPr wrap="square" lIns="0" rIns="0" tIns="0" bIns="0">
            <a:spAutoFit/>
          </a:bodyPr>
          <a:lstStyle/>
          <a:p>
            <a:pPr algn="l"/>
            <a:r>
              <a:rPr sz="1000" b="1" i="0">
                <a:solidFill>
                  <a:srgbClr val="6B6B6B"/>
                </a:solidFill>
                <a:latin typeface="Arial"/>
              </a:rPr>
              <a:t>INTERAKSI</a:t>
            </a:r>
          </a:p>
          <a:p>
            <a:pPr algn="l"/>
            <a:r>
              <a:rPr sz="1000" b="0" i="0">
                <a:solidFill>
                  <a:srgbClr val="1A1A1A"/>
                </a:solidFill>
                <a:latin typeface="Arial"/>
              </a:rPr>
              <a:t>· BASE</a:t>
            </a:r>
          </a:p>
          <a:p>
            <a:pPr algn="l"/>
            <a:r>
              <a:rPr sz="1000" b="0" i="0">
                <a:solidFill>
                  <a:srgbClr val="1A1A1A"/>
                </a:solidFill>
                <a:latin typeface="Arial"/>
              </a:rPr>
              <a:t>· ST-01</a:t>
            </a:r>
          </a:p>
          <a:p>
            <a:pPr algn="l"/>
            <a:r>
              <a:rPr sz="1000" b="0" i="0">
                <a:solidFill>
                  <a:srgbClr val="1A1A1A"/>
                </a:solidFill>
                <a:latin typeface="Arial"/>
              </a:rPr>
              <a:t>· ST-02</a:t>
            </a:r>
          </a:p>
          <a:p>
            <a:pPr algn="l"/>
            <a:r>
              <a:rPr sz="1000" b="0" i="0">
                <a:solidFill>
                  <a:srgbClr val="1A1A1A"/>
                </a:solidFill>
                <a:latin typeface="Arial"/>
              </a:rPr>
              <a:t>· ST-03</a:t>
            </a:r>
          </a:p>
          <a:p>
            <a:pPr algn="l"/>
            <a:r>
              <a:rPr sz="1000" b="0" i="0">
                <a:solidFill>
                  <a:srgbClr val="1A1A1A"/>
                </a:solidFill>
                <a:latin typeface="Arial"/>
              </a:rPr>
              <a:t>· ALL_VIEWED</a:t>
            </a:r>
          </a:p>
          <a:p>
            <a:pPr algn="l"/>
            <a:r>
              <a:rPr sz="800" b="0" i="0">
                <a:solidFill>
                  <a:srgbClr val="1A1A1A"/>
                </a:solidFill>
                <a:latin typeface="Arial"/>
              </a:rPr>
              <a:t/>
            </a:r>
          </a:p>
          <a:p>
            <a:pPr algn="l"/>
            <a:r>
              <a:rPr sz="1000" b="1" i="0">
                <a:solidFill>
                  <a:srgbClr val="6B6B6B"/>
                </a:solidFill>
                <a:latin typeface="Arial"/>
              </a:rPr>
              <a:t>VISUAL</a:t>
            </a:r>
          </a:p>
          <a:p>
            <a:pPr algn="l"/>
            <a:r>
              <a:rPr sz="1100" b="1" i="0">
                <a:solidFill>
                  <a:srgbClr val="1A1A1A"/>
                </a:solidFill>
                <a:latin typeface="Arial"/>
              </a:rPr>
              <a:t>AG-04</a:t>
            </a:r>
          </a:p>
          <a:p>
            <a:pPr algn="l"/>
            <a:r>
              <a:rPr sz="1000" b="0" i="0">
                <a:solidFill>
                  <a:srgbClr val="1A1A1A"/>
                </a:solidFill>
                <a:latin typeface="Arial"/>
              </a:rPr>
              <a:t>Baja — operasi dan sub-topik</a:t>
            </a:r>
          </a:p>
          <a:p>
            <a:pPr algn="l"/>
            <a:r>
              <a:rPr sz="900" b="0" i="0">
                <a:solidFill>
                  <a:srgbClr val="6B6B6B"/>
                </a:solidFill>
                <a:latin typeface="Arial"/>
              </a:rPr>
              <a:t>Dasar guna semula: REUSE_WITH_CONDITIONS</a:t>
            </a:r>
          </a:p>
          <a:p>
            <a:pPr algn="l"/>
            <a:r>
              <a:rPr sz="1000" b="1" i="0">
                <a:solidFill>
                  <a:srgbClr val="B71C1C"/>
                </a:solidFill>
                <a:latin typeface="Arial"/>
              </a:rPr>
              <a:t>ASET BELUM DIHASILKAN</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6B6B6B"/>
                </a:solidFill>
                <a:latin typeface="Arial"/>
              </a:rPr>
              <a:t>Baris modul: T04-ROW-028, T04-ROW-029, T04-ROW-030, T04-ROW-031, T04-ROW-032, T04-ROW-033, T04-ROW-034</a:t>
            </a:r>
          </a:p>
          <a:p>
            <a:pPr algn="l"/>
            <a:r>
              <a:rPr sz="800" b="0" i="0">
                <a:solidFill>
                  <a:srgbClr val="6B6B6B"/>
                </a:solidFill>
                <a:latin typeface="Arial"/>
              </a:rPr>
              <a:t>Keputusan: T04-DEC-A09</a:t>
            </a:r>
          </a:p>
        </p:txBody>
      </p:sp>
      <p:sp>
        <p:nvSpPr>
          <p:cNvPr id="6" name="TextBox 5"/>
          <p:cNvSpPr txBox="1"/>
          <p:nvPr/>
        </p:nvSpPr>
        <p:spPr>
          <a:xfrm>
            <a:off x="457200" y="6150000"/>
            <a:ext cx="11277600" cy="500000"/>
          </a:xfrm>
          <a:prstGeom prst="rect">
            <a:avLst/>
          </a:prstGeom>
          <a:noFill/>
        </p:spPr>
        <p:txBody>
          <a:bodyPr wrap="square" lIns="0" rIns="0" tIns="0" bIns="0">
            <a:spAutoFit/>
          </a:bodyPr>
          <a:lstStyle/>
          <a:p>
            <a:pPr algn="l"/>
            <a:r>
              <a:rPr sz="900" b="0" i="0">
                <a:solidFill>
                  <a:srgbClr val="6B6B6B"/>
                </a:solidFill>
                <a:latin typeface="Arial"/>
              </a:rPr>
              <a:t>Topik 4 · skrin 9 daripada 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T04-S10   ·   CLICK_TO_REVEAL</a:t>
            </a:r>
          </a:p>
          <a:p>
            <a:pPr algn="l"/>
            <a:r>
              <a:rPr sz="2400" b="1" i="0">
                <a:solidFill>
                  <a:srgbClr val="1A1A1A"/>
                </a:solidFill>
                <a:latin typeface="Arial"/>
              </a:rPr>
              <a:t>Baja — aspek pengurusan untuk kontraktor  (samb. 1/2)</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0000"/>
            <a:ext cx="6766560" cy="4600000"/>
          </a:xfrm>
          <a:prstGeom prst="rect">
            <a:avLst/>
          </a:prstGeom>
          <a:noFill/>
        </p:spPr>
        <p:txBody>
          <a:bodyPr wrap="square" lIns="0" rIns="0" tIns="0" bIns="0">
            <a:spAutoFit/>
          </a:bodyPr>
          <a:lstStyle/>
          <a:p>
            <a:pPr algn="l"/>
            <a:r>
              <a:rPr sz="1000" b="1" i="0">
                <a:solidFill>
                  <a:srgbClr val="6B6B6B"/>
                </a:solidFill>
                <a:latin typeface="Arial"/>
              </a:rPr>
              <a:t>KANDUNGAN SKRIN</a:t>
            </a:r>
          </a:p>
          <a:p>
            <a:pPr algn="l"/>
            <a:r>
              <a:rPr sz="1300" b="0" i="0">
                <a:solidFill>
                  <a:srgbClr val="0D47A1"/>
                </a:solidFill>
                <a:latin typeface="Arial"/>
              </a:rPr>
              <a:t>S · Aspek Pengurusan untuk Kontraktor</a:t>
            </a:r>
          </a:p>
          <a:p>
            <a:pPr algn="l"/>
            <a:r>
              <a:rPr sz="1300" b="0" i="0">
                <a:solidFill>
                  <a:srgbClr val="0D47A1"/>
                </a:solidFill>
                <a:latin typeface="Arial"/>
              </a:rPr>
              <a:t>S · Program Pembajaan</a:t>
            </a:r>
          </a:p>
          <a:p>
            <a:pPr algn="l"/>
            <a:r>
              <a:rPr sz="1300" b="0" i="0">
                <a:solidFill>
                  <a:srgbClr val="0D47A1"/>
                </a:solidFill>
                <a:latin typeface="Arial"/>
              </a:rPr>
              <a:t>S · Merancang program pembajaan yang mematuhi spesifikasi kontrak. Program ini perlu menyatakan jenis baja (organik atau kimia), kadar NPK, kuantiti, dan kekerapan aplikasi untuk setiap jenis tanaman.</a:t>
            </a:r>
          </a:p>
          <a:p>
            <a:pPr algn="l"/>
            <a:r>
              <a:rPr sz="1300" b="0" i="0">
                <a:solidFill>
                  <a:srgbClr val="0D47A1"/>
                </a:solidFill>
                <a:latin typeface="Arial"/>
              </a:rPr>
              <a:t>S · Pematuhan Spesifikasi</a:t>
            </a:r>
          </a:p>
          <a:p>
            <a:pPr algn="l"/>
            <a:r>
              <a:rPr sz="1300" b="0" i="0">
                <a:solidFill>
                  <a:srgbClr val="0D47A1"/>
                </a:solidFill>
                <a:latin typeface="Arial"/>
              </a:rPr>
              <a:t>S · Memastikan baja yang digunakan adalah seperti yang ditetapkan dalam dokumen kontrak atau diluluskan oleh Pegawai Penguasa (S.O.). Penggunaan baja yang salah boleh merosakkan tanaman atau tidak memberi kesan.</a:t>
            </a:r>
          </a:p>
          <a:p>
            <a:pPr algn="l"/>
            <a:r>
              <a:rPr sz="1300" b="0" i="0">
                <a:solidFill>
                  <a:srgbClr val="0D47A1"/>
                </a:solidFill>
                <a:latin typeface="Arial"/>
              </a:rPr>
              <a:t>S · Pengurusan Stok dan Penyimpanan</a:t>
            </a:r>
          </a:p>
          <a:p>
            <a:pPr algn="l"/>
            <a:r>
              <a:rPr sz="1300" b="0" i="0">
                <a:solidFill>
                  <a:srgbClr val="0D47A1"/>
                </a:solidFill>
                <a:latin typeface="Arial"/>
              </a:rPr>
              <a:t>S · Baja mesti disimpan di tempat yang kering, selamat, dan jauh dari sumber air untuk mengelakkan pencemaran.</a:t>
            </a:r>
          </a:p>
          <a:p>
            <a:pPr algn="l"/>
            <a:r>
              <a:rPr sz="1300" b="0" i="0">
                <a:solidFill>
                  <a:srgbClr val="0D47A1"/>
                </a:solidFill>
                <a:latin typeface="Arial"/>
              </a:rPr>
              <a:t>S · Keselamatan Pekerja</a:t>
            </a:r>
          </a:p>
          <a:p>
            <a:pPr algn="l"/>
            <a:r>
              <a:rPr sz="1300" b="0" i="0">
                <a:solidFill>
                  <a:srgbClr val="0D47A1"/>
                </a:solidFill>
                <a:latin typeface="Arial"/>
              </a:rPr>
              <a:t>S · Memastikan pekerja menggunakan Peralatan Pelindung Diri (PPE) yang sesuai seperti sarung tangan dan topeng muka semasa mengendalikan baja kimia.</a:t>
            </a:r>
          </a:p>
          <a:p>
            <a:pPr algn="l"/>
            <a:r>
              <a:rPr sz="1300" b="0" i="0">
                <a:solidFill>
                  <a:srgbClr val="0D47A1"/>
                </a:solidFill>
                <a:latin typeface="Arial"/>
              </a:rPr>
              <a:t>S · Dokumentasi</a:t>
            </a:r>
          </a:p>
          <a:p>
            <a:pPr algn="l"/>
            <a:r>
              <a:rPr sz="1300" b="0" i="0">
                <a:solidFill>
                  <a:srgbClr val="0D47A1"/>
                </a:solidFill>
                <a:latin typeface="Arial"/>
              </a:rPr>
              <a:t>S · Merekodkan tarikh, jenis baja, kuantiti yang digunakan, dan kawasan yang telah dibaja. Ini penting sebagai bukti kerja untuk tuntutan bayaran dan rujukan semasa tempoh DLP.</a:t>
            </a:r>
          </a:p>
        </p:txBody>
      </p:sp>
      <p:sp>
        <p:nvSpPr>
          <p:cNvPr id="5" name="TextBox 4"/>
          <p:cNvSpPr txBox="1"/>
          <p:nvPr/>
        </p:nvSpPr>
        <p:spPr>
          <a:xfrm>
            <a:off x="7523760" y="1320000"/>
            <a:ext cx="4211040" cy="4600000"/>
          </a:xfrm>
          <a:prstGeom prst="rect">
            <a:avLst/>
          </a:prstGeom>
          <a:noFill/>
        </p:spPr>
        <p:txBody>
          <a:bodyPr wrap="square" lIns="0" rIns="0" tIns="0" bIns="0">
            <a:spAutoFit/>
          </a:bodyPr>
          <a:lstStyle/>
          <a:p>
            <a:pPr algn="l"/>
            <a:r>
              <a:rPr sz="1000" b="1" i="0">
                <a:solidFill>
                  <a:srgbClr val="6B6B6B"/>
                </a:solidFill>
                <a:latin typeface="Arial"/>
              </a:rPr>
              <a:t>INTERAKSI</a:t>
            </a:r>
          </a:p>
          <a:p>
            <a:pPr algn="l"/>
            <a:r>
              <a:rPr sz="1000" b="0" i="0">
                <a:solidFill>
                  <a:srgbClr val="1A1A1A"/>
                </a:solidFill>
                <a:latin typeface="Arial"/>
              </a:rPr>
              <a:t>· BASE</a:t>
            </a:r>
          </a:p>
          <a:p>
            <a:pPr algn="l"/>
            <a:r>
              <a:rPr sz="1000" b="0" i="0">
                <a:solidFill>
                  <a:srgbClr val="1A1A1A"/>
                </a:solidFill>
                <a:latin typeface="Arial"/>
              </a:rPr>
              <a:t>· ST-01</a:t>
            </a:r>
          </a:p>
          <a:p>
            <a:pPr algn="l"/>
            <a:r>
              <a:rPr sz="1000" b="0" i="0">
                <a:solidFill>
                  <a:srgbClr val="1A1A1A"/>
                </a:solidFill>
                <a:latin typeface="Arial"/>
              </a:rPr>
              <a:t>· ST-02</a:t>
            </a:r>
          </a:p>
          <a:p>
            <a:pPr algn="l"/>
            <a:r>
              <a:rPr sz="1000" b="0" i="0">
                <a:solidFill>
                  <a:srgbClr val="1A1A1A"/>
                </a:solidFill>
                <a:latin typeface="Arial"/>
              </a:rPr>
              <a:t>· ST-03</a:t>
            </a:r>
          </a:p>
          <a:p>
            <a:pPr algn="l"/>
            <a:r>
              <a:rPr sz="1000" b="0" i="0">
                <a:solidFill>
                  <a:srgbClr val="1A1A1A"/>
                </a:solidFill>
                <a:latin typeface="Arial"/>
              </a:rPr>
              <a:t>· ST-04</a:t>
            </a:r>
          </a:p>
          <a:p>
            <a:pPr algn="l"/>
            <a:r>
              <a:rPr sz="1000" b="0" i="0">
                <a:solidFill>
                  <a:srgbClr val="1A1A1A"/>
                </a:solidFill>
                <a:latin typeface="Arial"/>
              </a:rPr>
              <a:t>· ST-05</a:t>
            </a:r>
          </a:p>
          <a:p>
            <a:pPr algn="l"/>
            <a:r>
              <a:rPr sz="1000" b="0" i="0">
                <a:solidFill>
                  <a:srgbClr val="1A1A1A"/>
                </a:solidFill>
                <a:latin typeface="Arial"/>
              </a:rPr>
              <a:t>· ALL_VIEWED</a:t>
            </a:r>
          </a:p>
          <a:p>
            <a:pPr algn="l"/>
            <a:r>
              <a:rPr sz="800" b="0" i="0">
                <a:solidFill>
                  <a:srgbClr val="1A1A1A"/>
                </a:solidFill>
                <a:latin typeface="Arial"/>
              </a:rPr>
              <a:t/>
            </a:r>
          </a:p>
          <a:p>
            <a:pPr algn="l"/>
            <a:r>
              <a:rPr sz="1000" b="1" i="0">
                <a:solidFill>
                  <a:srgbClr val="6B6B6B"/>
                </a:solidFill>
                <a:latin typeface="Arial"/>
              </a:rPr>
              <a:t>VISUAL</a:t>
            </a:r>
          </a:p>
          <a:p>
            <a:pPr algn="l"/>
            <a:r>
              <a:rPr sz="1100" b="1" i="0">
                <a:solidFill>
                  <a:srgbClr val="1A1A1A"/>
                </a:solidFill>
                <a:latin typeface="Arial"/>
              </a:rPr>
              <a:t>AG-04</a:t>
            </a:r>
          </a:p>
          <a:p>
            <a:pPr algn="l"/>
            <a:r>
              <a:rPr sz="1000" b="0" i="0">
                <a:solidFill>
                  <a:srgbClr val="1A1A1A"/>
                </a:solidFill>
                <a:latin typeface="Arial"/>
              </a:rPr>
              <a:t>Baja — operasi dan sub-topik</a:t>
            </a:r>
          </a:p>
          <a:p>
            <a:pPr algn="l"/>
            <a:r>
              <a:rPr sz="900" b="0" i="0">
                <a:solidFill>
                  <a:srgbClr val="6B6B6B"/>
                </a:solidFill>
                <a:latin typeface="Arial"/>
              </a:rPr>
              <a:t>Dasar guna semula: REUSE_NOT_ALLOWED_FOR_NAMED_ITEMS</a:t>
            </a:r>
          </a:p>
          <a:p>
            <a:pPr algn="l"/>
            <a:r>
              <a:rPr sz="900" b="1" i="0">
                <a:solidFill>
                  <a:srgbClr val="B71C1C"/>
                </a:solidFill>
                <a:latin typeface="Arial"/>
              </a:rPr>
              <a:t>TIDAK BOLEH DIKONGSI: T04-VO-025, T04-VO-026</a:t>
            </a:r>
          </a:p>
          <a:p>
            <a:pPr algn="l"/>
            <a:r>
              <a:rPr sz="1000" b="1" i="0">
                <a:solidFill>
                  <a:srgbClr val="B71C1C"/>
                </a:solidFill>
                <a:latin typeface="Arial"/>
              </a:rPr>
              <a:t>ASET BELUM DIHASILKAN</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6B6B6B"/>
                </a:solidFill>
                <a:latin typeface="Arial"/>
              </a:rPr>
              <a:t>Baris modul: T04-ROW-035, T04-ROW-036, T04-ROW-037, T04-ROW-038, T04-ROW-039, T04-ROW-040, T04-ROW-041, T04-ROW-042, T04-ROW-043, T04-ROW-044, T04-ROW-045</a:t>
            </a:r>
          </a:p>
          <a:p>
            <a:pPr algn="l"/>
            <a:r>
              <a:rPr sz="800" b="0" i="0">
                <a:solidFill>
                  <a:srgbClr val="6B6B6B"/>
                </a:solidFill>
                <a:latin typeface="Arial"/>
              </a:rPr>
              <a:t>Keputusan: T04-DEC-A10</a:t>
            </a:r>
          </a:p>
        </p:txBody>
      </p:sp>
      <p:sp>
        <p:nvSpPr>
          <p:cNvPr id="6" name="TextBox 5"/>
          <p:cNvSpPr txBox="1"/>
          <p:nvPr/>
        </p:nvSpPr>
        <p:spPr>
          <a:xfrm>
            <a:off x="457200" y="6150000"/>
            <a:ext cx="11277600" cy="500000"/>
          </a:xfrm>
          <a:prstGeom prst="rect">
            <a:avLst/>
          </a:prstGeom>
          <a:noFill/>
        </p:spPr>
        <p:txBody>
          <a:bodyPr wrap="square" lIns="0" rIns="0" tIns="0" bIns="0">
            <a:spAutoFit/>
          </a:bodyPr>
          <a:lstStyle/>
          <a:p>
            <a:pPr algn="l"/>
            <a:r>
              <a:rPr sz="900" b="0" i="0">
                <a:solidFill>
                  <a:srgbClr val="6B6B6B"/>
                </a:solidFill>
                <a:latin typeface="Arial"/>
              </a:rPr>
              <a:t>Topik 4 · skrin 10 daripada 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T04-S10   ·   CLICK_TO_REVEAL</a:t>
            </a:r>
          </a:p>
          <a:p>
            <a:pPr algn="l"/>
            <a:r>
              <a:rPr sz="2400" b="1" i="0">
                <a:solidFill>
                  <a:srgbClr val="1A1A1A"/>
                </a:solidFill>
                <a:latin typeface="Arial"/>
              </a:rPr>
              <a:t>Baja — aspek pengurusan untuk kontraktor  (samb. 2/2)</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0000"/>
            <a:ext cx="6766560" cy="4600000"/>
          </a:xfrm>
          <a:prstGeom prst="rect">
            <a:avLst/>
          </a:prstGeom>
          <a:noFill/>
        </p:spPr>
        <p:txBody>
          <a:bodyPr wrap="square" lIns="0" rIns="0" tIns="0" bIns="0">
            <a:spAutoFit/>
          </a:bodyPr>
          <a:lstStyle/>
          <a:p>
            <a:pPr algn="l"/>
            <a:r>
              <a:rPr sz="1000" b="1" i="0">
                <a:solidFill>
                  <a:srgbClr val="6B6B6B"/>
                </a:solidFill>
                <a:latin typeface="Arial"/>
              </a:rPr>
              <a:t>KANDUNGAN SKRIN (sambungan)</a:t>
            </a:r>
          </a:p>
          <a:p>
            <a:pPr algn="l"/>
            <a:r>
              <a:rPr sz="1100" b="0" i="0">
                <a:solidFill>
                  <a:srgbClr val="6B6B6B"/>
                </a:solidFill>
                <a:latin typeface="Arial"/>
              </a:rPr>
              <a:t>u · SETERUSNYA</a:t>
            </a:r>
          </a:p>
        </p:txBody>
      </p:sp>
      <p:sp>
        <p:nvSpPr>
          <p:cNvPr id="5" name="TextBox 4"/>
          <p:cNvSpPr txBox="1"/>
          <p:nvPr/>
        </p:nvSpPr>
        <p:spPr>
          <a:xfrm>
            <a:off x="7523760" y="1320000"/>
            <a:ext cx="4211040" cy="4600000"/>
          </a:xfrm>
          <a:prstGeom prst="rect">
            <a:avLst/>
          </a:prstGeom>
          <a:noFill/>
        </p:spPr>
        <p:txBody>
          <a:bodyPr wrap="square" lIns="0" rIns="0" tIns="0" bIns="0">
            <a:spAutoFit/>
          </a:bodyPr>
          <a:lstStyle/>
          <a:p>
            <a:pPr algn="l"/>
            <a:r>
              <a:rPr sz="1000" b="1" i="0">
                <a:solidFill>
                  <a:srgbClr val="6B6B6B"/>
                </a:solidFill>
                <a:latin typeface="Arial"/>
              </a:rPr>
              <a:t>INTERAKSI</a:t>
            </a:r>
          </a:p>
          <a:p>
            <a:pPr algn="l"/>
            <a:r>
              <a:rPr sz="1000" b="0" i="0">
                <a:solidFill>
                  <a:srgbClr val="1A1A1A"/>
                </a:solidFill>
                <a:latin typeface="Arial"/>
              </a:rPr>
              <a:t>· BASE</a:t>
            </a:r>
          </a:p>
          <a:p>
            <a:pPr algn="l"/>
            <a:r>
              <a:rPr sz="1000" b="0" i="0">
                <a:solidFill>
                  <a:srgbClr val="1A1A1A"/>
                </a:solidFill>
                <a:latin typeface="Arial"/>
              </a:rPr>
              <a:t>· ST-01</a:t>
            </a:r>
          </a:p>
          <a:p>
            <a:pPr algn="l"/>
            <a:r>
              <a:rPr sz="1000" b="0" i="0">
                <a:solidFill>
                  <a:srgbClr val="1A1A1A"/>
                </a:solidFill>
                <a:latin typeface="Arial"/>
              </a:rPr>
              <a:t>· ST-02</a:t>
            </a:r>
          </a:p>
          <a:p>
            <a:pPr algn="l"/>
            <a:r>
              <a:rPr sz="1000" b="0" i="0">
                <a:solidFill>
                  <a:srgbClr val="1A1A1A"/>
                </a:solidFill>
                <a:latin typeface="Arial"/>
              </a:rPr>
              <a:t>· ST-03</a:t>
            </a:r>
          </a:p>
          <a:p>
            <a:pPr algn="l"/>
            <a:r>
              <a:rPr sz="1000" b="0" i="0">
                <a:solidFill>
                  <a:srgbClr val="1A1A1A"/>
                </a:solidFill>
                <a:latin typeface="Arial"/>
              </a:rPr>
              <a:t>· ST-04</a:t>
            </a:r>
          </a:p>
          <a:p>
            <a:pPr algn="l"/>
            <a:r>
              <a:rPr sz="1000" b="0" i="0">
                <a:solidFill>
                  <a:srgbClr val="1A1A1A"/>
                </a:solidFill>
                <a:latin typeface="Arial"/>
              </a:rPr>
              <a:t>· ST-05</a:t>
            </a:r>
          </a:p>
          <a:p>
            <a:pPr algn="l"/>
            <a:r>
              <a:rPr sz="1000" b="0" i="0">
                <a:solidFill>
                  <a:srgbClr val="1A1A1A"/>
                </a:solidFill>
                <a:latin typeface="Arial"/>
              </a:rPr>
              <a:t>· ALL_VIEWED</a:t>
            </a:r>
          </a:p>
          <a:p>
            <a:pPr algn="l"/>
            <a:r>
              <a:rPr sz="800" b="0" i="0">
                <a:solidFill>
                  <a:srgbClr val="1A1A1A"/>
                </a:solidFill>
                <a:latin typeface="Arial"/>
              </a:rPr>
              <a:t/>
            </a:r>
          </a:p>
          <a:p>
            <a:pPr algn="l"/>
            <a:r>
              <a:rPr sz="1000" b="1" i="0">
                <a:solidFill>
                  <a:srgbClr val="6B6B6B"/>
                </a:solidFill>
                <a:latin typeface="Arial"/>
              </a:rPr>
              <a:t>VISUAL</a:t>
            </a:r>
          </a:p>
          <a:p>
            <a:pPr algn="l"/>
            <a:r>
              <a:rPr sz="1100" b="1" i="0">
                <a:solidFill>
                  <a:srgbClr val="1A1A1A"/>
                </a:solidFill>
                <a:latin typeface="Arial"/>
              </a:rPr>
              <a:t>AG-04</a:t>
            </a:r>
          </a:p>
          <a:p>
            <a:pPr algn="l"/>
            <a:r>
              <a:rPr sz="1000" b="0" i="0">
                <a:solidFill>
                  <a:srgbClr val="1A1A1A"/>
                </a:solidFill>
                <a:latin typeface="Arial"/>
              </a:rPr>
              <a:t>Baja — operasi dan sub-topik</a:t>
            </a:r>
          </a:p>
          <a:p>
            <a:pPr algn="l"/>
            <a:r>
              <a:rPr sz="900" b="0" i="0">
                <a:solidFill>
                  <a:srgbClr val="6B6B6B"/>
                </a:solidFill>
                <a:latin typeface="Arial"/>
              </a:rPr>
              <a:t>Dasar guna semula: REUSE_NOT_ALLOWED_FOR_NAMED_ITEMS</a:t>
            </a:r>
          </a:p>
          <a:p>
            <a:pPr algn="l"/>
            <a:r>
              <a:rPr sz="900" b="1" i="0">
                <a:solidFill>
                  <a:srgbClr val="B71C1C"/>
                </a:solidFill>
                <a:latin typeface="Arial"/>
              </a:rPr>
              <a:t>TIDAK BOLEH DIKONGSI: T04-VO-025, T04-VO-026</a:t>
            </a:r>
          </a:p>
          <a:p>
            <a:pPr algn="l"/>
            <a:r>
              <a:rPr sz="1000" b="1" i="0">
                <a:solidFill>
                  <a:srgbClr val="B71C1C"/>
                </a:solidFill>
                <a:latin typeface="Arial"/>
              </a:rPr>
              <a:t>ASET BELUM DIHASILKAN</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6B6B6B"/>
                </a:solidFill>
                <a:latin typeface="Arial"/>
              </a:rPr>
              <a:t>Baris modul: T04-ROW-035, T04-ROW-036, T04-ROW-037, T04-ROW-038, T04-ROW-039, T04-ROW-040, T04-ROW-041, T04-ROW-042, T04-ROW-043, T04-ROW-044, T04-ROW-045</a:t>
            </a:r>
          </a:p>
          <a:p>
            <a:pPr algn="l"/>
            <a:r>
              <a:rPr sz="800" b="0" i="0">
                <a:solidFill>
                  <a:srgbClr val="6B6B6B"/>
                </a:solidFill>
                <a:latin typeface="Arial"/>
              </a:rPr>
              <a:t>Keputusan: T04-DEC-A10</a:t>
            </a:r>
          </a:p>
        </p:txBody>
      </p:sp>
      <p:sp>
        <p:nvSpPr>
          <p:cNvPr id="6" name="TextBox 5"/>
          <p:cNvSpPr txBox="1"/>
          <p:nvPr/>
        </p:nvSpPr>
        <p:spPr>
          <a:xfrm>
            <a:off x="457200" y="6150000"/>
            <a:ext cx="11277600" cy="500000"/>
          </a:xfrm>
          <a:prstGeom prst="rect">
            <a:avLst/>
          </a:prstGeom>
          <a:noFill/>
        </p:spPr>
        <p:txBody>
          <a:bodyPr wrap="square" lIns="0" rIns="0" tIns="0" bIns="0">
            <a:spAutoFit/>
          </a:bodyPr>
          <a:lstStyle/>
          <a:p>
            <a:pPr algn="l"/>
            <a:r>
              <a:rPr sz="900" b="0" i="0">
                <a:solidFill>
                  <a:srgbClr val="6B6B6B"/>
                </a:solidFill>
                <a:latin typeface="Arial"/>
              </a:rPr>
              <a:t>Topik 4 · skrin 10 daripada 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T04-S11   ·   CONTENT_STATIC</a:t>
            </a:r>
          </a:p>
          <a:p>
            <a:pPr algn="l"/>
            <a:r>
              <a:rPr sz="2400" b="1" i="0">
                <a:solidFill>
                  <a:srgbClr val="1A1A1A"/>
                </a:solidFill>
                <a:latin typeface="Arial"/>
              </a:rPr>
              <a:t>Racun — penerangan utama</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0000"/>
            <a:ext cx="6766560" cy="4600000"/>
          </a:xfrm>
          <a:prstGeom prst="rect">
            <a:avLst/>
          </a:prstGeom>
          <a:noFill/>
        </p:spPr>
        <p:txBody>
          <a:bodyPr wrap="square" lIns="0" rIns="0" tIns="0" bIns="0">
            <a:spAutoFit/>
          </a:bodyPr>
          <a:lstStyle/>
          <a:p>
            <a:pPr algn="l"/>
            <a:r>
              <a:rPr sz="1000" b="1" i="0">
                <a:solidFill>
                  <a:srgbClr val="6B6B6B"/>
                </a:solidFill>
                <a:latin typeface="Arial"/>
              </a:rPr>
              <a:t>KANDUNGAN SKRIN</a:t>
            </a:r>
          </a:p>
          <a:p>
            <a:pPr algn="l" lvl="2"/>
            <a:r>
              <a:rPr sz="1300" b="0" i="0">
                <a:solidFill>
                  <a:srgbClr val="0D47A1"/>
                </a:solidFill>
                <a:latin typeface="Arial"/>
              </a:rPr>
              <a:t>S · Racun</a:t>
            </a:r>
          </a:p>
          <a:p>
            <a:pPr algn="l"/>
            <a:r>
              <a:rPr sz="1300" b="0" i="0">
                <a:solidFill>
                  <a:srgbClr val="0D47A1"/>
                </a:solidFill>
                <a:latin typeface="Arial"/>
              </a:rPr>
              <a:t>S · Mengawal dan mengurus serangan perosak (serangga), penyakit (kulat), dan pertumbuhan rumpai yang boleh menjejaskan kesihatan dan estetika landskap lembut. Konsep utama yang diamalkan ialah Pengurusan Perosak Bersepadu (Integrated Pest Management – IPM). Sebagai kontraktor profesional, adalah penting untuk melaksanakan konsep IPM, di mana penggunaan racun kimia hanya dijadikan pilihan terakhir.</a:t>
            </a:r>
          </a:p>
          <a:p>
            <a:pPr algn="l"/>
            <a:r>
              <a:rPr sz="1100" b="0" i="0">
                <a:solidFill>
                  <a:srgbClr val="6B6B6B"/>
                </a:solidFill>
                <a:latin typeface="Arial"/>
              </a:rPr>
              <a:t>u · Aspek yang dibincangkan:</a:t>
            </a:r>
          </a:p>
          <a:p>
            <a:pPr algn="l"/>
            <a:r>
              <a:rPr sz="1100" b="0" i="0">
                <a:solidFill>
                  <a:srgbClr val="6B6B6B"/>
                </a:solidFill>
                <a:latin typeface="Arial"/>
              </a:rPr>
              <a:t>u · Pendekatan IPM</a:t>
            </a:r>
          </a:p>
          <a:p>
            <a:pPr algn="l"/>
            <a:r>
              <a:rPr sz="1100" b="0" i="0">
                <a:solidFill>
                  <a:srgbClr val="6B6B6B"/>
                </a:solidFill>
                <a:latin typeface="Arial"/>
              </a:rPr>
              <a:t>u · Jenis Racun</a:t>
            </a:r>
          </a:p>
          <a:p>
            <a:pPr algn="l"/>
            <a:r>
              <a:rPr sz="1100" b="0" i="0">
                <a:solidFill>
                  <a:srgbClr val="6B6B6B"/>
                </a:solidFill>
                <a:latin typeface="Arial"/>
              </a:rPr>
              <a:t>u · Aspek Pengurusan Untuk Kontraktor</a:t>
            </a:r>
          </a:p>
          <a:p>
            <a:pPr algn="l"/>
            <a:r>
              <a:rPr sz="1100" b="0" i="0">
                <a:solidFill>
                  <a:srgbClr val="6B6B6B"/>
                </a:solidFill>
                <a:latin typeface="Arial"/>
              </a:rPr>
              <a:t>u · SETERUSNYA</a:t>
            </a:r>
          </a:p>
        </p:txBody>
      </p:sp>
      <p:sp>
        <p:nvSpPr>
          <p:cNvPr id="5" name="TextBox 4"/>
          <p:cNvSpPr txBox="1"/>
          <p:nvPr/>
        </p:nvSpPr>
        <p:spPr>
          <a:xfrm>
            <a:off x="7523760" y="1320000"/>
            <a:ext cx="4211040" cy="4600000"/>
          </a:xfrm>
          <a:prstGeom prst="rect">
            <a:avLst/>
          </a:prstGeom>
          <a:noFill/>
        </p:spPr>
        <p:txBody>
          <a:bodyPr wrap="square" lIns="0" rIns="0" tIns="0" bIns="0">
            <a:spAutoFit/>
          </a:bodyPr>
          <a:lstStyle/>
          <a:p>
            <a:pPr algn="l"/>
            <a:r>
              <a:rPr sz="1000" b="1" i="0">
                <a:solidFill>
                  <a:srgbClr val="6B6B6B"/>
                </a:solidFill>
                <a:latin typeface="Arial"/>
              </a:rPr>
              <a:t>INTERAKSI</a:t>
            </a:r>
          </a:p>
          <a:p>
            <a:pPr algn="l"/>
            <a:r>
              <a:rPr sz="1000" b="0" i="0">
                <a:solidFill>
                  <a:srgbClr val="1A1A1A"/>
                </a:solidFill>
                <a:latin typeface="Arial"/>
              </a:rPr>
              <a:t>· BASE only</a:t>
            </a:r>
          </a:p>
          <a:p>
            <a:pPr algn="l"/>
            <a:r>
              <a:rPr sz="800" b="0" i="0">
                <a:solidFill>
                  <a:srgbClr val="1A1A1A"/>
                </a:solidFill>
                <a:latin typeface="Arial"/>
              </a:rPr>
              <a:t/>
            </a:r>
          </a:p>
          <a:p>
            <a:pPr algn="l"/>
            <a:r>
              <a:rPr sz="1000" b="1" i="0">
                <a:solidFill>
                  <a:srgbClr val="6B6B6B"/>
                </a:solidFill>
                <a:latin typeface="Arial"/>
              </a:rPr>
              <a:t>VISUAL</a:t>
            </a:r>
          </a:p>
          <a:p>
            <a:pPr algn="l"/>
            <a:r>
              <a:rPr sz="1100" b="1" i="0">
                <a:solidFill>
                  <a:srgbClr val="1A1A1A"/>
                </a:solidFill>
                <a:latin typeface="Arial"/>
              </a:rPr>
              <a:t>AG-05</a:t>
            </a:r>
          </a:p>
          <a:p>
            <a:pPr algn="l"/>
            <a:r>
              <a:rPr sz="1000" b="0" i="0">
                <a:solidFill>
                  <a:srgbClr val="1A1A1A"/>
                </a:solidFill>
                <a:latin typeface="Arial"/>
              </a:rPr>
              <a:t>Racun — IPM, kawalan dan jenis racun</a:t>
            </a:r>
          </a:p>
          <a:p>
            <a:pPr algn="l"/>
            <a:r>
              <a:rPr sz="900" b="0" i="0">
                <a:solidFill>
                  <a:srgbClr val="6B6B6B"/>
                </a:solidFill>
                <a:latin typeface="Arial"/>
              </a:rPr>
              <a:t>Dasar guna semula: REUSE_WITH_CONDITIONS</a:t>
            </a:r>
          </a:p>
          <a:p>
            <a:pPr algn="l"/>
            <a:r>
              <a:rPr sz="1000" b="1" i="0">
                <a:solidFill>
                  <a:srgbClr val="B71C1C"/>
                </a:solidFill>
                <a:latin typeface="Arial"/>
              </a:rPr>
              <a:t>ASET BELUM DIHASILKAN</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6B6B6B"/>
                </a:solidFill>
                <a:latin typeface="Arial"/>
              </a:rPr>
              <a:t>Baris modul: T04-ROW-046, T04-ROW-047</a:t>
            </a:r>
          </a:p>
          <a:p>
            <a:pPr algn="l"/>
            <a:r>
              <a:rPr sz="800" b="0" i="0">
                <a:solidFill>
                  <a:srgbClr val="6B6B6B"/>
                </a:solidFill>
                <a:latin typeface="Arial"/>
              </a:rPr>
              <a:t>Keputusan: T04-DEC-A11</a:t>
            </a:r>
          </a:p>
        </p:txBody>
      </p:sp>
      <p:sp>
        <p:nvSpPr>
          <p:cNvPr id="6" name="TextBox 5"/>
          <p:cNvSpPr txBox="1"/>
          <p:nvPr/>
        </p:nvSpPr>
        <p:spPr>
          <a:xfrm>
            <a:off x="457200" y="6150000"/>
            <a:ext cx="11277600" cy="500000"/>
          </a:xfrm>
          <a:prstGeom prst="rect">
            <a:avLst/>
          </a:prstGeom>
          <a:noFill/>
        </p:spPr>
        <p:txBody>
          <a:bodyPr wrap="square" lIns="0" rIns="0" tIns="0" bIns="0">
            <a:spAutoFit/>
          </a:bodyPr>
          <a:lstStyle/>
          <a:p>
            <a:pPr algn="l"/>
            <a:r>
              <a:rPr sz="900" b="0" i="0">
                <a:solidFill>
                  <a:srgbClr val="6B6B6B"/>
                </a:solidFill>
                <a:latin typeface="Arial"/>
              </a:rPr>
              <a:t>Topik 4 · skrin 11 daripada 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T04-S12   ·   CONTENT_STATIC</a:t>
            </a:r>
          </a:p>
          <a:p>
            <a:pPr algn="l"/>
            <a:r>
              <a:rPr sz="2400" b="1" i="0">
                <a:solidFill>
                  <a:srgbClr val="1A1A1A"/>
                </a:solidFill>
                <a:latin typeface="Arial"/>
              </a:rPr>
              <a:t>Racun — pendekatan IPM</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0000"/>
            <a:ext cx="6766560" cy="4600000"/>
          </a:xfrm>
          <a:prstGeom prst="rect">
            <a:avLst/>
          </a:prstGeom>
          <a:noFill/>
        </p:spPr>
        <p:txBody>
          <a:bodyPr wrap="square" lIns="0" rIns="0" tIns="0" bIns="0">
            <a:spAutoFit/>
          </a:bodyPr>
          <a:lstStyle/>
          <a:p>
            <a:pPr algn="l"/>
            <a:r>
              <a:rPr sz="1000" b="1" i="0">
                <a:solidFill>
                  <a:srgbClr val="6B6B6B"/>
                </a:solidFill>
                <a:latin typeface="Arial"/>
              </a:rPr>
              <a:t>KANDUNGAN SKRIN</a:t>
            </a:r>
          </a:p>
          <a:p>
            <a:pPr algn="l"/>
            <a:r>
              <a:rPr sz="1300" b="0" i="0">
                <a:solidFill>
                  <a:srgbClr val="0D47A1"/>
                </a:solidFill>
                <a:latin typeface="Arial"/>
              </a:rPr>
              <a:t>S · IPM memberi keutamaan kepada:</a:t>
            </a:r>
          </a:p>
          <a:p>
            <a:pPr algn="l"/>
            <a:r>
              <a:rPr sz="1300" b="0" i="0">
                <a:solidFill>
                  <a:srgbClr val="0D47A1"/>
                </a:solidFill>
                <a:latin typeface="Arial"/>
              </a:rPr>
              <a:t>S · Kawalan Kultur</a:t>
            </a:r>
          </a:p>
          <a:p>
            <a:pPr algn="l"/>
            <a:r>
              <a:rPr sz="1300" b="0" i="0">
                <a:solidFill>
                  <a:srgbClr val="0D47A1"/>
                </a:solidFill>
                <a:latin typeface="Arial"/>
              </a:rPr>
              <a:t>S · Amalan penyelenggaraan yang baik (penyiraman, pembajaan seimbang).</a:t>
            </a:r>
          </a:p>
          <a:p>
            <a:pPr algn="l"/>
            <a:r>
              <a:rPr sz="1300" b="0" i="0">
                <a:solidFill>
                  <a:srgbClr val="0D47A1"/>
                </a:solidFill>
                <a:latin typeface="Arial"/>
              </a:rPr>
              <a:t>S · Kawalan Fizikal</a:t>
            </a:r>
          </a:p>
          <a:p>
            <a:pPr algn="l"/>
            <a:r>
              <a:rPr sz="1300" b="0" i="0">
                <a:solidFill>
                  <a:srgbClr val="0D47A1"/>
                </a:solidFill>
                <a:latin typeface="Arial"/>
              </a:rPr>
              <a:t>S · Membuang bahagian berpenyakit secara manual, mencabut rumpai.</a:t>
            </a:r>
          </a:p>
          <a:p>
            <a:pPr algn="l"/>
            <a:r>
              <a:rPr sz="1300" b="0" i="0">
                <a:solidFill>
                  <a:srgbClr val="0D47A1"/>
                </a:solidFill>
                <a:latin typeface="Arial"/>
              </a:rPr>
              <a:t>S · Kawalan Biologi</a:t>
            </a:r>
          </a:p>
          <a:p>
            <a:pPr algn="l"/>
            <a:r>
              <a:rPr sz="1300" b="0" i="0">
                <a:solidFill>
                  <a:srgbClr val="0D47A1"/>
                </a:solidFill>
                <a:latin typeface="Arial"/>
              </a:rPr>
              <a:t>S · Menggunakan musuh semula jadi kepada perosak.</a:t>
            </a:r>
          </a:p>
          <a:p>
            <a:pPr algn="l"/>
            <a:r>
              <a:rPr sz="1300" b="0" i="0">
                <a:solidFill>
                  <a:srgbClr val="0D47A1"/>
                </a:solidFill>
                <a:latin typeface="Arial"/>
              </a:rPr>
              <a:t>S · Kawalan Kimia</a:t>
            </a:r>
          </a:p>
          <a:p>
            <a:pPr algn="l"/>
            <a:r>
              <a:rPr sz="1300" b="0" i="0">
                <a:solidFill>
                  <a:srgbClr val="0D47A1"/>
                </a:solidFill>
                <a:latin typeface="Arial"/>
              </a:rPr>
              <a:t>S · Penggunaan racun secara terkawal dan bersasar.</a:t>
            </a:r>
          </a:p>
          <a:p>
            <a:pPr algn="l"/>
            <a:r>
              <a:rPr sz="1100" b="0" i="0">
                <a:solidFill>
                  <a:srgbClr val="6B6B6B"/>
                </a:solidFill>
                <a:latin typeface="Arial"/>
              </a:rPr>
              <a:t>u · SETERUSNYA</a:t>
            </a:r>
          </a:p>
        </p:txBody>
      </p:sp>
      <p:sp>
        <p:nvSpPr>
          <p:cNvPr id="5" name="TextBox 4"/>
          <p:cNvSpPr txBox="1"/>
          <p:nvPr/>
        </p:nvSpPr>
        <p:spPr>
          <a:xfrm>
            <a:off x="7523760" y="1320000"/>
            <a:ext cx="4211040" cy="4600000"/>
          </a:xfrm>
          <a:prstGeom prst="rect">
            <a:avLst/>
          </a:prstGeom>
          <a:noFill/>
        </p:spPr>
        <p:txBody>
          <a:bodyPr wrap="square" lIns="0" rIns="0" tIns="0" bIns="0">
            <a:spAutoFit/>
          </a:bodyPr>
          <a:lstStyle/>
          <a:p>
            <a:pPr algn="l"/>
            <a:r>
              <a:rPr sz="1000" b="1" i="0">
                <a:solidFill>
                  <a:srgbClr val="6B6B6B"/>
                </a:solidFill>
                <a:latin typeface="Arial"/>
              </a:rPr>
              <a:t>INTERAKSI</a:t>
            </a:r>
          </a:p>
          <a:p>
            <a:pPr algn="l"/>
            <a:r>
              <a:rPr sz="1000" b="0" i="0">
                <a:solidFill>
                  <a:srgbClr val="1A1A1A"/>
                </a:solidFill>
                <a:latin typeface="Arial"/>
              </a:rPr>
              <a:t>· BASE only</a:t>
            </a:r>
          </a:p>
          <a:p>
            <a:pPr algn="l"/>
            <a:r>
              <a:rPr sz="800" b="0" i="0">
                <a:solidFill>
                  <a:srgbClr val="1A1A1A"/>
                </a:solidFill>
                <a:latin typeface="Arial"/>
              </a:rPr>
              <a:t/>
            </a:r>
          </a:p>
          <a:p>
            <a:pPr algn="l"/>
            <a:r>
              <a:rPr sz="1000" b="1" i="0">
                <a:solidFill>
                  <a:srgbClr val="6B6B6B"/>
                </a:solidFill>
                <a:latin typeface="Arial"/>
              </a:rPr>
              <a:t>VISUAL</a:t>
            </a:r>
          </a:p>
          <a:p>
            <a:pPr algn="l"/>
            <a:r>
              <a:rPr sz="1100" b="1" i="0">
                <a:solidFill>
                  <a:srgbClr val="1A1A1A"/>
                </a:solidFill>
                <a:latin typeface="Arial"/>
              </a:rPr>
              <a:t>AG-05</a:t>
            </a:r>
          </a:p>
          <a:p>
            <a:pPr algn="l"/>
            <a:r>
              <a:rPr sz="1000" b="0" i="0">
                <a:solidFill>
                  <a:srgbClr val="1A1A1A"/>
                </a:solidFill>
                <a:latin typeface="Arial"/>
              </a:rPr>
              <a:t>Racun — IPM, kawalan dan jenis racun</a:t>
            </a:r>
          </a:p>
          <a:p>
            <a:pPr algn="l"/>
            <a:r>
              <a:rPr sz="900" b="0" i="0">
                <a:solidFill>
                  <a:srgbClr val="6B6B6B"/>
                </a:solidFill>
                <a:latin typeface="Arial"/>
              </a:rPr>
              <a:t>Dasar guna semula: REUSE_WITH_CONDITIONS</a:t>
            </a:r>
          </a:p>
          <a:p>
            <a:pPr algn="l"/>
            <a:r>
              <a:rPr sz="1000" b="1" i="0">
                <a:solidFill>
                  <a:srgbClr val="B71C1C"/>
                </a:solidFill>
                <a:latin typeface="Arial"/>
              </a:rPr>
              <a:t>ASET BELUM DIHASILKAN</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6B6B6B"/>
                </a:solidFill>
                <a:latin typeface="Arial"/>
              </a:rPr>
              <a:t>Baris modul: T04-ROW-048, T04-ROW-049, T04-ROW-050, T04-ROW-051, T04-ROW-052, T04-ROW-053, T04-ROW-054, T04-ROW-055, T04-ROW-056</a:t>
            </a:r>
          </a:p>
          <a:p>
            <a:pPr algn="l"/>
            <a:r>
              <a:rPr sz="800" b="0" i="0">
                <a:solidFill>
                  <a:srgbClr val="6B6B6B"/>
                </a:solidFill>
                <a:latin typeface="Arial"/>
              </a:rPr>
              <a:t>Keputusan: T04-DEC-A12</a:t>
            </a:r>
          </a:p>
        </p:txBody>
      </p:sp>
      <p:sp>
        <p:nvSpPr>
          <p:cNvPr id="6" name="TextBox 5"/>
          <p:cNvSpPr txBox="1"/>
          <p:nvPr/>
        </p:nvSpPr>
        <p:spPr>
          <a:xfrm>
            <a:off x="457200" y="6150000"/>
            <a:ext cx="11277600" cy="500000"/>
          </a:xfrm>
          <a:prstGeom prst="rect">
            <a:avLst/>
          </a:prstGeom>
          <a:noFill/>
        </p:spPr>
        <p:txBody>
          <a:bodyPr wrap="square" lIns="0" rIns="0" tIns="0" bIns="0">
            <a:spAutoFit/>
          </a:bodyPr>
          <a:lstStyle/>
          <a:p>
            <a:pPr algn="l"/>
            <a:r>
              <a:rPr sz="900" b="0" i="0">
                <a:solidFill>
                  <a:srgbClr val="6B6B6B"/>
                </a:solidFill>
                <a:latin typeface="Arial"/>
              </a:rPr>
              <a:t>Topik 4 · skrin 12 daripada 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T04-S13   ·   CONTENT_STATIC</a:t>
            </a:r>
          </a:p>
          <a:p>
            <a:pPr algn="l"/>
            <a:r>
              <a:rPr sz="2400" b="1" i="0">
                <a:solidFill>
                  <a:srgbClr val="1A1A1A"/>
                </a:solidFill>
                <a:latin typeface="Arial"/>
              </a:rPr>
              <a:t>Racun — jenis racun</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0000"/>
            <a:ext cx="6766560" cy="4600000"/>
          </a:xfrm>
          <a:prstGeom prst="rect">
            <a:avLst/>
          </a:prstGeom>
          <a:noFill/>
        </p:spPr>
        <p:txBody>
          <a:bodyPr wrap="square" lIns="0" rIns="0" tIns="0" bIns="0">
            <a:spAutoFit/>
          </a:bodyPr>
          <a:lstStyle/>
          <a:p>
            <a:pPr algn="l"/>
            <a:r>
              <a:rPr sz="1000" b="1" i="0">
                <a:solidFill>
                  <a:srgbClr val="6B6B6B"/>
                </a:solidFill>
                <a:latin typeface="Arial"/>
              </a:rPr>
              <a:t>KANDUNGAN SKRIN</a:t>
            </a:r>
          </a:p>
          <a:p>
            <a:pPr algn="l"/>
            <a:r>
              <a:rPr sz="1300" b="0" i="0">
                <a:solidFill>
                  <a:srgbClr val="0D47A1"/>
                </a:solidFill>
                <a:latin typeface="Arial"/>
              </a:rPr>
              <a:t>S · Jenis Racun</a:t>
            </a:r>
          </a:p>
          <a:p>
            <a:pPr algn="l"/>
            <a:r>
              <a:rPr sz="1300" b="0" i="0">
                <a:solidFill>
                  <a:srgbClr val="0D47A1"/>
                </a:solidFill>
                <a:latin typeface="Arial"/>
              </a:rPr>
              <a:t>S · Racun Serangga (Insecticide)</a:t>
            </a:r>
          </a:p>
          <a:p>
            <a:pPr algn="l"/>
            <a:r>
              <a:rPr sz="1300" b="0" i="0">
                <a:solidFill>
                  <a:srgbClr val="0D47A1"/>
                </a:solidFill>
                <a:latin typeface="Arial"/>
              </a:rPr>
              <a:t>S · Untuk mengawal serangga perosak.</a:t>
            </a:r>
          </a:p>
          <a:p>
            <a:pPr algn="l"/>
            <a:r>
              <a:rPr sz="1300" b="0" i="0">
                <a:solidFill>
                  <a:srgbClr val="0D47A1"/>
                </a:solidFill>
                <a:latin typeface="Arial"/>
              </a:rPr>
              <a:t>S · Racun Kulat (Fungicide)</a:t>
            </a:r>
          </a:p>
          <a:p>
            <a:pPr algn="l"/>
            <a:r>
              <a:rPr sz="1300" b="0" i="0">
                <a:solidFill>
                  <a:srgbClr val="0D47A1"/>
                </a:solidFill>
                <a:latin typeface="Arial"/>
              </a:rPr>
              <a:t>S · Untuk mengawal penyakit disebabkan kulat.</a:t>
            </a:r>
          </a:p>
          <a:p>
            <a:pPr algn="l"/>
            <a:r>
              <a:rPr sz="1300" b="0" i="0">
                <a:solidFill>
                  <a:srgbClr val="0D47A1"/>
                </a:solidFill>
                <a:latin typeface="Arial"/>
              </a:rPr>
              <a:t>S · Racun Rumpai (Herbicide)</a:t>
            </a:r>
          </a:p>
          <a:p>
            <a:pPr algn="l"/>
            <a:r>
              <a:rPr sz="1300" b="0" i="0">
                <a:solidFill>
                  <a:srgbClr val="0D47A1"/>
                </a:solidFill>
                <a:latin typeface="Arial"/>
              </a:rPr>
              <a:t>S · Untuk mengawal pertumbuhan rumpai.</a:t>
            </a:r>
          </a:p>
          <a:p>
            <a:pPr algn="l"/>
            <a:r>
              <a:rPr sz="1100" b="0" i="0">
                <a:solidFill>
                  <a:srgbClr val="6B6B6B"/>
                </a:solidFill>
                <a:latin typeface="Arial"/>
              </a:rPr>
              <a:t>u · SETERUSNYA</a:t>
            </a:r>
          </a:p>
        </p:txBody>
      </p:sp>
      <p:sp>
        <p:nvSpPr>
          <p:cNvPr id="5" name="TextBox 4"/>
          <p:cNvSpPr txBox="1"/>
          <p:nvPr/>
        </p:nvSpPr>
        <p:spPr>
          <a:xfrm>
            <a:off x="7523760" y="1320000"/>
            <a:ext cx="4211040" cy="4600000"/>
          </a:xfrm>
          <a:prstGeom prst="rect">
            <a:avLst/>
          </a:prstGeom>
          <a:noFill/>
        </p:spPr>
        <p:txBody>
          <a:bodyPr wrap="square" lIns="0" rIns="0" tIns="0" bIns="0">
            <a:spAutoFit/>
          </a:bodyPr>
          <a:lstStyle/>
          <a:p>
            <a:pPr algn="l"/>
            <a:r>
              <a:rPr sz="1000" b="1" i="0">
                <a:solidFill>
                  <a:srgbClr val="6B6B6B"/>
                </a:solidFill>
                <a:latin typeface="Arial"/>
              </a:rPr>
              <a:t>INTERAKSI</a:t>
            </a:r>
          </a:p>
          <a:p>
            <a:pPr algn="l"/>
            <a:r>
              <a:rPr sz="1000" b="0" i="0">
                <a:solidFill>
                  <a:srgbClr val="1A1A1A"/>
                </a:solidFill>
                <a:latin typeface="Arial"/>
              </a:rPr>
              <a:t>· BASE only</a:t>
            </a:r>
          </a:p>
          <a:p>
            <a:pPr algn="l"/>
            <a:r>
              <a:rPr sz="800" b="0" i="0">
                <a:solidFill>
                  <a:srgbClr val="1A1A1A"/>
                </a:solidFill>
                <a:latin typeface="Arial"/>
              </a:rPr>
              <a:t/>
            </a:r>
          </a:p>
          <a:p>
            <a:pPr algn="l"/>
            <a:r>
              <a:rPr sz="1000" b="1" i="0">
                <a:solidFill>
                  <a:srgbClr val="6B6B6B"/>
                </a:solidFill>
                <a:latin typeface="Arial"/>
              </a:rPr>
              <a:t>VISUAL</a:t>
            </a:r>
          </a:p>
          <a:p>
            <a:pPr algn="l"/>
            <a:r>
              <a:rPr sz="1100" b="1" i="0">
                <a:solidFill>
                  <a:srgbClr val="1A1A1A"/>
                </a:solidFill>
                <a:latin typeface="Arial"/>
              </a:rPr>
              <a:t>AG-05</a:t>
            </a:r>
          </a:p>
          <a:p>
            <a:pPr algn="l"/>
            <a:r>
              <a:rPr sz="1000" b="0" i="0">
                <a:solidFill>
                  <a:srgbClr val="1A1A1A"/>
                </a:solidFill>
                <a:latin typeface="Arial"/>
              </a:rPr>
              <a:t>Racun — IPM, kawalan dan jenis racun</a:t>
            </a:r>
          </a:p>
          <a:p>
            <a:pPr algn="l"/>
            <a:r>
              <a:rPr sz="900" b="0" i="0">
                <a:solidFill>
                  <a:srgbClr val="6B6B6B"/>
                </a:solidFill>
                <a:latin typeface="Arial"/>
              </a:rPr>
              <a:t>Dasar guna semula: REUSE_WITH_CONDITIONS</a:t>
            </a:r>
          </a:p>
          <a:p>
            <a:pPr algn="l"/>
            <a:r>
              <a:rPr sz="1000" b="1" i="0">
                <a:solidFill>
                  <a:srgbClr val="B71C1C"/>
                </a:solidFill>
                <a:latin typeface="Arial"/>
              </a:rPr>
              <a:t>ASET BELUM DIHASILKAN</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6B6B6B"/>
                </a:solidFill>
                <a:latin typeface="Arial"/>
              </a:rPr>
              <a:t>Baris modul: T04-ROW-057, T04-ROW-058, T04-ROW-059, T04-ROW-060, T04-ROW-061, T04-ROW-062, T04-ROW-063</a:t>
            </a:r>
          </a:p>
          <a:p>
            <a:pPr algn="l"/>
            <a:r>
              <a:rPr sz="800" b="0" i="0">
                <a:solidFill>
                  <a:srgbClr val="6B6B6B"/>
                </a:solidFill>
                <a:latin typeface="Arial"/>
              </a:rPr>
              <a:t>Keputusan: T04-DEC-A13</a:t>
            </a:r>
          </a:p>
        </p:txBody>
      </p:sp>
      <p:sp>
        <p:nvSpPr>
          <p:cNvPr id="6" name="TextBox 5"/>
          <p:cNvSpPr txBox="1"/>
          <p:nvPr/>
        </p:nvSpPr>
        <p:spPr>
          <a:xfrm>
            <a:off x="457200" y="6150000"/>
            <a:ext cx="11277600" cy="500000"/>
          </a:xfrm>
          <a:prstGeom prst="rect">
            <a:avLst/>
          </a:prstGeom>
          <a:noFill/>
        </p:spPr>
        <p:txBody>
          <a:bodyPr wrap="square" lIns="0" rIns="0" tIns="0" bIns="0">
            <a:spAutoFit/>
          </a:bodyPr>
          <a:lstStyle/>
          <a:p>
            <a:pPr algn="l"/>
            <a:r>
              <a:rPr sz="900" b="0" i="0">
                <a:solidFill>
                  <a:srgbClr val="6B6B6B"/>
                </a:solidFill>
                <a:latin typeface="Arial"/>
              </a:rPr>
              <a:t>Topik 4 · skrin 13 daripada 22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T04-S14   ·   CLICK_TO_REVEAL</a:t>
            </a:r>
          </a:p>
          <a:p>
            <a:pPr algn="l"/>
            <a:r>
              <a:rPr sz="2400" b="1" i="0">
                <a:solidFill>
                  <a:srgbClr val="1A1A1A"/>
                </a:solidFill>
                <a:latin typeface="Arial"/>
              </a:rPr>
              <a:t>Racun — aspek pengurusan untuk kontraktor</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0000"/>
            <a:ext cx="6766560" cy="4600000"/>
          </a:xfrm>
          <a:prstGeom prst="rect">
            <a:avLst/>
          </a:prstGeom>
          <a:noFill/>
        </p:spPr>
        <p:txBody>
          <a:bodyPr wrap="square" lIns="0" rIns="0" tIns="0" bIns="0">
            <a:spAutoFit/>
          </a:bodyPr>
          <a:lstStyle/>
          <a:p>
            <a:pPr algn="l"/>
            <a:r>
              <a:rPr sz="1000" b="1" i="0">
                <a:solidFill>
                  <a:srgbClr val="6B6B6B"/>
                </a:solidFill>
                <a:latin typeface="Arial"/>
              </a:rPr>
              <a:t>KANDUNGAN SKRIN</a:t>
            </a:r>
          </a:p>
          <a:p>
            <a:pPr algn="l"/>
            <a:r>
              <a:rPr sz="1300" b="0" i="0">
                <a:solidFill>
                  <a:srgbClr val="0D47A1"/>
                </a:solidFill>
                <a:latin typeface="Arial"/>
              </a:rPr>
              <a:t>S · Aspek Pengurusan untuk Kontraktor:</a:t>
            </a:r>
          </a:p>
          <a:p>
            <a:pPr algn="l"/>
            <a:r>
              <a:rPr sz="1100" b="0" i="0">
                <a:solidFill>
                  <a:srgbClr val="6B6B6B"/>
                </a:solidFill>
                <a:latin typeface="Arial"/>
              </a:rPr>
              <a:t>u · Klik setiap tajuk untuk memaparkan maklumat.</a:t>
            </a:r>
          </a:p>
          <a:p>
            <a:pPr algn="l"/>
            <a:r>
              <a:rPr sz="1100" b="0" i="0">
                <a:solidFill>
                  <a:srgbClr val="6B6B6B"/>
                </a:solidFill>
                <a:latin typeface="Arial"/>
              </a:rPr>
              <a:t>u · Perundangan Dan Pelesenan</a:t>
            </a:r>
          </a:p>
          <a:p>
            <a:pPr algn="l"/>
            <a:r>
              <a:rPr sz="1100" b="0" i="0">
                <a:solidFill>
                  <a:srgbClr val="6B6B6B"/>
                </a:solidFill>
                <a:latin typeface="Arial"/>
              </a:rPr>
              <a:t>u · Keselamatan Dan Kesihatan (HSE)</a:t>
            </a:r>
          </a:p>
          <a:p>
            <a:pPr algn="l"/>
            <a:r>
              <a:rPr sz="1100" b="0" i="0">
                <a:solidFill>
                  <a:srgbClr val="6B6B6B"/>
                </a:solidFill>
                <a:latin typeface="Arial"/>
              </a:rPr>
              <a:t>u · Pengurusan Risiko</a:t>
            </a:r>
          </a:p>
          <a:p>
            <a:pPr algn="l"/>
            <a:r>
              <a:rPr sz="1100" b="0" i="0">
                <a:solidFill>
                  <a:srgbClr val="6B6B6B"/>
                </a:solidFill>
                <a:latin typeface="Arial"/>
              </a:rPr>
              <a:t>u · SETERUSNYA</a:t>
            </a:r>
          </a:p>
        </p:txBody>
      </p:sp>
      <p:sp>
        <p:nvSpPr>
          <p:cNvPr id="5" name="TextBox 4"/>
          <p:cNvSpPr txBox="1"/>
          <p:nvPr/>
        </p:nvSpPr>
        <p:spPr>
          <a:xfrm>
            <a:off x="7523760" y="1320000"/>
            <a:ext cx="4211040" cy="4600000"/>
          </a:xfrm>
          <a:prstGeom prst="rect">
            <a:avLst/>
          </a:prstGeom>
          <a:noFill/>
        </p:spPr>
        <p:txBody>
          <a:bodyPr wrap="square" lIns="0" rIns="0" tIns="0" bIns="0">
            <a:spAutoFit/>
          </a:bodyPr>
          <a:lstStyle/>
          <a:p>
            <a:pPr algn="l"/>
            <a:r>
              <a:rPr sz="1000" b="1" i="0">
                <a:solidFill>
                  <a:srgbClr val="6B6B6B"/>
                </a:solidFill>
                <a:latin typeface="Arial"/>
              </a:rPr>
              <a:t>INTERAKSI</a:t>
            </a:r>
          </a:p>
          <a:p>
            <a:pPr algn="l"/>
            <a:r>
              <a:rPr sz="1000" b="0" i="0">
                <a:solidFill>
                  <a:srgbClr val="1A1A1A"/>
                </a:solidFill>
                <a:latin typeface="Arial"/>
              </a:rPr>
              <a:t>· BASE</a:t>
            </a:r>
          </a:p>
          <a:p>
            <a:pPr algn="l"/>
            <a:r>
              <a:rPr sz="1000" b="0" i="0">
                <a:solidFill>
                  <a:srgbClr val="1A1A1A"/>
                </a:solidFill>
                <a:latin typeface="Arial"/>
              </a:rPr>
              <a:t>· ST-01</a:t>
            </a:r>
          </a:p>
          <a:p>
            <a:pPr algn="l"/>
            <a:r>
              <a:rPr sz="1000" b="0" i="0">
                <a:solidFill>
                  <a:srgbClr val="1A1A1A"/>
                </a:solidFill>
                <a:latin typeface="Arial"/>
              </a:rPr>
              <a:t>· ST-02</a:t>
            </a:r>
          </a:p>
          <a:p>
            <a:pPr algn="l"/>
            <a:r>
              <a:rPr sz="1000" b="0" i="0">
                <a:solidFill>
                  <a:srgbClr val="1A1A1A"/>
                </a:solidFill>
                <a:latin typeface="Arial"/>
              </a:rPr>
              <a:t>· ST-03</a:t>
            </a:r>
          </a:p>
          <a:p>
            <a:pPr algn="l"/>
            <a:r>
              <a:rPr sz="1000" b="0" i="0">
                <a:solidFill>
                  <a:srgbClr val="1A1A1A"/>
                </a:solidFill>
                <a:latin typeface="Arial"/>
              </a:rPr>
              <a:t>· ALL_VIEWED</a:t>
            </a:r>
          </a:p>
          <a:p>
            <a:pPr algn="l"/>
            <a:r>
              <a:rPr sz="1000" b="1" i="0">
                <a:solidFill>
                  <a:srgbClr val="6B6B6B"/>
                </a:solidFill>
                <a:latin typeface="Arial"/>
              </a:rPr>
              <a:t>Item pendedahan:</a:t>
            </a:r>
          </a:p>
          <a:p>
            <a:pPr algn="l"/>
            <a:r>
              <a:rPr sz="1000" b="0" i="0">
                <a:solidFill>
                  <a:srgbClr val="1A1A1A"/>
                </a:solidFill>
                <a:latin typeface="Arial"/>
              </a:rPr>
              <a:t>· Perundangan Dan Pelesenan</a:t>
            </a:r>
          </a:p>
          <a:p>
            <a:pPr algn="l"/>
            <a:r>
              <a:rPr sz="1000" b="0" i="0">
                <a:solidFill>
                  <a:srgbClr val="1A1A1A"/>
                </a:solidFill>
                <a:latin typeface="Arial"/>
              </a:rPr>
              <a:t>· Keselamatan Dan Kesihatan (HSE)</a:t>
            </a:r>
          </a:p>
          <a:p>
            <a:pPr algn="l"/>
            <a:r>
              <a:rPr sz="1000" b="0" i="0">
                <a:solidFill>
                  <a:srgbClr val="1A1A1A"/>
                </a:solidFill>
                <a:latin typeface="Arial"/>
              </a:rPr>
              <a:t>· Pengurusan Risiko</a:t>
            </a:r>
          </a:p>
          <a:p>
            <a:pPr algn="l"/>
            <a:r>
              <a:rPr sz="800" b="0" i="0">
                <a:solidFill>
                  <a:srgbClr val="1A1A1A"/>
                </a:solidFill>
                <a:latin typeface="Arial"/>
              </a:rPr>
              <a:t/>
            </a:r>
          </a:p>
          <a:p>
            <a:pPr algn="l"/>
            <a:r>
              <a:rPr sz="1000" b="1" i="0">
                <a:solidFill>
                  <a:srgbClr val="6B6B6B"/>
                </a:solidFill>
                <a:latin typeface="Arial"/>
              </a:rPr>
              <a:t>VISUAL</a:t>
            </a:r>
          </a:p>
          <a:p>
            <a:pPr algn="l"/>
            <a:r>
              <a:rPr sz="1100" b="1" i="0">
                <a:solidFill>
                  <a:srgbClr val="1A1A1A"/>
                </a:solidFill>
                <a:latin typeface="Arial"/>
              </a:rPr>
              <a:t>AG-06</a:t>
            </a:r>
          </a:p>
          <a:p>
            <a:pPr algn="l"/>
            <a:r>
              <a:rPr sz="1000" b="0" i="0">
                <a:solidFill>
                  <a:srgbClr val="1A1A1A"/>
                </a:solidFill>
                <a:latin typeface="Arial"/>
              </a:rPr>
              <a:t>Racun — perundangan, HSE dan risiko</a:t>
            </a:r>
          </a:p>
          <a:p>
            <a:pPr algn="l"/>
            <a:r>
              <a:rPr sz="900" b="0" i="0">
                <a:solidFill>
                  <a:srgbClr val="6B6B6B"/>
                </a:solidFill>
                <a:latin typeface="Arial"/>
              </a:rPr>
              <a:t>Dasar guna semula: REUSE_WITH_CONDITIONS</a:t>
            </a:r>
          </a:p>
          <a:p>
            <a:pPr algn="l"/>
            <a:r>
              <a:rPr sz="1000" b="1" i="0">
                <a:solidFill>
                  <a:srgbClr val="B71C1C"/>
                </a:solidFill>
                <a:latin typeface="Arial"/>
              </a:rPr>
              <a:t>ASET BELUM DIHASILKAN</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6B6B6B"/>
                </a:solidFill>
                <a:latin typeface="Arial"/>
              </a:rPr>
              <a:t>Baris modul: T04-ROW-064</a:t>
            </a:r>
          </a:p>
          <a:p>
            <a:pPr algn="l"/>
            <a:r>
              <a:rPr sz="800" b="0" i="0">
                <a:solidFill>
                  <a:srgbClr val="6B6B6B"/>
                </a:solidFill>
                <a:latin typeface="Arial"/>
              </a:rPr>
              <a:t>Keputusan: T04-DEC-A14</a:t>
            </a:r>
          </a:p>
        </p:txBody>
      </p:sp>
      <p:sp>
        <p:nvSpPr>
          <p:cNvPr id="6" name="TextBox 5"/>
          <p:cNvSpPr txBox="1"/>
          <p:nvPr/>
        </p:nvSpPr>
        <p:spPr>
          <a:xfrm>
            <a:off x="457200" y="6150000"/>
            <a:ext cx="11277600" cy="500000"/>
          </a:xfrm>
          <a:prstGeom prst="rect">
            <a:avLst/>
          </a:prstGeom>
          <a:noFill/>
        </p:spPr>
        <p:txBody>
          <a:bodyPr wrap="square" lIns="0" rIns="0" tIns="0" bIns="0">
            <a:spAutoFit/>
          </a:bodyPr>
          <a:lstStyle/>
          <a:p>
            <a:pPr algn="l"/>
            <a:r>
              <a:rPr sz="900" b="0" i="0">
                <a:solidFill>
                  <a:srgbClr val="6B6B6B"/>
                </a:solidFill>
                <a:latin typeface="Arial"/>
              </a:rPr>
              <a:t>Topik 4 · skrin 14 daripada 22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T04-S15   ·   CONTENT_STATIC</a:t>
            </a:r>
          </a:p>
          <a:p>
            <a:pPr algn="l"/>
            <a:r>
              <a:rPr sz="2400" b="1" i="0">
                <a:solidFill>
                  <a:srgbClr val="1A1A1A"/>
                </a:solidFill>
                <a:latin typeface="Arial"/>
              </a:rPr>
              <a:t>Racun — perundangan dan pelesenan</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0000"/>
            <a:ext cx="6766560" cy="4600000"/>
          </a:xfrm>
          <a:prstGeom prst="rect">
            <a:avLst/>
          </a:prstGeom>
          <a:noFill/>
        </p:spPr>
        <p:txBody>
          <a:bodyPr wrap="square" lIns="0" rIns="0" tIns="0" bIns="0">
            <a:spAutoFit/>
          </a:bodyPr>
          <a:lstStyle/>
          <a:p>
            <a:pPr algn="l"/>
            <a:r>
              <a:rPr sz="1000" b="1" i="0">
                <a:solidFill>
                  <a:srgbClr val="6B6B6B"/>
                </a:solidFill>
                <a:latin typeface="Arial"/>
              </a:rPr>
              <a:t>KANDUNGAN SKRIN</a:t>
            </a:r>
          </a:p>
          <a:p>
            <a:pPr algn="l"/>
            <a:r>
              <a:rPr sz="1300" b="0" i="0">
                <a:solidFill>
                  <a:srgbClr val="0D47A1"/>
                </a:solidFill>
                <a:latin typeface="Arial"/>
              </a:rPr>
              <a:t>S · Perundangan dan Pelesenan</a:t>
            </a:r>
          </a:p>
          <a:p>
            <a:pPr algn="l"/>
            <a:r>
              <a:rPr sz="1300" b="0" i="0">
                <a:solidFill>
                  <a:srgbClr val="0D47A1"/>
                </a:solidFill>
                <a:latin typeface="Arial"/>
              </a:rPr>
              <a:t>S · Penggunaan racun kimia dikawal oleh Akta Racun Makhluk Perosak 1974.</a:t>
            </a:r>
          </a:p>
          <a:p>
            <a:pPr algn="l"/>
            <a:r>
              <a:rPr sz="1300" b="0" i="0">
                <a:solidFill>
                  <a:srgbClr val="0D47A1"/>
                </a:solidFill>
                <a:latin typeface="Arial"/>
              </a:rPr>
              <a:t>S · Kontraktor mesti memastikan pekerja yang menjalankan semburan racun adalah pengendali racun berlesen atau sekurang-kurangnya telah menerima latihan dan di bawah seliaan pemegang lesen. Ini adalah satu kewajipan undang-undang.</a:t>
            </a:r>
          </a:p>
          <a:p>
            <a:pPr algn="l"/>
            <a:r>
              <a:rPr sz="1100" b="0" i="0">
                <a:solidFill>
                  <a:srgbClr val="6B6B6B"/>
                </a:solidFill>
                <a:latin typeface="Arial"/>
              </a:rPr>
              <a:t>u · SETERUSNYA</a:t>
            </a:r>
          </a:p>
        </p:txBody>
      </p:sp>
      <p:sp>
        <p:nvSpPr>
          <p:cNvPr id="5" name="TextBox 4"/>
          <p:cNvSpPr txBox="1"/>
          <p:nvPr/>
        </p:nvSpPr>
        <p:spPr>
          <a:xfrm>
            <a:off x="7523760" y="1320000"/>
            <a:ext cx="4211040" cy="4600000"/>
          </a:xfrm>
          <a:prstGeom prst="rect">
            <a:avLst/>
          </a:prstGeom>
          <a:noFill/>
        </p:spPr>
        <p:txBody>
          <a:bodyPr wrap="square" lIns="0" rIns="0" tIns="0" bIns="0">
            <a:spAutoFit/>
          </a:bodyPr>
          <a:lstStyle/>
          <a:p>
            <a:pPr algn="l"/>
            <a:r>
              <a:rPr sz="1000" b="1" i="0">
                <a:solidFill>
                  <a:srgbClr val="6B6B6B"/>
                </a:solidFill>
                <a:latin typeface="Arial"/>
              </a:rPr>
              <a:t>INTERAKSI</a:t>
            </a:r>
          </a:p>
          <a:p>
            <a:pPr algn="l"/>
            <a:r>
              <a:rPr sz="1000" b="0" i="0">
                <a:solidFill>
                  <a:srgbClr val="1A1A1A"/>
                </a:solidFill>
                <a:latin typeface="Arial"/>
              </a:rPr>
              <a:t>· BASE only</a:t>
            </a:r>
          </a:p>
          <a:p>
            <a:pPr algn="l"/>
            <a:r>
              <a:rPr sz="800" b="0" i="0">
                <a:solidFill>
                  <a:srgbClr val="1A1A1A"/>
                </a:solidFill>
                <a:latin typeface="Arial"/>
              </a:rPr>
              <a:t/>
            </a:r>
          </a:p>
          <a:p>
            <a:pPr algn="l"/>
            <a:r>
              <a:rPr sz="1000" b="1" i="0">
                <a:solidFill>
                  <a:srgbClr val="6B6B6B"/>
                </a:solidFill>
                <a:latin typeface="Arial"/>
              </a:rPr>
              <a:t>VISUAL</a:t>
            </a:r>
          </a:p>
          <a:p>
            <a:pPr algn="l"/>
            <a:r>
              <a:rPr sz="1100" b="1" i="0">
                <a:solidFill>
                  <a:srgbClr val="1A1A1A"/>
                </a:solidFill>
                <a:latin typeface="Arial"/>
              </a:rPr>
              <a:t>AG-06</a:t>
            </a:r>
          </a:p>
          <a:p>
            <a:pPr algn="l"/>
            <a:r>
              <a:rPr sz="1000" b="0" i="0">
                <a:solidFill>
                  <a:srgbClr val="1A1A1A"/>
                </a:solidFill>
                <a:latin typeface="Arial"/>
              </a:rPr>
              <a:t>Racun — perundangan, HSE dan risiko</a:t>
            </a:r>
          </a:p>
          <a:p>
            <a:pPr algn="l"/>
            <a:r>
              <a:rPr sz="900" b="0" i="0">
                <a:solidFill>
                  <a:srgbClr val="6B6B6B"/>
                </a:solidFill>
                <a:latin typeface="Arial"/>
              </a:rPr>
              <a:t>Dasar guna semula: REUSE_WITH_CONDITIONS</a:t>
            </a:r>
          </a:p>
          <a:p>
            <a:pPr algn="l"/>
            <a:r>
              <a:rPr sz="1000" b="1" i="0">
                <a:solidFill>
                  <a:srgbClr val="B71C1C"/>
                </a:solidFill>
                <a:latin typeface="Arial"/>
              </a:rPr>
              <a:t>ASET BELUM DIHASILKAN</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6B6B6B"/>
                </a:solidFill>
                <a:latin typeface="Arial"/>
              </a:rPr>
              <a:t>Baris modul: T04-ROW-065, T04-ROW-066, T04-ROW-067</a:t>
            </a:r>
          </a:p>
          <a:p>
            <a:pPr algn="l"/>
            <a:r>
              <a:rPr sz="800" b="0" i="0">
                <a:solidFill>
                  <a:srgbClr val="6B6B6B"/>
                </a:solidFill>
                <a:latin typeface="Arial"/>
              </a:rPr>
              <a:t>Keputusan: T04-DEC-A15</a:t>
            </a:r>
          </a:p>
        </p:txBody>
      </p:sp>
      <p:sp>
        <p:nvSpPr>
          <p:cNvPr id="6" name="TextBox 5"/>
          <p:cNvSpPr txBox="1"/>
          <p:nvPr/>
        </p:nvSpPr>
        <p:spPr>
          <a:xfrm>
            <a:off x="457200" y="6150000"/>
            <a:ext cx="11277600" cy="500000"/>
          </a:xfrm>
          <a:prstGeom prst="rect">
            <a:avLst/>
          </a:prstGeom>
          <a:noFill/>
        </p:spPr>
        <p:txBody>
          <a:bodyPr wrap="square" lIns="0" rIns="0" tIns="0" bIns="0">
            <a:spAutoFit/>
          </a:bodyPr>
          <a:lstStyle/>
          <a:p>
            <a:pPr algn="l"/>
            <a:r>
              <a:rPr sz="900" b="0" i="0">
                <a:solidFill>
                  <a:srgbClr val="6B6B6B"/>
                </a:solidFill>
                <a:latin typeface="Arial"/>
              </a:rPr>
              <a:t>Topik 4 · skrin 15 daripada 22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T04-S16   ·   CLICK_TO_REVEAL</a:t>
            </a:r>
          </a:p>
          <a:p>
            <a:pPr algn="l"/>
            <a:r>
              <a:rPr sz="2400" b="1" i="0">
                <a:solidFill>
                  <a:srgbClr val="1A1A1A"/>
                </a:solidFill>
                <a:latin typeface="Arial"/>
              </a:rPr>
              <a:t>Racun — keselamatan dan kesihatan (HSE)</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0000"/>
            <a:ext cx="6766560" cy="4600000"/>
          </a:xfrm>
          <a:prstGeom prst="rect">
            <a:avLst/>
          </a:prstGeom>
          <a:noFill/>
        </p:spPr>
        <p:txBody>
          <a:bodyPr wrap="square" lIns="0" rIns="0" tIns="0" bIns="0">
            <a:spAutoFit/>
          </a:bodyPr>
          <a:lstStyle/>
          <a:p>
            <a:pPr algn="l"/>
            <a:r>
              <a:rPr sz="1000" b="1" i="0">
                <a:solidFill>
                  <a:srgbClr val="6B6B6B"/>
                </a:solidFill>
                <a:latin typeface="Arial"/>
              </a:rPr>
              <a:t>KANDUNGAN SKRIN</a:t>
            </a:r>
          </a:p>
          <a:p>
            <a:pPr algn="l"/>
            <a:r>
              <a:rPr sz="1300" b="0" i="0">
                <a:solidFill>
                  <a:srgbClr val="0D47A1"/>
                </a:solidFill>
                <a:latin typeface="Arial"/>
              </a:rPr>
              <a:t>S · Keselamatan dan Kesihatan (HSE)</a:t>
            </a:r>
          </a:p>
          <a:p>
            <a:pPr algn="l"/>
            <a:r>
              <a:rPr sz="1300" b="0" i="0">
                <a:solidFill>
                  <a:srgbClr val="0D47A1"/>
                </a:solidFill>
                <a:latin typeface="Arial"/>
              </a:rPr>
              <a:t>S · PPE Lengkap</a:t>
            </a:r>
          </a:p>
          <a:p>
            <a:pPr algn="l"/>
            <a:r>
              <a:rPr sz="1300" b="0" i="0">
                <a:solidFill>
                  <a:srgbClr val="0D47A1"/>
                </a:solidFill>
                <a:latin typeface="Arial"/>
              </a:rPr>
              <a:t>S · Memastikan pekerja memakai PPE yang lengkap dan bersesuaian (topeng pernafasan, cermin mata keselamatan, sarung tangan kimia, sut pelindung).</a:t>
            </a:r>
          </a:p>
          <a:p>
            <a:pPr algn="l"/>
            <a:r>
              <a:rPr sz="1300" b="0" i="0">
                <a:solidFill>
                  <a:srgbClr val="0D47A1"/>
                </a:solidFill>
                <a:latin typeface="Arial"/>
              </a:rPr>
              <a:t>S · Penyimpanan &amp; Pelupusan</a:t>
            </a:r>
          </a:p>
          <a:p>
            <a:pPr algn="l"/>
            <a:r>
              <a:rPr sz="1300" b="0" i="0">
                <a:solidFill>
                  <a:srgbClr val="0D47A1"/>
                </a:solidFill>
                <a:latin typeface="Arial"/>
              </a:rPr>
              <a:t>S · Racun mesti disimpan di dalam stor berkunci, berlabel, dan mempunyai pengudaraan yang baik. Bekas racun kosong tidak boleh digunakan semula dan mesti dilupuskan mengikut peraturan Jabatan Alam Sekitar (JAS).</a:t>
            </a:r>
          </a:p>
          <a:p>
            <a:pPr algn="l"/>
            <a:r>
              <a:rPr sz="1300" b="0" i="0">
                <a:solidFill>
                  <a:srgbClr val="0D47A1"/>
                </a:solidFill>
                <a:latin typeface="Arial"/>
              </a:rPr>
              <a:t>S · Helaian Data Keselamatan (SDS)</a:t>
            </a:r>
          </a:p>
          <a:p>
            <a:pPr algn="l"/>
            <a:r>
              <a:rPr sz="1300" b="0" i="0">
                <a:solidFill>
                  <a:srgbClr val="0D47A1"/>
                </a:solidFill>
                <a:latin typeface="Arial"/>
              </a:rPr>
              <a:t>S · Kontraktor wajib menyimpan Salinan SDS untuk setiap racun yang digunakan di tapak dan memastikan pekerja memahaminya.</a:t>
            </a:r>
          </a:p>
          <a:p>
            <a:pPr algn="l"/>
            <a:r>
              <a:rPr sz="1100" b="0" i="0">
                <a:solidFill>
                  <a:srgbClr val="6B6B6B"/>
                </a:solidFill>
                <a:latin typeface="Arial"/>
              </a:rPr>
              <a:t>u · Klik setiap tajuk untuk memaparkan maklumat.</a:t>
            </a:r>
          </a:p>
          <a:p>
            <a:pPr algn="l"/>
            <a:r>
              <a:rPr sz="1100" b="0" i="0">
                <a:solidFill>
                  <a:srgbClr val="6B6B6B"/>
                </a:solidFill>
                <a:latin typeface="Arial"/>
              </a:rPr>
              <a:t>u · PPE Lengkap</a:t>
            </a:r>
          </a:p>
          <a:p>
            <a:pPr algn="l"/>
            <a:r>
              <a:rPr sz="1100" b="0" i="0">
                <a:solidFill>
                  <a:srgbClr val="6B6B6B"/>
                </a:solidFill>
                <a:latin typeface="Arial"/>
              </a:rPr>
              <a:t>u · Penyimpanan Dan Pelupusan</a:t>
            </a:r>
          </a:p>
          <a:p>
            <a:pPr algn="l"/>
            <a:r>
              <a:rPr sz="1100" b="0" i="0">
                <a:solidFill>
                  <a:srgbClr val="6B6B6B"/>
                </a:solidFill>
                <a:latin typeface="Arial"/>
              </a:rPr>
              <a:t>u · Helaian Data Keselamatan (SDS)</a:t>
            </a:r>
          </a:p>
          <a:p>
            <a:pPr algn="l"/>
            <a:r>
              <a:rPr sz="1100" b="0" i="0">
                <a:solidFill>
                  <a:srgbClr val="6B6B6B"/>
                </a:solidFill>
                <a:latin typeface="Arial"/>
              </a:rPr>
              <a:t>u · SETERUSNYA</a:t>
            </a:r>
          </a:p>
        </p:txBody>
      </p:sp>
      <p:sp>
        <p:nvSpPr>
          <p:cNvPr id="5" name="TextBox 4"/>
          <p:cNvSpPr txBox="1"/>
          <p:nvPr/>
        </p:nvSpPr>
        <p:spPr>
          <a:xfrm>
            <a:off x="7523760" y="1320000"/>
            <a:ext cx="4211040" cy="4600000"/>
          </a:xfrm>
          <a:prstGeom prst="rect">
            <a:avLst/>
          </a:prstGeom>
          <a:noFill/>
        </p:spPr>
        <p:txBody>
          <a:bodyPr wrap="square" lIns="0" rIns="0" tIns="0" bIns="0">
            <a:spAutoFit/>
          </a:bodyPr>
          <a:lstStyle/>
          <a:p>
            <a:pPr algn="l"/>
            <a:r>
              <a:rPr sz="1000" b="1" i="0">
                <a:solidFill>
                  <a:srgbClr val="6B6B6B"/>
                </a:solidFill>
                <a:latin typeface="Arial"/>
              </a:rPr>
              <a:t>INTERAKSI</a:t>
            </a:r>
          </a:p>
          <a:p>
            <a:pPr algn="l"/>
            <a:r>
              <a:rPr sz="1000" b="0" i="0">
                <a:solidFill>
                  <a:srgbClr val="1A1A1A"/>
                </a:solidFill>
                <a:latin typeface="Arial"/>
              </a:rPr>
              <a:t>· BASE</a:t>
            </a:r>
          </a:p>
          <a:p>
            <a:pPr algn="l"/>
            <a:r>
              <a:rPr sz="1000" b="0" i="0">
                <a:solidFill>
                  <a:srgbClr val="1A1A1A"/>
                </a:solidFill>
                <a:latin typeface="Arial"/>
              </a:rPr>
              <a:t>· REVEAL_PPE_LENGKAP</a:t>
            </a:r>
          </a:p>
          <a:p>
            <a:pPr algn="l"/>
            <a:r>
              <a:rPr sz="1000" b="0" i="0">
                <a:solidFill>
                  <a:srgbClr val="1A1A1A"/>
                </a:solidFill>
                <a:latin typeface="Arial"/>
              </a:rPr>
              <a:t>· REVEAL_PENYIMPANAN_DAN_PELUPUSAN</a:t>
            </a:r>
          </a:p>
          <a:p>
            <a:pPr algn="l"/>
            <a:r>
              <a:rPr sz="1000" b="0" i="0">
                <a:solidFill>
                  <a:srgbClr val="1A1A1A"/>
                </a:solidFill>
                <a:latin typeface="Arial"/>
              </a:rPr>
              <a:t>· REVEAL_SDS</a:t>
            </a:r>
          </a:p>
          <a:p>
            <a:pPr algn="l"/>
            <a:r>
              <a:rPr sz="1000" b="0" i="0">
                <a:solidFill>
                  <a:srgbClr val="1A1A1A"/>
                </a:solidFill>
                <a:latin typeface="Arial"/>
              </a:rPr>
              <a:t>· ALL_VIEWED</a:t>
            </a:r>
          </a:p>
          <a:p>
            <a:pPr algn="l"/>
            <a:r>
              <a:rPr sz="1000" b="1" i="0">
                <a:solidFill>
                  <a:srgbClr val="6B6B6B"/>
                </a:solidFill>
                <a:latin typeface="Arial"/>
              </a:rPr>
              <a:t>Item pendedahan:</a:t>
            </a:r>
          </a:p>
          <a:p>
            <a:pPr algn="l"/>
            <a:r>
              <a:rPr sz="1000" b="0" i="0">
                <a:solidFill>
                  <a:srgbClr val="1A1A1A"/>
                </a:solidFill>
                <a:latin typeface="Arial"/>
              </a:rPr>
              <a:t>· PPE Lengkap</a:t>
            </a:r>
          </a:p>
          <a:p>
            <a:pPr algn="l"/>
            <a:r>
              <a:rPr sz="1000" b="0" i="0">
                <a:solidFill>
                  <a:srgbClr val="1A1A1A"/>
                </a:solidFill>
                <a:latin typeface="Arial"/>
              </a:rPr>
              <a:t>· Penyimpanan Dan Pelupusan</a:t>
            </a:r>
          </a:p>
          <a:p>
            <a:pPr algn="l"/>
            <a:r>
              <a:rPr sz="1000" b="0" i="0">
                <a:solidFill>
                  <a:srgbClr val="1A1A1A"/>
                </a:solidFill>
                <a:latin typeface="Arial"/>
              </a:rPr>
              <a:t>· Helaian Data Keselamatan (SDS)</a:t>
            </a:r>
          </a:p>
          <a:p>
            <a:pPr algn="l"/>
            <a:r>
              <a:rPr sz="800" b="0" i="0">
                <a:solidFill>
                  <a:srgbClr val="1A1A1A"/>
                </a:solidFill>
                <a:latin typeface="Arial"/>
              </a:rPr>
              <a:t/>
            </a:r>
          </a:p>
          <a:p>
            <a:pPr algn="l"/>
            <a:r>
              <a:rPr sz="1000" b="1" i="0">
                <a:solidFill>
                  <a:srgbClr val="6B6B6B"/>
                </a:solidFill>
                <a:latin typeface="Arial"/>
              </a:rPr>
              <a:t>VISUAL</a:t>
            </a:r>
          </a:p>
          <a:p>
            <a:pPr algn="l"/>
            <a:r>
              <a:rPr sz="1100" b="1" i="0">
                <a:solidFill>
                  <a:srgbClr val="1A1A1A"/>
                </a:solidFill>
                <a:latin typeface="Arial"/>
              </a:rPr>
              <a:t>AG-06</a:t>
            </a:r>
          </a:p>
          <a:p>
            <a:pPr algn="l"/>
            <a:r>
              <a:rPr sz="1000" b="0" i="0">
                <a:solidFill>
                  <a:srgbClr val="1A1A1A"/>
                </a:solidFill>
                <a:latin typeface="Arial"/>
              </a:rPr>
              <a:t>Racun — perundangan, HSE dan risiko</a:t>
            </a:r>
          </a:p>
          <a:p>
            <a:pPr algn="l"/>
            <a:r>
              <a:rPr sz="900" b="0" i="0">
                <a:solidFill>
                  <a:srgbClr val="6B6B6B"/>
                </a:solidFill>
                <a:latin typeface="Arial"/>
              </a:rPr>
              <a:t>Dasar guna semula: REUSE_NOT_ALLOWED_FOR_NAMED_ITEMS</a:t>
            </a:r>
          </a:p>
          <a:p>
            <a:pPr algn="l"/>
            <a:r>
              <a:rPr sz="900" b="1" i="0">
                <a:solidFill>
                  <a:srgbClr val="B71C1C"/>
                </a:solidFill>
                <a:latin typeface="Arial"/>
              </a:rPr>
              <a:t>TIDAK BOLEH DIKONGSI: T04-VO-040</a:t>
            </a:r>
          </a:p>
          <a:p>
            <a:pPr algn="l"/>
            <a:r>
              <a:rPr sz="1000" b="1" i="0">
                <a:solidFill>
                  <a:srgbClr val="B71C1C"/>
                </a:solidFill>
                <a:latin typeface="Arial"/>
              </a:rPr>
              <a:t>ASET BELUM DIHASILKAN</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6B6B6B"/>
                </a:solidFill>
                <a:latin typeface="Arial"/>
              </a:rPr>
              <a:t>Baris modul: T04-ROW-068, T04-ROW-069, T04-ROW-070, T04-ROW-071, T04-ROW-072, T04-ROW-073, T04-ROW-074</a:t>
            </a:r>
          </a:p>
          <a:p>
            <a:pPr algn="l"/>
            <a:r>
              <a:rPr sz="800" b="0" i="0">
                <a:solidFill>
                  <a:srgbClr val="6B6B6B"/>
                </a:solidFill>
                <a:latin typeface="Arial"/>
              </a:rPr>
              <a:t>Keputusan: T04-DEC-A16</a:t>
            </a:r>
          </a:p>
        </p:txBody>
      </p:sp>
      <p:sp>
        <p:nvSpPr>
          <p:cNvPr id="6" name="TextBox 5"/>
          <p:cNvSpPr txBox="1"/>
          <p:nvPr/>
        </p:nvSpPr>
        <p:spPr>
          <a:xfrm>
            <a:off x="457200" y="6150000"/>
            <a:ext cx="11277600" cy="500000"/>
          </a:xfrm>
          <a:prstGeom prst="rect">
            <a:avLst/>
          </a:prstGeom>
          <a:noFill/>
        </p:spPr>
        <p:txBody>
          <a:bodyPr wrap="square" lIns="0" rIns="0" tIns="0" bIns="0">
            <a:spAutoFit/>
          </a:bodyPr>
          <a:lstStyle/>
          <a:p>
            <a:pPr algn="l"/>
            <a:r>
              <a:rPr sz="900" b="0" i="0">
                <a:solidFill>
                  <a:srgbClr val="6B6B6B"/>
                </a:solidFill>
                <a:latin typeface="Arial"/>
              </a:rPr>
              <a:t>Topik 4 · skrin 16 daripada 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T04-S17   ·   CONTENT_STATIC</a:t>
            </a:r>
          </a:p>
          <a:p>
            <a:pPr algn="l"/>
            <a:r>
              <a:rPr sz="2400" b="1" i="0">
                <a:solidFill>
                  <a:srgbClr val="1A1A1A"/>
                </a:solidFill>
                <a:latin typeface="Arial"/>
              </a:rPr>
              <a:t>Racun — pengurusan risiko</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0000"/>
            <a:ext cx="6766560" cy="4600000"/>
          </a:xfrm>
          <a:prstGeom prst="rect">
            <a:avLst/>
          </a:prstGeom>
          <a:noFill/>
        </p:spPr>
        <p:txBody>
          <a:bodyPr wrap="square" lIns="0" rIns="0" tIns="0" bIns="0">
            <a:spAutoFit/>
          </a:bodyPr>
          <a:lstStyle/>
          <a:p>
            <a:pPr algn="l"/>
            <a:r>
              <a:rPr sz="1000" b="1" i="0">
                <a:solidFill>
                  <a:srgbClr val="6B6B6B"/>
                </a:solidFill>
                <a:latin typeface="Arial"/>
              </a:rPr>
              <a:t>KANDUNGAN SKRIN</a:t>
            </a:r>
          </a:p>
          <a:p>
            <a:pPr algn="l"/>
            <a:r>
              <a:rPr sz="1300" b="0" i="0">
                <a:solidFill>
                  <a:srgbClr val="0D47A1"/>
                </a:solidFill>
                <a:latin typeface="Arial"/>
              </a:rPr>
              <a:t>S · Pengurusan Risiko</a:t>
            </a:r>
          </a:p>
          <a:p>
            <a:pPr algn="l"/>
            <a:r>
              <a:rPr sz="1300" b="0" i="0">
                <a:solidFill>
                  <a:srgbClr val="0D47A1"/>
                </a:solidFill>
                <a:latin typeface="Arial"/>
              </a:rPr>
              <a:t>S · Semburan hanya boleh dilakukan semasa cuaca tenang (tidak berangin) untuk mengelakkan spray drift.</a:t>
            </a:r>
          </a:p>
          <a:p>
            <a:pPr algn="l"/>
            <a:r>
              <a:rPr sz="1300" b="0" i="0">
                <a:solidFill>
                  <a:srgbClr val="0D47A1"/>
                </a:solidFill>
                <a:latin typeface="Arial"/>
              </a:rPr>
              <a:t>S · Maklumkan kepada pihak pengurusan bangunan atau penduduk sekitar sebelum aktiviti semburan dijalankan. Letakkan papan tanda amaran di kawasan kerja.</a:t>
            </a:r>
          </a:p>
          <a:p>
            <a:pPr algn="l"/>
            <a:r>
              <a:rPr sz="1300" b="0" i="0">
                <a:solidFill>
                  <a:srgbClr val="0D47A1"/>
                </a:solidFill>
                <a:latin typeface="Arial"/>
              </a:rPr>
              <a:t>S · Pelaporan: Menyimpan rekod lengkap bagi setiap aktiviti semburan, termasuk: tarikh, lokasi, jenis racun, kadar bancuhan, nama pengendali, dan keadaan cuaca. Rekod ini amat penting untuk tujuan audit keselamatan dan liabiliti.</a:t>
            </a:r>
          </a:p>
          <a:p>
            <a:pPr algn="l"/>
            <a:r>
              <a:rPr sz="1100" b="0" i="0">
                <a:solidFill>
                  <a:srgbClr val="6B6B6B"/>
                </a:solidFill>
                <a:latin typeface="Arial"/>
              </a:rPr>
              <a:t>u · SETERUSNYA</a:t>
            </a:r>
          </a:p>
        </p:txBody>
      </p:sp>
      <p:sp>
        <p:nvSpPr>
          <p:cNvPr id="5" name="TextBox 4"/>
          <p:cNvSpPr txBox="1"/>
          <p:nvPr/>
        </p:nvSpPr>
        <p:spPr>
          <a:xfrm>
            <a:off x="7523760" y="1320000"/>
            <a:ext cx="4211040" cy="4600000"/>
          </a:xfrm>
          <a:prstGeom prst="rect">
            <a:avLst/>
          </a:prstGeom>
          <a:noFill/>
        </p:spPr>
        <p:txBody>
          <a:bodyPr wrap="square" lIns="0" rIns="0" tIns="0" bIns="0">
            <a:spAutoFit/>
          </a:bodyPr>
          <a:lstStyle/>
          <a:p>
            <a:pPr algn="l"/>
            <a:r>
              <a:rPr sz="1000" b="1" i="0">
                <a:solidFill>
                  <a:srgbClr val="6B6B6B"/>
                </a:solidFill>
                <a:latin typeface="Arial"/>
              </a:rPr>
              <a:t>INTERAKSI</a:t>
            </a:r>
          </a:p>
          <a:p>
            <a:pPr algn="l"/>
            <a:r>
              <a:rPr sz="1000" b="0" i="0">
                <a:solidFill>
                  <a:srgbClr val="1A1A1A"/>
                </a:solidFill>
                <a:latin typeface="Arial"/>
              </a:rPr>
              <a:t>· BASE only</a:t>
            </a:r>
          </a:p>
          <a:p>
            <a:pPr algn="l"/>
            <a:r>
              <a:rPr sz="800" b="0" i="0">
                <a:solidFill>
                  <a:srgbClr val="1A1A1A"/>
                </a:solidFill>
                <a:latin typeface="Arial"/>
              </a:rPr>
              <a:t/>
            </a:r>
          </a:p>
          <a:p>
            <a:pPr algn="l"/>
            <a:r>
              <a:rPr sz="1000" b="1" i="0">
                <a:solidFill>
                  <a:srgbClr val="6B6B6B"/>
                </a:solidFill>
                <a:latin typeface="Arial"/>
              </a:rPr>
              <a:t>VISUAL</a:t>
            </a:r>
          </a:p>
          <a:p>
            <a:pPr algn="l"/>
            <a:r>
              <a:rPr sz="1100" b="1" i="0">
                <a:solidFill>
                  <a:srgbClr val="1A1A1A"/>
                </a:solidFill>
                <a:latin typeface="Arial"/>
              </a:rPr>
              <a:t>AG-06</a:t>
            </a:r>
          </a:p>
          <a:p>
            <a:pPr algn="l"/>
            <a:r>
              <a:rPr sz="1000" b="0" i="0">
                <a:solidFill>
                  <a:srgbClr val="1A1A1A"/>
                </a:solidFill>
                <a:latin typeface="Arial"/>
              </a:rPr>
              <a:t>Racun — perundangan, HSE dan risiko</a:t>
            </a:r>
          </a:p>
          <a:p>
            <a:pPr algn="l"/>
            <a:r>
              <a:rPr sz="900" b="0" i="0">
                <a:solidFill>
                  <a:srgbClr val="6B6B6B"/>
                </a:solidFill>
                <a:latin typeface="Arial"/>
              </a:rPr>
              <a:t>Dasar guna semula: REUSE_WITH_CONDITIONS</a:t>
            </a:r>
          </a:p>
          <a:p>
            <a:pPr algn="l"/>
            <a:r>
              <a:rPr sz="1000" b="1" i="0">
                <a:solidFill>
                  <a:srgbClr val="B71C1C"/>
                </a:solidFill>
                <a:latin typeface="Arial"/>
              </a:rPr>
              <a:t>ASET BELUM DIHASILKAN</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6B6B6B"/>
                </a:solidFill>
                <a:latin typeface="Arial"/>
              </a:rPr>
              <a:t>Baris modul: T04-ROW-075, T04-ROW-076, T04-ROW-077, T04-ROW-078</a:t>
            </a:r>
          </a:p>
          <a:p>
            <a:pPr algn="l"/>
            <a:r>
              <a:rPr sz="800" b="0" i="0">
                <a:solidFill>
                  <a:srgbClr val="6B6B6B"/>
                </a:solidFill>
                <a:latin typeface="Arial"/>
              </a:rPr>
              <a:t>Keputusan: T04-DEC-A17</a:t>
            </a:r>
          </a:p>
        </p:txBody>
      </p:sp>
      <p:sp>
        <p:nvSpPr>
          <p:cNvPr id="6" name="TextBox 5"/>
          <p:cNvSpPr txBox="1"/>
          <p:nvPr/>
        </p:nvSpPr>
        <p:spPr>
          <a:xfrm>
            <a:off x="457200" y="6150000"/>
            <a:ext cx="11277600" cy="500000"/>
          </a:xfrm>
          <a:prstGeom prst="rect">
            <a:avLst/>
          </a:prstGeom>
          <a:noFill/>
        </p:spPr>
        <p:txBody>
          <a:bodyPr wrap="square" lIns="0" rIns="0" tIns="0" bIns="0">
            <a:spAutoFit/>
          </a:bodyPr>
          <a:lstStyle/>
          <a:p>
            <a:pPr algn="l"/>
            <a:r>
              <a:rPr sz="900" b="0" i="0">
                <a:solidFill>
                  <a:srgbClr val="6B6B6B"/>
                </a:solidFill>
                <a:latin typeface="Arial"/>
              </a:rPr>
              <a:t>Topik 4 · skrin 17 daripada 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T04-S18   ·   CONTENT_STATIC</a:t>
            </a:r>
          </a:p>
          <a:p>
            <a:pPr algn="l"/>
            <a:r>
              <a:rPr sz="2400" b="1" i="0">
                <a:solidFill>
                  <a:srgbClr val="1A1A1A"/>
                </a:solidFill>
                <a:latin typeface="Arial"/>
              </a:rPr>
              <a:t>Landskap Kejur — pengenalan</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0000"/>
            <a:ext cx="6766560" cy="4600000"/>
          </a:xfrm>
          <a:prstGeom prst="rect">
            <a:avLst/>
          </a:prstGeom>
          <a:noFill/>
        </p:spPr>
        <p:txBody>
          <a:bodyPr wrap="square" lIns="0" rIns="0" tIns="0" bIns="0">
            <a:spAutoFit/>
          </a:bodyPr>
          <a:lstStyle/>
          <a:p>
            <a:pPr algn="l"/>
            <a:r>
              <a:rPr sz="1000" b="1" i="0">
                <a:solidFill>
                  <a:srgbClr val="6B6B6B"/>
                </a:solidFill>
                <a:latin typeface="Arial"/>
              </a:rPr>
              <a:t>KANDUNGAN SKRIN</a:t>
            </a:r>
          </a:p>
          <a:p>
            <a:pPr algn="l" lvl="1"/>
            <a:r>
              <a:rPr sz="1300" b="0" i="0">
                <a:solidFill>
                  <a:srgbClr val="0D47A1"/>
                </a:solidFill>
                <a:latin typeface="Arial"/>
              </a:rPr>
              <a:t>S · Landskap Kejur</a:t>
            </a:r>
          </a:p>
          <a:p>
            <a:pPr algn="l"/>
            <a:r>
              <a:rPr sz="1300" b="0" i="0">
                <a:solidFill>
                  <a:srgbClr val="0D47A1"/>
                </a:solidFill>
                <a:latin typeface="Arial"/>
              </a:rPr>
              <a:t>S · Landskap Kejur merujuk kepada semua elemen binaan yang bukan hidup dan bersifat kekal dalam reka bentuk landskap. Ia membentuk struktur, rangka, dan 'tulang belakang' bagi sesuatu ruang luaran, serta menyediakan fungsi, bentuk, dan ketahanan. Elemen landskap kejur dibina untuk memenuhi empat fungsi utama:</a:t>
            </a:r>
          </a:p>
          <a:p>
            <a:pPr algn="l"/>
            <a:r>
              <a:rPr sz="1100" b="0" i="0">
                <a:solidFill>
                  <a:srgbClr val="6B6B6B"/>
                </a:solidFill>
                <a:latin typeface="Arial"/>
              </a:rPr>
              <a:t>u · SETERUSNYA</a:t>
            </a:r>
          </a:p>
        </p:txBody>
      </p:sp>
      <p:sp>
        <p:nvSpPr>
          <p:cNvPr id="5" name="TextBox 4"/>
          <p:cNvSpPr txBox="1"/>
          <p:nvPr/>
        </p:nvSpPr>
        <p:spPr>
          <a:xfrm>
            <a:off x="7523760" y="1320000"/>
            <a:ext cx="4211040" cy="4600000"/>
          </a:xfrm>
          <a:prstGeom prst="rect">
            <a:avLst/>
          </a:prstGeom>
          <a:noFill/>
        </p:spPr>
        <p:txBody>
          <a:bodyPr wrap="square" lIns="0" rIns="0" tIns="0" bIns="0">
            <a:spAutoFit/>
          </a:bodyPr>
          <a:lstStyle/>
          <a:p>
            <a:pPr algn="l"/>
            <a:r>
              <a:rPr sz="1000" b="1" i="0">
                <a:solidFill>
                  <a:srgbClr val="6B6B6B"/>
                </a:solidFill>
                <a:latin typeface="Arial"/>
              </a:rPr>
              <a:t>INTERAKSI</a:t>
            </a:r>
          </a:p>
          <a:p>
            <a:pPr algn="l"/>
            <a:r>
              <a:rPr sz="1000" b="0" i="0">
                <a:solidFill>
                  <a:srgbClr val="1A1A1A"/>
                </a:solidFill>
                <a:latin typeface="Arial"/>
              </a:rPr>
              <a:t>· BASE only</a:t>
            </a:r>
          </a:p>
          <a:p>
            <a:pPr algn="l"/>
            <a:r>
              <a:rPr sz="800" b="0" i="0">
                <a:solidFill>
                  <a:srgbClr val="1A1A1A"/>
                </a:solidFill>
                <a:latin typeface="Arial"/>
              </a:rPr>
              <a:t/>
            </a:r>
          </a:p>
          <a:p>
            <a:pPr algn="l"/>
            <a:r>
              <a:rPr sz="1000" b="1" i="0">
                <a:solidFill>
                  <a:srgbClr val="6B6B6B"/>
                </a:solidFill>
                <a:latin typeface="Arial"/>
              </a:rPr>
              <a:t>VISUAL</a:t>
            </a:r>
          </a:p>
          <a:p>
            <a:pPr algn="l"/>
            <a:r>
              <a:rPr sz="1100" b="1" i="0">
                <a:solidFill>
                  <a:srgbClr val="1A1A1A"/>
                </a:solidFill>
                <a:latin typeface="Arial"/>
              </a:rPr>
              <a:t>AG-07</a:t>
            </a:r>
          </a:p>
          <a:p>
            <a:pPr algn="l"/>
            <a:r>
              <a:rPr sz="1000" b="0" i="0">
                <a:solidFill>
                  <a:srgbClr val="1A1A1A"/>
                </a:solidFill>
                <a:latin typeface="Arial"/>
              </a:rPr>
              <a:t>Landskap Kejur — kategori dan empat fungsi</a:t>
            </a:r>
          </a:p>
          <a:p>
            <a:pPr algn="l"/>
            <a:r>
              <a:rPr sz="900" b="0" i="0">
                <a:solidFill>
                  <a:srgbClr val="6B6B6B"/>
                </a:solidFill>
                <a:latin typeface="Arial"/>
              </a:rPr>
              <a:t>Dasar guna semula: REUSE_WITH_CONDITIONS</a:t>
            </a:r>
          </a:p>
          <a:p>
            <a:pPr algn="l"/>
            <a:r>
              <a:rPr sz="1000" b="1" i="0">
                <a:solidFill>
                  <a:srgbClr val="B71C1C"/>
                </a:solidFill>
                <a:latin typeface="Arial"/>
              </a:rPr>
              <a:t>ASET BELUM DIHASILKAN</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6B6B6B"/>
                </a:solidFill>
                <a:latin typeface="Arial"/>
              </a:rPr>
              <a:t>Baris modul: T04-ROW-079, T04-ROW-080</a:t>
            </a:r>
          </a:p>
          <a:p>
            <a:pPr algn="l"/>
            <a:r>
              <a:rPr sz="800" b="0" i="0">
                <a:solidFill>
                  <a:srgbClr val="6B6B6B"/>
                </a:solidFill>
                <a:latin typeface="Arial"/>
              </a:rPr>
              <a:t>Keputusan: T04-DEC-A18</a:t>
            </a:r>
          </a:p>
        </p:txBody>
      </p:sp>
      <p:sp>
        <p:nvSpPr>
          <p:cNvPr id="6" name="TextBox 5"/>
          <p:cNvSpPr txBox="1"/>
          <p:nvPr/>
        </p:nvSpPr>
        <p:spPr>
          <a:xfrm>
            <a:off x="457200" y="6150000"/>
            <a:ext cx="11277600" cy="500000"/>
          </a:xfrm>
          <a:prstGeom prst="rect">
            <a:avLst/>
          </a:prstGeom>
          <a:noFill/>
        </p:spPr>
        <p:txBody>
          <a:bodyPr wrap="square" lIns="0" rIns="0" tIns="0" bIns="0">
            <a:spAutoFit/>
          </a:bodyPr>
          <a:lstStyle/>
          <a:p>
            <a:pPr algn="l"/>
            <a:r>
              <a:rPr sz="900" b="0" i="0">
                <a:solidFill>
                  <a:srgbClr val="6B6B6B"/>
                </a:solidFill>
                <a:latin typeface="Arial"/>
              </a:rPr>
              <a:t>Topik 4 · skrin 18 daripada 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T04-S19   ·   CLICK_TO_REVEAL</a:t>
            </a:r>
          </a:p>
          <a:p>
            <a:pPr algn="l"/>
            <a:r>
              <a:rPr sz="2400" b="1" i="0">
                <a:solidFill>
                  <a:srgbClr val="1A1A1A"/>
                </a:solidFill>
                <a:latin typeface="Arial"/>
              </a:rPr>
              <a:t>Landskap Kejur — empat kumpulan fungsi  (samb. 1/2)</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0000"/>
            <a:ext cx="6766560" cy="4600000"/>
          </a:xfrm>
          <a:prstGeom prst="rect">
            <a:avLst/>
          </a:prstGeom>
          <a:noFill/>
        </p:spPr>
        <p:txBody>
          <a:bodyPr wrap="square" lIns="0" rIns="0" tIns="0" bIns="0">
            <a:spAutoFit/>
          </a:bodyPr>
          <a:lstStyle/>
          <a:p>
            <a:pPr algn="l"/>
            <a:r>
              <a:rPr sz="1000" b="1" i="0">
                <a:solidFill>
                  <a:srgbClr val="6B6B6B"/>
                </a:solidFill>
                <a:latin typeface="Arial"/>
              </a:rPr>
              <a:t>KANDUNGAN SKRIN</a:t>
            </a:r>
          </a:p>
          <a:p>
            <a:pPr algn="l"/>
            <a:r>
              <a:rPr sz="1300" b="0" i="0">
                <a:solidFill>
                  <a:srgbClr val="0D47A1"/>
                </a:solidFill>
                <a:latin typeface="Arial"/>
              </a:rPr>
              <a:t>S · Pengurusan Ruang dan Sirkulasi</a:t>
            </a:r>
          </a:p>
          <a:p>
            <a:pPr algn="l"/>
            <a:r>
              <a:rPr sz="1300" b="0" i="0">
                <a:solidFill>
                  <a:srgbClr val="0D47A1"/>
                </a:solidFill>
                <a:latin typeface="Arial"/>
              </a:rPr>
              <a:t>S · Membentuk Ruang</a:t>
            </a:r>
          </a:p>
          <a:p>
            <a:pPr algn="l"/>
            <a:r>
              <a:rPr sz="1300" b="0" i="0">
                <a:solidFill>
                  <a:srgbClr val="0D47A1"/>
                </a:solidFill>
                <a:latin typeface="Arial"/>
              </a:rPr>
              <a:t>S · Dinding, pagar, dan perubahan aras lantai digunakan untuk membahagikan ruang luaran kepada "bilik" yang berbeza (cth., kawasan rehat, kawasan permainan).</a:t>
            </a:r>
          </a:p>
          <a:p>
            <a:pPr algn="l"/>
            <a:r>
              <a:rPr sz="1300" b="0" i="0">
                <a:solidFill>
                  <a:srgbClr val="0D47A1"/>
                </a:solidFill>
                <a:latin typeface="Arial"/>
              </a:rPr>
              <a:t>S · Laluan Pergerakan</a:t>
            </a:r>
          </a:p>
          <a:p>
            <a:pPr algn="l"/>
            <a:r>
              <a:rPr sz="1300" b="0" i="0">
                <a:solidFill>
                  <a:srgbClr val="0D47A1"/>
                </a:solidFill>
                <a:latin typeface="Arial"/>
              </a:rPr>
              <a:t>S · Lorong pejalan kaki (pathways), jalan masuk (driveways), dan tangga menyediakan laluan yang selamat dan jelas untuk pergerakan manusia dan kenderaan.</a:t>
            </a:r>
          </a:p>
          <a:p>
            <a:pPr algn="l"/>
            <a:r>
              <a:rPr sz="1300" b="0" i="0">
                <a:solidFill>
                  <a:srgbClr val="0D47A1"/>
                </a:solidFill>
                <a:latin typeface="Arial"/>
              </a:rPr>
              <a:t>S · Fungsi Struktur dan Kejuruteraan</a:t>
            </a:r>
          </a:p>
          <a:p>
            <a:pPr algn="l"/>
            <a:r>
              <a:rPr sz="1300" b="0" i="0">
                <a:solidFill>
                  <a:srgbClr val="0D47A1"/>
                </a:solidFill>
                <a:latin typeface="Arial"/>
              </a:rPr>
              <a:t>S · Menstabilkan Tanah</a:t>
            </a:r>
          </a:p>
          <a:p>
            <a:pPr algn="l"/>
            <a:r>
              <a:rPr sz="1300" b="0" i="0">
                <a:solidFill>
                  <a:srgbClr val="0D47A1"/>
                </a:solidFill>
                <a:latin typeface="Arial"/>
              </a:rPr>
              <a:t>S · Dinding penahan (retaining walls) dibina untuk menahan tanah di kawasan bercerun, mengelakkan hakisan dan tanah runtuh.</a:t>
            </a:r>
          </a:p>
          <a:p>
            <a:pPr algn="l"/>
            <a:r>
              <a:rPr sz="1300" b="0" i="0">
                <a:solidFill>
                  <a:srgbClr val="0D47A1"/>
                </a:solidFill>
                <a:latin typeface="Arial"/>
              </a:rPr>
              <a:t>S · Pengurusan Air</a:t>
            </a:r>
          </a:p>
          <a:p>
            <a:pPr algn="l"/>
            <a:r>
              <a:rPr sz="1300" b="0" i="0">
                <a:solidFill>
                  <a:srgbClr val="0D47A1"/>
                </a:solidFill>
                <a:latin typeface="Arial"/>
              </a:rPr>
              <a:t>S · Parit, longkang, dan permukaan yang dicerunkan dengan betul (properly graded surfaces) adalah penting untuk menguruskan aliran air larian permukaan.</a:t>
            </a:r>
          </a:p>
          <a:p>
            <a:pPr algn="l"/>
            <a:r>
              <a:rPr sz="1300" b="0" i="0">
                <a:solidFill>
                  <a:srgbClr val="0D47A1"/>
                </a:solidFill>
                <a:latin typeface="Arial"/>
              </a:rPr>
              <a:t>S · Kebolehgunaan dan Kemudahan</a:t>
            </a:r>
          </a:p>
          <a:p>
            <a:pPr algn="l"/>
            <a:r>
              <a:rPr sz="1300" b="0" i="0">
                <a:solidFill>
                  <a:srgbClr val="0D47A1"/>
                </a:solidFill>
                <a:latin typeface="Arial"/>
              </a:rPr>
              <a:t>S · Menyediakan Permukaan Rata</a:t>
            </a:r>
          </a:p>
        </p:txBody>
      </p:sp>
      <p:sp>
        <p:nvSpPr>
          <p:cNvPr id="5" name="TextBox 4"/>
          <p:cNvSpPr txBox="1"/>
          <p:nvPr/>
        </p:nvSpPr>
        <p:spPr>
          <a:xfrm>
            <a:off x="7523760" y="1320000"/>
            <a:ext cx="4211040" cy="4600000"/>
          </a:xfrm>
          <a:prstGeom prst="rect">
            <a:avLst/>
          </a:prstGeom>
          <a:noFill/>
        </p:spPr>
        <p:txBody>
          <a:bodyPr wrap="square" lIns="0" rIns="0" tIns="0" bIns="0">
            <a:spAutoFit/>
          </a:bodyPr>
          <a:lstStyle/>
          <a:p>
            <a:pPr algn="l"/>
            <a:r>
              <a:rPr sz="1000" b="1" i="0">
                <a:solidFill>
                  <a:srgbClr val="6B6B6B"/>
                </a:solidFill>
                <a:latin typeface="Arial"/>
              </a:rPr>
              <a:t>INTERAKSI</a:t>
            </a:r>
          </a:p>
          <a:p>
            <a:pPr algn="l"/>
            <a:r>
              <a:rPr sz="1000" b="0" i="0">
                <a:solidFill>
                  <a:srgbClr val="1A1A1A"/>
                </a:solidFill>
                <a:latin typeface="Arial"/>
              </a:rPr>
              <a:t>· BASE</a:t>
            </a:r>
          </a:p>
          <a:p>
            <a:pPr algn="l"/>
            <a:r>
              <a:rPr sz="1000" b="0" i="0">
                <a:solidFill>
                  <a:srgbClr val="1A1A1A"/>
                </a:solidFill>
                <a:latin typeface="Arial"/>
              </a:rPr>
              <a:t>· ST-01</a:t>
            </a:r>
          </a:p>
          <a:p>
            <a:pPr algn="l"/>
            <a:r>
              <a:rPr sz="1000" b="0" i="0">
                <a:solidFill>
                  <a:srgbClr val="1A1A1A"/>
                </a:solidFill>
                <a:latin typeface="Arial"/>
              </a:rPr>
              <a:t>· ST-02</a:t>
            </a:r>
          </a:p>
          <a:p>
            <a:pPr algn="l"/>
            <a:r>
              <a:rPr sz="1000" b="0" i="0">
                <a:solidFill>
                  <a:srgbClr val="1A1A1A"/>
                </a:solidFill>
                <a:latin typeface="Arial"/>
              </a:rPr>
              <a:t>· ST-03</a:t>
            </a:r>
          </a:p>
          <a:p>
            <a:pPr algn="l"/>
            <a:r>
              <a:rPr sz="1000" b="0" i="0">
                <a:solidFill>
                  <a:srgbClr val="1A1A1A"/>
                </a:solidFill>
                <a:latin typeface="Arial"/>
              </a:rPr>
              <a:t>· ST-04</a:t>
            </a:r>
          </a:p>
          <a:p>
            <a:pPr algn="l"/>
            <a:r>
              <a:rPr sz="1000" b="0" i="0">
                <a:solidFill>
                  <a:srgbClr val="1A1A1A"/>
                </a:solidFill>
                <a:latin typeface="Arial"/>
              </a:rPr>
              <a:t>· ALL_VIEWED</a:t>
            </a:r>
          </a:p>
          <a:p>
            <a:pPr algn="l"/>
            <a:r>
              <a:rPr sz="800" b="0" i="0">
                <a:solidFill>
                  <a:srgbClr val="1A1A1A"/>
                </a:solidFill>
                <a:latin typeface="Arial"/>
              </a:rPr>
              <a:t/>
            </a:r>
          </a:p>
          <a:p>
            <a:pPr algn="l"/>
            <a:r>
              <a:rPr sz="1000" b="1" i="0">
                <a:solidFill>
                  <a:srgbClr val="6B6B6B"/>
                </a:solidFill>
                <a:latin typeface="Arial"/>
              </a:rPr>
              <a:t>VISUAL</a:t>
            </a:r>
          </a:p>
          <a:p>
            <a:pPr algn="l"/>
            <a:r>
              <a:rPr sz="1100" b="1" i="0">
                <a:solidFill>
                  <a:srgbClr val="1A1A1A"/>
                </a:solidFill>
                <a:latin typeface="Arial"/>
              </a:rPr>
              <a:t>AG-07</a:t>
            </a:r>
          </a:p>
          <a:p>
            <a:pPr algn="l"/>
            <a:r>
              <a:rPr sz="1000" b="0" i="0">
                <a:solidFill>
                  <a:srgbClr val="1A1A1A"/>
                </a:solidFill>
                <a:latin typeface="Arial"/>
              </a:rPr>
              <a:t>Landskap Kejur — kategori dan empat fungsi</a:t>
            </a:r>
          </a:p>
          <a:p>
            <a:pPr algn="l"/>
            <a:r>
              <a:rPr sz="900" b="0" i="0">
                <a:solidFill>
                  <a:srgbClr val="6B6B6B"/>
                </a:solidFill>
                <a:latin typeface="Arial"/>
              </a:rPr>
              <a:t>Dasar guna semula: REUSE_WITH_CONDITIONS</a:t>
            </a:r>
          </a:p>
          <a:p>
            <a:pPr algn="l"/>
            <a:r>
              <a:rPr sz="1000" b="1" i="0">
                <a:solidFill>
                  <a:srgbClr val="B71C1C"/>
                </a:solidFill>
                <a:latin typeface="Arial"/>
              </a:rPr>
              <a:t>ASET BELUM DIHASILKAN</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6B6B6B"/>
                </a:solidFill>
                <a:latin typeface="Arial"/>
              </a:rPr>
              <a:t>Baris modul: T04-ROW-081, T04-ROW-082, T04-ROW-083, T04-ROW-084, T04-ROW-085, T04-ROW-086, T04-ROW-087, T04-ROW-088, T04-ROW-089, T04-ROW-090, T04-ROW-091, T04-ROW-092, T04-ROW-093, T04-ROW-094, T04-ROW-095, T04-ROW-096, T04-ROW-097, T04-ROW-098, T04-ROW-099, T04-ROW-100</a:t>
            </a:r>
          </a:p>
          <a:p>
            <a:pPr algn="l"/>
            <a:r>
              <a:rPr sz="800" b="0" i="0">
                <a:solidFill>
                  <a:srgbClr val="6B6B6B"/>
                </a:solidFill>
                <a:latin typeface="Arial"/>
              </a:rPr>
              <a:t>Keputusan: T04-DEC-A19</a:t>
            </a:r>
          </a:p>
        </p:txBody>
      </p:sp>
      <p:sp>
        <p:nvSpPr>
          <p:cNvPr id="6" name="TextBox 5"/>
          <p:cNvSpPr txBox="1"/>
          <p:nvPr/>
        </p:nvSpPr>
        <p:spPr>
          <a:xfrm>
            <a:off x="457200" y="6150000"/>
            <a:ext cx="11277600" cy="500000"/>
          </a:xfrm>
          <a:prstGeom prst="rect">
            <a:avLst/>
          </a:prstGeom>
          <a:noFill/>
        </p:spPr>
        <p:txBody>
          <a:bodyPr wrap="square" lIns="0" rIns="0" tIns="0" bIns="0">
            <a:spAutoFit/>
          </a:bodyPr>
          <a:lstStyle/>
          <a:p>
            <a:pPr algn="l"/>
            <a:r>
              <a:rPr sz="900" b="0" i="0">
                <a:solidFill>
                  <a:srgbClr val="6B6B6B"/>
                </a:solidFill>
                <a:latin typeface="Arial"/>
              </a:rPr>
              <a:t>Topik 4 · skrin 19 daripada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T04-S19   ·   CLICK_TO_REVEAL</a:t>
            </a:r>
          </a:p>
          <a:p>
            <a:pPr algn="l"/>
            <a:r>
              <a:rPr sz="2400" b="1" i="0">
                <a:solidFill>
                  <a:srgbClr val="1A1A1A"/>
                </a:solidFill>
                <a:latin typeface="Arial"/>
              </a:rPr>
              <a:t>Landskap Kejur — empat kumpulan fungsi  (samb. 2/2)</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0000"/>
            <a:ext cx="6766560" cy="4600000"/>
          </a:xfrm>
          <a:prstGeom prst="rect">
            <a:avLst/>
          </a:prstGeom>
          <a:noFill/>
        </p:spPr>
        <p:txBody>
          <a:bodyPr wrap="square" lIns="0" rIns="0" tIns="0" bIns="0">
            <a:spAutoFit/>
          </a:bodyPr>
          <a:lstStyle/>
          <a:p>
            <a:pPr algn="l"/>
            <a:r>
              <a:rPr sz="1000" b="1" i="0">
                <a:solidFill>
                  <a:srgbClr val="6B6B6B"/>
                </a:solidFill>
                <a:latin typeface="Arial"/>
              </a:rPr>
              <a:t>KANDUNGAN SKRIN (sambungan)</a:t>
            </a:r>
          </a:p>
          <a:p>
            <a:pPr algn="l"/>
            <a:r>
              <a:rPr sz="1300" b="0" i="0">
                <a:solidFill>
                  <a:srgbClr val="0D47A1"/>
                </a:solidFill>
                <a:latin typeface="Arial"/>
              </a:rPr>
              <a:t>S · Laman (patios), dek (decks), dan dataran (plazas) menyediakan permukaan yang stabil dan selesa untuk aktiviti seperti meletakkan perabot luar, barbeku, atau sebagai ruang perhimpunan.</a:t>
            </a:r>
          </a:p>
          <a:p>
            <a:pPr algn="l"/>
            <a:r>
              <a:rPr sz="1300" b="0" i="0">
                <a:solidFill>
                  <a:srgbClr val="0D47A1"/>
                </a:solidFill>
                <a:latin typeface="Arial"/>
              </a:rPr>
              <a:t>S · Menyediakan Kemudahan</a:t>
            </a:r>
          </a:p>
          <a:p>
            <a:pPr algn="l"/>
            <a:r>
              <a:rPr sz="1300" b="0" i="0">
                <a:solidFill>
                  <a:srgbClr val="0D47A1"/>
                </a:solidFill>
                <a:latin typeface="Arial"/>
              </a:rPr>
              <a:t>S · Struktur seperti wakaf, gazebo, pergola, bangku, dan lampu landskap meningkatkan keselesaan dan kebolehgunaan ruang pada waktu yang berbeza.</a:t>
            </a:r>
          </a:p>
          <a:p>
            <a:pPr algn="l"/>
            <a:r>
              <a:rPr sz="1300" b="0" i="0">
                <a:solidFill>
                  <a:srgbClr val="0D47A1"/>
                </a:solidFill>
                <a:latin typeface="Arial"/>
              </a:rPr>
              <a:t>S · Estetika dan Reka Bentuk</a:t>
            </a:r>
          </a:p>
          <a:p>
            <a:pPr algn="l"/>
            <a:r>
              <a:rPr sz="1300" b="0" i="0">
                <a:solidFill>
                  <a:srgbClr val="0D47A1"/>
                </a:solidFill>
                <a:latin typeface="Arial"/>
              </a:rPr>
              <a:t>S · Menambah Tekstur, Warna, dan Corak</a:t>
            </a:r>
          </a:p>
          <a:p>
            <a:pPr algn="l"/>
            <a:r>
              <a:rPr sz="1300" b="0" i="0">
                <a:solidFill>
                  <a:srgbClr val="0D47A1"/>
                </a:solidFill>
                <a:latin typeface="Arial"/>
              </a:rPr>
              <a:t>S · Penggunaan bahan seperti batu, kayu, dan konkrit menambah dimensi visual kepada landskap.</a:t>
            </a:r>
          </a:p>
          <a:p>
            <a:pPr algn="l"/>
            <a:r>
              <a:rPr sz="1300" b="0" i="0">
                <a:solidFill>
                  <a:srgbClr val="0D47A1"/>
                </a:solidFill>
                <a:latin typeface="Arial"/>
              </a:rPr>
              <a:t>S · Mencipta Kontras</a:t>
            </a:r>
          </a:p>
          <a:p>
            <a:pPr algn="l"/>
            <a:r>
              <a:rPr sz="1300" b="0" i="0">
                <a:solidFill>
                  <a:srgbClr val="0D47A1"/>
                </a:solidFill>
                <a:latin typeface="Arial"/>
              </a:rPr>
              <a:t>S · Elemen kejur memberikan kontras yang menarik kepada kelembutan elemen tumbuhan.</a:t>
            </a:r>
          </a:p>
          <a:p>
            <a:pPr algn="l"/>
            <a:r>
              <a:rPr sz="1100" b="0" i="0">
                <a:solidFill>
                  <a:srgbClr val="6B6B6B"/>
                </a:solidFill>
                <a:latin typeface="Arial"/>
              </a:rPr>
              <a:t>u · SETERUSNYA</a:t>
            </a:r>
          </a:p>
        </p:txBody>
      </p:sp>
      <p:sp>
        <p:nvSpPr>
          <p:cNvPr id="5" name="TextBox 4"/>
          <p:cNvSpPr txBox="1"/>
          <p:nvPr/>
        </p:nvSpPr>
        <p:spPr>
          <a:xfrm>
            <a:off x="7523760" y="1320000"/>
            <a:ext cx="4211040" cy="4600000"/>
          </a:xfrm>
          <a:prstGeom prst="rect">
            <a:avLst/>
          </a:prstGeom>
          <a:noFill/>
        </p:spPr>
        <p:txBody>
          <a:bodyPr wrap="square" lIns="0" rIns="0" tIns="0" bIns="0">
            <a:spAutoFit/>
          </a:bodyPr>
          <a:lstStyle/>
          <a:p>
            <a:pPr algn="l"/>
            <a:r>
              <a:rPr sz="1000" b="1" i="0">
                <a:solidFill>
                  <a:srgbClr val="6B6B6B"/>
                </a:solidFill>
                <a:latin typeface="Arial"/>
              </a:rPr>
              <a:t>INTERAKSI</a:t>
            </a:r>
          </a:p>
          <a:p>
            <a:pPr algn="l"/>
            <a:r>
              <a:rPr sz="1000" b="0" i="0">
                <a:solidFill>
                  <a:srgbClr val="1A1A1A"/>
                </a:solidFill>
                <a:latin typeface="Arial"/>
              </a:rPr>
              <a:t>· BASE</a:t>
            </a:r>
          </a:p>
          <a:p>
            <a:pPr algn="l"/>
            <a:r>
              <a:rPr sz="1000" b="0" i="0">
                <a:solidFill>
                  <a:srgbClr val="1A1A1A"/>
                </a:solidFill>
                <a:latin typeface="Arial"/>
              </a:rPr>
              <a:t>· ST-01</a:t>
            </a:r>
          </a:p>
          <a:p>
            <a:pPr algn="l"/>
            <a:r>
              <a:rPr sz="1000" b="0" i="0">
                <a:solidFill>
                  <a:srgbClr val="1A1A1A"/>
                </a:solidFill>
                <a:latin typeface="Arial"/>
              </a:rPr>
              <a:t>· ST-02</a:t>
            </a:r>
          </a:p>
          <a:p>
            <a:pPr algn="l"/>
            <a:r>
              <a:rPr sz="1000" b="0" i="0">
                <a:solidFill>
                  <a:srgbClr val="1A1A1A"/>
                </a:solidFill>
                <a:latin typeface="Arial"/>
              </a:rPr>
              <a:t>· ST-03</a:t>
            </a:r>
          </a:p>
          <a:p>
            <a:pPr algn="l"/>
            <a:r>
              <a:rPr sz="1000" b="0" i="0">
                <a:solidFill>
                  <a:srgbClr val="1A1A1A"/>
                </a:solidFill>
                <a:latin typeface="Arial"/>
              </a:rPr>
              <a:t>· ST-04</a:t>
            </a:r>
          </a:p>
          <a:p>
            <a:pPr algn="l"/>
            <a:r>
              <a:rPr sz="1000" b="0" i="0">
                <a:solidFill>
                  <a:srgbClr val="1A1A1A"/>
                </a:solidFill>
                <a:latin typeface="Arial"/>
              </a:rPr>
              <a:t>· ALL_VIEWED</a:t>
            </a:r>
          </a:p>
          <a:p>
            <a:pPr algn="l"/>
            <a:r>
              <a:rPr sz="800" b="0" i="0">
                <a:solidFill>
                  <a:srgbClr val="1A1A1A"/>
                </a:solidFill>
                <a:latin typeface="Arial"/>
              </a:rPr>
              <a:t/>
            </a:r>
          </a:p>
          <a:p>
            <a:pPr algn="l"/>
            <a:r>
              <a:rPr sz="1000" b="1" i="0">
                <a:solidFill>
                  <a:srgbClr val="6B6B6B"/>
                </a:solidFill>
                <a:latin typeface="Arial"/>
              </a:rPr>
              <a:t>VISUAL</a:t>
            </a:r>
          </a:p>
          <a:p>
            <a:pPr algn="l"/>
            <a:r>
              <a:rPr sz="1100" b="1" i="0">
                <a:solidFill>
                  <a:srgbClr val="1A1A1A"/>
                </a:solidFill>
                <a:latin typeface="Arial"/>
              </a:rPr>
              <a:t>AG-07</a:t>
            </a:r>
          </a:p>
          <a:p>
            <a:pPr algn="l"/>
            <a:r>
              <a:rPr sz="1000" b="0" i="0">
                <a:solidFill>
                  <a:srgbClr val="1A1A1A"/>
                </a:solidFill>
                <a:latin typeface="Arial"/>
              </a:rPr>
              <a:t>Landskap Kejur — kategori dan empat fungsi</a:t>
            </a:r>
          </a:p>
          <a:p>
            <a:pPr algn="l"/>
            <a:r>
              <a:rPr sz="900" b="0" i="0">
                <a:solidFill>
                  <a:srgbClr val="6B6B6B"/>
                </a:solidFill>
                <a:latin typeface="Arial"/>
              </a:rPr>
              <a:t>Dasar guna semula: REUSE_WITH_CONDITIONS</a:t>
            </a:r>
          </a:p>
          <a:p>
            <a:pPr algn="l"/>
            <a:r>
              <a:rPr sz="1000" b="1" i="0">
                <a:solidFill>
                  <a:srgbClr val="B71C1C"/>
                </a:solidFill>
                <a:latin typeface="Arial"/>
              </a:rPr>
              <a:t>ASET BELUM DIHASILKAN</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6B6B6B"/>
                </a:solidFill>
                <a:latin typeface="Arial"/>
              </a:rPr>
              <a:t>Baris modul: T04-ROW-081, T04-ROW-082, T04-ROW-083, T04-ROW-084, T04-ROW-085, T04-ROW-086, T04-ROW-087, T04-ROW-088, T04-ROW-089, T04-ROW-090, T04-ROW-091, T04-ROW-092, T04-ROW-093, T04-ROW-094, T04-ROW-095, T04-ROW-096, T04-ROW-097, T04-ROW-098, T04-ROW-099, T04-ROW-100</a:t>
            </a:r>
          </a:p>
          <a:p>
            <a:pPr algn="l"/>
            <a:r>
              <a:rPr sz="800" b="0" i="0">
                <a:solidFill>
                  <a:srgbClr val="6B6B6B"/>
                </a:solidFill>
                <a:latin typeface="Arial"/>
              </a:rPr>
              <a:t>Keputusan: T04-DEC-A19</a:t>
            </a:r>
          </a:p>
        </p:txBody>
      </p:sp>
      <p:sp>
        <p:nvSpPr>
          <p:cNvPr id="6" name="TextBox 5"/>
          <p:cNvSpPr txBox="1"/>
          <p:nvPr/>
        </p:nvSpPr>
        <p:spPr>
          <a:xfrm>
            <a:off x="457200" y="6150000"/>
            <a:ext cx="11277600" cy="500000"/>
          </a:xfrm>
          <a:prstGeom prst="rect">
            <a:avLst/>
          </a:prstGeom>
          <a:noFill/>
        </p:spPr>
        <p:txBody>
          <a:bodyPr wrap="square" lIns="0" rIns="0" tIns="0" bIns="0">
            <a:spAutoFit/>
          </a:bodyPr>
          <a:lstStyle/>
          <a:p>
            <a:pPr algn="l"/>
            <a:r>
              <a:rPr sz="900" b="0" i="0">
                <a:solidFill>
                  <a:srgbClr val="6B6B6B"/>
                </a:solidFill>
                <a:latin typeface="Arial"/>
              </a:rPr>
              <a:t>Topik 4 · skrin 19 daripada 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T04-S20   ·   RUMUSAN</a:t>
            </a:r>
          </a:p>
          <a:p>
            <a:pPr algn="l"/>
            <a:r>
              <a:rPr sz="2400" b="1" i="0">
                <a:solidFill>
                  <a:srgbClr val="1A1A1A"/>
                </a:solidFill>
                <a:latin typeface="Arial"/>
              </a:rPr>
              <a:t>Rumusan</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0000"/>
            <a:ext cx="6766560" cy="4600000"/>
          </a:xfrm>
          <a:prstGeom prst="rect">
            <a:avLst/>
          </a:prstGeom>
          <a:noFill/>
        </p:spPr>
        <p:txBody>
          <a:bodyPr wrap="square" lIns="0" rIns="0" tIns="0" bIns="0">
            <a:spAutoFit/>
          </a:bodyPr>
          <a:lstStyle/>
          <a:p>
            <a:pPr algn="l"/>
            <a:r>
              <a:rPr sz="1000" b="1" i="0">
                <a:solidFill>
                  <a:srgbClr val="6B6B6B"/>
                </a:solidFill>
                <a:latin typeface="Arial"/>
              </a:rPr>
              <a:t>KANDUNGAN SKRIN</a:t>
            </a:r>
          </a:p>
          <a:p>
            <a:pPr algn="l"/>
            <a:r>
              <a:rPr sz="1300" b="0" i="0">
                <a:solidFill>
                  <a:srgbClr val="1B5E20"/>
                </a:solidFill>
                <a:latin typeface="Arial"/>
              </a:rPr>
              <a:t>A · [Kepentingan] Penjagaan dan penyelenggaraan memastikan landskap yang telah dibina kekal sihat, berfungsi dan selamat dalam jangka masa panjang. Membina dan mengekalkan landskap adalah dua tanggungjawab berbeza.</a:t>
            </a:r>
          </a:p>
          <a:p>
            <a:pPr algn="l"/>
            <a:r>
              <a:rPr sz="1300" b="0" i="0">
                <a:solidFill>
                  <a:srgbClr val="1B5E20"/>
                </a:solidFill>
                <a:latin typeface="Arial"/>
              </a:rPr>
              <a:t>A · [Skop/Isi Utama] Penjagaan dan penyelenggaraan merangkumi landskap lembut dan landskap kejur. Landskap lembut memfokuskan kepada penyiraman, pembajaan dan kawalan racun, manakala landskap kejur memfokuskan kepada memastikan elemen binaan kekal berfungsi dan selamat.</a:t>
            </a:r>
          </a:p>
          <a:p>
            <a:pPr algn="l"/>
            <a:r>
              <a:rPr sz="1300" b="0" i="0">
                <a:solidFill>
                  <a:srgbClr val="1B5E20"/>
                </a:solidFill>
                <a:latin typeface="Arial"/>
              </a:rPr>
              <a:t>A · [Manfaat] Dengan melaksanakan penjagaan dan penyelenggaraan yang berjadual dan terancang, kontraktor dapat memelihara kualiti landskap sepanjang DLP, memenuhi kewajipan kontrak, dan memastikan ruang luaran kekal lestari dan bernilai untuk pengguna.</a:t>
            </a:r>
          </a:p>
          <a:p>
            <a:pPr algn="l"/>
            <a:r>
              <a:rPr sz="1100" b="0" i="0">
                <a:solidFill>
                  <a:srgbClr val="6B6B6B"/>
                </a:solidFill>
                <a:latin typeface="Arial"/>
              </a:rPr>
              <a:t>u · SETERUSNYA</a:t>
            </a:r>
          </a:p>
        </p:txBody>
      </p:sp>
      <p:sp>
        <p:nvSpPr>
          <p:cNvPr id="5" name="TextBox 4"/>
          <p:cNvSpPr txBox="1"/>
          <p:nvPr/>
        </p:nvSpPr>
        <p:spPr>
          <a:xfrm>
            <a:off x="7523760" y="1320000"/>
            <a:ext cx="4211040" cy="4600000"/>
          </a:xfrm>
          <a:prstGeom prst="rect">
            <a:avLst/>
          </a:prstGeom>
          <a:noFill/>
        </p:spPr>
        <p:txBody>
          <a:bodyPr wrap="square" lIns="0" rIns="0" tIns="0" bIns="0">
            <a:spAutoFit/>
          </a:bodyPr>
          <a:lstStyle/>
          <a:p>
            <a:pPr algn="l"/>
            <a:r>
              <a:rPr sz="1000" b="1" i="0">
                <a:solidFill>
                  <a:srgbClr val="6B6B6B"/>
                </a:solidFill>
                <a:latin typeface="Arial"/>
              </a:rPr>
              <a:t>INTERAKSI</a:t>
            </a:r>
          </a:p>
          <a:p>
            <a:pPr algn="l"/>
            <a:r>
              <a:rPr sz="1000" b="0" i="0">
                <a:solidFill>
                  <a:srgbClr val="1A1A1A"/>
                </a:solidFill>
                <a:latin typeface="Arial"/>
              </a:rPr>
              <a:t>· BASE only</a:t>
            </a:r>
          </a:p>
          <a:p>
            <a:pPr algn="l"/>
            <a:r>
              <a:rPr sz="800" b="0" i="0">
                <a:solidFill>
                  <a:srgbClr val="1A1A1A"/>
                </a:solidFill>
                <a:latin typeface="Arial"/>
              </a:rPr>
              <a:t/>
            </a:r>
          </a:p>
          <a:p>
            <a:pPr algn="l"/>
            <a:r>
              <a:rPr sz="1000" b="1" i="0">
                <a:solidFill>
                  <a:srgbClr val="6B6B6B"/>
                </a:solidFill>
                <a:latin typeface="Arial"/>
              </a:rPr>
              <a:t>VISUAL</a:t>
            </a:r>
          </a:p>
          <a:p>
            <a:pPr algn="l"/>
            <a:r>
              <a:rPr sz="1000" b="0" i="1">
                <a:solidFill>
                  <a:srgbClr val="6B6B6B"/>
                </a:solidFill>
                <a:latin typeface="Arial"/>
              </a:rPr>
              <a:t>Tiada visual khusus</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6B6B6B"/>
                </a:solidFill>
                <a:latin typeface="Arial"/>
              </a:rPr>
              <a:t>Skrin struktur — tiada baris modul</a:t>
            </a:r>
          </a:p>
          <a:p>
            <a:pPr algn="l"/>
            <a:r>
              <a:rPr sz="800" b="0" i="0">
                <a:solidFill>
                  <a:srgbClr val="6B6B6B"/>
                </a:solidFill>
                <a:latin typeface="Arial"/>
              </a:rPr>
              <a:t>Keputusan: T04-DEC-A20, T04-DEC-D01, T04-DEC-D02</a:t>
            </a:r>
          </a:p>
        </p:txBody>
      </p:sp>
      <p:sp>
        <p:nvSpPr>
          <p:cNvPr id="6" name="TextBox 5"/>
          <p:cNvSpPr txBox="1"/>
          <p:nvPr/>
        </p:nvSpPr>
        <p:spPr>
          <a:xfrm>
            <a:off x="457200" y="6150000"/>
            <a:ext cx="11277600" cy="500000"/>
          </a:xfrm>
          <a:prstGeom prst="rect">
            <a:avLst/>
          </a:prstGeom>
          <a:noFill/>
        </p:spPr>
        <p:txBody>
          <a:bodyPr wrap="square" lIns="0" rIns="0" tIns="0" bIns="0">
            <a:spAutoFit/>
          </a:bodyPr>
          <a:lstStyle/>
          <a:p>
            <a:pPr algn="l"/>
            <a:r>
              <a:rPr sz="900" b="0" i="0">
                <a:solidFill>
                  <a:srgbClr val="6B6B6B"/>
                </a:solidFill>
                <a:latin typeface="Arial"/>
              </a:rPr>
              <a:t>Topik 4 · skrin 20 daripada 22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T04-S21   ·   QUIZ</a:t>
            </a:r>
          </a:p>
          <a:p>
            <a:pPr algn="l"/>
            <a:r>
              <a:rPr sz="2400" b="1" i="0">
                <a:solidFill>
                  <a:srgbClr val="1A1A1A"/>
                </a:solidFill>
                <a:latin typeface="Arial"/>
              </a:rPr>
              <a:t>Kuiz  (samb. 1/2)</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0000"/>
            <a:ext cx="6766560" cy="4600000"/>
          </a:xfrm>
          <a:prstGeom prst="rect">
            <a:avLst/>
          </a:prstGeom>
          <a:noFill/>
        </p:spPr>
        <p:txBody>
          <a:bodyPr wrap="square" lIns="0" rIns="0" tIns="0" bIns="0">
            <a:spAutoFit/>
          </a:bodyPr>
          <a:lstStyle/>
          <a:p>
            <a:pPr algn="l"/>
            <a:r>
              <a:rPr sz="1000" b="1" i="0">
                <a:solidFill>
                  <a:srgbClr val="6B6B6B"/>
                </a:solidFill>
                <a:latin typeface="Arial"/>
              </a:rPr>
              <a:t>KANDUNGAN SKRIN</a:t>
            </a:r>
          </a:p>
          <a:p>
            <a:pPr algn="l"/>
            <a:r>
              <a:rPr sz="1100" b="0" i="0">
                <a:solidFill>
                  <a:srgbClr val="6B6B6B"/>
                </a:solidFill>
                <a:latin typeface="Arial"/>
              </a:rPr>
              <a:t>u · Jawab kelima-lima soalan. Markah lulus 60 peratus.</a:t>
            </a:r>
          </a:p>
          <a:p>
            <a:pPr algn="l"/>
            <a:r>
              <a:rPr sz="1100" b="0" i="0">
                <a:solidFill>
                  <a:srgbClr val="6B6B6B"/>
                </a:solidFill>
                <a:latin typeface="Arial"/>
              </a:rPr>
              <a:t>u · T04-QZ-Q1  (MCQ)</a:t>
            </a:r>
          </a:p>
          <a:p>
            <a:pPr algn="l"/>
            <a:r>
              <a:rPr sz="1300" b="0" i="0">
                <a:solidFill>
                  <a:srgbClr val="1B5E20"/>
                </a:solidFill>
                <a:latin typeface="Arial"/>
              </a:rPr>
              <a:t>A · Apakah tiga tanggungjawab kritikal dalam tempoh penyelenggaraan semasa pembinaan dan DLP bagi landskap lembut?</a:t>
            </a:r>
          </a:p>
          <a:p>
            <a:pPr algn="l" lvl="1"/>
            <a:r>
              <a:rPr sz="1300" b="0" i="0">
                <a:solidFill>
                  <a:srgbClr val="6A1B9A"/>
                </a:solidFill>
                <a:latin typeface="Arial"/>
              </a:rPr>
              <a:t>d · A. Siram, baja dan racun</a:t>
            </a:r>
          </a:p>
          <a:p>
            <a:pPr algn="l" lvl="1"/>
            <a:r>
              <a:rPr sz="1300" b="0" i="0">
                <a:solidFill>
                  <a:srgbClr val="6A1B9A"/>
                </a:solidFill>
                <a:latin typeface="Arial"/>
              </a:rPr>
              <a:t>d · B. Siram, potong dan tanam</a:t>
            </a:r>
          </a:p>
          <a:p>
            <a:pPr algn="l" lvl="1"/>
            <a:r>
              <a:rPr sz="1300" b="0" i="0">
                <a:solidFill>
                  <a:srgbClr val="6A1B9A"/>
                </a:solidFill>
                <a:latin typeface="Arial"/>
              </a:rPr>
              <a:t>d · C. Baja, racun dan turap</a:t>
            </a:r>
          </a:p>
          <a:p>
            <a:pPr algn="l" lvl="1"/>
            <a:r>
              <a:rPr sz="1300" b="0" i="0">
                <a:solidFill>
                  <a:srgbClr val="6A1B9A"/>
                </a:solidFill>
                <a:latin typeface="Arial"/>
              </a:rPr>
              <a:t>d · D. Racun, siram dan pembinaan</a:t>
            </a:r>
          </a:p>
          <a:p>
            <a:pPr algn="l"/>
            <a:r>
              <a:rPr sz="1100" b="0" i="0">
                <a:solidFill>
                  <a:srgbClr val="6B6B6B"/>
                </a:solidFill>
                <a:latin typeface="Arial"/>
              </a:rPr>
              <a:t>u · T04-QZ-Q2  (MCQ)</a:t>
            </a:r>
          </a:p>
          <a:p>
            <a:pPr algn="l"/>
            <a:r>
              <a:rPr sz="1300" b="0" i="0">
                <a:solidFill>
                  <a:srgbClr val="1B5E20"/>
                </a:solidFill>
                <a:latin typeface="Arial"/>
              </a:rPr>
              <a:t>A · Sebuah projek memerlukan pengairan automatik bagi kawasan rumput yang luas. Antara sistem berikut, yang manakah paling sesuai?</a:t>
            </a:r>
          </a:p>
          <a:p>
            <a:pPr algn="l" lvl="1"/>
            <a:r>
              <a:rPr sz="1300" b="0" i="0">
                <a:solidFill>
                  <a:srgbClr val="6A1B9A"/>
                </a:solidFill>
                <a:latin typeface="Arial"/>
              </a:rPr>
              <a:t>d · A. Sistem Semburan (Sprinkler System)</a:t>
            </a:r>
          </a:p>
          <a:p>
            <a:pPr algn="l" lvl="1"/>
            <a:r>
              <a:rPr sz="1300" b="0" i="0">
                <a:solidFill>
                  <a:srgbClr val="6A1B9A"/>
                </a:solidFill>
                <a:latin typeface="Arial"/>
              </a:rPr>
              <a:t>d · B. Sistem Titis (Drip Irrigation System)</a:t>
            </a:r>
          </a:p>
          <a:p>
            <a:pPr algn="l" lvl="1"/>
            <a:r>
              <a:rPr sz="1300" b="0" i="0">
                <a:solidFill>
                  <a:srgbClr val="6A1B9A"/>
                </a:solidFill>
                <a:latin typeface="Arial"/>
              </a:rPr>
              <a:t>d · C. Penyiraman manual menggunakan hos getah</a:t>
            </a:r>
          </a:p>
          <a:p>
            <a:pPr algn="l" lvl="1"/>
            <a:r>
              <a:rPr sz="1300" b="0" i="0">
                <a:solidFill>
                  <a:srgbClr val="6A1B9A"/>
                </a:solidFill>
                <a:latin typeface="Arial"/>
              </a:rPr>
              <a:t>d · D. Semburan folia menggunakan baja cecair</a:t>
            </a:r>
          </a:p>
          <a:p>
            <a:pPr algn="l"/>
            <a:r>
              <a:rPr sz="1100" b="0" i="0">
                <a:solidFill>
                  <a:srgbClr val="6B6B6B"/>
                </a:solidFill>
                <a:latin typeface="Arial"/>
              </a:rPr>
              <a:t>u · T04-QZ-Q3  (MCQ)</a:t>
            </a:r>
          </a:p>
          <a:p>
            <a:pPr algn="l"/>
            <a:r>
              <a:rPr sz="1300" b="0" i="0">
                <a:solidFill>
                  <a:srgbClr val="1B5E20"/>
                </a:solidFill>
                <a:latin typeface="Arial"/>
              </a:rPr>
              <a:t>A · Mengikut susunan keutamaan IPM, kaedah kawalan yang manakah disenaraikan paling akhir?</a:t>
            </a:r>
          </a:p>
          <a:p>
            <a:pPr algn="l" lvl="1"/>
            <a:r>
              <a:rPr sz="1300" b="0" i="0">
                <a:solidFill>
                  <a:srgbClr val="6A1B9A"/>
                </a:solidFill>
                <a:latin typeface="Arial"/>
              </a:rPr>
              <a:t>d · A. Kawalan Kultur</a:t>
            </a:r>
          </a:p>
          <a:p>
            <a:pPr algn="l" lvl="1"/>
            <a:r>
              <a:rPr sz="1300" b="0" i="0">
                <a:solidFill>
                  <a:srgbClr val="6A1B9A"/>
                </a:solidFill>
                <a:latin typeface="Arial"/>
              </a:rPr>
              <a:t>d · B. Kawalan Fizikal</a:t>
            </a:r>
          </a:p>
        </p:txBody>
      </p:sp>
      <p:sp>
        <p:nvSpPr>
          <p:cNvPr id="5" name="TextBox 4"/>
          <p:cNvSpPr txBox="1"/>
          <p:nvPr/>
        </p:nvSpPr>
        <p:spPr>
          <a:xfrm>
            <a:off x="7523760" y="1320000"/>
            <a:ext cx="4211040" cy="4600000"/>
          </a:xfrm>
          <a:prstGeom prst="rect">
            <a:avLst/>
          </a:prstGeom>
          <a:noFill/>
        </p:spPr>
        <p:txBody>
          <a:bodyPr wrap="square" lIns="0" rIns="0" tIns="0" bIns="0">
            <a:spAutoFit/>
          </a:bodyPr>
          <a:lstStyle/>
          <a:p>
            <a:pPr algn="l"/>
            <a:r>
              <a:rPr sz="1000" b="1" i="0">
                <a:solidFill>
                  <a:srgbClr val="6B6B6B"/>
                </a:solidFill>
                <a:latin typeface="Arial"/>
              </a:rPr>
              <a:t>INTERAKSI</a:t>
            </a:r>
          </a:p>
          <a:p>
            <a:pPr algn="l"/>
            <a:r>
              <a:rPr sz="1000" b="0" i="0">
                <a:solidFill>
                  <a:srgbClr val="1A1A1A"/>
                </a:solidFill>
                <a:latin typeface="Arial"/>
              </a:rPr>
              <a:t>· Q1</a:t>
            </a:r>
          </a:p>
          <a:p>
            <a:pPr algn="l"/>
            <a:r>
              <a:rPr sz="1000" b="0" i="0">
                <a:solidFill>
                  <a:srgbClr val="1A1A1A"/>
                </a:solidFill>
                <a:latin typeface="Arial"/>
              </a:rPr>
              <a:t>· Q2</a:t>
            </a:r>
          </a:p>
          <a:p>
            <a:pPr algn="l"/>
            <a:r>
              <a:rPr sz="1000" b="0" i="0">
                <a:solidFill>
                  <a:srgbClr val="1A1A1A"/>
                </a:solidFill>
                <a:latin typeface="Arial"/>
              </a:rPr>
              <a:t>· Q3</a:t>
            </a:r>
          </a:p>
          <a:p>
            <a:pPr algn="l"/>
            <a:r>
              <a:rPr sz="1000" b="0" i="0">
                <a:solidFill>
                  <a:srgbClr val="1A1A1A"/>
                </a:solidFill>
                <a:latin typeface="Arial"/>
              </a:rPr>
              <a:t>· Q4</a:t>
            </a:r>
          </a:p>
          <a:p>
            <a:pPr algn="l"/>
            <a:r>
              <a:rPr sz="1000" b="0" i="0">
                <a:solidFill>
                  <a:srgbClr val="1A1A1A"/>
                </a:solidFill>
                <a:latin typeface="Arial"/>
              </a:rPr>
              <a:t>· Q5</a:t>
            </a:r>
          </a:p>
          <a:p>
            <a:pPr algn="l"/>
            <a:r>
              <a:rPr sz="1000" b="0" i="0">
                <a:solidFill>
                  <a:srgbClr val="1A1A1A"/>
                </a:solidFill>
                <a:latin typeface="Arial"/>
              </a:rPr>
              <a:t>· RESULT</a:t>
            </a:r>
          </a:p>
          <a:p>
            <a:pPr algn="l"/>
            <a:r>
              <a:rPr sz="800" b="0" i="0">
                <a:solidFill>
                  <a:srgbClr val="1A1A1A"/>
                </a:solidFill>
                <a:latin typeface="Arial"/>
              </a:rPr>
              <a:t/>
            </a:r>
          </a:p>
          <a:p>
            <a:pPr algn="l"/>
            <a:r>
              <a:rPr sz="1000" b="1" i="0">
                <a:solidFill>
                  <a:srgbClr val="6B6B6B"/>
                </a:solidFill>
                <a:latin typeface="Arial"/>
              </a:rPr>
              <a:t>VISUAL</a:t>
            </a:r>
          </a:p>
          <a:p>
            <a:pPr algn="l"/>
            <a:r>
              <a:rPr sz="1000" b="0" i="1">
                <a:solidFill>
                  <a:srgbClr val="6B6B6B"/>
                </a:solidFill>
                <a:latin typeface="Arial"/>
              </a:rPr>
              <a:t>Tiada visual khusus</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6B6B6B"/>
                </a:solidFill>
                <a:latin typeface="Arial"/>
              </a:rPr>
              <a:t>Skrin struktur — tiada baris modul</a:t>
            </a:r>
          </a:p>
          <a:p>
            <a:pPr algn="l"/>
            <a:r>
              <a:rPr sz="800" b="0" i="0">
                <a:solidFill>
                  <a:srgbClr val="6B6B6B"/>
                </a:solidFill>
                <a:latin typeface="Arial"/>
              </a:rPr>
              <a:t>Keputusan: T04-DEC-A21, T04-DEC-E01, T04-DEC-E02, T04-DEC-E03, T04-DEC-E04, T04-DEC-E05, T04-DEC-E06, T04-DEC-E07, T04-DEC-E08</a:t>
            </a:r>
          </a:p>
        </p:txBody>
      </p:sp>
      <p:sp>
        <p:nvSpPr>
          <p:cNvPr id="6" name="TextBox 5"/>
          <p:cNvSpPr txBox="1"/>
          <p:nvPr/>
        </p:nvSpPr>
        <p:spPr>
          <a:xfrm>
            <a:off x="457200" y="6150000"/>
            <a:ext cx="11277600" cy="500000"/>
          </a:xfrm>
          <a:prstGeom prst="rect">
            <a:avLst/>
          </a:prstGeom>
          <a:noFill/>
        </p:spPr>
        <p:txBody>
          <a:bodyPr wrap="square" lIns="0" rIns="0" tIns="0" bIns="0">
            <a:spAutoFit/>
          </a:bodyPr>
          <a:lstStyle/>
          <a:p>
            <a:pPr algn="l"/>
            <a:r>
              <a:rPr sz="900" b="0" i="0">
                <a:solidFill>
                  <a:srgbClr val="6B6B6B"/>
                </a:solidFill>
                <a:latin typeface="Arial"/>
              </a:rPr>
              <a:t>Topik 4 · skrin 21 daripada 22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T04-S21   ·   QUIZ</a:t>
            </a:r>
          </a:p>
          <a:p>
            <a:pPr algn="l"/>
            <a:r>
              <a:rPr sz="2400" b="1" i="0">
                <a:solidFill>
                  <a:srgbClr val="1A1A1A"/>
                </a:solidFill>
                <a:latin typeface="Arial"/>
              </a:rPr>
              <a:t>Kuiz  (samb. 2/2)</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0000"/>
            <a:ext cx="6766560" cy="4600000"/>
          </a:xfrm>
          <a:prstGeom prst="rect">
            <a:avLst/>
          </a:prstGeom>
          <a:noFill/>
        </p:spPr>
        <p:txBody>
          <a:bodyPr wrap="square" lIns="0" rIns="0" tIns="0" bIns="0">
            <a:spAutoFit/>
          </a:bodyPr>
          <a:lstStyle/>
          <a:p>
            <a:pPr algn="l"/>
            <a:r>
              <a:rPr sz="1000" b="1" i="0">
                <a:solidFill>
                  <a:srgbClr val="6B6B6B"/>
                </a:solidFill>
                <a:latin typeface="Arial"/>
              </a:rPr>
              <a:t>KANDUNGAN SKRIN (sambungan)</a:t>
            </a:r>
          </a:p>
          <a:p>
            <a:pPr algn="l" lvl="1"/>
            <a:r>
              <a:rPr sz="1300" b="0" i="0">
                <a:solidFill>
                  <a:srgbClr val="6A1B9A"/>
                </a:solidFill>
                <a:latin typeface="Arial"/>
              </a:rPr>
              <a:t>d · C. Kawalan Biologi</a:t>
            </a:r>
          </a:p>
          <a:p>
            <a:pPr algn="l" lvl="1"/>
            <a:r>
              <a:rPr sz="1300" b="0" i="0">
                <a:solidFill>
                  <a:srgbClr val="6A1B9A"/>
                </a:solidFill>
                <a:latin typeface="Arial"/>
              </a:rPr>
              <a:t>d · D. Kawalan Kimia</a:t>
            </a:r>
          </a:p>
          <a:p>
            <a:pPr algn="l"/>
            <a:r>
              <a:rPr sz="1100" b="0" i="0">
                <a:solidFill>
                  <a:srgbClr val="6B6B6B"/>
                </a:solidFill>
                <a:latin typeface="Arial"/>
              </a:rPr>
              <a:t>u · T04-QZ-Q4  (MCQ)</a:t>
            </a:r>
          </a:p>
          <a:p>
            <a:pPr algn="l"/>
            <a:r>
              <a:rPr sz="1300" b="0" i="0">
                <a:solidFill>
                  <a:srgbClr val="1B5E20"/>
                </a:solidFill>
                <a:latin typeface="Arial"/>
              </a:rPr>
              <a:t>A · Antara fungsi berikut, yang manakah merangkumi kerja menstabilkan tanah dan menguruskan aliran air?</a:t>
            </a:r>
          </a:p>
          <a:p>
            <a:pPr algn="l" lvl="1"/>
            <a:r>
              <a:rPr sz="1300" b="0" i="0">
                <a:solidFill>
                  <a:srgbClr val="6A1B9A"/>
                </a:solidFill>
                <a:latin typeface="Arial"/>
              </a:rPr>
              <a:t>d · A. Pengurusan Ruang dan Sirkulasi</a:t>
            </a:r>
          </a:p>
          <a:p>
            <a:pPr algn="l" lvl="1"/>
            <a:r>
              <a:rPr sz="1300" b="0" i="0">
                <a:solidFill>
                  <a:srgbClr val="6A1B9A"/>
                </a:solidFill>
                <a:latin typeface="Arial"/>
              </a:rPr>
              <a:t>d · B. Fungsi Struktur dan Kejuruteraan</a:t>
            </a:r>
          </a:p>
          <a:p>
            <a:pPr algn="l" lvl="1"/>
            <a:r>
              <a:rPr sz="1300" b="0" i="0">
                <a:solidFill>
                  <a:srgbClr val="6A1B9A"/>
                </a:solidFill>
                <a:latin typeface="Arial"/>
              </a:rPr>
              <a:t>d · C. Kebolehgunaan dan Kemudahan</a:t>
            </a:r>
          </a:p>
          <a:p>
            <a:pPr algn="l" lvl="1"/>
            <a:r>
              <a:rPr sz="1300" b="0" i="0">
                <a:solidFill>
                  <a:srgbClr val="6A1B9A"/>
                </a:solidFill>
                <a:latin typeface="Arial"/>
              </a:rPr>
              <a:t>d · D. Estetika dan Reka Bentuk</a:t>
            </a:r>
          </a:p>
          <a:p>
            <a:pPr algn="l"/>
            <a:r>
              <a:rPr sz="1100" b="0" i="0">
                <a:solidFill>
                  <a:srgbClr val="6B6B6B"/>
                </a:solidFill>
                <a:latin typeface="Arial"/>
              </a:rPr>
              <a:t>u · T04-QZ-Q5  (MULTIPLE_RESPONSE)</a:t>
            </a:r>
          </a:p>
          <a:p>
            <a:pPr algn="l"/>
            <a:r>
              <a:rPr sz="1300" b="0" i="0">
                <a:solidFill>
                  <a:srgbClr val="1B5E20"/>
                </a:solidFill>
                <a:latin typeface="Arial"/>
              </a:rPr>
              <a:t>A · Pilih SEMUA pernyataan yang tepat tentang kawalan semasa aktiviti semburan racun.</a:t>
            </a:r>
          </a:p>
          <a:p>
            <a:pPr algn="l" lvl="1"/>
            <a:r>
              <a:rPr sz="1300" b="0" i="0">
                <a:solidFill>
                  <a:srgbClr val="6A1B9A"/>
                </a:solidFill>
                <a:latin typeface="Arial"/>
              </a:rPr>
              <a:t>d · ☐ Pengendali semburan mesti berlesen atau telah menerima latihan</a:t>
            </a:r>
          </a:p>
          <a:p>
            <a:pPr algn="l" lvl="1"/>
            <a:r>
              <a:rPr sz="1300" b="0" i="0">
                <a:solidFill>
                  <a:srgbClr val="6A1B9A"/>
                </a:solidFill>
                <a:latin typeface="Arial"/>
              </a:rPr>
              <a:t>d · ☐ Pekerja mesti memakai PPE yang lengkap dan bersesuaian</a:t>
            </a:r>
          </a:p>
          <a:p>
            <a:pPr algn="l" lvl="1"/>
            <a:r>
              <a:rPr sz="1300" b="0" i="0">
                <a:solidFill>
                  <a:srgbClr val="6A1B9A"/>
                </a:solidFill>
                <a:latin typeface="Arial"/>
              </a:rPr>
              <a:t>d · ☐ Semburan hanya dilakukan semasa cuaca tenang</a:t>
            </a:r>
          </a:p>
          <a:p>
            <a:pPr algn="l" lvl="1"/>
            <a:r>
              <a:rPr sz="1300" b="0" i="0">
                <a:solidFill>
                  <a:srgbClr val="6A1B9A"/>
                </a:solidFill>
                <a:latin typeface="Arial"/>
              </a:rPr>
              <a:t>d · ☐ Salinan Helaian Data Keselamatan (SDS) disimpan di tapak</a:t>
            </a:r>
          </a:p>
          <a:p>
            <a:pPr algn="l" lvl="1"/>
            <a:r>
              <a:rPr sz="1300" b="0" i="0">
                <a:solidFill>
                  <a:srgbClr val="1B5E20"/>
                </a:solidFill>
                <a:latin typeface="Arial"/>
              </a:rPr>
              <a:t>A* · ☐ Semburan dijadualkan pada waktu petang tanpa mengambil kira keadaan cuaca</a:t>
            </a:r>
          </a:p>
          <a:p>
            <a:pPr algn="l" lvl="1"/>
            <a:r>
              <a:rPr sz="1300" b="0" i="0">
                <a:solidFill>
                  <a:srgbClr val="1B5E20"/>
                </a:solidFill>
                <a:latin typeface="Arial"/>
              </a:rPr>
              <a:t>A* · ☐ Semua racun dibeli daripada satu pembekal tunggal</a:t>
            </a:r>
          </a:p>
          <a:p>
            <a:pPr algn="l"/>
            <a:r>
              <a:rPr sz="1100" b="0" i="0">
                <a:solidFill>
                  <a:srgbClr val="6B6B6B"/>
                </a:solidFill>
                <a:latin typeface="Arial"/>
              </a:rPr>
              <a:t>u · SETERUSNYA</a:t>
            </a:r>
          </a:p>
        </p:txBody>
      </p:sp>
      <p:sp>
        <p:nvSpPr>
          <p:cNvPr id="5" name="TextBox 4"/>
          <p:cNvSpPr txBox="1"/>
          <p:nvPr/>
        </p:nvSpPr>
        <p:spPr>
          <a:xfrm>
            <a:off x="7523760" y="1320000"/>
            <a:ext cx="4211040" cy="4600000"/>
          </a:xfrm>
          <a:prstGeom prst="rect">
            <a:avLst/>
          </a:prstGeom>
          <a:noFill/>
        </p:spPr>
        <p:txBody>
          <a:bodyPr wrap="square" lIns="0" rIns="0" tIns="0" bIns="0">
            <a:spAutoFit/>
          </a:bodyPr>
          <a:lstStyle/>
          <a:p>
            <a:pPr algn="l"/>
            <a:r>
              <a:rPr sz="1000" b="1" i="0">
                <a:solidFill>
                  <a:srgbClr val="6B6B6B"/>
                </a:solidFill>
                <a:latin typeface="Arial"/>
              </a:rPr>
              <a:t>INTERAKSI</a:t>
            </a:r>
          </a:p>
          <a:p>
            <a:pPr algn="l"/>
            <a:r>
              <a:rPr sz="1000" b="0" i="0">
                <a:solidFill>
                  <a:srgbClr val="1A1A1A"/>
                </a:solidFill>
                <a:latin typeface="Arial"/>
              </a:rPr>
              <a:t>· Q1</a:t>
            </a:r>
          </a:p>
          <a:p>
            <a:pPr algn="l"/>
            <a:r>
              <a:rPr sz="1000" b="0" i="0">
                <a:solidFill>
                  <a:srgbClr val="1A1A1A"/>
                </a:solidFill>
                <a:latin typeface="Arial"/>
              </a:rPr>
              <a:t>· Q2</a:t>
            </a:r>
          </a:p>
          <a:p>
            <a:pPr algn="l"/>
            <a:r>
              <a:rPr sz="1000" b="0" i="0">
                <a:solidFill>
                  <a:srgbClr val="1A1A1A"/>
                </a:solidFill>
                <a:latin typeface="Arial"/>
              </a:rPr>
              <a:t>· Q3</a:t>
            </a:r>
          </a:p>
          <a:p>
            <a:pPr algn="l"/>
            <a:r>
              <a:rPr sz="1000" b="0" i="0">
                <a:solidFill>
                  <a:srgbClr val="1A1A1A"/>
                </a:solidFill>
                <a:latin typeface="Arial"/>
              </a:rPr>
              <a:t>· Q4</a:t>
            </a:r>
          </a:p>
          <a:p>
            <a:pPr algn="l"/>
            <a:r>
              <a:rPr sz="1000" b="0" i="0">
                <a:solidFill>
                  <a:srgbClr val="1A1A1A"/>
                </a:solidFill>
                <a:latin typeface="Arial"/>
              </a:rPr>
              <a:t>· Q5</a:t>
            </a:r>
          </a:p>
          <a:p>
            <a:pPr algn="l"/>
            <a:r>
              <a:rPr sz="1000" b="0" i="0">
                <a:solidFill>
                  <a:srgbClr val="1A1A1A"/>
                </a:solidFill>
                <a:latin typeface="Arial"/>
              </a:rPr>
              <a:t>· RESULT</a:t>
            </a:r>
          </a:p>
          <a:p>
            <a:pPr algn="l"/>
            <a:r>
              <a:rPr sz="800" b="0" i="0">
                <a:solidFill>
                  <a:srgbClr val="1A1A1A"/>
                </a:solidFill>
                <a:latin typeface="Arial"/>
              </a:rPr>
              <a:t/>
            </a:r>
          </a:p>
          <a:p>
            <a:pPr algn="l"/>
            <a:r>
              <a:rPr sz="1000" b="1" i="0">
                <a:solidFill>
                  <a:srgbClr val="6B6B6B"/>
                </a:solidFill>
                <a:latin typeface="Arial"/>
              </a:rPr>
              <a:t>VISUAL</a:t>
            </a:r>
          </a:p>
          <a:p>
            <a:pPr algn="l"/>
            <a:r>
              <a:rPr sz="1000" b="0" i="1">
                <a:solidFill>
                  <a:srgbClr val="6B6B6B"/>
                </a:solidFill>
                <a:latin typeface="Arial"/>
              </a:rPr>
              <a:t>Tiada visual khusus</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6B6B6B"/>
                </a:solidFill>
                <a:latin typeface="Arial"/>
              </a:rPr>
              <a:t>Skrin struktur — tiada baris modul</a:t>
            </a:r>
          </a:p>
          <a:p>
            <a:pPr algn="l"/>
            <a:r>
              <a:rPr sz="800" b="0" i="0">
                <a:solidFill>
                  <a:srgbClr val="6B6B6B"/>
                </a:solidFill>
                <a:latin typeface="Arial"/>
              </a:rPr>
              <a:t>Keputusan: T04-DEC-A21, T04-DEC-E01, T04-DEC-E02, T04-DEC-E03, T04-DEC-E04, T04-DEC-E05, T04-DEC-E06, T04-DEC-E07, T04-DEC-E08</a:t>
            </a:r>
          </a:p>
        </p:txBody>
      </p:sp>
      <p:sp>
        <p:nvSpPr>
          <p:cNvPr id="6" name="TextBox 5"/>
          <p:cNvSpPr txBox="1"/>
          <p:nvPr/>
        </p:nvSpPr>
        <p:spPr>
          <a:xfrm>
            <a:off x="457200" y="6150000"/>
            <a:ext cx="11277600" cy="500000"/>
          </a:xfrm>
          <a:prstGeom prst="rect">
            <a:avLst/>
          </a:prstGeom>
          <a:noFill/>
        </p:spPr>
        <p:txBody>
          <a:bodyPr wrap="square" lIns="0" rIns="0" tIns="0" bIns="0">
            <a:spAutoFit/>
          </a:bodyPr>
          <a:lstStyle/>
          <a:p>
            <a:pPr algn="l"/>
            <a:r>
              <a:rPr sz="900" b="0" i="0">
                <a:solidFill>
                  <a:srgbClr val="6B6B6B"/>
                </a:solidFill>
                <a:latin typeface="Arial"/>
              </a:rPr>
              <a:t>Topik 4 · skrin 21 daripada 22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T04-S22   ·   CLOSING</a:t>
            </a:r>
          </a:p>
          <a:p>
            <a:pPr algn="l"/>
            <a:r>
              <a:rPr sz="2400" b="1" i="0">
                <a:solidFill>
                  <a:srgbClr val="1A1A1A"/>
                </a:solidFill>
                <a:latin typeface="Arial"/>
              </a:rPr>
              <a:t>Tamat Topik</a:t>
            </a:r>
          </a:p>
        </p:txBody>
      </p:sp>
      <p:sp>
        <p:nvSpPr>
          <p:cNvPr id="3" name="Rectangle 2"/>
          <p:cNvSpPr/>
          <p:nvPr/>
        </p:nvSpPr>
        <p:spPr>
          <a:xfrm>
            <a:off x="457200" y="115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20000"/>
            <a:ext cx="6766560" cy="4600000"/>
          </a:xfrm>
          <a:prstGeom prst="rect">
            <a:avLst/>
          </a:prstGeom>
          <a:noFill/>
        </p:spPr>
        <p:txBody>
          <a:bodyPr wrap="square" lIns="0" rIns="0" tIns="0" bIns="0">
            <a:spAutoFit/>
          </a:bodyPr>
          <a:lstStyle/>
          <a:p>
            <a:pPr algn="l"/>
            <a:r>
              <a:rPr sz="1000" b="1" i="0">
                <a:solidFill>
                  <a:srgbClr val="6B6B6B"/>
                </a:solidFill>
                <a:latin typeface="Arial"/>
              </a:rPr>
              <a:t>KANDUNGAN SKRIN</a:t>
            </a:r>
          </a:p>
          <a:p>
            <a:pPr algn="l"/>
            <a:r>
              <a:rPr sz="1100" b="0" i="0">
                <a:solidFill>
                  <a:srgbClr val="6B6B6B"/>
                </a:solidFill>
                <a:latin typeface="Arial"/>
              </a:rPr>
              <a:t>u · Tamat Topik</a:t>
            </a:r>
          </a:p>
          <a:p>
            <a:pPr algn="l"/>
            <a:r>
              <a:rPr sz="1100" b="0" i="0">
                <a:solidFill>
                  <a:srgbClr val="6B6B6B"/>
                </a:solidFill>
                <a:latin typeface="Arial"/>
              </a:rPr>
              <a:t>u · Penjagaan dan Penyelenggaraan</a:t>
            </a:r>
          </a:p>
        </p:txBody>
      </p:sp>
      <p:sp>
        <p:nvSpPr>
          <p:cNvPr id="5" name="TextBox 4"/>
          <p:cNvSpPr txBox="1"/>
          <p:nvPr/>
        </p:nvSpPr>
        <p:spPr>
          <a:xfrm>
            <a:off x="7523760" y="1320000"/>
            <a:ext cx="4211040" cy="4600000"/>
          </a:xfrm>
          <a:prstGeom prst="rect">
            <a:avLst/>
          </a:prstGeom>
          <a:noFill/>
        </p:spPr>
        <p:txBody>
          <a:bodyPr wrap="square" lIns="0" rIns="0" tIns="0" bIns="0">
            <a:spAutoFit/>
          </a:bodyPr>
          <a:lstStyle/>
          <a:p>
            <a:pPr algn="l"/>
            <a:r>
              <a:rPr sz="1000" b="1" i="0">
                <a:solidFill>
                  <a:srgbClr val="6B6B6B"/>
                </a:solidFill>
                <a:latin typeface="Arial"/>
              </a:rPr>
              <a:t>INTERAKSI</a:t>
            </a:r>
          </a:p>
          <a:p>
            <a:pPr algn="l"/>
            <a:r>
              <a:rPr sz="1000" b="0" i="0">
                <a:solidFill>
                  <a:srgbClr val="1A1A1A"/>
                </a:solidFill>
                <a:latin typeface="Arial"/>
              </a:rPr>
              <a:t>· BASE only</a:t>
            </a:r>
          </a:p>
          <a:p>
            <a:pPr algn="l"/>
            <a:r>
              <a:rPr sz="800" b="0" i="0">
                <a:solidFill>
                  <a:srgbClr val="1A1A1A"/>
                </a:solidFill>
                <a:latin typeface="Arial"/>
              </a:rPr>
              <a:t/>
            </a:r>
          </a:p>
          <a:p>
            <a:pPr algn="l"/>
            <a:r>
              <a:rPr sz="1000" b="1" i="0">
                <a:solidFill>
                  <a:srgbClr val="6B6B6B"/>
                </a:solidFill>
                <a:latin typeface="Arial"/>
              </a:rPr>
              <a:t>VISUAL</a:t>
            </a:r>
          </a:p>
          <a:p>
            <a:pPr algn="l"/>
            <a:r>
              <a:rPr sz="1000" b="0" i="1">
                <a:solidFill>
                  <a:srgbClr val="6B6B6B"/>
                </a:solidFill>
                <a:latin typeface="Arial"/>
              </a:rPr>
              <a:t>Tiada visual khusus</a:t>
            </a:r>
          </a:p>
          <a:p>
            <a:pPr algn="l"/>
            <a:r>
              <a:rPr sz="800" b="0" i="0">
                <a:solidFill>
                  <a:srgbClr val="1A1A1A"/>
                </a:solidFill>
                <a:latin typeface="Arial"/>
              </a:rPr>
              <a:t/>
            </a:r>
          </a:p>
          <a:p>
            <a:pPr algn="l"/>
            <a:r>
              <a:rPr sz="1000" b="1" i="0">
                <a:solidFill>
                  <a:srgbClr val="6B6B6B"/>
                </a:solidFill>
                <a:latin typeface="Arial"/>
              </a:rPr>
              <a:t>SUMBER DAN KEPUTUSAN</a:t>
            </a:r>
          </a:p>
          <a:p>
            <a:pPr algn="l"/>
            <a:r>
              <a:rPr sz="800" b="0" i="0">
                <a:solidFill>
                  <a:srgbClr val="6B6B6B"/>
                </a:solidFill>
                <a:latin typeface="Arial"/>
              </a:rPr>
              <a:t>Skrin struktur — tiada baris modul</a:t>
            </a:r>
          </a:p>
          <a:p>
            <a:pPr algn="l"/>
            <a:r>
              <a:rPr sz="800" b="0" i="0">
                <a:solidFill>
                  <a:srgbClr val="6B6B6B"/>
                </a:solidFill>
                <a:latin typeface="Arial"/>
              </a:rPr>
              <a:t>Keputusan: T04-DEC-A22</a:t>
            </a:r>
          </a:p>
        </p:txBody>
      </p:sp>
      <p:sp>
        <p:nvSpPr>
          <p:cNvPr id="6" name="TextBox 5"/>
          <p:cNvSpPr txBox="1"/>
          <p:nvPr/>
        </p:nvSpPr>
        <p:spPr>
          <a:xfrm>
            <a:off x="457200" y="6150000"/>
            <a:ext cx="11277600" cy="500000"/>
          </a:xfrm>
          <a:prstGeom prst="rect">
            <a:avLst/>
          </a:prstGeom>
          <a:noFill/>
        </p:spPr>
        <p:txBody>
          <a:bodyPr wrap="square" lIns="0" rIns="0" tIns="0" bIns="0">
            <a:spAutoFit/>
          </a:bodyPr>
          <a:lstStyle/>
          <a:p>
            <a:pPr algn="l"/>
            <a:r>
              <a:rPr sz="900" b="0" i="0">
                <a:solidFill>
                  <a:srgbClr val="6B6B6B"/>
                </a:solidFill>
                <a:latin typeface="Arial"/>
              </a:rPr>
              <a:t>Topik 4 · skrin 22 daripada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