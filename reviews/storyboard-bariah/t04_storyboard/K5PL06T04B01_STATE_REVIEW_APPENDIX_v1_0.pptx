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00200"/>
            <a:ext cx="11277600" cy="2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B6B6B"/>
                </a:solidFill>
                <a:latin typeface="Arial"/>
              </a:rPr>
              <a:t>LAMPIRAN SEMAKAN KEADAAN RUNTIME</a:t>
            </a:r>
          </a:p>
          <a:p>
            <a:pPr algn="l"/>
            <a:r>
              <a:rPr sz="3200" b="1" i="0">
                <a:solidFill>
                  <a:srgbClr val="1A1A1A"/>
                </a:solidFill>
                <a:latin typeface="Arial"/>
              </a:rPr>
              <a:t>Topik 4: Penjagaan dan Penyelenggaraan</a:t>
            </a:r>
          </a:p>
          <a:p>
            <a:pPr algn="l"/>
            <a:r>
              <a:rPr sz="1600" b="0" i="0">
                <a:solidFill>
                  <a:srgbClr val="6B6B6B"/>
                </a:solidFill>
                <a:latin typeface="Arial"/>
              </a:rPr>
              <a:t>65 keadaan runtime merentas 22 skrin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/>
            </a:r>
          </a:p>
          <a:p>
            <a:pPr algn="l"/>
            <a:r>
              <a:rPr sz="1100" b="0" i="1">
                <a:solidFill>
                  <a:srgbClr val="6B6B6B"/>
                </a:solidFill>
                <a:latin typeface="Arial"/>
              </a:rPr>
              <a:t>Lampiran ini melengkapkan storyboard susun atur. Storyboard menunjukkan rupa setiap skrin; lampiran ini menunjukkan apa yang berlaku dalam setiap keadaan.</a:t>
            </a:r>
          </a:p>
          <a:p>
            <a:pPr algn="l"/>
            <a:r>
              <a:rPr sz="1100" b="0" i="1">
                <a:solidFill>
                  <a:srgbClr val="6B6B6B"/>
                </a:solidFill>
                <a:latin typeface="Arial"/>
              </a:rPr>
              <a:t>Setiap panel menjawab lima perkara: pencetus, kandungan, beza daripada keadaan asas, cara kembali, dan sumber serta kuasa.</a:t>
            </a:r>
          </a:p>
          <a:p>
            <a:pPr algn="l"/>
            <a:r>
              <a:rPr sz="1000" b="0" i="1">
                <a:solidFill>
                  <a:srgbClr val="6B6B6B"/>
                </a:solidFill>
                <a:latin typeface="Arial"/>
              </a:rPr>
              <a:t>Rujukan dalaman: K5-PL06-T04-B01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00"/>
            <a:ext cx="112776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T04-S03   ·   PROCESS_FLOW_STEPPED</a:t>
            </a:r>
          </a:p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Aliran proses penjagaan dan penyelenggaraan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20000"/>
            <a:ext cx="11277600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72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T04-S03-ST-BASE   ·   Keadaan asas</a:t>
            </a:r>
          </a:p>
          <a:p>
            <a:pPr algn="l"/>
            <a:r>
              <a:rPr sz="1200" b="1" i="0">
                <a:solidFill>
                  <a:srgbClr val="1B5E20"/>
                </a:solidFill>
                <a:latin typeface="Arial"/>
              </a:rPr>
              <a:t>Pencetus: screen entry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PENJAGAAN DAN PENYELENGGARAAN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Secara umumnya, berikut ialah aliran proses penjagaan dan penyelenggaran yang terlibat di dalam kerja pembinaan landskap luar: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Klik setiap langkah mengikut turutan.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SETERUSNYA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— ini keadaan asas —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Keadaan masuk. Pelajar meneruskan dengan SETERUSNYA setelah syarat selesai dipenuhi.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Baris: T04-ROW-001, T04-ROW-002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T04-DEC-A03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60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60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T04-S03-ST-01   ·   Langkah proses</a:t>
            </a:r>
          </a:p>
          <a:p>
            <a:pPr algn="l"/>
            <a:r>
              <a:rPr sz="1200" b="1" i="0">
                <a:solidFill>
                  <a:srgbClr val="37474F"/>
                </a:solidFill>
                <a:latin typeface="Arial"/>
              </a:rPr>
              <a:t>Pencetus: Koordinasi dan Demonstrasi Penyelenggaraan Taman  [T04-S03-TRG-01]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Koordinasi dan Demonstrasi Penyelenggaraan Taman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Menandakan langkah 1 daripada enam, "Koordinasi dan Demonstrasi Penyelenggaraan Taman". Keenam-enam label sudah kelihatan dalam keadaan asas; keadaan langkah menandakan kedudukan, ia tidak mendedahkan teks baharu.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Langkah kekal ditandakan. Pelajar meneruskan ke langkah berikutnya atau kembali ke pandangan aliran. Tiada navigasi keluar dari skrin.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Baris: T04-ROW-003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T04-DEC-A03</a:t>
            </a:r>
          </a:p>
          <a:p>
            <a:pPr algn="l" lvl="1"/>
            <a:r>
              <a:rPr sz="900" b="0" i="0">
                <a:solidFill>
                  <a:srgbClr val="B71C1C"/>
                </a:solidFill>
                <a:latin typeface="Arial"/>
              </a:rPr>
              <a:t>HAD: Enam aktiviti berada di dalam rajah SmartArt T04-DGM-01. Ekstrak terkawal membawa rajah itu sebagai satu baris tanpa teks, jadi keadaan ini terikat kepada keperluan visual dan bukan kepada baris teks.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50000"/>
            <a:ext cx="112776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Lampiran keadaan · halaman 1 daripada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00"/>
            <a:ext cx="112776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T04-S03   ·   PROCESS_FLOW_STEPPED</a:t>
            </a:r>
          </a:p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Aliran proses penjagaan dan penyelenggaraan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20000"/>
            <a:ext cx="11277600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72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T04-S03-ST-02   ·   Langkah proses</a:t>
            </a:r>
          </a:p>
          <a:p>
            <a:pPr algn="l"/>
            <a:r>
              <a:rPr sz="1200" b="1" i="0">
                <a:solidFill>
                  <a:srgbClr val="37474F"/>
                </a:solidFill>
                <a:latin typeface="Arial"/>
              </a:rPr>
              <a:t>Pencetus: Penyeliaan Penyelenggaraan Taman  [T04-S03-TRG-02]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Penyeliaan Penyelenggaraan Taman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Menandakan langkah 2 daripada enam, "Penyeliaan Penyelenggaraan Taman". Keenam-enam label sudah kelihatan dalam keadaan asas; keadaan langkah menandakan kedudukan, ia tidak mendedahkan teks baharu.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Langkah kekal ditandakan. Pelajar meneruskan ke langkah berikutnya atau kembali ke pandangan aliran. Tiada navigasi keluar dari skrin.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Baris: T04-ROW-003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T04-DEC-A03</a:t>
            </a:r>
          </a:p>
          <a:p>
            <a:pPr algn="l" lvl="1"/>
            <a:r>
              <a:rPr sz="900" b="0" i="0">
                <a:solidFill>
                  <a:srgbClr val="B71C1C"/>
                </a:solidFill>
                <a:latin typeface="Arial"/>
              </a:rPr>
              <a:t>HAD: Enam aktiviti berada di dalam rajah SmartArt T04-DGM-01. Ekstrak terkawal membawa rajah itu sebagai satu baris tanpa teks, jadi keadaan ini terikat kepada keperluan visual dan bukan kepada baris teks.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60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60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T04-S03-ST-03   ·   Langkah proses</a:t>
            </a:r>
          </a:p>
          <a:p>
            <a:pPr algn="l"/>
            <a:r>
              <a:rPr sz="1200" b="1" i="0">
                <a:solidFill>
                  <a:srgbClr val="37474F"/>
                </a:solidFill>
                <a:latin typeface="Arial"/>
              </a:rPr>
              <a:t>Pencetus: Penyeliaan Operasi Nurseri  [T04-S03-TRG-03]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Penyeliaan Operasi Nurseri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Menandakan langkah 3 daripada enam, "Penyeliaan Operasi Nurseri". Keenam-enam label sudah kelihatan dalam keadaan asas; keadaan langkah menandakan kedudukan, ia tidak mendedahkan teks baharu.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Langkah kekal ditandakan. Pelajar meneruskan ke langkah berikutnya atau kembali ke pandangan aliran. Tiada navigasi keluar dari skrin.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Baris: T04-ROW-003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T04-DEC-A03</a:t>
            </a:r>
          </a:p>
          <a:p>
            <a:pPr algn="l" lvl="1"/>
            <a:r>
              <a:rPr sz="900" b="0" i="0">
                <a:solidFill>
                  <a:srgbClr val="B71C1C"/>
                </a:solidFill>
                <a:latin typeface="Arial"/>
              </a:rPr>
              <a:t>HAD: Enam aktiviti berada di dalam rajah SmartArt T04-DGM-01. Ekstrak terkawal membawa rajah itu sebagai satu baris tanpa teks, jadi keadaan ini terikat kepada keperluan visual dan bukan kepada baris teks.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50000"/>
            <a:ext cx="112776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Lampiran keadaan · halaman 2 daripada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00"/>
            <a:ext cx="112776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T04-S03   ·   PROCESS_FLOW_STEPPED</a:t>
            </a:r>
          </a:p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Aliran proses penjagaan dan penyelenggaraan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20000"/>
            <a:ext cx="11277600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72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T04-S03-ST-04   ·   Langkah proses</a:t>
            </a:r>
          </a:p>
          <a:p>
            <a:pPr algn="l"/>
            <a:r>
              <a:rPr sz="1200" b="1" i="0">
                <a:solidFill>
                  <a:srgbClr val="37474F"/>
                </a:solidFill>
                <a:latin typeface="Arial"/>
              </a:rPr>
              <a:t>Pencetus: Penyeliaan Alatan dan Mesin Penyelenggaraan Taman  [T04-S03-TRG-04]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Penyeliaan Alatan dan Mesin Penyelenggaraan Taman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Menandakan langkah 4 daripada enam, "Penyeliaan Alatan dan Mesin Penyelenggaraan Taman". Keenam-enam label sudah kelihatan dalam keadaan asas; keadaan langkah menandakan kedudukan, ia tidak mendedahkan teks baharu.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Langkah kekal ditandakan. Pelajar meneruskan ke langkah berikutnya atau kembali ke pandangan aliran. Tiada navigasi keluar dari skrin.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Baris: T04-ROW-003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T04-DEC-A03</a:t>
            </a:r>
          </a:p>
          <a:p>
            <a:pPr algn="l" lvl="1"/>
            <a:r>
              <a:rPr sz="900" b="0" i="0">
                <a:solidFill>
                  <a:srgbClr val="B71C1C"/>
                </a:solidFill>
                <a:latin typeface="Arial"/>
              </a:rPr>
              <a:t>HAD: Enam aktiviti berada di dalam rajah SmartArt T04-DGM-01. Ekstrak terkawal membawa rajah itu sebagai satu baris tanpa teks, jadi keadaan ini terikat kepada keperluan visual dan bukan kepada baris teks.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60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60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T04-S03-ST-05   ·   Langkah proses</a:t>
            </a:r>
          </a:p>
          <a:p>
            <a:pPr algn="l"/>
            <a:r>
              <a:rPr sz="1200" b="1" i="0">
                <a:solidFill>
                  <a:srgbClr val="37474F"/>
                </a:solidFill>
                <a:latin typeface="Arial"/>
              </a:rPr>
              <a:t>Pencetus: Penyeliaan Inventori Taman  [T04-S03-TRG-05]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Penyeliaan Inventori Taman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Menandakan langkah 5 daripada enam, "Penyeliaan Inventori Taman". Keenam-enam label sudah kelihatan dalam keadaan asas; keadaan langkah menandakan kedudukan, ia tidak mendedahkan teks baharu.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Langkah kekal ditandakan. Pelajar meneruskan ke langkah berikutnya atau kembali ke pandangan aliran. Tiada navigasi keluar dari skrin.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Baris: T04-ROW-003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T04-DEC-A03</a:t>
            </a:r>
          </a:p>
          <a:p>
            <a:pPr algn="l" lvl="1"/>
            <a:r>
              <a:rPr sz="900" b="0" i="0">
                <a:solidFill>
                  <a:srgbClr val="B71C1C"/>
                </a:solidFill>
                <a:latin typeface="Arial"/>
              </a:rPr>
              <a:t>HAD: Enam aktiviti berada di dalam rajah SmartArt T04-DGM-01. Ekstrak terkawal membawa rajah itu sebagai satu baris tanpa teks, jadi keadaan ini terikat kepada keperluan visual dan bukan kepada baris teks.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50000"/>
            <a:ext cx="112776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Lampiran keadaan · halaman 3 daripada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00"/>
            <a:ext cx="112776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T04-S03   ·   PROCESS_FLOW_STEPPED</a:t>
            </a:r>
          </a:p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Aliran proses penjagaan dan penyelenggaraan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20000"/>
            <a:ext cx="11277600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72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T04-S03-ST-06   ·   Langkah proses</a:t>
            </a:r>
          </a:p>
          <a:p>
            <a:pPr algn="l"/>
            <a:r>
              <a:rPr sz="1200" b="1" i="0">
                <a:solidFill>
                  <a:srgbClr val="37474F"/>
                </a:solidFill>
                <a:latin typeface="Arial"/>
              </a:rPr>
              <a:t>Pencetus: Perancangan Sumber Manusia dan Kebajikan Pekerja  [T04-S03-TRG-06]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Perancangan Sumber Manusia dan Kebajikan Pekerja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Menandakan langkah 6 daripada enam, "Perancangan Sumber Manusia dan Kebajikan Pekerja". Keenam-enam label sudah kelihatan dalam keadaan asas; keadaan langkah menandakan kedudukan, ia tidak mendedahkan teks baharu.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Langkah kekal ditandakan. Pelajar meneruskan ke langkah berikutnya atau kembali ke pandangan aliran. Tiada navigasi keluar dari skrin.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Baris: T04-ROW-003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T04-DEC-A03</a:t>
            </a:r>
          </a:p>
          <a:p>
            <a:pPr algn="l" lvl="1"/>
            <a:r>
              <a:rPr sz="900" b="0" i="0">
                <a:solidFill>
                  <a:srgbClr val="B71C1C"/>
                </a:solidFill>
                <a:latin typeface="Arial"/>
              </a:rPr>
              <a:t>HAD: Enam aktiviti berada di dalam rajah SmartArt T04-DGM-01. Ekstrak terkawal membawa rajah itu sebagai satu baris tanpa teks, jadi keadaan ini terikat kepada keperluan visual dan bukan kepada baris teks.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60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60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T04-S03-ST-ALL_VIEWED   ·   Penanda selesai</a:t>
            </a:r>
          </a:p>
          <a:p>
            <a:pPr algn="l"/>
            <a:r>
              <a:rPr sz="1200" b="1" i="0">
                <a:solidFill>
                  <a:srgbClr val="37474F"/>
                </a:solidFill>
                <a:latin typeface="Arial"/>
              </a:rPr>
              <a:t>Pencetus: every reveal or step viewed  [T04-S03-TRG-ALL]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1">
                <a:solidFill>
                  <a:srgbClr val="6B6B6B"/>
                </a:solidFill>
                <a:latin typeface="Arial"/>
              </a:rPr>
              <a:t>Tiada kandungan dipaparkan — penanda sahaja.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Tidak memaparkan apa-apa kandungan sendiri. Ia penanda selesai yang membuka SETERUSNYA.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Bukan keadaan yang dipaparkan. Penanda yang menjadi benar setelah semua pendedahan atau langkah dilihat, dan inilah yang membuka SETERUSNYA.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Tiada baris modul — keadaan struktur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50000"/>
            <a:ext cx="112776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Lampiran keadaan · halaman 4 daripada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00"/>
            <a:ext cx="112776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T04-S06   ·   CLICK_TO_REVEAL</a:t>
            </a:r>
          </a:p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Siram — kaedah pelaksanaan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20000"/>
            <a:ext cx="11277600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72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T04-S06-ST-BASE   ·   Keadaan asas</a:t>
            </a:r>
          </a:p>
          <a:p>
            <a:pPr algn="l"/>
            <a:r>
              <a:rPr sz="1200" b="1" i="0">
                <a:solidFill>
                  <a:srgbClr val="1B5E20"/>
                </a:solidFill>
                <a:latin typeface="Arial"/>
              </a:rPr>
              <a:t>Pencetus: screen entry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Kaedah Pelaksanaan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Penyiraman Manual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Sistem Pengairan Automatik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SETERUSNYA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— ini keadaan asas —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Keadaan masuk. Pelajar meneruskan dengan SETERUSNYA setelah syarat selesai dipenuhi.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Baris: T04-ROW-008, T04-ROW-009, T04-ROW-011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T04-DEC-A06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60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60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T04-S06-ST-01   ·   Panel pendedahan</a:t>
            </a:r>
          </a:p>
          <a:p>
            <a:pPr algn="l"/>
            <a:r>
              <a:rPr sz="1200" b="1" i="0">
                <a:solidFill>
                  <a:srgbClr val="37474F"/>
                </a:solidFill>
                <a:latin typeface="Arial"/>
              </a:rPr>
              <a:t>Pencetus: Penyiraman Manual  [T04-S06-TRG-01]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Menggunakan hos getah dengan muncung semburan (nozzle). Kaedah ini fleksibel tetapi memerlukan tenaga kerja yang ramai dan kurang konsisten.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Menambah kandungan "Penyiraman Manual" — 1 rekod yang tidak dipaparkan dalam keadaan asas.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Panel tertutup apabila ditekan sekali lagi atau apabila panel lain dibuka. Keadaan asas kembali dan sentiasa boleh dicapai. Tiada navigasi berlaku.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Baris: T04-ROW-009, T04-ROW-010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50000"/>
            <a:ext cx="112776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Lampiran keadaan · halaman 5 daripada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00"/>
            <a:ext cx="112776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T04-S06   ·   CLICK_TO_REVEAL</a:t>
            </a:r>
          </a:p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Siram — kaedah pelaksanaan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20000"/>
            <a:ext cx="11277600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72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T04-S06-ST-02   ·   Panel pendedahan</a:t>
            </a:r>
          </a:p>
          <a:p>
            <a:pPr algn="l"/>
            <a:r>
              <a:rPr sz="1200" b="1" i="0">
                <a:solidFill>
                  <a:srgbClr val="37474F"/>
                </a:solidFill>
                <a:latin typeface="Arial"/>
              </a:rPr>
              <a:t>Pencetus: Sistem Pengairan Automatik  [T04-S06-TRG-02]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Sistem Semburan (Sprinkler System)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Sesuai untuk kawasan rumput yang luas.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Sistem Titis (Drip Irrigation System)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Sangat efisien untuk pokok individu atau pokok renek kerana ia membekalkan air terus ke zon akar, mengurangkan pembaziran air melalui penyejatan.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Menambah kandungan "Sistem Pengairan Automatik" — 4 rekod yang tidak dipaparkan dalam keadaan asas.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Panel tertutup apabila ditekan sekali lagi atau apabila panel lain dibuka. Keadaan asas kembali dan sentiasa boleh dicapai. Tiada navigasi berlaku.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Baris: T04-ROW-011, T04-ROW-012, T04-ROW-013, T04-ROW-014, T04-ROW-015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T04-DEC-A06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60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60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T04-S06-ST-ALL_VIEWED   ·   Penanda selesai</a:t>
            </a:r>
          </a:p>
          <a:p>
            <a:pPr algn="l"/>
            <a:r>
              <a:rPr sz="1200" b="1" i="0">
                <a:solidFill>
                  <a:srgbClr val="37474F"/>
                </a:solidFill>
                <a:latin typeface="Arial"/>
              </a:rPr>
              <a:t>Pencetus: every reveal or step viewed  [T04-S06-TRG-ALL]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1">
                <a:solidFill>
                  <a:srgbClr val="6B6B6B"/>
                </a:solidFill>
                <a:latin typeface="Arial"/>
              </a:rPr>
              <a:t>Tiada kandungan dipaparkan — penanda sahaja.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Tidak memaparkan apa-apa kandungan sendiri. Ia penanda selesai yang membuka SETERUSNYA.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Bukan keadaan yang dipaparkan. Penanda yang menjadi benar setelah semua pendedahan atau langkah dilihat, dan inilah yang membuka SETERUSNYA.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Tiada baris modul — keadaan struktur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50000"/>
            <a:ext cx="112776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Lampiran keadaan · halaman 6 daripada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00"/>
            <a:ext cx="112776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T04-S07   ·   CLICK_TO_REVEAL</a:t>
            </a:r>
          </a:p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Siram — aspek pengurusan untuk kontraktor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20000"/>
            <a:ext cx="11277600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72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T04-S07-ST-BASE   ·   Keadaan asas</a:t>
            </a:r>
          </a:p>
          <a:p>
            <a:pPr algn="l"/>
            <a:r>
              <a:rPr sz="1200" b="1" i="0">
                <a:solidFill>
                  <a:srgbClr val="1B5E20"/>
                </a:solidFill>
                <a:latin typeface="Arial"/>
              </a:rPr>
              <a:t>Pencetus: screen entry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Aspek Pengurusan untuk Kontraktor: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Jadual Penyiraman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Pengurusan Sumber Air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Pemantauan &amp; Pelaporan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Kecekapan Kos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SETERUSNYA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— ini keadaan asas —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Keadaan masuk. Pelajar meneruskan dengan SETERUSNYA setelah syarat selesai dipenuhi.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Baris: T04-ROW-016, T04-ROW-017, T04-ROW-020, T04-ROW-022, T04-ROW-024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T04-DEC-A07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60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60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T04-S07-ST-01   ·   Panel pendedahan</a:t>
            </a:r>
          </a:p>
          <a:p>
            <a:pPr algn="l"/>
            <a:r>
              <a:rPr sz="1200" b="1" i="0">
                <a:solidFill>
                  <a:srgbClr val="37474F"/>
                </a:solidFill>
                <a:latin typeface="Arial"/>
              </a:rPr>
              <a:t>Pencetus: Jadual Penyiraman  [T04-S07-TRG-01]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Membangunkan jadual kerja penyiraman yang sistematik. Amalan terbaik adalah menyiram pada awal pagi atau lewat petang untuk meminimumkan kehilangan air akibat penyejatan.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Kekerapan dan kuantiti siraman mesti disesuaikan mengikut jenis tanaman, keadaan cuaca, dan peringkat tumbesaran. Tanaman baru memerlukan siraman lebih kerap.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Menambah kandungan "Jadual Penyiraman" — 2 rekod yang tidak dipaparkan dalam keadaan asas.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Panel tertutup apabila ditekan sekali lagi atau apabila panel lain dibuka. Keadaan asas kembali dan sentiasa boleh dicapai. Tiada navigasi berlaku.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Baris: T04-ROW-017, T04-ROW-018, T04-ROW-019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50000"/>
            <a:ext cx="112776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Lampiran keadaan · halaman 7 daripada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00"/>
            <a:ext cx="112776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T04-S07   ·   CLICK_TO_REVEAL</a:t>
            </a:r>
          </a:p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Siram — aspek pengurusan untuk kontraktor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20000"/>
            <a:ext cx="11277600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72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T04-S07-ST-02   ·   Panel pendedahan</a:t>
            </a:r>
          </a:p>
          <a:p>
            <a:pPr algn="l"/>
            <a:r>
              <a:rPr sz="1200" b="1" i="0">
                <a:solidFill>
                  <a:srgbClr val="37474F"/>
                </a:solidFill>
                <a:latin typeface="Arial"/>
              </a:rPr>
              <a:t>Pencetus: Pengurusan Sumber Air  [T04-S07-TRG-02]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Memastikan sumber air mencukupi dan tekanan air memadai untuk keseluruhan tapak. Sekiranya menggunakan sistem automatik, kontraktor bertanggungjawab untuk memeriksa, menguji, dan membaiki sebarang kerosakan seperti muncung tersumbat atau kebocoran paip.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Menambah kandungan "Pengurusan Sumber Air" — 1 rekod yang tidak dipaparkan dalam keadaan asas.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Panel tertutup apabila ditekan sekali lagi atau apabila panel lain dibuka. Keadaan asas kembali dan sentiasa boleh dicapai. Tiada navigasi berlaku.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Baris: T04-ROW-020, T04-ROW-021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T04-DEC-A07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60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60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T04-S07-ST-03   ·   Panel pendedahan</a:t>
            </a:r>
          </a:p>
          <a:p>
            <a:pPr algn="l"/>
            <a:r>
              <a:rPr sz="1200" b="1" i="0">
                <a:solidFill>
                  <a:srgbClr val="37474F"/>
                </a:solidFill>
                <a:latin typeface="Arial"/>
              </a:rPr>
              <a:t>Pencetus: Pemantauan &amp; Pelaporan  [T04-S07-TRG-03]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Pekerja perlu dilatih untuk mengenal pasti tanda-tanda kekurangan air (daun layu, kering) atau terlebih air (daun kuning, akar reput). Aktiviti penyiraman perlu direkodkan dalam laporan harian tapak sebagai bukti pelaksanaan kerja.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Menambah kandungan "Pemantauan &amp; Pelaporan" — 1 rekod yang tidak dipaparkan dalam keadaan asas.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Panel tertutup apabila ditekan sekali lagi atau apabila panel lain dibuka. Keadaan asas kembali dan sentiasa boleh dicapai. Tiada navigasi berlaku.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Baris: T04-ROW-022, T04-ROW-023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50000"/>
            <a:ext cx="112776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Lampiran keadaan · halaman 8 daripada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00"/>
            <a:ext cx="112776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T04-S07   ·   CLICK_TO_REVEAL</a:t>
            </a:r>
          </a:p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Siram — aspek pengurusan untuk kontraktor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20000"/>
            <a:ext cx="11277600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72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T04-S07-ST-04   ·   Panel pendedahan</a:t>
            </a:r>
          </a:p>
          <a:p>
            <a:pPr algn="l"/>
            <a:r>
              <a:rPr sz="1200" b="1" i="0">
                <a:solidFill>
                  <a:srgbClr val="37474F"/>
                </a:solidFill>
                <a:latin typeface="Arial"/>
              </a:rPr>
              <a:t>Pencetus: Kecekapan Kos  [T04-S07-TRG-04]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Mengoptimumkan kaedah penyiraman untuk mengawal kos bil air, terutamanya dalam projek berskala besar.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Menambah kandungan "Kecekapan Kos" — 1 rekod yang tidak dipaparkan dalam keadaan asas.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Panel tertutup apabila ditekan sekali lagi atau apabila panel lain dibuka. Keadaan asas kembali dan sentiasa boleh dicapai. Tiada navigasi berlaku.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Baris: T04-ROW-024, T04-ROW-025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T04-DEC-A07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60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60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T04-S07-ST-ALL_VIEWED   ·   Penanda selesai</a:t>
            </a:r>
          </a:p>
          <a:p>
            <a:pPr algn="l"/>
            <a:r>
              <a:rPr sz="1200" b="1" i="0">
                <a:solidFill>
                  <a:srgbClr val="37474F"/>
                </a:solidFill>
                <a:latin typeface="Arial"/>
              </a:rPr>
              <a:t>Pencetus: every reveal or step viewed  [T04-S07-TRG-ALL]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1">
                <a:solidFill>
                  <a:srgbClr val="6B6B6B"/>
                </a:solidFill>
                <a:latin typeface="Arial"/>
              </a:rPr>
              <a:t>Tiada kandungan dipaparkan — penanda sahaja.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Tidak memaparkan apa-apa kandungan sendiri. Ia penanda selesai yang membuka SETERUSNYA.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Bukan keadaan yang dipaparkan. Penanda yang menjadi benar setelah semua pendedahan atau langkah dilihat, dan inilah yang membuka SETERUSNYA.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Tiada baris modul — keadaan struktur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50000"/>
            <a:ext cx="112776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Lampiran keadaan · halaman 9 daripada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00"/>
            <a:ext cx="112776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T04-S09   ·   CLICK_TO_REVEAL</a:t>
            </a:r>
          </a:p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Baja — kaedah pelaksanaan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20000"/>
            <a:ext cx="11277600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72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T04-S09-ST-BASE   ·   Keadaan asas</a:t>
            </a:r>
          </a:p>
          <a:p>
            <a:pPr algn="l"/>
            <a:r>
              <a:rPr sz="1200" b="1" i="0">
                <a:solidFill>
                  <a:srgbClr val="1B5E20"/>
                </a:solidFill>
                <a:latin typeface="Arial"/>
              </a:rPr>
              <a:t>Pencetus: screen entry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Kaedah Pelaksanaan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Pembajaan Tabur (Broadcasting)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Pembajaan Poket (Pocketing)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Semburan Folia (Foliar Spray)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SETERUSNYA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— ini keadaan asas —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Keadaan masuk. Pelajar meneruskan dengan SETERUSNYA setelah syarat selesai dipenuhi.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Baris: T04-ROW-028, T04-ROW-029, T04-ROW-031, T04-ROW-033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T04-DEC-A09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60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60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T04-S09-ST-01   ·   Panel pendedahan</a:t>
            </a:r>
          </a:p>
          <a:p>
            <a:pPr algn="l"/>
            <a:r>
              <a:rPr sz="1200" b="1" i="0">
                <a:solidFill>
                  <a:srgbClr val="37474F"/>
                </a:solidFill>
                <a:latin typeface="Arial"/>
              </a:rPr>
              <a:t>Pencetus: Pembajaan Tabur (Broadcasting)  [T04-S09-TRG-01]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Menabur baja butiran (granular) secara rata di sekeliling zon akar tumbuhan atau di atas permukaan rumput.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Menambah kandungan "Pembajaan Tabur (Broadcasting)" — 1 rekod yang tidak dipaparkan dalam keadaan asas.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Panel tertutup apabila ditekan sekali lagi atau apabila panel lain dibuka. Keadaan asas kembali dan sentiasa boleh dicapai. Tiada navigasi berlaku.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Baris: T04-ROW-029, T04-ROW-030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50000"/>
            <a:ext cx="112776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Lampiran keadaan · halaman 10 daripada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00"/>
            <a:ext cx="112776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T04-S09   ·   CLICK_TO_REVEAL</a:t>
            </a:r>
          </a:p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Baja — kaedah pelaksanaan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20000"/>
            <a:ext cx="11277600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72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T04-S09-ST-02   ·   Panel pendedahan</a:t>
            </a:r>
          </a:p>
          <a:p>
            <a:pPr algn="l"/>
            <a:r>
              <a:rPr sz="1200" b="1" i="0">
                <a:solidFill>
                  <a:srgbClr val="37474F"/>
                </a:solidFill>
                <a:latin typeface="Arial"/>
              </a:rPr>
              <a:t>Pencetus: Pembajaan Poket (Pocketing)  [T04-S09-TRG-02]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Menggali lubang-lubang kecil di sekeliling zon akar pokok, memasukkan baja, dan menutupnya kembali. Kaedah ini lebih berkesan untuk pokok besar.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Menambah kandungan "Pembajaan Poket (Pocketing)" — 1 rekod yang tidak dipaparkan dalam keadaan asas.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Panel tertutup apabila ditekan sekali lagi atau apabila panel lain dibuka. Keadaan asas kembali dan sentiasa boleh dicapai. Tiada navigasi berlaku.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Baris: T04-ROW-031, T04-ROW-032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T04-DEC-A09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60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60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T04-S09-ST-03   ·   Panel pendedahan</a:t>
            </a:r>
          </a:p>
          <a:p>
            <a:pPr algn="l"/>
            <a:r>
              <a:rPr sz="1200" b="1" i="0">
                <a:solidFill>
                  <a:srgbClr val="37474F"/>
                </a:solidFill>
                <a:latin typeface="Arial"/>
              </a:rPr>
              <a:t>Pencetus: Semburan Folia (Foliar Spray)  [T04-S09-TRG-03]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Menyembur baja cecair terus ke daun untuk penyerapan nutrien yang pantas.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Menambah kandungan "Semburan Folia (Foliar Spray)" — 1 rekod yang tidak dipaparkan dalam keadaan asas.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Panel tertutup apabila ditekan sekali lagi atau apabila panel lain dibuka. Keadaan asas kembali dan sentiasa boleh dicapai. Tiada navigasi berlaku.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Baris: T04-ROW-033, T04-ROW-034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50000"/>
            <a:ext cx="112776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Lampiran keadaan · halaman 11 daripada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00"/>
            <a:ext cx="112776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T04-S09   ·   CLICK_TO_REVEAL</a:t>
            </a:r>
          </a:p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Baja — kaedah pelaksanaan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20000"/>
            <a:ext cx="11277600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000"/>
            <a:ext cx="112776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7200" y="1460000"/>
            <a:ext cx="109176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T04-S09-ST-ALL_VIEWED   ·   Penanda selesai</a:t>
            </a:r>
          </a:p>
          <a:p>
            <a:pPr algn="l"/>
            <a:r>
              <a:rPr sz="1200" b="1" i="0">
                <a:solidFill>
                  <a:srgbClr val="37474F"/>
                </a:solidFill>
                <a:latin typeface="Arial"/>
              </a:rPr>
              <a:t>Pencetus: every reveal or step viewed  [T04-S09-TRG-ALL]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1">
                <a:solidFill>
                  <a:srgbClr val="6B6B6B"/>
                </a:solidFill>
                <a:latin typeface="Arial"/>
              </a:rPr>
              <a:t>Tiada kandungan dipaparkan — penanda sahaja.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Tidak memaparkan apa-apa kandungan sendiri. Ia penanda selesai yang membuka SETERUSNYA.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Bukan keadaan yang dipaparkan. Penanda yang menjadi benar setelah semua pendedahan atau langkah dilihat, dan inilah yang membuka SETERUSNYA.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Tiada baris modul — keadaan struktur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150000"/>
            <a:ext cx="112776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Lampiran keadaan · halaman 12 daripada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00"/>
            <a:ext cx="112776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T04-S10   ·   CLICK_TO_REVEAL</a:t>
            </a:r>
          </a:p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Baja — aspek pengurusan untuk kontraktor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20000"/>
            <a:ext cx="11277600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72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T04-S10-ST-BASE   ·   Keadaan asas</a:t>
            </a:r>
          </a:p>
          <a:p>
            <a:pPr algn="l"/>
            <a:r>
              <a:rPr sz="1200" b="1" i="0">
                <a:solidFill>
                  <a:srgbClr val="1B5E20"/>
                </a:solidFill>
                <a:latin typeface="Arial"/>
              </a:rPr>
              <a:t>Pencetus: screen entry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Aspek Pengurusan untuk Kontraktor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Program Pembajaan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Pematuhan Spesifikasi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Pengurusan Stok dan Penyimpanan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Keselamatan Pekerja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Dokumentasi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SETERUSNYA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— ini keadaan asas —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Keadaan masuk. Pelajar meneruskan dengan SETERUSNYA setelah syarat selesai dipenuhi.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Baris: T04-ROW-035, T04-ROW-036, T04-ROW-038, T04-ROW-040, T04-ROW-042, T04-ROW-044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60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60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T04-S10-ST-01   ·   Panel pendedahan</a:t>
            </a:r>
          </a:p>
          <a:p>
            <a:pPr algn="l"/>
            <a:r>
              <a:rPr sz="1200" b="1" i="0">
                <a:solidFill>
                  <a:srgbClr val="37474F"/>
                </a:solidFill>
                <a:latin typeface="Arial"/>
              </a:rPr>
              <a:t>Pencetus: Program Pembajaan  [T04-S10-TRG-01]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Merancang program pembajaan yang mematuhi spesifikasi kontrak. Program ini perlu menyatakan jenis baja (organik atau kimia), kadar NPK, kuantiti, dan kekerapan aplikasi untuk setiap jenis tanaman.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Menambah kandungan "Program Pembajaan" — 1 rekod yang tidak dipaparkan dalam keadaan asas.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Panel tertutup apabila ditekan sekali lagi atau apabila panel lain dibuka. Keadaan asas kembali dan sentiasa boleh dicapai. Tiada navigasi berlaku.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Baris: T04-ROW-036, T04-ROW-037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50000"/>
            <a:ext cx="112776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Lampiran keadaan · halaman 13 daripada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00"/>
            <a:ext cx="112776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T04-S10   ·   CLICK_TO_REVEAL</a:t>
            </a:r>
          </a:p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Baja — aspek pengurusan untuk kontraktor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20000"/>
            <a:ext cx="11277600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72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T04-S10-ST-02   ·   Panel pendedahan</a:t>
            </a:r>
          </a:p>
          <a:p>
            <a:pPr algn="l"/>
            <a:r>
              <a:rPr sz="1200" b="1" i="0">
                <a:solidFill>
                  <a:srgbClr val="37474F"/>
                </a:solidFill>
                <a:latin typeface="Arial"/>
              </a:rPr>
              <a:t>Pencetus: Pematuhan Spesifikasi  [T04-S10-TRG-02]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Memastikan baja yang digunakan adalah seperti yang ditetapkan dalam dokumen kontrak atau diluluskan oleh Pegawai Penguasa (S.O.). Penggunaan baja yang salah boleh merosakkan tanaman atau tidak memberi kesan.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Menambah kandungan "Pematuhan Spesifikasi" — 1 rekod yang tidak dipaparkan dalam keadaan asas.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Panel tertutup apabila ditekan sekali lagi atau apabila panel lain dibuka. Keadaan asas kembali dan sentiasa boleh dicapai. Tiada navigasi berlaku.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Baris: T04-ROW-038, T04-ROW-039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60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60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T04-S10-ST-03   ·   Panel pendedahan</a:t>
            </a:r>
          </a:p>
          <a:p>
            <a:pPr algn="l"/>
            <a:r>
              <a:rPr sz="1200" b="1" i="0">
                <a:solidFill>
                  <a:srgbClr val="37474F"/>
                </a:solidFill>
                <a:latin typeface="Arial"/>
              </a:rPr>
              <a:t>Pencetus: Pengurusan Stok dan Penyimpanan  [T04-S10-TRG-03]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Baja mesti disimpan di tempat yang kering, selamat, dan jauh dari sumber air untuk mengelakkan pencemaran.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Menambah kandungan "Pengurusan Stok dan Penyimpanan" — 1 rekod yang tidak dipaparkan dalam keadaan asas.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Panel tertutup apabila ditekan sekali lagi atau apabila panel lain dibuka. Keadaan asas kembali dan sentiasa boleh dicapai. Tiada navigasi berlaku.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Baris: T04-ROW-040, T04-ROW-041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50000"/>
            <a:ext cx="112776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Lampiran keadaan · halaman 14 daripada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00"/>
            <a:ext cx="112776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T04-S10   ·   CLICK_TO_REVEAL</a:t>
            </a:r>
          </a:p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Baja — aspek pengurusan untuk kontraktor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20000"/>
            <a:ext cx="11277600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72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T04-S10-ST-04   ·   Panel pendedahan</a:t>
            </a:r>
          </a:p>
          <a:p>
            <a:pPr algn="l"/>
            <a:r>
              <a:rPr sz="1200" b="1" i="0">
                <a:solidFill>
                  <a:srgbClr val="37474F"/>
                </a:solidFill>
                <a:latin typeface="Arial"/>
              </a:rPr>
              <a:t>Pencetus: Keselamatan Pekerja  [T04-S10-TRG-04]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Memastikan pekerja menggunakan Peralatan Pelindung Diri (PPE) yang sesuai seperti sarung tangan dan topeng muka semasa mengendalikan baja kimia.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Menambah kandungan "Keselamatan Pekerja" — 1 rekod yang tidak dipaparkan dalam keadaan asas.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Panel tertutup apabila ditekan sekali lagi atau apabila panel lain dibuka. Keadaan asas kembali dan sentiasa boleh dicapai. Tiada navigasi berlaku.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Baris: T04-ROW-042, T04-ROW-043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60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60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T04-S10-ST-05   ·   Panel pendedahan</a:t>
            </a:r>
          </a:p>
          <a:p>
            <a:pPr algn="l"/>
            <a:r>
              <a:rPr sz="1200" b="1" i="0">
                <a:solidFill>
                  <a:srgbClr val="37474F"/>
                </a:solidFill>
                <a:latin typeface="Arial"/>
              </a:rPr>
              <a:t>Pencetus: Dokumentasi  [T04-S10-TRG-05]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Merekodkan tarikh, jenis baja, kuantiti yang digunakan, dan kawasan yang telah dibaja. Ini penting sebagai bukti kerja untuk tuntutan bayaran dan rujukan semasa tempoh DLP.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Menambah kandungan "Dokumentasi" — 1 rekod yang tidak dipaparkan dalam keadaan asas.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Panel tertutup apabila ditekan sekali lagi atau apabila panel lain dibuka. Keadaan asas kembali dan sentiasa boleh dicapai. Tiada navigasi berlaku.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Baris: T04-ROW-044, T04-ROW-045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50000"/>
            <a:ext cx="112776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Lampiran keadaan · halaman 15 daripada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00"/>
            <a:ext cx="112776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T04-S10   ·   CLICK_TO_REVEAL</a:t>
            </a:r>
          </a:p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Baja — aspek pengurusan untuk kontraktor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20000"/>
            <a:ext cx="11277600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000"/>
            <a:ext cx="112776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7200" y="1460000"/>
            <a:ext cx="109176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T04-S10-ST-ALL_VIEWED   ·   Penanda selesai</a:t>
            </a:r>
          </a:p>
          <a:p>
            <a:pPr algn="l"/>
            <a:r>
              <a:rPr sz="1200" b="1" i="0">
                <a:solidFill>
                  <a:srgbClr val="37474F"/>
                </a:solidFill>
                <a:latin typeface="Arial"/>
              </a:rPr>
              <a:t>Pencetus: every reveal or step viewed  [T04-S10-TRG-ALL]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1">
                <a:solidFill>
                  <a:srgbClr val="6B6B6B"/>
                </a:solidFill>
                <a:latin typeface="Arial"/>
              </a:rPr>
              <a:t>Tiada kandungan dipaparkan — penanda sahaja.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Tidak memaparkan apa-apa kandungan sendiri. Ia penanda selesai yang membuka SETERUSNYA.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Bukan keadaan yang dipaparkan. Penanda yang menjadi benar setelah semua pendedahan atau langkah dilihat, dan inilah yang membuka SETERUSNYA.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Tiada baris modul — keadaan struktur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150000"/>
            <a:ext cx="112776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Lampiran keadaan · halaman 16 daripada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00"/>
            <a:ext cx="112776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T04-S14   ·   CLICK_TO_REVEAL</a:t>
            </a:r>
          </a:p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Racun — aspek pengurusan untuk kontraktor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20000"/>
            <a:ext cx="11277600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72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T04-S14-ST-BASE   ·   Keadaan asas</a:t>
            </a:r>
          </a:p>
          <a:p>
            <a:pPr algn="l"/>
            <a:r>
              <a:rPr sz="1200" b="1" i="0">
                <a:solidFill>
                  <a:srgbClr val="1B5E20"/>
                </a:solidFill>
                <a:latin typeface="Arial"/>
              </a:rPr>
              <a:t>Pencetus: screen entry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Aspek Pengurusan untuk Kontraktor: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Klik setiap tajuk untuk memaparkan maklumat.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Perundangan Dan Pelesenan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Keselamatan Dan Kesihatan (HSE)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Pengurusan Risiko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SETERUSNYA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— ini keadaan asas —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Keadaan masuk. Pelajar meneruskan dengan SETERUSNYA setelah syarat selesai dipenuhi.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Baris: T04-ROW-064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T04-DEC-A14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60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60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T04-S14-ST-01   ·   Panel pendedahan</a:t>
            </a:r>
          </a:p>
          <a:p>
            <a:pPr algn="l"/>
            <a:r>
              <a:rPr sz="1200" b="1" i="0">
                <a:solidFill>
                  <a:srgbClr val="37474F"/>
                </a:solidFill>
                <a:latin typeface="Arial"/>
              </a:rPr>
              <a:t>Pencetus: Perundangan Dan Pelesenan  [T04-S14-TRG-01]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Ringkasan aspek: Perundangan Dan Pelesenan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Butiran penuh dibentangkan pada skrin T04-S15.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Menambah panel ringkasan bagi "Perundangan Dan Pelesenan" dan menyatakan skrin yang membentangkannya secara penuh (T04-S15).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Panel tertutup apabila ditekan sekali lagi atau apabila panel lain dibuka. Keadaan asas kembali dan sentiasa boleh dicapai. Tiada navigasi berlaku.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Baris: T04-ROW-064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50000"/>
            <a:ext cx="112776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Lampiran keadaan · halaman 17 daripada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00"/>
            <a:ext cx="112776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T04-S14   ·   CLICK_TO_REVEAL</a:t>
            </a:r>
          </a:p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Racun — aspek pengurusan untuk kontraktor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20000"/>
            <a:ext cx="11277600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72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T04-S14-ST-02   ·   Panel pendedahan</a:t>
            </a:r>
          </a:p>
          <a:p>
            <a:pPr algn="l"/>
            <a:r>
              <a:rPr sz="1200" b="1" i="0">
                <a:solidFill>
                  <a:srgbClr val="37474F"/>
                </a:solidFill>
                <a:latin typeface="Arial"/>
              </a:rPr>
              <a:t>Pencetus: Keselamatan Dan Kesihatan (HSE)  [T04-S14-TRG-02]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Ringkasan aspek: Keselamatan Dan Kesihatan (HSE)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Butiran penuh dibentangkan pada skrin T04-S16.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Menambah panel ringkasan bagi "Keselamatan Dan Kesihatan (HSE)" dan menyatakan skrin yang membentangkannya secara penuh (T04-S16).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Panel tertutup apabila ditekan sekali lagi atau apabila panel lain dibuka. Keadaan asas kembali dan sentiasa boleh dicapai. Tiada navigasi berlaku.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Baris: T04-ROW-064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T04-DEC-A14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60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60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T04-S14-ST-03   ·   Panel pendedahan</a:t>
            </a:r>
          </a:p>
          <a:p>
            <a:pPr algn="l"/>
            <a:r>
              <a:rPr sz="1200" b="1" i="0">
                <a:solidFill>
                  <a:srgbClr val="37474F"/>
                </a:solidFill>
                <a:latin typeface="Arial"/>
              </a:rPr>
              <a:t>Pencetus: Pengurusan Risiko  [T04-S14-TRG-03]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Ringkasan aspek: Pengurusan Risiko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Butiran penuh dibentangkan pada skrin T04-S17.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Menambah panel ringkasan bagi "Pengurusan Risiko" dan menyatakan skrin yang membentangkannya secara penuh (T04-S17).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Panel tertutup apabila ditekan sekali lagi atau apabila panel lain dibuka. Keadaan asas kembali dan sentiasa boleh dicapai. Tiada navigasi berlaku.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Baris: T04-ROW-064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50000"/>
            <a:ext cx="112776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Lampiran keadaan · halaman 18 daripada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00"/>
            <a:ext cx="112776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T04-S14   ·   CLICK_TO_REVEAL</a:t>
            </a:r>
          </a:p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Racun — aspek pengurusan untuk kontraktor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20000"/>
            <a:ext cx="11277600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000"/>
            <a:ext cx="112776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7200" y="1460000"/>
            <a:ext cx="109176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T04-S14-ST-ALL_VIEWED   ·   Penanda selesai</a:t>
            </a:r>
          </a:p>
          <a:p>
            <a:pPr algn="l"/>
            <a:r>
              <a:rPr sz="1200" b="1" i="0">
                <a:solidFill>
                  <a:srgbClr val="37474F"/>
                </a:solidFill>
                <a:latin typeface="Arial"/>
              </a:rPr>
              <a:t>Pencetus: every reveal or step viewed  [T04-S14-TRG-ALL]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1">
                <a:solidFill>
                  <a:srgbClr val="6B6B6B"/>
                </a:solidFill>
                <a:latin typeface="Arial"/>
              </a:rPr>
              <a:t>Tiada kandungan dipaparkan — penanda sahaja.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Tidak memaparkan apa-apa kandungan sendiri. Ia penanda selesai yang membuka SETERUSNYA.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Bukan keadaan yang dipaparkan. Penanda yang menjadi benar setelah semua pendedahan atau langkah dilihat, dan inilah yang membuka SETERUSNYA.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Tiada baris modul — keadaan struktur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150000"/>
            <a:ext cx="112776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Lampiran keadaan · halaman 19 daripada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00"/>
            <a:ext cx="112776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T04-S16   ·   CLICK_TO_REVEAL</a:t>
            </a:r>
          </a:p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Racun — keselamatan dan kesihatan (HSE)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20000"/>
            <a:ext cx="11277600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72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T04-S16-ST-BASE   ·   Keadaan asas</a:t>
            </a:r>
          </a:p>
          <a:p>
            <a:pPr algn="l"/>
            <a:r>
              <a:rPr sz="1200" b="1" i="0">
                <a:solidFill>
                  <a:srgbClr val="1B5E20"/>
                </a:solidFill>
                <a:latin typeface="Arial"/>
              </a:rPr>
              <a:t>Pencetus: screen entry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Keselamatan dan Kesihatan (HSE)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PPE Lengkap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Penyimpanan &amp; Pelupusan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Helaian Data Keselamatan (SDS)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Klik setiap tajuk untuk memaparkan maklumat.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PPE Lengkap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Penyimpanan Dan Pelupusan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· … 2 rekod lagi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— ini keadaan asas —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Keadaan masuk. Pelajar meneruskan dengan SETERUSNYA setelah syarat selesai dipenuhi.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Baris: T04-ROW-068, T04-ROW-069, T04-ROW-071, T04-ROW-073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T04-DEC-A16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60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60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T04-S16-ST-01   ·   Panel pendedahan</a:t>
            </a:r>
          </a:p>
          <a:p>
            <a:pPr algn="l"/>
            <a:r>
              <a:rPr sz="1200" b="1" i="0">
                <a:solidFill>
                  <a:srgbClr val="37474F"/>
                </a:solidFill>
                <a:latin typeface="Arial"/>
              </a:rPr>
              <a:t>Pencetus: PPE Lengkap  [T04-S16-TRG-01]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Memastikan pekerja memakai PPE yang lengkap dan bersesuaian (topeng pernafasan, cermin mata keselamatan, sarung tangan kimia, sut pelindung).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Menambah kandungan "PPE Lengkap" — 1 rekod yang tidak dipaparkan dalam keadaan asas.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Panel tertutup apabila ditekan sekali lagi atau apabila panel lain dibuka. Keadaan asas kembali dan sentiasa boleh dicapai. Tiada navigasi berlaku.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Baris: T04-ROW-069, T04-ROW-070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50000"/>
            <a:ext cx="112776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Lampiran keadaan · halaman 20 daripada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00"/>
            <a:ext cx="112776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T04-S16   ·   CLICK_TO_REVEAL</a:t>
            </a:r>
          </a:p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Racun — keselamatan dan kesihatan (HSE)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20000"/>
            <a:ext cx="11277600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72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T04-S16-ST-02   ·   Panel pendedahan</a:t>
            </a:r>
          </a:p>
          <a:p>
            <a:pPr algn="l"/>
            <a:r>
              <a:rPr sz="1200" b="1" i="0">
                <a:solidFill>
                  <a:srgbClr val="37474F"/>
                </a:solidFill>
                <a:latin typeface="Arial"/>
              </a:rPr>
              <a:t>Pencetus: Penyimpanan &amp; Pelupusan  [T04-S16-TRG-02]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Racun mesti disimpan di dalam stor berkunci, berlabel, dan mempunyai pengudaraan yang baik. Bekas racun kosong tidak boleh digunakan semula dan mesti dilupuskan mengikut peraturan Jabatan Alam Sekitar (JAS).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Menambah kandungan "Penyimpanan &amp; Pelupusan" — 1 rekod yang tidak dipaparkan dalam keadaan asas.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Panel tertutup apabila ditekan sekali lagi atau apabila panel lain dibuka. Keadaan asas kembali dan sentiasa boleh dicapai. Tiada navigasi berlaku.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Baris: T04-ROW-071, T04-ROW-072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T04-DEC-A16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60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60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T04-S16-ST-03   ·   Panel pendedahan</a:t>
            </a:r>
          </a:p>
          <a:p>
            <a:pPr algn="l"/>
            <a:r>
              <a:rPr sz="1200" b="1" i="0">
                <a:solidFill>
                  <a:srgbClr val="37474F"/>
                </a:solidFill>
                <a:latin typeface="Arial"/>
              </a:rPr>
              <a:t>Pencetus: Helaian Data Keselamatan (SDS)  [T04-S16-TRG-03]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Kontraktor wajib menyimpan Salinan SDS untuk setiap racun yang digunakan di tapak dan memastikan pekerja memahaminya.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Menambah kandungan "Helaian Data Keselamatan (SDS)" — 1 rekod yang tidak dipaparkan dalam keadaan asas.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Panel tertutup apabila ditekan sekali lagi atau apabila panel lain dibuka. Keadaan asas kembali dan sentiasa boleh dicapai. Tiada navigasi berlaku.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Baris: T04-ROW-073, T04-ROW-074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50000"/>
            <a:ext cx="112776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Lampiran keadaan · halaman 21 daripada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00"/>
            <a:ext cx="112776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T04-S16   ·   CLICK_TO_REVEAL</a:t>
            </a:r>
          </a:p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Racun — keselamatan dan kesihatan (HSE)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20000"/>
            <a:ext cx="11277600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000"/>
            <a:ext cx="112776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7200" y="1460000"/>
            <a:ext cx="109176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T04-S16-ST-ALL_VIEWED   ·   Penanda selesai</a:t>
            </a:r>
          </a:p>
          <a:p>
            <a:pPr algn="l"/>
            <a:r>
              <a:rPr sz="1200" b="1" i="0">
                <a:solidFill>
                  <a:srgbClr val="37474F"/>
                </a:solidFill>
                <a:latin typeface="Arial"/>
              </a:rPr>
              <a:t>Pencetus: every reveal or step viewed  [T04-S16-TRG-ALL]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1">
                <a:solidFill>
                  <a:srgbClr val="6B6B6B"/>
                </a:solidFill>
                <a:latin typeface="Arial"/>
              </a:rPr>
              <a:t>Tiada kandungan dipaparkan — penanda sahaja.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Tidak memaparkan apa-apa kandungan sendiri. Ia penanda selesai yang membuka SETERUSNYA.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Bukan keadaan yang dipaparkan. Penanda yang menjadi benar setelah semua pendedahan atau langkah dilihat, dan inilah yang membuka SETERUSNYA.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Tiada baris modul — keadaan struktur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150000"/>
            <a:ext cx="112776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Lampiran keadaan · halaman 22 daripada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00"/>
            <a:ext cx="112776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T04-S19   ·   CLICK_TO_REVEAL</a:t>
            </a:r>
          </a:p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Landskap Kejur — empat kumpulan fungsi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20000"/>
            <a:ext cx="11277600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72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T04-S19-ST-BASE   ·   Keadaan asas</a:t>
            </a:r>
          </a:p>
          <a:p>
            <a:pPr algn="l"/>
            <a:r>
              <a:rPr sz="1200" b="1" i="0">
                <a:solidFill>
                  <a:srgbClr val="1B5E20"/>
                </a:solidFill>
                <a:latin typeface="Arial"/>
              </a:rPr>
              <a:t>Pencetus: screen entry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Pengurusan Ruang dan Sirkulasi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Fungsi Struktur dan Kejuruteraan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Kebolehgunaan dan Kemudahan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Estetika dan Reka Bentuk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SETERUSNYA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— ini keadaan asas —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Keadaan masuk. Pelajar meneruskan dengan SETERUSNYA setelah syarat selesai dipenuhi.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Baris: T04-ROW-081, T04-ROW-086, T04-ROW-091, T04-ROW-096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T04-DEC-A19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60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60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T04-S19-ST-01   ·   Panel pendedahan</a:t>
            </a:r>
          </a:p>
          <a:p>
            <a:pPr algn="l"/>
            <a:r>
              <a:rPr sz="1200" b="1" i="0">
                <a:solidFill>
                  <a:srgbClr val="37474F"/>
                </a:solidFill>
                <a:latin typeface="Arial"/>
              </a:rPr>
              <a:t>Pencetus: Pengurusan Ruang dan Sirkulasi  [T04-S19-TRG-01]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Membentuk Ruang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Dinding, pagar, dan perubahan aras lantai digunakan untuk membahagikan ruang luaran kepada "bilik" yang berbeza (cth., kawasan rehat, kawasan permainan).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Laluan Pergerakan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Lorong pejalan kaki (pathways), jalan masuk (driveways), dan tangga menyediakan laluan yang selamat dan jelas untuk pergerakan manusia dan kenderaan.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Menambah kandungan "Pengurusan Ruang dan Sirkulasi" — 4 rekod yang tidak dipaparkan dalam keadaan asas.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Panel tertutup apabila ditekan sekali lagi atau apabila panel lain dibuka. Keadaan asas kembali dan sentiasa boleh dicapai. Tiada navigasi berlaku.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Baris: T04-ROW-081, T04-ROW-082, T04-ROW-083, T04-ROW-084, T04-ROW-085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50000"/>
            <a:ext cx="112776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Lampiran keadaan · halaman 23 daripada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00"/>
            <a:ext cx="112776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T04-S19   ·   CLICK_TO_REVEAL</a:t>
            </a:r>
          </a:p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Landskap Kejur — empat kumpulan fungsi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20000"/>
            <a:ext cx="11277600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72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T04-S19-ST-02   ·   Panel pendedahan</a:t>
            </a:r>
          </a:p>
          <a:p>
            <a:pPr algn="l"/>
            <a:r>
              <a:rPr sz="1200" b="1" i="0">
                <a:solidFill>
                  <a:srgbClr val="37474F"/>
                </a:solidFill>
                <a:latin typeface="Arial"/>
              </a:rPr>
              <a:t>Pencetus: Fungsi Struktur dan Kejuruteraan  [T04-S19-TRG-02]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Menstabilkan Tanah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Dinding penahan (retaining walls) dibina untuk menahan tanah di kawasan bercerun, mengelakkan hakisan dan tanah runtuh.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Pengurusan Air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Parit, longkang, dan permukaan yang dicerunkan dengan betul (properly graded surfaces) adalah penting untuk menguruskan aliran air larian permukaan.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Menambah kandungan "Fungsi Struktur dan Kejuruteraan" — 4 rekod yang tidak dipaparkan dalam keadaan asas.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Panel tertutup apabila ditekan sekali lagi atau apabila panel lain dibuka. Keadaan asas kembali dan sentiasa boleh dicapai. Tiada navigasi berlaku.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Baris: T04-ROW-086, T04-ROW-087, T04-ROW-088, T04-ROW-089, T04-ROW-090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T04-DEC-A19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60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60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T04-S19-ST-03   ·   Panel pendedahan</a:t>
            </a:r>
          </a:p>
          <a:p>
            <a:pPr algn="l"/>
            <a:r>
              <a:rPr sz="1200" b="1" i="0">
                <a:solidFill>
                  <a:srgbClr val="37474F"/>
                </a:solidFill>
                <a:latin typeface="Arial"/>
              </a:rPr>
              <a:t>Pencetus: Kebolehgunaan dan Kemudahan  [T04-S19-TRG-03]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Menyediakan Permukaan Rata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Laman (patios), dek (decks), dan dataran (plazas) menyediakan permukaan yang stabil dan selesa untuk aktiviti seperti meletakkan perabot luar, barbeku, atau sebagai ruang perhimpunan.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Menyediakan Kemudahan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Struktur seperti wakaf, gazebo, pergola, bangku, dan lampu landskap meningkatkan keselesaan dan kebolehgunaan ruang pada waktu yang berbeza.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Menambah kandungan "Kebolehgunaan dan Kemudahan" — 4 rekod yang tidak dipaparkan dalam keadaan asas.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Panel tertutup apabila ditekan sekali lagi atau apabila panel lain dibuka. Keadaan asas kembali dan sentiasa boleh dicapai. Tiada navigasi berlaku.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Baris: T04-ROW-091, T04-ROW-092, T04-ROW-093, T04-ROW-094, T04-ROW-095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50000"/>
            <a:ext cx="112776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Lampiran keadaan · halaman 24 daripada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00"/>
            <a:ext cx="112776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T04-S19   ·   CLICK_TO_REVEAL</a:t>
            </a:r>
          </a:p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Landskap Kejur — empat kumpulan fungsi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20000"/>
            <a:ext cx="11277600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72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T04-S19-ST-04   ·   Panel pendedahan</a:t>
            </a:r>
          </a:p>
          <a:p>
            <a:pPr algn="l"/>
            <a:r>
              <a:rPr sz="1200" b="1" i="0">
                <a:solidFill>
                  <a:srgbClr val="37474F"/>
                </a:solidFill>
                <a:latin typeface="Arial"/>
              </a:rPr>
              <a:t>Pencetus: Estetika dan Reka Bentuk  [T04-S19-TRG-04]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Menambah Tekstur, Warna, dan Corak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Penggunaan bahan seperti batu, kayu, dan konkrit menambah dimensi visual kepada landskap.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Mencipta Kontras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Elemen kejur memberikan kontras yang menarik kepada kelembutan elemen tumbuhan.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Menambah kandungan "Estetika dan Reka Bentuk" — 4 rekod yang tidak dipaparkan dalam keadaan asas.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Panel tertutup apabila ditekan sekali lagi atau apabila panel lain dibuka. Keadaan asas kembali dan sentiasa boleh dicapai. Tiada navigasi berlaku.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Baris: T04-ROW-096, T04-ROW-097, T04-ROW-098, T04-ROW-099, T04-ROW-100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T04-DEC-A19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60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60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T04-S19-ST-ALL_VIEWED   ·   Penanda selesai</a:t>
            </a:r>
          </a:p>
          <a:p>
            <a:pPr algn="l"/>
            <a:r>
              <a:rPr sz="1200" b="1" i="0">
                <a:solidFill>
                  <a:srgbClr val="37474F"/>
                </a:solidFill>
                <a:latin typeface="Arial"/>
              </a:rPr>
              <a:t>Pencetus: every reveal or step viewed  [T04-S19-TRG-ALL]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1">
                <a:solidFill>
                  <a:srgbClr val="6B6B6B"/>
                </a:solidFill>
                <a:latin typeface="Arial"/>
              </a:rPr>
              <a:t>Tiada kandungan dipaparkan — penanda sahaja.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Tidak memaparkan apa-apa kandungan sendiri. Ia penanda selesai yang membuka SETERUSNYA.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Bukan keadaan yang dipaparkan. Penanda yang menjadi benar setelah semua pendedahan atau langkah dilihat, dan inilah yang membuka SETERUSNYA.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Tiada baris modul — keadaan struktur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50000"/>
            <a:ext cx="112776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Lampiran keadaan · halaman 25 daripada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00"/>
            <a:ext cx="112776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T04-S21   ·   QUIZ</a:t>
            </a:r>
          </a:p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Kuiz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20000"/>
            <a:ext cx="11277600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72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T04-S21-ST-01   ·   Keadaan asas</a:t>
            </a:r>
          </a:p>
          <a:p>
            <a:pPr algn="l"/>
            <a:r>
              <a:rPr sz="1200" b="1" i="0">
                <a:solidFill>
                  <a:srgbClr val="1B5E20"/>
                </a:solidFill>
                <a:latin typeface="Arial"/>
              </a:rPr>
              <a:t>Pencetus: screen entry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Apakah tiga tanggungjawab kritikal dalam tempoh penyelenggaraan semasa pembinaan dan DLP bagi landskap lembut?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A. Siram, baja dan racun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B. Siram, potong dan tanam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C. Baja, racun dan turap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D. Racun, siram dan pembinaan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— ini keadaan asas; skrin bermula pada Q1 —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Keadaan masuk. Pelajar meneruskan dengan SETERUSNYA setelah syarat selesai dipenuhi.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Baris: T04-ROW-004, T04-ROW-005, T04-ROW-006, T04-ROW-007, T04-ROW-026, T04-ROW-027, T04-ROW-046, T04-ROW-047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T04-DEC-E01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60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60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T04-S21-ST-02   ·   Item kuiz</a:t>
            </a:r>
          </a:p>
          <a:p>
            <a:pPr algn="l"/>
            <a:r>
              <a:rPr sz="1200" b="1" i="0">
                <a:solidFill>
                  <a:srgbClr val="37474F"/>
                </a:solidFill>
                <a:latin typeface="Arial"/>
              </a:rPr>
              <a:t>Pencetus: submitting T04-QZ-Q1  [T04-S21-TRG-02]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Sebuah projek memerlukan pengairan automatik bagi kawasan rumput yang luas. Antara sistem berikut, yang manakah paling sesuai?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A. Sistem Semburan (Sprinkler System)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B. Sistem Titis (Drip Irrigation System)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C. Penyiraman manual menggunakan hos getah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D. Semburan folia menggunakan baja cecair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Memaparkan T04-QZ-Q2 dan menggantikan item sebelumnya. Hanya satu item dipaparkan pada satu masa.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Menghantar jawapan membawa pelajar ke item berikutnya. Tiada navigasi kembali antara item kuiz.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Baris: T04-ROW-008, T04-ROW-009, T04-ROW-010, T04-ROW-011, T04-ROW-012, T04-ROW-013, T04-ROW-014, T04-ROW-015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T04-DEC-E02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50000"/>
            <a:ext cx="112776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Lampiran keadaan · halaman 26 daripada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00"/>
            <a:ext cx="112776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T04-S21   ·   QUIZ</a:t>
            </a:r>
          </a:p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Kuiz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20000"/>
            <a:ext cx="11277600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72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T04-S21-ST-03   ·   Item kuiz</a:t>
            </a:r>
          </a:p>
          <a:p>
            <a:pPr algn="l"/>
            <a:r>
              <a:rPr sz="1200" b="1" i="0">
                <a:solidFill>
                  <a:srgbClr val="37474F"/>
                </a:solidFill>
                <a:latin typeface="Arial"/>
              </a:rPr>
              <a:t>Pencetus: submitting T04-QZ-Q2  [T04-S21-TRG-03]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Mengikut susunan keutamaan IPM, kaedah kawalan yang manakah disenaraikan paling akhir?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A. Kawalan Kultur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B. Kawalan Fizikal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C. Kawalan Biologi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D. Kawalan Kimia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Memaparkan T04-QZ-Q3 dan menggantikan item sebelumnya. Hanya satu item dipaparkan pada satu masa.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Menghantar jawapan membawa pelajar ke item berikutnya. Tiada navigasi kembali antara item kuiz.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Baris: T04-ROW-048, T04-ROW-049, T04-ROW-050, T04-ROW-051, T04-ROW-052, T04-ROW-053, T04-ROW-054, T04-ROW-055, T04-ROW-056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T04-DEC-E03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60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60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T04-S21-ST-04   ·   Item kuiz</a:t>
            </a:r>
          </a:p>
          <a:p>
            <a:pPr algn="l"/>
            <a:r>
              <a:rPr sz="1200" b="1" i="0">
                <a:solidFill>
                  <a:srgbClr val="37474F"/>
                </a:solidFill>
                <a:latin typeface="Arial"/>
              </a:rPr>
              <a:t>Pencetus: submitting T04-QZ-Q3  [T04-S21-TRG-04]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Antara fungsi berikut, yang manakah merangkumi kerja menstabilkan tanah dan menguruskan aliran air?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A. Pengurusan Ruang dan Sirkulasi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B. Fungsi Struktur dan Kejuruteraan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C. Kebolehgunaan dan Kemudahan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D. Estetika dan Reka Bentuk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Memaparkan T04-QZ-Q4 dan menggantikan item sebelumnya. Hanya satu item dipaparkan pada satu masa.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Menghantar jawapan membawa pelajar ke item berikutnya. Tiada navigasi kembali antara item kuiz.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Baris: T04-ROW-081, T04-ROW-082, T04-ROW-083, T04-ROW-084, T04-ROW-085, T04-ROW-086, T04-ROW-087, T04-ROW-088, T04-ROW-089, T04-ROW-090, T04-ROW-091, T04-ROW-092, T04-ROW-093, T04-ROW-094, T04-ROW-095, T04-ROW-096, T04-ROW-097, T04-ROW-098, T04-ROW-099, T04-ROW-100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T04-DEC-E04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50000"/>
            <a:ext cx="112776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Lampiran keadaan · halaman 27 daripada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00"/>
            <a:ext cx="112776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T04-S21   ·   QUIZ</a:t>
            </a:r>
          </a:p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Kuiz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20000"/>
            <a:ext cx="11277600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72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T04-S21-ST-05   ·   Item kuiz</a:t>
            </a:r>
          </a:p>
          <a:p>
            <a:pPr algn="l"/>
            <a:r>
              <a:rPr sz="1200" b="1" i="0">
                <a:solidFill>
                  <a:srgbClr val="37474F"/>
                </a:solidFill>
                <a:latin typeface="Arial"/>
              </a:rPr>
              <a:t>Pencetus: submitting T04-QZ-Q4  [T04-S21-TRG-05]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Pilih SEMUA pernyataan yang tepat tentang kawalan semasa aktiviti semburan racun.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☐ Pengendali semburan mesti berlesen atau telah menerima latihan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☐ Pekerja mesti memakai PPE yang lengkap dan bersesuaian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☐ Semburan hanya dilakukan semasa cuaca tenang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☐ Salinan Helaian Data Keselamatan (SDS) disimpan di tapak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☐ Semburan dijadualkan pada waktu petang tanpa mengambil kira keadaan cuaca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☐ Semua racun dibeli daripada satu pembekal tunggal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Memaparkan T04-QZ-Q5 dan menggantikan item sebelumnya. Hanya satu item dipaparkan pada satu masa.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Menghantar jawapan membawa pelajar ke item berikutnya. Tiada navigasi kembali antara item kuiz.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Baris: T04-ROW-065, T04-ROW-066, T04-ROW-067, T04-ROW-068, T04-ROW-069, T04-ROW-070, T04-ROW-071, T04-ROW-072, T04-ROW-073, T04-ROW-074, T04-ROW-075, T04-ROW-076, T04-ROW-077, T04-ROW-078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T04-DEC-E05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6000" y="1280000"/>
            <a:ext cx="5538800" cy="470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6000" y="1460000"/>
            <a:ext cx="5178800" cy="4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Arial"/>
              </a:rPr>
              <a:t>T04-S21-ST-RESULT   ·   Keputusan kuiz</a:t>
            </a:r>
          </a:p>
          <a:p>
            <a:pPr algn="l"/>
            <a:r>
              <a:rPr sz="1200" b="1" i="0">
                <a:solidFill>
                  <a:srgbClr val="37474F"/>
                </a:solidFill>
                <a:latin typeface="Arial"/>
              </a:rPr>
              <a:t>Pencetus: submitting Q5  [T04-S21-TRG-RESULT]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Apa yang dipaparkan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Markah lulus 60 peratus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· Keputusan kuiz dipaparkan.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Beza daripada keadaan asas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Memaparkan keputusan berbanding markah lulus. Tiada item kuiz dipaparkan.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Cara pelajar kembali / meneruskan</a:t>
            </a:r>
          </a:p>
          <a:p>
            <a:pPr algn="l" lvl="1"/>
            <a:r>
              <a:rPr sz="1000" b="0" i="0">
                <a:solidFill>
                  <a:srgbClr val="1A1A1A"/>
                </a:solidFill>
                <a:latin typeface="Arial"/>
              </a:rPr>
              <a:t>Keadaan akhir bagi skrin ini. Pelajar meneruskan dengan SETERUSNYA.</a:t>
            </a:r>
          </a:p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Sumber dan kuasa</a:t>
            </a:r>
          </a:p>
          <a:p>
            <a:pPr algn="l" lvl="1"/>
            <a:r>
              <a:rPr sz="900" b="0" i="0">
                <a:solidFill>
                  <a:srgbClr val="0D47A1"/>
                </a:solidFill>
                <a:latin typeface="Arial"/>
              </a:rPr>
              <a:t>Tiada baris modul — keadaan struktur</a:t>
            </a:r>
          </a:p>
          <a:p>
            <a:pPr algn="l" lvl="1"/>
            <a:r>
              <a:rPr sz="900" b="0" i="0">
                <a:solidFill>
                  <a:srgbClr val="6B6B6B"/>
                </a:solidFill>
                <a:latin typeface="Arial"/>
              </a:rPr>
              <a:t>Keputusan: T04-DEC-A21</a:t>
            </a:r>
          </a:p>
          <a:p>
            <a:pPr algn="l" lvl="1"/>
            <a:r>
              <a:rPr sz="900" b="0" i="0">
                <a:solidFill>
                  <a:srgbClr val="B71C1C"/>
                </a:solidFill>
                <a:latin typeface="Arial"/>
              </a:rPr>
              <a:t>HAD: Kelakuan pemarkahan tidak ditetapkan dalam B1 dan tiada kunci jawapan yang muktamad — lihat T04-OPEN-01.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50000"/>
            <a:ext cx="112776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Lampiran keadaan · halaman 28 daripada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