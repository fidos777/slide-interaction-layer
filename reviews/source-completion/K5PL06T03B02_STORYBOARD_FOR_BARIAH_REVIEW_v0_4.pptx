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 id="9464" r:id="rId164"/>
    <p:sldId id="9465" r:id="rId165"/>
    <p:sldId id="9466" r:id="rId166"/>
    <p:sldId id="9467" r:id="rId167"/>
    <p:sldId id="9468" r:id="rId168"/>
    <p:sldId id="9469" r:id="rId169"/>
    <p:sldId id="9470" r:id="rId170"/>
    <p:sldId id="9471" r:id="rId171"/>
    <p:sldId id="9472" r:id="rId172"/>
    <p:sldId id="9473" r:id="rId173"/>
    <p:sldId id="9474" r:id="rId174"/>
    <p:sldId id="9475" r:id="rId175"/>
    <p:sldId id="9476" r:id="rId176"/>
    <p:sldId id="9477" r:id="rId177"/>
    <p:sldId id="9478" r:id="rId178"/>
    <p:sldId id="9479" r:id="rId179"/>
    <p:sldId id="9480" r:id="rId180"/>
    <p:sldId id="9481" r:id="rId181"/>
    <p:sldId id="9482" r:id="rId182"/>
    <p:sldId id="9483" r:id="rId183"/>
    <p:sldId id="9484" r:id="rId184"/>
    <p:sldId id="9485" r:id="rId185"/>
    <p:sldId id="9486" r:id="rId186"/>
    <p:sldId id="9487" r:id="rId187"/>
    <p:sldId id="9488" r:id="rId188"/>
    <p:sldId id="9489" r:id="rId189"/>
    <p:sldId id="9490" r:id="rId190"/>
    <p:sldId id="9491" r:id="rId191"/>
    <p:sldId id="9492" r:id="rId192"/>
    <p:sldId id="9493" r:id="rId193"/>
    <p:sldId id="9494" r:id="rId194"/>
    <p:sldId id="9495" r:id="rId195"/>
    <p:sldId id="9496" r:id="rId196"/>
    <p:sldId id="9497" r:id="rId197"/>
    <p:sldId id="9498" r:id="rId198"/>
    <p:sldId id="9499" r:id="rId199"/>
    <p:sldId id="9500"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Pakej Latihan 06: Pengurusan Operasi Pembinaan Landskap.</a:t>
            </a:r>
          </a:p>
          <a:p>
            <a:r>
              <a:rPr lang="en-MY" dirty="0"/>
              <a:t>Topik 3 Bahagian 2: Komponen Landskap.</a:t>
            </a:r>
          </a:p>
          <a:p>
            <a:r>
              <a:rPr lang="en-MY" dirty="0"/>
              <a:t>Dalam bahagian ini, anda akan mempelajari tentang komponen landskap.</a:t>
            </a:r>
          </a:p>
          <a:p>
            <a:r>
              <a:rPr lang="en-MY" dirty="0"/>
              <a:t>Klik Mula untuk meneruskan.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Promenade</a:t>
            </a:r>
          </a:p>
          <a:p>
            <a:endParaRPr lang="en-MY" dirty="0"/>
          </a:p>
          <a:p>
            <a:r>
              <a:rPr lang="en-MY" dirty="0"/>
              <a:t>SPOKEN TRANSCRIPT</a:t>
            </a:r>
          </a:p>
          <a:p>
            <a:endParaRPr lang="en-MY" dirty="0"/>
          </a:p>
          <a:p>
            <a:r>
              <a:rPr lang="en-MY" dirty="0"/>
              <a:t>Promenade ialah laluan lebar di sepanjang pinggir air, selesa untuk berjalan dan bersantai. Contohnya Promenade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Boardwalk</a:t>
            </a:r>
          </a:p>
          <a:p>
            <a:endParaRPr lang="en-MY" dirty="0"/>
          </a:p>
          <a:p>
            <a:r>
              <a:rPr lang="en-MY" dirty="0"/>
              <a:t>SPOKEN TRANSCRIPT</a:t>
            </a:r>
          </a:p>
          <a:p>
            <a:endParaRPr lang="en-MY" dirty="0"/>
          </a:p>
          <a:p>
            <a:r>
              <a:rPr lang="en-MY" dirty="0"/>
              <a:t>Boardwalk ialah laluan kayu di atas tanah berpaya atau basah. Ia mesra alam dan mengekalkan visual semula jadi. Contohnya Boardwalk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Footbridge</a:t>
            </a:r>
          </a:p>
          <a:p>
            <a:endParaRPr lang="en-MY" dirty="0"/>
          </a:p>
          <a:p>
            <a:r>
              <a:rPr lang="en-MY" dirty="0"/>
              <a:t>SPOKEN TRANSCRIPT</a:t>
            </a:r>
          </a:p>
          <a:p>
            <a:endParaRPr lang="en-MY" dirty="0"/>
          </a:p>
          <a:p>
            <a:r>
              <a:rPr lang="en-MY" dirty="0"/>
              <a:t>Footbridge ialah jambatan kecil untuk laluan pejalan kaki melintasi aliran air atau longkang besar. Contohnya Footbridge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endParaRPr lang="en-MY" dirty="0"/>
          </a:p>
          <a:p>
            <a:r>
              <a:rPr lang="en-MY" dirty="0"/>
              <a:t>SPOKEN TRANSCRIPT</a:t>
            </a:r>
          </a:p>
          <a:p>
            <a:endParaRPr lang="en-MY" dirty="0"/>
          </a:p>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 arahan interaksi</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Gazebo</a:t>
            </a:r>
          </a:p>
          <a:p>
            <a:endParaRPr lang="en-MY" dirty="0"/>
          </a:p>
          <a:p>
            <a:r>
              <a:rPr lang="en-MY" dirty="0"/>
              <a:t>SPOKEN TRANSCRIPT</a:t>
            </a:r>
          </a:p>
          <a:p>
            <a:endParaRPr lang="en-MY" dirty="0"/>
          </a:p>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Wakaf</a:t>
            </a:r>
          </a:p>
          <a:p>
            <a:endParaRPr lang="en-MY" dirty="0"/>
          </a:p>
          <a:p>
            <a:r>
              <a:rPr lang="en-MY" dirty="0"/>
              <a:t>SPOKEN TRANSCRIPT</a:t>
            </a:r>
          </a:p>
          <a:p>
            <a:endParaRPr lang="en-MY" dirty="0"/>
          </a:p>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Pergola</a:t>
            </a:r>
          </a:p>
          <a:p>
            <a:endParaRPr lang="en-MY" dirty="0"/>
          </a:p>
          <a:p>
            <a:r>
              <a:rPr lang="en-MY" dirty="0"/>
              <a:t>SPOKEN TRANSCRIPT</a:t>
            </a:r>
          </a:p>
          <a:p>
            <a:endParaRPr lang="en-MY" dirty="0"/>
          </a:p>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Canopy</a:t>
            </a:r>
          </a:p>
          <a:p>
            <a:endParaRPr lang="en-MY" dirty="0"/>
          </a:p>
          <a:p>
            <a:r>
              <a:rPr lang="en-MY" dirty="0"/>
              <a:t>SPOKEN TRANSCRIPT</a:t>
            </a:r>
          </a:p>
          <a:p>
            <a:endParaRPr lang="en-MY" dirty="0"/>
          </a:p>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Struktur Teduhan Moden</a:t>
            </a:r>
          </a:p>
          <a:p>
            <a:endParaRPr lang="en-MY" dirty="0"/>
          </a:p>
          <a:p>
            <a:r>
              <a:rPr lang="en-MY" dirty="0"/>
              <a:t>SPOKEN TRANSCRIPT</a:t>
            </a:r>
          </a:p>
          <a:p>
            <a:endParaRPr lang="en-MY" dirty="0"/>
          </a:p>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endParaRPr lang="en-MY" dirty="0"/>
          </a:p>
          <a:p>
            <a:r>
              <a:rPr lang="en-MY" dirty="0"/>
              <a:t>SPOKEN TRANSCRIPT</a:t>
            </a:r>
          </a:p>
          <a:p>
            <a:endParaRPr lang="en-MY" dirty="0"/>
          </a:p>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 arahan interaksi</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Tandas Awam</a:t>
            </a:r>
          </a:p>
          <a:p>
            <a:endParaRPr lang="en-MY" dirty="0"/>
          </a:p>
          <a:p>
            <a:r>
              <a:rPr lang="en-MY" dirty="0"/>
              <a:t>SPOKEN TRANSCRIPT</a:t>
            </a:r>
          </a:p>
          <a:p>
            <a:endParaRPr lang="en-MY" dirty="0"/>
          </a:p>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Surau</a:t>
            </a:r>
          </a:p>
          <a:p>
            <a:endParaRPr lang="en-MY" dirty="0"/>
          </a:p>
          <a:p>
            <a:r>
              <a:rPr lang="en-MY" dirty="0"/>
              <a:t>SPOKEN TRANSCRIPT</a:t>
            </a:r>
          </a:p>
          <a:p>
            <a:endParaRPr lang="en-MY" dirty="0"/>
          </a:p>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Bangunan Interpretatif</a:t>
            </a:r>
          </a:p>
          <a:p>
            <a:endParaRPr lang="en-MY" dirty="0"/>
          </a:p>
          <a:p>
            <a:r>
              <a:rPr lang="en-MY" dirty="0"/>
              <a:t>SPOKEN TRANSCRIPT</a:t>
            </a:r>
          </a:p>
          <a:p>
            <a:endParaRPr lang="en-MY" dirty="0"/>
          </a:p>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Water Feature</a:t>
            </a:r>
          </a:p>
          <a:p>
            <a:endParaRPr lang="en-MY" dirty="0"/>
          </a:p>
          <a:p>
            <a:r>
              <a:rPr lang="en-MY" dirty="0"/>
              <a:t>SPOKEN TRANSCRIPT</a:t>
            </a:r>
          </a:p>
          <a:p>
            <a:endParaRPr lang="en-MY" dirty="0"/>
          </a:p>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Water Feature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Water Feature</a:t>
            </a:r>
          </a:p>
          <a:p>
            <a:r>
              <a:rPr lang="en-MY" dirty="0"/>
              <a:t>Contoh — arahan interaksi</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Water Feature</a:t>
            </a:r>
          </a:p>
          <a:p>
            <a:r>
              <a:rPr lang="en-MY" dirty="0"/>
              <a:t>Contoh: Air Pancut (Fountain)</a:t>
            </a:r>
          </a:p>
          <a:p>
            <a:endParaRPr lang="en-MY" dirty="0"/>
          </a:p>
          <a:p>
            <a:r>
              <a:rPr lang="en-MY" dirty="0"/>
              <a:t>SPOKEN TRANSCRIPT</a:t>
            </a:r>
          </a:p>
          <a:p>
            <a:endParaRPr lang="en-MY" dirty="0"/>
          </a:p>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Water Feature</a:t>
            </a:r>
          </a:p>
          <a:p>
            <a:r>
              <a:rPr lang="en-MY" dirty="0"/>
              <a:t>Contoh: Kolam (Pond)</a:t>
            </a:r>
          </a:p>
          <a:p>
            <a:endParaRPr lang="en-MY" dirty="0"/>
          </a:p>
          <a:p>
            <a:r>
              <a:rPr lang="en-MY" dirty="0"/>
              <a:t>SPOKEN TRANSCRIPT</a:t>
            </a:r>
          </a:p>
          <a:p>
            <a:endParaRPr lang="en-MY" dirty="0"/>
          </a:p>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Water Feature</a:t>
            </a:r>
          </a:p>
          <a:p>
            <a:r>
              <a:rPr lang="en-MY" dirty="0"/>
              <a:t>Contoh: Kolam Renang / Kolam Hiasan Besar (Pool)</a:t>
            </a:r>
          </a:p>
          <a:p>
            <a:endParaRPr lang="en-MY" dirty="0"/>
          </a:p>
          <a:p>
            <a:r>
              <a:rPr lang="en-MY" dirty="0"/>
              <a:t>SPOKEN TRANSCRIPT</a:t>
            </a:r>
          </a:p>
          <a:p>
            <a:endParaRPr lang="en-MY" dirty="0"/>
          </a:p>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Drinking Fountain, dan BBQ Pit.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Bahan</a:t>
            </a:r>
          </a:p>
          <a:p>
            <a:endParaRPr lang="en-MY" dirty="0"/>
          </a:p>
          <a:p>
            <a:r>
              <a:rPr lang="en-MY" dirty="0"/>
              <a:t>SPOKEN TRANSCRIPT</a:t>
            </a:r>
          </a:p>
          <a:p>
            <a:endParaRPr lang="en-MY" dirty="0"/>
          </a:p>
          <a:p>
            <a:r>
              <a:rPr lang="en-MY" dirty="0"/>
              <a:t>Bahan. Konkrit bertetulang gentian (FRC) atau konkrit pratuang (precast concrete). Pembesaran (expansion joints) mungkin diperlukan bagi mengelak keretakan akibat perubahan suhu.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Kemasan</a:t>
            </a:r>
          </a:p>
          <a:p>
            <a:endParaRPr lang="en-MY" dirty="0"/>
          </a:p>
          <a:p>
            <a:r>
              <a:rPr lang="en-MY" dirty="0"/>
              <a:t>SPOKEN TRANSCRIPT</a:t>
            </a:r>
          </a:p>
          <a:p>
            <a:endParaRPr lang="en-MY" dirty="0"/>
          </a:p>
          <a:p>
            <a:r>
              <a:rPr lang="en-MY" dirty="0"/>
              <a:t>Kemasan. Boleh dibiarkan asli, digilap, dicat, atau bertekstur (exposed aggregate). Permukaan mesti licin,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Bahan</a:t>
            </a:r>
          </a:p>
          <a:p>
            <a:endParaRPr lang="en-MY" dirty="0"/>
          </a:p>
          <a:p>
            <a:r>
              <a:rPr lang="en-MY" dirty="0"/>
              <a:t>SPOKEN TRANSCRIPT</a:t>
            </a:r>
          </a:p>
          <a:p>
            <a:endParaRPr lang="en-MY" dirty="0"/>
          </a:p>
          <a:p>
            <a:r>
              <a:rPr lang="en-MY" dirty="0"/>
              <a:t>Bahan. Papan atau profil daripada campuran gentian kayu/selulosa dan plastik kitar semula. Tahan UV, kalis air, tidak reput, kalis serangga.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Kemasan</a:t>
            </a:r>
          </a:p>
          <a:p>
            <a:endParaRPr lang="en-MY" dirty="0"/>
          </a:p>
          <a:p>
            <a:r>
              <a:rPr lang="en-MY" dirty="0"/>
              <a:t>SPOKEN TRANSCRIPT</a:t>
            </a:r>
          </a:p>
          <a:p>
            <a:endParaRPr lang="en-MY" dirty="0"/>
          </a:p>
          <a:p>
            <a:r>
              <a:rPr lang="en-MY" dirty="0"/>
              <a:t>Kemasan. Warna disepadukan dalam bahan; tidak memerlukan cat atau varnis. Tekstur permukaan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endParaRPr lang="en-MY" dirty="0"/>
          </a:p>
          <a:p>
            <a:r>
              <a:rPr lang="en-MY" dirty="0"/>
              <a:t>SPOKEN TRANSCRIPT</a:t>
            </a:r>
          </a:p>
          <a:p>
            <a:endParaRPr lang="en-MY" dirty="0"/>
          </a:p>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Bahan</a:t>
            </a:r>
          </a:p>
          <a:p>
            <a:endParaRPr lang="en-MY" dirty="0"/>
          </a:p>
          <a:p>
            <a:r>
              <a:rPr lang="en-MY" dirty="0"/>
              <a:t>SPOKEN TRANSCRIPT</a:t>
            </a:r>
          </a:p>
          <a:p>
            <a:endParaRPr lang="en-MY" dirty="0"/>
          </a:p>
          <a:p>
            <a:r>
              <a:rPr lang="en-MY" dirty="0"/>
              <a:t>Bahan. Keluli lembut digalvani dan disalut serbuk, atau keluli tahan karat. Ketebalan dinding badan min. 1.2mm.</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Ciri-ciri</a:t>
            </a:r>
          </a:p>
          <a:p>
            <a:endParaRPr lang="en-MY" dirty="0"/>
          </a:p>
          <a:p>
            <a:r>
              <a:rPr lang="en-MY" dirty="0"/>
              <a:t>SPOKEN TRANSCRIPT</a:t>
            </a:r>
          </a:p>
          <a:p>
            <a:endParaRPr lang="en-MY" dirty="0"/>
          </a:p>
          <a:p>
            <a:r>
              <a:rPr lang="en-MY" dirty="0"/>
              <a:t>Ciri-ciri. Penutup tahan cuaca dan tahan haiwan; pembukaan pembuangan ergonomik; tong dalam (liner) mudah dikeluarkan.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Bahan</a:t>
            </a:r>
          </a:p>
          <a:p>
            <a:endParaRPr lang="en-MY" dirty="0"/>
          </a:p>
          <a:p>
            <a:r>
              <a:rPr lang="en-MY" dirty="0"/>
              <a:t>SPOKEN TRANSCRIPT</a:t>
            </a:r>
          </a:p>
          <a:p>
            <a:endParaRPr lang="en-MY" dirty="0"/>
          </a:p>
          <a:p>
            <a:r>
              <a:rPr lang="en-MY" dirty="0"/>
              <a:t>Bahan. Konkrit bertetulang atau batu asli/tiruan. Berat mencukupi bagi mengelak kecurian atau pergerakan tidak disengajakan.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Ciri-ciri</a:t>
            </a:r>
          </a:p>
          <a:p>
            <a:endParaRPr lang="en-MY" dirty="0"/>
          </a:p>
          <a:p>
            <a:r>
              <a:rPr lang="en-MY" dirty="0"/>
              <a:t>SPOKEN TRANSCRIPT</a:t>
            </a:r>
          </a:p>
          <a:p>
            <a:endParaRPr lang="en-MY" dirty="0"/>
          </a:p>
          <a:p>
            <a:r>
              <a:rPr lang="en-MY" dirty="0"/>
              <a:t>Ciri-ciri. Pembukaan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Bahan</a:t>
            </a:r>
          </a:p>
          <a:p>
            <a:endParaRPr lang="en-MY" dirty="0"/>
          </a:p>
          <a:p>
            <a:r>
              <a:rPr lang="en-MY" dirty="0"/>
              <a:t>SPOKEN TRANSCRIPT</a:t>
            </a:r>
          </a:p>
          <a:p>
            <a:endParaRPr lang="en-MY" dirty="0"/>
          </a:p>
          <a:p>
            <a:r>
              <a:rPr lang="en-MY" dirty="0"/>
              <a:t>Bahan. Plastik berketumpatan tinggi (HDPE) yang tahan UV, tidak reput dan mudah dibersihkan.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Ciri-ciri</a:t>
            </a:r>
          </a:p>
          <a:p>
            <a:endParaRPr lang="en-MY" dirty="0"/>
          </a:p>
          <a:p>
            <a:r>
              <a:rPr lang="en-MY" dirty="0"/>
              <a:t>SPOKEN TRANSCRIPT</a:t>
            </a:r>
          </a:p>
          <a:p>
            <a:endParaRPr lang="en-MY" dirty="0"/>
          </a:p>
          <a:p>
            <a:r>
              <a:rPr lang="en-MY" dirty="0"/>
              <a:t>Ciri-ciri. Ringan, mudah dialihkan jika tidak dipasang tetap; pelbagai warna untuk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endParaRPr lang="en-MY" dirty="0"/>
          </a:p>
          <a:p>
            <a:r>
              <a:rPr lang="en-MY" dirty="0"/>
              <a:t>SPOKEN TRANSCRIPT</a:t>
            </a:r>
          </a:p>
          <a:p>
            <a:endParaRPr lang="en-MY" dirty="0"/>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r>
              <a:rPr lang="en-MY" dirty="0"/>
              <a:t>Spesifikasi: Bahan</a:t>
            </a:r>
          </a:p>
          <a:p>
            <a:endParaRPr lang="en-MY" dirty="0"/>
          </a:p>
          <a:p>
            <a:r>
              <a:rPr lang="en-MY" dirty="0"/>
              <a:t>SPOKEN TRANSCRIPT</a:t>
            </a:r>
          </a:p>
          <a:p>
            <a:endParaRPr lang="en-MY" dirty="0"/>
          </a:p>
          <a:p>
            <a:r>
              <a:rPr lang="en-MY" dirty="0"/>
              <a:t>Bahan. Keluli tahan karat Gred 304 atau 316 (316 lebih tahan kakisan untuk persekitaran pantai). Tebal min. 1.5mm.</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r>
              <a:rPr lang="en-MY" dirty="0"/>
              <a:t>Spesifikasi: Injap</a:t>
            </a:r>
          </a:p>
          <a:p>
            <a:endParaRPr lang="en-MY" dirty="0"/>
          </a:p>
          <a:p>
            <a:r>
              <a:rPr lang="en-MY" dirty="0"/>
              <a:t>SPOKEN TRANSCRIPT</a:t>
            </a:r>
          </a:p>
          <a:p>
            <a:endParaRPr lang="en-MY" dirty="0"/>
          </a:p>
          <a:p>
            <a:r>
              <a:rPr lang="en-MY" dirty="0"/>
              <a:t>Injap. Injap tekan tahan lasak dan tahan vandalisme; mekanisme membersihkan diri satu kelebihan.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r>
              <a:rPr lang="en-MY" dirty="0"/>
              <a:t>Spesifikasi: Kepala pancutan</a:t>
            </a:r>
          </a:p>
          <a:p>
            <a:endParaRPr lang="en-MY" dirty="0"/>
          </a:p>
          <a:p>
            <a:r>
              <a:rPr lang="en-MY" dirty="0"/>
              <a:t>SPOKEN TRANSCRIPT</a:t>
            </a:r>
          </a:p>
          <a:p>
            <a:endParaRPr lang="en-MY" dirty="0"/>
          </a:p>
          <a:p>
            <a:r>
              <a:rPr lang="en-MY" dirty="0"/>
              <a:t>Kepala pancutan. Aliran stabil dan bersih, dilindungi daripada sentuhan mulut pengguna.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r>
              <a:rPr lang="en-MY" dirty="0"/>
              <a:t>Spesifikasi: Penapisan (pilihan)</a:t>
            </a:r>
          </a:p>
          <a:p>
            <a:endParaRPr lang="en-MY" dirty="0"/>
          </a:p>
          <a:p>
            <a:r>
              <a:rPr lang="en-MY" dirty="0"/>
              <a:t>SPOKEN TRANSCRIPT</a:t>
            </a:r>
          </a:p>
          <a:p>
            <a:endParaRPr lang="en-MY" dirty="0"/>
          </a:p>
          <a:p>
            <a:r>
              <a:rPr lang="en-MY" dirty="0"/>
              <a:t>Penapisan (pilihan). Penapis karbon atau sedimen.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r>
              <a:rPr lang="en-MY" dirty="0"/>
              <a:t>Spesifikasi: Perpaipan</a:t>
            </a:r>
          </a:p>
          <a:p>
            <a:endParaRPr lang="en-MY" dirty="0"/>
          </a:p>
          <a:p>
            <a:r>
              <a:rPr lang="en-MY" dirty="0"/>
              <a:t>SPOKEN TRANSCRIPT</a:t>
            </a:r>
          </a:p>
          <a:p>
            <a:endParaRPr lang="en-MY" dirty="0"/>
          </a:p>
          <a:p>
            <a:r>
              <a:rPr lang="en-MY" dirty="0"/>
              <a:t>Perpaipan. Air bersih (PVC atau HDPE) dan saliran air buangan yang cekap; injap tutup untuk penyelenggaraan.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Keluli Tahan Karat</a:t>
            </a:r>
          </a:p>
          <a:p>
            <a:r>
              <a:rPr lang="en-MY" dirty="0"/>
              <a:t>Spesifikasi: Aksesibiliti</a:t>
            </a:r>
          </a:p>
          <a:p>
            <a:endParaRPr lang="en-MY" dirty="0"/>
          </a:p>
          <a:p>
            <a:r>
              <a:rPr lang="en-MY" dirty="0"/>
              <a:t>SPOKEN TRANSCRIPT</a:t>
            </a:r>
          </a:p>
          <a:p>
            <a:endParaRPr lang="en-MY" dirty="0"/>
          </a:p>
          <a:p>
            <a:r>
              <a:rPr lang="en-MY" dirty="0"/>
              <a:t>Aksesibiliti. Mengikut piawaian reka bentuk universal.</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Konkrit/Batu</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Konkrit/Batu</a:t>
            </a:r>
          </a:p>
          <a:p>
            <a:r>
              <a:rPr lang="en-MY" dirty="0"/>
              <a:t>Spesifikasi: Bahan</a:t>
            </a:r>
          </a:p>
          <a:p>
            <a:endParaRPr lang="en-MY" dirty="0"/>
          </a:p>
          <a:p>
            <a:r>
              <a:rPr lang="en-MY" dirty="0"/>
              <a:t>SPOKEN TRANSCRIPT</a:t>
            </a:r>
          </a:p>
          <a:p>
            <a:endParaRPr lang="en-MY" dirty="0"/>
          </a:p>
          <a:p>
            <a:r>
              <a:rPr lang="en-MY" dirty="0"/>
              <a:t>Bahan. Struktur asas konkrit bertetulang atau batu asli/tiruan. Bahagian pancutan (faucet/basin) biasanya kekal keluli tahan karat untuk kebersihan.</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Drinking Fountain</a:t>
            </a:r>
          </a:p>
          <a:p>
            <a:r>
              <a:rPr lang="en-MY" dirty="0"/>
              <a:t>Contoh: Pancutan Air Minum Konkrit/Batu</a:t>
            </a:r>
          </a:p>
          <a:p>
            <a:r>
              <a:rPr lang="en-MY" dirty="0"/>
              <a:t>Spesifikasi: Piawaian kesihatan</a:t>
            </a:r>
          </a:p>
          <a:p>
            <a:endParaRPr lang="en-MY" dirty="0"/>
          </a:p>
          <a:p>
            <a:r>
              <a:rPr lang="en-MY" dirty="0"/>
              <a:t>SPOKEN TRANSCRIPT</a:t>
            </a:r>
          </a:p>
          <a:p>
            <a:endParaRPr lang="en-MY" dirty="0"/>
          </a:p>
          <a:p>
            <a:r>
              <a:rPr lang="en-MY" dirty="0"/>
              <a:t>Piawaian kesihatan. Mesti mematuhi piawaian kualiti air minuman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BBQ Pit</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BBQ Pit</a:t>
            </a:r>
          </a:p>
          <a:p>
            <a:r>
              <a:rPr lang="en-MY" dirty="0"/>
              <a:t>Spesifikasi: Bahan Pembinaan</a:t>
            </a:r>
          </a:p>
          <a:p>
            <a:endParaRPr lang="en-MY" dirty="0"/>
          </a:p>
          <a:p>
            <a:r>
              <a:rPr lang="en-MY" dirty="0"/>
              <a:t>SPOKEN TRANSCRIPT</a:t>
            </a:r>
          </a:p>
          <a:p>
            <a:endParaRPr lang="en-MY" dirty="0"/>
          </a:p>
          <a:p>
            <a:r>
              <a:rPr lang="en-MY" dirty="0"/>
              <a:t>Bahan Pembinaan. Dinding dalam ruang pembakaran daripada bata tahan api (firebrick) atau blok konkrit tahan suhu tinggi, dengan mortar tahan api; dinding luar bata biasa, blok konkrit atau batu; pelat kerja konkrit, jubin seramik tahan haba atau batu granit.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BBQ Pit</a:t>
            </a:r>
          </a:p>
          <a:p>
            <a:r>
              <a:rPr lang="en-MY" dirty="0"/>
              <a:t>Spesifikasi: Dimensi</a:t>
            </a:r>
          </a:p>
          <a:p>
            <a:endParaRPr lang="en-MY" dirty="0"/>
          </a:p>
          <a:p>
            <a:r>
              <a:rPr lang="en-MY" dirty="0"/>
              <a:t>SPOKEN TRANSCRIPT</a:t>
            </a:r>
          </a:p>
          <a:p>
            <a:endParaRPr lang="en-MY" dirty="0"/>
          </a:p>
          <a:p>
            <a:r>
              <a:rPr lang="en-MY" dirty="0"/>
              <a:t>Dimensi. Ketinggian memanggang lazimnya 750–900mm dari aras tanah; saiz lubang api mengikut saiz gril.</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BBQ Pit</a:t>
            </a:r>
          </a:p>
          <a:p>
            <a:r>
              <a:rPr lang="en-MY" dirty="0"/>
              <a:t>Spesifikasi: Gril</a:t>
            </a:r>
          </a:p>
          <a:p>
            <a:endParaRPr lang="en-MY" dirty="0"/>
          </a:p>
          <a:p>
            <a:r>
              <a:rPr lang="en-MY" dirty="0"/>
              <a:t>SPOKEN TRANSCRIPT</a:t>
            </a:r>
          </a:p>
          <a:p>
            <a:endParaRPr lang="en-MY" dirty="0"/>
          </a:p>
          <a:p>
            <a:r>
              <a:rPr lang="en-MY" dirty="0"/>
              <a:t>Gril. Keluli tahan karat gred makanan atau besi tuang; tebal palang min. 6mm.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BBQ Pit</a:t>
            </a:r>
          </a:p>
          <a:p>
            <a:r>
              <a:rPr lang="en-MY" dirty="0"/>
              <a:t>Spesifikasi: Keselamatan</a:t>
            </a:r>
          </a:p>
          <a:p>
            <a:endParaRPr lang="en-MY" dirty="0"/>
          </a:p>
          <a:p>
            <a:r>
              <a:rPr lang="en-MY" dirty="0"/>
              <a:t>SPOKEN TRANSCRIPT</a:t>
            </a:r>
          </a:p>
          <a:p>
            <a:endParaRPr lang="en-MY" dirty="0"/>
          </a:p>
          <a:p>
            <a:r>
              <a:rPr lang="en-MY" dirty="0"/>
              <a:t>Keselamatan. Pengudaraan di bawah ruang pembakaran; saliran air hujan; cerobong asap (pilihan); ruang persediaan bersebelahan; jarak selamat dari bahan mudah terbakar.</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Water Feature, manakala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 Klik butang “MULA KUIZ” untuk mula.</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2</a:t>
            </a:r>
          </a:p>
          <a:p>
            <a:endParaRPr lang="en-MY" dirty="0"/>
          </a:p>
          <a:p>
            <a:r>
              <a:rPr lang="en-MY" dirty="0"/>
              <a:t>SPOKEN TRANSCRIPT</a:t>
            </a:r>
          </a:p>
          <a:p>
            <a:endParaRPr lang="en-MY" dirty="0"/>
          </a:p>
          <a:p>
            <a:r>
              <a:rPr lang="en-MY" dirty="0"/>
              <a:t>Manakah antara berikut merupakan struktur teduhan tradisional Melayu yang digunakan sebagai tempat berehat?</a:t>
            </a:r>
          </a:p>
          <a:p>
            <a:r>
              <a:rPr lang="en-MY" dirty="0"/>
              <a:t>A. Pergola</a:t>
            </a:r>
          </a:p>
          <a:p>
            <a:r>
              <a:rPr lang="en-MY" dirty="0"/>
              <a:t>B. Canopy</a:t>
            </a:r>
          </a:p>
          <a:p>
            <a:r>
              <a:rPr lang="en-MY" dirty="0"/>
              <a:t>C. Wakaf</a:t>
            </a:r>
          </a:p>
          <a:p>
            <a:r>
              <a:rPr lang="en-MY" dirty="0"/>
              <a:t>D. Gazebo</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3</a:t>
            </a:r>
          </a:p>
          <a:p>
            <a:endParaRPr lang="en-MY" dirty="0"/>
          </a:p>
          <a:p>
            <a:r>
              <a:rPr lang="en-MY" dirty="0"/>
              <a:t>SPOKEN TRANSCRIPT</a:t>
            </a:r>
          </a:p>
          <a:p>
            <a:endParaRPr lang="en-MY" dirty="0"/>
          </a:p>
          <a:p>
            <a:r>
              <a:rPr lang="en-MY" dirty="0"/>
              <a:t>Apakah pertimbangan utama dalam pemilihan bahan bagi kemudahan awam seperti tandas dan surau di taman?</a:t>
            </a:r>
          </a:p>
          <a:p>
            <a:r>
              <a:rPr lang="en-MY" dirty="0"/>
              <a:t>A. Bahan yang tahan vandalisme dan cuaca</a:t>
            </a:r>
          </a:p>
          <a:p>
            <a:r>
              <a:rPr lang="en-MY" dirty="0"/>
              <a:t>B. Bahan yang paling murah di pasaran</a:t>
            </a:r>
          </a:p>
          <a:p>
            <a:r>
              <a:rPr lang="en-MY" dirty="0"/>
              <a:t>C. Bahan yang perlu dicat semula setiap bulan</a:t>
            </a:r>
          </a:p>
          <a:p>
            <a:r>
              <a:rPr lang="en-MY" dirty="0"/>
              <a:t>D. Bahan yang seragam dengan perabot taman</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4</a:t>
            </a:r>
          </a:p>
          <a:p>
            <a:endParaRPr lang="en-MY" dirty="0"/>
          </a:p>
          <a:p>
            <a:r>
              <a:rPr lang="en-MY" dirty="0"/>
              <a:t>SPOKEN TRANSCRIPT</a:t>
            </a:r>
          </a:p>
          <a:p>
            <a:endParaRPr lang="en-MY" dirty="0"/>
          </a:p>
          <a:p>
            <a:r>
              <a:rPr lang="en-MY" dirty="0"/>
              <a:t>Dalam pembinaan water feature, apakah aspek kawalan kualiti air yang dinyatakan dalam modul?</a:t>
            </a:r>
          </a:p>
          <a:p>
            <a:r>
              <a:rPr lang="en-MY" dirty="0"/>
              <a:t>A. Penambahan garam</a:t>
            </a:r>
          </a:p>
          <a:p>
            <a:r>
              <a:rPr lang="en-MY" dirty="0"/>
              <a:t>B. Pencegahan alga</a:t>
            </a:r>
          </a:p>
          <a:p>
            <a:r>
              <a:rPr lang="en-MY" dirty="0"/>
              <a:t>C. Pemanasan air</a:t>
            </a:r>
          </a:p>
          <a:p>
            <a:r>
              <a:rPr lang="en-MY" dirty="0"/>
              <a:t>D. Pewarnaan air</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dirty="0"/>
              <a:t>Boardwalk</a:t>
            </a:r>
          </a:p>
          <a:p>
            <a:r>
              <a:rPr lang="en-MY" dirty="0"/>
              <a:t>Tong Sampah</a:t>
            </a:r>
          </a:p>
          <a:p>
            <a:r>
              <a:rPr lang="en-MY" dirty="0"/>
              <a:t>Drinking Fountain</a:t>
            </a:r>
          </a:p>
          <a:p>
            <a:r>
              <a:rPr lang="en-MY" dirty="0"/>
              <a:t>BBQ Pit</a:t>
            </a:r>
          </a:p>
          <a:p>
            <a:r>
              <a:rPr lang="en-MY" dirty="0"/>
              <a:t>Gazebo</a:t>
            </a:r>
          </a:p>
          <a:p>
            <a:r>
              <a:rPr lang="en-MY" dirty="0"/>
              <a:t>Maklum balas betul: Pilihan jawapan tepat.</a:t>
            </a:r>
          </a:p>
          <a:p>
            <a:r>
              <a:rPr lang="en-MY" dirty="0"/>
              <a:t>Maklum balas salah: Pilihan jawapan tidak tepat.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Semak Jawapan</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 Bahagian ini telah selesai. Tutup tetingkap pelajaran untuk keluar.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Komponen Landskap</a:t>
            </a:r>
          </a:p>
        </p:txBody>
      </p:sp>
      <p:sp>
        <p:nvSpPr>
          <p:cNvPr id="20" name="Course"/>
          <p:cNvSpPr txBox="1"/>
          <p:nvPr/>
        </p:nvSpPr>
        <p:spPr>
          <a:xfrm>
            <a:off x="723930" y="1225296"/>
            <a:ext cx="10744200" cy="365760"/>
          </a:xfrm>
          <a:prstGeom prst="rect">
            <a:avLst/>
          </a:prstGeom>
          <a:noFill/>
        </p:spPr>
        <p:txBody>
          <a:bodyPr wrap="square">
            <a:noAutofit/>
          </a:bodyPr>
          <a:lstStyle/>
          <a:p>
            <a:pPr/>
            <a:r>
              <a:rPr lang="en-MY" sz="1500" b="1" dirty="0">
                <a:solidFill>
                  <a:srgbClr val="7F6000"/>
                </a:solidFill>
              </a:rPr>
              <a:t>KURSUS KERJA BANGUNAN – PEMBINAAN LANDSKAP LUAR</a:t>
            </a:r>
          </a:p>
        </p:txBody>
      </p:sp>
      <p:sp>
        <p:nvSpPr>
          <p:cNvPr id="21" name="PL"/>
          <p:cNvSpPr txBox="1"/>
          <p:nvPr/>
        </p:nvSpPr>
        <p:spPr>
          <a:xfrm>
            <a:off x="723930" y="1700784"/>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22" name="Topic"/>
          <p:cNvSpPr txBox="1"/>
          <p:nvPr/>
        </p:nvSpPr>
        <p:spPr>
          <a:xfrm>
            <a:off x="723930" y="2176272"/>
            <a:ext cx="10744200" cy="420624"/>
          </a:xfrm>
          <a:prstGeom prst="rect">
            <a:avLst/>
          </a:prstGeom>
          <a:noFill/>
        </p:spPr>
        <p:txBody>
          <a:bodyPr wrap="square">
            <a:noAutofit/>
          </a:bodyPr>
          <a:lstStyle/>
          <a:p>
            <a:pPr/>
            <a:r>
              <a:rPr lang="en-MY" sz="1900" b="1" dirty="0">
                <a:solidFill>
                  <a:schemeClr val="tx1">
                    <a:lumMod val="85000"/>
                    <a:lumOff val="15000"/>
                  </a:schemeClr>
                </a:solidFill>
              </a:rPr>
              <a:t>Topik 3 Bahagian 2: Komponen Landskap</a:t>
            </a:r>
          </a:p>
        </p:txBody>
      </p:sp>
      <p:sp>
        <p:nvSpPr>
          <p:cNvPr id="30" name="VisualDir"/>
          <p:cNvSpPr txBox="1"/>
          <p:nvPr/>
        </p:nvSpPr>
        <p:spPr>
          <a:xfrm>
            <a:off x="723930" y="3017520"/>
            <a:ext cx="10744200" cy="1133856"/>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Imej pembuka bahagian — foto tapak landskap siap yang</a:t>
            </a:r>
          </a:p>
          <a:p>
            <a:pPr/>
            <a:r>
              <a:rPr lang="en-MY" sz="1100" dirty="0">
                <a:solidFill>
                  <a:srgbClr val="808080"/>
                </a:solidFill>
              </a:rPr>
              <a:t>memaparkan struktur taman dan perabot taman dalam satu bingkai.</a:t>
            </a:r>
          </a:p>
          <a:p>
            <a:pPr/>
            <a:r>
              <a:rPr lang="en-MY" sz="1100" dirty="0">
                <a:solidFill>
                  <a:srgbClr val="808080"/>
                </a:solidFill>
              </a:rPr>
              <a:t>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SPOKEN_ENTRY_TITLES_PLUS_ORIENTATION  (SPOKEN_ENTRY_TITLES_PLUS_ORIENTATION)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MINIMAL_ORIENTATION</a:t>
            </a:r>
          </a:p>
          <a:p>
            <a:r>
              <a:rPr lang="en-MY" sz="900" dirty="0">
                <a:solidFill>
                  <a:schemeClr val="tx1">
                    <a:lumMod val="85000"/>
                    <a:lumOff val="15000"/>
                  </a:schemeClr>
                </a:solidFill>
              </a:rPr>
              <a:t>  4.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group master, no component visited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Rajah 23 — Contoh Boardwalk dalam Taman Paya Bakau, modul ms 239.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4"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4"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5"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Promenade</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 berjalan dan bersantai.</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Promenade Tasik Titiwangsa, KL</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Promenade — spesifikasi teks sahaja, modul ms 238.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6"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280263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 sering digunakan untuk bot.</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219456"/>
          </a:xfrm>
          <a:prstGeom prst="rect">
            <a:avLst/>
          </a:prstGeom>
          <a:noFill/>
        </p:spPr>
        <p:txBody>
          <a:bodyPr wrap="square">
            <a:noAutofit/>
          </a:bodyPr>
          <a:lstStyle/>
          <a:p>
            <a:pPr/>
            <a:r>
              <a:rPr lang="en-MY" sz="1250" dirty="0">
                <a:solidFill>
                  <a:schemeClr val="tx1">
                    <a:lumMod val="85000"/>
                    <a:lumOff val="15000"/>
                  </a:schemeClr>
                </a:solidFill>
              </a:rPr>
              <a:t>[Visual: Arahan visual untuk Jeti — spesifikasi teks sahaja, modul ms 238.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 untuk rehat &amp; pemandangan.</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Dek Kayu — spesifikasi teks sahaja, modul ms 238.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Boardwalk</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 dan visual semula jadi.</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Boardwalk Paya Indah Wetlands</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Rajah 23 — Contoh Boardwalk dalam Taman Paya Bakau, modul ms 239. Aset</a:t>
            </a:r>
          </a:p>
          <a:p>
            <a:pPr/>
            <a:r>
              <a:rPr lang="en-MY" sz="1250" dirty="0">
                <a:solidFill>
                  <a:schemeClr val="tx1">
                    <a:lumMod val="85000"/>
                    <a:lumOff val="15000"/>
                  </a:schemeClr>
                </a:solidFill>
              </a:rPr>
              <a:t>K5PL06T03-B02-IMG-p239-x20.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Footbridge</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 aliran air atau longkang besar.</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Footbridge Taman Botani Perdana</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Footbridge — spesifikasi teks sahaja, modul ms 238.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Footbridge</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Teduhan</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Rajah 24 — Contoh Pergola, modul ms 240.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Teduhan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SCR_STRUKTUR_TEDUHAN_MAIN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[component_complete[STRUKTUR_TEDUHAN]]</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4"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5"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200" name="PopupPanel"/>
          <p:cNvSpPr txBox="1"/>
          <p:nvPr/>
        </p:nvSpPr>
        <p:spPr>
          <a:xfrm>
            <a:off x="1234440" y="1737360"/>
            <a:ext cx="9723090" cy="280263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 menikmati pemandangan.</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219456"/>
          </a:xfrm>
          <a:prstGeom prst="rect">
            <a:avLst/>
          </a:prstGeom>
          <a:noFill/>
        </p:spPr>
        <p:txBody>
          <a:bodyPr wrap="square">
            <a:noAutofit/>
          </a:bodyPr>
          <a:lstStyle/>
          <a:p>
            <a:pPr/>
            <a:r>
              <a:rPr lang="en-MY" sz="1250" dirty="0">
                <a:solidFill>
                  <a:schemeClr val="tx1">
                    <a:lumMod val="85000"/>
                    <a:lumOff val="15000"/>
                  </a:schemeClr>
                </a:solidFill>
              </a:rPr>
              <a:t>[Visual: Arahan visual untuk Gazebo — spesifikasi teks sahaja, modul ms 239.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6"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200" name="PopupPanel"/>
          <p:cNvSpPr txBox="1"/>
          <p:nvPr/>
        </p:nvSpPr>
        <p:spPr>
          <a:xfrm>
            <a:off x="1234440" y="1737360"/>
            <a:ext cx="9723090" cy="280263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 tempat berehat.</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219456"/>
          </a:xfrm>
          <a:prstGeom prst="rect">
            <a:avLst/>
          </a:prstGeom>
          <a:noFill/>
        </p:spPr>
        <p:txBody>
          <a:bodyPr wrap="square">
            <a:noAutofit/>
          </a:bodyPr>
          <a:lstStyle/>
          <a:p>
            <a:pPr/>
            <a:r>
              <a:rPr lang="en-MY" sz="1250" dirty="0">
                <a:solidFill>
                  <a:schemeClr val="tx1">
                    <a:lumMod val="85000"/>
                    <a:lumOff val="15000"/>
                  </a:schemeClr>
                </a:solidFill>
              </a:rPr>
              <a:t>[Visual: Arahan visual untuk Wakaf — spesifikasi teks sahaja, modul ms 239.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II_STRUKTUR_TEDUHAN_EX02  &lt;-  K5-PL06-T03-B02-STRUKTUR-TEDUHAN-ROW-02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 tanaman pemanjat seperti bougainvillea.</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Rajah 24 — Contoh Pergola, modul ms 240. Aset K5PL06T03-B02-IMG-p240-x23.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K5PL06T03-B02-IMG-p240-x23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II_STRUKTUR_TEDUHAN_EX03  &lt;-  K5-PL06-T03-B02-STRUKTUR-TEDUHAN-ROW-03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200" name="PopupPanel"/>
          <p:cNvSpPr txBox="1"/>
          <p:nvPr/>
        </p:nvSpPr>
        <p:spPr>
          <a:xfrm>
            <a:off x="1234440" y="1737360"/>
            <a:ext cx="9723090" cy="2802636"/>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 kawasan aktiviti</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219456"/>
          </a:xfrm>
          <a:prstGeom prst="rect">
            <a:avLst/>
          </a:prstGeom>
          <a:noFill/>
        </p:spPr>
        <p:txBody>
          <a:bodyPr wrap="square">
            <a:noAutofit/>
          </a:bodyPr>
          <a:lstStyle/>
          <a:p>
            <a:pPr/>
            <a:r>
              <a:rPr lang="en-MY" sz="1250" dirty="0">
                <a:solidFill>
                  <a:schemeClr val="tx1">
                    <a:lumMod val="85000"/>
                    <a:lumOff val="15000"/>
                  </a:schemeClr>
                </a:solidFill>
              </a:rPr>
              <a:t>[Visual: Arahan visual untuk Canopy — spesifikasi teks sahaja, modul ms 239.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II_STRUKTUR_TEDUHAN_EX04  &lt;-  K5-PL06-T03-B02-STRUKTUR-TEDUHAN-ROW-04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737360"/>
            <a:ext cx="9723090" cy="344728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429768"/>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 menggunakan bahan seperti keluli dan panel</a:t>
            </a:r>
          </a:p>
          <a:p>
            <a:pPr/>
            <a:r>
              <a:rPr lang="en-MY" sz="1250" dirty="0">
                <a:solidFill>
                  <a:schemeClr val="tx1">
                    <a:lumMod val="85000"/>
                    <a:lumOff val="15000"/>
                  </a:schemeClr>
                </a:solidFill>
              </a:rPr>
              <a:t>lutsinar atau berlubang untuk mencipta corak cahaya dan bayangan.</a:t>
            </a:r>
          </a:p>
        </p:txBody>
      </p:sp>
      <p:sp>
        <p:nvSpPr>
          <p:cNvPr id="212" name="FHead"/>
          <p:cNvSpPr txBox="1"/>
          <p:nvPr/>
        </p:nvSpPr>
        <p:spPr>
          <a:xfrm>
            <a:off x="1490472" y="330098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38728"/>
            <a:ext cx="9211026"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14" name="FHead"/>
          <p:cNvSpPr txBox="1"/>
          <p:nvPr/>
        </p:nvSpPr>
        <p:spPr>
          <a:xfrm>
            <a:off x="1490472" y="39182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55948"/>
            <a:ext cx="9211026" cy="644652"/>
          </a:xfrm>
          <a:prstGeom prst="rect">
            <a:avLst/>
          </a:prstGeom>
          <a:noFill/>
        </p:spPr>
        <p:txBody>
          <a:bodyPr wrap="square">
            <a:noAutofit/>
          </a:bodyPr>
          <a:lstStyle/>
          <a:p>
            <a:pPr/>
            <a:r>
              <a:rPr lang="en-MY" sz="1250" dirty="0">
                <a:solidFill>
                  <a:schemeClr val="tx1">
                    <a:lumMod val="85000"/>
                    <a:lumOff val="15000"/>
                  </a:schemeClr>
                </a:solidFill>
              </a:rPr>
              <a:t>[Visual: Arahan visual untuk Struktur Teduhan Moden — spesifikasi teks sahaja, modul ms 239.</a:t>
            </a:r>
          </a:p>
          <a:p>
            <a:pPr/>
            <a:r>
              <a:rPr lang="en-MY" sz="1250" dirty="0">
                <a:solidFill>
                  <a:schemeClr val="tx1">
                    <a:lumMod val="85000"/>
                    <a:lumOff val="15000"/>
                  </a:schemeClr>
                </a:solidFill>
              </a:rPr>
              <a:t>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Kemudahan Awam</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30" name="VisualDir"/>
          <p:cNvSpPr txBox="1"/>
          <p:nvPr/>
        </p:nvSpPr>
        <p:spPr>
          <a:xfrm>
            <a:off x="723930" y="507492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tiga sel berlabel Tandas Awam</a:t>
            </a:r>
          </a:p>
          <a:p>
            <a:pPr/>
            <a:r>
              <a:rPr lang="en-MY" sz="1100" dirty="0">
                <a:solidFill>
                  <a:srgbClr val="808080"/>
                </a:solidFill>
              </a:rPr>
              <a:t>| Surau | Bangunan Interpretatif. Tidak dilukis,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Kemudahan Awam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SCR_KEMUDAHAN_AWAM_MAIN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[component_complete[KEMUDAHAN_AWAM]]</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200" name="PopupPanel"/>
          <p:cNvSpPr txBox="1"/>
          <p:nvPr/>
        </p:nvSpPr>
        <p:spPr>
          <a:xfrm>
            <a:off x="1234440" y="1737360"/>
            <a:ext cx="9723090" cy="323240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429768"/>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 Pembinaannya perlu mematuhi piawaian</a:t>
            </a:r>
          </a:p>
          <a:p>
            <a:pPr/>
            <a:r>
              <a:rPr lang="en-MY" sz="1250" dirty="0">
                <a:solidFill>
                  <a:schemeClr val="tx1">
                    <a:lumMod val="85000"/>
                    <a:lumOff val="15000"/>
                  </a:schemeClr>
                </a:solidFill>
              </a:rPr>
              <a:t>kebersihan dan mempunyai sistem bekalan air serta saliran yang cekap.</a:t>
            </a:r>
          </a:p>
        </p:txBody>
      </p:sp>
      <p:sp>
        <p:nvSpPr>
          <p:cNvPr id="212" name="FHead"/>
          <p:cNvSpPr txBox="1"/>
          <p:nvPr/>
        </p:nvSpPr>
        <p:spPr>
          <a:xfrm>
            <a:off x="1490472" y="330098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38728"/>
            <a:ext cx="9211026"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14" name="FHead"/>
          <p:cNvSpPr txBox="1"/>
          <p:nvPr/>
        </p:nvSpPr>
        <p:spPr>
          <a:xfrm>
            <a:off x="1490472" y="39182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55948"/>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Tandas Awam — spesifikasi teks sahaja, modul ms 240.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429768"/>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 menunaikan solat. Reka bentuk biasanya ringkas</a:t>
            </a:r>
          </a:p>
          <a:p>
            <a:pPr/>
            <a:r>
              <a:rPr lang="en-MY" sz="1250" dirty="0">
                <a:solidFill>
                  <a:schemeClr val="tx1">
                    <a:lumMod val="85000"/>
                    <a:lumOff val="15000"/>
                  </a:schemeClr>
                </a:solidFill>
              </a:rPr>
              <a:t>tetapi memenuhi keperluan keagamaan.</a:t>
            </a:r>
          </a:p>
        </p:txBody>
      </p:sp>
      <p:sp>
        <p:nvSpPr>
          <p:cNvPr id="212" name="FHead"/>
          <p:cNvSpPr txBox="1"/>
          <p:nvPr/>
        </p:nvSpPr>
        <p:spPr>
          <a:xfrm>
            <a:off x="1490472" y="330098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38728"/>
            <a:ext cx="9211026"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14" name="FHead"/>
          <p:cNvSpPr txBox="1"/>
          <p:nvPr/>
        </p:nvSpPr>
        <p:spPr>
          <a:xfrm>
            <a:off x="1490472" y="39182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55948"/>
            <a:ext cx="9211026" cy="219456"/>
          </a:xfrm>
          <a:prstGeom prst="rect">
            <a:avLst/>
          </a:prstGeom>
          <a:noFill/>
        </p:spPr>
        <p:txBody>
          <a:bodyPr wrap="square">
            <a:noAutofit/>
          </a:bodyPr>
          <a:lstStyle/>
          <a:p>
            <a:pPr/>
            <a:r>
              <a:rPr lang="en-MY" sz="1250" dirty="0">
                <a:solidFill>
                  <a:schemeClr val="tx1">
                    <a:lumMod val="85000"/>
                    <a:lumOff val="15000"/>
                  </a:schemeClr>
                </a:solidFill>
              </a:rPr>
              <a:t>[Visual: Arahan visual untuk Surau — spesifikasi teks sahaja, modul ms 240.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II_KEMUDAHAN_AWAM_EX02  &lt;-  K5-PL06-T03-B02-KEMUDAHAN-AWAM-ROW-02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737360"/>
            <a:ext cx="9723090" cy="344728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429768"/>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 tentang persekitaran (flora, fauna, sejarah,</a:t>
            </a:r>
          </a:p>
          <a:p>
            <a:pPr/>
            <a:r>
              <a:rPr lang="en-MY" sz="1250" dirty="0">
                <a:solidFill>
                  <a:schemeClr val="tx1">
                    <a:lumMod val="85000"/>
                    <a:lumOff val="15000"/>
                  </a:schemeClr>
                </a:solidFill>
              </a:rPr>
              <a:t>geologi) melalui pameran, paparan, atau papan tanda.</a:t>
            </a:r>
          </a:p>
        </p:txBody>
      </p:sp>
      <p:sp>
        <p:nvSpPr>
          <p:cNvPr id="212" name="FHead"/>
          <p:cNvSpPr txBox="1"/>
          <p:nvPr/>
        </p:nvSpPr>
        <p:spPr>
          <a:xfrm>
            <a:off x="1490472" y="330098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38728"/>
            <a:ext cx="9211026"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14" name="FHead"/>
          <p:cNvSpPr txBox="1"/>
          <p:nvPr/>
        </p:nvSpPr>
        <p:spPr>
          <a:xfrm>
            <a:off x="1490472" y="39182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55948"/>
            <a:ext cx="9211026" cy="644652"/>
          </a:xfrm>
          <a:prstGeom prst="rect">
            <a:avLst/>
          </a:prstGeom>
          <a:noFill/>
        </p:spPr>
        <p:txBody>
          <a:bodyPr wrap="square">
            <a:noAutofit/>
          </a:bodyPr>
          <a:lstStyle/>
          <a:p>
            <a:pPr/>
            <a:r>
              <a:rPr lang="en-MY" sz="1250" dirty="0">
                <a:solidFill>
                  <a:schemeClr val="tx1">
                    <a:lumMod val="85000"/>
                    <a:lumOff val="15000"/>
                  </a:schemeClr>
                </a:solidFill>
              </a:rPr>
              <a:t>[Visual: Arahan visual untuk Bangunan Interpretatif — spesifikasi teks sahaja, modul ms 240.</a:t>
            </a:r>
          </a:p>
          <a:p>
            <a:pPr/>
            <a:r>
              <a:rPr lang="en-MY" sz="1250" dirty="0">
                <a:solidFill>
                  <a:schemeClr val="tx1">
                    <a:lumMod val="85000"/>
                    <a:lumOff val="15000"/>
                  </a:schemeClr>
                </a:solidFill>
              </a:rPr>
              <a:t>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i="1" dirty="0">
                <a:solidFill>
                  <a:schemeClr val="tx1">
                    <a:lumMod val="85000"/>
                    <a:lumOff val="15000"/>
                  </a:schemeClr>
                </a:solidFill>
              </a:rPr>
              <a:t>Water Feature</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30" name="VisualDir"/>
          <p:cNvSpPr txBox="1"/>
          <p:nvPr/>
        </p:nvSpPr>
        <p:spPr>
          <a:xfrm>
            <a:off x="723930" y="507492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keratan rentas dengan pam,</a:t>
            </a:r>
          </a:p>
          <a:p>
            <a:pPr/>
            <a:r>
              <a:rPr lang="en-MY" sz="1100" dirty="0">
                <a:solidFill>
                  <a:srgbClr val="808080"/>
                </a:solidFill>
              </a:rPr>
              <a:t>penapis, paip dan saliran berlabel. Tidak dilukis,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Water Feature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SCR_WATER_FEATURE_MAIN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[component_complete[WATER_FEATURE]]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200" name="PopupPanel"/>
          <p:cNvSpPr txBox="1"/>
          <p:nvPr/>
        </p:nvSpPr>
        <p:spPr>
          <a:xfrm>
            <a:off x="1234440" y="1737360"/>
            <a:ext cx="9723090" cy="344728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429768"/>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 mewujudkan bunyi yang menenangkan dan</a:t>
            </a:r>
          </a:p>
          <a:p>
            <a:pPr/>
            <a:r>
              <a:rPr lang="en-MY" sz="1250" dirty="0">
                <a:solidFill>
                  <a:schemeClr val="tx1">
                    <a:lumMod val="85000"/>
                    <a:lumOff val="15000"/>
                  </a:schemeClr>
                </a:solidFill>
              </a:rPr>
              <a:t>pergerakan visual.</a:t>
            </a:r>
          </a:p>
        </p:txBody>
      </p:sp>
      <p:sp>
        <p:nvSpPr>
          <p:cNvPr id="212" name="FHead"/>
          <p:cNvSpPr txBox="1"/>
          <p:nvPr/>
        </p:nvSpPr>
        <p:spPr>
          <a:xfrm>
            <a:off x="1490472" y="330098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38728"/>
            <a:ext cx="9211026"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14" name="FHead"/>
          <p:cNvSpPr txBox="1"/>
          <p:nvPr/>
        </p:nvSpPr>
        <p:spPr>
          <a:xfrm>
            <a:off x="1490472" y="39182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55948"/>
            <a:ext cx="9211026" cy="644652"/>
          </a:xfrm>
          <a:prstGeom prst="rect">
            <a:avLst/>
          </a:prstGeom>
          <a:noFill/>
        </p:spPr>
        <p:txBody>
          <a:bodyPr wrap="square">
            <a:noAutofit/>
          </a:bodyPr>
          <a:lstStyle/>
          <a:p>
            <a:pPr/>
            <a:r>
              <a:rPr lang="en-MY" sz="1250" dirty="0">
                <a:solidFill>
                  <a:schemeClr val="tx1">
                    <a:lumMod val="85000"/>
                    <a:lumOff val="15000"/>
                  </a:schemeClr>
                </a:solidFill>
              </a:rPr>
              <a:t>[Visual: Arahan visual untuk Air Pancut (Fountain) — spesifikasi teks sahaja, modul ms 241.</a:t>
            </a:r>
          </a:p>
          <a:p>
            <a:pPr/>
            <a:r>
              <a:rPr lang="en-MY" sz="1250" dirty="0">
                <a:solidFill>
                  <a:schemeClr val="tx1">
                    <a:lumMod val="85000"/>
                    <a:lumOff val="15000"/>
                  </a:schemeClr>
                </a:solidFill>
              </a:rPr>
              <a:t>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200" name="PopupPanel"/>
          <p:cNvSpPr txBox="1"/>
          <p:nvPr/>
        </p:nvSpPr>
        <p:spPr>
          <a:xfrm>
            <a:off x="1234440" y="1737360"/>
            <a:ext cx="9723090" cy="30175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219456"/>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 kolam hiasan, kolam ikan, atau kolam refleksi.</a:t>
            </a:r>
          </a:p>
        </p:txBody>
      </p:sp>
      <p:sp>
        <p:nvSpPr>
          <p:cNvPr id="212" name="FHead"/>
          <p:cNvSpPr txBox="1"/>
          <p:nvPr/>
        </p:nvSpPr>
        <p:spPr>
          <a:xfrm>
            <a:off x="1490472" y="3086100"/>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323844"/>
            <a:ext cx="9211026"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14" name="FHead"/>
          <p:cNvSpPr txBox="1"/>
          <p:nvPr/>
        </p:nvSpPr>
        <p:spPr>
          <a:xfrm>
            <a:off x="1490472" y="3703320"/>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3941064"/>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Kolam (Pond) — spesifikasi teks sahaja, modul ms 241. Tidak</a:t>
            </a:r>
          </a:p>
          <a:p>
            <a:pPr/>
            <a:r>
              <a:rPr lang="en-MY" sz="1250" dirty="0">
                <a:solidFill>
                  <a:schemeClr val="tx1">
                    <a:lumMod val="85000"/>
                    <a:lumOff val="15000"/>
                  </a:schemeClr>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II_WATER_FEATURE_EX02  &lt;-  K5-PL06-T03-B02-WATER-FEATURE-ROW-02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737360"/>
            <a:ext cx="9723090" cy="3232404"/>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883664"/>
            <a:ext cx="8534370" cy="365760"/>
          </a:xfrm>
          <a:prstGeom prst="rect">
            <a:avLst/>
          </a:prstGeom>
          <a:noFill/>
        </p:spPr>
        <p:txBody>
          <a:bodyPr wrap="square">
            <a:noAutofit/>
          </a:bodyPr>
          <a:lstStyle/>
          <a:p>
            <a:pPr/>
            <a:r>
              <a:rPr lang="en-MY" sz="2000" b="1" dirty="0">
                <a:solidFill>
                  <a:schemeClr val="tx1">
                    <a:lumMod val="85000"/>
                    <a:lumOff val="15000"/>
                  </a:schemeClr>
                </a:solidFill>
              </a:rPr>
              <a:t>Kolam Renang / Kolam Hiasan Besar (Pool)</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468880"/>
            <a:ext cx="9211026"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706624"/>
            <a:ext cx="9211026" cy="429768"/>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 atau sebagai kolam hiasan dengan ciri-ciri</a:t>
            </a:r>
          </a:p>
          <a:p>
            <a:pPr/>
            <a:r>
              <a:rPr lang="en-MY" sz="1250" dirty="0">
                <a:solidFill>
                  <a:schemeClr val="tx1">
                    <a:lumMod val="85000"/>
                    <a:lumOff val="15000"/>
                  </a:schemeClr>
                </a:solidFill>
              </a:rPr>
              <a:t>reka bentuk yang kompleks.</a:t>
            </a:r>
          </a:p>
        </p:txBody>
      </p:sp>
      <p:sp>
        <p:nvSpPr>
          <p:cNvPr id="212" name="FHead"/>
          <p:cNvSpPr txBox="1"/>
          <p:nvPr/>
        </p:nvSpPr>
        <p:spPr>
          <a:xfrm>
            <a:off x="1490472" y="3300984"/>
            <a:ext cx="9211026"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538728"/>
            <a:ext cx="9211026"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14" name="FHead"/>
          <p:cNvSpPr txBox="1"/>
          <p:nvPr/>
        </p:nvSpPr>
        <p:spPr>
          <a:xfrm>
            <a:off x="1490472" y="3918204"/>
            <a:ext cx="9211026" cy="219456"/>
          </a:xfrm>
          <a:prstGeom prst="rect">
            <a:avLst/>
          </a:prstGeom>
          <a:noFill/>
        </p:spPr>
        <p:txBody>
          <a:bodyPr wrap="square">
            <a:noAutofit/>
          </a:bodyPr>
          <a:lstStyle/>
          <a:p>
            <a:pPr/>
            <a:r>
              <a:rPr lang="en-MY" sz="950" b="1" dirty="0">
                <a:solidFill>
                  <a:srgbClr val="7F6000"/>
                </a:solidFill>
              </a:rPr>
              <a:t>ARAHAN VISUAL — TIDAK DIBENAMKAN</a:t>
            </a:r>
          </a:p>
        </p:txBody>
      </p:sp>
      <p:sp>
        <p:nvSpPr>
          <p:cNvPr id="215" name="FBody"/>
          <p:cNvSpPr txBox="1"/>
          <p:nvPr/>
        </p:nvSpPr>
        <p:spPr>
          <a:xfrm>
            <a:off x="1490472" y="4155948"/>
            <a:ext cx="9211026" cy="429768"/>
          </a:xfrm>
          <a:prstGeom prst="rect">
            <a:avLst/>
          </a:prstGeom>
          <a:noFill/>
        </p:spPr>
        <p:txBody>
          <a:bodyPr wrap="square">
            <a:noAutofit/>
          </a:bodyPr>
          <a:lstStyle/>
          <a:p>
            <a:pPr/>
            <a:r>
              <a:rPr lang="en-MY" sz="1250" dirty="0">
                <a:solidFill>
                  <a:schemeClr val="tx1">
                    <a:lumMod val="85000"/>
                    <a:lumOff val="15000"/>
                  </a:schemeClr>
                </a:solidFill>
              </a:rPr>
              <a:t>[Visual: Arahan visual untuk Kolam Renang / Kolam Hiasan Besar (Pool) — spesifikasi teks sahaja,</a:t>
            </a:r>
          </a:p>
          <a:p>
            <a:pPr/>
            <a:r>
              <a:rPr lang="en-MY" sz="1250" dirty="0">
                <a:solidFill>
                  <a:schemeClr val="tx1">
                    <a:lumMod val="85000"/>
                    <a:lumOff val="15000"/>
                  </a:schemeClr>
                </a:solidFill>
              </a:rPr>
              <a:t>modul ms 241.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Tick"/>
          <p:cNvSpPr/>
          <p:nvPr/>
        </p:nvSpPr>
        <p:spPr>
          <a:xfrm>
            <a:off x="9542084"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2174397"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5" name="Tick"/>
          <p:cNvSpPr/>
          <p:nvPr/>
        </p:nvSpPr>
        <p:spPr>
          <a:xfrm>
            <a:off x="5297073"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6419408"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47" name="Tick"/>
          <p:cNvSpPr/>
          <p:nvPr/>
        </p:nvSpPr>
        <p:spPr>
          <a:xfrm>
            <a:off x="9542084"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GROUP_MASTER_GROUP_COMPLETE</a:t>
            </a:r>
          </a:p>
          <a:p>
            <a:r>
              <a:rPr lang="en-MY" sz="900" dirty="0">
                <a:solidFill>
                  <a:schemeClr val="tx1">
                    <a:lumMod val="85000"/>
                    <a:lumOff val="15000"/>
                  </a:schemeClr>
                </a:solidFill>
              </a:rPr>
              <a:t/>
            </a:r>
          </a:p>
          <a:p>
            <a:r>
              <a:rPr lang="en-MY" sz="900" dirty="0">
                <a:solidFill>
                  <a:schemeClr val="tx1">
                    <a:lumMod val="85000"/>
                    <a:lumOff val="15000"/>
                  </a:schemeClr>
                </a:solidFill>
              </a:rPr>
              <a:t>BUKTI: group complete, shell Next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group_complete satisfied]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dirty="0">
                <a:solidFill>
                  <a:schemeClr val="tx1">
                    <a:lumMod val="85000"/>
                    <a:lumOff val="15000"/>
                  </a:schemeClr>
                </a:solidFill>
              </a:rPr>
              <a:t>STATUS KEPUTUSAN: B02-D-01, B02-D-04, B02-D-07</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225296"/>
            <a:ext cx="10744200" cy="1828800"/>
          </a:xfrm>
          <a:prstGeom prst="rect">
            <a:avLst/>
          </a:prstGeom>
          <a:noFill/>
        </p:spPr>
        <p:txBody>
          <a:bodyPr wrap="square">
            <a:noAutofit/>
          </a:bodyPr>
          <a:lstStyle/>
          <a:p>
            <a:pPr marL="285750" indent="-285750">
              <a:spcBef>
                <a:spcPts val="300"/>
              </a:spcBef>
              <a:buFont typeface="Arial" panose="020B0604020202020204" pitchFamily="34" charset="0"/>
              <a:buChar char="•"/>
            </a:pPr>
            <a:r>
              <a:rPr lang="en-MY" sz="1300" dirty="0">
                <a:solidFill>
                  <a:schemeClr val="tx1">
                    <a:lumMod val="85000"/>
                    <a:lumOff val="15000"/>
                  </a:schemeClr>
                </a:solidFill>
              </a:rPr>
              <a:t>Perabot taman merujuk kepada elemen-elemen boleh alih atau kekal yang ditempatkan di ruang landskap untuk</a:t>
            </a:r>
          </a:p>
          <a:p>
            <a:pPr marL="285750" indent="-285750">
              <a:spcBef>
                <a:spcPts val="300"/>
              </a:spcBef>
              <a:buFont typeface="Arial" panose="020B0604020202020204" pitchFamily="34" charset="0"/>
              <a:buChar char="•"/>
            </a:pPr>
            <a:r>
              <a:rPr lang="en-MY" sz="1300" dirty="0">
                <a:solidFill>
                  <a:schemeClr val="tx1">
                    <a:lumMod val="85000"/>
                    <a:lumOff val="15000"/>
                  </a:schemeClr>
                </a:solidFill>
              </a:rPr>
              <a:t>meningkatkan fungsi, keselesaan, dan estetika. Ini melibatkan pemahaman tentang bahan, ketahanan, ergonomik,</a:t>
            </a:r>
          </a:p>
          <a:p>
            <a:pPr marL="285750" indent="-285750">
              <a:spcBef>
                <a:spcPts val="300"/>
              </a:spcBef>
              <a:buFont typeface="Arial" panose="020B0604020202020204" pitchFamily="34" charset="0"/>
              <a:buChar char="•"/>
            </a:pPr>
            <a:r>
              <a:rPr lang="en-MY" sz="1300" dirty="0">
                <a:solidFill>
                  <a:schemeClr val="tx1">
                    <a:lumMod val="85000"/>
                    <a:lumOff val="15000"/>
                  </a:schemeClr>
                </a:solidFill>
              </a:rPr>
              <a:t>dan kesesuaian reka bentuk dengan tema keseluruhan landskap. Terdapat lima jenis perabot taman: Kerusi Taman,</a:t>
            </a:r>
          </a:p>
          <a:p>
            <a:pPr marL="285750" indent="-285750">
              <a:spcBef>
                <a:spcPts val="300"/>
              </a:spcBef>
              <a:buFont typeface="Arial" panose="020B0604020202020204" pitchFamily="34" charset="0"/>
              <a:buChar char="•"/>
            </a:pPr>
            <a:r>
              <a:rPr lang="en-MY" sz="1300" dirty="0">
                <a:solidFill>
                  <a:schemeClr val="tx1">
                    <a:lumMod val="85000"/>
                    <a:lumOff val="15000"/>
                  </a:schemeClr>
                </a:solidFill>
              </a:rPr>
              <a:t>Papan Tanda, Tong Sampah, </a:t>
            </a:r>
            <a:r>
              <a:rPr lang="en-MY" sz="1300" i="1" dirty="0">
                <a:solidFill>
                  <a:schemeClr val="tx1">
                    <a:lumMod val="85000"/>
                    <a:lumOff val="15000"/>
                  </a:schemeClr>
                </a:solidFill>
              </a:rPr>
              <a:t>Drinking Fountain</a:t>
            </a:r>
            <a:r>
              <a:rPr lang="en-MY" sz="1300" dirty="0">
                <a:solidFill>
                  <a:schemeClr val="tx1">
                    <a:lumMod val="85000"/>
                    <a:lumOff val="15000"/>
                  </a:schemeClr>
                </a:solidFill>
              </a:rPr>
              <a:t>, dan </a:t>
            </a:r>
            <a:r>
              <a:rPr lang="en-MY" sz="1300" i="1" dirty="0">
                <a:solidFill>
                  <a:schemeClr val="tx1">
                    <a:lumMod val="85000"/>
                    <a:lumOff val="15000"/>
                  </a:schemeClr>
                </a:solidFill>
              </a:rPr>
              <a:t>BBQ Pit</a:t>
            </a:r>
            <a:r>
              <a:rPr lang="en-MY" sz="1300" dirty="0">
                <a:solidFill>
                  <a:schemeClr val="tx1">
                    <a:lumMod val="85000"/>
                    <a:lumOff val="15000"/>
                  </a:schemeClr>
                </a:solidFill>
              </a:rPr>
              <a:t>.</a:t>
            </a:r>
          </a:p>
        </p:txBody>
      </p:sp>
      <p:sp>
        <p:nvSpPr>
          <p:cNvPr id="80" name="PerLbl"/>
          <p:cNvSpPr txBox="1"/>
          <p:nvPr/>
        </p:nvSpPr>
        <p:spPr>
          <a:xfrm>
            <a:off x="723930" y="3383280"/>
            <a:ext cx="5852160" cy="329184"/>
          </a:xfrm>
          <a:prstGeom prst="rect">
            <a:avLst/>
          </a:prstGeom>
          <a:noFill/>
        </p:spPr>
        <p:txBody>
          <a:bodyPr wrap="square">
            <a:noAutofit/>
          </a:bodyPr>
          <a:lstStyle/>
          <a:p>
            <a:pPr/>
            <a:r>
              <a:rPr lang="en-MY" sz="1600" b="1" dirty="0">
                <a:solidFill>
                  <a:schemeClr val="tx1">
                    <a:lumMod val="85000"/>
                    <a:lumOff val="15000"/>
                  </a:schemeClr>
                </a:solidFill>
              </a:rPr>
              <a:t>Kerusi Taman</a:t>
            </a:r>
          </a:p>
        </p:txBody>
      </p:sp>
      <p:sp>
        <p:nvSpPr>
          <p:cNvPr id="81" name="PerFam"/>
          <p:cNvSpPr txBox="1"/>
          <p:nvPr/>
        </p:nvSpPr>
        <p:spPr>
          <a:xfrm>
            <a:off x="6758970" y="3410712"/>
            <a:ext cx="4572000" cy="292608"/>
          </a:xfrm>
          <a:prstGeom prst="rect">
            <a:avLst/>
          </a:prstGeom>
          <a:noFill/>
        </p:spPr>
        <p:txBody>
          <a:bodyPr wrap="square">
            <a:noAutofit/>
          </a:bodyPr>
          <a:lstStyle/>
          <a:p>
            <a:pPr/>
            <a:r>
              <a:rPr lang="en-MY" sz="1100" dirty="0">
                <a:solidFill>
                  <a:srgbClr val="808080"/>
                </a:solidFill>
              </a:rPr>
              <a:t>FAMILY_P1</a:t>
            </a:r>
          </a:p>
        </p:txBody>
      </p:sp>
      <p:sp>
        <p:nvSpPr>
          <p:cNvPr id="82" name="PerLbl"/>
          <p:cNvSpPr txBox="1"/>
          <p:nvPr/>
        </p:nvSpPr>
        <p:spPr>
          <a:xfrm>
            <a:off x="723930" y="3858768"/>
            <a:ext cx="5852160" cy="329184"/>
          </a:xfrm>
          <a:prstGeom prst="rect">
            <a:avLst/>
          </a:prstGeom>
          <a:noFill/>
        </p:spPr>
        <p:txBody>
          <a:bodyPr wrap="square">
            <a:noAutofit/>
          </a:bodyPr>
          <a:lstStyle/>
          <a:p>
            <a:pPr/>
            <a:r>
              <a:rPr lang="en-MY" sz="1600" b="1" dirty="0">
                <a:solidFill>
                  <a:schemeClr val="tx1">
                    <a:lumMod val="85000"/>
                    <a:lumOff val="15000"/>
                  </a:schemeClr>
                </a:solidFill>
              </a:rPr>
              <a:t>Papan Tanda</a:t>
            </a:r>
          </a:p>
        </p:txBody>
      </p:sp>
      <p:sp>
        <p:nvSpPr>
          <p:cNvPr id="83" name="PerFam"/>
          <p:cNvSpPr txBox="1"/>
          <p:nvPr/>
        </p:nvSpPr>
        <p:spPr>
          <a:xfrm>
            <a:off x="6758970" y="3886200"/>
            <a:ext cx="4572000" cy="292608"/>
          </a:xfrm>
          <a:prstGeom prst="rect">
            <a:avLst/>
          </a:prstGeom>
          <a:noFill/>
        </p:spPr>
        <p:txBody>
          <a:bodyPr wrap="square">
            <a:noAutofit/>
          </a:bodyPr>
          <a:lstStyle/>
          <a:p>
            <a:pPr/>
            <a:r>
              <a:rPr lang="en-MY" sz="1100" dirty="0">
                <a:solidFill>
                  <a:srgbClr val="808080"/>
                </a:solidFill>
              </a:rPr>
              <a:t>FAMILY_P2</a:t>
            </a:r>
          </a:p>
        </p:txBody>
      </p:sp>
      <p:sp>
        <p:nvSpPr>
          <p:cNvPr id="84" name="PerLbl"/>
          <p:cNvSpPr txBox="1"/>
          <p:nvPr/>
        </p:nvSpPr>
        <p:spPr>
          <a:xfrm>
            <a:off x="723930" y="4334256"/>
            <a:ext cx="5852160" cy="329184"/>
          </a:xfrm>
          <a:prstGeom prst="rect">
            <a:avLst/>
          </a:prstGeom>
          <a:noFill/>
        </p:spPr>
        <p:txBody>
          <a:bodyPr wrap="square">
            <a:noAutofit/>
          </a:bodyPr>
          <a:lstStyle/>
          <a:p>
            <a:pPr/>
            <a:r>
              <a:rPr lang="en-MY" sz="1600" b="1" dirty="0">
                <a:solidFill>
                  <a:schemeClr val="tx1">
                    <a:lumMod val="85000"/>
                    <a:lumOff val="15000"/>
                  </a:schemeClr>
                </a:solidFill>
              </a:rPr>
              <a:t>Tong Sampah</a:t>
            </a:r>
          </a:p>
        </p:txBody>
      </p:sp>
      <p:sp>
        <p:nvSpPr>
          <p:cNvPr id="85" name="PerFam"/>
          <p:cNvSpPr txBox="1"/>
          <p:nvPr/>
        </p:nvSpPr>
        <p:spPr>
          <a:xfrm>
            <a:off x="6758970" y="4361688"/>
            <a:ext cx="4572000" cy="292608"/>
          </a:xfrm>
          <a:prstGeom prst="rect">
            <a:avLst/>
          </a:prstGeom>
          <a:noFill/>
        </p:spPr>
        <p:txBody>
          <a:bodyPr wrap="square">
            <a:noAutofit/>
          </a:bodyPr>
          <a:lstStyle/>
          <a:p>
            <a:pPr/>
            <a:r>
              <a:rPr lang="en-MY" sz="1100" dirty="0">
                <a:solidFill>
                  <a:srgbClr val="808080"/>
                </a:solidFill>
              </a:rPr>
              <a:t>FAMILY_P1</a:t>
            </a:r>
          </a:p>
        </p:txBody>
      </p:sp>
      <p:sp>
        <p:nvSpPr>
          <p:cNvPr id="86" name="PerLbl"/>
          <p:cNvSpPr txBox="1"/>
          <p:nvPr/>
        </p:nvSpPr>
        <p:spPr>
          <a:xfrm>
            <a:off x="723930" y="4809744"/>
            <a:ext cx="5852160" cy="329184"/>
          </a:xfrm>
          <a:prstGeom prst="rect">
            <a:avLst/>
          </a:prstGeom>
          <a:noFill/>
        </p:spPr>
        <p:txBody>
          <a:bodyPr wrap="square">
            <a:noAutofit/>
          </a:bodyPr>
          <a:lstStyle/>
          <a:p>
            <a:pPr/>
            <a:r>
              <a:rPr lang="en-MY" sz="1600" b="1" i="1" dirty="0">
                <a:solidFill>
                  <a:schemeClr val="tx1">
                    <a:lumMod val="85000"/>
                    <a:lumOff val="15000"/>
                  </a:schemeClr>
                </a:solidFill>
              </a:rPr>
              <a:t>Drinking Fountain</a:t>
            </a:r>
          </a:p>
        </p:txBody>
      </p:sp>
      <p:sp>
        <p:nvSpPr>
          <p:cNvPr id="87" name="PerFam"/>
          <p:cNvSpPr txBox="1"/>
          <p:nvPr/>
        </p:nvSpPr>
        <p:spPr>
          <a:xfrm>
            <a:off x="6758970" y="4837176"/>
            <a:ext cx="4572000" cy="292608"/>
          </a:xfrm>
          <a:prstGeom prst="rect">
            <a:avLst/>
          </a:prstGeom>
          <a:noFill/>
        </p:spPr>
        <p:txBody>
          <a:bodyPr wrap="square">
            <a:noAutofit/>
          </a:bodyPr>
          <a:lstStyle/>
          <a:p>
            <a:pPr/>
            <a:r>
              <a:rPr lang="en-MY" sz="1100" dirty="0">
                <a:solidFill>
                  <a:srgbClr val="808080"/>
                </a:solidFill>
              </a:rPr>
              <a:t>FAMILY_P1</a:t>
            </a:r>
          </a:p>
        </p:txBody>
      </p:sp>
      <p:sp>
        <p:nvSpPr>
          <p:cNvPr id="88" name="PerLbl"/>
          <p:cNvSpPr txBox="1"/>
          <p:nvPr/>
        </p:nvSpPr>
        <p:spPr>
          <a:xfrm>
            <a:off x="723930" y="5285232"/>
            <a:ext cx="5852160" cy="329184"/>
          </a:xfrm>
          <a:prstGeom prst="rect">
            <a:avLst/>
          </a:prstGeom>
          <a:noFill/>
        </p:spPr>
        <p:txBody>
          <a:bodyPr wrap="square">
            <a:noAutofit/>
          </a:bodyPr>
          <a:lstStyle/>
          <a:p>
            <a:pPr/>
            <a:r>
              <a:rPr lang="en-MY" sz="1600" b="1" i="1" dirty="0">
                <a:solidFill>
                  <a:schemeClr val="tx1">
                    <a:lumMod val="85000"/>
                    <a:lumOff val="15000"/>
                  </a:schemeClr>
                </a:solidFill>
              </a:rPr>
              <a:t>BBQ Pit</a:t>
            </a:r>
          </a:p>
        </p:txBody>
      </p:sp>
      <p:sp>
        <p:nvSpPr>
          <p:cNvPr id="89" name="PerFam"/>
          <p:cNvSpPr txBox="1"/>
          <p:nvPr/>
        </p:nvSpPr>
        <p:spPr>
          <a:xfrm>
            <a:off x="6758970" y="5312664"/>
            <a:ext cx="4572000" cy="292608"/>
          </a:xfrm>
          <a:prstGeom prst="rect">
            <a:avLst/>
          </a:prstGeom>
          <a:noFill/>
        </p:spPr>
        <p:txBody>
          <a:bodyPr wrap="square">
            <a:noAutofit/>
          </a:bodyPr>
          <a:lstStyle/>
          <a:p>
            <a:pPr/>
            <a:r>
              <a:rPr lang="en-MY" sz="1100" dirty="0">
                <a:solidFill>
                  <a:srgbClr val="808080"/>
                </a:solidFill>
              </a:rPr>
              <a:t>FAMILY_P2</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sahaja.</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2"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3"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4"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Boleh dibiarkan asli, digilap, dicat, atau bertekstur (exposed aggregate). Permukaan mesti</a:t>
            </a:r>
          </a:p>
          <a:p>
            <a:pPr/>
            <a:r>
              <a:rPr lang="en-MY" sz="1250" dirty="0">
                <a:solidFill>
                  <a:schemeClr val="tx1">
                    <a:lumMod val="85000"/>
                    <a:lumOff val="15000"/>
                  </a:schemeClr>
                </a:solidFill>
              </a:rPr>
              <a:t>licin, tanpa tepi tajam.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Papan atau profil daripada campuran gentian kayu/selulosa dan plastik kitar semula. Tahan UV,</a:t>
            </a:r>
          </a:p>
          <a:p>
            <a:pPr/>
            <a:r>
              <a:rPr lang="en-MY" sz="1250" dirty="0">
                <a:solidFill>
                  <a:schemeClr val="tx1">
                    <a:lumMod val="85000"/>
                    <a:lumOff val="15000"/>
                  </a:schemeClr>
                </a:solidFill>
              </a:rPr>
              <a:t>kalis air, tidak reput, kalis serangga.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Warna disepadukan dalam bahan; tidak memerlukan cat atau varnis. Tekstur permukaan mungkin</a:t>
            </a:r>
          </a:p>
          <a:p>
            <a:pPr/>
            <a:r>
              <a:rPr lang="en-MY" sz="1250" dirty="0">
                <a:solidFill>
                  <a:schemeClr val="tx1">
                    <a:lumMod val="85000"/>
                    <a:lumOff val="15000"/>
                  </a:schemeClr>
                </a:solidFill>
              </a:rPr>
              <a:t>meniru urat kayu.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 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 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tong sampah, modul ms 246–247.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[component_complete[TONG_SAMPAH]]</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K5PL06T03-B02-IMG-p246-x41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Keluli lembut digalvani dan disalut serbuk, atau keluli tahan karat. Ketebalan dinding badan</a:t>
            </a:r>
          </a:p>
          <a:p>
            <a:pPr/>
            <a:r>
              <a:rPr lang="en-MY" sz="1250" dirty="0">
                <a:solidFill>
                  <a:schemeClr val="tx1">
                    <a:lumMod val="85000"/>
                    <a:lumOff val="15000"/>
                  </a:schemeClr>
                </a:solidFill>
              </a:rPr>
              <a:t>min. 1.2mm.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Penutup tahan cuaca dan tahan haiwan; pembukaan pembuangan ergonomik; tong dalam (liner) mudah</a:t>
            </a:r>
          </a:p>
          <a:p>
            <a:pPr/>
            <a:r>
              <a:rPr lang="en-MY" sz="1250" dirty="0">
                <a:solidFill>
                  <a:schemeClr val="tx1">
                    <a:lumMod val="85000"/>
                    <a:lumOff val="15000"/>
                  </a:schemeClr>
                </a:solidFill>
              </a:rPr>
              <a:t>dikeluarkan.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K5PL06T03-B02-IMG-p247-x44</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Konkrit bertetulang atau batu asli/tiruan. Berat mencukupi bagi mengelak kecurian atau</a:t>
            </a:r>
          </a:p>
          <a:p>
            <a:pPr/>
            <a:r>
              <a:rPr lang="en-MY" sz="1250" dirty="0">
                <a:solidFill>
                  <a:schemeClr val="tx1">
                    <a:lumMod val="85000"/>
                    <a:lumOff val="15000"/>
                  </a:schemeClr>
                </a:solidFill>
              </a:rPr>
              <a:t>pergerakan tidak disengajakan.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Pembukaan sesuai untuk sampah, dengan atau tanpa tong dalam logam.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K5PL06T03-B02-IMG-p247-x45</a:t>
            </a:r>
          </a:p>
          <a:p>
            <a:r>
              <a:rPr lang="en-MY" sz="900" dirty="0">
                <a:solidFill>
                  <a:schemeClr val="tx1">
                    <a:lumMod val="85000"/>
                    <a:lumOff val="15000"/>
                  </a:schemeClr>
                </a:solidFill>
              </a:rPr>
              <a:t>  K5PL06T03-B02-IMG-p247-x46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Plastik berketumpatan tinggi (HDPE) yang tahan UV, tidak reput dan mudah dibersihkan.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Ringan, mudah dialihkan jika tidak dipasang tetap; pelbagai warna untuk pengasingan sisa.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tong sampah, modul ms 246–247.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885"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288009"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drinking fountain, modul ms 248–249.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[component_complete[DRINKING_FOUNTAIN]]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0/2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2"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3"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4"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5"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K5PL06T03-B02-IMG-p248-x49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4"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5"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6"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Keluli tahan karat Gred 304 atau 316 (316 lebih tahan kakisan untuk persekitaran pantai). Tebal</a:t>
            </a:r>
          </a:p>
          <a:p>
            <a:pPr/>
            <a:r>
              <a:rPr lang="en-MY" sz="1250" dirty="0">
                <a:solidFill>
                  <a:schemeClr val="tx1">
                    <a:lumMod val="85000"/>
                    <a:lumOff val="15000"/>
                  </a:schemeClr>
                </a:solidFill>
              </a:rPr>
              <a:t>min. 1.5mm.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1/6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6"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7"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Injap</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Injap tekan tahan lasak dan tahan vandalisme; mekanisme membersihkan diri satu kelebihan.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II_DRINKING_FOUNTAIN_R01_SPEC02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2/6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8"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Kepala pancutan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Aliran stabil dan bersih, dilindungi daripada sentuhan mulut pengguna.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II_DRINKING_FOUNTAIN_R01_SPEC03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3/6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Penapisan (pilihan)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Penapis karbon atau sedimen.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II_DRINKING_FOUNTAIN_R01_SPEC04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4/6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Perpaipan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Air bersih (PVC atau HDPE) dan saliran air buangan yang cekap; injap tutup untuk</a:t>
            </a:r>
          </a:p>
          <a:p>
            <a:pPr/>
            <a:r>
              <a:rPr lang="en-MY" sz="1250" dirty="0">
                <a:solidFill>
                  <a:schemeClr val="tx1">
                    <a:lumMod val="85000"/>
                    <a:lumOff val="15000"/>
                  </a:schemeClr>
                </a:solidFill>
              </a:rPr>
              <a:t>penyelenggaraan.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II_DRINKING_FOUNTAIN_R01_SPEC05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5/6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Aksesibiliti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Mengikut piawaian reka bentuk universal.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Piawaian kesihatan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Mesti mematuhi piawaian kualiti air minuman Kementerian Kesihatan Malaysia atau badan berkaitan.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penjelasan lanjut.</a:t>
            </a:r>
          </a:p>
        </p:txBody>
      </p:sp>
      <p:sp>
        <p:nvSpPr>
          <p:cNvPr id="40" name="ItemCard"/>
          <p:cNvSpPr txBox="1"/>
          <p:nvPr/>
        </p:nvSpPr>
        <p:spPr>
          <a:xfrm>
            <a:off x="723885"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501625"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drinking fountain, modul ms 248–249.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2/2 contoh dilihat.</a:t>
            </a:r>
          </a:p>
          <a:p>
            <a:r>
              <a:rPr lang="en-MY" sz="900" dirty="0">
                <a:solidFill>
                  <a:schemeClr val="tx1">
                    <a:lumMod val="85000"/>
                    <a:lumOff val="15000"/>
                  </a:schemeClr>
                </a:solidFill>
              </a:rPr>
              <a:t>  component_complete hanya benar apabila SEMUA contoh selesai.</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[component_complete[BBQ_PIT]]</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737360"/>
            <a:ext cx="9723090" cy="22174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Bahan Pembinaan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644652"/>
          </a:xfrm>
          <a:prstGeom prst="rect">
            <a:avLst/>
          </a:prstGeom>
          <a:noFill/>
        </p:spPr>
        <p:txBody>
          <a:bodyPr wrap="square">
            <a:noAutofit/>
          </a:bodyPr>
          <a:lstStyle/>
          <a:p>
            <a:pPr/>
            <a:r>
              <a:rPr lang="en-MY" sz="1250" dirty="0">
                <a:solidFill>
                  <a:schemeClr val="tx1">
                    <a:lumMod val="85000"/>
                    <a:lumOff val="15000"/>
                  </a:schemeClr>
                </a:solidFill>
              </a:rPr>
              <a:t>Dinding dalam ruang pembakaran daripada bata tahan api (firebrick) atau blok konkrit tahan suhu</a:t>
            </a:r>
          </a:p>
          <a:p>
            <a:pPr/>
            <a:r>
              <a:rPr lang="en-MY" sz="1250" dirty="0">
                <a:solidFill>
                  <a:schemeClr val="tx1">
                    <a:lumMod val="85000"/>
                    <a:lumOff val="15000"/>
                  </a:schemeClr>
                </a:solidFill>
              </a:rPr>
              <a:t>tinggi, dengan mortar tahan api; dinding luar bata biasa, blok konkrit atau batu; pelat kerja</a:t>
            </a:r>
          </a:p>
          <a:p>
            <a:pPr/>
            <a:r>
              <a:rPr lang="en-MY" sz="1250" dirty="0">
                <a:solidFill>
                  <a:schemeClr val="tx1">
                    <a:lumMod val="85000"/>
                    <a:lumOff val="15000"/>
                  </a:schemeClr>
                </a:solidFill>
              </a:rPr>
              <a:t>konkrit, jubin seramik tahan haba atau batu granit.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Ketinggian memanggang lazimnya 750–900mm dari aras tanah; saiz lubang api mengikut saiz gril.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II_BBQ_PIT_CAT02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737360"/>
            <a:ext cx="9723090" cy="192024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Gril</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219456"/>
          </a:xfrm>
          <a:prstGeom prst="rect">
            <a:avLst/>
          </a:prstGeom>
          <a:noFill/>
        </p:spPr>
        <p:txBody>
          <a:bodyPr wrap="square">
            <a:noAutofit/>
          </a:bodyPr>
          <a:lstStyle/>
          <a:p>
            <a:pPr/>
            <a:r>
              <a:rPr lang="en-MY" sz="1250" dirty="0">
                <a:solidFill>
                  <a:schemeClr val="tx1">
                    <a:lumMod val="85000"/>
                    <a:lumOff val="15000"/>
                  </a:schemeClr>
                </a:solidFill>
              </a:rPr>
              <a:t>Keluli tahan karat gred makanan atau besi tuang; tebal palang min. 6mm.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II_BBQ_PIT_CAT03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737360"/>
            <a:ext cx="9723090" cy="2002536"/>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883664"/>
            <a:ext cx="8534370"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2103120"/>
            <a:ext cx="8534370" cy="365760"/>
          </a:xfrm>
          <a:prstGeom prst="rect">
            <a:avLst/>
          </a:prstGeom>
          <a:noFill/>
        </p:spPr>
        <p:txBody>
          <a:bodyPr wrap="square">
            <a:noAutofit/>
          </a:bodyPr>
          <a:lstStyle/>
          <a:p>
            <a:pPr/>
            <a:r>
              <a:rPr lang="en-MY" sz="2000" b="1" dirty="0">
                <a:solidFill>
                  <a:schemeClr val="tx1">
                    <a:lumMod val="85000"/>
                    <a:lumOff val="15000"/>
                  </a:schemeClr>
                </a:solidFill>
              </a:rPr>
              <a:t>Keselamatan</a:t>
            </a:r>
          </a:p>
        </p:txBody>
      </p:sp>
      <p:sp>
        <p:nvSpPr>
          <p:cNvPr id="260" name="CloseIcon"/>
          <p:cNvSpPr/>
          <p:nvPr/>
        </p:nvSpPr>
        <p:spPr>
          <a:xfrm>
            <a:off x="10317450" y="1901952"/>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2005645"/>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688336"/>
            <a:ext cx="9211026" cy="429768"/>
          </a:xfrm>
          <a:prstGeom prst="rect">
            <a:avLst/>
          </a:prstGeom>
          <a:noFill/>
        </p:spPr>
        <p:txBody>
          <a:bodyPr wrap="square">
            <a:noAutofit/>
          </a:bodyPr>
          <a:lstStyle/>
          <a:p>
            <a:pPr/>
            <a:r>
              <a:rPr lang="en-MY" sz="1250" dirty="0">
                <a:solidFill>
                  <a:schemeClr val="tx1">
                    <a:lumMod val="85000"/>
                    <a:lumOff val="15000"/>
                  </a:schemeClr>
                </a:solidFill>
              </a:rPr>
              <a:t>Pengudaraan di bawah ruang pembakaran; saliran air hujan; cerobong asap (pilihan); ruang</a:t>
            </a:r>
          </a:p>
          <a:p>
            <a:pPr/>
            <a:r>
              <a:rPr lang="en-MY" sz="1250" dirty="0">
                <a:solidFill>
                  <a:schemeClr val="tx1">
                    <a:lumMod val="85000"/>
                    <a:lumOff val="15000"/>
                  </a:schemeClr>
                </a:solidFill>
              </a:rPr>
              <a:t>persediaan bersebelahan; jarak selamat dari bahan mudah terbakar.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butang “MULA KUIZ” untuk mula.</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quiz entry</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517904"/>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40" name="Opt"/>
          <p:cNvSpPr txBox="1"/>
          <p:nvPr/>
        </p:nvSpPr>
        <p:spPr>
          <a:xfrm>
            <a:off x="998250" y="2468880"/>
            <a:ext cx="10195560" cy="365760"/>
          </a:xfrm>
          <a:prstGeom prst="rect">
            <a:avLst/>
          </a:prstGeom>
          <a:noFill/>
        </p:spPr>
        <p:txBody>
          <a:bodyPr wrap="square">
            <a:noAutofit/>
          </a:bodyPr>
          <a:lstStyle/>
          <a:p>
            <a:pPr/>
            <a:r>
              <a:rPr lang="en-MY" sz="1500" dirty="0">
                <a:solidFill>
                  <a:schemeClr val="tx1">
                    <a:lumMod val="85000"/>
                    <a:lumOff val="15000"/>
                  </a:schemeClr>
                </a:solidFill>
              </a:rPr>
              <a:t>A.  Warna permukaan yang menarik</a:t>
            </a:r>
          </a:p>
        </p:txBody>
      </p:sp>
      <p:sp>
        <p:nvSpPr>
          <p:cNvPr id="41" name="Opt"/>
          <p:cNvSpPr txBox="1"/>
          <p:nvPr/>
        </p:nvSpPr>
        <p:spPr>
          <a:xfrm>
            <a:off x="998250" y="2889504"/>
            <a:ext cx="10195560" cy="365760"/>
          </a:xfrm>
          <a:prstGeom prst="rect">
            <a:avLst/>
          </a:prstGeom>
          <a:noFill/>
        </p:spPr>
        <p:txBody>
          <a:bodyPr wrap="square">
            <a:noAutofit/>
          </a:bodyPr>
          <a:lstStyle/>
          <a:p>
            <a:pPr/>
            <a:r>
              <a:rPr lang="en-MY" sz="1500" dirty="0">
                <a:solidFill>
                  <a:schemeClr val="tx1">
                    <a:lumMod val="85000"/>
                    <a:lumOff val="15000"/>
                  </a:schemeClr>
                </a:solidFill>
              </a:rPr>
              <a:t>B.  Asas yang stabil dan rata dengan saliran permukaan yang berkesan</a:t>
            </a:r>
          </a:p>
        </p:txBody>
      </p:sp>
      <p:sp>
        <p:nvSpPr>
          <p:cNvPr id="42" name="Opt"/>
          <p:cNvSpPr txBox="1"/>
          <p:nvPr/>
        </p:nvSpPr>
        <p:spPr>
          <a:xfrm>
            <a:off x="998250" y="3310128"/>
            <a:ext cx="10195560" cy="365760"/>
          </a:xfrm>
          <a:prstGeom prst="rect">
            <a:avLst/>
          </a:prstGeom>
          <a:noFill/>
        </p:spPr>
        <p:txBody>
          <a:bodyPr wrap="square">
            <a:noAutofit/>
          </a:bodyPr>
          <a:lstStyle/>
          <a:p>
            <a:pPr/>
            <a:r>
              <a:rPr lang="en-MY" sz="1500" dirty="0">
                <a:solidFill>
                  <a:schemeClr val="tx1">
                    <a:lumMod val="85000"/>
                    <a:lumOff val="15000"/>
                  </a:schemeClr>
                </a:solidFill>
              </a:rPr>
              <a:t>C.  Ketinggian struktur melebihi dua meter</a:t>
            </a:r>
          </a:p>
        </p:txBody>
      </p:sp>
      <p:sp>
        <p:nvSpPr>
          <p:cNvPr id="43" name="Opt"/>
          <p:cNvSpPr txBox="1"/>
          <p:nvPr/>
        </p:nvSpPr>
        <p:spPr>
          <a:xfrm>
            <a:off x="998250" y="3730752"/>
            <a:ext cx="10195560" cy="365760"/>
          </a:xfrm>
          <a:prstGeom prst="rect">
            <a:avLst/>
          </a:prstGeom>
          <a:noFill/>
        </p:spPr>
        <p:txBody>
          <a:bodyPr wrap="square">
            <a:noAutofit/>
          </a:bodyPr>
          <a:lstStyle/>
          <a:p>
            <a:pPr/>
            <a:r>
              <a:rPr lang="en-MY" sz="1500" dirty="0">
                <a:solidFill>
                  <a:schemeClr val="tx1">
                    <a:lumMod val="85000"/>
                    <a:lumOff val="15000"/>
                  </a:schemeClr>
                </a:solidFill>
              </a:rPr>
              <a:t>D.  Penggunaan bahan import</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B</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2</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2</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239 (3.3.2)</a:t>
            </a:r>
          </a:p>
        </p:txBody>
      </p:sp>
      <p:sp>
        <p:nvSpPr>
          <p:cNvPr id="22" name="Stem"/>
          <p:cNvSpPr txBox="1"/>
          <p:nvPr/>
        </p:nvSpPr>
        <p:spPr>
          <a:xfrm>
            <a:off x="723930" y="1517904"/>
            <a:ext cx="10744200" cy="713232"/>
          </a:xfrm>
          <a:prstGeom prst="rect">
            <a:avLst/>
          </a:prstGeom>
          <a:noFill/>
        </p:spPr>
        <p:txBody>
          <a:bodyPr wrap="square">
            <a:noAutofit/>
          </a:bodyPr>
          <a:lstStyle/>
          <a:p>
            <a:pPr/>
            <a:r>
              <a:rPr lang="en-MY" sz="1600" b="1" dirty="0">
                <a:solidFill>
                  <a:schemeClr val="tx1">
                    <a:lumMod val="85000"/>
                    <a:lumOff val="15000"/>
                  </a:schemeClr>
                </a:solidFill>
              </a:rPr>
              <a:t>Manakah antara berikut merupakan struktur teduhan tradisional Melayu yang digunakan sebagai</a:t>
            </a:r>
          </a:p>
          <a:p>
            <a:pPr/>
            <a:r>
              <a:rPr lang="en-MY" sz="1600" b="1" dirty="0">
                <a:solidFill>
                  <a:schemeClr val="tx1">
                    <a:lumMod val="85000"/>
                    <a:lumOff val="15000"/>
                  </a:schemeClr>
                </a:solidFill>
              </a:rPr>
              <a:t>tempat berehat?</a:t>
            </a:r>
          </a:p>
        </p:txBody>
      </p:sp>
      <p:sp>
        <p:nvSpPr>
          <p:cNvPr id="40" name="Opt"/>
          <p:cNvSpPr txBox="1"/>
          <p:nvPr/>
        </p:nvSpPr>
        <p:spPr>
          <a:xfrm>
            <a:off x="998250" y="2468880"/>
            <a:ext cx="10195560" cy="365760"/>
          </a:xfrm>
          <a:prstGeom prst="rect">
            <a:avLst/>
          </a:prstGeom>
          <a:noFill/>
        </p:spPr>
        <p:txBody>
          <a:bodyPr wrap="square">
            <a:noAutofit/>
          </a:bodyPr>
          <a:lstStyle/>
          <a:p>
            <a:pPr/>
            <a:r>
              <a:rPr lang="en-MY" sz="1500" dirty="0">
                <a:solidFill>
                  <a:schemeClr val="tx1">
                    <a:lumMod val="85000"/>
                    <a:lumOff val="15000"/>
                  </a:schemeClr>
                </a:solidFill>
              </a:rPr>
              <a:t>A.  Pergola</a:t>
            </a:r>
          </a:p>
        </p:txBody>
      </p:sp>
      <p:sp>
        <p:nvSpPr>
          <p:cNvPr id="41" name="Opt"/>
          <p:cNvSpPr txBox="1"/>
          <p:nvPr/>
        </p:nvSpPr>
        <p:spPr>
          <a:xfrm>
            <a:off x="998250" y="2889504"/>
            <a:ext cx="10195560" cy="365760"/>
          </a:xfrm>
          <a:prstGeom prst="rect">
            <a:avLst/>
          </a:prstGeom>
          <a:noFill/>
        </p:spPr>
        <p:txBody>
          <a:bodyPr wrap="square">
            <a:noAutofit/>
          </a:bodyPr>
          <a:lstStyle/>
          <a:p>
            <a:pPr/>
            <a:r>
              <a:rPr lang="en-MY" sz="1500" dirty="0">
                <a:solidFill>
                  <a:schemeClr val="tx1">
                    <a:lumMod val="85000"/>
                    <a:lumOff val="15000"/>
                  </a:schemeClr>
                </a:solidFill>
              </a:rPr>
              <a:t>B.  Canopy</a:t>
            </a:r>
          </a:p>
        </p:txBody>
      </p:sp>
      <p:sp>
        <p:nvSpPr>
          <p:cNvPr id="42" name="Opt"/>
          <p:cNvSpPr txBox="1"/>
          <p:nvPr/>
        </p:nvSpPr>
        <p:spPr>
          <a:xfrm>
            <a:off x="998250" y="3310128"/>
            <a:ext cx="10195560" cy="365760"/>
          </a:xfrm>
          <a:prstGeom prst="rect">
            <a:avLst/>
          </a:prstGeom>
          <a:noFill/>
        </p:spPr>
        <p:txBody>
          <a:bodyPr wrap="square">
            <a:noAutofit/>
          </a:bodyPr>
          <a:lstStyle/>
          <a:p>
            <a:pPr/>
            <a:r>
              <a:rPr lang="en-MY" sz="1500" dirty="0">
                <a:solidFill>
                  <a:schemeClr val="tx1">
                    <a:lumMod val="85000"/>
                    <a:lumOff val="15000"/>
                  </a:schemeClr>
                </a:solidFill>
              </a:rPr>
              <a:t>C.  Wakaf</a:t>
            </a:r>
          </a:p>
        </p:txBody>
      </p:sp>
      <p:sp>
        <p:nvSpPr>
          <p:cNvPr id="43" name="Opt"/>
          <p:cNvSpPr txBox="1"/>
          <p:nvPr/>
        </p:nvSpPr>
        <p:spPr>
          <a:xfrm>
            <a:off x="998250" y="3730752"/>
            <a:ext cx="10195560" cy="365760"/>
          </a:xfrm>
          <a:prstGeom prst="rect">
            <a:avLst/>
          </a:prstGeom>
          <a:noFill/>
        </p:spPr>
        <p:txBody>
          <a:bodyPr wrap="square">
            <a:noAutofit/>
          </a:bodyPr>
          <a:lstStyle/>
          <a:p>
            <a:pPr/>
            <a:r>
              <a:rPr lang="en-MY" sz="1500" dirty="0">
                <a:solidFill>
                  <a:schemeClr val="tx1">
                    <a:lumMod val="85000"/>
                    <a:lumOff val="15000"/>
                  </a:schemeClr>
                </a:solidFill>
              </a:rPr>
              <a:t>D.  Gazebo</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QUIZ_QUESTION_2</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C</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239 menyenaraikan Wakaf sebagai struktur teduhan</a:t>
            </a:r>
          </a:p>
          <a:p>
            <a:r>
              <a:rPr lang="en-MY" sz="900" dirty="0">
                <a:solidFill>
                  <a:schemeClr val="tx1">
                    <a:lumMod val="85000"/>
                    <a:lumOff val="15000"/>
                  </a:schemeClr>
                </a:solidFill>
              </a:rPr>
              <a:t>  tradisional Melayu. Pergola, Canopy dan Gazebo turut disenaraikan</a:t>
            </a:r>
          </a:p>
          <a:p>
            <a:r>
              <a:rPr lang="en-MY" sz="900" dirty="0">
                <a:solidFill>
                  <a:schemeClr val="tx1">
                    <a:lumMod val="85000"/>
                    <a:lumOff val="15000"/>
                  </a:schemeClr>
                </a:solidFill>
              </a:rPr>
              <a:t>  sebagai struktur teduhan, tetapi bukan sebagai bentuk tradisional</a:t>
            </a:r>
          </a:p>
          <a:p>
            <a:r>
              <a:rPr lang="en-MY" sz="900" dirty="0">
                <a:solidFill>
                  <a:schemeClr val="tx1">
                    <a:lumMod val="85000"/>
                    <a:lumOff val="15000"/>
                  </a:schemeClr>
                </a:solidFill>
              </a:rPr>
              <a:t>  Melayu.</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3</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3</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240 (3.3.3)</a:t>
            </a:r>
          </a:p>
        </p:txBody>
      </p:sp>
      <p:sp>
        <p:nvSpPr>
          <p:cNvPr id="22" name="Stem"/>
          <p:cNvSpPr txBox="1"/>
          <p:nvPr/>
        </p:nvSpPr>
        <p:spPr>
          <a:xfrm>
            <a:off x="723930" y="1517904"/>
            <a:ext cx="10744200" cy="713232"/>
          </a:xfrm>
          <a:prstGeom prst="rect">
            <a:avLst/>
          </a:prstGeom>
          <a:noFill/>
        </p:spPr>
        <p:txBody>
          <a:bodyPr wrap="square">
            <a:noAutofit/>
          </a:bodyPr>
          <a:lstStyle/>
          <a:p>
            <a:pPr/>
            <a:r>
              <a:rPr lang="en-MY" sz="1600" b="1" dirty="0">
                <a:solidFill>
                  <a:schemeClr val="tx1">
                    <a:lumMod val="85000"/>
                    <a:lumOff val="15000"/>
                  </a:schemeClr>
                </a:solidFill>
              </a:rPr>
              <a:t>Apakah pertimbangan utama dalam pemilihan bahan bagi kemudahan awam seperti tandas dan surau</a:t>
            </a:r>
          </a:p>
          <a:p>
            <a:pPr/>
            <a:r>
              <a:rPr lang="en-MY" sz="1600" b="1" dirty="0">
                <a:solidFill>
                  <a:schemeClr val="tx1">
                    <a:lumMod val="85000"/>
                    <a:lumOff val="15000"/>
                  </a:schemeClr>
                </a:solidFill>
              </a:rPr>
              <a:t>di taman?</a:t>
            </a:r>
          </a:p>
        </p:txBody>
      </p:sp>
      <p:sp>
        <p:nvSpPr>
          <p:cNvPr id="40" name="Opt"/>
          <p:cNvSpPr txBox="1"/>
          <p:nvPr/>
        </p:nvSpPr>
        <p:spPr>
          <a:xfrm>
            <a:off x="998250" y="2468880"/>
            <a:ext cx="10195560" cy="365760"/>
          </a:xfrm>
          <a:prstGeom prst="rect">
            <a:avLst/>
          </a:prstGeom>
          <a:noFill/>
        </p:spPr>
        <p:txBody>
          <a:bodyPr wrap="square">
            <a:noAutofit/>
          </a:bodyPr>
          <a:lstStyle/>
          <a:p>
            <a:pPr/>
            <a:r>
              <a:rPr lang="en-MY" sz="1500" dirty="0">
                <a:solidFill>
                  <a:schemeClr val="tx1">
                    <a:lumMod val="85000"/>
                    <a:lumOff val="15000"/>
                  </a:schemeClr>
                </a:solidFill>
              </a:rPr>
              <a:t>A.  Bahan yang tahan vandalisme dan cuaca</a:t>
            </a:r>
          </a:p>
        </p:txBody>
      </p:sp>
      <p:sp>
        <p:nvSpPr>
          <p:cNvPr id="41" name="Opt"/>
          <p:cNvSpPr txBox="1"/>
          <p:nvPr/>
        </p:nvSpPr>
        <p:spPr>
          <a:xfrm>
            <a:off x="998250" y="2889504"/>
            <a:ext cx="10195560" cy="365760"/>
          </a:xfrm>
          <a:prstGeom prst="rect">
            <a:avLst/>
          </a:prstGeom>
          <a:noFill/>
        </p:spPr>
        <p:txBody>
          <a:bodyPr wrap="square">
            <a:noAutofit/>
          </a:bodyPr>
          <a:lstStyle/>
          <a:p>
            <a:pPr/>
            <a:r>
              <a:rPr lang="en-MY" sz="1500" dirty="0">
                <a:solidFill>
                  <a:schemeClr val="tx1">
                    <a:lumMod val="85000"/>
                    <a:lumOff val="15000"/>
                  </a:schemeClr>
                </a:solidFill>
              </a:rPr>
              <a:t>B.  Bahan yang paling murah di pasaran</a:t>
            </a:r>
          </a:p>
        </p:txBody>
      </p:sp>
      <p:sp>
        <p:nvSpPr>
          <p:cNvPr id="42" name="Opt"/>
          <p:cNvSpPr txBox="1"/>
          <p:nvPr/>
        </p:nvSpPr>
        <p:spPr>
          <a:xfrm>
            <a:off x="998250" y="3310128"/>
            <a:ext cx="10195560" cy="365760"/>
          </a:xfrm>
          <a:prstGeom prst="rect">
            <a:avLst/>
          </a:prstGeom>
          <a:noFill/>
        </p:spPr>
        <p:txBody>
          <a:bodyPr wrap="square">
            <a:noAutofit/>
          </a:bodyPr>
          <a:lstStyle/>
          <a:p>
            <a:pPr/>
            <a:r>
              <a:rPr lang="en-MY" sz="1500" dirty="0">
                <a:solidFill>
                  <a:schemeClr val="tx1">
                    <a:lumMod val="85000"/>
                    <a:lumOff val="15000"/>
                  </a:schemeClr>
                </a:solidFill>
              </a:rPr>
              <a:t>C.  Bahan yang perlu dicat semula setiap bulan</a:t>
            </a:r>
          </a:p>
        </p:txBody>
      </p:sp>
      <p:sp>
        <p:nvSpPr>
          <p:cNvPr id="43" name="Opt"/>
          <p:cNvSpPr txBox="1"/>
          <p:nvPr/>
        </p:nvSpPr>
        <p:spPr>
          <a:xfrm>
            <a:off x="998250" y="3730752"/>
            <a:ext cx="10195560" cy="365760"/>
          </a:xfrm>
          <a:prstGeom prst="rect">
            <a:avLst/>
          </a:prstGeom>
          <a:noFill/>
        </p:spPr>
        <p:txBody>
          <a:bodyPr wrap="square">
            <a:noAutofit/>
          </a:bodyPr>
          <a:lstStyle/>
          <a:p>
            <a:pPr/>
            <a:r>
              <a:rPr lang="en-MY" sz="1500" dirty="0">
                <a:solidFill>
                  <a:schemeClr val="tx1">
                    <a:lumMod val="85000"/>
                    <a:lumOff val="15000"/>
                  </a:schemeClr>
                </a:solidFill>
              </a:rPr>
              <a:t>D.  Bahan yang seragam dengan perabot taman</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QUIZ_QUESTION_3</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A</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240 menetapkan ketahanan terhadap vandalisme dan cuaca</a:t>
            </a:r>
          </a:p>
          <a:p>
            <a:r>
              <a:rPr lang="en-MY" sz="900" dirty="0">
                <a:solidFill>
                  <a:schemeClr val="tx1">
                    <a:lumMod val="85000"/>
                    <a:lumOff val="15000"/>
                  </a:schemeClr>
                </a:solidFill>
              </a:rPr>
              <a:t>  sebagai pertimbangan utama bagi kemudahan awam.</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4</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4</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241 (3.3.4)</a:t>
            </a:r>
          </a:p>
        </p:txBody>
      </p:sp>
      <p:sp>
        <p:nvSpPr>
          <p:cNvPr id="22" name="Stem"/>
          <p:cNvSpPr txBox="1"/>
          <p:nvPr/>
        </p:nvSpPr>
        <p:spPr>
          <a:xfrm>
            <a:off x="723930" y="1517904"/>
            <a:ext cx="10744200" cy="402336"/>
          </a:xfrm>
          <a:prstGeom prst="rect">
            <a:avLst/>
          </a:prstGeom>
          <a:noFill/>
        </p:spPr>
        <p:txBody>
          <a:bodyPr wrap="square">
            <a:noAutofit/>
          </a:bodyPr>
          <a:lstStyle/>
          <a:p>
            <a:pPr/>
            <a:r>
              <a:rPr lang="en-MY" sz="1600" b="1" dirty="0">
                <a:solidFill>
                  <a:schemeClr val="tx1">
                    <a:lumMod val="85000"/>
                    <a:lumOff val="15000"/>
                  </a:schemeClr>
                </a:solidFill>
              </a:rPr>
              <a:t>Dalam pembinaan water feature, apakah aspek kawalan kualiti air yang dinyatakan dalam modul?</a:t>
            </a:r>
          </a:p>
        </p:txBody>
      </p:sp>
      <p:sp>
        <p:nvSpPr>
          <p:cNvPr id="40" name="Opt"/>
          <p:cNvSpPr txBox="1"/>
          <p:nvPr/>
        </p:nvSpPr>
        <p:spPr>
          <a:xfrm>
            <a:off x="998250" y="2157984"/>
            <a:ext cx="10195560" cy="365760"/>
          </a:xfrm>
          <a:prstGeom prst="rect">
            <a:avLst/>
          </a:prstGeom>
          <a:noFill/>
        </p:spPr>
        <p:txBody>
          <a:bodyPr wrap="square">
            <a:noAutofit/>
          </a:bodyPr>
          <a:lstStyle/>
          <a:p>
            <a:pPr/>
            <a:r>
              <a:rPr lang="en-MY" sz="1500" dirty="0">
                <a:solidFill>
                  <a:schemeClr val="tx1">
                    <a:lumMod val="85000"/>
                    <a:lumOff val="15000"/>
                  </a:schemeClr>
                </a:solidFill>
              </a:rPr>
              <a:t>A.  Penambahan garam</a:t>
            </a:r>
          </a:p>
        </p:txBody>
      </p:sp>
      <p:sp>
        <p:nvSpPr>
          <p:cNvPr id="41" name="Opt"/>
          <p:cNvSpPr txBox="1"/>
          <p:nvPr/>
        </p:nvSpPr>
        <p:spPr>
          <a:xfrm>
            <a:off x="998250" y="2578608"/>
            <a:ext cx="10195560" cy="365760"/>
          </a:xfrm>
          <a:prstGeom prst="rect">
            <a:avLst/>
          </a:prstGeom>
          <a:noFill/>
        </p:spPr>
        <p:txBody>
          <a:bodyPr wrap="square">
            <a:noAutofit/>
          </a:bodyPr>
          <a:lstStyle/>
          <a:p>
            <a:pPr/>
            <a:r>
              <a:rPr lang="en-MY" sz="1500" dirty="0">
                <a:solidFill>
                  <a:schemeClr val="tx1">
                    <a:lumMod val="85000"/>
                    <a:lumOff val="15000"/>
                  </a:schemeClr>
                </a:solidFill>
              </a:rPr>
              <a:t>B.  Pencegahan alga</a:t>
            </a:r>
          </a:p>
        </p:txBody>
      </p:sp>
      <p:sp>
        <p:nvSpPr>
          <p:cNvPr id="42" name="Opt"/>
          <p:cNvSpPr txBox="1"/>
          <p:nvPr/>
        </p:nvSpPr>
        <p:spPr>
          <a:xfrm>
            <a:off x="998250" y="2999232"/>
            <a:ext cx="10195560" cy="365760"/>
          </a:xfrm>
          <a:prstGeom prst="rect">
            <a:avLst/>
          </a:prstGeom>
          <a:noFill/>
        </p:spPr>
        <p:txBody>
          <a:bodyPr wrap="square">
            <a:noAutofit/>
          </a:bodyPr>
          <a:lstStyle/>
          <a:p>
            <a:pPr/>
            <a:r>
              <a:rPr lang="en-MY" sz="1500" dirty="0">
                <a:solidFill>
                  <a:schemeClr val="tx1">
                    <a:lumMod val="85000"/>
                    <a:lumOff val="15000"/>
                  </a:schemeClr>
                </a:solidFill>
              </a:rPr>
              <a:t>C.  Pemanasan air</a:t>
            </a:r>
          </a:p>
        </p:txBody>
      </p:sp>
      <p:sp>
        <p:nvSpPr>
          <p:cNvPr id="43" name="Opt"/>
          <p:cNvSpPr txBox="1"/>
          <p:nvPr/>
        </p:nvSpPr>
        <p:spPr>
          <a:xfrm>
            <a:off x="998250" y="3419856"/>
            <a:ext cx="10195560" cy="365760"/>
          </a:xfrm>
          <a:prstGeom prst="rect">
            <a:avLst/>
          </a:prstGeom>
          <a:noFill/>
        </p:spPr>
        <p:txBody>
          <a:bodyPr wrap="square">
            <a:noAutofit/>
          </a:bodyPr>
          <a:lstStyle/>
          <a:p>
            <a:pPr/>
            <a:r>
              <a:rPr lang="en-MY" sz="1500" dirty="0">
                <a:solidFill>
                  <a:schemeClr val="tx1">
                    <a:lumMod val="85000"/>
                    <a:lumOff val="15000"/>
                  </a:schemeClr>
                </a:solidFill>
              </a:rPr>
              <a:t>D.  Pewarnaan air</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QUIZ_QUESTION_4</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B</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241 menyatakan pencegahan alga sebagai aspek kawalan</a:t>
            </a:r>
          </a:p>
          <a:p>
            <a:r>
              <a:rPr lang="en-MY" sz="900" dirty="0">
                <a:solidFill>
                  <a:schemeClr val="tx1">
                    <a:lumMod val="85000"/>
                    <a:lumOff val="15000"/>
                  </a:schemeClr>
                </a:solidFill>
              </a:rPr>
              <a:t>  kualiti air bagi water feature.</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MULTIPLE RESPONSE   ·   sumber: modul ms 242-249 (3.4.1-3.4.3)</a:t>
            </a:r>
          </a:p>
        </p:txBody>
      </p:sp>
      <p:sp>
        <p:nvSpPr>
          <p:cNvPr id="22" name="Stem"/>
          <p:cNvSpPr txBox="1"/>
          <p:nvPr/>
        </p:nvSpPr>
        <p:spPr>
          <a:xfrm>
            <a:off x="723930" y="1517904"/>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40" name="Opt"/>
          <p:cNvSpPr txBox="1"/>
          <p:nvPr/>
        </p:nvSpPr>
        <p:spPr>
          <a:xfrm>
            <a:off x="998250" y="2157984"/>
            <a:ext cx="10195560" cy="329184"/>
          </a:xfrm>
          <a:prstGeom prst="rect">
            <a:avLst/>
          </a:prstGeom>
          <a:noFill/>
        </p:spPr>
        <p:txBody>
          <a:bodyPr wrap="square">
            <a:noAutofit/>
          </a:bodyPr>
          <a:lstStyle/>
          <a:p>
            <a:pPr/>
            <a:r>
              <a:rPr lang="en-MY" sz="1450" dirty="0">
                <a:solidFill>
                  <a:schemeClr val="tx1">
                    <a:lumMod val="85000"/>
                    <a:lumOff val="15000"/>
                  </a:schemeClr>
                </a:solidFill>
              </a:rPr>
              <a:t>Kerusi Taman</a:t>
            </a:r>
          </a:p>
        </p:txBody>
      </p:sp>
      <p:sp>
        <p:nvSpPr>
          <p:cNvPr id="41" name="Opt"/>
          <p:cNvSpPr txBox="1"/>
          <p:nvPr/>
        </p:nvSpPr>
        <p:spPr>
          <a:xfrm>
            <a:off x="998250" y="2523744"/>
            <a:ext cx="10195560" cy="329184"/>
          </a:xfrm>
          <a:prstGeom prst="rect">
            <a:avLst/>
          </a:prstGeom>
          <a:noFill/>
        </p:spPr>
        <p:txBody>
          <a:bodyPr wrap="square">
            <a:noAutofit/>
          </a:bodyPr>
          <a:lstStyle/>
          <a:p>
            <a:pPr/>
            <a:r>
              <a:rPr lang="en-MY" sz="1450" dirty="0">
                <a:solidFill>
                  <a:schemeClr val="tx1">
                    <a:lumMod val="85000"/>
                    <a:lumOff val="15000"/>
                  </a:schemeClr>
                </a:solidFill>
              </a:rPr>
              <a:t>Papan Tanda</a:t>
            </a:r>
          </a:p>
        </p:txBody>
      </p:sp>
      <p:sp>
        <p:nvSpPr>
          <p:cNvPr id="42" name="Opt"/>
          <p:cNvSpPr txBox="1"/>
          <p:nvPr/>
        </p:nvSpPr>
        <p:spPr>
          <a:xfrm>
            <a:off x="998250" y="2889504"/>
            <a:ext cx="10195560" cy="329184"/>
          </a:xfrm>
          <a:prstGeom prst="rect">
            <a:avLst/>
          </a:prstGeom>
          <a:noFill/>
        </p:spPr>
        <p:txBody>
          <a:bodyPr wrap="square">
            <a:noAutofit/>
          </a:bodyPr>
          <a:lstStyle/>
          <a:p>
            <a:pPr/>
            <a:r>
              <a:rPr lang="en-MY" sz="1450" dirty="0">
                <a:solidFill>
                  <a:schemeClr val="tx1">
                    <a:lumMod val="85000"/>
                    <a:lumOff val="15000"/>
                  </a:schemeClr>
                </a:solidFill>
              </a:rPr>
              <a:t>Boardwalk</a:t>
            </a:r>
          </a:p>
        </p:txBody>
      </p:sp>
      <p:sp>
        <p:nvSpPr>
          <p:cNvPr id="43" name="Opt"/>
          <p:cNvSpPr txBox="1"/>
          <p:nvPr/>
        </p:nvSpPr>
        <p:spPr>
          <a:xfrm>
            <a:off x="998250" y="3255264"/>
            <a:ext cx="10195560" cy="329184"/>
          </a:xfrm>
          <a:prstGeom prst="rect">
            <a:avLst/>
          </a:prstGeom>
          <a:noFill/>
        </p:spPr>
        <p:txBody>
          <a:bodyPr wrap="square">
            <a:noAutofit/>
          </a:bodyPr>
          <a:lstStyle/>
          <a:p>
            <a:pPr/>
            <a:r>
              <a:rPr lang="en-MY" sz="1450" dirty="0">
                <a:solidFill>
                  <a:schemeClr val="tx1">
                    <a:lumMod val="85000"/>
                    <a:lumOff val="15000"/>
                  </a:schemeClr>
                </a:solidFill>
              </a:rPr>
              <a:t>Tong Sampah</a:t>
            </a:r>
          </a:p>
        </p:txBody>
      </p:sp>
      <p:sp>
        <p:nvSpPr>
          <p:cNvPr id="44" name="Opt"/>
          <p:cNvSpPr txBox="1"/>
          <p:nvPr/>
        </p:nvSpPr>
        <p:spPr>
          <a:xfrm>
            <a:off x="998250" y="3621024"/>
            <a:ext cx="10195560" cy="329184"/>
          </a:xfrm>
          <a:prstGeom prst="rect">
            <a:avLst/>
          </a:prstGeom>
          <a:noFill/>
        </p:spPr>
        <p:txBody>
          <a:bodyPr wrap="square">
            <a:noAutofit/>
          </a:bodyPr>
          <a:lstStyle/>
          <a:p>
            <a:pPr/>
            <a:r>
              <a:rPr lang="en-MY" sz="1450" i="1" dirty="0">
                <a:solidFill>
                  <a:schemeClr val="tx1">
                    <a:lumMod val="85000"/>
                    <a:lumOff val="15000"/>
                  </a:schemeClr>
                </a:solidFill>
              </a:rPr>
              <a:t>Drinking Fountain</a:t>
            </a:r>
          </a:p>
        </p:txBody>
      </p:sp>
      <p:sp>
        <p:nvSpPr>
          <p:cNvPr id="45" name="Opt"/>
          <p:cNvSpPr txBox="1"/>
          <p:nvPr/>
        </p:nvSpPr>
        <p:spPr>
          <a:xfrm>
            <a:off x="998250" y="3986784"/>
            <a:ext cx="10195560" cy="329184"/>
          </a:xfrm>
          <a:prstGeom prst="rect">
            <a:avLst/>
          </a:prstGeom>
          <a:noFill/>
        </p:spPr>
        <p:txBody>
          <a:bodyPr wrap="square">
            <a:noAutofit/>
          </a:bodyPr>
          <a:lstStyle/>
          <a:p>
            <a:pPr/>
            <a:r>
              <a:rPr lang="en-MY" sz="1450" i="1" dirty="0">
                <a:solidFill>
                  <a:schemeClr val="tx1">
                    <a:lumMod val="85000"/>
                    <a:lumOff val="15000"/>
                  </a:schemeClr>
                </a:solidFill>
              </a:rPr>
              <a:t>BBQ Pit</a:t>
            </a:r>
          </a:p>
        </p:txBody>
      </p:sp>
      <p:sp>
        <p:nvSpPr>
          <p:cNvPr id="46" name="Opt"/>
          <p:cNvSpPr txBox="1"/>
          <p:nvPr/>
        </p:nvSpPr>
        <p:spPr>
          <a:xfrm>
            <a:off x="998250" y="4352544"/>
            <a:ext cx="10195560" cy="329184"/>
          </a:xfrm>
          <a:prstGeom prst="rect">
            <a:avLst/>
          </a:prstGeom>
          <a:noFill/>
        </p:spPr>
        <p:txBody>
          <a:bodyPr wrap="square">
            <a:noAutofit/>
          </a:bodyPr>
          <a:lstStyle/>
          <a:p>
            <a:pPr/>
            <a:r>
              <a:rPr lang="en-MY" sz="1450" dirty="0">
                <a:solidFill>
                  <a:schemeClr val="tx1">
                    <a:lumMod val="85000"/>
                    <a:lumOff val="15000"/>
                  </a:schemeClr>
                </a:solidFill>
              </a:rPr>
              <a:t>Gazebo</a:t>
            </a:r>
          </a:p>
        </p:txBody>
      </p:sp>
      <p:sp>
        <p:nvSpPr>
          <p:cNvPr id="70" name="FbC"/>
          <p:cNvSpPr txBox="1"/>
          <p:nvPr/>
        </p:nvSpPr>
        <p:spPr>
          <a:xfrm>
            <a:off x="723930" y="5760720"/>
            <a:ext cx="5120640" cy="292608"/>
          </a:xfrm>
          <a:prstGeom prst="rect">
            <a:avLst/>
          </a:prstGeom>
          <a:noFill/>
        </p:spPr>
        <p:txBody>
          <a:bodyPr wrap="square">
            <a:noAutofit/>
          </a:bodyPr>
          <a:lstStyle/>
          <a:p>
            <a:pPr/>
            <a:r>
              <a:rPr lang="en-MY" sz="1300" dirty="0">
                <a:solidFill>
                  <a:srgbClr val="2E7D32"/>
                </a:solidFill>
              </a:rPr>
              <a:t>Pilihan jawapan tepat.</a:t>
            </a:r>
          </a:p>
        </p:txBody>
      </p:sp>
      <p:sp>
        <p:nvSpPr>
          <p:cNvPr id="71" name="FbW"/>
          <p:cNvSpPr txBox="1"/>
          <p:nvPr/>
        </p:nvSpPr>
        <p:spPr>
          <a:xfrm>
            <a:off x="6210330" y="5760720"/>
            <a:ext cx="5120640" cy="292608"/>
          </a:xfrm>
          <a:prstGeom prst="rect">
            <a:avLst/>
          </a:prstGeom>
          <a:noFill/>
        </p:spPr>
        <p:txBody>
          <a:bodyPr wrap="square">
            <a:noAutofit/>
          </a:bodyPr>
          <a:lstStyle/>
          <a:p>
            <a:pPr/>
            <a:r>
              <a:rPr lang="en-MY" sz="130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JAWAPAN (metadata sahaja, tidak dilihat pelajar):</a:t>
            </a:r>
          </a:p>
          <a:p>
            <a:r>
              <a:rPr lang="en-MY" sz="900" dirty="0">
                <a:solidFill>
                  <a:schemeClr val="tx1">
                    <a:lumMod val="85000"/>
                    <a:lumOff val="15000"/>
                  </a:schemeClr>
                </a:solidFill>
              </a:rPr>
              <a:t>  Kerusi Taman, Papan Tanda, Tong Sampah, Drinking Fountain, BBQ Pit</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dirty="0">
                <a:solidFill>
                  <a:schemeClr val="tx1">
                    <a:lumMod val="85000"/>
                    <a:lumOff val="15000"/>
                  </a:schemeClr>
                </a:solidFill>
              </a:rPr>
              <a:t>  status: U-05</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Teks pilihan dipaparkan terus.</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60" name="Btn"/>
          <p:cNvSpPr txBox="1"/>
          <p:nvPr/>
        </p:nvSpPr>
        <p:spPr>
          <a:xfrm>
            <a:off x="72393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Semak Jawapan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Semak Jawapan</a:t>
            </a:r>
          </a:p>
        </p:txBody>
      </p:sp>
      <p:sp>
        <p:nvSpPr>
          <p:cNvPr id="20" name="Intro"/>
          <p:cNvSpPr txBox="1"/>
          <p:nvPr/>
        </p:nvSpPr>
        <p:spPr>
          <a:xfrm>
            <a:off x="723930" y="1188720"/>
            <a:ext cx="10744200" cy="365760"/>
          </a:xfrm>
          <a:prstGeom prst="rect">
            <a:avLst/>
          </a:prstGeom>
          <a:noFill/>
        </p:spPr>
        <p:txBody>
          <a:bodyPr wrap="square">
            <a:noAutofit/>
          </a:bodyPr>
          <a:lstStyle/>
          <a:p>
            <a:pPr/>
            <a:r>
              <a:rPr lang="en-MY" sz="1600" b="1" dirty="0">
                <a:solidFill>
                  <a:schemeClr val="tx1">
                    <a:lumMod val="85000"/>
                    <a:lumOff val="15000"/>
                  </a:schemeClr>
                </a:solidFill>
              </a:rPr>
              <a:t>Semakan jawapan bagi kelima-lima soalan.</a:t>
            </a:r>
          </a:p>
        </p:txBody>
      </p:sp>
      <p:sp>
        <p:nvSpPr>
          <p:cNvPr id="42" name="RvQ"/>
          <p:cNvSpPr txBox="1"/>
          <p:nvPr/>
        </p:nvSpPr>
        <p:spPr>
          <a:xfrm>
            <a:off x="723930" y="1755648"/>
            <a:ext cx="10744200" cy="566928"/>
          </a:xfrm>
          <a:prstGeom prst="rect">
            <a:avLst/>
          </a:prstGeom>
          <a:noFill/>
        </p:spPr>
        <p:txBody>
          <a:bodyPr wrap="square">
            <a:noAutofit/>
          </a:bodyPr>
          <a:lstStyle/>
          <a:p>
            <a:pPr/>
            <a:r>
              <a:rPr lang="en-MY" sz="1250" dirty="0">
                <a:solidFill>
                  <a:schemeClr val="tx1">
                    <a:lumMod val="85000"/>
                    <a:lumOff val="15000"/>
                  </a:schemeClr>
                </a:solidFill>
              </a:rPr>
              <a:t>Soalan 1: Struktur persisir air dibina di tepi badan air seperti tasik, sungai atau pantai. Apakah</a:t>
            </a:r>
          </a:p>
          <a:p>
            <a:pPr/>
            <a:r>
              <a:rPr lang="en-MY" sz="1250" dirty="0">
                <a:solidFill>
                  <a:schemeClr val="tx1">
                    <a:lumMod val="85000"/>
                    <a:lumOff val="15000"/>
                  </a:schemeClr>
                </a:solidFill>
              </a:rPr>
              <a:t>keperluan pembinaan yang paling kritikal bagi struktur ini?</a:t>
            </a:r>
          </a:p>
        </p:txBody>
      </p:sp>
      <p:sp>
        <p:nvSpPr>
          <p:cNvPr id="43" name="RvA"/>
          <p:cNvSpPr txBox="1"/>
          <p:nvPr/>
        </p:nvSpPr>
        <p:spPr>
          <a:xfrm>
            <a:off x="998250" y="2304288"/>
            <a:ext cx="10195560" cy="274320"/>
          </a:xfrm>
          <a:prstGeom prst="rect">
            <a:avLst/>
          </a:prstGeom>
          <a:noFill/>
        </p:spPr>
        <p:txBody>
          <a:bodyPr wrap="square">
            <a:noAutofit/>
          </a:bodyPr>
          <a:lstStyle/>
          <a:p>
            <a:pPr/>
            <a:r>
              <a:rPr lang="en-MY" sz="1250" b="1" dirty="0">
                <a:solidFill>
                  <a:srgbClr val="2E7D32"/>
                </a:solidFill>
              </a:rPr>
              <a:t>Jawapan: B</a:t>
            </a:r>
          </a:p>
        </p:txBody>
      </p:sp>
      <p:sp>
        <p:nvSpPr>
          <p:cNvPr id="44" name="RvQ"/>
          <p:cNvSpPr txBox="1"/>
          <p:nvPr/>
        </p:nvSpPr>
        <p:spPr>
          <a:xfrm>
            <a:off x="723930" y="2688336"/>
            <a:ext cx="10744200" cy="566928"/>
          </a:xfrm>
          <a:prstGeom prst="rect">
            <a:avLst/>
          </a:prstGeom>
          <a:noFill/>
        </p:spPr>
        <p:txBody>
          <a:bodyPr wrap="square">
            <a:noAutofit/>
          </a:bodyPr>
          <a:lstStyle/>
          <a:p>
            <a:pPr/>
            <a:r>
              <a:rPr lang="en-MY" sz="1250" dirty="0">
                <a:solidFill>
                  <a:schemeClr val="tx1">
                    <a:lumMod val="85000"/>
                    <a:lumOff val="15000"/>
                  </a:schemeClr>
                </a:solidFill>
              </a:rPr>
              <a:t>Soalan 2: Manakah antara berikut merupakan struktur teduhan tradisional Melayu yang digunakan sebagai</a:t>
            </a:r>
          </a:p>
          <a:p>
            <a:pPr/>
            <a:r>
              <a:rPr lang="en-MY" sz="1250" dirty="0">
                <a:solidFill>
                  <a:schemeClr val="tx1">
                    <a:lumMod val="85000"/>
                    <a:lumOff val="15000"/>
                  </a:schemeClr>
                </a:solidFill>
              </a:rPr>
              <a:t>tempat berehat?</a:t>
            </a:r>
          </a:p>
        </p:txBody>
      </p:sp>
      <p:sp>
        <p:nvSpPr>
          <p:cNvPr id="45" name="RvA"/>
          <p:cNvSpPr txBox="1"/>
          <p:nvPr/>
        </p:nvSpPr>
        <p:spPr>
          <a:xfrm>
            <a:off x="998250" y="3236976"/>
            <a:ext cx="10195560" cy="274320"/>
          </a:xfrm>
          <a:prstGeom prst="rect">
            <a:avLst/>
          </a:prstGeom>
          <a:noFill/>
        </p:spPr>
        <p:txBody>
          <a:bodyPr wrap="square">
            <a:noAutofit/>
          </a:bodyPr>
          <a:lstStyle/>
          <a:p>
            <a:pPr/>
            <a:r>
              <a:rPr lang="en-MY" sz="1250" b="1" dirty="0">
                <a:solidFill>
                  <a:srgbClr val="2E7D32"/>
                </a:solidFill>
              </a:rPr>
              <a:t>Jawapan: C</a:t>
            </a:r>
          </a:p>
        </p:txBody>
      </p:sp>
      <p:sp>
        <p:nvSpPr>
          <p:cNvPr id="46" name="RvQ"/>
          <p:cNvSpPr txBox="1"/>
          <p:nvPr/>
        </p:nvSpPr>
        <p:spPr>
          <a:xfrm>
            <a:off x="723930" y="3621024"/>
            <a:ext cx="10744200" cy="566928"/>
          </a:xfrm>
          <a:prstGeom prst="rect">
            <a:avLst/>
          </a:prstGeom>
          <a:noFill/>
        </p:spPr>
        <p:txBody>
          <a:bodyPr wrap="square">
            <a:noAutofit/>
          </a:bodyPr>
          <a:lstStyle/>
          <a:p>
            <a:pPr/>
            <a:r>
              <a:rPr lang="en-MY" sz="1250" dirty="0">
                <a:solidFill>
                  <a:schemeClr val="tx1">
                    <a:lumMod val="85000"/>
                    <a:lumOff val="15000"/>
                  </a:schemeClr>
                </a:solidFill>
              </a:rPr>
              <a:t>Soalan 3: Apakah pertimbangan utama dalam pemilihan bahan bagi kemudahan awam seperti tandas dan surau</a:t>
            </a:r>
          </a:p>
          <a:p>
            <a:pPr/>
            <a:r>
              <a:rPr lang="en-MY" sz="1250" dirty="0">
                <a:solidFill>
                  <a:schemeClr val="tx1">
                    <a:lumMod val="85000"/>
                    <a:lumOff val="15000"/>
                  </a:schemeClr>
                </a:solidFill>
              </a:rPr>
              <a:t>di taman?</a:t>
            </a:r>
          </a:p>
        </p:txBody>
      </p:sp>
      <p:sp>
        <p:nvSpPr>
          <p:cNvPr id="47" name="RvA"/>
          <p:cNvSpPr txBox="1"/>
          <p:nvPr/>
        </p:nvSpPr>
        <p:spPr>
          <a:xfrm>
            <a:off x="998250" y="4169664"/>
            <a:ext cx="10195560" cy="274320"/>
          </a:xfrm>
          <a:prstGeom prst="rect">
            <a:avLst/>
          </a:prstGeom>
          <a:noFill/>
        </p:spPr>
        <p:txBody>
          <a:bodyPr wrap="square">
            <a:noAutofit/>
          </a:bodyPr>
          <a:lstStyle/>
          <a:p>
            <a:pPr/>
            <a:r>
              <a:rPr lang="en-MY" sz="1250" b="1" dirty="0">
                <a:solidFill>
                  <a:srgbClr val="2E7D32"/>
                </a:solidFill>
              </a:rPr>
              <a:t>Jawapan: A</a:t>
            </a:r>
          </a:p>
        </p:txBody>
      </p:sp>
      <p:sp>
        <p:nvSpPr>
          <p:cNvPr id="48" name="RvQ"/>
          <p:cNvSpPr txBox="1"/>
          <p:nvPr/>
        </p:nvSpPr>
        <p:spPr>
          <a:xfrm>
            <a:off x="723930" y="4553712"/>
            <a:ext cx="10744200" cy="310896"/>
          </a:xfrm>
          <a:prstGeom prst="rect">
            <a:avLst/>
          </a:prstGeom>
          <a:noFill/>
        </p:spPr>
        <p:txBody>
          <a:bodyPr wrap="square">
            <a:noAutofit/>
          </a:bodyPr>
          <a:lstStyle/>
          <a:p>
            <a:pPr/>
            <a:r>
              <a:rPr lang="en-MY" sz="1250" dirty="0">
                <a:solidFill>
                  <a:schemeClr val="tx1">
                    <a:lumMod val="85000"/>
                    <a:lumOff val="15000"/>
                  </a:schemeClr>
                </a:solidFill>
              </a:rPr>
              <a:t>Soalan 4: Dalam pembinaan water feature, apakah aspek kawalan kualiti air yang dinyatakan dalam modul?</a:t>
            </a:r>
          </a:p>
        </p:txBody>
      </p:sp>
      <p:sp>
        <p:nvSpPr>
          <p:cNvPr id="49" name="RvA"/>
          <p:cNvSpPr txBox="1"/>
          <p:nvPr/>
        </p:nvSpPr>
        <p:spPr>
          <a:xfrm>
            <a:off x="998250" y="4846320"/>
            <a:ext cx="10195560" cy="274320"/>
          </a:xfrm>
          <a:prstGeom prst="rect">
            <a:avLst/>
          </a:prstGeom>
          <a:noFill/>
        </p:spPr>
        <p:txBody>
          <a:bodyPr wrap="square">
            <a:noAutofit/>
          </a:bodyPr>
          <a:lstStyle/>
          <a:p>
            <a:pPr/>
            <a:r>
              <a:rPr lang="en-MY" sz="1250" b="1" dirty="0">
                <a:solidFill>
                  <a:srgbClr val="2E7D32"/>
                </a:solidFill>
              </a:rPr>
              <a:t>Jawapan: B</a:t>
            </a:r>
          </a:p>
        </p:txBody>
      </p:sp>
      <p:sp>
        <p:nvSpPr>
          <p:cNvPr id="50" name="RvQ"/>
          <p:cNvSpPr txBox="1"/>
          <p:nvPr/>
        </p:nvSpPr>
        <p:spPr>
          <a:xfrm>
            <a:off x="723930" y="5230368"/>
            <a:ext cx="10744200" cy="310896"/>
          </a:xfrm>
          <a:prstGeom prst="rect">
            <a:avLst/>
          </a:prstGeom>
          <a:noFill/>
        </p:spPr>
        <p:txBody>
          <a:bodyPr wrap="square">
            <a:noAutofit/>
          </a:bodyPr>
          <a:lstStyle/>
          <a:p>
            <a:pPr/>
            <a:r>
              <a:rPr lang="en-MY" sz="1250" dirty="0">
                <a:solidFill>
                  <a:schemeClr val="tx1">
                    <a:lumMod val="85000"/>
                    <a:lumOff val="15000"/>
                  </a:schemeClr>
                </a:solidFill>
              </a:rPr>
              <a:t>Soalan 5: Pilih SEMUA perabot yang tergolong dalam Perabot Taman.</a:t>
            </a:r>
          </a:p>
        </p:txBody>
      </p:sp>
      <p:sp>
        <p:nvSpPr>
          <p:cNvPr id="51" name="RvA"/>
          <p:cNvSpPr txBox="1"/>
          <p:nvPr/>
        </p:nvSpPr>
        <p:spPr>
          <a:xfrm>
            <a:off x="998250" y="5522976"/>
            <a:ext cx="10195560" cy="274320"/>
          </a:xfrm>
          <a:prstGeom prst="rect">
            <a:avLst/>
          </a:prstGeom>
          <a:noFill/>
        </p:spPr>
        <p:txBody>
          <a:bodyPr wrap="square">
            <a:noAutofit/>
          </a:bodyPr>
          <a:lstStyle/>
          <a:p>
            <a:pPr/>
            <a:r>
              <a:rPr lang="en-MY" sz="1250" b="1" dirty="0">
                <a:solidFill>
                  <a:srgbClr val="2E7D32"/>
                </a:solidFill>
              </a:rPr>
              <a:t>Jawapan: Kerusi Taman, Papan Tanda, Tong Sampah, </a:t>
            </a:r>
            <a:r>
              <a:rPr lang="en-MY" sz="1250" b="1" i="1" dirty="0">
                <a:solidFill>
                  <a:srgbClr val="2E7D32"/>
                </a:solidFill>
              </a:rPr>
              <a:t>Drinking Fountain</a:t>
            </a:r>
            <a:r>
              <a:rPr lang="en-MY" sz="1250" b="1" dirty="0">
                <a:solidFill>
                  <a:srgbClr val="2E7D32"/>
                </a:solidFill>
              </a:rPr>
              <a:t>, </a:t>
            </a:r>
            <a:r>
              <a:rPr lang="en-MY" sz="1250" b="1" i="1" dirty="0">
                <a:solidFill>
                  <a:srgbClr val="2E7D32"/>
                </a:solidFill>
              </a:rPr>
              <a:t>BBQ Pit</a:t>
            </a:r>
          </a:p>
        </p:txBody>
      </p:sp>
      <p:sp>
        <p:nvSpPr>
          <p:cNvPr id="60" name="Btn"/>
          <p:cNvSpPr txBox="1"/>
          <p:nvPr/>
        </p:nvSpPr>
        <p:spPr>
          <a:xfrm>
            <a:off x="723930" y="5888736"/>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QUIZ_REVIEW</a:t>
            </a:r>
          </a:p>
          <a:p>
            <a:r>
              <a:rPr lang="en-MY" sz="900" dirty="0">
                <a:solidFill>
                  <a:schemeClr val="tx1">
                    <a:lumMod val="85000"/>
                    <a:lumOff val="15000"/>
                  </a:schemeClr>
                </a:solidFill>
              </a:rPr>
              <a:t/>
            </a:r>
          </a:p>
          <a:p>
            <a:r>
              <a:rPr lang="en-MY" sz="900" dirty="0">
                <a:solidFill>
                  <a:schemeClr val="tx1">
                    <a:lumMod val="85000"/>
                    <a:lumOff val="15000"/>
                  </a:schemeClr>
                </a:solidFill>
              </a:rPr>
              <a:t>BUKTI: Semak Jawapan / Ulang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[always_enabled]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ST_KUIZ_RESULT</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SEMAK JAWAPAN:</a:t>
            </a:r>
          </a:p>
          <a:p>
            <a:r>
              <a:rPr lang="en-MY" sz="900" dirty="0">
                <a:solidFill>
                  <a:schemeClr val="tx1">
                    <a:lumMod val="85000"/>
                    <a:lumOff val="15000"/>
                  </a:schemeClr>
                </a:solidFill>
              </a:rPr>
              <a:t>  Jawapan betul dipaparkan bagi kelima-lima soalan.</a:t>
            </a:r>
          </a:p>
          <a:p>
            <a:r>
              <a:rPr lang="en-MY" sz="900" dirty="0">
                <a:solidFill>
                  <a:schemeClr val="tx1">
                    <a:lumMod val="85000"/>
                    <a:lumOff val="15000"/>
                  </a:schemeClr>
                </a:solidFill>
              </a:rPr>
              <a:t>  Cuba semula bersifat sukarela.</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Rasional terperinci bagi setiap soalan kekal sebagai metadata produksi sehingga penempatan akhirnya disahkan.</a:t>
            </a:r>
          </a:p>
          <a:p>
            <a:r>
              <a:rPr lang="en-MY" sz="900" dirty="0">
                <a:solidFill>
                  <a:schemeClr val="tx1">
                    <a:lumMod val="85000"/>
                    <a:lumOff val="15000"/>
                  </a:schemeClr>
                </a:solidFill>
              </a:rPr>
              <a:t>  status: U-05 — whether the detailed rationale is exposed here is PENDING_BARIAH_CONFIRMATION; for v0.4 it stays metadata-only</a:t>
            </a:r>
          </a:p>
          <a:p>
            <a:r>
              <a:rPr lang="en-MY" sz="900" dirty="0">
                <a:solidFill>
                  <a:schemeClr val="tx1">
                    <a:lumMod val="85000"/>
                    <a:lumOff val="15000"/>
                  </a:schemeClr>
                </a:solidFill>
              </a:rPr>
              <a:t>STATUS KEPUTUSAN: B02-D-11, B02-D-23</a:t>
            </a:r>
          </a:p>
          <a:p>
            <a:r>
              <a:rPr lang="en-MY" sz="900" dirty="0">
                <a:solidFill>
                  <a:schemeClr val="tx1">
                    <a:lumMod val="85000"/>
                    <a:lumOff val="15000"/>
                  </a:schemeClr>
                </a:solidFill>
              </a:rPr>
              <a:t>STATUS BELUM SELESAI: U-05 — whether the detailed rationale is exposed here is PENDING_BARIAH_CONFIRMATION; for v0.4 it stays metadata-only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Course"/>
          <p:cNvSpPr txBox="1"/>
          <p:nvPr/>
        </p:nvSpPr>
        <p:spPr>
          <a:xfrm>
            <a:off x="723930" y="1243584"/>
            <a:ext cx="10744200" cy="347472"/>
          </a:xfrm>
          <a:prstGeom prst="rect">
            <a:avLst/>
          </a:prstGeom>
          <a:noFill/>
        </p:spPr>
        <p:txBody>
          <a:bodyPr wrap="square">
            <a:noAutofit/>
          </a:bodyPr>
          <a:lstStyle/>
          <a:p>
            <a:pPr/>
            <a:r>
              <a:rPr lang="en-MY" sz="1400" b="1" dirty="0">
                <a:solidFill>
                  <a:srgbClr val="7F6000"/>
                </a:solidFill>
              </a:rPr>
              <a:t>KURSUS KERJA BANGUNAN – PEMBINAAN LANDSKAP LUAR</a:t>
            </a:r>
          </a:p>
        </p:txBody>
      </p:sp>
      <p:sp>
        <p:nvSpPr>
          <p:cNvPr id="21" name="PL"/>
          <p:cNvSpPr txBox="1"/>
          <p:nvPr/>
        </p:nvSpPr>
        <p:spPr>
          <a:xfrm>
            <a:off x="723930" y="1682496"/>
            <a:ext cx="10744200" cy="384048"/>
          </a:xfrm>
          <a:prstGeom prst="rect">
            <a:avLst/>
          </a:prstGeom>
          <a:noFill/>
        </p:spPr>
        <p:txBody>
          <a:bodyPr wrap="square">
            <a:noAutofit/>
          </a:bodyPr>
          <a:lstStyle/>
          <a:p>
            <a:pPr/>
            <a:r>
              <a:rPr lang="en-MY" sz="1600" b="1" dirty="0">
                <a:solidFill>
                  <a:schemeClr val="tx1">
                    <a:lumMod val="85000"/>
                    <a:lumOff val="15000"/>
                  </a:schemeClr>
                </a:solidFill>
              </a:rPr>
              <a:t>PL06: Pengurusan Operasi Pembinaan Landskap</a:t>
            </a:r>
          </a:p>
        </p:txBody>
      </p:sp>
      <p:sp>
        <p:nvSpPr>
          <p:cNvPr id="22" name="Head"/>
          <p:cNvSpPr txBox="1"/>
          <p:nvPr/>
        </p:nvSpPr>
        <p:spPr>
          <a:xfrm>
            <a:off x="723930" y="2304288"/>
            <a:ext cx="10744200" cy="548640"/>
          </a:xfrm>
          <a:prstGeom prst="rect">
            <a:avLst/>
          </a:prstGeom>
          <a:noFill/>
        </p:spPr>
        <p:txBody>
          <a:bodyPr wrap="square">
            <a:noAutofit/>
          </a:bodyPr>
          <a:lstStyle/>
          <a:p>
            <a:pPr/>
            <a:r>
              <a:rPr lang="en-MY" sz="2400" b="1" dirty="0">
                <a:solidFill>
                  <a:schemeClr val="tx1">
                    <a:lumMod val="85000"/>
                    <a:lumOff val="15000"/>
                  </a:schemeClr>
                </a:solidFill>
              </a:rPr>
              <a:t>Tamat Topik 3 Bahagian 2: Komponen Landskap</a:t>
            </a:r>
          </a:p>
        </p:txBody>
      </p:sp>
      <p:sp>
        <p:nvSpPr>
          <p:cNvPr id="23" name="Status"/>
          <p:cNvSpPr txBox="1"/>
          <p:nvPr/>
        </p:nvSpPr>
        <p:spPr>
          <a:xfrm>
            <a:off x="723930" y="3200400"/>
            <a:ext cx="10744200" cy="384048"/>
          </a:xfrm>
          <a:prstGeom prst="rect">
            <a:avLst/>
          </a:prstGeom>
          <a:noFill/>
        </p:spPr>
        <p:txBody>
          <a:bodyPr wrap="square">
            <a:noAutofit/>
          </a:bodyPr>
          <a:lstStyle/>
          <a:p>
            <a:pPr/>
            <a:r>
              <a:rPr lang="en-MY" sz="1600" dirty="0">
                <a:solidFill>
                  <a:schemeClr val="tx1">
                    <a:lumMod val="85000"/>
                    <a:lumOff val="15000"/>
                  </a:schemeClr>
                </a:solidFill>
              </a:rPr>
              <a:t>Bahagian ini telah selesai.</a:t>
            </a:r>
          </a:p>
        </p:txBody>
      </p:sp>
      <p:sp>
        <p:nvSpPr>
          <p:cNvPr id="24" name="Instr"/>
          <p:cNvSpPr txBox="1"/>
          <p:nvPr/>
        </p:nvSpPr>
        <p:spPr>
          <a:xfrm>
            <a:off x="723930" y="3749040"/>
            <a:ext cx="10744200" cy="384048"/>
          </a:xfrm>
          <a:prstGeom prst="rect">
            <a:avLst/>
          </a:prstGeom>
          <a:noFill/>
        </p:spPr>
        <p:txBody>
          <a:bodyPr wrap="square">
            <a:noAutofit/>
          </a:bodyPr>
          <a:lstStyle/>
          <a:p>
            <a:pPr/>
            <a:r>
              <a:rPr lang="en-MY" sz="1600" b="1" dirty="0">
                <a:solidFill>
                  <a:schemeClr val="tx1">
                    <a:lumMod val="85000"/>
                    <a:lumOff val="15000"/>
                  </a:schemeClr>
                </a:solidFill>
              </a:rPr>
              <a:t>Tutup tetingkap pelajaran untuk keluar.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[DISABLED on this screen]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LMS:</a:t>
            </a:r>
          </a:p>
          <a:p>
            <a:r>
              <a:rPr lang="en-MY" sz="900" dirty="0">
                <a:solidFill>
                  <a:schemeClr val="tx1">
                    <a:lumMod val="85000"/>
                    <a:lumOff val="15000"/>
                  </a:schemeClr>
                </a:solidFill>
              </a:rPr>
              <a:t>  destinasi logik: next Bahagian in Topik 3</a:t>
            </a:r>
          </a:p>
          <a:p>
            <a:r>
              <a:rPr lang="en-MY" sz="900" dirty="0">
                <a:solidFill>
                  <a:schemeClr val="tx1">
                    <a:lumMod val="85000"/>
                    <a:lumOff val="15000"/>
                  </a:schemeClr>
                </a:solidFill>
              </a:rPr>
              <a:t>  kelakuan keluar fizikal: learner closes the lesson / window</a:t>
            </a:r>
          </a:p>
          <a:p>
            <a:r>
              <a:rPr lang="en-MY" sz="900" dirty="0">
                <a:solidFill>
                  <a:schemeClr val="tx1">
                    <a:lumMod val="85000"/>
                    <a:lumOff val="15000"/>
                  </a:schemeClr>
                </a:solidFill>
              </a:rPr>
              <a:t>  keadaan Seterusnya shell: disabled on Tamat</a:t>
            </a:r>
          </a:p>
          <a:p>
            <a:r>
              <a:rPr lang="en-MY" sz="900" dirty="0">
                <a:solidFill>
                  <a:schemeClr val="tx1">
                    <a:lumMod val="85000"/>
                    <a:lumOff val="15000"/>
                  </a:schemeClr>
                </a:solidFill>
              </a:rPr>
              <a:t>  status: PENDING_FIRDAUS_CONFIRMATION</a:t>
            </a:r>
          </a:p>
          <a:p>
            <a:r>
              <a:rPr lang="en-MY" sz="900" dirty="0">
                <a:solidFill>
                  <a:schemeClr val="tx1">
                    <a:lumMod val="85000"/>
                    <a:lumOff val="15000"/>
                  </a:schemeClr>
                </a:solidFill>
              </a:rPr>
              <a:t>  logical destination is NOT displayed on the learner canvas; it is retained in production metadata only</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