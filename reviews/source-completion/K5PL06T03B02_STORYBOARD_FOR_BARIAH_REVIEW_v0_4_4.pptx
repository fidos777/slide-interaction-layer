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3.svg" ContentType="image/svg+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401" r:id="rId101"/>
    <p:sldId id="9402" r:id="rId102"/>
    <p:sldId id="9403" r:id="rId103"/>
    <p:sldId id="9404" r:id="rId104"/>
    <p:sldId id="9405" r:id="rId105"/>
    <p:sldId id="9406" r:id="rId106"/>
    <p:sldId id="9407" r:id="rId107"/>
    <p:sldId id="9408" r:id="rId108"/>
    <p:sldId id="9409" r:id="rId109"/>
    <p:sldId id="9410" r:id="rId110"/>
    <p:sldId id="9411" r:id="rId111"/>
    <p:sldId id="9412" r:id="rId112"/>
    <p:sldId id="9413" r:id="rId113"/>
    <p:sldId id="9414" r:id="rId114"/>
    <p:sldId id="9415" r:id="rId115"/>
    <p:sldId id="9416" r:id="rId116"/>
    <p:sldId id="9417" r:id="rId117"/>
    <p:sldId id="9418" r:id="rId118"/>
    <p:sldId id="9419" r:id="rId119"/>
    <p:sldId id="9420" r:id="rId120"/>
    <p:sldId id="9421" r:id="rId121"/>
    <p:sldId id="9422" r:id="rId122"/>
    <p:sldId id="9423" r:id="rId123"/>
    <p:sldId id="9424" r:id="rId124"/>
    <p:sldId id="9425" r:id="rId125"/>
    <p:sldId id="9426" r:id="rId126"/>
    <p:sldId id="9427" r:id="rId127"/>
    <p:sldId id="9428" r:id="rId128"/>
    <p:sldId id="9429" r:id="rId129"/>
    <p:sldId id="9430" r:id="rId130"/>
    <p:sldId id="9431" r:id="rId131"/>
    <p:sldId id="9432" r:id="rId132"/>
    <p:sldId id="9433" r:id="rId133"/>
    <p:sldId id="9434" r:id="rId134"/>
    <p:sldId id="9435" r:id="rId135"/>
    <p:sldId id="9436" r:id="rId136"/>
    <p:sldId id="9437" r:id="rId137"/>
    <p:sldId id="9438" r:id="rId138"/>
    <p:sldId id="9439" r:id="rId139"/>
    <p:sldId id="9440" r:id="rId140"/>
    <p:sldId id="9441" r:id="rId141"/>
    <p:sldId id="9442" r:id="rId142"/>
    <p:sldId id="9443" r:id="rId143"/>
    <p:sldId id="9444" r:id="rId144"/>
    <p:sldId id="9445" r:id="rId145"/>
    <p:sldId id="9446" r:id="rId146"/>
    <p:sldId id="9447" r:id="rId147"/>
    <p:sldId id="9448" r:id="rId148"/>
    <p:sldId id="9449" r:id="rId149"/>
    <p:sldId id="9450" r:id="rId150"/>
    <p:sldId id="9451" r:id="rId151"/>
    <p:sldId id="9452" r:id="rId152"/>
    <p:sldId id="9453" r:id="rId153"/>
    <p:sldId id="9454" r:id="rId154"/>
    <p:sldId id="9455" r:id="rId155"/>
    <p:sldId id="9456" r:id="rId156"/>
    <p:sldId id="9457" r:id="rId157"/>
    <p:sldId id="9458" r:id="rId158"/>
    <p:sldId id="9459" r:id="rId159"/>
    <p:sldId id="9460" r:id="rId160"/>
    <p:sldId id="9461" r:id="rId161"/>
    <p:sldId id="9462" r:id="rId162"/>
    <p:sldId id="9463" r:id="rId163"/>
    <p:sldId id="9464" r:id="rId164"/>
    <p:sldId id="9465" r:id="rId165"/>
    <p:sldId id="9466" r:id="rId166"/>
    <p:sldId id="9467" r:id="rId167"/>
    <p:sldId id="9468" r:id="rId168"/>
    <p:sldId id="9469" r:id="rId169"/>
    <p:sldId id="9470" r:id="rId170"/>
    <p:sldId id="9471" r:id="rId171"/>
    <p:sldId id="9472" r:id="rId172"/>
    <p:sldId id="9473" r:id="rId173"/>
    <p:sldId id="9474" r:id="rId174"/>
    <p:sldId id="9475" r:id="rId175"/>
    <p:sldId id="9476" r:id="rId176"/>
    <p:sldId id="9477" r:id="rId177"/>
    <p:sldId id="9478" r:id="rId178"/>
    <p:sldId id="9479" r:id="rId179"/>
    <p:sldId id="9480" r:id="rId180"/>
    <p:sldId id="9481" r:id="rId181"/>
    <p:sldId id="9482" r:id="rId182"/>
    <p:sldId id="9483" r:id="rId183"/>
    <p:sldId id="9484" r:id="rId184"/>
    <p:sldId id="9485" r:id="rId185"/>
    <p:sldId id="9486" r:id="rId186"/>
    <p:sldId id="9487" r:id="rId187"/>
    <p:sldId id="9488" r:id="rId188"/>
    <p:sldId id="9489" r:id="rId189"/>
    <p:sldId id="9490" r:id="rId190"/>
    <p:sldId id="9491" r:id="rId191"/>
    <p:sldId id="9492" r:id="rId192"/>
    <p:sldId id="9493" r:id="rId193"/>
    <p:sldId id="9494" r:id="rId194"/>
    <p:sldId id="9495" r:id="rId195"/>
    <p:sldId id="9496" r:id="rId196"/>
    <p:sldId id="9497" r:id="rId197"/>
    <p:sldId id="9498" r:id="rId198"/>
    <p:sldId id="9499" r:id="rId199"/>
    <p:sldId id="9500" r:id="rId2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135" Type="http://schemas.openxmlformats.org/officeDocument/2006/relationships/slide" Target="slides/slide35.xml"/><Relationship Id="rId136" Type="http://schemas.openxmlformats.org/officeDocument/2006/relationships/slide" Target="slides/slide36.xml"/><Relationship Id="rId137" Type="http://schemas.openxmlformats.org/officeDocument/2006/relationships/slide" Target="slides/slide37.xml"/><Relationship Id="rId138" Type="http://schemas.openxmlformats.org/officeDocument/2006/relationships/slide" Target="slides/slide38.xml"/><Relationship Id="rId139" Type="http://schemas.openxmlformats.org/officeDocument/2006/relationships/slide" Target="slides/slide39.xml"/><Relationship Id="rId140" Type="http://schemas.openxmlformats.org/officeDocument/2006/relationships/slide" Target="slides/slide40.xml"/><Relationship Id="rId141" Type="http://schemas.openxmlformats.org/officeDocument/2006/relationships/slide" Target="slides/slide41.xml"/><Relationship Id="rId142" Type="http://schemas.openxmlformats.org/officeDocument/2006/relationships/slide" Target="slides/slide42.xml"/><Relationship Id="rId143" Type="http://schemas.openxmlformats.org/officeDocument/2006/relationships/slide" Target="slides/slide43.xml"/><Relationship Id="rId144" Type="http://schemas.openxmlformats.org/officeDocument/2006/relationships/slide" Target="slides/slide44.xml"/><Relationship Id="rId145" Type="http://schemas.openxmlformats.org/officeDocument/2006/relationships/slide" Target="slides/slide45.xml"/><Relationship Id="rId146" Type="http://schemas.openxmlformats.org/officeDocument/2006/relationships/slide" Target="slides/slide46.xml"/><Relationship Id="rId147" Type="http://schemas.openxmlformats.org/officeDocument/2006/relationships/slide" Target="slides/slide47.xml"/><Relationship Id="rId148" Type="http://schemas.openxmlformats.org/officeDocument/2006/relationships/slide" Target="slides/slide48.xml"/><Relationship Id="rId149" Type="http://schemas.openxmlformats.org/officeDocument/2006/relationships/slide" Target="slides/slide49.xml"/><Relationship Id="rId150" Type="http://schemas.openxmlformats.org/officeDocument/2006/relationships/slide" Target="slides/slide50.xml"/><Relationship Id="rId151" Type="http://schemas.openxmlformats.org/officeDocument/2006/relationships/slide" Target="slides/slide51.xml"/><Relationship Id="rId152" Type="http://schemas.openxmlformats.org/officeDocument/2006/relationships/slide" Target="slides/slide52.xml"/><Relationship Id="rId153" Type="http://schemas.openxmlformats.org/officeDocument/2006/relationships/slide" Target="slides/slide53.xml"/><Relationship Id="rId154" Type="http://schemas.openxmlformats.org/officeDocument/2006/relationships/slide" Target="slides/slide54.xml"/><Relationship Id="rId155" Type="http://schemas.openxmlformats.org/officeDocument/2006/relationships/slide" Target="slides/slide55.xml"/><Relationship Id="rId156" Type="http://schemas.openxmlformats.org/officeDocument/2006/relationships/slide" Target="slides/slide56.xml"/><Relationship Id="rId157" Type="http://schemas.openxmlformats.org/officeDocument/2006/relationships/slide" Target="slides/slide57.xml"/><Relationship Id="rId158" Type="http://schemas.openxmlformats.org/officeDocument/2006/relationships/slide" Target="slides/slide58.xml"/><Relationship Id="rId159" Type="http://schemas.openxmlformats.org/officeDocument/2006/relationships/slide" Target="slides/slide59.xml"/><Relationship Id="rId160" Type="http://schemas.openxmlformats.org/officeDocument/2006/relationships/slide" Target="slides/slide60.xml"/><Relationship Id="rId161" Type="http://schemas.openxmlformats.org/officeDocument/2006/relationships/slide" Target="slides/slide61.xml"/><Relationship Id="rId162" Type="http://schemas.openxmlformats.org/officeDocument/2006/relationships/slide" Target="slides/slide62.xml"/><Relationship Id="rId163" Type="http://schemas.openxmlformats.org/officeDocument/2006/relationships/slide" Target="slides/slide63.xml"/><Relationship Id="rId164" Type="http://schemas.openxmlformats.org/officeDocument/2006/relationships/slide" Target="slides/slide64.xml"/><Relationship Id="rId165" Type="http://schemas.openxmlformats.org/officeDocument/2006/relationships/slide" Target="slides/slide65.xml"/><Relationship Id="rId166" Type="http://schemas.openxmlformats.org/officeDocument/2006/relationships/slide" Target="slides/slide66.xml"/><Relationship Id="rId167" Type="http://schemas.openxmlformats.org/officeDocument/2006/relationships/slide" Target="slides/slide67.xml"/><Relationship Id="rId168" Type="http://schemas.openxmlformats.org/officeDocument/2006/relationships/slide" Target="slides/slide68.xml"/><Relationship Id="rId169" Type="http://schemas.openxmlformats.org/officeDocument/2006/relationships/slide" Target="slides/slide69.xml"/><Relationship Id="rId170" Type="http://schemas.openxmlformats.org/officeDocument/2006/relationships/slide" Target="slides/slide70.xml"/><Relationship Id="rId171" Type="http://schemas.openxmlformats.org/officeDocument/2006/relationships/slide" Target="slides/slide71.xml"/><Relationship Id="rId172" Type="http://schemas.openxmlformats.org/officeDocument/2006/relationships/slide" Target="slides/slide72.xml"/><Relationship Id="rId173" Type="http://schemas.openxmlformats.org/officeDocument/2006/relationships/slide" Target="slides/slide73.xml"/><Relationship Id="rId174" Type="http://schemas.openxmlformats.org/officeDocument/2006/relationships/slide" Target="slides/slide74.xml"/><Relationship Id="rId175" Type="http://schemas.openxmlformats.org/officeDocument/2006/relationships/slide" Target="slides/slide75.xml"/><Relationship Id="rId176" Type="http://schemas.openxmlformats.org/officeDocument/2006/relationships/slide" Target="slides/slide76.xml"/><Relationship Id="rId177" Type="http://schemas.openxmlformats.org/officeDocument/2006/relationships/slide" Target="slides/slide77.xml"/><Relationship Id="rId178" Type="http://schemas.openxmlformats.org/officeDocument/2006/relationships/slide" Target="slides/slide78.xml"/><Relationship Id="rId179" Type="http://schemas.openxmlformats.org/officeDocument/2006/relationships/slide" Target="slides/slide79.xml"/><Relationship Id="rId180" Type="http://schemas.openxmlformats.org/officeDocument/2006/relationships/slide" Target="slides/slide80.xml"/><Relationship Id="rId181" Type="http://schemas.openxmlformats.org/officeDocument/2006/relationships/slide" Target="slides/slide81.xml"/><Relationship Id="rId182" Type="http://schemas.openxmlformats.org/officeDocument/2006/relationships/slide" Target="slides/slide82.xml"/><Relationship Id="rId183" Type="http://schemas.openxmlformats.org/officeDocument/2006/relationships/slide" Target="slides/slide83.xml"/><Relationship Id="rId184" Type="http://schemas.openxmlformats.org/officeDocument/2006/relationships/slide" Target="slides/slide84.xml"/><Relationship Id="rId185" Type="http://schemas.openxmlformats.org/officeDocument/2006/relationships/slide" Target="slides/slide85.xml"/><Relationship Id="rId186" Type="http://schemas.openxmlformats.org/officeDocument/2006/relationships/slide" Target="slides/slide86.xml"/><Relationship Id="rId187" Type="http://schemas.openxmlformats.org/officeDocument/2006/relationships/slide" Target="slides/slide87.xml"/><Relationship Id="rId188" Type="http://schemas.openxmlformats.org/officeDocument/2006/relationships/slide" Target="slides/slide88.xml"/><Relationship Id="rId189" Type="http://schemas.openxmlformats.org/officeDocument/2006/relationships/slide" Target="slides/slide89.xml"/><Relationship Id="rId190" Type="http://schemas.openxmlformats.org/officeDocument/2006/relationships/slide" Target="slides/slide90.xml"/><Relationship Id="rId191" Type="http://schemas.openxmlformats.org/officeDocument/2006/relationships/slide" Target="slides/slide91.xml"/><Relationship Id="rId192" Type="http://schemas.openxmlformats.org/officeDocument/2006/relationships/slide" Target="slides/slide92.xml"/><Relationship Id="rId193" Type="http://schemas.openxmlformats.org/officeDocument/2006/relationships/slide" Target="slides/slide93.xml"/><Relationship Id="rId194" Type="http://schemas.openxmlformats.org/officeDocument/2006/relationships/slide" Target="slides/slide94.xml"/><Relationship Id="rId195" Type="http://schemas.openxmlformats.org/officeDocument/2006/relationships/slide" Target="slides/slide95.xml"/><Relationship Id="rId196" Type="http://schemas.openxmlformats.org/officeDocument/2006/relationships/slide" Target="slides/slide96.xml"/><Relationship Id="rId197" Type="http://schemas.openxmlformats.org/officeDocument/2006/relationships/slide" Target="slides/slide97.xml"/><Relationship Id="rId198" Type="http://schemas.openxmlformats.org/officeDocument/2006/relationships/slide" Target="slides/slide98.xml"/><Relationship Id="rId199" Type="http://schemas.openxmlformats.org/officeDocument/2006/relationships/slide" Target="slides/slide99.xml"/><Relationship Id="rId200" Type="http://schemas.openxmlformats.org/officeDocument/2006/relationships/slide" Target="slides/slide100.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Klik butang “Mula” untuk memulakan pembelajaran.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senario tapak</a:t>
            </a:r>
          </a:p>
          <a:p>
            <a:endParaRPr lang="en-MY" dirty="0"/>
          </a:p>
          <a:p>
            <a:r>
              <a:rPr lang="en-MY" dirty="0"/>
              <a:t>SPOKEN TRANSCRIPT</a:t>
            </a:r>
          </a:p>
          <a:p>
            <a:endParaRPr lang="en-MY" dirty="0"/>
          </a:p>
          <a:p>
            <a:r>
              <a:rPr lang="en-MY" dirty="0"/>
              <a:t>Alya: Encik Rahman, lepas kerja tanaman, seterusnya struktur taman dan perabot taman. Saya nak sahkan skop sebelum susun jadual.</a:t>
            </a:r>
          </a:p>
          <a:p>
            <a:r>
              <a:rPr lang="en-MY" dirty="0"/>
              <a:t>Encik Rahman: Apa yang kamu faham setakat ini?</a:t>
            </a:r>
          </a:p>
          <a:p>
            <a:r>
              <a:rPr lang="en-MY" dirty="0"/>
              <a:t>Alya: Untuk struktur taman, binaan tetap macam gazebo, dek kayu, boardwalk. Perabot taman pula, kelengkapan macam kerusi, papan tanda, tong sampah. Semuanya ada fungsi, reka bentuk dan spesifikasi bahan tersendiri.</a:t>
            </a:r>
          </a:p>
          <a:p>
            <a:r>
              <a:rPr lang="en-MY" dirty="0"/>
              <a:t>Encik Rahman: Betul. Sebab itulah spesifikasi setiap komponen perlu disemak dahulu sebelum jadual kerja disusun.</a:t>
            </a:r>
          </a:p>
          <a:p>
            <a:r>
              <a:rPr lang="en-MY" dirty="0"/>
              <a:t>Alya: Faham. Saya semak spesifikasi setiap item sebelum mula kerja.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gambaran keseluruhan</a:t>
            </a:r>
          </a:p>
          <a:p>
            <a:endParaRPr lang="en-MY" dirty="0"/>
          </a:p>
          <a:p>
            <a:r>
              <a:rPr lang="en-MY" dirty="0"/>
              <a:t>SPOKEN TRANSCRIPT</a:t>
            </a:r>
          </a:p>
          <a:p>
            <a:endParaRPr lang="en-MY" dirty="0"/>
          </a:p>
          <a:p>
            <a:r>
              <a:rPr lang="en-MY" dirty="0"/>
              <a:t>Hilmi: Seperti yang dilihat di halaman sebelum ini, adalah penting untuk anda memahami tentang struktur taman dan perabot taman yang menjadi sebahagian daripada kerja pembinaan landskap luar. Anda akan mempelajari tentang struktur taman, termasuk struktur persisir air, struktur teduhan, kemudahan awam, dan water feature, serta perabot taman, termasuk kerusi taman, papan tanda, tong sampah, drinking fountain, dan BBQ pit.</a:t>
            </a:r>
          </a:p>
          <a:p>
            <a:r>
              <a:rPr lang="en-MY" dirty="0"/>
              <a:t>Jika anda ditugaskan memasang kerusi taman di tepi tasik, apakah jenis bahan yang anda akan pilih, dan mengapa?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a:t>
            </a:r>
          </a:p>
          <a:p>
            <a:endParaRPr lang="en-MY" dirty="0"/>
          </a:p>
          <a:p>
            <a:r>
              <a:rPr lang="en-MY" dirty="0"/>
              <a:t>SPOKEN TRANSCRIPT</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a:t>
            </a:r>
            <a:r>
              <a:rPr lang="en-MY" i="1" dirty="0"/>
              <a:t>Water Feature</a:t>
            </a:r>
            <a:r>
              <a:rPr lang="en-MY" dirty="0"/>
              <a:t>.</a:t>
            </a:r>
          </a:p>
          <a:p>
            <a:r>
              <a:rPr lang="en-MY" dirty="0"/>
              <a:t>Klik pada setiap struktur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endParaRPr lang="en-MY" dirty="0"/>
          </a:p>
          <a:p>
            <a:r>
              <a:rPr lang="en-MY" dirty="0"/>
              <a:t>SPOKEN TRANSCRIPT</a:t>
            </a:r>
          </a:p>
          <a:p>
            <a:endParaRPr lang="en-MY" dirty="0"/>
          </a:p>
          <a:p>
            <a:r>
              <a:rPr lang="en-MY" dirty="0"/>
              <a:t>Struktur persisir air 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Asas pembinaannya: Asas stabil dan rata, dengan sistem saliran permukaan berkesan untuk mengelakkan genangan air; Pemilihan bahan permukaan bergantung pada fungsi utama. Mari lihat contoh bagi Struktur Persisir Air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Promenade</a:t>
            </a:r>
          </a:p>
          <a:p>
            <a:endParaRPr lang="en-MY" dirty="0"/>
          </a:p>
          <a:p>
            <a:r>
              <a:rPr lang="en-MY" dirty="0"/>
              <a:t>SPOKEN TRANSCRIPT</a:t>
            </a:r>
          </a:p>
          <a:p>
            <a:endParaRPr lang="en-MY" dirty="0"/>
          </a:p>
          <a:p>
            <a:r>
              <a:rPr lang="en-MY" i="1" dirty="0"/>
              <a:t>Promenade</a:t>
            </a:r>
            <a:r>
              <a:rPr lang="en-MY" dirty="0"/>
              <a:t> ialah laluan lebar di sepanjang pinggir air, selesa untuk berjalan dan bersantai. Contohnya </a:t>
            </a:r>
            <a:r>
              <a:rPr lang="en-MY" i="1" dirty="0"/>
              <a:t>Promenade</a:t>
            </a:r>
            <a:r>
              <a:rPr lang="en-MY" dirty="0"/>
              <a:t> Tasik Titiwangsa di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Jeti</a:t>
            </a:r>
          </a:p>
          <a:p>
            <a:endParaRPr lang="en-MY" dirty="0"/>
          </a:p>
          <a:p>
            <a:r>
              <a:rPr lang="en-MY" dirty="0"/>
              <a:t>SPOKEN TRANSCRIPT</a:t>
            </a:r>
          </a:p>
          <a:p>
            <a:endParaRPr lang="en-MY" dirty="0"/>
          </a:p>
          <a:p>
            <a:r>
              <a:rPr lang="en-MY" dirty="0"/>
              <a:t>Jeti ialah platform atau pelantar panjang untuk akses ke air, dan sering digunakan untuk bot. Contohnya Jeti Lumut di Perak.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Dek Kayu</a:t>
            </a:r>
          </a:p>
          <a:p>
            <a:endParaRPr lang="en-MY" dirty="0"/>
          </a:p>
          <a:p>
            <a:r>
              <a:rPr lang="en-MY" dirty="0"/>
              <a:t>SPOKEN TRANSCRIPT</a:t>
            </a:r>
          </a:p>
          <a:p>
            <a:endParaRPr lang="en-MY" dirty="0"/>
          </a:p>
          <a:p>
            <a:r>
              <a:rPr lang="en-MY" dirty="0"/>
              <a:t>Dek kayu ialah ruang kayu terbuka di atas atau berhampiran air, untuk rehat dan menikmati pemandangan. Contohnya Wetland Park Putrajaya.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Boardwalk</a:t>
            </a:r>
          </a:p>
          <a:p>
            <a:endParaRPr lang="en-MY" dirty="0"/>
          </a:p>
          <a:p>
            <a:r>
              <a:rPr lang="en-MY" dirty="0"/>
              <a:t>SPOKEN TRANSCRIPT</a:t>
            </a:r>
          </a:p>
          <a:p>
            <a:endParaRPr lang="en-MY" dirty="0"/>
          </a:p>
          <a:p>
            <a:r>
              <a:rPr lang="en-MY" i="1" dirty="0"/>
              <a:t>Boardwalk</a:t>
            </a:r>
            <a:r>
              <a:rPr lang="en-MY" dirty="0"/>
              <a:t> ialah laluan kayu di atas tanah berpaya atau basah. Ia mesra alam dan mengekalkan visual semula jadi. Contohnya </a:t>
            </a:r>
            <a:r>
              <a:rPr lang="en-MY" i="1" dirty="0"/>
              <a:t>Boardwalk</a:t>
            </a:r>
            <a:r>
              <a:rPr lang="en-MY" dirty="0"/>
              <a:t> Paya Indah Wetlands.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Footbridge</a:t>
            </a:r>
          </a:p>
          <a:p>
            <a:endParaRPr lang="en-MY" dirty="0"/>
          </a:p>
          <a:p>
            <a:r>
              <a:rPr lang="en-MY" dirty="0"/>
              <a:t>SPOKEN TRANSCRIPT</a:t>
            </a:r>
          </a:p>
          <a:p>
            <a:endParaRPr lang="en-MY" dirty="0"/>
          </a:p>
          <a:p>
            <a:r>
              <a:rPr lang="en-MY" i="1" dirty="0"/>
              <a:t>Footbridge</a:t>
            </a:r>
            <a:r>
              <a:rPr lang="en-MY" dirty="0"/>
              <a:t> ialah jambatan kecil untuk laluan pejalan kaki melintasi aliran air atau longkang besar. Contohnya </a:t>
            </a:r>
            <a:r>
              <a:rPr lang="en-MY" i="1" dirty="0"/>
              <a:t>Footbridge</a:t>
            </a:r>
            <a:r>
              <a:rPr lang="en-MY" dirty="0"/>
              <a:t> Taman Botani Perdana.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endParaRPr lang="en-MY" dirty="0"/>
          </a:p>
          <a:p>
            <a:r>
              <a:rPr lang="en-MY" dirty="0"/>
              <a:t>SPOKEN TRANSCRIPT</a:t>
            </a:r>
          </a:p>
          <a:p>
            <a:endParaRPr lang="en-MY" dirty="0"/>
          </a:p>
          <a:p>
            <a:r>
              <a:rPr lang="en-MY" dirty="0"/>
              <a:t>Struktur teduhan direka untuk memberikan perlindungan daripada matahari dan hujan, dan mewujudkan ruang yang selesa untuk bersantai atau berinteraksi. Mari lihat contoh bagi Struktur Teduhan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Gazebo</a:t>
            </a:r>
          </a:p>
          <a:p>
            <a:endParaRPr lang="en-MY" dirty="0"/>
          </a:p>
          <a:p>
            <a:r>
              <a:rPr lang="en-MY" dirty="0"/>
              <a:t>SPOKEN TRANSCRIPT</a:t>
            </a:r>
          </a:p>
          <a:p>
            <a:endParaRPr lang="en-MY" dirty="0"/>
          </a:p>
          <a:p>
            <a:r>
              <a:rPr lang="en-MY" dirty="0"/>
              <a:t>Gazebo ialah struktur berbumbung terbuka untuk bersantai atau menikmati pemandangan. Contohnya di Taman Tasik Shah Alam.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Wakaf</a:t>
            </a:r>
          </a:p>
          <a:p>
            <a:endParaRPr lang="en-MY" dirty="0"/>
          </a:p>
          <a:p>
            <a:r>
              <a:rPr lang="en-MY" dirty="0"/>
              <a:t>SPOKEN TRANSCRIPT</a:t>
            </a:r>
          </a:p>
          <a:p>
            <a:endParaRPr lang="en-MY" dirty="0"/>
          </a:p>
          <a:p>
            <a:r>
              <a:rPr lang="en-MY" dirty="0"/>
              <a:t>Wakaf ialah struktur tradisional Melayu yang digunakan sebagai tempat berehat. Contohnya wakaf di Taman Desa,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Pergola</a:t>
            </a:r>
          </a:p>
          <a:p>
            <a:endParaRPr lang="en-MY" dirty="0"/>
          </a:p>
          <a:p>
            <a:r>
              <a:rPr lang="en-MY" dirty="0"/>
              <a:t>SPOKEN TRANSCRIPT</a:t>
            </a:r>
          </a:p>
          <a:p>
            <a:endParaRPr lang="en-MY" dirty="0"/>
          </a:p>
          <a:p>
            <a:r>
              <a:rPr lang="en-MY" dirty="0"/>
              <a:t>Pergola ialah rangka struktur terbuka yang biasanya ditumbuhi tanaman pemanjat seperti bougainvillea. Contohnya pergola di Laman Herba Putrajaya.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Canopy</a:t>
            </a:r>
          </a:p>
          <a:p>
            <a:endParaRPr lang="en-MY" dirty="0"/>
          </a:p>
          <a:p>
            <a:r>
              <a:rPr lang="en-MY" dirty="0"/>
              <a:t>SPOKEN TRANSCRIPT</a:t>
            </a:r>
          </a:p>
          <a:p>
            <a:endParaRPr lang="en-MY" dirty="0"/>
          </a:p>
          <a:p>
            <a:r>
              <a:rPr lang="en-MY" dirty="0"/>
              <a:t>Canopy ialah struktur kain atau polikarbonat ringan untuk meneduhi kawasan aktiviti. Contohnya canopy rekreasi di Taman Jaya.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Struktur Teduhan Moden</a:t>
            </a:r>
          </a:p>
          <a:p>
            <a:endParaRPr lang="en-MY" dirty="0"/>
          </a:p>
          <a:p>
            <a:r>
              <a:rPr lang="en-MY" dirty="0"/>
              <a:t>SPOKEN TRANSCRIPT</a:t>
            </a:r>
          </a:p>
          <a:p>
            <a:endParaRPr lang="en-MY" dirty="0"/>
          </a:p>
          <a:p>
            <a:r>
              <a:rPr lang="en-MY" dirty="0"/>
              <a:t>Struktur teduhan moden mempunyai reka bentuk kontemporari. Ia menggunakan bahan seperti keluli dan panel lutsinar atau berlubang untuk mencipta corak cahaya dan bayangan. Ia banyak digunakan di kawasan awam di Putrajaya.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endParaRPr lang="en-MY" dirty="0"/>
          </a:p>
          <a:p>
            <a:r>
              <a:rPr lang="en-MY" dirty="0"/>
              <a:t>SPOKEN TRANSCRIPT</a:t>
            </a:r>
          </a:p>
          <a:p>
            <a:endParaRPr lang="en-MY" dirty="0"/>
          </a:p>
          <a:p>
            <a:r>
              <a:rPr lang="en-MY" dirty="0"/>
              <a:t>Kemudahan awam ialah bangunan atau struktur yang menyediakan perkhidmatan asas untuk keselesaan dan pendidikan pengguna taman. Ia memerlukan reka bentuk yang berfungsi, tahan lasak, dan mudah diselenggara. Aksesibiliti untuk orang kurang upaya adalah pertimbangan penting, dan bahan yang digunakan harus tahan vandalisme dan cuaca. Mari lihat contoh bagi Kemudahan Awam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Tandas Awam</a:t>
            </a:r>
          </a:p>
          <a:p>
            <a:endParaRPr lang="en-MY" dirty="0"/>
          </a:p>
          <a:p>
            <a:r>
              <a:rPr lang="en-MY" dirty="0"/>
              <a:t>SPOKEN TRANSCRIPT</a:t>
            </a:r>
          </a:p>
          <a:p>
            <a:endParaRPr lang="en-MY" dirty="0"/>
          </a:p>
          <a:p>
            <a:r>
              <a:rPr lang="en-MY" dirty="0"/>
              <a:t>Tandas awam ialah kemudahan sanitasi yang bersih dan boleh diakses. Pembinaannya perlu mematuhi piawaian kebersihan dan mempunyai sistem bekalan air serta saliran yang cekap.</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Surau</a:t>
            </a:r>
          </a:p>
          <a:p>
            <a:endParaRPr lang="en-MY" dirty="0"/>
          </a:p>
          <a:p>
            <a:r>
              <a:rPr lang="en-MY" dirty="0"/>
              <a:t>SPOKEN TRANSCRIPT</a:t>
            </a:r>
          </a:p>
          <a:p>
            <a:endParaRPr lang="en-MY" dirty="0"/>
          </a:p>
          <a:p>
            <a:r>
              <a:rPr lang="en-MY" dirty="0"/>
              <a:t>Surau ialah ruang ibadah yang disediakan untuk umat Islam menunaikan solat. Reka bentuknya biasanya ringkas tetapi memenuhi keperluan keagamaan.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Bangunan Interpretatif</a:t>
            </a:r>
          </a:p>
          <a:p>
            <a:endParaRPr lang="en-MY" dirty="0"/>
          </a:p>
          <a:p>
            <a:r>
              <a:rPr lang="en-MY" dirty="0"/>
              <a:t>SPOKEN TRANSCRIPT</a:t>
            </a:r>
          </a:p>
          <a:p>
            <a:endParaRPr lang="en-MY" dirty="0"/>
          </a:p>
          <a:p>
            <a:r>
              <a:rPr lang="en-MY" dirty="0"/>
              <a:t>Bangunan interpretatif ialah struktur yang menyediakan maklumat pendidikan tentang persekitaran — flora, fauna, sejarah dan geologi — melalui pameran, paparan, atau papan tanda.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endParaRPr lang="en-MY" dirty="0"/>
          </a:p>
          <a:p>
            <a:r>
              <a:rPr lang="en-MY" dirty="0"/>
              <a:t>SPOKEN TRANSCRIPT</a:t>
            </a:r>
          </a:p>
          <a:p>
            <a:endParaRPr lang="en-MY" dirty="0"/>
          </a:p>
          <a:p>
            <a:r>
              <a:rPr lang="en-MY" dirty="0"/>
              <a:t>Ciri air ialah elemen landskap yang menggunakan air untuk tujuan estetika, bunyi, atau sebagai titik tumpuan. Pembinaannya memerlukan sistem paip, pam air, penapisan, dan sistem saliran yang betul. Kawalan kualiti air, termasuk pencegahan alga, adalah penting. Aspek keselamatan seperti kedalaman dan permukaan yang tidak licin juga perlu diambil kira. Mari lihat contoh bagi </a:t>
            </a:r>
            <a:r>
              <a:rPr lang="en-MY" i="1" dirty="0"/>
              <a:t>Water Feature</a:t>
            </a:r>
            <a:r>
              <a:rPr lang="en-MY" dirty="0"/>
              <a: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Air Pancut (Fountain)</a:t>
            </a:r>
          </a:p>
          <a:p>
            <a:endParaRPr lang="en-MY" dirty="0"/>
          </a:p>
          <a:p>
            <a:r>
              <a:rPr lang="en-MY" dirty="0"/>
              <a:t>SPOKEN TRANSCRIPT</a:t>
            </a:r>
          </a:p>
          <a:p>
            <a:endParaRPr lang="en-MY" dirty="0"/>
          </a:p>
          <a:p>
            <a:r>
              <a:rPr lang="en-MY" dirty="0"/>
              <a:t>Air pancut ialah struktur yang mengeluarkan air dalam corak tertentu. Ia mewujudkan bunyi yang menenangkan dan pergerakan visual.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Kolam (Pond)</a:t>
            </a:r>
          </a:p>
          <a:p>
            <a:endParaRPr lang="en-MY" dirty="0"/>
          </a:p>
          <a:p>
            <a:r>
              <a:rPr lang="en-MY" dirty="0"/>
              <a:t>SPOKEN TRANSCRIPT</a:t>
            </a:r>
          </a:p>
          <a:p>
            <a:endParaRPr lang="en-MY" dirty="0"/>
          </a:p>
          <a:p>
            <a:r>
              <a:rPr lang="en-MY" dirty="0"/>
              <a:t>Kolam ialah kawasan air statik atau perlahan. Ia boleh menjadi kolam hiasan, kolam ikan, atau kolam refleksi.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Kolam Renang / Kolam Hiasan Besar (Pool)</a:t>
            </a:r>
          </a:p>
          <a:p>
            <a:endParaRPr lang="en-MY" dirty="0"/>
          </a:p>
          <a:p>
            <a:r>
              <a:rPr lang="en-MY" dirty="0"/>
              <a:t>SPOKEN TRANSCRIPT</a:t>
            </a:r>
          </a:p>
          <a:p>
            <a:endParaRPr lang="en-MY" dirty="0"/>
          </a:p>
          <a:p>
            <a:r>
              <a:rPr lang="en-MY" dirty="0"/>
              <a:t>Kolam renang atau kolam hiasan besar ialah kolam berskala lebih besar, sama ada untuk berenang atau sebagai kolam hiasan dengan ciri-ciri reka bentuk yang kompleks.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a:t>
            </a:r>
          </a:p>
          <a:p>
            <a:endParaRPr lang="en-MY" dirty="0"/>
          </a:p>
          <a:p>
            <a:r>
              <a:rPr lang="en-MY" dirty="0"/>
              <a:t>SPOKEN TRANSCRIPT</a:t>
            </a:r>
          </a:p>
          <a:p>
            <a:endParaRPr lang="en-MY" dirty="0"/>
          </a:p>
          <a:p>
            <a:r>
              <a:rPr lang="en-MY" dirty="0"/>
              <a:t>Perabot taman merujuk kepada elemen-elemen boleh alih atau kekal yang ditempatkan di ruang landskap untuk meningkatkan fungsi, keselesaan, dan estetika. Ini melibatkan pemahaman tentang bahan, ketahanan, ergonomik, dan kesesuaian reka bentuk dengan tema keseluruhan landskap. Terdapat lima jenis perabot taman: Kerusi Taman, Papan Tanda, Tong Sampah, </a:t>
            </a:r>
            <a:r>
              <a:rPr lang="en-MY" i="1" dirty="0"/>
              <a:t>Drinking Fountain</a:t>
            </a:r>
            <a:r>
              <a:rPr lang="en-MY" dirty="0"/>
              <a:t>, dan </a:t>
            </a:r>
            <a:r>
              <a:rPr lang="en-MY" i="1" dirty="0"/>
              <a:t>BBQ Pit</a:t>
            </a:r>
            <a:r>
              <a:rPr lang="en-MY" dirty="0"/>
              <a:t>.</a:t>
            </a:r>
          </a:p>
          <a:p>
            <a:r>
              <a:rPr lang="en-MY" dirty="0"/>
              <a:t>Mari lihat setiap contoh perabot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endParaRPr lang="en-MY" dirty="0"/>
          </a:p>
          <a:p>
            <a:r>
              <a:rPr lang="en-MY" dirty="0"/>
              <a:t>SPOKEN TRANSCRIPT</a:t>
            </a:r>
          </a:p>
          <a:p>
            <a:endParaRPr lang="en-MY" dirty="0"/>
          </a:p>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Bahan</a:t>
            </a:r>
          </a:p>
          <a:p>
            <a:endParaRPr lang="en-MY" dirty="0"/>
          </a:p>
          <a:p>
            <a:r>
              <a:rPr lang="en-MY" dirty="0"/>
              <a:t>SPOKEN TRANSCRIPT</a:t>
            </a:r>
          </a:p>
          <a:p>
            <a:endParaRPr lang="en-MY" dirty="0"/>
          </a:p>
          <a:p>
            <a:r>
              <a:rPr lang="en-MY" dirty="0"/>
              <a:t>Bahan. Kayu padu gred perabot luar dengan ketahanan semula jadi tinggi terhadap serangga dan reput, atau kayu dirawat tekanan (pressure-treated).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Dimensi</a:t>
            </a:r>
          </a:p>
          <a:p>
            <a:endParaRPr lang="en-MY" dirty="0"/>
          </a:p>
          <a:p>
            <a:r>
              <a:rPr lang="en-MY" dirty="0"/>
              <a:t>SPOKEN TRANSCRIPT</a:t>
            </a:r>
          </a:p>
          <a:p>
            <a:endParaRPr lang="en-MY" dirty="0"/>
          </a:p>
          <a:p>
            <a:r>
              <a:rPr lang="en-MY" dirty="0"/>
              <a:t>Dimensi. Ketebalan minimum komponen utama 25mm–50mm.</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Penyambungan</a:t>
            </a:r>
          </a:p>
          <a:p>
            <a:endParaRPr lang="en-MY" dirty="0"/>
          </a:p>
          <a:p>
            <a:r>
              <a:rPr lang="en-MY" dirty="0"/>
              <a:t>SPOKEN TRANSCRIPT</a:t>
            </a:r>
          </a:p>
          <a:p>
            <a:endParaRPr lang="en-MY" dirty="0"/>
          </a:p>
          <a:p>
            <a:r>
              <a:rPr lang="en-MY" dirty="0"/>
              <a:t>Penyambungan. Skru tahan karat (stainless steel), bolt, atau tanggam kayu (mortise and tenon joints).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Kemasan</a:t>
            </a:r>
          </a:p>
          <a:p>
            <a:endParaRPr lang="en-MY" dirty="0"/>
          </a:p>
          <a:p>
            <a:r>
              <a:rPr lang="en-MY" dirty="0"/>
              <a:t>SPOKEN TRANSCRIPT</a:t>
            </a:r>
          </a:p>
          <a:p>
            <a:endParaRPr lang="en-MY" dirty="0"/>
          </a:p>
          <a:p>
            <a:r>
              <a:rPr lang="en-MY" dirty="0"/>
              <a:t>Kemasan. Sealant luaran, minyak kayu, atau varnis tahan UV dan kelembapan.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Bahan</a:t>
            </a:r>
          </a:p>
          <a:p>
            <a:endParaRPr lang="en-MY" dirty="0"/>
          </a:p>
          <a:p>
            <a:r>
              <a:rPr lang="en-MY" dirty="0"/>
              <a:t>SPOKEN TRANSCRIPT</a:t>
            </a:r>
          </a:p>
          <a:p>
            <a:endParaRPr lang="en-MY" dirty="0"/>
          </a:p>
          <a:p>
            <a:r>
              <a:rPr lang="en-MY" dirty="0"/>
              <a:t>Bahan. Konkrit bertetulang gentian (FRC) atau konkrit pratuang (precast concrete). Pembesaran (expansion joints) mungkin diperlukan bagi mengelak keretakan akibat perubahan suhu.</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Kemasan</a:t>
            </a:r>
          </a:p>
          <a:p>
            <a:endParaRPr lang="en-MY" dirty="0"/>
          </a:p>
          <a:p>
            <a:r>
              <a:rPr lang="en-MY" dirty="0"/>
              <a:t>SPOKEN TRANSCRIPT</a:t>
            </a:r>
          </a:p>
          <a:p>
            <a:endParaRPr lang="en-MY" dirty="0"/>
          </a:p>
          <a:p>
            <a:r>
              <a:rPr lang="en-MY" dirty="0"/>
              <a:t>Kemasan. Boleh dibiarkan asli, digilap, dicat, atau bertekstur (exposed aggregate). Permukaan mesti licin, tanpa tepi tajam.</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Bahan</a:t>
            </a:r>
          </a:p>
          <a:p>
            <a:endParaRPr lang="en-MY" dirty="0"/>
          </a:p>
          <a:p>
            <a:r>
              <a:rPr lang="en-MY" dirty="0"/>
              <a:t>SPOKEN TRANSCRIPT</a:t>
            </a:r>
          </a:p>
          <a:p>
            <a:endParaRPr lang="en-MY" dirty="0"/>
          </a:p>
          <a:p>
            <a:r>
              <a:rPr lang="en-MY" dirty="0"/>
              <a:t>Bahan. Papan atau profil daripada campuran gentian kayu/selulosa dan plastik kitar semula. Tahan UV, kalis air, tidak reput, kalis serangga.</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Kemasan</a:t>
            </a:r>
          </a:p>
          <a:p>
            <a:endParaRPr lang="en-MY" dirty="0"/>
          </a:p>
          <a:p>
            <a:r>
              <a:rPr lang="en-MY" dirty="0"/>
              <a:t>SPOKEN TRANSCRIPT</a:t>
            </a:r>
          </a:p>
          <a:p>
            <a:endParaRPr lang="en-MY" dirty="0"/>
          </a:p>
          <a:p>
            <a:r>
              <a:rPr lang="en-MY" dirty="0"/>
              <a:t>Kemasan. Warna disepadukan dalam bahan; tidak memerlukan cat atau varnis. Tekstur permukaan mungkin meniru urat kayu.</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endParaRPr lang="en-MY" dirty="0"/>
          </a:p>
          <a:p>
            <a:r>
              <a:rPr lang="en-MY" dirty="0"/>
              <a:t>SPOKEN TRANSCRIPT</a:t>
            </a:r>
          </a:p>
          <a:p>
            <a:endParaRPr lang="en-MY" dirty="0"/>
          </a:p>
          <a:p>
            <a:r>
              <a:rPr lang="en-MY" dirty="0"/>
              <a:t>Klik pada setiap kategori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Panel</a:t>
            </a:r>
          </a:p>
          <a:p>
            <a:endParaRPr lang="en-MY" dirty="0"/>
          </a:p>
          <a:p>
            <a:r>
              <a:rPr lang="en-MY" dirty="0"/>
              <a:t>SPOKEN TRANSCRIPT</a:t>
            </a:r>
          </a:p>
          <a:p>
            <a:endParaRPr lang="en-MY" dirty="0"/>
          </a:p>
          <a:p>
            <a:r>
              <a:rPr lang="en-MY" dirty="0"/>
              <a:t>Bahan Panel. Aluminium Komposit (ACP) 3–4mm; HPL gred luar 6–10mm; Akrilik terstabil UV 5–10mm; Kayu dirawat tekanan/kayu keras min. 20mm.</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Struktur/Tiang</a:t>
            </a:r>
          </a:p>
          <a:p>
            <a:endParaRPr lang="en-MY" dirty="0"/>
          </a:p>
          <a:p>
            <a:r>
              <a:rPr lang="en-MY" dirty="0"/>
              <a:t>SPOKEN TRANSCRIPT</a:t>
            </a:r>
          </a:p>
          <a:p>
            <a:endParaRPr lang="en-MY" dirty="0"/>
          </a:p>
          <a:p>
            <a:r>
              <a:rPr lang="en-MY" dirty="0"/>
              <a:t>Bahan Struktur/Tiang. Keluli bersalut serbuk atau tahan karat, profil 50mm × 50mm ke atas; kayu keras min. 75mm × 75mm.</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Grafik</a:t>
            </a:r>
          </a:p>
          <a:p>
            <a:endParaRPr lang="en-MY" dirty="0"/>
          </a:p>
          <a:p>
            <a:r>
              <a:rPr lang="en-MY" dirty="0"/>
              <a:t>SPOKEN TRANSCRIPT</a:t>
            </a:r>
          </a:p>
          <a:p>
            <a:endParaRPr lang="en-MY" dirty="0"/>
          </a:p>
          <a:p>
            <a:r>
              <a:rPr lang="en-MY" dirty="0"/>
              <a:t>Grafik. Cetakan UV langsung, cetakan digital pada vinil gred luar, atau ukiran laser. Mesti tahan pudar.</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Rekaan</a:t>
            </a:r>
          </a:p>
          <a:p>
            <a:endParaRPr lang="en-MY" dirty="0"/>
          </a:p>
          <a:p>
            <a:r>
              <a:rPr lang="en-MY" dirty="0"/>
              <a:t>SPOKEN TRANSCRIPT</a:t>
            </a:r>
          </a:p>
          <a:p>
            <a:endParaRPr lang="en-MY" dirty="0"/>
          </a:p>
          <a:p>
            <a:r>
              <a:rPr lang="en-MY" dirty="0"/>
              <a:t>Rekaan. Font jelas, saiz teks sesuai jarak pandang, kontras warna tinggi.</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endParaRPr lang="en-MY" dirty="0"/>
          </a:p>
          <a:p>
            <a:r>
              <a:rPr lang="en-MY" dirty="0"/>
              <a:t>SPOKEN TRANSCRIPT</a:t>
            </a:r>
          </a:p>
          <a:p>
            <a:endParaRPr lang="en-MY" dirty="0"/>
          </a:p>
          <a:p>
            <a:r>
              <a:rPr lang="en-MY" dirty="0"/>
              <a:t>Tong sampah ialah kemudahan asas untuk pengurusan sisa dan menjaga kebersihan ruang landskap. Tong sampah harus mencukupi dari segi bilangan dan diletakkan di lokasi yang mudah diakses. Reka bentuknya perlu tahan lama, mudah dikosongkan, dan dapat menghalang haiwan daripada mengusik sampah. Sesetengah tong sampah direka untuk pengasingan sisa kitar semula.</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Bahan</a:t>
            </a:r>
          </a:p>
          <a:p>
            <a:endParaRPr lang="en-MY" dirty="0"/>
          </a:p>
          <a:p>
            <a:r>
              <a:rPr lang="en-MY" dirty="0"/>
              <a:t>SPOKEN TRANSCRIPT</a:t>
            </a:r>
          </a:p>
          <a:p>
            <a:endParaRPr lang="en-MY" dirty="0"/>
          </a:p>
          <a:p>
            <a:r>
              <a:rPr lang="en-MY" dirty="0"/>
              <a:t>Bahan. Keluli lembut digalvani dan disalut serbuk, atau keluli tahan karat. Ketebalan dinding badan min. 1.2mm.</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Ciri-ciri</a:t>
            </a:r>
          </a:p>
          <a:p>
            <a:endParaRPr lang="en-MY" dirty="0"/>
          </a:p>
          <a:p>
            <a:r>
              <a:rPr lang="en-MY" dirty="0"/>
              <a:t>SPOKEN TRANSCRIPT</a:t>
            </a:r>
          </a:p>
          <a:p>
            <a:endParaRPr lang="en-MY" dirty="0"/>
          </a:p>
          <a:p>
            <a:r>
              <a:rPr lang="en-MY" dirty="0"/>
              <a:t>Ciri-ciri. Penutup tahan cuaca dan tahan haiwan; pembukaan pembuangan ergonomik; tong dalam (liner) mudah dikeluarkan.</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Bahan</a:t>
            </a:r>
          </a:p>
          <a:p>
            <a:endParaRPr lang="en-MY" dirty="0"/>
          </a:p>
          <a:p>
            <a:r>
              <a:rPr lang="en-MY" dirty="0"/>
              <a:t>SPOKEN TRANSCRIPT</a:t>
            </a:r>
          </a:p>
          <a:p>
            <a:endParaRPr lang="en-MY" dirty="0"/>
          </a:p>
          <a:p>
            <a:r>
              <a:rPr lang="en-MY" dirty="0"/>
              <a:t>Bahan. Konkrit bertetulang atau batu asli/tiruan. Berat mencukupi bagi mengelak kecurian atau pergerakan tidak disengajakan.</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Ciri-ciri</a:t>
            </a:r>
          </a:p>
          <a:p>
            <a:endParaRPr lang="en-MY" dirty="0"/>
          </a:p>
          <a:p>
            <a:r>
              <a:rPr lang="en-MY" dirty="0"/>
              <a:t>SPOKEN TRANSCRIPT</a:t>
            </a:r>
          </a:p>
          <a:p>
            <a:endParaRPr lang="en-MY" dirty="0"/>
          </a:p>
          <a:p>
            <a:r>
              <a:rPr lang="en-MY" dirty="0"/>
              <a:t>Ciri-ciri. Pembukaan sesuai untuk sampah, dengan atau tanpa tong dalam logam.</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Bahan</a:t>
            </a:r>
          </a:p>
          <a:p>
            <a:endParaRPr lang="en-MY" dirty="0"/>
          </a:p>
          <a:p>
            <a:r>
              <a:rPr lang="en-MY" dirty="0"/>
              <a:t>SPOKEN TRANSCRIPT</a:t>
            </a:r>
          </a:p>
          <a:p>
            <a:endParaRPr lang="en-MY" dirty="0"/>
          </a:p>
          <a:p>
            <a:r>
              <a:rPr lang="en-MY" dirty="0"/>
              <a:t>Bahan. Plastik berketumpatan tinggi (HDPE) yang tahan UV, tidak reput dan mudah dibersihkan.</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Ciri-ciri</a:t>
            </a:r>
          </a:p>
          <a:p>
            <a:endParaRPr lang="en-MY" dirty="0"/>
          </a:p>
          <a:p>
            <a:r>
              <a:rPr lang="en-MY" dirty="0"/>
              <a:t>SPOKEN TRANSCRIPT</a:t>
            </a:r>
          </a:p>
          <a:p>
            <a:endParaRPr lang="en-MY" dirty="0"/>
          </a:p>
          <a:p>
            <a:r>
              <a:rPr lang="en-MY" dirty="0"/>
              <a:t>Ciri-ciri. Ringan, mudah dialihkan jika tidak dipasang tetap; pelbagai warna untuk pengasingan sisa.</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endParaRPr lang="en-MY" dirty="0"/>
          </a:p>
          <a:p>
            <a:r>
              <a:rPr lang="en-MY" dirty="0"/>
              <a:t>SPOKEN TRANSCRIPT</a:t>
            </a:r>
          </a:p>
          <a:p>
            <a:endParaRPr lang="en-MY" dirty="0"/>
          </a:p>
          <a:p>
            <a:r>
              <a:rPr lang="en-MY" dirty="0"/>
              <a:t>Pancutan air minum menyediakan akses mudah kepada air bersih untuk pengguna taman. Ia harus dibina dengan bahan yang bersih dan tahan lasak, serta memerlukan sambungan paip air yang bersih dan sistem saliran yang berkesan untuk air buangan. Ketinggian yang berbeza mungkin diperlukan untuk kanak-kanak dan orang dewasa, serta akses untuk kerusi roda.</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Bahan</a:t>
            </a:r>
          </a:p>
          <a:p>
            <a:endParaRPr lang="en-MY" dirty="0"/>
          </a:p>
          <a:p>
            <a:r>
              <a:rPr lang="en-MY" dirty="0"/>
              <a:t>SPOKEN TRANSCRIPT</a:t>
            </a:r>
          </a:p>
          <a:p>
            <a:endParaRPr lang="en-MY" dirty="0"/>
          </a:p>
          <a:p>
            <a:r>
              <a:rPr lang="en-MY" dirty="0"/>
              <a:t>Bahan. Keluli tahan karat Gred 304 atau 316 (316 lebih tahan kakisan untuk persekitaran pantai). Tebal min. 1.5mm.</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Injap</a:t>
            </a:r>
          </a:p>
          <a:p>
            <a:endParaRPr lang="en-MY" dirty="0"/>
          </a:p>
          <a:p>
            <a:r>
              <a:rPr lang="en-MY" dirty="0"/>
              <a:t>SPOKEN TRANSCRIPT</a:t>
            </a:r>
          </a:p>
          <a:p>
            <a:endParaRPr lang="en-MY" dirty="0"/>
          </a:p>
          <a:p>
            <a:r>
              <a:rPr lang="en-MY" dirty="0"/>
              <a:t>Injap. Injap tekan tahan lasak dan tahan vandalisme; mekanisme membersihkan diri satu kelebihan.</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Kepala pancutan</a:t>
            </a:r>
          </a:p>
          <a:p>
            <a:endParaRPr lang="en-MY" dirty="0"/>
          </a:p>
          <a:p>
            <a:r>
              <a:rPr lang="en-MY" dirty="0"/>
              <a:t>SPOKEN TRANSCRIPT</a:t>
            </a:r>
          </a:p>
          <a:p>
            <a:endParaRPr lang="en-MY" dirty="0"/>
          </a:p>
          <a:p>
            <a:r>
              <a:rPr lang="en-MY" dirty="0"/>
              <a:t>Kepala pancutan. Aliran stabil dan bersih, dilindungi daripada sentuhan mulut pengguna.</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Penapisan (pilihan)</a:t>
            </a:r>
          </a:p>
          <a:p>
            <a:endParaRPr lang="en-MY" dirty="0"/>
          </a:p>
          <a:p>
            <a:r>
              <a:rPr lang="en-MY" dirty="0"/>
              <a:t>SPOKEN TRANSCRIPT</a:t>
            </a:r>
          </a:p>
          <a:p>
            <a:endParaRPr lang="en-MY" dirty="0"/>
          </a:p>
          <a:p>
            <a:r>
              <a:rPr lang="en-MY" dirty="0"/>
              <a:t>Penapisan (pilihan). Penapis karbon atau sedimen.</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Perpaipan</a:t>
            </a:r>
          </a:p>
          <a:p>
            <a:endParaRPr lang="en-MY" dirty="0"/>
          </a:p>
          <a:p>
            <a:r>
              <a:rPr lang="en-MY" dirty="0"/>
              <a:t>SPOKEN TRANSCRIPT</a:t>
            </a:r>
          </a:p>
          <a:p>
            <a:endParaRPr lang="en-MY" dirty="0"/>
          </a:p>
          <a:p>
            <a:r>
              <a:rPr lang="en-MY" dirty="0"/>
              <a:t>Perpaipan. Air bersih (PVC atau HDPE) dan saliran air buangan yang cekap; injap tutup untuk penyelenggaraan.</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Aksesibiliti</a:t>
            </a:r>
          </a:p>
          <a:p>
            <a:endParaRPr lang="en-MY" dirty="0"/>
          </a:p>
          <a:p>
            <a:r>
              <a:rPr lang="en-MY" dirty="0"/>
              <a:t>SPOKEN TRANSCRIPT</a:t>
            </a:r>
          </a:p>
          <a:p>
            <a:endParaRPr lang="en-MY" dirty="0"/>
          </a:p>
          <a:p>
            <a:r>
              <a:rPr lang="en-MY" dirty="0"/>
              <a:t>Aksesibiliti. Mengikut piawaian reka bentuk universal.</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r>
              <a:rPr lang="en-MY" dirty="0"/>
              <a:t>Spesifikasi: Bahan</a:t>
            </a:r>
          </a:p>
          <a:p>
            <a:endParaRPr lang="en-MY" dirty="0"/>
          </a:p>
          <a:p>
            <a:r>
              <a:rPr lang="en-MY" dirty="0"/>
              <a:t>SPOKEN TRANSCRIPT</a:t>
            </a:r>
          </a:p>
          <a:p>
            <a:endParaRPr lang="en-MY" dirty="0"/>
          </a:p>
          <a:p>
            <a:r>
              <a:rPr lang="en-MY" dirty="0"/>
              <a:t>Bahan. Struktur asas konkrit bertetulang atau batu asli/tiruan. Bahagian pancutan (faucet/basin) biasanya kekal keluli tahan karat untuk kebersihan.</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r>
              <a:rPr lang="en-MY" dirty="0"/>
              <a:t>Spesifikasi: Piawaian kesihatan</a:t>
            </a:r>
          </a:p>
          <a:p>
            <a:endParaRPr lang="en-MY" dirty="0"/>
          </a:p>
          <a:p>
            <a:r>
              <a:rPr lang="en-MY" dirty="0"/>
              <a:t>SPOKEN TRANSCRIPT</a:t>
            </a:r>
          </a:p>
          <a:p>
            <a:endParaRPr lang="en-MY" dirty="0"/>
          </a:p>
          <a:p>
            <a:r>
              <a:rPr lang="en-MY" dirty="0"/>
              <a:t>Piawaian kesihatan. Mesti mematuhi piawaian kualiti air minuman Kementerian Kesihatan Malaysia atau badan berkaitan.</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endParaRPr lang="en-MY" dirty="0"/>
          </a:p>
          <a:p>
            <a:r>
              <a:rPr lang="en-MY" dirty="0"/>
              <a:t>SPOKEN TRANSCRIPT</a:t>
            </a:r>
          </a:p>
          <a:p>
            <a:endParaRPr lang="en-MY" dirty="0"/>
          </a:p>
          <a:p>
            <a:r>
              <a:rPr lang="en-MY" dirty="0"/>
              <a:t>Klik pada setiap kategori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Bahan Pembinaan</a:t>
            </a:r>
          </a:p>
          <a:p>
            <a:endParaRPr lang="en-MY" dirty="0"/>
          </a:p>
          <a:p>
            <a:r>
              <a:rPr lang="en-MY" dirty="0"/>
              <a:t>SPOKEN TRANSCRIPT</a:t>
            </a:r>
          </a:p>
          <a:p>
            <a:endParaRPr lang="en-MY" dirty="0"/>
          </a:p>
          <a:p>
            <a:r>
              <a:rPr lang="en-MY" dirty="0"/>
              <a:t>Bahan Pembinaan. Dinding dalam ruang pembakaran daripada bata tahan api (firebrick) atau blok konkrit tahan suhu tinggi, dengan mortar tahan api; dinding luar bata biasa, blok konkrit atau batu; pelat kerja konkrit, jubin seramik tahan haba atau batu granit.</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Dimensi</a:t>
            </a:r>
          </a:p>
          <a:p>
            <a:endParaRPr lang="en-MY" dirty="0"/>
          </a:p>
          <a:p>
            <a:r>
              <a:rPr lang="en-MY" dirty="0"/>
              <a:t>SPOKEN TRANSCRIPT</a:t>
            </a:r>
          </a:p>
          <a:p>
            <a:endParaRPr lang="en-MY" dirty="0"/>
          </a:p>
          <a:p>
            <a:r>
              <a:rPr lang="en-MY" dirty="0"/>
              <a:t>Dimensi. Ketinggian memanggang lazimnya 750–900mm dari aras tanah; saiz lubang api mengikut saiz gril.</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Gril</a:t>
            </a:r>
          </a:p>
          <a:p>
            <a:endParaRPr lang="en-MY" dirty="0"/>
          </a:p>
          <a:p>
            <a:r>
              <a:rPr lang="en-MY" dirty="0"/>
              <a:t>SPOKEN TRANSCRIPT</a:t>
            </a:r>
          </a:p>
          <a:p>
            <a:endParaRPr lang="en-MY" dirty="0"/>
          </a:p>
          <a:p>
            <a:r>
              <a:rPr lang="en-MY" dirty="0"/>
              <a:t>Gril. Keluli tahan karat gred makanan atau besi tuang; tebal palang min. 6mm.</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Keselamatan</a:t>
            </a:r>
          </a:p>
          <a:p>
            <a:endParaRPr lang="en-MY" dirty="0"/>
          </a:p>
          <a:p>
            <a:r>
              <a:rPr lang="en-MY" dirty="0"/>
              <a:t>SPOKEN TRANSCRIPT</a:t>
            </a:r>
          </a:p>
          <a:p>
            <a:endParaRPr lang="en-MY" dirty="0"/>
          </a:p>
          <a:p>
            <a:r>
              <a:rPr lang="en-MY" dirty="0"/>
              <a:t>Keselamatan. Pengudaraan di bawah ruang pembakaran; saliran air hujan; cerobong asap (pilihan); ruang persediaan bersebelahan; jarak selamat dari bahan mudah terbakar.</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Rumusan</a:t>
            </a:r>
          </a:p>
          <a:p>
            <a:endParaRPr lang="en-MY" dirty="0"/>
          </a:p>
          <a:p>
            <a:r>
              <a:rPr lang="en-MY" dirty="0"/>
              <a:t>SPOKEN TRANSCRIPT</a:t>
            </a:r>
          </a:p>
          <a:p>
            <a:endParaRPr lang="en-MY" dirty="0"/>
          </a:p>
          <a:p>
            <a:r>
              <a:rPr lang="en-MY" dirty="0"/>
              <a:t>Mengenal pasti struktur dan elemen landskap membolehkan kerja pembinaan, penyeliaan dan penyelenggaraan dirancang dengan tepat. Struktur taman merangkumi Struktur Persisir Air, Struktur Teduhan, Kemudahan Awam dan </a:t>
            </a:r>
            <a:r>
              <a:rPr lang="en-MY" i="1" dirty="0"/>
              <a:t>Water Feature</a:t>
            </a:r>
            <a:r>
              <a:rPr lang="en-MY" dirty="0"/>
              <a:t>, manakala perabot taman merangkumi Kerusi Taman, Papan Tanda, Tong Sampah, </a:t>
            </a:r>
            <a:r>
              <a:rPr lang="en-MY" i="1" dirty="0"/>
              <a:t>Drinking Fountain</a:t>
            </a:r>
            <a:r>
              <a:rPr lang="en-MY" dirty="0"/>
              <a:t> dan </a:t>
            </a:r>
            <a:r>
              <a:rPr lang="en-MY" i="1" dirty="0"/>
              <a:t>BBQ Pit</a:t>
            </a:r>
            <a:r>
              <a:rPr lang="en-MY" dirty="0"/>
              <a: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endParaRPr lang="en-MY" dirty="0"/>
          </a:p>
          <a:p>
            <a:r>
              <a:rPr lang="en-MY" dirty="0"/>
              <a:t>SPOKEN TRANSCRIPT</a:t>
            </a:r>
          </a:p>
          <a:p>
            <a:endParaRPr lang="en-MY" dirty="0"/>
          </a:p>
          <a:p>
            <a:r>
              <a:rPr lang="en-MY" dirty="0"/>
              <a:t>Jawab semua soalan dengan pilihan jawapan yang betul.</a:t>
            </a:r>
          </a:p>
          <a:p>
            <a:r>
              <a:rPr lang="en-MY" dirty="0"/>
              <a:t>Klik Mula Kuiz untuk memulakan kuiz.</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1</a:t>
            </a:r>
          </a:p>
          <a:p>
            <a:endParaRPr lang="en-MY" dirty="0"/>
          </a:p>
          <a:p>
            <a:r>
              <a:rPr lang="en-MY" dirty="0"/>
              <a:t>SPOKEN TRANSCRIPT</a:t>
            </a:r>
          </a:p>
          <a:p>
            <a:endParaRPr lang="en-MY" dirty="0"/>
          </a:p>
          <a:p>
            <a:r>
              <a:rPr lang="en-MY" dirty="0"/>
              <a:t>Struktur persisir air dibina di tepi badan air seperti tasik, sungai atau pantai. Apakah keperluan pembinaan yang paling kritikal bagi struktur ini?</a:t>
            </a:r>
          </a:p>
          <a:p>
            <a:r>
              <a:rPr lang="en-MY" dirty="0"/>
              <a:t>A. Warna permukaan yang menarik</a:t>
            </a:r>
          </a:p>
          <a:p>
            <a:r>
              <a:rPr lang="en-MY" dirty="0"/>
              <a:t>B. Asas yang stabil dan rata dengan saliran permukaan yang berkesan</a:t>
            </a:r>
          </a:p>
          <a:p>
            <a:r>
              <a:rPr lang="en-MY" dirty="0"/>
              <a:t>C. Ketinggian struktur melebihi dua meter</a:t>
            </a:r>
          </a:p>
          <a:p>
            <a:r>
              <a:rPr lang="en-MY" dirty="0"/>
              <a:t>D. Penggunaan bahan import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2</a:t>
            </a:r>
          </a:p>
          <a:p>
            <a:endParaRPr lang="en-MY" dirty="0"/>
          </a:p>
          <a:p>
            <a:r>
              <a:rPr lang="en-MY" dirty="0"/>
              <a:t>SPOKEN TRANSCRIPT</a:t>
            </a:r>
          </a:p>
          <a:p>
            <a:endParaRPr lang="en-MY" dirty="0"/>
          </a:p>
          <a:p>
            <a:r>
              <a:rPr lang="en-MY" dirty="0"/>
              <a:t>Manakah antara berikut merupakan struktur teduhan tradisional Melayu yang digunakan sebagai tempat berehat?</a:t>
            </a:r>
          </a:p>
          <a:p>
            <a:r>
              <a:rPr lang="en-MY" dirty="0"/>
              <a:t>A. Pergola</a:t>
            </a:r>
          </a:p>
          <a:p>
            <a:r>
              <a:rPr lang="en-MY" dirty="0"/>
              <a:t>B. Canopy</a:t>
            </a:r>
          </a:p>
          <a:p>
            <a:r>
              <a:rPr lang="en-MY" dirty="0"/>
              <a:t>C. Wakaf</a:t>
            </a:r>
          </a:p>
          <a:p>
            <a:r>
              <a:rPr lang="en-MY" dirty="0"/>
              <a:t>D. Gazebo</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3</a:t>
            </a:r>
          </a:p>
          <a:p>
            <a:endParaRPr lang="en-MY" dirty="0"/>
          </a:p>
          <a:p>
            <a:r>
              <a:rPr lang="en-MY" dirty="0"/>
              <a:t>SPOKEN TRANSCRIPT</a:t>
            </a:r>
          </a:p>
          <a:p>
            <a:endParaRPr lang="en-MY" dirty="0"/>
          </a:p>
          <a:p>
            <a:r>
              <a:rPr lang="en-MY" dirty="0"/>
              <a:t>Apakah pertimbangan utama dalam pemilihan bahan bagi kemudahan awam seperti tandas dan surau di taman?</a:t>
            </a:r>
          </a:p>
          <a:p>
            <a:r>
              <a:rPr lang="en-MY" dirty="0"/>
              <a:t>A. Bahan yang tahan vandalisme dan cuaca</a:t>
            </a:r>
          </a:p>
          <a:p>
            <a:r>
              <a:rPr lang="en-MY" dirty="0"/>
              <a:t>B. Bahan yang paling murah di pasaran</a:t>
            </a:r>
          </a:p>
          <a:p>
            <a:r>
              <a:rPr lang="en-MY" dirty="0"/>
              <a:t>C. Bahan yang perlu dicat semula setiap bulan</a:t>
            </a:r>
          </a:p>
          <a:p>
            <a:r>
              <a:rPr lang="en-MY" dirty="0"/>
              <a:t>D. Bahan yang seragam dengan perabot taman</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4</a:t>
            </a:r>
          </a:p>
          <a:p>
            <a:endParaRPr lang="en-MY" dirty="0"/>
          </a:p>
          <a:p>
            <a:r>
              <a:rPr lang="en-MY" dirty="0"/>
              <a:t>SPOKEN TRANSCRIPT</a:t>
            </a:r>
          </a:p>
          <a:p>
            <a:endParaRPr lang="en-MY" dirty="0"/>
          </a:p>
          <a:p>
            <a:r>
              <a:rPr lang="en-MY" dirty="0"/>
              <a:t>Dalam pembinaan water feature, apakah aspek kawalan kualiti air yang dinyatakan dalam modul?</a:t>
            </a:r>
          </a:p>
          <a:p>
            <a:r>
              <a:rPr lang="en-MY" dirty="0"/>
              <a:t>A. Penambahan garam</a:t>
            </a:r>
          </a:p>
          <a:p>
            <a:r>
              <a:rPr lang="en-MY" dirty="0"/>
              <a:t>B. Pencegahan alga</a:t>
            </a:r>
          </a:p>
          <a:p>
            <a:r>
              <a:rPr lang="en-MY" dirty="0"/>
              <a:t>C. Pemanasan air</a:t>
            </a:r>
          </a:p>
          <a:p>
            <a:r>
              <a:rPr lang="en-MY" dirty="0"/>
              <a:t>D. Pewarnaan air</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5</a:t>
            </a:r>
          </a:p>
          <a:p>
            <a:endParaRPr lang="en-MY" dirty="0"/>
          </a:p>
          <a:p>
            <a:r>
              <a:rPr lang="en-MY" dirty="0"/>
              <a:t>SPOKEN TRANSCRIPT</a:t>
            </a:r>
          </a:p>
          <a:p>
            <a:endParaRPr lang="en-MY" dirty="0"/>
          </a:p>
          <a:p>
            <a:r>
              <a:rPr lang="en-MY" dirty="0"/>
              <a:t>Pilih SEMUA perabot yang tergolong dalam Perabot Taman.</a:t>
            </a:r>
          </a:p>
          <a:p>
            <a:r>
              <a:rPr lang="en-MY" dirty="0"/>
              <a:t>Kerusi Taman</a:t>
            </a:r>
          </a:p>
          <a:p>
            <a:r>
              <a:rPr lang="en-MY" dirty="0"/>
              <a:t>Papan Tanda</a:t>
            </a:r>
          </a:p>
          <a:p>
            <a:r>
              <a:rPr lang="en-MY" i="1" dirty="0"/>
              <a:t>Boardwalk</a:t>
            </a:r>
          </a:p>
          <a:p>
            <a:r>
              <a:rPr lang="en-MY" dirty="0"/>
              <a:t>Tong Sampah</a:t>
            </a:r>
          </a:p>
          <a:p>
            <a:r>
              <a:rPr lang="en-MY" i="1" dirty="0"/>
              <a:t>Drinking Fountain</a:t>
            </a:r>
          </a:p>
          <a:p>
            <a:r>
              <a:rPr lang="en-MY" i="1" dirty="0"/>
              <a:t>BBQ Pit</a:t>
            </a:r>
          </a:p>
          <a:p>
            <a:r>
              <a:rPr lang="en-MY" dirty="0"/>
              <a:t>Gazebo</a:t>
            </a:r>
          </a:p>
          <a:p>
            <a:r>
              <a:rPr lang="en-MY" dirty="0"/>
              <a:t>Pilih semua jawapan yang tepat.</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Keputusan</a:t>
            </a:r>
          </a:p>
          <a:p>
            <a:endParaRPr lang="en-MY" dirty="0"/>
          </a:p>
          <a:p>
            <a:r>
              <a:rPr lang="en-MY" dirty="0"/>
              <a:t>SPOKEN TRANSCRIPT</a:t>
            </a:r>
          </a:p>
          <a:p>
            <a:endParaRPr lang="en-MY" dirty="0"/>
          </a:p>
          <a:p>
            <a:r>
              <a:rPr lang="en-MY" dirty="0"/>
              <a:t>Anda telah melengkapkan kuiz semakan pengetahuan. Anda boleh menyemak jawapan atau mengulang kuiz ini.</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Semak Jawapan</a:t>
            </a:r>
          </a:p>
          <a:p>
            <a:endParaRPr lang="en-MY" dirty="0"/>
          </a:p>
          <a:p>
            <a:r>
              <a:rPr lang="en-MY" dirty="0"/>
              <a:t>SPOKEN TRANSCRIPT</a:t>
            </a:r>
          </a:p>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Tamat</a:t>
            </a:r>
          </a:p>
          <a:p>
            <a:endParaRPr lang="en-MY" dirty="0"/>
          </a:p>
          <a:p>
            <a:r>
              <a:rPr lang="en-MY" dirty="0"/>
              <a:t>SPOKEN TRANSCRIPT</a:t>
            </a:r>
          </a:p>
          <a:p>
            <a:endParaRPr lang="en-MY" dirty="0"/>
          </a:p>
          <a:p>
            <a:r>
              <a:rPr lang="en-MY" dirty="0"/>
              <a:t>Tamat Topik 3 Bahagian 2: Komponen Landskap.</a:t>
            </a:r>
          </a:p>
          <a:p>
            <a:r>
              <a:rPr lang="en-MY" dirty="0"/>
              <a:t>Teruskan pembelajaran ke bahagian seterusnya.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Topik 3 Bahagian 2: Komponen Landskap</a:t>
            </a:r>
          </a:p>
        </p:txBody>
      </p:sp>
      <p:sp>
        <p:nvSpPr>
          <p:cNvPr id="6" name="TextBox 5"/>
          <p:cNvSpPr txBox="1"/>
          <p:nvPr/>
        </p:nvSpPr>
        <p:spPr>
          <a:xfrm>
            <a:off x="617952" y="384048"/>
            <a:ext cx="11338560" cy="592440"/>
          </a:xfrm>
          <a:prstGeom prst="rect">
            <a:avLst/>
          </a:prstGeom>
          <a:noFill/>
        </p:spPr>
        <p:txBody>
          <a:bodyPr wrap="square" rtlCol="0">
            <a:noAutofit/>
          </a:bodyPr>
          <a:lstStyle/>
          <a:p>
            <a:pPr>
              <a:lnSpc>
                <a:spcPts val="3600"/>
              </a:lnSpc>
            </a:pPr>
            <a:r>
              <a:rPr lang="en-MY" sz="3600" b="1" dirty="0"/>
              <a:t>Topik 3 Bahagian 2: Komponen Landskap</a:t>
            </a:r>
          </a:p>
        </p:txBody>
      </p:sp>
      <p:sp>
        <p:nvSpPr>
          <p:cNvPr id="20" name="Course"/>
          <p:cNvSpPr txBox="1"/>
          <p:nvPr/>
        </p:nvSpPr>
        <p:spPr>
          <a:xfrm>
            <a:off x="723930" y="1316736"/>
            <a:ext cx="10744200" cy="402336"/>
          </a:xfrm>
          <a:prstGeom prst="rect">
            <a:avLst/>
          </a:prstGeom>
          <a:noFill/>
        </p:spPr>
        <p:txBody>
          <a:bodyPr wrap="square">
            <a:noAutofit/>
          </a:bodyPr>
          <a:lstStyle/>
          <a:p>
            <a:pPr/>
            <a:r>
              <a:rPr lang="en-MY" sz="1600" b="1" dirty="0">
                <a:solidFill>
                  <a:srgbClr val="7F6000"/>
                </a:solidFill>
              </a:rPr>
              <a:t>KURSUS KERJA BANGUNAN – PEMBINAAN LANDSKAP LUAR</a:t>
            </a:r>
          </a:p>
        </p:txBody>
      </p:sp>
      <p:sp>
        <p:nvSpPr>
          <p:cNvPr id="21" name="PL"/>
          <p:cNvSpPr txBox="1"/>
          <p:nvPr/>
        </p:nvSpPr>
        <p:spPr>
          <a:xfrm>
            <a:off x="723930" y="1828800"/>
            <a:ext cx="10744200" cy="420624"/>
          </a:xfrm>
          <a:prstGeom prst="rect">
            <a:avLst/>
          </a:prstGeom>
          <a:noFill/>
        </p:spPr>
        <p:txBody>
          <a:bodyPr wrap="square">
            <a:noAutofit/>
          </a:bodyPr>
          <a:lstStyle/>
          <a:p>
            <a:pPr/>
            <a:r>
              <a:rPr lang="en-MY" sz="1900" b="1" dirty="0">
                <a:solidFill>
                  <a:schemeClr val="tx1">
                    <a:lumMod val="85000"/>
                    <a:lumOff val="15000"/>
                  </a:schemeClr>
                </a:solidFill>
              </a:rPr>
              <a:t>PL06: Pengurusan Operasi Pembinaan Landskap</a:t>
            </a:r>
          </a:p>
        </p:txBody>
      </p:sp>
      <p:sp>
        <p:nvSpPr>
          <p:cNvPr id="22" name="Topic"/>
          <p:cNvSpPr txBox="1"/>
          <p:nvPr/>
        </p:nvSpPr>
        <p:spPr>
          <a:xfrm>
            <a:off x="723930" y="2340864"/>
            <a:ext cx="10744200" cy="420624"/>
          </a:xfrm>
          <a:prstGeom prst="rect">
            <a:avLst/>
          </a:prstGeom>
          <a:noFill/>
        </p:spPr>
        <p:txBody>
          <a:bodyPr wrap="square">
            <a:noAutofit/>
          </a:bodyPr>
          <a:lstStyle/>
          <a:p>
            <a:pPr/>
            <a:r>
              <a:rPr lang="en-MY" sz="1900" b="1" dirty="0">
                <a:solidFill>
                  <a:schemeClr val="tx1">
                    <a:lumMod val="85000"/>
                    <a:lumOff val="15000"/>
                  </a:schemeClr>
                </a:solidFill>
              </a:rPr>
              <a:t>Topik 3 Bahagian 2: Komponen Landskap</a:t>
            </a:r>
          </a:p>
        </p:txBody>
      </p:sp>
      <p:sp>
        <p:nvSpPr>
          <p:cNvPr id="30" name="VisualDir"/>
          <p:cNvSpPr txBox="1"/>
          <p:nvPr/>
        </p:nvSpPr>
        <p:spPr>
          <a:xfrm>
            <a:off x="723930" y="3017520"/>
            <a:ext cx="10744200" cy="877824"/>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Imej pembuka bahagian — foto tapak landskap siap yang memaparkan struktur taman dan</a:t>
            </a:r>
          </a:p>
          <a:p>
            <a:pPr/>
            <a:r>
              <a:rPr lang="en-MY" sz="1100" dirty="0">
                <a:solidFill>
                  <a:srgbClr val="808080"/>
                </a:solidFill>
              </a:rPr>
              <a:t>perabot taman dalam satu bingkai. Tidak dibenamkan.]</a:t>
            </a:r>
          </a:p>
        </p:txBody>
      </p:sp>
      <p:sp>
        <p:nvSpPr>
          <p:cNvPr id="96"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Topik 3 Bahagian 2 — mula bahagian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TOPIC_SECTION_ENTRY_BASE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SPOKEN_ENTRY_TITLES_PLUS_START_INSTRUCTION  (SPOKEN_ENTRY_TITLES_PLUS_START_INSTRUCTION)</a:t>
            </a:r>
          </a:p>
          <a:p>
            <a:r>
              <a:rPr lang="en-MY" sz="900" dirty="0">
                <a:solidFill>
                  <a:schemeClr val="tx1">
                    <a:lumMod val="85000"/>
                    <a:lumOff val="15000"/>
                  </a:schemeClr>
                </a:solidFill>
              </a:rPr>
              <a:t>  konteks dituturkan: YA</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SCR_S01</a:t>
            </a:r>
          </a:p>
          <a:p>
            <a:r>
              <a:rPr lang="en-MY" sz="900" b="1" dirty="0">
                <a:solidFill>
                  <a:schemeClr val="tx1">
                    <a:lumMod val="85000"/>
                    <a:lumOff val="15000"/>
                  </a:schemeClr>
                </a:solidFill>
              </a:rPr>
              <a:t>KONTEKS HULU:</a:t>
            </a:r>
          </a:p>
          <a:p>
            <a:r>
              <a:rPr lang="en-MY" sz="900" dirty="0">
                <a:solidFill>
                  <a:schemeClr val="tx1">
                    <a:lumMod val="85000"/>
                    <a:lumOff val="15000"/>
                  </a:schemeClr>
                </a:solidFill>
              </a:rPr>
              <a:t>  COURSE_MONTAGE_COMPLETED, PL06_MONTAGE_COMPLETED</a:t>
            </a:r>
          </a:p>
          <a:p>
            <a:r>
              <a:rPr lang="en-MY" sz="900" dirty="0">
                <a:solidFill>
                  <a:schemeClr val="tx1">
                    <a:lumMod val="85000"/>
                    <a:lumOff val="15000"/>
                  </a:schemeClr>
                </a:solidFill>
              </a:rPr>
              <a:t>  Montaj Kursus dan Montaj PL06 telah menyampaikan pengenalan kursus,</a:t>
            </a:r>
          </a:p>
          <a:p>
            <a:r>
              <a:rPr lang="en-MY" sz="900" dirty="0">
                <a:solidFill>
                  <a:schemeClr val="tx1">
                    <a:lumMod val="85000"/>
                    <a:lumOff val="15000"/>
                  </a:schemeClr>
                </a:solidFill>
              </a:rPr>
              <a:t>  lapan Pakej Latihan, objektif PL06, tujuh topik PL06 dan Hilmi.</a:t>
            </a:r>
          </a:p>
          <a:p>
            <a:r>
              <a:rPr lang="en-MY" sz="900" dirty="0">
                <a:solidFill>
                  <a:schemeClr val="tx1">
                    <a:lumMod val="85000"/>
                    <a:lumOff val="15000"/>
                  </a:schemeClr>
                </a:solidFill>
              </a:rPr>
              <a:t>  Skrin ini BERMULA di aras bahagian dan TIDAK mengulanginya.</a:t>
            </a:r>
          </a:p>
          <a:p>
            <a:r>
              <a:rPr lang="en-MY" sz="900" b="1" dirty="0">
                <a:solidFill>
                  <a:schemeClr val="tx1">
                    <a:lumMod val="85000"/>
                    <a:lumOff val="15000"/>
                  </a:schemeClr>
                </a:solidFill>
              </a:rPr>
              <a:t>TRANSKRIP DITUTURKAN (slide 1 sahaja):</a:t>
            </a:r>
          </a:p>
          <a:p>
            <a:r>
              <a:rPr lang="en-MY" sz="900" dirty="0">
                <a:solidFill>
                  <a:schemeClr val="tx1">
                    <a:lumMod val="85000"/>
                    <a:lumOff val="15000"/>
                  </a:schemeClr>
                </a:solidFill>
              </a:rPr>
              <a:t>  1. PL06_TITLE</a:t>
            </a:r>
          </a:p>
          <a:p>
            <a:r>
              <a:rPr lang="en-MY" sz="900" dirty="0">
                <a:solidFill>
                  <a:schemeClr val="tx1">
                    <a:lumMod val="85000"/>
                    <a:lumOff val="15000"/>
                  </a:schemeClr>
                </a:solidFill>
              </a:rPr>
              <a:t>  2. TOPIC_BAHAGIAN_TITLE</a:t>
            </a:r>
          </a:p>
          <a:p>
            <a:r>
              <a:rPr lang="en-MY" sz="900" dirty="0">
                <a:solidFill>
                  <a:schemeClr val="tx1">
                    <a:lumMod val="85000"/>
                    <a:lumOff val="15000"/>
                  </a:schemeClr>
                </a:solidFill>
              </a:rPr>
              <a:t>  3. MULA_INSTRUCTION</a:t>
            </a:r>
          </a:p>
          <a:p>
            <a:r>
              <a:rPr lang="en-MY" sz="900" dirty="0">
                <a:solidFill>
                  <a:schemeClr val="tx1">
                    <a:lumMod val="85000"/>
                    <a:lumOff val="15000"/>
                  </a:schemeClr>
                </a:solidFill>
              </a:rPr>
              <a:t>  Tajuk kursus kekal visual sahaja — tidak dituturkan.</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PL satu, bukan PL kosong satu, dan seterusnya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TOPIC_ENTRY_SCREEN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BARIAH_DIRECT</a:t>
            </a:r>
          </a:p>
          <a:p>
            <a:r>
              <a:rPr lang="en-MY" sz="900" dirty="0">
                <a:solidFill>
                  <a:schemeClr val="tx1">
                    <a:lumMod val="85000"/>
                    <a:lumOff val="15000"/>
                  </a:schemeClr>
                </a:solidFill>
              </a:rPr>
              <a:t>STATUS KEPUTUSAN: B02-D-06, B02-D-25, B02-D-26</a:t>
            </a:r>
          </a:p>
          <a:p>
            <a:r>
              <a:rPr lang="en-MY" sz="900" dirty="0">
                <a:solidFill>
                  <a:schemeClr val="tx1">
                    <a:lumMod val="85000"/>
                    <a:lumOff val="15000"/>
                  </a:schemeClr>
                </a:solidFill>
              </a:rPr>
              <a:t>STATUS BELUM SELESAI: NONE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207008"/>
            <a:ext cx="10744200" cy="877824"/>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Latar tapak landskap dalam pembinaan. Dua watak berdiri di</a:t>
            </a:r>
          </a:p>
          <a:p>
            <a:pPr/>
            <a:r>
              <a:rPr lang="en-MY" sz="1100" dirty="0">
                <a:solidFill>
                  <a:srgbClr val="808080"/>
                </a:solidFill>
              </a:rPr>
              <a:t>kawasan yang sudah ditanam, struktur taman di latar belakang.]</a:t>
            </a:r>
          </a:p>
        </p:txBody>
      </p:sp>
      <p:sp>
        <p:nvSpPr>
          <p:cNvPr id="40" name="CastName"/>
          <p:cNvSpPr txBox="1"/>
          <p:nvPr/>
        </p:nvSpPr>
        <p:spPr>
          <a:xfrm>
            <a:off x="723930" y="2286000"/>
            <a:ext cx="4572000" cy="384048"/>
          </a:xfrm>
          <a:prstGeom prst="rect">
            <a:avLst/>
          </a:prstGeom>
          <a:noFill/>
        </p:spPr>
        <p:txBody>
          <a:bodyPr wrap="square">
            <a:noAutofit/>
          </a:bodyPr>
          <a:lstStyle/>
          <a:p>
            <a:pPr/>
            <a:r>
              <a:rPr lang="en-MY" sz="1900" b="1" dirty="0">
                <a:solidFill>
                  <a:schemeClr val="tx1">
                    <a:lumMod val="85000"/>
                    <a:lumOff val="15000"/>
                  </a:schemeClr>
                </a:solidFill>
              </a:rPr>
              <a:t>Alya</a:t>
            </a:r>
          </a:p>
        </p:txBody>
      </p:sp>
      <p:sp>
        <p:nvSpPr>
          <p:cNvPr id="41" name="CastRole"/>
          <p:cNvSpPr txBox="1"/>
          <p:nvPr/>
        </p:nvSpPr>
        <p:spPr>
          <a:xfrm>
            <a:off x="723930" y="2688336"/>
            <a:ext cx="5120640" cy="310896"/>
          </a:xfrm>
          <a:prstGeom prst="rect">
            <a:avLst/>
          </a:prstGeom>
          <a:noFill/>
        </p:spPr>
        <p:txBody>
          <a:bodyPr wrap="square">
            <a:noAutofit/>
          </a:bodyPr>
          <a:lstStyle/>
          <a:p>
            <a:pPr/>
            <a:r>
              <a:rPr lang="en-MY" sz="1300" dirty="0">
                <a:solidFill>
                  <a:srgbClr val="808080"/>
                </a:solidFill>
              </a:rPr>
              <a:t>Kontraktor Junior</a:t>
            </a:r>
          </a:p>
        </p:txBody>
      </p:sp>
      <p:sp>
        <p:nvSpPr>
          <p:cNvPr id="42" name="CastName"/>
          <p:cNvSpPr txBox="1"/>
          <p:nvPr/>
        </p:nvSpPr>
        <p:spPr>
          <a:xfrm>
            <a:off x="723930" y="3291840"/>
            <a:ext cx="4572000" cy="384048"/>
          </a:xfrm>
          <a:prstGeom prst="rect">
            <a:avLst/>
          </a:prstGeom>
          <a:noFill/>
        </p:spPr>
        <p:txBody>
          <a:bodyPr wrap="square">
            <a:noAutofit/>
          </a:bodyPr>
          <a:lstStyle/>
          <a:p>
            <a:pPr/>
            <a:r>
              <a:rPr lang="en-MY" sz="1900" b="1" dirty="0">
                <a:solidFill>
                  <a:schemeClr val="tx1">
                    <a:lumMod val="85000"/>
                    <a:lumOff val="15000"/>
                  </a:schemeClr>
                </a:solidFill>
              </a:rPr>
              <a:t>Encik Rahman</a:t>
            </a:r>
          </a:p>
        </p:txBody>
      </p:sp>
      <p:sp>
        <p:nvSpPr>
          <p:cNvPr id="43" name="CastRole"/>
          <p:cNvSpPr txBox="1"/>
          <p:nvPr/>
        </p:nvSpPr>
        <p:spPr>
          <a:xfrm>
            <a:off x="723930" y="3694176"/>
            <a:ext cx="5120640" cy="310896"/>
          </a:xfrm>
          <a:prstGeom prst="rect">
            <a:avLst/>
          </a:prstGeom>
          <a:noFill/>
        </p:spPr>
        <p:txBody>
          <a:bodyPr wrap="square">
            <a:noAutofit/>
          </a:bodyPr>
          <a:lstStyle/>
          <a:p>
            <a:pPr/>
            <a:r>
              <a:rPr lang="en-MY" sz="1300" dirty="0">
                <a:solidFill>
                  <a:srgbClr val="808080"/>
                </a:solidFill>
              </a:rPr>
              <a:t>Mentor / Kontraktor Senior</a:t>
            </a:r>
          </a:p>
        </p:txBody>
      </p:sp>
      <p:sp>
        <p:nvSpPr>
          <p:cNvPr id="60" name="Note"/>
          <p:cNvSpPr txBox="1"/>
          <p:nvPr/>
        </p:nvSpPr>
        <p:spPr>
          <a:xfrm>
            <a:off x="723930" y="4663440"/>
            <a:ext cx="10744200" cy="365760"/>
          </a:xfrm>
          <a:prstGeom prst="rect">
            <a:avLst/>
          </a:prstGeom>
          <a:noFill/>
        </p:spPr>
        <p:txBody>
          <a:bodyPr wrap="square">
            <a:noAutofit/>
          </a:bodyPr>
          <a:lstStyle/>
          <a:p>
            <a:pPr/>
            <a:r>
              <a:rPr lang="en-MY" sz="1300" dirty="0">
                <a:solidFill>
                  <a:srgbClr val="808080"/>
                </a:solidFill>
              </a:rPr>
              <a:t>Dialog penuh dimainkan sebagai video watak. Teks dialog berada dalam Notes.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senario tapak</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FRAME_SCENARIO_BASE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DIALOGUE_NOTES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[dialogue_video_complete]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SCR_S02</a:t>
            </a:r>
          </a:p>
          <a:p>
            <a:r>
              <a:rPr lang="en-MY" sz="900" b="1" dirty="0">
                <a:solidFill>
                  <a:schemeClr val="tx1">
                    <a:lumMod val="85000"/>
                    <a:lumOff val="15000"/>
                  </a:schemeClr>
                </a:solidFill>
              </a:rPr>
              <a:t>WATAK:</a:t>
            </a:r>
          </a:p>
          <a:p>
            <a:r>
              <a:rPr lang="en-MY" sz="900" dirty="0">
                <a:solidFill>
                  <a:schemeClr val="tx1">
                    <a:lumMod val="85000"/>
                    <a:lumOff val="15000"/>
                  </a:schemeClr>
                </a:solidFill>
              </a:rPr>
              <a:t>  Alya — Kontraktor Junior</a:t>
            </a:r>
          </a:p>
          <a:p>
            <a:r>
              <a:rPr lang="en-MY" sz="900" dirty="0">
                <a:solidFill>
                  <a:schemeClr val="tx1">
                    <a:lumMod val="85000"/>
                    <a:lumOff val="15000"/>
                  </a:schemeClr>
                </a:solidFill>
              </a:rPr>
              <a:t>    learner proxy — junior contractor who confirms her understanding of the work scope</a:t>
            </a:r>
          </a:p>
          <a:p>
            <a:r>
              <a:rPr lang="en-MY" sz="900" dirty="0">
                <a:solidFill>
                  <a:schemeClr val="tx1">
                    <a:lumMod val="85000"/>
                    <a:lumOff val="15000"/>
                  </a:schemeClr>
                </a:solidFill>
              </a:rPr>
              <a:t>  Encik Rahman — Mentor / Kontraktor Senior Berpengalaman Landskap</a:t>
            </a:r>
          </a:p>
          <a:p>
            <a:r>
              <a:rPr lang="en-MY" sz="900" dirty="0">
                <a:solidFill>
                  <a:schemeClr val="tx1">
                    <a:lumMod val="85000"/>
                    <a:lumOff val="15000"/>
                  </a:schemeClr>
                </a:solidFill>
              </a:rPr>
              <a:t>    Penyelia Tapak / mentor who validates and extends Alya’s understanding</a:t>
            </a:r>
          </a:p>
          <a:p>
            <a:r>
              <a:rPr lang="en-MY" sz="900" dirty="0">
                <a:solidFill>
                  <a:schemeClr val="tx1">
                    <a:lumMod val="85000"/>
                    <a:lumOff val="15000"/>
                  </a:schemeClr>
                </a:solidFill>
              </a:rPr>
              <a:t>  Label peranan generik (Pelatih / Penyelia Tapak) ialah metadata produksi</a:t>
            </a:r>
          </a:p>
          <a:p>
            <a:r>
              <a:rPr lang="en-MY" sz="900" dirty="0">
                <a:solidFill>
                  <a:schemeClr val="tx1">
                    <a:lumMod val="85000"/>
                    <a:lumOff val="15000"/>
                  </a:schemeClr>
                </a:solidFill>
              </a:rPr>
              <a:t>  sahaja dan BUKAN nama akhir yang dilihat pelajar.</a:t>
            </a:r>
          </a:p>
          <a:p>
            <a:r>
              <a:rPr lang="en-MY" sz="900" b="1" dirty="0">
                <a:solidFill>
                  <a:schemeClr val="tx1">
                    <a:lumMod val="85000"/>
                    <a:lumOff val="15000"/>
                  </a:schemeClr>
                </a:solidFill>
              </a:rPr>
              <a:t>KANDUNGAN DIKELUARKAN:</a:t>
            </a:r>
          </a:p>
          <a:p>
            <a:r>
              <a:rPr lang="en-MY" sz="900" dirty="0">
                <a:solidFill>
                  <a:schemeClr val="tx1">
                    <a:lumMod val="85000"/>
                    <a:lumOff val="15000"/>
                  </a:schemeClr>
                </a:solidFill>
              </a:rPr>
              <a:t>  "Dan jangan lupa, kedua-duanya kena ikut MS2680."</a:t>
            </a:r>
          </a:p>
          <a:p>
            <a:r>
              <a:rPr lang="en-MY" sz="900" dirty="0">
                <a:solidFill>
                  <a:schemeClr val="tx1">
                    <a:lumMod val="85000"/>
                    <a:lumOff val="15000"/>
                  </a:schemeClr>
                </a:solidFill>
              </a:rPr>
              <a:t>  sebab: MS2680 applicability to both groups is not yet verified against the authoritative source</a:t>
            </a:r>
          </a:p>
          <a:p>
            <a:r>
              <a:rPr lang="en-MY" sz="900" dirty="0">
                <a:solidFill>
                  <a:schemeClr val="tx1">
                    <a:lumMod val="85000"/>
                    <a:lumOff val="15000"/>
                  </a:schemeClr>
                </a:solidFill>
              </a:rPr>
              <a:t>  status: PENDING_SOURCE_VERIFICATION</a:t>
            </a:r>
          </a:p>
          <a:p>
            <a:r>
              <a:rPr lang="en-MY" sz="900" dirty="0">
                <a:solidFill>
                  <a:schemeClr val="tx1">
                    <a:lumMod val="85000"/>
                    <a:lumOff val="15000"/>
                  </a:schemeClr>
                </a:solidFill>
              </a:rPr>
              <a:t>  gantian: none — no substitute standards claim invented</a:t>
            </a:r>
          </a:p>
          <a:p>
            <a:r>
              <a:rPr lang="en-MY" sz="900" b="1" dirty="0">
                <a:solidFill>
                  <a:schemeClr val="tx1">
                    <a:lumMod val="85000"/>
                    <a:lumOff val="15000"/>
                  </a:schemeClr>
                </a:solidFill>
              </a:rPr>
              <a:t>KESINAMBUNGAN:</a:t>
            </a:r>
          </a:p>
          <a:p>
            <a:r>
              <a:rPr lang="en-MY" sz="900" dirty="0">
                <a:solidFill>
                  <a:schemeClr val="tx1">
                    <a:lumMod val="85000"/>
                    <a:lumOff val="15000"/>
                  </a:schemeClr>
                </a:solidFill>
              </a:rPr>
              <a:t>  Start of the B02 scenario, immediately after S01. The course and PL06 are NOT reintroduced — both montages and S01 have already established them.</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B02-D-17, B02-D-18, B02-D-19, B02-D-25, B02-D-26</a:t>
            </a:r>
          </a:p>
          <a:p>
            <a:r>
              <a:rPr lang="en-MY" sz="900" dirty="0">
                <a:solidFill>
                  <a:schemeClr val="tx1">
                    <a:lumMod val="85000"/>
                    <a:lumOff val="15000"/>
                  </a:schemeClr>
                </a:solidFill>
              </a:rPr>
              <a:t>STATUS BELUM SELESAI: U-01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188720"/>
            <a:ext cx="484632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Kad narator Hilmi — potret separuh badan,</a:t>
            </a:r>
          </a:p>
          <a:p>
            <a:pPr/>
            <a:r>
              <a:rPr lang="en-MY" sz="1100" dirty="0">
                <a:solidFill>
                  <a:srgbClr val="808080"/>
                </a:solidFill>
              </a:rPr>
              <a:t>pakaian kerja lapangan, latar tapak landskap kabur.]</a:t>
            </a:r>
          </a:p>
        </p:txBody>
      </p:sp>
      <p:sp>
        <p:nvSpPr>
          <p:cNvPr id="40" name="Narr"/>
          <p:cNvSpPr txBox="1"/>
          <p:nvPr/>
        </p:nvSpPr>
        <p:spPr>
          <a:xfrm>
            <a:off x="723930" y="2084832"/>
            <a:ext cx="4846320" cy="365760"/>
          </a:xfrm>
          <a:prstGeom prst="rect">
            <a:avLst/>
          </a:prstGeom>
          <a:noFill/>
        </p:spPr>
        <p:txBody>
          <a:bodyPr wrap="square">
            <a:noAutofit/>
          </a:bodyPr>
          <a:lstStyle/>
          <a:p>
            <a:pPr/>
            <a:r>
              <a:rPr lang="en-MY" sz="1800" b="1" dirty="0">
                <a:solidFill>
                  <a:schemeClr val="tx1">
                    <a:lumMod val="85000"/>
                    <a:lumOff val="15000"/>
                  </a:schemeClr>
                </a:solidFill>
              </a:rPr>
              <a:t>Hilmi</a:t>
            </a:r>
          </a:p>
        </p:txBody>
      </p:sp>
      <p:sp>
        <p:nvSpPr>
          <p:cNvPr id="41" name="NarrRole"/>
          <p:cNvSpPr txBox="1"/>
          <p:nvPr/>
        </p:nvSpPr>
        <p:spPr>
          <a:xfrm>
            <a:off x="723930" y="2468880"/>
            <a:ext cx="4846320" cy="292608"/>
          </a:xfrm>
          <a:prstGeom prst="rect">
            <a:avLst/>
          </a:prstGeom>
          <a:noFill/>
        </p:spPr>
        <p:txBody>
          <a:bodyPr wrap="square">
            <a:noAutofit/>
          </a:bodyPr>
          <a:lstStyle/>
          <a:p>
            <a:pPr/>
            <a:r>
              <a:rPr lang="en-MY" sz="1200" dirty="0">
                <a:solidFill>
                  <a:srgbClr val="808080"/>
                </a:solidFill>
              </a:rPr>
              <a:t>Narator kursus</a:t>
            </a:r>
          </a:p>
        </p:txBody>
      </p:sp>
      <p:sp>
        <p:nvSpPr>
          <p:cNvPr id="50" name="Grp"/>
          <p:cNvSpPr txBox="1"/>
          <p:nvPr/>
        </p:nvSpPr>
        <p:spPr>
          <a:xfrm>
            <a:off x="5989320" y="1207008"/>
            <a:ext cx="5486400" cy="731520"/>
          </a:xfrm>
          <a:prstGeom prst="rect">
            <a:avLst/>
          </a:prstGeom>
          <a:noFill/>
        </p:spPr>
        <p:txBody>
          <a:bodyPr wrap="square">
            <a:noAutofit/>
          </a:bodyPr>
          <a:lstStyle/>
          <a:p>
            <a:pPr/>
            <a:r>
              <a:rPr lang="en-MY" sz="1250" b="1" dirty="0">
                <a:solidFill>
                  <a:schemeClr val="tx1">
                    <a:lumMod val="85000"/>
                    <a:lumOff val="15000"/>
                  </a:schemeClr>
                </a:solidFill>
              </a:rPr>
              <a:t>Struktur Taman: Struktur Persisir Air, Struktur</a:t>
            </a:r>
          </a:p>
          <a:p>
            <a:pPr/>
            <a:r>
              <a:rPr lang="en-MY" sz="1250" b="1" dirty="0">
                <a:solidFill>
                  <a:schemeClr val="tx1">
                    <a:lumMod val="85000"/>
                    <a:lumOff val="15000"/>
                  </a:schemeClr>
                </a:solidFill>
              </a:rPr>
              <a:t>Teduhan, Kemudahan Awam, </a:t>
            </a:r>
            <a:r>
              <a:rPr lang="en-MY" sz="1250" b="1" i="1" dirty="0">
                <a:solidFill>
                  <a:schemeClr val="tx1">
                    <a:lumMod val="85000"/>
                    <a:lumOff val="15000"/>
                  </a:schemeClr>
                </a:solidFill>
              </a:rPr>
              <a:t>Water Feature</a:t>
            </a:r>
          </a:p>
        </p:txBody>
      </p:sp>
      <p:sp>
        <p:nvSpPr>
          <p:cNvPr id="51" name="Grp"/>
          <p:cNvSpPr txBox="1"/>
          <p:nvPr/>
        </p:nvSpPr>
        <p:spPr>
          <a:xfrm>
            <a:off x="5989320" y="1993392"/>
            <a:ext cx="5486400" cy="731520"/>
          </a:xfrm>
          <a:prstGeom prst="rect">
            <a:avLst/>
          </a:prstGeom>
          <a:noFill/>
        </p:spPr>
        <p:txBody>
          <a:bodyPr wrap="square">
            <a:noAutofit/>
          </a:bodyPr>
          <a:lstStyle/>
          <a:p>
            <a:pPr/>
            <a:r>
              <a:rPr lang="en-MY" sz="1250" b="1" dirty="0">
                <a:solidFill>
                  <a:schemeClr val="tx1">
                    <a:lumMod val="85000"/>
                    <a:lumOff val="15000"/>
                  </a:schemeClr>
                </a:solidFill>
              </a:rPr>
              <a:t>Perabot Taman: Kerusi Taman, Papan Tanda, Tong</a:t>
            </a:r>
          </a:p>
          <a:p>
            <a:pPr/>
            <a:r>
              <a:rPr lang="en-MY" sz="1250" b="1" dirty="0">
                <a:solidFill>
                  <a:schemeClr val="tx1">
                    <a:lumMod val="85000"/>
                    <a:lumOff val="15000"/>
                  </a:schemeClr>
                </a:solidFill>
              </a:rPr>
              <a:t>Sampah, </a:t>
            </a:r>
            <a:r>
              <a:rPr lang="en-MY" sz="1250" b="1" i="1" dirty="0">
                <a:solidFill>
                  <a:schemeClr val="tx1">
                    <a:lumMod val="85000"/>
                    <a:lumOff val="15000"/>
                  </a:schemeClr>
                </a:solidFill>
              </a:rPr>
              <a:t>Drinking Fountain</a:t>
            </a:r>
            <a:r>
              <a:rPr lang="en-MY" sz="1250" b="1" dirty="0">
                <a:solidFill>
                  <a:schemeClr val="tx1">
                    <a:lumMod val="85000"/>
                    <a:lumOff val="15000"/>
                  </a:schemeClr>
                </a:solidFill>
              </a:rPr>
              <a:t>, </a:t>
            </a:r>
            <a:r>
              <a:rPr lang="en-MY" sz="1250" b="1" i="1" dirty="0">
                <a:solidFill>
                  <a:schemeClr val="tx1">
                    <a:lumMod val="85000"/>
                    <a:lumOff val="15000"/>
                  </a:schemeClr>
                </a:solidFill>
              </a:rPr>
              <a:t>BBQ Pit</a:t>
            </a:r>
          </a:p>
        </p:txBody>
      </p:sp>
      <p:sp>
        <p:nvSpPr>
          <p:cNvPr id="60" name="VisualDir"/>
          <p:cNvSpPr txBox="1"/>
          <p:nvPr/>
        </p:nvSpPr>
        <p:spPr>
          <a:xfrm>
            <a:off x="5989320" y="2926080"/>
            <a:ext cx="5486400" cy="1645920"/>
          </a:xfrm>
          <a:prstGeom prst="rect">
            <a:avLst/>
          </a:prstGeom>
          <a:noFill/>
        </p:spPr>
        <p:txBody>
          <a:bodyPr wrap="square">
            <a:noAutofit/>
          </a:bodyPr>
          <a:lstStyle/>
          <a:p>
            <a:pPr/>
            <a:r>
              <a:rPr lang="en-MY" sz="1000" dirty="0">
                <a:solidFill>
                  <a:srgbClr val="808080"/>
                </a:solidFill>
              </a:rPr>
              <a:t>ARAHAN VISUAL — MIND MAP (SPESIFIKASI TEKS SAHAJA)</a:t>
            </a:r>
          </a:p>
          <a:p>
            <a:pPr/>
            <a:r>
              <a:rPr lang="en-MY" sz="1000" dirty="0">
                <a:solidFill>
                  <a:srgbClr val="808080"/>
                </a:solidFill>
              </a:rPr>
              <a:t>[Visual: Mind Map — nod pusat 'Komponen Landskap' bercabang kepada dua</a:t>
            </a:r>
          </a:p>
          <a:p>
            <a:pPr/>
            <a:r>
              <a:rPr lang="en-MY" sz="1000" dirty="0">
                <a:solidFill>
                  <a:srgbClr val="808080"/>
                </a:solidFill>
              </a:rPr>
              <a:t>kumpulan. Cabang 1 – Struktur Taman: Struktur Persisir Air, Struktur</a:t>
            </a:r>
          </a:p>
          <a:p>
            <a:pPr/>
            <a:r>
              <a:rPr lang="en-MY" sz="1000" dirty="0">
                <a:solidFill>
                  <a:srgbClr val="808080"/>
                </a:solidFill>
              </a:rPr>
              <a:t>Teduhan, Kemudahan Awam, Water Feature. Cabang 2 – Perabot Taman: Kerusi</a:t>
            </a:r>
          </a:p>
          <a:p>
            <a:pPr/>
            <a:r>
              <a:rPr lang="en-MY" sz="1000" dirty="0">
                <a:solidFill>
                  <a:srgbClr val="808080"/>
                </a:solidFill>
              </a:rPr>
              <a:t>Taman, Papan Tanda, Tong Sampah, Drinking Fountain, BBQ Pit. Spesifikasi</a:t>
            </a:r>
          </a:p>
          <a:p>
            <a:pPr/>
            <a:r>
              <a:rPr lang="en-MY" sz="1000" dirty="0">
                <a:solidFill>
                  <a:srgbClr val="808080"/>
                </a:solidFill>
              </a:rPr>
              <a:t>teks sahaja — aset Mind Map TIDAK dihasilkan pada peringkat ini.]</a:t>
            </a:r>
          </a:p>
        </p:txBody>
      </p:sp>
      <p:sp>
        <p:nvSpPr>
          <p:cNvPr id="70" name="Reflect"/>
          <p:cNvSpPr txBox="1"/>
          <p:nvPr/>
        </p:nvSpPr>
        <p:spPr>
          <a:xfrm>
            <a:off x="723930" y="4901184"/>
            <a:ext cx="10744200" cy="658368"/>
          </a:xfrm>
          <a:prstGeom prst="rect">
            <a:avLst/>
          </a:prstGeom>
          <a:noFill/>
        </p:spPr>
        <p:txBody>
          <a:bodyPr wrap="square">
            <a:noAutofit/>
          </a:bodyPr>
          <a:lstStyle/>
          <a:p>
            <a:pPr/>
            <a:r>
              <a:rPr lang="en-MY" sz="1500" b="1" dirty="0">
                <a:solidFill>
                  <a:srgbClr val="7F6000"/>
                </a:solidFill>
              </a:rPr>
              <a:t>Jika anda ditugaskan memasang kerusi taman di tepi tasik, apakah jenis bahan yang anda akan</a:t>
            </a:r>
          </a:p>
          <a:p>
            <a:pPr/>
            <a:r>
              <a:rPr lang="en-MY" sz="1500" b="1" dirty="0">
                <a:solidFill>
                  <a:srgbClr val="7F6000"/>
                </a:solidFill>
              </a:rPr>
              <a:t>pilih, dan mengapa?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gambaran keseluruhan (Hilmi)</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FRAME_NARRATOR_BASE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SCR_S03</a:t>
            </a:r>
          </a:p>
          <a:p>
            <a:r>
              <a:rPr lang="en-MY" sz="900" b="1" dirty="0">
                <a:solidFill>
                  <a:schemeClr val="tx1">
                    <a:lumMod val="85000"/>
                    <a:lumOff val="15000"/>
                  </a:schemeClr>
                </a:solidFill>
              </a:rPr>
              <a:t>NARATOR:</a:t>
            </a:r>
          </a:p>
          <a:p>
            <a:r>
              <a:rPr lang="en-MY" sz="900" dirty="0">
                <a:solidFill>
                  <a:schemeClr val="tx1">
                    <a:lumMod val="85000"/>
                    <a:lumOff val="15000"/>
                  </a:schemeClr>
                </a:solidFill>
              </a:rPr>
              <a:t>  Hilmi — Narator kursus</a:t>
            </a:r>
          </a:p>
          <a:p>
            <a:r>
              <a:rPr lang="en-MY" sz="900" dirty="0">
                <a:solidFill>
                  <a:schemeClr val="tx1">
                    <a:lumMod val="85000"/>
                    <a:lumOff val="15000"/>
                  </a:schemeClr>
                </a:solidFill>
              </a:rPr>
              <a:t>  HILMI_REINTRODUCED_AS_NEW = false</a:t>
            </a:r>
          </a:p>
          <a:p>
            <a:r>
              <a:rPr lang="en-MY" sz="900" dirty="0">
                <a:solidFill>
                  <a:schemeClr val="tx1">
                    <a:lumMod val="85000"/>
                    <a:lumOff val="15000"/>
                  </a:schemeClr>
                </a:solidFill>
              </a:rPr>
              <a:t>  HILMI_CONTINUITY_FROM_COURSE_MONTAGE = true</a:t>
            </a:r>
          </a:p>
          <a:p>
            <a:r>
              <a:rPr lang="en-MY" sz="900" dirty="0">
                <a:solidFill>
                  <a:schemeClr val="tx1">
                    <a:lumMod val="85000"/>
                    <a:lumOff val="15000"/>
                  </a:schemeClr>
                </a:solidFill>
              </a:rPr>
              <a:t>  Hilmi continues the narration established by the Course Montage. He is not introduced as a new character. The "Hilmi:" label remains on S03 as storyboard speaker identification only.</a:t>
            </a:r>
          </a:p>
          <a:p>
            <a:r>
              <a:rPr lang="en-MY" sz="900" dirty="0">
                <a:solidFill>
                  <a:schemeClr val="tx1">
                    <a:lumMod val="85000"/>
                    <a:lumOff val="15000"/>
                  </a:schemeClr>
                </a:solidFill>
              </a:rPr>
              <a:t>  Pembukaan dilarang: Hai, saya Hilmi; Saya Hilmi, narator kursus ini; any first-time self-introduction</a:t>
            </a:r>
          </a:p>
          <a:p>
            <a:r>
              <a:rPr lang="en-MY" sz="900" dirty="0">
                <a:solidFill>
                  <a:schemeClr val="tx1">
                    <a:lumMod val="85000"/>
                    <a:lumOff val="15000"/>
                  </a:schemeClr>
                </a:solidFill>
              </a:rPr>
              <a:t>  The VO transitions out of the Alya–Encik Rahman scenario and into the learning overview — it does not restart the course.</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"Hilmi:" speaker prefix appears on S03 only; it must not appear on any other screen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B02-D-20, B02-D-25</a:t>
            </a:r>
          </a:p>
          <a:p>
            <a:r>
              <a:rPr lang="en-MY" sz="900" dirty="0">
                <a:solidFill>
                  <a:schemeClr val="tx1">
                    <a:lumMod val="85000"/>
                    <a:lumOff val="15000"/>
                  </a:schemeClr>
                </a:solidFill>
              </a:rPr>
              <a:t>STATUS BELUM SELESAI: NONE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ItemCard"/>
          <p:cNvSpPr txBox="1"/>
          <p:nvPr/>
        </p:nvSpPr>
        <p:spPr>
          <a:xfrm>
            <a:off x="6419408"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2" name="ItemCard"/>
          <p:cNvSpPr txBox="1"/>
          <p:nvPr/>
        </p:nvSpPr>
        <p:spPr>
          <a:xfrm>
            <a:off x="2174397"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3" name="ItemCard"/>
          <p:cNvSpPr txBox="1"/>
          <p:nvPr/>
        </p:nvSpPr>
        <p:spPr>
          <a:xfrm>
            <a:off x="6419408"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GROUP_MASTER_BASE</a:t>
            </a:r>
          </a:p>
          <a:p>
            <a:r>
              <a:rPr lang="en-MY" sz="900" dirty="0">
                <a:solidFill>
                  <a:schemeClr val="tx1">
                    <a:lumMod val="85000"/>
                    <a:lumOff val="15000"/>
                  </a:schemeClr>
                </a:solidFill>
              </a:rPr>
              <a:t/>
            </a:r>
          </a:p>
          <a:p>
            <a:r>
              <a:rPr lang="en-MY" sz="900" dirty="0">
                <a:solidFill>
                  <a:schemeClr val="tx1">
                    <a:lumMod val="85000"/>
                    <a:lumOff val="15000"/>
                  </a:schemeClr>
                </a:solidFill>
              </a:rPr>
              <a:t>BUKTI: group master, no component visited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[group_complete[STRUKTUR_TAMAN]]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struktur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GROUP_MASTER</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B02-D-04</a:t>
            </a:r>
          </a:p>
          <a:p>
            <a:r>
              <a:rPr lang="en-MY" sz="900" dirty="0">
                <a:solidFill>
                  <a:schemeClr val="tx1">
                    <a:lumMod val="85000"/>
                    <a:lumOff val="15000"/>
                  </a:schemeClr>
                </a:solidFill>
              </a:rPr>
              <a:t>STATUS BELUM SELESAI: NONE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Persisir Air</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Meningkatkan akses dan pengalaman pengguna di tepi badan air</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Untuk tasik, sungai atau pantai</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kepakaran pembinaan di persekitaran lembap dan berpotensi hakisan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Asas Pembinaan</a:t>
            </a:r>
          </a:p>
          <a:p>
            <a:pPr marL="571500" lvl="1" indent="-285750">
              <a:spcBef>
                <a:spcPts val="600"/>
              </a:spcBef>
              <a:buFont typeface="Arial" panose="020B0604020202020204" pitchFamily="34" charset="0"/>
              <a:buChar char="•"/>
            </a:pPr>
            <a:r>
              <a:rPr lang="en-MY" sz="1500" dirty="0">
                <a:solidFill>
                  <a:schemeClr val="tx1">
                    <a:lumMod val="85000"/>
                    <a:lumOff val="15000"/>
                  </a:schemeClr>
                </a:solidFill>
              </a:rPr>
              <a:t>Asas stabil dan rata, dengan sistem saliran permukaan berkesan untuk mengelakkan genangan air</a:t>
            </a:r>
          </a:p>
          <a:p>
            <a:pPr marL="571500" lvl="1" indent="-285750">
              <a:spcBef>
                <a:spcPts val="600"/>
              </a:spcBef>
              <a:buFont typeface="Arial" panose="020B0604020202020204" pitchFamily="34" charset="0"/>
              <a:buChar char="•"/>
            </a:pPr>
            <a:r>
              <a:rPr lang="en-MY" sz="1500" dirty="0">
                <a:solidFill>
                  <a:schemeClr val="tx1">
                    <a:lumMod val="85000"/>
                    <a:lumOff val="15000"/>
                  </a:schemeClr>
                </a:solidFill>
              </a:rPr>
              <a:t>Pemilihan bahan permukaan bergantung pada fungsi utama</a:t>
            </a:r>
          </a:p>
        </p:txBody>
      </p:sp>
      <p:sp>
        <p:nvSpPr>
          <p:cNvPr id="30" name="VisualDir"/>
          <p:cNvSpPr txBox="1"/>
          <p:nvPr/>
        </p:nvSpPr>
        <p:spPr>
          <a:xfrm>
            <a:off x="723930" y="4663440"/>
            <a:ext cx="10744200" cy="365760"/>
          </a:xfrm>
          <a:prstGeom prst="rect">
            <a:avLst/>
          </a:prstGeom>
          <a:noFill/>
        </p:spPr>
        <p:txBody>
          <a:bodyPr wrap="square">
            <a:noAutofit/>
          </a:bodyPr>
          <a:lstStyle/>
          <a:p>
            <a:pPr/>
            <a:r>
              <a:rPr lang="en-MY" sz="1100" dirty="0">
                <a:solidFill>
                  <a:srgbClr val="808080"/>
                </a:solidFill>
              </a:rPr>
              <a:t>[Visual: Pelbagai Struktur Persisir Air. Tidak dibenamkan.]</a:t>
            </a:r>
          </a:p>
        </p:txBody>
      </p:sp>
      <p:sp>
        <p:nvSpPr>
          <p:cNvPr id="300" name="OverviewHead"/>
          <p:cNvSpPr txBox="1"/>
          <p:nvPr/>
        </p:nvSpPr>
        <p:spPr>
          <a:xfrm>
            <a:off x="723930" y="5084064"/>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321808"/>
            <a:ext cx="2002536" cy="9848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376672"/>
            <a:ext cx="1819656" cy="193853"/>
          </a:xfrm>
          <a:prstGeom prst="rect">
            <a:avLst/>
          </a:prstGeom>
          <a:noFill/>
        </p:spPr>
        <p:txBody>
          <a:bodyPr wrap="square">
            <a:noAutofit/>
          </a:bodyPr>
          <a:lstStyle/>
          <a:p>
            <a:pPr/>
            <a:r>
              <a:rPr lang="en-MY" sz="900" b="1" i="1" dirty="0">
                <a:solidFill>
                  <a:schemeClr val="tx1">
                    <a:lumMod val="85000"/>
                    <a:lumOff val="15000"/>
                  </a:schemeClr>
                </a:solidFill>
              </a:rPr>
              <a:t>Promenade</a:t>
            </a:r>
          </a:p>
        </p:txBody>
      </p:sp>
      <p:sp>
        <p:nvSpPr>
          <p:cNvPr id="303" name="OverviewDir"/>
          <p:cNvSpPr txBox="1"/>
          <p:nvPr/>
        </p:nvSpPr>
        <p:spPr>
          <a:xfrm>
            <a:off x="815370" y="5607101"/>
            <a:ext cx="1819656" cy="626364"/>
          </a:xfrm>
          <a:prstGeom prst="rect">
            <a:avLst/>
          </a:prstGeom>
          <a:noFill/>
        </p:spPr>
        <p:txBody>
          <a:bodyPr wrap="square">
            <a:noAutofit/>
          </a:bodyPr>
          <a:lstStyle/>
          <a:p>
            <a:pPr/>
            <a:r>
              <a:rPr lang="en-MY" sz="750" dirty="0">
                <a:solidFill>
                  <a:srgbClr val="808080"/>
                </a:solidFill>
              </a:rPr>
              <a:t>[Visual: Promenade Tasik Titiwangsa,</a:t>
            </a:r>
          </a:p>
          <a:p>
            <a:pPr/>
            <a:r>
              <a:rPr lang="en-MY" sz="750" dirty="0">
                <a:solidFill>
                  <a:srgbClr val="808080"/>
                </a:solidFill>
              </a:rPr>
              <a:t>KL]</a:t>
            </a:r>
          </a:p>
        </p:txBody>
      </p:sp>
      <p:sp>
        <p:nvSpPr>
          <p:cNvPr id="304" name="OverviewCard"/>
          <p:cNvSpPr txBox="1"/>
          <p:nvPr/>
        </p:nvSpPr>
        <p:spPr>
          <a:xfrm>
            <a:off x="2909346" y="5321808"/>
            <a:ext cx="2002536" cy="9848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000786" y="5376672"/>
            <a:ext cx="1819656" cy="193853"/>
          </a:xfrm>
          <a:prstGeom prst="rect">
            <a:avLst/>
          </a:prstGeom>
          <a:noFill/>
        </p:spPr>
        <p:txBody>
          <a:bodyPr wrap="square">
            <a:noAutofit/>
          </a:bodyPr>
          <a:lstStyle/>
          <a:p>
            <a:pPr/>
            <a:r>
              <a:rPr lang="en-MY" sz="900" b="1" dirty="0">
                <a:solidFill>
                  <a:schemeClr val="tx1">
                    <a:lumMod val="85000"/>
                    <a:lumOff val="15000"/>
                  </a:schemeClr>
                </a:solidFill>
              </a:rPr>
              <a:t>Jeti</a:t>
            </a:r>
          </a:p>
        </p:txBody>
      </p:sp>
      <p:sp>
        <p:nvSpPr>
          <p:cNvPr id="306" name="OverviewDir"/>
          <p:cNvSpPr txBox="1"/>
          <p:nvPr/>
        </p:nvSpPr>
        <p:spPr>
          <a:xfrm>
            <a:off x="3000786" y="5607101"/>
            <a:ext cx="1819656" cy="626364"/>
          </a:xfrm>
          <a:prstGeom prst="rect">
            <a:avLst/>
          </a:prstGeom>
          <a:noFill/>
        </p:spPr>
        <p:txBody>
          <a:bodyPr wrap="square">
            <a:noAutofit/>
          </a:bodyPr>
          <a:lstStyle/>
          <a:p>
            <a:pPr/>
            <a:r>
              <a:rPr lang="en-MY" sz="750" dirty="0">
                <a:solidFill>
                  <a:srgbClr val="808080"/>
                </a:solidFill>
              </a:rPr>
              <a:t>[Visual: Jeti Lumut, Perak]</a:t>
            </a:r>
          </a:p>
        </p:txBody>
      </p:sp>
      <p:sp>
        <p:nvSpPr>
          <p:cNvPr id="307" name="OverviewCard"/>
          <p:cNvSpPr txBox="1"/>
          <p:nvPr/>
        </p:nvSpPr>
        <p:spPr>
          <a:xfrm>
            <a:off x="5094762" y="5321808"/>
            <a:ext cx="2002536" cy="984809"/>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186202" y="5376672"/>
            <a:ext cx="1819656" cy="193853"/>
          </a:xfrm>
          <a:prstGeom prst="rect">
            <a:avLst/>
          </a:prstGeom>
          <a:noFill/>
        </p:spPr>
        <p:txBody>
          <a:bodyPr wrap="square">
            <a:noAutofit/>
          </a:bodyPr>
          <a:lstStyle/>
          <a:p>
            <a:pPr/>
            <a:r>
              <a:rPr lang="en-MY" sz="900" b="1" dirty="0">
                <a:solidFill>
                  <a:schemeClr val="tx1">
                    <a:lumMod val="85000"/>
                    <a:lumOff val="15000"/>
                  </a:schemeClr>
                </a:solidFill>
              </a:rPr>
              <a:t>Dek Kayu</a:t>
            </a:r>
          </a:p>
        </p:txBody>
      </p:sp>
      <p:sp>
        <p:nvSpPr>
          <p:cNvPr id="309" name="OverviewDir"/>
          <p:cNvSpPr txBox="1"/>
          <p:nvPr/>
        </p:nvSpPr>
        <p:spPr>
          <a:xfrm>
            <a:off x="5186202" y="5607101"/>
            <a:ext cx="1819656" cy="626364"/>
          </a:xfrm>
          <a:prstGeom prst="rect">
            <a:avLst/>
          </a:prstGeom>
          <a:noFill/>
        </p:spPr>
        <p:txBody>
          <a:bodyPr wrap="square">
            <a:noAutofit/>
          </a:bodyPr>
          <a:lstStyle/>
          <a:p>
            <a:pPr/>
            <a:r>
              <a:rPr lang="en-MY" sz="750" dirty="0">
                <a:solidFill>
                  <a:srgbClr val="808080"/>
                </a:solidFill>
              </a:rPr>
              <a:t>[Visual: Wetland Park Putrajaya]</a:t>
            </a:r>
          </a:p>
        </p:txBody>
      </p:sp>
      <p:sp>
        <p:nvSpPr>
          <p:cNvPr id="310" name="OverviewCard"/>
          <p:cNvSpPr txBox="1"/>
          <p:nvPr/>
        </p:nvSpPr>
        <p:spPr>
          <a:xfrm>
            <a:off x="7280178" y="5321808"/>
            <a:ext cx="2002536" cy="984809"/>
          </a:xfrm>
          <a:prstGeom prst="rect">
            <a:avLst/>
          </a:prstGeom>
          <a:solidFill>
            <a:srgbClr val="F7F7F7"/>
          </a:solidFill>
          <a:ln w="12700">
            <a:solidFill>
              <a:srgbClr val="BFBFBF"/>
            </a:solidFill>
          </a:ln>
        </p:spPr>
        <p:txBody>
          <a:bodyPr wrap="square">
            <a:noAutofit/>
          </a:bodyPr>
          <a:lstStyle/>
        </p:txBody>
      </p:sp>
      <p:sp>
        <p:nvSpPr>
          <p:cNvPr id="311" name="OverviewSubject"/>
          <p:cNvSpPr txBox="1"/>
          <p:nvPr/>
        </p:nvSpPr>
        <p:spPr>
          <a:xfrm>
            <a:off x="7371618" y="5376672"/>
            <a:ext cx="1819656" cy="193853"/>
          </a:xfrm>
          <a:prstGeom prst="rect">
            <a:avLst/>
          </a:prstGeom>
          <a:noFill/>
        </p:spPr>
        <p:txBody>
          <a:bodyPr wrap="square">
            <a:noAutofit/>
          </a:bodyPr>
          <a:lstStyle/>
          <a:p>
            <a:pPr/>
            <a:r>
              <a:rPr lang="en-MY" sz="900" b="1" i="1" dirty="0">
                <a:solidFill>
                  <a:schemeClr val="tx1">
                    <a:lumMod val="85000"/>
                    <a:lumOff val="15000"/>
                  </a:schemeClr>
                </a:solidFill>
              </a:rPr>
              <a:t>Boardwalk</a:t>
            </a:r>
          </a:p>
        </p:txBody>
      </p:sp>
      <p:sp>
        <p:nvSpPr>
          <p:cNvPr id="312" name="OverviewDir"/>
          <p:cNvSpPr txBox="1"/>
          <p:nvPr/>
        </p:nvSpPr>
        <p:spPr>
          <a:xfrm>
            <a:off x="7371618" y="5607101"/>
            <a:ext cx="1819656" cy="626364"/>
          </a:xfrm>
          <a:prstGeom prst="rect">
            <a:avLst/>
          </a:prstGeom>
          <a:noFill/>
        </p:spPr>
        <p:txBody>
          <a:bodyPr wrap="square">
            <a:noAutofit/>
          </a:bodyPr>
          <a:lstStyle/>
          <a:p>
            <a:pPr/>
            <a:r>
              <a:rPr lang="en-MY" sz="750" dirty="0">
                <a:solidFill>
                  <a:srgbClr val="808080"/>
                </a:solidFill>
              </a:rPr>
              <a:t>[Visual: Rajah 23 — Contoh Boardwalk</a:t>
            </a:r>
          </a:p>
          <a:p>
            <a:pPr/>
            <a:r>
              <a:rPr lang="en-MY" sz="750" dirty="0">
                <a:solidFill>
                  <a:srgbClr val="808080"/>
                </a:solidFill>
              </a:rPr>
              <a:t>dalam Taman Paya Bakau, modul ms</a:t>
            </a:r>
          </a:p>
          <a:p>
            <a:pPr/>
            <a:r>
              <a:rPr lang="en-MY" sz="750" dirty="0">
                <a:solidFill>
                  <a:srgbClr val="808080"/>
                </a:solidFill>
              </a:rPr>
              <a:t>239. Aset</a:t>
            </a:r>
          </a:p>
          <a:p>
            <a:pPr/>
            <a:r>
              <a:rPr lang="en-MY" sz="750" dirty="0">
                <a:solidFill>
                  <a:srgbClr val="808080"/>
                </a:solidFill>
              </a:rPr>
              <a:t>K5PL06T03-B02-IMG-p239-x20. Tidak</a:t>
            </a:r>
          </a:p>
          <a:p>
            <a:pPr/>
            <a:r>
              <a:rPr lang="en-MY" sz="750" dirty="0">
                <a:solidFill>
                  <a:srgbClr val="808080"/>
                </a:solidFill>
              </a:rPr>
              <a:t>dibenamkan.]</a:t>
            </a:r>
          </a:p>
        </p:txBody>
      </p:sp>
      <p:sp>
        <p:nvSpPr>
          <p:cNvPr id="313" name="OverviewCard"/>
          <p:cNvSpPr txBox="1"/>
          <p:nvPr/>
        </p:nvSpPr>
        <p:spPr>
          <a:xfrm>
            <a:off x="9465594" y="5321808"/>
            <a:ext cx="2002536" cy="984809"/>
          </a:xfrm>
          <a:prstGeom prst="rect">
            <a:avLst/>
          </a:prstGeom>
          <a:solidFill>
            <a:srgbClr val="F7F7F7"/>
          </a:solidFill>
          <a:ln w="12700">
            <a:solidFill>
              <a:srgbClr val="BFBFBF"/>
            </a:solidFill>
          </a:ln>
        </p:spPr>
        <p:txBody>
          <a:bodyPr wrap="square">
            <a:noAutofit/>
          </a:bodyPr>
          <a:lstStyle/>
        </p:txBody>
      </p:sp>
      <p:sp>
        <p:nvSpPr>
          <p:cNvPr id="314" name="OverviewSubject"/>
          <p:cNvSpPr txBox="1"/>
          <p:nvPr/>
        </p:nvSpPr>
        <p:spPr>
          <a:xfrm>
            <a:off x="9557034" y="5376672"/>
            <a:ext cx="1819656" cy="193853"/>
          </a:xfrm>
          <a:prstGeom prst="rect">
            <a:avLst/>
          </a:prstGeom>
          <a:noFill/>
        </p:spPr>
        <p:txBody>
          <a:bodyPr wrap="square">
            <a:noAutofit/>
          </a:bodyPr>
          <a:lstStyle/>
          <a:p>
            <a:pPr/>
            <a:r>
              <a:rPr lang="en-MY" sz="900" b="1" i="1" dirty="0">
                <a:solidFill>
                  <a:schemeClr val="tx1">
                    <a:lumMod val="85000"/>
                    <a:lumOff val="15000"/>
                  </a:schemeClr>
                </a:solidFill>
              </a:rPr>
              <a:t>Footbridge</a:t>
            </a:r>
          </a:p>
        </p:txBody>
      </p:sp>
      <p:sp>
        <p:nvSpPr>
          <p:cNvPr id="315" name="OverviewDir"/>
          <p:cNvSpPr txBox="1"/>
          <p:nvPr/>
        </p:nvSpPr>
        <p:spPr>
          <a:xfrm>
            <a:off x="9557034" y="5607101"/>
            <a:ext cx="1819656" cy="626364"/>
          </a:xfrm>
          <a:prstGeom prst="rect">
            <a:avLst/>
          </a:prstGeom>
          <a:noFill/>
        </p:spPr>
        <p:txBody>
          <a:bodyPr wrap="square">
            <a:noAutofit/>
          </a:bodyPr>
          <a:lstStyle/>
          <a:p>
            <a:pPr/>
            <a:r>
              <a:rPr lang="en-MY" sz="750" dirty="0">
                <a:solidFill>
                  <a:srgbClr val="808080"/>
                </a:solidFill>
              </a:rPr>
              <a:t>[Visual: Footbridge Taman Botani</a:t>
            </a:r>
          </a:p>
          <a:p>
            <a:pPr/>
            <a:r>
              <a:rPr lang="en-MY" sz="750" dirty="0">
                <a:solidFill>
                  <a:srgbClr val="808080"/>
                </a:solidFill>
              </a:rPr>
              <a:t>Perdana]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Persisir Air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SCR_STRUKTUR_PERSISIR_AIR_MAIN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RESOLVED_BY_DIRECT_AUTHORITY</a:t>
            </a:r>
          </a:p>
          <a:p>
            <a:r>
              <a:rPr lang="en-MY" sz="900" dirty="0">
                <a:solidFill>
                  <a:schemeClr val="tx1">
                    <a:lumMod val="85000"/>
                    <a:lumOff val="15000"/>
                  </a:schemeClr>
                </a:solidFill>
              </a:rPr>
              <a:t>  kuasa: BARIAH_DIRECT</a:t>
            </a:r>
          </a:p>
          <a:p>
            <a:r>
              <a:rPr lang="en-MY" sz="900" dirty="0">
                <a:solidFill>
                  <a:schemeClr val="tx1">
                    <a:lumMod val="85000"/>
                    <a:lumOff val="15000"/>
                  </a:schemeClr>
                </a:solidFill>
              </a:rPr>
              <a:t>  ARAHAN DIGANTI — SUPERSEDED_BY_LATEST_BARIAH_SCREENSHOT:</a:t>
            </a:r>
          </a:p>
          <a:p>
            <a:r>
              <a:rPr lang="en-MY" sz="900" dirty="0">
                <a:solidFill>
                  <a:schemeClr val="tx1">
                    <a:lumMod val="85000"/>
                    <a:lumOff val="15000"/>
                  </a:schemeClr>
                </a:solidFill>
              </a:rPr>
              <a:t>    aktif: [Visual: Pelbagai Struktur Persisir Air. Tidak dibenamkan.]</a:t>
            </a:r>
          </a:p>
          <a:p>
            <a:r>
              <a:rPr lang="en-MY" sz="900" dirty="0">
                <a:solidFill>
                  <a:schemeClr val="tx1">
                    <a:lumMod val="85000"/>
                    <a:lumOff val="15000"/>
                  </a:schemeClr>
                </a:solidFill>
              </a:rPr>
              <a:t>    diganti: [Visual: Rajah 23 — Contoh Boardwalk dalam Taman Paya Bakau, modul ms 239. Tidak dibenamkan.]</a:t>
            </a:r>
          </a:p>
          <a:p>
            <a:r>
              <a:rPr lang="en-MY" sz="900" dirty="0">
                <a:solidFill>
                  <a:schemeClr val="tx1">
                    <a:lumMod val="85000"/>
                    <a:lumOff val="15000"/>
                  </a:schemeClr>
                </a:solidFill>
              </a:rPr>
              <a:t>    lokasi lama: annotated Bariah review deck, slide 10, component-main exemplar</a:t>
            </a:r>
          </a:p>
          <a:p>
            <a:r>
              <a:rPr lang="en-MY" sz="900" dirty="0">
                <a:solidFill>
                  <a:schemeClr val="tx1">
                    <a:lumMod val="85000"/>
                    <a:lumOff val="15000"/>
                  </a:schemeClr>
                </a:solidFill>
              </a:rPr>
              <a:t>    bukti pengganti: B02_BARIAH_STRUKTUR_PERSISIR_EVIDENCE.jpg</a:t>
            </a:r>
          </a:p>
          <a:p>
            <a:r>
              <a:rPr lang="en-MY" sz="900" dirty="0">
                <a:solidFill>
                  <a:schemeClr val="tx1">
                    <a:lumMod val="85000"/>
                    <a:lumOff val="15000"/>
                  </a:schemeClr>
                </a:solidFill>
              </a:rPr>
              <a:t>    nota: Rajah 23 remains the source-attested direction of the Boardwalk EXAMPLE row. What is superseded is its use as the COMPONENT-MAIN screen direction.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6"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48"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49"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[component_complete[STRUKTUR_PERSISIR_AIR]]</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Promenade — [Visual: Promenade Tasik Titiwangsa, KL]</a:t>
            </a:r>
          </a:p>
          <a:p>
            <a:r>
              <a:rPr lang="en-MY" sz="900" dirty="0">
                <a:solidFill>
                  <a:schemeClr val="tx1">
                    <a:lumMod val="85000"/>
                    <a:lumOff val="15000"/>
                  </a:schemeClr>
                </a:solidFill>
              </a:rPr>
              <a:t>    Jeti — [Visual: Jeti Lumut, Perak]</a:t>
            </a:r>
          </a:p>
          <a:p>
            <a:r>
              <a:rPr lang="en-MY" sz="900" dirty="0">
                <a:solidFill>
                  <a:schemeClr val="tx1">
                    <a:lumMod val="85000"/>
                    <a:lumOff val="15000"/>
                  </a:schemeClr>
                </a:solidFill>
              </a:rPr>
              <a:t>    Dek Kayu — [Visual: Wetland Park Putrajaya]</a:t>
            </a:r>
          </a:p>
          <a:p>
            <a:r>
              <a:rPr lang="en-MY" sz="900" dirty="0">
                <a:solidFill>
                  <a:schemeClr val="tx1">
                    <a:lumMod val="85000"/>
                    <a:lumOff val="15000"/>
                  </a:schemeClr>
                </a:solidFill>
              </a:rPr>
              <a:t>    Boardwalk — [Visual: Rajah 23 — Contoh Boardwalk dalam Taman Paya Bakau, modul ms 239. Aset K5PL06T03-B02-IMG-p239-x20. Tidak dibenamkan.]</a:t>
            </a:r>
          </a:p>
          <a:p>
            <a:r>
              <a:rPr lang="en-MY" sz="900" dirty="0">
                <a:solidFill>
                  <a:schemeClr val="tx1">
                    <a:lumMod val="85000"/>
                    <a:lumOff val="15000"/>
                  </a:schemeClr>
                </a:solidFill>
              </a:rPr>
              <a:t>    Footbridge — [Visual: Footbridge Taman Botani Perdana]</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7"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8"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49"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0"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i="1" dirty="0">
                <a:solidFill>
                  <a:schemeClr val="tx1">
                    <a:lumMod val="85000"/>
                    <a:lumOff val="15000"/>
                  </a:schemeClr>
                </a:solidFill>
              </a:rPr>
              <a:t>Promenade</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Laluan lebar di sepanjang pinggir air, selesa untuk</a:t>
            </a:r>
          </a:p>
          <a:p>
            <a:pPr/>
            <a:r>
              <a:rPr lang="en-MY" sz="1250" dirty="0">
                <a:solidFill>
                  <a:schemeClr val="tx1">
                    <a:lumMod val="85000"/>
                    <a:lumOff val="15000"/>
                  </a:schemeClr>
                </a:solidFill>
              </a:rPr>
              <a:t>berjalan dan bersantai.</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i="1" dirty="0">
                <a:solidFill>
                  <a:schemeClr val="tx1">
                    <a:lumMod val="85000"/>
                    <a:lumOff val="15000"/>
                  </a:schemeClr>
                </a:solidFill>
              </a:rPr>
              <a:t>Promenade</a:t>
            </a:r>
            <a:r>
              <a:rPr lang="en-MY" sz="1250" dirty="0">
                <a:solidFill>
                  <a:schemeClr val="tx1">
                    <a:lumMod val="85000"/>
                    <a:lumOff val="15000"/>
                  </a:schemeClr>
                </a:solidFill>
              </a:rPr>
              <a:t> Tasik Titiwangsa, KL</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a:t>
            </a:r>
            <a:r>
              <a:rPr lang="en-MY" sz="1150" i="1" dirty="0">
                <a:solidFill>
                  <a:schemeClr val="tx1">
                    <a:lumMod val="85000"/>
                    <a:lumOff val="15000"/>
                  </a:schemeClr>
                </a:solidFill>
              </a:rPr>
              <a:t>Promenade</a:t>
            </a:r>
            <a:r>
              <a:rPr lang="en-MY" sz="1150" dirty="0">
                <a:solidFill>
                  <a:schemeClr val="tx1">
                    <a:lumMod val="85000"/>
                    <a:lumOff val="15000"/>
                  </a:schemeClr>
                </a:solidFill>
              </a:rPr>
              <a:t> Tasik Titiwangsa, KL]</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8"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9"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0"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1"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Jeti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Platform atau pelantar panjang untuk akses ke air,</a:t>
            </a:r>
          </a:p>
          <a:p>
            <a:pPr/>
            <a:r>
              <a:rPr lang="en-MY" sz="1250" dirty="0">
                <a:solidFill>
                  <a:schemeClr val="tx1">
                    <a:lumMod val="85000"/>
                    <a:lumOff val="15000"/>
                  </a:schemeClr>
                </a:solidFill>
              </a:rPr>
              <a:t>sering digunakan untuk bot.</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Jeti Lumut, Perak</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Jeti Lumut, Perak]</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II_STRUKTUR_PERSISIR_AIR_EX02  &lt;-  K5-PL06-T03-B02-STRUKTUR-PERSISIR-AIR-ROW-02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1"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2"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Dek Kayu</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Ruang kayu terbuka di atas atau berhampiran air</a:t>
            </a:r>
          </a:p>
          <a:p>
            <a:pPr/>
            <a:r>
              <a:rPr lang="en-MY" sz="1250" dirty="0">
                <a:solidFill>
                  <a:schemeClr val="tx1">
                    <a:lumMod val="85000"/>
                    <a:lumOff val="15000"/>
                  </a:schemeClr>
                </a:solidFill>
              </a:rPr>
              <a:t>untuk rehat &amp; pemandangan.</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Wetland Park Putrajaya</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Wetland Park Putrajaya]</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II_STRUKTUR_PERSISIR_AIR_EX03  &lt;-  K5-PL06-T03-B02-STRUKTUR-PERSISIR-AIR-ROW-03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2"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3"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i="1" dirty="0">
                <a:solidFill>
                  <a:schemeClr val="tx1">
                    <a:lumMod val="85000"/>
                    <a:lumOff val="15000"/>
                  </a:schemeClr>
                </a:solidFill>
              </a:rPr>
              <a:t>Boardwalk</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Laluan kayu di atas tanah berpaya/basah, mesra alam</a:t>
            </a:r>
          </a:p>
          <a:p>
            <a:pPr/>
            <a:r>
              <a:rPr lang="en-MY" sz="1250" dirty="0">
                <a:solidFill>
                  <a:schemeClr val="tx1">
                    <a:lumMod val="85000"/>
                    <a:lumOff val="15000"/>
                  </a:schemeClr>
                </a:solidFill>
              </a:rPr>
              <a:t>dan visual semula jadi.</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i="1" dirty="0">
                <a:solidFill>
                  <a:schemeClr val="tx1">
                    <a:lumMod val="85000"/>
                    <a:lumOff val="15000"/>
                  </a:schemeClr>
                </a:solidFill>
              </a:rPr>
              <a:t>Boardwalk</a:t>
            </a:r>
            <a:r>
              <a:rPr lang="en-MY" sz="1250" dirty="0">
                <a:solidFill>
                  <a:schemeClr val="tx1">
                    <a:lumMod val="85000"/>
                    <a:lumOff val="15000"/>
                  </a:schemeClr>
                </a:solidFill>
              </a:rPr>
              <a:t> Paya Indah Wetlands</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804672"/>
          </a:xfrm>
          <a:prstGeom prst="rect">
            <a:avLst/>
          </a:prstGeom>
          <a:noFill/>
        </p:spPr>
        <p:txBody>
          <a:bodyPr wrap="square">
            <a:noAutofit/>
          </a:bodyPr>
          <a:lstStyle/>
          <a:p>
            <a:pPr/>
            <a:r>
              <a:rPr lang="en-MY" sz="1150" dirty="0">
                <a:solidFill>
                  <a:schemeClr val="tx1">
                    <a:lumMod val="85000"/>
                    <a:lumOff val="15000"/>
                  </a:schemeClr>
                </a:solidFill>
              </a:rPr>
              <a:t>[Visual: Rajah 23 — Contoh </a:t>
            </a:r>
            <a:r>
              <a:rPr lang="en-MY" sz="1150" i="1" dirty="0">
                <a:solidFill>
                  <a:schemeClr val="tx1">
                    <a:lumMod val="85000"/>
                    <a:lumOff val="15000"/>
                  </a:schemeClr>
                </a:solidFill>
              </a:rPr>
              <a:t>Boardwalk</a:t>
            </a:r>
            <a:r>
              <a:rPr lang="en-MY" sz="1150" dirty="0">
                <a:solidFill>
                  <a:schemeClr val="tx1">
                    <a:lumMod val="85000"/>
                    <a:lumOff val="15000"/>
                  </a:schemeClr>
                </a:solidFill>
              </a:rPr>
              <a:t> dalam</a:t>
            </a:r>
          </a:p>
          <a:p>
            <a:pPr/>
            <a:r>
              <a:rPr lang="en-MY" sz="1150" dirty="0">
                <a:solidFill>
                  <a:schemeClr val="tx1">
                    <a:lumMod val="85000"/>
                    <a:lumOff val="15000"/>
                  </a:schemeClr>
                </a:solidFill>
              </a:rPr>
              <a:t>Taman Paya Bakau, modul ms 239. Aset</a:t>
            </a:r>
          </a:p>
          <a:p>
            <a:pPr/>
            <a:r>
              <a:rPr lang="en-MY" sz="1150" dirty="0">
                <a:solidFill>
                  <a:schemeClr val="tx1">
                    <a:lumMod val="85000"/>
                    <a:lumOff val="15000"/>
                  </a:schemeClr>
                </a:solidFill>
              </a:rPr>
              <a:t>K5PL06T03-B02-IMG-p239-x20. Tidak</a:t>
            </a:r>
          </a:p>
          <a:p>
            <a:pPr/>
            <a:r>
              <a:rPr lang="en-MY" sz="1150" dirty="0">
                <a:solidFill>
                  <a:schemeClr val="tx1">
                    <a:lumMod val="85000"/>
                    <a:lumOff val="15000"/>
                  </a:schemeClr>
                </a:solidFill>
              </a:rPr>
              <a:t>dibenamkan.]</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K5PL06T03-B02-IMG-p239-x20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II_STRUKTUR_PERSISIR_AIR_EX04  &lt;-  K5-PL06-T03-B02-STRUKTUR-PERSISIR-AIR-ROW-04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i="1" dirty="0">
                <a:solidFill>
                  <a:schemeClr val="tx1">
                    <a:lumMod val="85000"/>
                    <a:lumOff val="15000"/>
                  </a:schemeClr>
                </a:solidFill>
              </a:rPr>
              <a:t>Footbridge</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Jambatan kecil untuk laluan pejalan kaki melintasi</a:t>
            </a:r>
          </a:p>
          <a:p>
            <a:pPr/>
            <a:r>
              <a:rPr lang="en-MY" sz="1250" dirty="0">
                <a:solidFill>
                  <a:schemeClr val="tx1">
                    <a:lumMod val="85000"/>
                    <a:lumOff val="15000"/>
                  </a:schemeClr>
                </a:solidFill>
              </a:rPr>
              <a:t>aliran air atau longkang besar.</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i="1" dirty="0">
                <a:solidFill>
                  <a:schemeClr val="tx1">
                    <a:lumMod val="85000"/>
                    <a:lumOff val="15000"/>
                  </a:schemeClr>
                </a:solidFill>
              </a:rPr>
              <a:t>Footbridge</a:t>
            </a:r>
            <a:r>
              <a:rPr lang="en-MY" sz="1250" dirty="0">
                <a:solidFill>
                  <a:schemeClr val="tx1">
                    <a:lumMod val="85000"/>
                    <a:lumOff val="15000"/>
                  </a:schemeClr>
                </a:solidFill>
              </a:rPr>
              <a:t> Taman Botani Perdana</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a:t>
            </a:r>
            <a:r>
              <a:rPr lang="en-MY" sz="1150" i="1" dirty="0">
                <a:solidFill>
                  <a:schemeClr val="tx1">
                    <a:lumMod val="85000"/>
                    <a:lumOff val="15000"/>
                  </a:schemeClr>
                </a:solidFill>
              </a:rPr>
              <a:t>Footbridge</a:t>
            </a:r>
            <a:r>
              <a:rPr lang="en-MY" sz="1150" dirty="0">
                <a:solidFill>
                  <a:schemeClr val="tx1">
                    <a:lumMod val="85000"/>
                    <a:lumOff val="15000"/>
                  </a:schemeClr>
                </a:solidFill>
              </a:rPr>
              <a:t> Taman Botani Perdana]</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Teduhan</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Perlindungan daripada matahari dan hujan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Mewujudkan ruang selesa untuk bersantai atau berinteraksi</a:t>
            </a:r>
          </a:p>
        </p:txBody>
      </p:sp>
      <p:sp>
        <p:nvSpPr>
          <p:cNvPr id="30" name="VisualDir"/>
          <p:cNvSpPr txBox="1"/>
          <p:nvPr/>
        </p:nvSpPr>
        <p:spPr>
          <a:xfrm>
            <a:off x="723930" y="4663440"/>
            <a:ext cx="10744200" cy="365760"/>
          </a:xfrm>
          <a:prstGeom prst="rect">
            <a:avLst/>
          </a:prstGeom>
          <a:noFill/>
        </p:spPr>
        <p:txBody>
          <a:bodyPr wrap="square">
            <a:noAutofit/>
          </a:bodyPr>
          <a:lstStyle/>
          <a:p>
            <a:pPr/>
            <a:r>
              <a:rPr lang="en-MY" sz="1100" dirty="0">
                <a:solidFill>
                  <a:srgbClr val="808080"/>
                </a:solidFill>
              </a:rPr>
              <a:t>[Visual: Rajah 24 — Contoh Pergola, modul ms 240. Tidak dibenamkan.]</a:t>
            </a:r>
          </a:p>
        </p:txBody>
      </p:sp>
      <p:sp>
        <p:nvSpPr>
          <p:cNvPr id="300" name="OverviewHead"/>
          <p:cNvSpPr txBox="1"/>
          <p:nvPr/>
        </p:nvSpPr>
        <p:spPr>
          <a:xfrm>
            <a:off x="723930" y="5084064"/>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321808"/>
            <a:ext cx="2002536"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376672"/>
            <a:ext cx="1819656" cy="193853"/>
          </a:xfrm>
          <a:prstGeom prst="rect">
            <a:avLst/>
          </a:prstGeom>
          <a:noFill/>
        </p:spPr>
        <p:txBody>
          <a:bodyPr wrap="square">
            <a:noAutofit/>
          </a:bodyPr>
          <a:lstStyle/>
          <a:p>
            <a:pPr/>
            <a:r>
              <a:rPr lang="en-MY" sz="900" b="1" dirty="0">
                <a:solidFill>
                  <a:schemeClr val="tx1">
                    <a:lumMod val="85000"/>
                    <a:lumOff val="15000"/>
                  </a:schemeClr>
                </a:solidFill>
              </a:rPr>
              <a:t>Gazebo</a:t>
            </a:r>
          </a:p>
        </p:txBody>
      </p:sp>
      <p:sp>
        <p:nvSpPr>
          <p:cNvPr id="303" name="OverviewDir"/>
          <p:cNvSpPr txBox="1"/>
          <p:nvPr/>
        </p:nvSpPr>
        <p:spPr>
          <a:xfrm>
            <a:off x="815370" y="5607101"/>
            <a:ext cx="1819656" cy="512064"/>
          </a:xfrm>
          <a:prstGeom prst="rect">
            <a:avLst/>
          </a:prstGeom>
          <a:noFill/>
        </p:spPr>
        <p:txBody>
          <a:bodyPr wrap="square">
            <a:noAutofit/>
          </a:bodyPr>
          <a:lstStyle/>
          <a:p>
            <a:pPr/>
            <a:r>
              <a:rPr lang="en-MY" sz="750" dirty="0">
                <a:solidFill>
                  <a:srgbClr val="808080"/>
                </a:solidFill>
              </a:rPr>
              <a:t>[Visual: Taman Tasik Shah Alam]</a:t>
            </a:r>
          </a:p>
        </p:txBody>
      </p:sp>
      <p:sp>
        <p:nvSpPr>
          <p:cNvPr id="304" name="OverviewCard"/>
          <p:cNvSpPr txBox="1"/>
          <p:nvPr/>
        </p:nvSpPr>
        <p:spPr>
          <a:xfrm>
            <a:off x="2909346" y="5321808"/>
            <a:ext cx="2002536"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000786" y="5376672"/>
            <a:ext cx="1819656" cy="193853"/>
          </a:xfrm>
          <a:prstGeom prst="rect">
            <a:avLst/>
          </a:prstGeom>
          <a:noFill/>
        </p:spPr>
        <p:txBody>
          <a:bodyPr wrap="square">
            <a:noAutofit/>
          </a:bodyPr>
          <a:lstStyle/>
          <a:p>
            <a:pPr/>
            <a:r>
              <a:rPr lang="en-MY" sz="900" b="1" dirty="0">
                <a:solidFill>
                  <a:schemeClr val="tx1">
                    <a:lumMod val="85000"/>
                    <a:lumOff val="15000"/>
                  </a:schemeClr>
                </a:solidFill>
              </a:rPr>
              <a:t>Wakaf</a:t>
            </a:r>
          </a:p>
        </p:txBody>
      </p:sp>
      <p:sp>
        <p:nvSpPr>
          <p:cNvPr id="306" name="OverviewDir"/>
          <p:cNvSpPr txBox="1"/>
          <p:nvPr/>
        </p:nvSpPr>
        <p:spPr>
          <a:xfrm>
            <a:off x="3000786" y="5607101"/>
            <a:ext cx="1819656" cy="512064"/>
          </a:xfrm>
          <a:prstGeom prst="rect">
            <a:avLst/>
          </a:prstGeom>
          <a:noFill/>
        </p:spPr>
        <p:txBody>
          <a:bodyPr wrap="square">
            <a:noAutofit/>
          </a:bodyPr>
          <a:lstStyle/>
          <a:p>
            <a:pPr/>
            <a:r>
              <a:rPr lang="en-MY" sz="750" dirty="0">
                <a:solidFill>
                  <a:srgbClr val="808080"/>
                </a:solidFill>
              </a:rPr>
              <a:t>[Visual: Wakaf di Taman Desa, KL]</a:t>
            </a:r>
          </a:p>
        </p:txBody>
      </p:sp>
      <p:sp>
        <p:nvSpPr>
          <p:cNvPr id="307" name="OverviewCard"/>
          <p:cNvSpPr txBox="1"/>
          <p:nvPr/>
        </p:nvSpPr>
        <p:spPr>
          <a:xfrm>
            <a:off x="5094762" y="5321808"/>
            <a:ext cx="2002536" cy="870509"/>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186202" y="5376672"/>
            <a:ext cx="1819656" cy="193853"/>
          </a:xfrm>
          <a:prstGeom prst="rect">
            <a:avLst/>
          </a:prstGeom>
          <a:noFill/>
        </p:spPr>
        <p:txBody>
          <a:bodyPr wrap="square">
            <a:noAutofit/>
          </a:bodyPr>
          <a:lstStyle/>
          <a:p>
            <a:pPr/>
            <a:r>
              <a:rPr lang="en-MY" sz="900" b="1" dirty="0">
                <a:solidFill>
                  <a:schemeClr val="tx1">
                    <a:lumMod val="85000"/>
                    <a:lumOff val="15000"/>
                  </a:schemeClr>
                </a:solidFill>
              </a:rPr>
              <a:t>Pergola</a:t>
            </a:r>
          </a:p>
        </p:txBody>
      </p:sp>
      <p:sp>
        <p:nvSpPr>
          <p:cNvPr id="309" name="OverviewDir"/>
          <p:cNvSpPr txBox="1"/>
          <p:nvPr/>
        </p:nvSpPr>
        <p:spPr>
          <a:xfrm>
            <a:off x="5186202" y="5607101"/>
            <a:ext cx="1819656" cy="512064"/>
          </a:xfrm>
          <a:prstGeom prst="rect">
            <a:avLst/>
          </a:prstGeom>
          <a:noFill/>
        </p:spPr>
        <p:txBody>
          <a:bodyPr wrap="square">
            <a:noAutofit/>
          </a:bodyPr>
          <a:lstStyle/>
          <a:p>
            <a:pPr/>
            <a:r>
              <a:rPr lang="en-MY" sz="750" dirty="0">
                <a:solidFill>
                  <a:srgbClr val="808080"/>
                </a:solidFill>
              </a:rPr>
              <a:t>[Visual: Rajah 24 — Contoh Pergola,</a:t>
            </a:r>
          </a:p>
          <a:p>
            <a:pPr/>
            <a:r>
              <a:rPr lang="en-MY" sz="750" dirty="0">
                <a:solidFill>
                  <a:srgbClr val="808080"/>
                </a:solidFill>
              </a:rPr>
              <a:t>modul ms 240. Aset</a:t>
            </a:r>
          </a:p>
          <a:p>
            <a:pPr/>
            <a:r>
              <a:rPr lang="en-MY" sz="750" dirty="0">
                <a:solidFill>
                  <a:srgbClr val="808080"/>
                </a:solidFill>
              </a:rPr>
              <a:t>K5PL06T03-B02-IMG-p240-x23. Tidak</a:t>
            </a:r>
          </a:p>
          <a:p>
            <a:pPr/>
            <a:r>
              <a:rPr lang="en-MY" sz="750" dirty="0">
                <a:solidFill>
                  <a:srgbClr val="808080"/>
                </a:solidFill>
              </a:rPr>
              <a:t>dibenamkan.]</a:t>
            </a:r>
          </a:p>
        </p:txBody>
      </p:sp>
      <p:sp>
        <p:nvSpPr>
          <p:cNvPr id="310" name="OverviewCard"/>
          <p:cNvSpPr txBox="1"/>
          <p:nvPr/>
        </p:nvSpPr>
        <p:spPr>
          <a:xfrm>
            <a:off x="7280178" y="5321808"/>
            <a:ext cx="2002536" cy="870509"/>
          </a:xfrm>
          <a:prstGeom prst="rect">
            <a:avLst/>
          </a:prstGeom>
          <a:solidFill>
            <a:srgbClr val="F7F7F7"/>
          </a:solidFill>
          <a:ln w="12700">
            <a:solidFill>
              <a:srgbClr val="BFBFBF"/>
            </a:solidFill>
          </a:ln>
        </p:spPr>
        <p:txBody>
          <a:bodyPr wrap="square">
            <a:noAutofit/>
          </a:bodyPr>
          <a:lstStyle/>
        </p:txBody>
      </p:sp>
      <p:sp>
        <p:nvSpPr>
          <p:cNvPr id="311" name="OverviewSubject"/>
          <p:cNvSpPr txBox="1"/>
          <p:nvPr/>
        </p:nvSpPr>
        <p:spPr>
          <a:xfrm>
            <a:off x="7371618" y="5376672"/>
            <a:ext cx="1819656" cy="193853"/>
          </a:xfrm>
          <a:prstGeom prst="rect">
            <a:avLst/>
          </a:prstGeom>
          <a:noFill/>
        </p:spPr>
        <p:txBody>
          <a:bodyPr wrap="square">
            <a:noAutofit/>
          </a:bodyPr>
          <a:lstStyle/>
          <a:p>
            <a:pPr/>
            <a:r>
              <a:rPr lang="en-MY" sz="900" b="1" dirty="0">
                <a:solidFill>
                  <a:schemeClr val="tx1">
                    <a:lumMod val="85000"/>
                    <a:lumOff val="15000"/>
                  </a:schemeClr>
                </a:solidFill>
              </a:rPr>
              <a:t>Canopy</a:t>
            </a:r>
          </a:p>
        </p:txBody>
      </p:sp>
      <p:sp>
        <p:nvSpPr>
          <p:cNvPr id="312" name="OverviewDir"/>
          <p:cNvSpPr txBox="1"/>
          <p:nvPr/>
        </p:nvSpPr>
        <p:spPr>
          <a:xfrm>
            <a:off x="7371618" y="5607101"/>
            <a:ext cx="1819656" cy="512064"/>
          </a:xfrm>
          <a:prstGeom prst="rect">
            <a:avLst/>
          </a:prstGeom>
          <a:noFill/>
        </p:spPr>
        <p:txBody>
          <a:bodyPr wrap="square">
            <a:noAutofit/>
          </a:bodyPr>
          <a:lstStyle/>
          <a:p>
            <a:pPr/>
            <a:r>
              <a:rPr lang="en-MY" sz="750" dirty="0">
                <a:solidFill>
                  <a:srgbClr val="808080"/>
                </a:solidFill>
              </a:rPr>
              <a:t>[Visual: Canopy rekreasi di Taman</a:t>
            </a:r>
          </a:p>
          <a:p>
            <a:pPr/>
            <a:r>
              <a:rPr lang="en-MY" sz="750" dirty="0">
                <a:solidFill>
                  <a:srgbClr val="808080"/>
                </a:solidFill>
              </a:rPr>
              <a:t>Jaya]</a:t>
            </a:r>
          </a:p>
        </p:txBody>
      </p:sp>
      <p:sp>
        <p:nvSpPr>
          <p:cNvPr id="313" name="OverviewCard"/>
          <p:cNvSpPr txBox="1"/>
          <p:nvPr/>
        </p:nvSpPr>
        <p:spPr>
          <a:xfrm>
            <a:off x="9465594" y="5321808"/>
            <a:ext cx="2002536" cy="870509"/>
          </a:xfrm>
          <a:prstGeom prst="rect">
            <a:avLst/>
          </a:prstGeom>
          <a:solidFill>
            <a:srgbClr val="F7F7F7"/>
          </a:solidFill>
          <a:ln w="12700">
            <a:solidFill>
              <a:srgbClr val="BFBFBF"/>
            </a:solidFill>
          </a:ln>
        </p:spPr>
        <p:txBody>
          <a:bodyPr wrap="square">
            <a:noAutofit/>
          </a:bodyPr>
          <a:lstStyle/>
        </p:txBody>
      </p:sp>
      <p:sp>
        <p:nvSpPr>
          <p:cNvPr id="314" name="OverviewSubject"/>
          <p:cNvSpPr txBox="1"/>
          <p:nvPr/>
        </p:nvSpPr>
        <p:spPr>
          <a:xfrm>
            <a:off x="9557034" y="5376672"/>
            <a:ext cx="1819656" cy="193853"/>
          </a:xfrm>
          <a:prstGeom prst="rect">
            <a:avLst/>
          </a:prstGeom>
          <a:noFill/>
        </p:spPr>
        <p:txBody>
          <a:bodyPr wrap="square">
            <a:noAutofit/>
          </a:bodyPr>
          <a:lstStyle/>
          <a:p>
            <a:pPr/>
            <a:r>
              <a:rPr lang="en-MY" sz="900" b="1" dirty="0">
                <a:solidFill>
                  <a:schemeClr val="tx1">
                    <a:lumMod val="85000"/>
                    <a:lumOff val="15000"/>
                  </a:schemeClr>
                </a:solidFill>
              </a:rPr>
              <a:t>Struktur Teduhan Moden</a:t>
            </a:r>
          </a:p>
        </p:txBody>
      </p:sp>
      <p:sp>
        <p:nvSpPr>
          <p:cNvPr id="315" name="OverviewDir"/>
          <p:cNvSpPr txBox="1"/>
          <p:nvPr/>
        </p:nvSpPr>
        <p:spPr>
          <a:xfrm>
            <a:off x="9557034" y="5607101"/>
            <a:ext cx="1819656" cy="512064"/>
          </a:xfrm>
          <a:prstGeom prst="rect">
            <a:avLst/>
          </a:prstGeom>
          <a:noFill/>
        </p:spPr>
        <p:txBody>
          <a:bodyPr wrap="square">
            <a:noAutofit/>
          </a:bodyPr>
          <a:lstStyle/>
          <a:p>
            <a:pPr/>
            <a:r>
              <a:rPr lang="en-MY" sz="750" dirty="0">
                <a:solidFill>
                  <a:srgbClr val="808080"/>
                </a:solidFill>
              </a:rPr>
              <a:t>[Visual: Banyak kawasan awam di</a:t>
            </a:r>
          </a:p>
          <a:p>
            <a:pPr/>
            <a:r>
              <a:rPr lang="en-MY" sz="750" dirty="0">
                <a:solidFill>
                  <a:srgbClr val="808080"/>
                </a:solidFill>
              </a:rPr>
              <a:t>Putrajaya]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Teduhan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SCR_STRUKTUR_TEDUHAN_MAIN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6"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48"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[component_complete[STRUKTUR_TEDUHAN]]</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Gazebo — [Visual: Taman Tasik Shah Alam]</a:t>
            </a:r>
          </a:p>
          <a:p>
            <a:r>
              <a:rPr lang="en-MY" sz="900" dirty="0">
                <a:solidFill>
                  <a:schemeClr val="tx1">
                    <a:lumMod val="85000"/>
                    <a:lumOff val="15000"/>
                  </a:schemeClr>
                </a:solidFill>
              </a:rPr>
              <a:t>    Wakaf — [Visual: Wakaf di Taman Desa, KL]</a:t>
            </a:r>
          </a:p>
          <a:p>
            <a:r>
              <a:rPr lang="en-MY" sz="900" dirty="0">
                <a:solidFill>
                  <a:schemeClr val="tx1">
                    <a:lumMod val="85000"/>
                    <a:lumOff val="15000"/>
                  </a:schemeClr>
                </a:solidFill>
              </a:rPr>
              <a:t>    Pergola — [Visual: Rajah 24 — Contoh Pergola, modul ms 240. Aset K5PL06T03-B02-IMG-p240-x23. Tidak dibenamkan.]</a:t>
            </a:r>
          </a:p>
          <a:p>
            <a:r>
              <a:rPr lang="en-MY" sz="900" dirty="0">
                <a:solidFill>
                  <a:schemeClr val="tx1">
                    <a:lumMod val="85000"/>
                    <a:lumOff val="15000"/>
                  </a:schemeClr>
                </a:solidFill>
              </a:rPr>
              <a:t>    Canopy — [Visual: Canopy rekreasi di Taman Jaya]</a:t>
            </a:r>
          </a:p>
          <a:p>
            <a:r>
              <a:rPr lang="en-MY" sz="900" dirty="0">
                <a:solidFill>
                  <a:schemeClr val="tx1">
                    <a:lumMod val="85000"/>
                    <a:lumOff val="15000"/>
                  </a:schemeClr>
                </a:solidFill>
              </a:rPr>
              <a:t>    Struktur Teduhan Moden — [Visual: Banyak kawasan awam di Putrajaya]</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7"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8"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49"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0"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Gazebo</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Struktur berbumbung terbuka untuk bersantai atau</a:t>
            </a:r>
          </a:p>
          <a:p>
            <a:pPr/>
            <a:r>
              <a:rPr lang="en-MY" sz="1250" dirty="0">
                <a:solidFill>
                  <a:schemeClr val="tx1">
                    <a:lumMod val="85000"/>
                    <a:lumOff val="15000"/>
                  </a:schemeClr>
                </a:solidFill>
              </a:rPr>
              <a:t>menikmati pemandangan.</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Taman Tasik Shah Alam</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Taman Tasik Shah Alam]</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8"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9"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0"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1"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Wakaf</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Struktur tradisional Melayu yang digunakan sebagai</a:t>
            </a:r>
          </a:p>
          <a:p>
            <a:pPr/>
            <a:r>
              <a:rPr lang="en-MY" sz="1250" dirty="0">
                <a:solidFill>
                  <a:schemeClr val="tx1">
                    <a:lumMod val="85000"/>
                    <a:lumOff val="15000"/>
                  </a:schemeClr>
                </a:solidFill>
              </a:rPr>
              <a:t>tempat berehat.</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Wakaf di Taman Desa, KL</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Wakaf di Taman Desa, KL]</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II_STRUKTUR_TEDUHAN_EX02  &lt;-  K5-PL06-T03-B02-STRUKTUR-TEDUHAN-ROW-02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1"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2"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Pergola</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Rangka struktur terbuka yang biasanya ditumbuhi</a:t>
            </a:r>
          </a:p>
          <a:p>
            <a:pPr/>
            <a:r>
              <a:rPr lang="en-MY" sz="1250" dirty="0">
                <a:solidFill>
                  <a:schemeClr val="tx1">
                    <a:lumMod val="85000"/>
                    <a:lumOff val="15000"/>
                  </a:schemeClr>
                </a:solidFill>
              </a:rPr>
              <a:t>tanaman pemanjat seperti bougainvillea.</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Pergola di Laman Herba Putrajaya</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621792"/>
          </a:xfrm>
          <a:prstGeom prst="rect">
            <a:avLst/>
          </a:prstGeom>
          <a:noFill/>
        </p:spPr>
        <p:txBody>
          <a:bodyPr wrap="square">
            <a:noAutofit/>
          </a:bodyPr>
          <a:lstStyle/>
          <a:p>
            <a:pPr/>
            <a:r>
              <a:rPr lang="en-MY" sz="1150" dirty="0">
                <a:solidFill>
                  <a:schemeClr val="tx1">
                    <a:lumMod val="85000"/>
                    <a:lumOff val="15000"/>
                  </a:schemeClr>
                </a:solidFill>
              </a:rPr>
              <a:t>[Visual: Rajah 24 — Contoh Pergola, modul</a:t>
            </a:r>
          </a:p>
          <a:p>
            <a:pPr/>
            <a:r>
              <a:rPr lang="en-MY" sz="1150" dirty="0">
                <a:solidFill>
                  <a:schemeClr val="tx1">
                    <a:lumMod val="85000"/>
                    <a:lumOff val="15000"/>
                  </a:schemeClr>
                </a:solidFill>
              </a:rPr>
              <a:t>ms 240. Aset K5PL06T03-B02-IMG-p240-x23.</a:t>
            </a:r>
          </a:p>
          <a:p>
            <a:pPr/>
            <a:r>
              <a:rPr lang="en-MY" sz="1150" dirty="0">
                <a:solidFill>
                  <a:schemeClr val="tx1">
                    <a:lumMod val="85000"/>
                    <a:lumOff val="15000"/>
                  </a:schemeClr>
                </a:solidFill>
              </a:rPr>
              <a:t>Tidak dibenamkan.]</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K5PL06T03-B02-IMG-p240-x23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II_STRUKTUR_TEDUHAN_EX03  &lt;-  K5-PL06-T03-B02-STRUKTUR-TEDUHAN-ROW-03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2"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3"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Canopy</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Struktur kain atau polikarbonat ringan untuk teduhan</a:t>
            </a:r>
          </a:p>
          <a:p>
            <a:pPr/>
            <a:r>
              <a:rPr lang="en-MY" sz="1250" dirty="0">
                <a:solidFill>
                  <a:schemeClr val="tx1">
                    <a:lumMod val="85000"/>
                    <a:lumOff val="15000"/>
                  </a:schemeClr>
                </a:solidFill>
              </a:rPr>
              <a:t>kawasan aktiviti</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Canopy rekreasi di Taman Jaya</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Canopy rekreasi di Taman Jaya]</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II_STRUKTUR_TEDUHAN_EX04  &lt;-  K5-PL06-T03-B02-STRUKTUR-TEDUHAN-ROW-04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83006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Struktur Teduhan Moden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859536"/>
          </a:xfrm>
          <a:prstGeom prst="rect">
            <a:avLst/>
          </a:prstGeom>
          <a:noFill/>
        </p:spPr>
        <p:txBody>
          <a:bodyPr wrap="square">
            <a:noAutofit/>
          </a:bodyPr>
          <a:lstStyle/>
          <a:p>
            <a:pPr/>
            <a:r>
              <a:rPr lang="en-MY" sz="1250" dirty="0">
                <a:solidFill>
                  <a:schemeClr val="tx1">
                    <a:lumMod val="85000"/>
                    <a:lumOff val="15000"/>
                  </a:schemeClr>
                </a:solidFill>
              </a:rPr>
              <a:t>Struktur teduhan dengan reka bentuk kontemporari,</a:t>
            </a:r>
          </a:p>
          <a:p>
            <a:pPr/>
            <a:r>
              <a:rPr lang="en-MY" sz="1250" dirty="0">
                <a:solidFill>
                  <a:schemeClr val="tx1">
                    <a:lumMod val="85000"/>
                    <a:lumOff val="15000"/>
                  </a:schemeClr>
                </a:solidFill>
              </a:rPr>
              <a:t>menggunakan bahan seperti keluli dan panel lutsinar</a:t>
            </a:r>
          </a:p>
          <a:p>
            <a:pPr/>
            <a:r>
              <a:rPr lang="en-MY" sz="1250" dirty="0">
                <a:solidFill>
                  <a:schemeClr val="tx1">
                    <a:lumMod val="85000"/>
                    <a:lumOff val="15000"/>
                  </a:schemeClr>
                </a:solidFill>
              </a:rPr>
              <a:t>atau berlubang untuk mencipta corak cahaya dan</a:t>
            </a:r>
          </a:p>
          <a:p>
            <a:pPr/>
            <a:r>
              <a:rPr lang="en-MY" sz="1250" dirty="0">
                <a:solidFill>
                  <a:schemeClr val="tx1">
                    <a:lumMod val="85000"/>
                    <a:lumOff val="15000"/>
                  </a:schemeClr>
                </a:solidFill>
              </a:rPr>
              <a:t>bayangan.</a:t>
            </a:r>
          </a:p>
        </p:txBody>
      </p:sp>
      <p:sp>
        <p:nvSpPr>
          <p:cNvPr id="212" name="FHead"/>
          <p:cNvSpPr txBox="1"/>
          <p:nvPr/>
        </p:nvSpPr>
        <p:spPr>
          <a:xfrm>
            <a:off x="1490472" y="3474720"/>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712464"/>
            <a:ext cx="5257800" cy="219456"/>
          </a:xfrm>
          <a:prstGeom prst="rect">
            <a:avLst/>
          </a:prstGeom>
          <a:noFill/>
        </p:spPr>
        <p:txBody>
          <a:bodyPr wrap="square">
            <a:noAutofit/>
          </a:bodyPr>
          <a:lstStyle/>
          <a:p>
            <a:pPr/>
            <a:r>
              <a:rPr lang="en-MY" sz="1250" dirty="0">
                <a:solidFill>
                  <a:schemeClr val="tx1">
                    <a:lumMod val="85000"/>
                    <a:lumOff val="15000"/>
                  </a:schemeClr>
                </a:solidFill>
              </a:rPr>
              <a:t>Banyak kawasan awam di Putrajaya</a:t>
            </a:r>
          </a:p>
        </p:txBody>
      </p:sp>
      <p:sp>
        <p:nvSpPr>
          <p:cNvPr id="230" name="VisualPanel"/>
          <p:cNvSpPr txBox="1"/>
          <p:nvPr/>
        </p:nvSpPr>
        <p:spPr>
          <a:xfrm>
            <a:off x="6903720" y="2157984"/>
            <a:ext cx="3785616" cy="1915668"/>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Banyak kawasan awam di Putrajaya]</a:t>
            </a:r>
          </a:p>
        </p:txBody>
      </p:sp>
      <p:sp>
        <p:nvSpPr>
          <p:cNvPr id="233" name="VisualPanelArea"/>
          <p:cNvSpPr txBox="1"/>
          <p:nvPr/>
        </p:nvSpPr>
        <p:spPr>
          <a:xfrm>
            <a:off x="7068312" y="3799332"/>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Kemudahan Awam</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Perkhidmatan asas untuk keselesaan dan pendidikan pengguna taman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Reka bentuk berfungsi, tahan lasak dan mudah diselenggara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Aksesibiliti OKU satu pertimbangan penting</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Bahan tahan vandalisme dan cuaca</a:t>
            </a:r>
          </a:p>
        </p:txBody>
      </p:sp>
      <p:sp>
        <p:nvSpPr>
          <p:cNvPr id="30" name="VisualDir"/>
          <p:cNvSpPr txBox="1"/>
          <p:nvPr/>
        </p:nvSpPr>
        <p:spPr>
          <a:xfrm>
            <a:off x="723930" y="4663440"/>
            <a:ext cx="10744200" cy="621792"/>
          </a:xfrm>
          <a:prstGeom prst="rect">
            <a:avLst/>
          </a:prstGeom>
          <a:noFill/>
        </p:spPr>
        <p:txBody>
          <a:bodyPr wrap="square">
            <a:noAutofit/>
          </a:bodyPr>
          <a:lstStyle/>
          <a:p>
            <a:pPr/>
            <a:r>
              <a:rPr lang="en-MY" sz="1100" dirty="0">
                <a:solidFill>
                  <a:srgbClr val="808080"/>
                </a:solidFill>
              </a:rPr>
              <a:t>[Visual: TIADA IMEJ SUMBER — NO_DEDICATED_SOURCE_IMAGE. Cadangan rajah native: tiga sel berlabel Tandas Awam</a:t>
            </a:r>
          </a:p>
          <a:p>
            <a:pPr/>
            <a:r>
              <a:rPr lang="en-MY" sz="1100" dirty="0">
                <a:solidFill>
                  <a:srgbClr val="808080"/>
                </a:solidFill>
              </a:rPr>
              <a:t>| Surau | Bangunan Interpretatif. Tidak dilukis, tidak dibenamkan.]</a:t>
            </a:r>
          </a:p>
        </p:txBody>
      </p:sp>
      <p:sp>
        <p:nvSpPr>
          <p:cNvPr id="300" name="OverviewHead"/>
          <p:cNvSpPr txBox="1"/>
          <p:nvPr/>
        </p:nvSpPr>
        <p:spPr>
          <a:xfrm>
            <a:off x="723930" y="534009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577840"/>
            <a:ext cx="2377440" cy="5276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632704"/>
            <a:ext cx="2194560" cy="193853"/>
          </a:xfrm>
          <a:prstGeom prst="rect">
            <a:avLst/>
          </a:prstGeom>
          <a:noFill/>
        </p:spPr>
        <p:txBody>
          <a:bodyPr wrap="square">
            <a:noAutofit/>
          </a:bodyPr>
          <a:lstStyle/>
          <a:p>
            <a:pPr/>
            <a:r>
              <a:rPr lang="en-MY" sz="900" b="1" dirty="0">
                <a:solidFill>
                  <a:schemeClr val="tx1">
                    <a:lumMod val="85000"/>
                    <a:lumOff val="15000"/>
                  </a:schemeClr>
                </a:solidFill>
              </a:rPr>
              <a:t>Tandas Awam</a:t>
            </a:r>
          </a:p>
        </p:txBody>
      </p:sp>
      <p:sp>
        <p:nvSpPr>
          <p:cNvPr id="303" name="OverviewDir"/>
          <p:cNvSpPr txBox="1"/>
          <p:nvPr/>
        </p:nvSpPr>
        <p:spPr>
          <a:xfrm>
            <a:off x="815370" y="5863133"/>
            <a:ext cx="2194560" cy="169164"/>
          </a:xfrm>
          <a:prstGeom prst="rect">
            <a:avLst/>
          </a:prstGeom>
          <a:noFill/>
        </p:spPr>
        <p:txBody>
          <a:bodyPr wrap="square">
            <a:noAutofit/>
          </a:bodyPr>
          <a:lstStyle/>
          <a:p>
            <a:pPr/>
            <a:r>
              <a:rPr lang="en-MY" sz="750" dirty="0">
                <a:solidFill>
                  <a:srgbClr val="808080"/>
                </a:solidFill>
              </a:rPr>
              <a:t>[Visual: Tandas Awam]</a:t>
            </a:r>
          </a:p>
        </p:txBody>
      </p:sp>
      <p:sp>
        <p:nvSpPr>
          <p:cNvPr id="304" name="OverviewCard"/>
          <p:cNvSpPr txBox="1"/>
          <p:nvPr/>
        </p:nvSpPr>
        <p:spPr>
          <a:xfrm>
            <a:off x="3284250" y="5577840"/>
            <a:ext cx="2377440" cy="5276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632704"/>
            <a:ext cx="2194560" cy="193853"/>
          </a:xfrm>
          <a:prstGeom prst="rect">
            <a:avLst/>
          </a:prstGeom>
          <a:noFill/>
        </p:spPr>
        <p:txBody>
          <a:bodyPr wrap="square">
            <a:noAutofit/>
          </a:bodyPr>
          <a:lstStyle/>
          <a:p>
            <a:pPr/>
            <a:r>
              <a:rPr lang="en-MY" sz="900" b="1" dirty="0">
                <a:solidFill>
                  <a:schemeClr val="tx1">
                    <a:lumMod val="85000"/>
                    <a:lumOff val="15000"/>
                  </a:schemeClr>
                </a:solidFill>
              </a:rPr>
              <a:t>Surau</a:t>
            </a:r>
          </a:p>
        </p:txBody>
      </p:sp>
      <p:sp>
        <p:nvSpPr>
          <p:cNvPr id="306" name="OverviewDir"/>
          <p:cNvSpPr txBox="1"/>
          <p:nvPr/>
        </p:nvSpPr>
        <p:spPr>
          <a:xfrm>
            <a:off x="3375690" y="5863133"/>
            <a:ext cx="2194560" cy="169164"/>
          </a:xfrm>
          <a:prstGeom prst="rect">
            <a:avLst/>
          </a:prstGeom>
          <a:noFill/>
        </p:spPr>
        <p:txBody>
          <a:bodyPr wrap="square">
            <a:noAutofit/>
          </a:bodyPr>
          <a:lstStyle/>
          <a:p>
            <a:pPr/>
            <a:r>
              <a:rPr lang="en-MY" sz="750" dirty="0">
                <a:solidFill>
                  <a:srgbClr val="808080"/>
                </a:solidFill>
              </a:rPr>
              <a:t>[Visual: Surau]</a:t>
            </a:r>
          </a:p>
        </p:txBody>
      </p:sp>
      <p:sp>
        <p:nvSpPr>
          <p:cNvPr id="307" name="OverviewCard"/>
          <p:cNvSpPr txBox="1"/>
          <p:nvPr/>
        </p:nvSpPr>
        <p:spPr>
          <a:xfrm>
            <a:off x="5844570" y="5577840"/>
            <a:ext cx="2377440" cy="527609"/>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632704"/>
            <a:ext cx="2194560" cy="193853"/>
          </a:xfrm>
          <a:prstGeom prst="rect">
            <a:avLst/>
          </a:prstGeom>
          <a:noFill/>
        </p:spPr>
        <p:txBody>
          <a:bodyPr wrap="square">
            <a:noAutofit/>
          </a:bodyPr>
          <a:lstStyle/>
          <a:p>
            <a:pPr/>
            <a:r>
              <a:rPr lang="en-MY" sz="900" b="1" dirty="0">
                <a:solidFill>
                  <a:schemeClr val="tx1">
                    <a:lumMod val="85000"/>
                    <a:lumOff val="15000"/>
                  </a:schemeClr>
                </a:solidFill>
              </a:rPr>
              <a:t>Bangunan Interpretatif</a:t>
            </a:r>
          </a:p>
        </p:txBody>
      </p:sp>
      <p:sp>
        <p:nvSpPr>
          <p:cNvPr id="309" name="OverviewDir"/>
          <p:cNvSpPr txBox="1"/>
          <p:nvPr/>
        </p:nvSpPr>
        <p:spPr>
          <a:xfrm>
            <a:off x="5936010" y="5863133"/>
            <a:ext cx="2194560" cy="169164"/>
          </a:xfrm>
          <a:prstGeom prst="rect">
            <a:avLst/>
          </a:prstGeom>
          <a:noFill/>
        </p:spPr>
        <p:txBody>
          <a:bodyPr wrap="square">
            <a:noAutofit/>
          </a:bodyPr>
          <a:lstStyle/>
          <a:p>
            <a:pPr/>
            <a:r>
              <a:rPr lang="en-MY" sz="750" dirty="0">
                <a:solidFill>
                  <a:srgbClr val="808080"/>
                </a:solidFill>
              </a:rPr>
              <a:t>[Visual: Bangunan Interpretatif]</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Kemudahan Awam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SCR_KEMUDAHAN_AWAM_MAIN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[component_complete[KEMUDAHAN_AWAM]]</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Tandas Awam — [Visual: Tandas Awam]</a:t>
            </a:r>
          </a:p>
          <a:p>
            <a:r>
              <a:rPr lang="en-MY" sz="900" dirty="0">
                <a:solidFill>
                  <a:schemeClr val="tx1">
                    <a:lumMod val="85000"/>
                    <a:lumOff val="15000"/>
                  </a:schemeClr>
                </a:solidFill>
              </a:rPr>
              <a:t>    Surau — [Visual: Surau]</a:t>
            </a:r>
          </a:p>
          <a:p>
            <a:r>
              <a:rPr lang="en-MY" sz="900" dirty="0">
                <a:solidFill>
                  <a:schemeClr val="tx1">
                    <a:lumMod val="85000"/>
                    <a:lumOff val="15000"/>
                  </a:schemeClr>
                </a:solidFill>
              </a:rPr>
              <a:t>    Bangunan Interpretatif — [Visual: Bangunan Interpretatif]</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200" name="PopupPanel"/>
          <p:cNvSpPr txBox="1"/>
          <p:nvPr/>
        </p:nvSpPr>
        <p:spPr>
          <a:xfrm>
            <a:off x="1234440" y="1481328"/>
            <a:ext cx="9723090" cy="283006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Tandas Awam</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859536"/>
          </a:xfrm>
          <a:prstGeom prst="rect">
            <a:avLst/>
          </a:prstGeom>
          <a:noFill/>
        </p:spPr>
        <p:txBody>
          <a:bodyPr wrap="square">
            <a:noAutofit/>
          </a:bodyPr>
          <a:lstStyle/>
          <a:p>
            <a:pPr/>
            <a:r>
              <a:rPr lang="en-MY" sz="1250" dirty="0">
                <a:solidFill>
                  <a:schemeClr val="tx1">
                    <a:lumMod val="85000"/>
                    <a:lumOff val="15000"/>
                  </a:schemeClr>
                </a:solidFill>
              </a:rPr>
              <a:t>Kemudahan sanitasi yang bersih dan boleh diakses.</a:t>
            </a:r>
          </a:p>
          <a:p>
            <a:pPr/>
            <a:r>
              <a:rPr lang="en-MY" sz="1250" dirty="0">
                <a:solidFill>
                  <a:schemeClr val="tx1">
                    <a:lumMod val="85000"/>
                    <a:lumOff val="15000"/>
                  </a:schemeClr>
                </a:solidFill>
              </a:rPr>
              <a:t>Pembinaannya perlu mematuhi piawaian kebersihan dan</a:t>
            </a:r>
          </a:p>
          <a:p>
            <a:pPr/>
            <a:r>
              <a:rPr lang="en-MY" sz="1250" dirty="0">
                <a:solidFill>
                  <a:schemeClr val="tx1">
                    <a:lumMod val="85000"/>
                    <a:lumOff val="15000"/>
                  </a:schemeClr>
                </a:solidFill>
              </a:rPr>
              <a:t>mempunyai sistem bekalan air serta saliran yang</a:t>
            </a:r>
          </a:p>
          <a:p>
            <a:pPr/>
            <a:r>
              <a:rPr lang="en-MY" sz="1250" dirty="0">
                <a:solidFill>
                  <a:schemeClr val="tx1">
                    <a:lumMod val="85000"/>
                    <a:lumOff val="15000"/>
                  </a:schemeClr>
                </a:solidFill>
              </a:rPr>
              <a:t>cekap.</a:t>
            </a:r>
          </a:p>
        </p:txBody>
      </p:sp>
      <p:sp>
        <p:nvSpPr>
          <p:cNvPr id="212" name="FHead"/>
          <p:cNvSpPr txBox="1"/>
          <p:nvPr/>
        </p:nvSpPr>
        <p:spPr>
          <a:xfrm>
            <a:off x="1490472" y="3474720"/>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712464"/>
            <a:ext cx="5257800" cy="219456"/>
          </a:xfrm>
          <a:prstGeom prst="rect">
            <a:avLst/>
          </a:prstGeom>
          <a:noFill/>
        </p:spPr>
        <p:txBody>
          <a:bodyPr wrap="square">
            <a:noAutofit/>
          </a:bodyPr>
          <a:lstStyle/>
          <a:p>
            <a:pPr/>
            <a:r>
              <a:rPr lang="en-MY" sz="1250" dirty="0">
                <a:solidFill>
                  <a:schemeClr val="tx1">
                    <a:lumMod val="85000"/>
                    <a:lumOff val="15000"/>
                  </a:schemeClr>
                </a:solidFill>
              </a:rPr>
              <a:t>Tandas Awam</a:t>
            </a:r>
          </a:p>
        </p:txBody>
      </p:sp>
      <p:sp>
        <p:nvSpPr>
          <p:cNvPr id="230" name="VisualPanel"/>
          <p:cNvSpPr txBox="1"/>
          <p:nvPr/>
        </p:nvSpPr>
        <p:spPr>
          <a:xfrm>
            <a:off x="6903720" y="2157984"/>
            <a:ext cx="3785616" cy="1915668"/>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Tandas Awam]</a:t>
            </a:r>
          </a:p>
        </p:txBody>
      </p:sp>
      <p:sp>
        <p:nvSpPr>
          <p:cNvPr id="233" name="VisualPanelArea"/>
          <p:cNvSpPr txBox="1"/>
          <p:nvPr/>
        </p:nvSpPr>
        <p:spPr>
          <a:xfrm>
            <a:off x="7068312" y="3799332"/>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Surau</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644652"/>
          </a:xfrm>
          <a:prstGeom prst="rect">
            <a:avLst/>
          </a:prstGeom>
          <a:noFill/>
        </p:spPr>
        <p:txBody>
          <a:bodyPr wrap="square">
            <a:noAutofit/>
          </a:bodyPr>
          <a:lstStyle/>
          <a:p>
            <a:pPr/>
            <a:r>
              <a:rPr lang="en-MY" sz="1250" dirty="0">
                <a:solidFill>
                  <a:schemeClr val="tx1">
                    <a:lumMod val="85000"/>
                    <a:lumOff val="15000"/>
                  </a:schemeClr>
                </a:solidFill>
              </a:rPr>
              <a:t>Ruang ibadah yang disediakan untuk umat Islam</a:t>
            </a:r>
          </a:p>
          <a:p>
            <a:pPr/>
            <a:r>
              <a:rPr lang="en-MY" sz="1250" dirty="0">
                <a:solidFill>
                  <a:schemeClr val="tx1">
                    <a:lumMod val="85000"/>
                    <a:lumOff val="15000"/>
                  </a:schemeClr>
                </a:solidFill>
              </a:rPr>
              <a:t>menunaikan solat. Reka bentuk biasanya ringkas</a:t>
            </a:r>
          </a:p>
          <a:p>
            <a:pPr/>
            <a:r>
              <a:rPr lang="en-MY" sz="1250" dirty="0">
                <a:solidFill>
                  <a:schemeClr val="tx1">
                    <a:lumMod val="85000"/>
                    <a:lumOff val="15000"/>
                  </a:schemeClr>
                </a:solidFill>
              </a:rPr>
              <a:t>tetapi memenuhi keperluan keagamaan.</a:t>
            </a:r>
          </a:p>
        </p:txBody>
      </p:sp>
      <p:sp>
        <p:nvSpPr>
          <p:cNvPr id="212" name="FHead"/>
          <p:cNvSpPr txBox="1"/>
          <p:nvPr/>
        </p:nvSpPr>
        <p:spPr>
          <a:xfrm>
            <a:off x="1490472" y="3259836"/>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257800" cy="219456"/>
          </a:xfrm>
          <a:prstGeom prst="rect">
            <a:avLst/>
          </a:prstGeom>
          <a:noFill/>
        </p:spPr>
        <p:txBody>
          <a:bodyPr wrap="square">
            <a:noAutofit/>
          </a:bodyPr>
          <a:lstStyle/>
          <a:p>
            <a:pPr/>
            <a:r>
              <a:rPr lang="en-MY" sz="1250" dirty="0">
                <a:solidFill>
                  <a:schemeClr val="tx1">
                    <a:lumMod val="85000"/>
                    <a:lumOff val="15000"/>
                  </a:schemeClr>
                </a:solidFill>
              </a:rPr>
              <a:t>Surau</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Surau]</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II_KEMUDAHAN_AWAM_EX02  &lt;-  K5-PL06-T03-B02-KEMUDAHAN-AWAM-ROW-02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Bangunan Interpretatif</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644652"/>
          </a:xfrm>
          <a:prstGeom prst="rect">
            <a:avLst/>
          </a:prstGeom>
          <a:noFill/>
        </p:spPr>
        <p:txBody>
          <a:bodyPr wrap="square">
            <a:noAutofit/>
          </a:bodyPr>
          <a:lstStyle/>
          <a:p>
            <a:pPr/>
            <a:r>
              <a:rPr lang="en-MY" sz="1250" dirty="0">
                <a:solidFill>
                  <a:schemeClr val="tx1">
                    <a:lumMod val="85000"/>
                    <a:lumOff val="15000"/>
                  </a:schemeClr>
                </a:solidFill>
              </a:rPr>
              <a:t>Struktur yang menyediakan maklumat pendidikan</a:t>
            </a:r>
          </a:p>
          <a:p>
            <a:pPr/>
            <a:r>
              <a:rPr lang="en-MY" sz="1250" dirty="0">
                <a:solidFill>
                  <a:schemeClr val="tx1">
                    <a:lumMod val="85000"/>
                    <a:lumOff val="15000"/>
                  </a:schemeClr>
                </a:solidFill>
              </a:rPr>
              <a:t>tentang persekitaran (flora, fauna, sejarah,</a:t>
            </a:r>
          </a:p>
          <a:p>
            <a:pPr/>
            <a:r>
              <a:rPr lang="en-MY" sz="1250" dirty="0">
                <a:solidFill>
                  <a:schemeClr val="tx1">
                    <a:lumMod val="85000"/>
                    <a:lumOff val="15000"/>
                  </a:schemeClr>
                </a:solidFill>
              </a:rPr>
              <a:t>geologi) melalui pameran, paparan, atau papan tanda.</a:t>
            </a:r>
          </a:p>
        </p:txBody>
      </p:sp>
      <p:sp>
        <p:nvSpPr>
          <p:cNvPr id="212" name="FHead"/>
          <p:cNvSpPr txBox="1"/>
          <p:nvPr/>
        </p:nvSpPr>
        <p:spPr>
          <a:xfrm>
            <a:off x="1490472" y="3259836"/>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257800" cy="219456"/>
          </a:xfrm>
          <a:prstGeom prst="rect">
            <a:avLst/>
          </a:prstGeom>
          <a:noFill/>
        </p:spPr>
        <p:txBody>
          <a:bodyPr wrap="square">
            <a:noAutofit/>
          </a:bodyPr>
          <a:lstStyle/>
          <a:p>
            <a:pPr/>
            <a:r>
              <a:rPr lang="en-MY" sz="1250" dirty="0">
                <a:solidFill>
                  <a:schemeClr val="tx1">
                    <a:lumMod val="85000"/>
                    <a:lumOff val="15000"/>
                  </a:schemeClr>
                </a:solidFill>
              </a:rPr>
              <a:t>Bangunan Interpretatif</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Bangunan Interpretatif]</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i="1" dirty="0">
                <a:solidFill>
                  <a:schemeClr val="tx1">
                    <a:lumMod val="85000"/>
                    <a:lumOff val="15000"/>
                  </a:schemeClr>
                </a:solidFill>
              </a:rPr>
              <a:t>Water Feature</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Elemen landskap yang menggunakan air untuk estetika, bunyi atau titik tumpuan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sistem paip, pam air, penapisan dan saliran yang betul</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Kawalan kualiti air termasuk pencegahan alga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Keselamatan: kedalaman dan permukaan yang tidak licin</a:t>
            </a:r>
          </a:p>
        </p:txBody>
      </p:sp>
      <p:sp>
        <p:nvSpPr>
          <p:cNvPr id="30" name="VisualDir"/>
          <p:cNvSpPr txBox="1"/>
          <p:nvPr/>
        </p:nvSpPr>
        <p:spPr>
          <a:xfrm>
            <a:off x="723930" y="4663440"/>
            <a:ext cx="10744200" cy="621792"/>
          </a:xfrm>
          <a:prstGeom prst="rect">
            <a:avLst/>
          </a:prstGeom>
          <a:noFill/>
        </p:spPr>
        <p:txBody>
          <a:bodyPr wrap="square">
            <a:noAutofit/>
          </a:bodyPr>
          <a:lstStyle/>
          <a:p>
            <a:pPr/>
            <a:r>
              <a:rPr lang="en-MY" sz="1100" dirty="0">
                <a:solidFill>
                  <a:srgbClr val="808080"/>
                </a:solidFill>
              </a:rPr>
              <a:t>[Visual: TIADA IMEJ SUMBER — NO_DEDICATED_SOURCE_IMAGE. Cadangan rajah native: keratan rentas dengan pam,</a:t>
            </a:r>
          </a:p>
          <a:p>
            <a:pPr/>
            <a:r>
              <a:rPr lang="en-MY" sz="1100" dirty="0">
                <a:solidFill>
                  <a:srgbClr val="808080"/>
                </a:solidFill>
              </a:rPr>
              <a:t>penapis, paip dan saliran berlabel. Tidak dilukis, tidak dibenamkan.]</a:t>
            </a:r>
          </a:p>
        </p:txBody>
      </p:sp>
      <p:sp>
        <p:nvSpPr>
          <p:cNvPr id="300" name="OverviewHead"/>
          <p:cNvSpPr txBox="1"/>
          <p:nvPr/>
        </p:nvSpPr>
        <p:spPr>
          <a:xfrm>
            <a:off x="723930" y="534009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577840"/>
            <a:ext cx="2377440" cy="780898"/>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632704"/>
            <a:ext cx="2194560" cy="332842"/>
          </a:xfrm>
          <a:prstGeom prst="rect">
            <a:avLst/>
          </a:prstGeom>
          <a:noFill/>
        </p:spPr>
        <p:txBody>
          <a:bodyPr wrap="square">
            <a:noAutofit/>
          </a:bodyPr>
          <a:lstStyle/>
          <a:p>
            <a:pPr/>
            <a:r>
              <a:rPr lang="en-MY" sz="900" b="1" dirty="0">
                <a:solidFill>
                  <a:schemeClr val="tx1">
                    <a:lumMod val="85000"/>
                    <a:lumOff val="15000"/>
                  </a:schemeClr>
                </a:solidFill>
              </a:rPr>
              <a:t>Air Pancut (Fountain)</a:t>
            </a:r>
          </a:p>
        </p:txBody>
      </p:sp>
      <p:sp>
        <p:nvSpPr>
          <p:cNvPr id="303" name="OverviewDir"/>
          <p:cNvSpPr txBox="1"/>
          <p:nvPr/>
        </p:nvSpPr>
        <p:spPr>
          <a:xfrm>
            <a:off x="815370" y="6002122"/>
            <a:ext cx="2194560" cy="283464"/>
          </a:xfrm>
          <a:prstGeom prst="rect">
            <a:avLst/>
          </a:prstGeom>
          <a:noFill/>
        </p:spPr>
        <p:txBody>
          <a:bodyPr wrap="square">
            <a:noAutofit/>
          </a:bodyPr>
          <a:lstStyle/>
          <a:p>
            <a:pPr/>
            <a:r>
              <a:rPr lang="en-MY" sz="750" dirty="0">
                <a:solidFill>
                  <a:srgbClr val="808080"/>
                </a:solidFill>
              </a:rPr>
              <a:t>[Visual: Air Pancut (Fountain)]</a:t>
            </a:r>
          </a:p>
        </p:txBody>
      </p:sp>
      <p:sp>
        <p:nvSpPr>
          <p:cNvPr id="304" name="OverviewCard"/>
          <p:cNvSpPr txBox="1"/>
          <p:nvPr/>
        </p:nvSpPr>
        <p:spPr>
          <a:xfrm>
            <a:off x="3284250" y="5577840"/>
            <a:ext cx="2377440" cy="780898"/>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632704"/>
            <a:ext cx="2194560" cy="332842"/>
          </a:xfrm>
          <a:prstGeom prst="rect">
            <a:avLst/>
          </a:prstGeom>
          <a:noFill/>
        </p:spPr>
        <p:txBody>
          <a:bodyPr wrap="square">
            <a:noAutofit/>
          </a:bodyPr>
          <a:lstStyle/>
          <a:p>
            <a:pPr/>
            <a:r>
              <a:rPr lang="en-MY" sz="900" b="1" dirty="0">
                <a:solidFill>
                  <a:schemeClr val="tx1">
                    <a:lumMod val="85000"/>
                    <a:lumOff val="15000"/>
                  </a:schemeClr>
                </a:solidFill>
              </a:rPr>
              <a:t>Kolam (Pond)</a:t>
            </a:r>
          </a:p>
        </p:txBody>
      </p:sp>
      <p:sp>
        <p:nvSpPr>
          <p:cNvPr id="306" name="OverviewDir"/>
          <p:cNvSpPr txBox="1"/>
          <p:nvPr/>
        </p:nvSpPr>
        <p:spPr>
          <a:xfrm>
            <a:off x="3375690" y="6002122"/>
            <a:ext cx="2194560" cy="283464"/>
          </a:xfrm>
          <a:prstGeom prst="rect">
            <a:avLst/>
          </a:prstGeom>
          <a:noFill/>
        </p:spPr>
        <p:txBody>
          <a:bodyPr wrap="square">
            <a:noAutofit/>
          </a:bodyPr>
          <a:lstStyle/>
          <a:p>
            <a:pPr/>
            <a:r>
              <a:rPr lang="en-MY" sz="750" dirty="0">
                <a:solidFill>
                  <a:srgbClr val="808080"/>
                </a:solidFill>
              </a:rPr>
              <a:t>[Visual: Kolam (Pond)]</a:t>
            </a:r>
          </a:p>
        </p:txBody>
      </p:sp>
      <p:sp>
        <p:nvSpPr>
          <p:cNvPr id="307" name="OverviewCard"/>
          <p:cNvSpPr txBox="1"/>
          <p:nvPr/>
        </p:nvSpPr>
        <p:spPr>
          <a:xfrm>
            <a:off x="5844570" y="5577840"/>
            <a:ext cx="2377440" cy="780898"/>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632704"/>
            <a:ext cx="2194560" cy="332842"/>
          </a:xfrm>
          <a:prstGeom prst="rect">
            <a:avLst/>
          </a:prstGeom>
          <a:noFill/>
        </p:spPr>
        <p:txBody>
          <a:bodyPr wrap="square">
            <a:noAutofit/>
          </a:bodyPr>
          <a:lstStyle/>
          <a:p>
            <a:pPr/>
            <a:r>
              <a:rPr lang="en-MY" sz="900" b="1" dirty="0">
                <a:solidFill>
                  <a:schemeClr val="tx1">
                    <a:lumMod val="85000"/>
                    <a:lumOff val="15000"/>
                  </a:schemeClr>
                </a:solidFill>
              </a:rPr>
              <a:t>Kolam Renang / Kolam Hiasan</a:t>
            </a:r>
          </a:p>
          <a:p>
            <a:pPr/>
            <a:r>
              <a:rPr lang="en-MY" sz="900" b="1" dirty="0">
                <a:solidFill>
                  <a:schemeClr val="tx1">
                    <a:lumMod val="85000"/>
                    <a:lumOff val="15000"/>
                  </a:schemeClr>
                </a:solidFill>
              </a:rPr>
              <a:t>Besar (Pool)</a:t>
            </a:r>
          </a:p>
        </p:txBody>
      </p:sp>
      <p:sp>
        <p:nvSpPr>
          <p:cNvPr id="309" name="OverviewDir"/>
          <p:cNvSpPr txBox="1"/>
          <p:nvPr/>
        </p:nvSpPr>
        <p:spPr>
          <a:xfrm>
            <a:off x="5936010" y="6002122"/>
            <a:ext cx="2194560" cy="283464"/>
          </a:xfrm>
          <a:prstGeom prst="rect">
            <a:avLst/>
          </a:prstGeom>
          <a:noFill/>
        </p:spPr>
        <p:txBody>
          <a:bodyPr wrap="square">
            <a:noAutofit/>
          </a:bodyPr>
          <a:lstStyle/>
          <a:p>
            <a:pPr/>
            <a:r>
              <a:rPr lang="en-MY" sz="750" dirty="0">
                <a:solidFill>
                  <a:srgbClr val="808080"/>
                </a:solidFill>
              </a:rPr>
              <a:t>[Visual: Kolam Renang/Kolam Hiasan</a:t>
            </a:r>
          </a:p>
          <a:p>
            <a:pPr/>
            <a:r>
              <a:rPr lang="en-MY" sz="750" dirty="0">
                <a:solidFill>
                  <a:srgbClr val="808080"/>
                </a:solidFill>
              </a:rPr>
              <a:t>Besar(Pool)]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Water Feature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SCR_WATER_FEATURE_MAIN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[component_complete[WATER_FEATURE]]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Air Pancut (Fountain) — [Visual: Air Pancut (Fountain)]</a:t>
            </a:r>
          </a:p>
          <a:p>
            <a:r>
              <a:rPr lang="en-MY" sz="900" dirty="0">
                <a:solidFill>
                  <a:schemeClr val="tx1">
                    <a:lumMod val="85000"/>
                    <a:lumOff val="15000"/>
                  </a:schemeClr>
                </a:solidFill>
              </a:rPr>
              <a:t>    Kolam (Pond) — [Visual: Kolam (Pond)]</a:t>
            </a:r>
          </a:p>
          <a:p>
            <a:r>
              <a:rPr lang="en-MY" sz="900" dirty="0">
                <a:solidFill>
                  <a:schemeClr val="tx1">
                    <a:lumMod val="85000"/>
                    <a:lumOff val="15000"/>
                  </a:schemeClr>
                </a:solidFill>
              </a:rPr>
              <a:t>    Kolam Renang / Kolam Hiasan Besar (Pool) — [Visual: Kolam Renang/Kolam Hiasan Besar(Pool)]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Air Pancut (Fountain)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644652"/>
          </a:xfrm>
          <a:prstGeom prst="rect">
            <a:avLst/>
          </a:prstGeom>
          <a:noFill/>
        </p:spPr>
        <p:txBody>
          <a:bodyPr wrap="square">
            <a:noAutofit/>
          </a:bodyPr>
          <a:lstStyle/>
          <a:p>
            <a:pPr/>
            <a:r>
              <a:rPr lang="en-MY" sz="1250" dirty="0">
                <a:solidFill>
                  <a:schemeClr val="tx1">
                    <a:lumMod val="85000"/>
                    <a:lumOff val="15000"/>
                  </a:schemeClr>
                </a:solidFill>
              </a:rPr>
              <a:t>Struktur yang mengeluarkan air dalam corak tertentu,</a:t>
            </a:r>
          </a:p>
          <a:p>
            <a:pPr/>
            <a:r>
              <a:rPr lang="en-MY" sz="1250" dirty="0">
                <a:solidFill>
                  <a:schemeClr val="tx1">
                    <a:lumMod val="85000"/>
                    <a:lumOff val="15000"/>
                  </a:schemeClr>
                </a:solidFill>
              </a:rPr>
              <a:t>mewujudkan bunyi yang menenangkan dan pergerakan</a:t>
            </a:r>
          </a:p>
          <a:p>
            <a:pPr/>
            <a:r>
              <a:rPr lang="en-MY" sz="1250" dirty="0">
                <a:solidFill>
                  <a:schemeClr val="tx1">
                    <a:lumMod val="85000"/>
                    <a:lumOff val="15000"/>
                  </a:schemeClr>
                </a:solidFill>
              </a:rPr>
              <a:t>visual.</a:t>
            </a:r>
          </a:p>
        </p:txBody>
      </p:sp>
      <p:sp>
        <p:nvSpPr>
          <p:cNvPr id="212" name="FHead"/>
          <p:cNvSpPr txBox="1"/>
          <p:nvPr/>
        </p:nvSpPr>
        <p:spPr>
          <a:xfrm>
            <a:off x="1490472" y="3259836"/>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257800" cy="219456"/>
          </a:xfrm>
          <a:prstGeom prst="rect">
            <a:avLst/>
          </a:prstGeom>
          <a:noFill/>
        </p:spPr>
        <p:txBody>
          <a:bodyPr wrap="square">
            <a:noAutofit/>
          </a:bodyPr>
          <a:lstStyle/>
          <a:p>
            <a:pPr/>
            <a:r>
              <a:rPr lang="en-MY" sz="1250" dirty="0">
                <a:solidFill>
                  <a:schemeClr val="tx1">
                    <a:lumMod val="85000"/>
                    <a:lumOff val="15000"/>
                  </a:schemeClr>
                </a:solidFill>
              </a:rPr>
              <a:t>Air Pancut (Fountain)</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Air Pancut (Fountain)]</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Kolam (Pond)</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Kawasan air statik atau perlahan, boleh menjadi</a:t>
            </a:r>
          </a:p>
          <a:p>
            <a:pPr/>
            <a:r>
              <a:rPr lang="en-MY" sz="1250" dirty="0">
                <a:solidFill>
                  <a:schemeClr val="tx1">
                    <a:lumMod val="85000"/>
                    <a:lumOff val="15000"/>
                  </a:schemeClr>
                </a:solidFill>
              </a:rPr>
              <a:t>kolam hiasan, kolam ikan, atau kolam refleksi.</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Kolam (Pond)</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Kolam (Pond)]</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II_WATER_FEATURE_EX02  &lt;-  K5-PL06-T03-B02-WATER-FEATURE-ROW-02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10896"/>
          </a:xfrm>
          <a:prstGeom prst="rect">
            <a:avLst/>
          </a:prstGeom>
          <a:noFill/>
        </p:spPr>
        <p:txBody>
          <a:bodyPr wrap="square">
            <a:noAutofit/>
          </a:bodyPr>
          <a:lstStyle/>
          <a:p>
            <a:pPr/>
            <a:r>
              <a:rPr lang="en-MY" sz="1600" b="1" dirty="0">
                <a:solidFill>
                  <a:schemeClr val="tx1">
                    <a:lumMod val="85000"/>
                    <a:lumOff val="15000"/>
                  </a:schemeClr>
                </a:solidFill>
              </a:rPr>
              <a:t>Kolam Renang / Kolam Hiasan Besar (Pool)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157984"/>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395728"/>
            <a:ext cx="5257800" cy="644652"/>
          </a:xfrm>
          <a:prstGeom prst="rect">
            <a:avLst/>
          </a:prstGeom>
          <a:noFill/>
        </p:spPr>
        <p:txBody>
          <a:bodyPr wrap="square">
            <a:noAutofit/>
          </a:bodyPr>
          <a:lstStyle/>
          <a:p>
            <a:pPr/>
            <a:r>
              <a:rPr lang="en-MY" sz="1250" dirty="0">
                <a:solidFill>
                  <a:schemeClr val="tx1">
                    <a:lumMod val="85000"/>
                    <a:lumOff val="15000"/>
                  </a:schemeClr>
                </a:solidFill>
              </a:rPr>
              <a:t>Kolam berskala lebih besar, sama ada untuk berenang</a:t>
            </a:r>
          </a:p>
          <a:p>
            <a:pPr/>
            <a:r>
              <a:rPr lang="en-MY" sz="1250" dirty="0">
                <a:solidFill>
                  <a:schemeClr val="tx1">
                    <a:lumMod val="85000"/>
                    <a:lumOff val="15000"/>
                  </a:schemeClr>
                </a:solidFill>
              </a:rPr>
              <a:t>atau sebagai kolam hiasan dengan ciri-ciri reka</a:t>
            </a:r>
          </a:p>
          <a:p>
            <a:pPr/>
            <a:r>
              <a:rPr lang="en-MY" sz="1250" dirty="0">
                <a:solidFill>
                  <a:schemeClr val="tx1">
                    <a:lumMod val="85000"/>
                    <a:lumOff val="15000"/>
                  </a:schemeClr>
                </a:solidFill>
              </a:rPr>
              <a:t>bentuk yang kompleks.</a:t>
            </a:r>
          </a:p>
        </p:txBody>
      </p:sp>
      <p:sp>
        <p:nvSpPr>
          <p:cNvPr id="212" name="FHead"/>
          <p:cNvSpPr txBox="1"/>
          <p:nvPr/>
        </p:nvSpPr>
        <p:spPr>
          <a:xfrm>
            <a:off x="1490472" y="320497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42716"/>
            <a:ext cx="5257800" cy="219456"/>
          </a:xfrm>
          <a:prstGeom prst="rect">
            <a:avLst/>
          </a:prstGeom>
          <a:noFill/>
        </p:spPr>
        <p:txBody>
          <a:bodyPr wrap="square">
            <a:noAutofit/>
          </a:bodyPr>
          <a:lstStyle/>
          <a:p>
            <a:pPr/>
            <a:r>
              <a:rPr lang="en-MY" sz="1250" dirty="0">
                <a:solidFill>
                  <a:schemeClr val="tx1">
                    <a:lumMod val="85000"/>
                    <a:lumOff val="15000"/>
                  </a:schemeClr>
                </a:solidFill>
              </a:rPr>
              <a:t>Kolam Renang/Kolam Hiasan Besar(Pool)</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438912"/>
          </a:xfrm>
          <a:prstGeom prst="rect">
            <a:avLst/>
          </a:prstGeom>
          <a:noFill/>
        </p:spPr>
        <p:txBody>
          <a:bodyPr wrap="square">
            <a:noAutofit/>
          </a:bodyPr>
          <a:lstStyle/>
          <a:p>
            <a:pPr/>
            <a:r>
              <a:rPr lang="en-MY" sz="1150" dirty="0">
                <a:solidFill>
                  <a:schemeClr val="tx1">
                    <a:lumMod val="85000"/>
                    <a:lumOff val="15000"/>
                  </a:schemeClr>
                </a:solidFill>
              </a:rPr>
              <a:t>[Visual: Kolam Renang/Kolam Hiasan</a:t>
            </a:r>
          </a:p>
          <a:p>
            <a:pPr/>
            <a:r>
              <a:rPr lang="en-MY" sz="1150" dirty="0">
                <a:solidFill>
                  <a:schemeClr val="tx1">
                    <a:lumMod val="85000"/>
                    <a:lumOff val="15000"/>
                  </a:schemeClr>
                </a:solidFill>
              </a:rPr>
              <a:t>Besar(Pool)]</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Tick"/>
          <p:cNvSpPr/>
          <p:nvPr/>
        </p:nvSpPr>
        <p:spPr>
          <a:xfrm>
            <a:off x="5297073"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419408"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3" name="Tick"/>
          <p:cNvSpPr/>
          <p:nvPr/>
        </p:nvSpPr>
        <p:spPr>
          <a:xfrm>
            <a:off x="9542084"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2174397"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5" name="Tick"/>
          <p:cNvSpPr/>
          <p:nvPr/>
        </p:nvSpPr>
        <p:spPr>
          <a:xfrm>
            <a:off x="5297073"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6419408"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47" name="Tick"/>
          <p:cNvSpPr/>
          <p:nvPr/>
        </p:nvSpPr>
        <p:spPr>
          <a:xfrm>
            <a:off x="9542084"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GROUP_MASTER_GROUP_COMPLETE</a:t>
            </a:r>
          </a:p>
          <a:p>
            <a:r>
              <a:rPr lang="en-MY" sz="900" dirty="0">
                <a:solidFill>
                  <a:schemeClr val="tx1">
                    <a:lumMod val="85000"/>
                    <a:lumOff val="15000"/>
                  </a:schemeClr>
                </a:solidFill>
              </a:rPr>
              <a:t/>
            </a:r>
          </a:p>
          <a:p>
            <a:r>
              <a:rPr lang="en-MY" sz="900" dirty="0">
                <a:solidFill>
                  <a:schemeClr val="tx1">
                    <a:lumMod val="85000"/>
                    <a:lumOff val="15000"/>
                  </a:schemeClr>
                </a:solidFill>
              </a:rPr>
              <a:t>BUKTI: group complete, shell Next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group_complete satisfied]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B02-D-04, B02-D-07</a:t>
            </a:r>
          </a:p>
          <a:p>
            <a:r>
              <a:rPr lang="en-MY" sz="900" dirty="0">
                <a:solidFill>
                  <a:schemeClr val="tx1">
                    <a:lumMod val="85000"/>
                    <a:lumOff val="15000"/>
                  </a:schemeClr>
                </a:solidFill>
              </a:rPr>
              <a:t>STATUS BELUM SELESAI: NONE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2" name="Body"/>
          <p:cNvSpPr txBox="1"/>
          <p:nvPr/>
        </p:nvSpPr>
        <p:spPr>
          <a:xfrm>
            <a:off x="723930" y="1115568"/>
            <a:ext cx="10744200" cy="786384"/>
          </a:xfrm>
          <a:prstGeom prst="rect">
            <a:avLst/>
          </a:prstGeom>
          <a:noFill/>
        </p:spPr>
        <p:txBody>
          <a:bodyPr wrap="square">
            <a:noAutofit/>
          </a:bodyPr>
          <a:lstStyle/>
          <a:p>
            <a:pPr/>
            <a:r>
              <a:rPr lang="en-MY" sz="1200" dirty="0">
                <a:solidFill>
                  <a:schemeClr val="tx1">
                    <a:lumMod val="85000"/>
                    <a:lumOff val="15000"/>
                  </a:schemeClr>
                </a:solidFill>
              </a:rPr>
              <a:t>Perabot taman merujuk kepada elemen-elemen boleh alih atau kekal yang ditempatkan di ruang landskap untuk meningkatkan</a:t>
            </a:r>
          </a:p>
          <a:p>
            <a:pPr/>
            <a:r>
              <a:rPr lang="en-MY" sz="1200" dirty="0">
                <a:solidFill>
                  <a:schemeClr val="tx1">
                    <a:lumMod val="85000"/>
                    <a:lumOff val="15000"/>
                  </a:schemeClr>
                </a:solidFill>
              </a:rPr>
              <a:t>fungsi, keselesaan, dan estetika. Ini melibatkan pemahaman tentang bahan, ketahanan, ergonomik, dan kesesuaian reka</a:t>
            </a:r>
          </a:p>
          <a:p>
            <a:pPr/>
            <a:r>
              <a:rPr lang="en-MY" sz="1200" dirty="0">
                <a:solidFill>
                  <a:schemeClr val="tx1">
                    <a:lumMod val="85000"/>
                    <a:lumOff val="15000"/>
                  </a:schemeClr>
                </a:solidFill>
              </a:rPr>
              <a:t>bentuk dengan tema keseluruhan landskap. Terdapat lima jenis perabot taman: Kerusi Taman, Papan Tanda, Tong Sampah,</a:t>
            </a:r>
          </a:p>
        </p:txBody>
      </p:sp>
      <p:sp>
        <p:nvSpPr>
          <p:cNvPr id="80" name="ComponentCard"/>
          <p:cNvSpPr txBox="1"/>
          <p:nvPr/>
        </p:nvSpPr>
        <p:spPr>
          <a:xfrm>
            <a:off x="723885" y="1993392"/>
            <a:ext cx="3325368" cy="1847088"/>
          </a:xfrm>
          <a:prstGeom prst="rect">
            <a:avLst/>
          </a:prstGeom>
          <a:solidFill>
            <a:srgbClr val="F2F2F2"/>
          </a:solidFill>
          <a:ln w="12700">
            <a:solidFill>
              <a:srgbClr val="404040"/>
            </a:solidFill>
          </a:ln>
        </p:spPr>
        <p:txBody>
          <a:bodyPr wrap="square">
            <a:noAutofit/>
          </a:bodyPr>
          <a:lstStyle/>
        </p:txBody>
      </p:sp>
      <p:sp>
        <p:nvSpPr>
          <p:cNvPr id="81" name="ComponentVisual"/>
          <p:cNvSpPr txBox="1"/>
          <p:nvPr/>
        </p:nvSpPr>
        <p:spPr>
          <a:xfrm>
            <a:off x="851901"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82" name="ComponentVisualDir"/>
          <p:cNvSpPr txBox="1"/>
          <p:nvPr/>
        </p:nvSpPr>
        <p:spPr>
          <a:xfrm>
            <a:off x="925053"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Kerusi Kayu Keras,</a:t>
            </a:r>
          </a:p>
          <a:p>
            <a:pPr/>
            <a:r>
              <a:rPr lang="en-MY" sz="750" dirty="0">
                <a:solidFill>
                  <a:srgbClr val="808080"/>
                </a:solidFill>
              </a:rPr>
              <a:t>modul ms 242. Aset</a:t>
            </a:r>
          </a:p>
        </p:txBody>
      </p:sp>
      <p:sp>
        <p:nvSpPr>
          <p:cNvPr id="83" name="ComponentName"/>
          <p:cNvSpPr txBox="1"/>
          <p:nvPr/>
        </p:nvSpPr>
        <p:spPr>
          <a:xfrm>
            <a:off x="851901"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Kerusi Taman</a:t>
            </a:r>
          </a:p>
        </p:txBody>
      </p:sp>
      <p:sp>
        <p:nvSpPr>
          <p:cNvPr id="84" name="ComponentCue"/>
          <p:cNvSpPr txBox="1"/>
          <p:nvPr/>
        </p:nvSpPr>
        <p:spPr>
          <a:xfrm>
            <a:off x="851901"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85" name="ComponentCard"/>
          <p:cNvSpPr txBox="1"/>
          <p:nvPr/>
        </p:nvSpPr>
        <p:spPr>
          <a:xfrm>
            <a:off x="4433301" y="1993392"/>
            <a:ext cx="3325368" cy="1847088"/>
          </a:xfrm>
          <a:prstGeom prst="rect">
            <a:avLst/>
          </a:prstGeom>
          <a:solidFill>
            <a:srgbClr val="F2F2F2"/>
          </a:solidFill>
          <a:ln w="12700">
            <a:solidFill>
              <a:srgbClr val="404040"/>
            </a:solidFill>
          </a:ln>
        </p:spPr>
        <p:txBody>
          <a:bodyPr wrap="square">
            <a:noAutofit/>
          </a:bodyPr>
          <a:lstStyle/>
        </p:txBody>
      </p:sp>
      <p:sp>
        <p:nvSpPr>
          <p:cNvPr id="86" name="ComponentVisual"/>
          <p:cNvSpPr txBox="1"/>
          <p:nvPr/>
        </p:nvSpPr>
        <p:spPr>
          <a:xfrm>
            <a:off x="4561317"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87" name="ComponentVisualDir"/>
          <p:cNvSpPr txBox="1"/>
          <p:nvPr/>
        </p:nvSpPr>
        <p:spPr>
          <a:xfrm>
            <a:off x="4634469"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Rajah 25 — Lukisan</a:t>
            </a:r>
          </a:p>
          <a:p>
            <a:pPr/>
            <a:r>
              <a:rPr lang="en-MY" sz="750" dirty="0">
                <a:solidFill>
                  <a:srgbClr val="808080"/>
                </a:solidFill>
              </a:rPr>
              <a:t>Spesifikasi Papan Tanda</a:t>
            </a:r>
          </a:p>
          <a:p>
            <a:pPr/>
            <a:r>
              <a:rPr lang="en-MY" sz="750" dirty="0">
                <a:solidFill>
                  <a:srgbClr val="808080"/>
                </a:solidFill>
              </a:rPr>
              <a:t>Informasi, dan Rajah 26 —</a:t>
            </a:r>
          </a:p>
        </p:txBody>
      </p:sp>
      <p:sp>
        <p:nvSpPr>
          <p:cNvPr id="88" name="ComponentName"/>
          <p:cNvSpPr txBox="1"/>
          <p:nvPr/>
        </p:nvSpPr>
        <p:spPr>
          <a:xfrm>
            <a:off x="4561317"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Papan Tanda</a:t>
            </a:r>
          </a:p>
        </p:txBody>
      </p:sp>
      <p:sp>
        <p:nvSpPr>
          <p:cNvPr id="89" name="ComponentCue"/>
          <p:cNvSpPr txBox="1"/>
          <p:nvPr/>
        </p:nvSpPr>
        <p:spPr>
          <a:xfrm>
            <a:off x="4561317"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0" name="ComponentCard"/>
          <p:cNvSpPr txBox="1"/>
          <p:nvPr/>
        </p:nvSpPr>
        <p:spPr>
          <a:xfrm>
            <a:off x="8142717" y="1993392"/>
            <a:ext cx="3325368" cy="1847088"/>
          </a:xfrm>
          <a:prstGeom prst="rect">
            <a:avLst/>
          </a:prstGeom>
          <a:solidFill>
            <a:srgbClr val="F2F2F2"/>
          </a:solidFill>
          <a:ln w="12700">
            <a:solidFill>
              <a:srgbClr val="404040"/>
            </a:solidFill>
          </a:ln>
        </p:spPr>
        <p:txBody>
          <a:bodyPr wrap="square">
            <a:noAutofit/>
          </a:bodyPr>
          <a:lstStyle/>
        </p:txBody>
      </p:sp>
      <p:sp>
        <p:nvSpPr>
          <p:cNvPr id="91" name="ComponentVisual"/>
          <p:cNvSpPr txBox="1"/>
          <p:nvPr/>
        </p:nvSpPr>
        <p:spPr>
          <a:xfrm>
            <a:off x="8270733"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92" name="ComponentVisualDir"/>
          <p:cNvSpPr txBox="1"/>
          <p:nvPr/>
        </p:nvSpPr>
        <p:spPr>
          <a:xfrm>
            <a:off x="8343885"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Tong Sampah Logam,</a:t>
            </a:r>
          </a:p>
          <a:p>
            <a:pPr/>
            <a:r>
              <a:rPr lang="en-MY" sz="750" dirty="0">
                <a:solidFill>
                  <a:srgbClr val="808080"/>
                </a:solidFill>
              </a:rPr>
              <a:t>modul ms 246. Aset</a:t>
            </a:r>
          </a:p>
        </p:txBody>
      </p:sp>
      <p:sp>
        <p:nvSpPr>
          <p:cNvPr id="93" name="ComponentName"/>
          <p:cNvSpPr txBox="1"/>
          <p:nvPr/>
        </p:nvSpPr>
        <p:spPr>
          <a:xfrm>
            <a:off x="8270733"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Tong Sampah</a:t>
            </a:r>
          </a:p>
        </p:txBody>
      </p:sp>
      <p:sp>
        <p:nvSpPr>
          <p:cNvPr id="94" name="ComponentCue"/>
          <p:cNvSpPr txBox="1"/>
          <p:nvPr/>
        </p:nvSpPr>
        <p:spPr>
          <a:xfrm>
            <a:off x="8270733"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5" name="ComponentCard"/>
          <p:cNvSpPr txBox="1"/>
          <p:nvPr/>
        </p:nvSpPr>
        <p:spPr>
          <a:xfrm>
            <a:off x="2578593" y="4114800"/>
            <a:ext cx="3325368" cy="1847088"/>
          </a:xfrm>
          <a:prstGeom prst="rect">
            <a:avLst/>
          </a:prstGeom>
          <a:solidFill>
            <a:srgbClr val="F2F2F2"/>
          </a:solidFill>
          <a:ln w="12700">
            <a:solidFill>
              <a:srgbClr val="404040"/>
            </a:solidFill>
          </a:ln>
        </p:spPr>
        <p:txBody>
          <a:bodyPr wrap="square">
            <a:noAutofit/>
          </a:bodyPr>
          <a:lstStyle/>
        </p:txBody>
      </p:sp>
      <p:sp>
        <p:nvSpPr>
          <p:cNvPr id="96" name="ComponentVisual"/>
          <p:cNvSpPr txBox="1"/>
          <p:nvPr/>
        </p:nvSpPr>
        <p:spPr>
          <a:xfrm>
            <a:off x="2706609" y="4242816"/>
            <a:ext cx="3069336" cy="969264"/>
          </a:xfrm>
          <a:prstGeom prst="rect">
            <a:avLst/>
          </a:prstGeom>
          <a:solidFill>
            <a:srgbClr val="FFFFFF"/>
          </a:solidFill>
          <a:ln w="9525">
            <a:solidFill>
              <a:srgbClr val="BFBFBF"/>
            </a:solidFill>
            <a:prstDash val="dash"/>
          </a:ln>
        </p:spPr>
        <p:txBody>
          <a:bodyPr wrap="square">
            <a:noAutofit/>
          </a:bodyPr>
          <a:lstStyle/>
        </p:txBody>
      </p:sp>
      <p:sp>
        <p:nvSpPr>
          <p:cNvPr id="97" name="ComponentVisualDir"/>
          <p:cNvSpPr txBox="1"/>
          <p:nvPr/>
        </p:nvSpPr>
        <p:spPr>
          <a:xfrm>
            <a:off x="2779761" y="4334256"/>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Pancutan Air Minum</a:t>
            </a:r>
          </a:p>
          <a:p>
            <a:pPr/>
            <a:r>
              <a:rPr lang="en-MY" sz="750" dirty="0">
                <a:solidFill>
                  <a:srgbClr val="808080"/>
                </a:solidFill>
              </a:rPr>
              <a:t>Keluli Tahan Karat, modul ms</a:t>
            </a:r>
          </a:p>
        </p:txBody>
      </p:sp>
      <p:sp>
        <p:nvSpPr>
          <p:cNvPr id="98" name="ComponentName"/>
          <p:cNvSpPr txBox="1"/>
          <p:nvPr/>
        </p:nvSpPr>
        <p:spPr>
          <a:xfrm>
            <a:off x="2706609" y="5285232"/>
            <a:ext cx="3069336" cy="365760"/>
          </a:xfrm>
          <a:prstGeom prst="rect">
            <a:avLst/>
          </a:prstGeom>
          <a:noFill/>
        </p:spPr>
        <p:txBody>
          <a:bodyPr wrap="square">
            <a:noAutofit/>
          </a:bodyPr>
          <a:lstStyle/>
          <a:p>
            <a:pPr algn="ctr"/>
            <a:r>
              <a:rPr lang="en-MY" sz="1400" b="1" i="1" dirty="0">
                <a:solidFill>
                  <a:schemeClr val="tx1">
                    <a:lumMod val="85000"/>
                    <a:lumOff val="15000"/>
                  </a:schemeClr>
                </a:solidFill>
              </a:rPr>
              <a:t>Drinking Fountain</a:t>
            </a:r>
          </a:p>
        </p:txBody>
      </p:sp>
      <p:sp>
        <p:nvSpPr>
          <p:cNvPr id="99" name="ComponentCue"/>
          <p:cNvSpPr txBox="1"/>
          <p:nvPr/>
        </p:nvSpPr>
        <p:spPr>
          <a:xfrm>
            <a:off x="2706609" y="5650992"/>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100" name="ComponentCard"/>
          <p:cNvSpPr txBox="1"/>
          <p:nvPr/>
        </p:nvSpPr>
        <p:spPr>
          <a:xfrm>
            <a:off x="6288009" y="4114800"/>
            <a:ext cx="3325368" cy="1847088"/>
          </a:xfrm>
          <a:prstGeom prst="rect">
            <a:avLst/>
          </a:prstGeom>
          <a:solidFill>
            <a:srgbClr val="F2F2F2"/>
          </a:solidFill>
          <a:ln w="12700">
            <a:solidFill>
              <a:srgbClr val="404040"/>
            </a:solidFill>
          </a:ln>
        </p:spPr>
        <p:txBody>
          <a:bodyPr wrap="square">
            <a:noAutofit/>
          </a:bodyPr>
          <a:lstStyle/>
        </p:txBody>
      </p:sp>
      <p:sp>
        <p:nvSpPr>
          <p:cNvPr id="101" name="ComponentVisual"/>
          <p:cNvSpPr txBox="1"/>
          <p:nvPr/>
        </p:nvSpPr>
        <p:spPr>
          <a:xfrm>
            <a:off x="6416025" y="4242816"/>
            <a:ext cx="3069336" cy="969264"/>
          </a:xfrm>
          <a:prstGeom prst="rect">
            <a:avLst/>
          </a:prstGeom>
          <a:solidFill>
            <a:srgbClr val="FFFFFF"/>
          </a:solidFill>
          <a:ln w="9525">
            <a:solidFill>
              <a:srgbClr val="BFBFBF"/>
            </a:solidFill>
            <a:prstDash val="dash"/>
          </a:ln>
        </p:spPr>
        <p:txBody>
          <a:bodyPr wrap="square">
            <a:noAutofit/>
          </a:bodyPr>
          <a:lstStyle/>
        </p:txBody>
      </p:sp>
      <p:sp>
        <p:nvSpPr>
          <p:cNvPr id="102" name="ComponentVisualDir"/>
          <p:cNvSpPr txBox="1"/>
          <p:nvPr/>
        </p:nvSpPr>
        <p:spPr>
          <a:xfrm>
            <a:off x="6489177" y="4334256"/>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a:t>
            </a:r>
            <a:r>
              <a:rPr lang="en-MY" sz="750" i="1" dirty="0">
                <a:solidFill>
                  <a:srgbClr val="808080"/>
                </a:solidFill>
              </a:rPr>
              <a:t>BBQ Pit</a:t>
            </a:r>
            <a:r>
              <a:rPr lang="en-MY" sz="750" dirty="0">
                <a:solidFill>
                  <a:srgbClr val="808080"/>
                </a:solidFill>
              </a:rPr>
              <a:t> Struktur</a:t>
            </a:r>
          </a:p>
          <a:p>
            <a:pPr/>
            <a:r>
              <a:rPr lang="en-MY" sz="750" dirty="0">
                <a:solidFill>
                  <a:srgbClr val="808080"/>
                </a:solidFill>
              </a:rPr>
              <a:t>Kekal, modul ms 249. Aset</a:t>
            </a:r>
          </a:p>
        </p:txBody>
      </p:sp>
      <p:sp>
        <p:nvSpPr>
          <p:cNvPr id="103" name="ComponentName"/>
          <p:cNvSpPr txBox="1"/>
          <p:nvPr/>
        </p:nvSpPr>
        <p:spPr>
          <a:xfrm>
            <a:off x="6416025" y="5285232"/>
            <a:ext cx="3069336" cy="365760"/>
          </a:xfrm>
          <a:prstGeom prst="rect">
            <a:avLst/>
          </a:prstGeom>
          <a:noFill/>
        </p:spPr>
        <p:txBody>
          <a:bodyPr wrap="square">
            <a:noAutofit/>
          </a:bodyPr>
          <a:lstStyle/>
          <a:p>
            <a:pPr algn="ctr"/>
            <a:r>
              <a:rPr lang="en-MY" sz="1400" b="1" i="1" dirty="0">
                <a:solidFill>
                  <a:schemeClr val="tx1">
                    <a:lumMod val="85000"/>
                    <a:lumOff val="15000"/>
                  </a:schemeClr>
                </a:solidFill>
              </a:rPr>
              <a:t>BBQ Pit</a:t>
            </a:r>
          </a:p>
        </p:txBody>
      </p:sp>
      <p:sp>
        <p:nvSpPr>
          <p:cNvPr id="104" name="ComponentCue"/>
          <p:cNvSpPr txBox="1"/>
          <p:nvPr/>
        </p:nvSpPr>
        <p:spPr>
          <a:xfrm>
            <a:off x="6416025" y="5650992"/>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Perabot Taman — gambaran keseluruhan</a:t>
            </a:r>
          </a:p>
          <a:p>
            <a:r>
              <a:rPr lang="en-MY" sz="900" dirty="0">
                <a:solidFill>
                  <a:schemeClr val="tx1">
                    <a:lumMod val="85000"/>
                    <a:lumOff val="15000"/>
                  </a:schemeClr>
                </a:solidFill>
              </a:rPr>
              <a:t>KELUARGA PELAKSANAAN: FAMILY_P1+FAMILY_P2</a:t>
            </a:r>
          </a:p>
          <a:p>
            <a:r>
              <a:rPr lang="en-MY" sz="900" dirty="0">
                <a:solidFill>
                  <a:schemeClr val="tx1">
                    <a:lumMod val="85000"/>
                    <a:lumOff val="15000"/>
                  </a:schemeClr>
                </a:solidFill>
              </a:rPr>
              <a:t>PERANAN HALAMAN SEMAKAN: GROUP_OVERVIEW_BASE</a:t>
            </a:r>
          </a:p>
          <a:p>
            <a:r>
              <a:rPr lang="en-MY" sz="900" dirty="0">
                <a:solidFill>
                  <a:schemeClr val="tx1">
                    <a:lumMod val="85000"/>
                    <a:lumOff val="15000"/>
                  </a:schemeClr>
                </a:solidFill>
              </a:rPr>
              <a:t/>
            </a:r>
          </a:p>
          <a:p>
            <a:r>
              <a:rPr lang="en-MY" sz="900" dirty="0">
                <a:solidFill>
                  <a:schemeClr val="tx1">
                    <a:lumMod val="85000"/>
                    <a:lumOff val="15000"/>
                  </a:schemeClr>
                </a:solidFill>
              </a:rPr>
              <a:t>BUKTI: gateway, no click level</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SCR_PERABOT_OVERVIEW</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klik dan TIADA aras interaksi. Ini gerbang penerangan visual.</a:t>
            </a:r>
          </a:p>
          <a:p>
            <a:r>
              <a:rPr lang="en-MY" sz="900" dirty="0">
                <a:solidFill>
                  <a:schemeClr val="tx1">
                    <a:lumMod val="85000"/>
                    <a:lumOff val="15000"/>
                  </a:schemeClr>
                </a:solidFill>
              </a:rPr>
              <a:t>  Pelajar memasuki setiap komponen melalui navigasi shell.</a:t>
            </a:r>
          </a:p>
          <a:p>
            <a:r>
              <a:rPr lang="en-MY" sz="900" b="1" dirty="0">
                <a:solidFill>
                  <a:schemeClr val="tx1">
                    <a:lumMod val="85000"/>
                    <a:lumOff val="15000"/>
                  </a:schemeClr>
                </a:solidFill>
              </a:rPr>
              <a:t>AGIHAN KELUARGA (metadata dalaman — tidak dipaparkan pada kanvas):</a:t>
            </a:r>
          </a:p>
          <a:p>
            <a:r>
              <a:rPr lang="en-MY" sz="900" dirty="0">
                <a:solidFill>
                  <a:schemeClr val="tx1">
                    <a:lumMod val="85000"/>
                    <a:lumOff val="15000"/>
                  </a:schemeClr>
                </a:solidFill>
              </a:rPr>
              <a:t>  Kerusi Taman -&gt; FAMILY_P1</a:t>
            </a:r>
          </a:p>
          <a:p>
            <a:r>
              <a:rPr lang="en-MY" sz="900" dirty="0">
                <a:solidFill>
                  <a:schemeClr val="tx1">
                    <a:lumMod val="85000"/>
                    <a:lumOff val="15000"/>
                  </a:schemeClr>
                </a:solidFill>
              </a:rPr>
              <a:t>  Papan Tanda -&gt; FAMILY_P2</a:t>
            </a:r>
          </a:p>
          <a:p>
            <a:r>
              <a:rPr lang="en-MY" sz="900" dirty="0">
                <a:solidFill>
                  <a:schemeClr val="tx1">
                    <a:lumMod val="85000"/>
                    <a:lumOff val="15000"/>
                  </a:schemeClr>
                </a:solidFill>
              </a:rPr>
              <a:t>  Tong Sampah -&gt; FAMILY_P1</a:t>
            </a:r>
          </a:p>
          <a:p>
            <a:r>
              <a:rPr lang="en-MY" sz="900" dirty="0">
                <a:solidFill>
                  <a:schemeClr val="tx1">
                    <a:lumMod val="85000"/>
                    <a:lumOff val="15000"/>
                  </a:schemeClr>
                </a:solidFill>
              </a:rPr>
              <a:t>  Drinking Fountain -&gt; FAMILY_P1</a:t>
            </a:r>
          </a:p>
          <a:p>
            <a:r>
              <a:rPr lang="en-MY" sz="900" dirty="0">
                <a:solidFill>
                  <a:schemeClr val="tx1">
                    <a:lumMod val="85000"/>
                    <a:lumOff val="15000"/>
                  </a:schemeClr>
                </a:solidFill>
              </a:rPr>
              <a:t>  BBQ Pit -&gt; FAMILY_P2</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GROUP_VISUAL_GATEWAY</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RESOLVED_PER_COMPONENT_CARD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B02-D-02</a:t>
            </a:r>
          </a:p>
          <a:p>
            <a:r>
              <a:rPr lang="en-MY" sz="900" dirty="0">
                <a:solidFill>
                  <a:schemeClr val="tx1">
                    <a:lumMod val="85000"/>
                    <a:lumOff val="15000"/>
                  </a:schemeClr>
                </a:solidFill>
              </a:rPr>
              <a:t>STATUS BELUM SELESAI: NONE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30" name="VisualDir"/>
          <p:cNvSpPr txBox="1"/>
          <p:nvPr/>
        </p:nvSpPr>
        <p:spPr>
          <a:xfrm>
            <a:off x="723930" y="4443984"/>
            <a:ext cx="10744200" cy="365760"/>
          </a:xfrm>
          <a:prstGeom prst="rect">
            <a:avLst/>
          </a:prstGeom>
          <a:noFill/>
        </p:spPr>
        <p:txBody>
          <a:bodyPr wrap="square">
            <a:noAutofit/>
          </a:bodyPr>
          <a:lstStyle/>
          <a:p>
            <a:pPr/>
            <a:r>
              <a:rPr lang="en-MY" sz="1100" dirty="0">
                <a:solidFill>
                  <a:srgbClr val="808080"/>
                </a:solidFill>
              </a:rPr>
              <a:t>[Visual: Foto jadual spesifikasi kerusi taman, modul ms 242–243. Tidak dibenamkan.]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Kayu Keras</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Kerusi Kayu</a:t>
            </a:r>
          </a:p>
          <a:p>
            <a:pPr/>
            <a:r>
              <a:rPr lang="en-MY" sz="750" dirty="0">
                <a:solidFill>
                  <a:srgbClr val="808080"/>
                </a:solidFill>
              </a:rPr>
              <a:t>Keras, modul ms 242. Aset</a:t>
            </a:r>
          </a:p>
          <a:p>
            <a:pPr/>
            <a:r>
              <a:rPr lang="en-MY" sz="750" dirty="0">
                <a:solidFill>
                  <a:srgbClr val="808080"/>
                </a:solidFill>
              </a:rPr>
              <a:t>K5PL06T03-B02-IMG-p242-x28.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Konkrit</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Foto jadual spesifikasi Kerusi</a:t>
            </a:r>
          </a:p>
          <a:p>
            <a:pPr/>
            <a:r>
              <a:rPr lang="en-MY" sz="750" dirty="0">
                <a:solidFill>
                  <a:srgbClr val="808080"/>
                </a:solidFill>
              </a:rPr>
              <a:t>Konkrit, modul ms 243. Aset</a:t>
            </a:r>
          </a:p>
          <a:p>
            <a:pPr/>
            <a:r>
              <a:rPr lang="en-MY" sz="750" dirty="0">
                <a:solidFill>
                  <a:srgbClr val="808080"/>
                </a:solidFill>
              </a:rPr>
              <a:t>K5PL06T03-B02-IMG-p243-x31. Tidak</a:t>
            </a:r>
          </a:p>
          <a:p>
            <a:pPr/>
            <a:r>
              <a:rPr lang="en-MY" sz="750" dirty="0">
                <a:solidFill>
                  <a:srgbClr val="808080"/>
                </a:solidFill>
              </a:rPr>
              <a:t>dibenamkan.]</a:t>
            </a:r>
          </a:p>
        </p:txBody>
      </p:sp>
      <p:sp>
        <p:nvSpPr>
          <p:cNvPr id="307" name="OverviewCard"/>
          <p:cNvSpPr txBox="1"/>
          <p:nvPr/>
        </p:nvSpPr>
        <p:spPr>
          <a:xfrm>
            <a:off x="5844570" y="5212080"/>
            <a:ext cx="2377440" cy="870509"/>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Komposit</a:t>
            </a:r>
          </a:p>
        </p:txBody>
      </p:sp>
      <p:sp>
        <p:nvSpPr>
          <p:cNvPr id="309" name="OverviewDir"/>
          <p:cNvSpPr txBox="1"/>
          <p:nvPr/>
        </p:nvSpPr>
        <p:spPr>
          <a:xfrm>
            <a:off x="5936010" y="5497373"/>
            <a:ext cx="2194560" cy="512064"/>
          </a:xfrm>
          <a:prstGeom prst="rect">
            <a:avLst/>
          </a:prstGeom>
          <a:noFill/>
        </p:spPr>
        <p:txBody>
          <a:bodyPr wrap="square">
            <a:noAutofit/>
          </a:bodyPr>
          <a:lstStyle/>
          <a:p>
            <a:pPr/>
            <a:r>
              <a:rPr lang="en-MY" sz="750" dirty="0">
                <a:solidFill>
                  <a:srgbClr val="808080"/>
                </a:solidFill>
              </a:rPr>
              <a:t>[Visual: Foto jadual spesifikasi Kerusi</a:t>
            </a:r>
          </a:p>
          <a:p>
            <a:pPr/>
            <a:r>
              <a:rPr lang="en-MY" sz="750" dirty="0">
                <a:solidFill>
                  <a:srgbClr val="808080"/>
                </a:solidFill>
              </a:rPr>
              <a:t>Komposit, modul ms 243. Aset</a:t>
            </a:r>
          </a:p>
          <a:p>
            <a:pPr/>
            <a:r>
              <a:rPr lang="en-MY" sz="750" dirty="0">
                <a:solidFill>
                  <a:srgbClr val="808080"/>
                </a:solidFill>
              </a:rPr>
              <a:t>K5PL06T03-B02-IMG-p243-x32.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[component_complete[KERUSI_TAMAN]]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2"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3"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K5PL06T03-B02-IMG-p242-x28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4"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Kayu padu gred perabot luar dengan ketahanan semula jadi tinggi terhadap serangga dan reput,</a:t>
            </a:r>
          </a:p>
          <a:p>
            <a:pPr/>
            <a:r>
              <a:rPr lang="en-MY" sz="1250" dirty="0">
                <a:solidFill>
                  <a:schemeClr val="tx1">
                    <a:lumMod val="85000"/>
                    <a:lumOff val="15000"/>
                  </a:schemeClr>
                </a:solidFill>
              </a:rPr>
              <a:t>atau kayu dirawat tekanan (pressure-treated).</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1/4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Ketebalan minimum komponen utama 25mm–50mm.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II_KERUSI_TAMAN_R01_SPEC02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2/4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Penyambungan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Skru tahan karat (stainless steel), bolt, atau tanggam kayu (mortise and tenon joints).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II_KERUSI_TAMAN_R01_SPEC03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3/4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Sealant luaran, minyak kayu, atau varnis tahan UV dan kelembapan.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Konkrit bertetulang gentian (FRC) atau konkrit pratuang (precast concrete). Pembesaran</a:t>
            </a:r>
          </a:p>
          <a:p>
            <a:pPr/>
            <a:r>
              <a:rPr lang="en-MY" sz="1250" dirty="0">
                <a:solidFill>
                  <a:schemeClr val="tx1">
                    <a:lumMod val="85000"/>
                    <a:lumOff val="15000"/>
                  </a:schemeClr>
                </a:solidFill>
              </a:rPr>
              <a:t>(expansion joints) mungkin diperlukan bagi mengelak keretakan akibat perubahan suhu.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Boleh dibiarkan asli, digilap, dicat, atau bertekstur (exposed aggregate). Permukaan mesti</a:t>
            </a:r>
          </a:p>
          <a:p>
            <a:pPr/>
            <a:r>
              <a:rPr lang="en-MY" sz="1250" dirty="0">
                <a:solidFill>
                  <a:schemeClr val="tx1">
                    <a:lumMod val="85000"/>
                    <a:lumOff val="15000"/>
                  </a:schemeClr>
                </a:solidFill>
              </a:rPr>
              <a:t>licin, tanpa tepi tajam.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Papan atau profil daripada campuran gentian kayu/selulosa dan plastik kitar semula. Tahan</a:t>
            </a:r>
          </a:p>
          <a:p>
            <a:pPr/>
            <a:r>
              <a:rPr lang="en-MY" sz="1250" dirty="0">
                <a:solidFill>
                  <a:schemeClr val="tx1">
                    <a:lumMod val="85000"/>
                    <a:lumOff val="15000"/>
                  </a:schemeClr>
                </a:solidFill>
              </a:rPr>
              <a:t>UV,</a:t>
            </a:r>
          </a:p>
          <a:p>
            <a:pPr/>
            <a:r>
              <a:rPr lang="en-MY" sz="1250" dirty="0">
                <a:solidFill>
                  <a:schemeClr val="tx1">
                    <a:lumMod val="85000"/>
                    <a:lumOff val="15000"/>
                  </a:schemeClr>
                </a:solidFill>
              </a:rPr>
              <a:t>kalis air, tidak reput, kalis serangga.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Warna disepadukan dalam bahan; tidak memerlukan cat atau varnis. Tekstur permukaan mungkin</a:t>
            </a:r>
          </a:p>
          <a:p>
            <a:pPr/>
            <a:r>
              <a:rPr lang="en-MY" sz="1250" dirty="0">
                <a:solidFill>
                  <a:schemeClr val="tx1">
                    <a:lumMod val="85000"/>
                    <a:lumOff val="15000"/>
                  </a:schemeClr>
                </a:solidFill>
              </a:rPr>
              <a:t>meniru urat kayu.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Kayu Keras</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Kerusi Kayu</a:t>
            </a:r>
          </a:p>
          <a:p>
            <a:pPr/>
            <a:r>
              <a:rPr lang="en-MY" sz="750" dirty="0">
                <a:solidFill>
                  <a:srgbClr val="808080"/>
                </a:solidFill>
              </a:rPr>
              <a:t>Keras, modul ms 242. Aset</a:t>
            </a:r>
          </a:p>
          <a:p>
            <a:pPr/>
            <a:r>
              <a:rPr lang="en-MY" sz="750" dirty="0">
                <a:solidFill>
                  <a:srgbClr val="808080"/>
                </a:solidFill>
              </a:rPr>
              <a:t>K5PL06T03-B02-IMG-p242-x28.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Konkrit</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Foto jadual spesifikasi Kerusi</a:t>
            </a:r>
          </a:p>
          <a:p>
            <a:pPr/>
            <a:r>
              <a:rPr lang="en-MY" sz="750" dirty="0">
                <a:solidFill>
                  <a:srgbClr val="808080"/>
                </a:solidFill>
              </a:rPr>
              <a:t>Konkrit, modul ms 243. Aset</a:t>
            </a:r>
          </a:p>
          <a:p>
            <a:pPr/>
            <a:r>
              <a:rPr lang="en-MY" sz="750" dirty="0">
                <a:solidFill>
                  <a:srgbClr val="808080"/>
                </a:solidFill>
              </a:rPr>
              <a:t>K5PL06T03-B02-IMG-p243-x31. Tidak</a:t>
            </a:r>
          </a:p>
          <a:p>
            <a:pPr/>
            <a:r>
              <a:rPr lang="en-MY" sz="750" dirty="0">
                <a:solidFill>
                  <a:srgbClr val="808080"/>
                </a:solidFill>
              </a:rPr>
              <a:t>dibenamkan.]</a:t>
            </a:r>
          </a:p>
        </p:txBody>
      </p:sp>
      <p:sp>
        <p:nvSpPr>
          <p:cNvPr id="307" name="OverviewCard"/>
          <p:cNvSpPr txBox="1"/>
          <p:nvPr/>
        </p:nvSpPr>
        <p:spPr>
          <a:xfrm>
            <a:off x="5844570" y="5212080"/>
            <a:ext cx="2377440" cy="870509"/>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Komposit</a:t>
            </a:r>
          </a:p>
        </p:txBody>
      </p:sp>
      <p:sp>
        <p:nvSpPr>
          <p:cNvPr id="309" name="OverviewDir"/>
          <p:cNvSpPr txBox="1"/>
          <p:nvPr/>
        </p:nvSpPr>
        <p:spPr>
          <a:xfrm>
            <a:off x="5936010" y="5497373"/>
            <a:ext cx="2194560" cy="512064"/>
          </a:xfrm>
          <a:prstGeom prst="rect">
            <a:avLst/>
          </a:prstGeom>
          <a:noFill/>
        </p:spPr>
        <p:txBody>
          <a:bodyPr wrap="square">
            <a:noAutofit/>
          </a:bodyPr>
          <a:lstStyle/>
          <a:p>
            <a:pPr/>
            <a:r>
              <a:rPr lang="en-MY" sz="750" dirty="0">
                <a:solidFill>
                  <a:srgbClr val="808080"/>
                </a:solidFill>
              </a:rPr>
              <a:t>[Visual: Foto jadual spesifikasi Kerusi</a:t>
            </a:r>
          </a:p>
          <a:p>
            <a:pPr/>
            <a:r>
              <a:rPr lang="en-MY" sz="750" dirty="0">
                <a:solidFill>
                  <a:srgbClr val="808080"/>
                </a:solidFill>
              </a:rPr>
              <a:t>Komposit, modul ms 243. Aset</a:t>
            </a:r>
          </a:p>
          <a:p>
            <a:pPr/>
            <a:r>
              <a:rPr lang="en-MY" sz="750" dirty="0">
                <a:solidFill>
                  <a:srgbClr val="808080"/>
                </a:solidFill>
              </a:rPr>
              <a:t>K5PL06T03-B02-IMG-p243-x32.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4443984"/>
            <a:ext cx="10744200" cy="365760"/>
          </a:xfrm>
          <a:prstGeom prst="rect">
            <a:avLst/>
          </a:prstGeom>
          <a:noFill/>
        </p:spPr>
        <p:txBody>
          <a:bodyPr wrap="square">
            <a:noAutofit/>
          </a:bodyPr>
          <a:lstStyle/>
          <a:p>
            <a:pPr/>
            <a:r>
              <a:rPr lang="en-MY" sz="1100" dirty="0">
                <a:solidFill>
                  <a:srgbClr val="808080"/>
                </a:solidFill>
              </a:rPr>
              <a:t>[Visual: Rajah 25 dan Rajah 26, modul ms 245. Tidak dibenamkan.]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[component_complete[PAPAN_TANDA]]</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K5PL06T03-B02-IMG-p245-x37</a:t>
            </a:r>
          </a:p>
          <a:p>
            <a:r>
              <a:rPr lang="en-MY" sz="900" dirty="0">
                <a:solidFill>
                  <a:schemeClr val="tx1">
                    <a:lumMod val="85000"/>
                    <a:lumOff val="15000"/>
                  </a:schemeClr>
                </a:solidFill>
              </a:rPr>
              <a:t>  K5PL06T03-B02-IMG-p245-x38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kategori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Panel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Aluminium Komposit (ACP) 3–4mm; HPL gred luar 6–10mm; Akrilik terstabil UV 5–10mm; Kayu</a:t>
            </a:r>
          </a:p>
          <a:p>
            <a:pPr/>
            <a:r>
              <a:rPr lang="en-MY" sz="1250" dirty="0">
                <a:solidFill>
                  <a:schemeClr val="tx1">
                    <a:lumMod val="85000"/>
                    <a:lumOff val="15000"/>
                  </a:schemeClr>
                </a:solidFill>
              </a:rPr>
              <a:t>dirawat</a:t>
            </a:r>
          </a:p>
          <a:p>
            <a:pPr/>
            <a:r>
              <a:rPr lang="en-MY" sz="1250" dirty="0">
                <a:solidFill>
                  <a:schemeClr val="tx1">
                    <a:lumMod val="85000"/>
                    <a:lumOff val="15000"/>
                  </a:schemeClr>
                </a:solidFill>
              </a:rPr>
              <a:t>tekanan/kayu keras min. 20mm.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Struktur/Tiang</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Keluli bersalut serbuk atau tahan karat, profil 50mm × 50mm ke atas; kayu keras min. 75mm ×</a:t>
            </a:r>
          </a:p>
          <a:p>
            <a:pPr/>
            <a:r>
              <a:rPr lang="en-MY" sz="1250" dirty="0">
                <a:solidFill>
                  <a:schemeClr val="tx1">
                    <a:lumMod val="85000"/>
                    <a:lumOff val="15000"/>
                  </a:schemeClr>
                </a:solidFill>
              </a:rPr>
              <a:t>75mm.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II_PAPAN_TANDA_CAT02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Grafik</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Cetakan UV langsung, cetakan digital pada vinil gred luar, atau ukiran laser. Mesti tahan</a:t>
            </a:r>
          </a:p>
          <a:p>
            <a:pPr/>
            <a:r>
              <a:rPr lang="en-MY" sz="1250" dirty="0">
                <a:solidFill>
                  <a:schemeClr val="tx1">
                    <a:lumMod val="85000"/>
                    <a:lumOff val="15000"/>
                  </a:schemeClr>
                </a:solidFill>
              </a:rPr>
              <a:t>pudar.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II_PAPAN_TANDA_CAT03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Rekaan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Font jelas, saiz teks sesuai jarak pandang, kontras warna tinggi.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30" name="VisualDir"/>
          <p:cNvSpPr txBox="1"/>
          <p:nvPr/>
        </p:nvSpPr>
        <p:spPr>
          <a:xfrm>
            <a:off x="723930" y="4443984"/>
            <a:ext cx="10744200" cy="365760"/>
          </a:xfrm>
          <a:prstGeom prst="rect">
            <a:avLst/>
          </a:prstGeom>
          <a:noFill/>
        </p:spPr>
        <p:txBody>
          <a:bodyPr wrap="square">
            <a:noAutofit/>
          </a:bodyPr>
          <a:lstStyle/>
          <a:p>
            <a:pPr/>
            <a:r>
              <a:rPr lang="en-MY" sz="1100" dirty="0">
                <a:solidFill>
                  <a:srgbClr val="808080"/>
                </a:solidFill>
              </a:rPr>
              <a:t>[Visual: Foto jadual spesifikasi tong sampah, modul ms 246–247. Tidak dibenamkan.]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1123798"/>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Logam</a:t>
            </a:r>
          </a:p>
        </p:txBody>
      </p:sp>
      <p:sp>
        <p:nvSpPr>
          <p:cNvPr id="303" name="OverviewDir"/>
          <p:cNvSpPr txBox="1"/>
          <p:nvPr/>
        </p:nvSpPr>
        <p:spPr>
          <a:xfrm>
            <a:off x="815370" y="5636362"/>
            <a:ext cx="2194560" cy="626364"/>
          </a:xfrm>
          <a:prstGeom prst="rect">
            <a:avLst/>
          </a:prstGeom>
          <a:noFill/>
        </p:spPr>
        <p:txBody>
          <a:bodyPr wrap="square">
            <a:noAutofit/>
          </a:bodyPr>
          <a:lstStyle/>
          <a:p>
            <a:pPr/>
            <a:r>
              <a:rPr lang="en-MY" sz="750" dirty="0">
                <a:solidFill>
                  <a:srgbClr val="808080"/>
                </a:solidFill>
              </a:rPr>
              <a:t>[Visual: Foto jadual spesifikasi Tong Sampah</a:t>
            </a:r>
          </a:p>
          <a:p>
            <a:pPr/>
            <a:r>
              <a:rPr lang="en-MY" sz="750" dirty="0">
                <a:solidFill>
                  <a:srgbClr val="808080"/>
                </a:solidFill>
              </a:rPr>
              <a:t>Logam, modul ms 246. Aset</a:t>
            </a:r>
          </a:p>
          <a:p>
            <a:pPr/>
            <a:r>
              <a:rPr lang="en-MY" sz="750" dirty="0">
                <a:solidFill>
                  <a:srgbClr val="808080"/>
                </a:solidFill>
              </a:rPr>
              <a:t>K5PL06T03-B02-IMG-p246-x41. Tidak</a:t>
            </a:r>
          </a:p>
          <a:p>
            <a:pPr/>
            <a:r>
              <a:rPr lang="en-MY" sz="750" dirty="0">
                <a:solidFill>
                  <a:srgbClr val="808080"/>
                </a:solidFill>
              </a:rPr>
              <a:t>dibenamkan.]</a:t>
            </a:r>
          </a:p>
        </p:txBody>
      </p:sp>
      <p:sp>
        <p:nvSpPr>
          <p:cNvPr id="304" name="OverviewCard"/>
          <p:cNvSpPr txBox="1"/>
          <p:nvPr/>
        </p:nvSpPr>
        <p:spPr>
          <a:xfrm>
            <a:off x="3284250" y="5212080"/>
            <a:ext cx="2377440" cy="1123798"/>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Konkrit/Batu</a:t>
            </a:r>
          </a:p>
        </p:txBody>
      </p:sp>
      <p:sp>
        <p:nvSpPr>
          <p:cNvPr id="306" name="OverviewDir"/>
          <p:cNvSpPr txBox="1"/>
          <p:nvPr/>
        </p:nvSpPr>
        <p:spPr>
          <a:xfrm>
            <a:off x="3375690" y="5636362"/>
            <a:ext cx="2194560" cy="626364"/>
          </a:xfrm>
          <a:prstGeom prst="rect">
            <a:avLst/>
          </a:prstGeom>
          <a:noFill/>
        </p:spPr>
        <p:txBody>
          <a:bodyPr wrap="square">
            <a:noAutofit/>
          </a:bodyPr>
          <a:lstStyle/>
          <a:p>
            <a:pPr/>
            <a:r>
              <a:rPr lang="en-MY" sz="750" dirty="0">
                <a:solidFill>
                  <a:srgbClr val="808080"/>
                </a:solidFill>
              </a:rPr>
              <a:t>[Visual: Foto jadual spesifikasi Tong Sampah</a:t>
            </a:r>
          </a:p>
          <a:p>
            <a:pPr/>
            <a:r>
              <a:rPr lang="en-MY" sz="750" dirty="0">
                <a:solidFill>
                  <a:srgbClr val="808080"/>
                </a:solidFill>
              </a:rPr>
              <a:t>Konkrit/Batu, modul ms 247. Aset</a:t>
            </a:r>
          </a:p>
          <a:p>
            <a:pPr/>
            <a:r>
              <a:rPr lang="en-MY" sz="750" dirty="0">
                <a:solidFill>
                  <a:srgbClr val="808080"/>
                </a:solidFill>
              </a:rPr>
              <a:t>K5PL06T03-B02-IMG-p247-x44. Tidak</a:t>
            </a:r>
          </a:p>
          <a:p>
            <a:pPr/>
            <a:r>
              <a:rPr lang="en-MY" sz="750" dirty="0">
                <a:solidFill>
                  <a:srgbClr val="808080"/>
                </a:solidFill>
              </a:rPr>
              <a:t>dibenamkan.]</a:t>
            </a:r>
          </a:p>
        </p:txBody>
      </p:sp>
      <p:sp>
        <p:nvSpPr>
          <p:cNvPr id="307" name="OverviewCard"/>
          <p:cNvSpPr txBox="1"/>
          <p:nvPr/>
        </p:nvSpPr>
        <p:spPr>
          <a:xfrm>
            <a:off x="5844570" y="5212080"/>
            <a:ext cx="2377440" cy="1123798"/>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Plastik Kitar</a:t>
            </a:r>
          </a:p>
          <a:p>
            <a:pPr/>
            <a:r>
              <a:rPr lang="en-MY" sz="900" b="1" dirty="0">
                <a:solidFill>
                  <a:schemeClr val="tx1">
                    <a:lumMod val="85000"/>
                    <a:lumOff val="15000"/>
                  </a:schemeClr>
                </a:solidFill>
              </a:rPr>
              <a:t>Semula (HDPE)</a:t>
            </a:r>
          </a:p>
        </p:txBody>
      </p:sp>
      <p:sp>
        <p:nvSpPr>
          <p:cNvPr id="309" name="OverviewDir"/>
          <p:cNvSpPr txBox="1"/>
          <p:nvPr/>
        </p:nvSpPr>
        <p:spPr>
          <a:xfrm>
            <a:off x="5936010" y="5636362"/>
            <a:ext cx="2194560" cy="626364"/>
          </a:xfrm>
          <a:prstGeom prst="rect">
            <a:avLst/>
          </a:prstGeom>
          <a:noFill/>
        </p:spPr>
        <p:txBody>
          <a:bodyPr wrap="square">
            <a:noAutofit/>
          </a:bodyPr>
          <a:lstStyle/>
          <a:p>
            <a:pPr/>
            <a:r>
              <a:rPr lang="en-MY" sz="750" dirty="0">
                <a:solidFill>
                  <a:srgbClr val="808080"/>
                </a:solidFill>
              </a:rPr>
              <a:t>[Visual: Dua foto jadual spesifikasi Tong</a:t>
            </a:r>
          </a:p>
          <a:p>
            <a:pPr/>
            <a:r>
              <a:rPr lang="en-MY" sz="750" dirty="0">
                <a:solidFill>
                  <a:srgbClr val="808080"/>
                </a:solidFill>
              </a:rPr>
              <a:t>Sampah Plastik HDPE, modul ms 247. Aset</a:t>
            </a:r>
          </a:p>
          <a:p>
            <a:pPr/>
            <a:r>
              <a:rPr lang="en-MY" sz="750" dirty="0">
                <a:solidFill>
                  <a:srgbClr val="808080"/>
                </a:solidFill>
              </a:rPr>
              <a:t>K5PL06T03-B02-IMG-p247-x45 dan</a:t>
            </a:r>
          </a:p>
          <a:p>
            <a:pPr/>
            <a:r>
              <a:rPr lang="en-MY" sz="750" dirty="0">
                <a:solidFill>
                  <a:srgbClr val="808080"/>
                </a:solidFill>
              </a:rPr>
              <a:t>K5PL06T03-B02-IMG-p247-x46.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[component_complete[TONG_SAMPAH]]</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K5PL06T03-B02-IMG-p246-x41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Keluli lembut digalvani dan disalut serbuk, atau keluli tahan karat. Ketebalan dinding badan</a:t>
            </a:r>
          </a:p>
          <a:p>
            <a:pPr/>
            <a:r>
              <a:rPr lang="en-MY" sz="1250" dirty="0">
                <a:solidFill>
                  <a:schemeClr val="tx1">
                    <a:lumMod val="85000"/>
                    <a:lumOff val="15000"/>
                  </a:schemeClr>
                </a:solidFill>
              </a:rPr>
              <a:t>min. 1.2mm.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Penutup tahan cuaca dan tahan haiwan; pembukaan pembuangan ergonomik; tong dalam (liner)</a:t>
            </a:r>
          </a:p>
          <a:p>
            <a:pPr/>
            <a:r>
              <a:rPr lang="en-MY" sz="1250" dirty="0">
                <a:solidFill>
                  <a:schemeClr val="tx1">
                    <a:lumMod val="85000"/>
                    <a:lumOff val="15000"/>
                  </a:schemeClr>
                </a:solidFill>
              </a:rPr>
              <a:t>mudah</a:t>
            </a:r>
          </a:p>
          <a:p>
            <a:pPr/>
            <a:r>
              <a:rPr lang="en-MY" sz="1250" dirty="0">
                <a:solidFill>
                  <a:schemeClr val="tx1">
                    <a:lumMod val="85000"/>
                    <a:lumOff val="15000"/>
                  </a:schemeClr>
                </a:solidFill>
              </a:rPr>
              <a:t>dikeluarkan.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K5PL06T03-B02-IMG-p247-x44</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Konkrit bertetulang atau batu asli/tiruan. Berat mencukupi bagi mengelak kecurian atau</a:t>
            </a:r>
          </a:p>
          <a:p>
            <a:pPr/>
            <a:r>
              <a:rPr lang="en-MY" sz="1250" dirty="0">
                <a:solidFill>
                  <a:schemeClr val="tx1">
                    <a:lumMod val="85000"/>
                    <a:lumOff val="15000"/>
                  </a:schemeClr>
                </a:solidFill>
              </a:rPr>
              <a:t>pergerakan tidak disengajakan.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Pembukaan sesuai untuk sampah, dengan atau tanpa tong dalam logam.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K5PL06T03-B02-IMG-p247-x45</a:t>
            </a:r>
          </a:p>
          <a:p>
            <a:r>
              <a:rPr lang="en-MY" sz="900" dirty="0">
                <a:solidFill>
                  <a:schemeClr val="tx1">
                    <a:lumMod val="85000"/>
                    <a:lumOff val="15000"/>
                  </a:schemeClr>
                </a:solidFill>
              </a:rPr>
              <a:t>  K5PL06T03-B02-IMG-p247-x46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Plastik berketumpatan tinggi (HDPE) yang tahan UV, tidak reput dan mudah dibersihkan.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Ringan, mudah dialihkan jika tidak dipasang tetap; pelbagai warna untuk pengasingan sisa.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1123798"/>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Logam</a:t>
            </a:r>
          </a:p>
        </p:txBody>
      </p:sp>
      <p:sp>
        <p:nvSpPr>
          <p:cNvPr id="303" name="OverviewDir"/>
          <p:cNvSpPr txBox="1"/>
          <p:nvPr/>
        </p:nvSpPr>
        <p:spPr>
          <a:xfrm>
            <a:off x="815370" y="5636362"/>
            <a:ext cx="2194560" cy="626364"/>
          </a:xfrm>
          <a:prstGeom prst="rect">
            <a:avLst/>
          </a:prstGeom>
          <a:noFill/>
        </p:spPr>
        <p:txBody>
          <a:bodyPr wrap="square">
            <a:noAutofit/>
          </a:bodyPr>
          <a:lstStyle/>
          <a:p>
            <a:pPr/>
            <a:r>
              <a:rPr lang="en-MY" sz="750" dirty="0">
                <a:solidFill>
                  <a:srgbClr val="808080"/>
                </a:solidFill>
              </a:rPr>
              <a:t>[Visual: Foto jadual spesifikasi Tong Sampah</a:t>
            </a:r>
          </a:p>
          <a:p>
            <a:pPr/>
            <a:r>
              <a:rPr lang="en-MY" sz="750" dirty="0">
                <a:solidFill>
                  <a:srgbClr val="808080"/>
                </a:solidFill>
              </a:rPr>
              <a:t>Logam, modul ms 246. Aset</a:t>
            </a:r>
          </a:p>
          <a:p>
            <a:pPr/>
            <a:r>
              <a:rPr lang="en-MY" sz="750" dirty="0">
                <a:solidFill>
                  <a:srgbClr val="808080"/>
                </a:solidFill>
              </a:rPr>
              <a:t>K5PL06T03-B02-IMG-p246-x41. Tidak</a:t>
            </a:r>
          </a:p>
          <a:p>
            <a:pPr/>
            <a:r>
              <a:rPr lang="en-MY" sz="750" dirty="0">
                <a:solidFill>
                  <a:srgbClr val="808080"/>
                </a:solidFill>
              </a:rPr>
              <a:t>dibenamkan.]</a:t>
            </a:r>
          </a:p>
        </p:txBody>
      </p:sp>
      <p:sp>
        <p:nvSpPr>
          <p:cNvPr id="304" name="OverviewCard"/>
          <p:cNvSpPr txBox="1"/>
          <p:nvPr/>
        </p:nvSpPr>
        <p:spPr>
          <a:xfrm>
            <a:off x="3284250" y="5212080"/>
            <a:ext cx="2377440" cy="1123798"/>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Konkrit/Batu</a:t>
            </a:r>
          </a:p>
        </p:txBody>
      </p:sp>
      <p:sp>
        <p:nvSpPr>
          <p:cNvPr id="306" name="OverviewDir"/>
          <p:cNvSpPr txBox="1"/>
          <p:nvPr/>
        </p:nvSpPr>
        <p:spPr>
          <a:xfrm>
            <a:off x="3375690" y="5636362"/>
            <a:ext cx="2194560" cy="626364"/>
          </a:xfrm>
          <a:prstGeom prst="rect">
            <a:avLst/>
          </a:prstGeom>
          <a:noFill/>
        </p:spPr>
        <p:txBody>
          <a:bodyPr wrap="square">
            <a:noAutofit/>
          </a:bodyPr>
          <a:lstStyle/>
          <a:p>
            <a:pPr/>
            <a:r>
              <a:rPr lang="en-MY" sz="750" dirty="0">
                <a:solidFill>
                  <a:srgbClr val="808080"/>
                </a:solidFill>
              </a:rPr>
              <a:t>[Visual: Foto jadual spesifikasi Tong Sampah</a:t>
            </a:r>
          </a:p>
          <a:p>
            <a:pPr/>
            <a:r>
              <a:rPr lang="en-MY" sz="750" dirty="0">
                <a:solidFill>
                  <a:srgbClr val="808080"/>
                </a:solidFill>
              </a:rPr>
              <a:t>Konkrit/Batu, modul ms 247. Aset</a:t>
            </a:r>
          </a:p>
          <a:p>
            <a:pPr/>
            <a:r>
              <a:rPr lang="en-MY" sz="750" dirty="0">
                <a:solidFill>
                  <a:srgbClr val="808080"/>
                </a:solidFill>
              </a:rPr>
              <a:t>K5PL06T03-B02-IMG-p247-x44. Tidak</a:t>
            </a:r>
          </a:p>
          <a:p>
            <a:pPr/>
            <a:r>
              <a:rPr lang="en-MY" sz="750" dirty="0">
                <a:solidFill>
                  <a:srgbClr val="808080"/>
                </a:solidFill>
              </a:rPr>
              <a:t>dibenamkan.]</a:t>
            </a:r>
          </a:p>
        </p:txBody>
      </p:sp>
      <p:sp>
        <p:nvSpPr>
          <p:cNvPr id="307" name="OverviewCard"/>
          <p:cNvSpPr txBox="1"/>
          <p:nvPr/>
        </p:nvSpPr>
        <p:spPr>
          <a:xfrm>
            <a:off x="5844570" y="5212080"/>
            <a:ext cx="2377440" cy="1123798"/>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Plastik Kitar</a:t>
            </a:r>
          </a:p>
          <a:p>
            <a:pPr/>
            <a:r>
              <a:rPr lang="en-MY" sz="900" b="1" dirty="0">
                <a:solidFill>
                  <a:schemeClr val="tx1">
                    <a:lumMod val="85000"/>
                    <a:lumOff val="15000"/>
                  </a:schemeClr>
                </a:solidFill>
              </a:rPr>
              <a:t>Semula (HDPE)</a:t>
            </a:r>
          </a:p>
        </p:txBody>
      </p:sp>
      <p:sp>
        <p:nvSpPr>
          <p:cNvPr id="309" name="OverviewDir"/>
          <p:cNvSpPr txBox="1"/>
          <p:nvPr/>
        </p:nvSpPr>
        <p:spPr>
          <a:xfrm>
            <a:off x="5936010" y="5636362"/>
            <a:ext cx="2194560" cy="626364"/>
          </a:xfrm>
          <a:prstGeom prst="rect">
            <a:avLst/>
          </a:prstGeom>
          <a:noFill/>
        </p:spPr>
        <p:txBody>
          <a:bodyPr wrap="square">
            <a:noAutofit/>
          </a:bodyPr>
          <a:lstStyle/>
          <a:p>
            <a:pPr/>
            <a:r>
              <a:rPr lang="en-MY" sz="750" dirty="0">
                <a:solidFill>
                  <a:srgbClr val="808080"/>
                </a:solidFill>
              </a:rPr>
              <a:t>[Visual: Dua foto jadual spesifikasi Tong</a:t>
            </a:r>
          </a:p>
          <a:p>
            <a:pPr/>
            <a:r>
              <a:rPr lang="en-MY" sz="750" dirty="0">
                <a:solidFill>
                  <a:srgbClr val="808080"/>
                </a:solidFill>
              </a:rPr>
              <a:t>Sampah Plastik HDPE, modul ms 247. Aset</a:t>
            </a:r>
          </a:p>
          <a:p>
            <a:pPr/>
            <a:r>
              <a:rPr lang="en-MY" sz="750" dirty="0">
                <a:solidFill>
                  <a:srgbClr val="808080"/>
                </a:solidFill>
              </a:rPr>
              <a:t>K5PL06T03-B02-IMG-p247-x45 dan</a:t>
            </a:r>
          </a:p>
          <a:p>
            <a:pPr/>
            <a:r>
              <a:rPr lang="en-MY" sz="750" dirty="0">
                <a:solidFill>
                  <a:srgbClr val="808080"/>
                </a:solidFill>
              </a:rPr>
              <a:t>K5PL06T03-B02-IMG-p247-x46.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ItemCard"/>
          <p:cNvSpPr txBox="1"/>
          <p:nvPr/>
        </p:nvSpPr>
        <p:spPr>
          <a:xfrm>
            <a:off x="6288009"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30" name="VisualDir"/>
          <p:cNvSpPr txBox="1"/>
          <p:nvPr/>
        </p:nvSpPr>
        <p:spPr>
          <a:xfrm>
            <a:off x="723930" y="4443984"/>
            <a:ext cx="10744200" cy="365760"/>
          </a:xfrm>
          <a:prstGeom prst="rect">
            <a:avLst/>
          </a:prstGeom>
          <a:noFill/>
        </p:spPr>
        <p:txBody>
          <a:bodyPr wrap="square">
            <a:noAutofit/>
          </a:bodyPr>
          <a:lstStyle/>
          <a:p>
            <a:pPr/>
            <a:r>
              <a:rPr lang="en-MY" sz="1100" dirty="0">
                <a:solidFill>
                  <a:srgbClr val="808080"/>
                </a:solidFill>
              </a:rPr>
              <a:t>[Visual: Foto jadual spesifikasi drinking fountain, modul ms 248–249. Tidak dibenamkan.]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1009498"/>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Pancutan Air Minum Keluli</a:t>
            </a:r>
          </a:p>
          <a:p>
            <a:pPr/>
            <a:r>
              <a:rPr lang="en-MY" sz="900" b="1" dirty="0">
                <a:solidFill>
                  <a:schemeClr val="tx1">
                    <a:lumMod val="85000"/>
                    <a:lumOff val="15000"/>
                  </a:schemeClr>
                </a:solidFill>
              </a:rPr>
              <a:t>Tahan Karat</a:t>
            </a:r>
          </a:p>
        </p:txBody>
      </p:sp>
      <p:sp>
        <p:nvSpPr>
          <p:cNvPr id="303" name="OverviewDir"/>
          <p:cNvSpPr txBox="1"/>
          <p:nvPr/>
        </p:nvSpPr>
        <p:spPr>
          <a:xfrm>
            <a:off x="815370" y="5636362"/>
            <a:ext cx="2194560" cy="512064"/>
          </a:xfrm>
          <a:prstGeom prst="rect">
            <a:avLst/>
          </a:prstGeom>
          <a:noFill/>
        </p:spPr>
        <p:txBody>
          <a:bodyPr wrap="square">
            <a:noAutofit/>
          </a:bodyPr>
          <a:lstStyle/>
          <a:p>
            <a:pPr/>
            <a:r>
              <a:rPr lang="en-MY" sz="750" dirty="0">
                <a:solidFill>
                  <a:srgbClr val="808080"/>
                </a:solidFill>
              </a:rPr>
              <a:t>[Visual: Foto jadual spesifikasi Pancutan</a:t>
            </a:r>
          </a:p>
          <a:p>
            <a:pPr/>
            <a:r>
              <a:rPr lang="en-MY" sz="750" dirty="0">
                <a:solidFill>
                  <a:srgbClr val="808080"/>
                </a:solidFill>
              </a:rPr>
              <a:t>Air Minum Keluli Tahan Karat, modul ms 248.</a:t>
            </a:r>
          </a:p>
          <a:p>
            <a:pPr/>
            <a:r>
              <a:rPr lang="en-MY" sz="750" dirty="0">
                <a:solidFill>
                  <a:srgbClr val="808080"/>
                </a:solidFill>
              </a:rPr>
              <a:t>Aset K5PL06T03-B02-IMG-p248-x49. Tidak</a:t>
            </a:r>
          </a:p>
          <a:p>
            <a:pPr/>
            <a:r>
              <a:rPr lang="en-MY" sz="750" dirty="0">
                <a:solidFill>
                  <a:srgbClr val="808080"/>
                </a:solidFill>
              </a:rPr>
              <a:t>dibenamkan.]</a:t>
            </a:r>
          </a:p>
        </p:txBody>
      </p:sp>
      <p:sp>
        <p:nvSpPr>
          <p:cNvPr id="304" name="OverviewCard"/>
          <p:cNvSpPr txBox="1"/>
          <p:nvPr/>
        </p:nvSpPr>
        <p:spPr>
          <a:xfrm>
            <a:off x="3284250" y="5212080"/>
            <a:ext cx="2377440" cy="1009498"/>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Pancutan Air Minum</a:t>
            </a:r>
          </a:p>
          <a:p>
            <a:pPr/>
            <a:r>
              <a:rPr lang="en-MY" sz="900" b="1" dirty="0">
                <a:solidFill>
                  <a:schemeClr val="tx1">
                    <a:lumMod val="85000"/>
                    <a:lumOff val="15000"/>
                  </a:schemeClr>
                </a:solidFill>
              </a:rPr>
              <a:t>Konkrit/Batu</a:t>
            </a:r>
          </a:p>
        </p:txBody>
      </p:sp>
      <p:sp>
        <p:nvSpPr>
          <p:cNvPr id="306" name="OverviewDir"/>
          <p:cNvSpPr txBox="1"/>
          <p:nvPr/>
        </p:nvSpPr>
        <p:spPr>
          <a:xfrm>
            <a:off x="3375690" y="5636362"/>
            <a:ext cx="2194560" cy="512064"/>
          </a:xfrm>
          <a:prstGeom prst="rect">
            <a:avLst/>
          </a:prstGeom>
          <a:noFill/>
        </p:spPr>
        <p:txBody>
          <a:bodyPr wrap="square">
            <a:noAutofit/>
          </a:bodyPr>
          <a:lstStyle/>
          <a:p>
            <a:pPr/>
            <a:r>
              <a:rPr lang="en-MY" sz="750" dirty="0">
                <a:solidFill>
                  <a:srgbClr val="808080"/>
                </a:solidFill>
              </a:rPr>
              <a:t>[Visual: Foto jadual spesifikasi Pancutan</a:t>
            </a:r>
          </a:p>
          <a:p>
            <a:pPr/>
            <a:r>
              <a:rPr lang="en-MY" sz="750" dirty="0">
                <a:solidFill>
                  <a:srgbClr val="808080"/>
                </a:solidFill>
              </a:rPr>
              <a:t>Air Minum Konkrit/Batu, modul ms 249. Aset</a:t>
            </a:r>
          </a:p>
          <a:p>
            <a:pPr/>
            <a:r>
              <a:rPr lang="en-MY" sz="750" dirty="0">
                <a:solidFill>
                  <a:srgbClr val="808080"/>
                </a:solidFill>
              </a:rPr>
              <a:t>K5PL06T03-B02-IMG-p249-x56.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[component_complete[DRINKING_FOUNTAIN]]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0/2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2"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3"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4"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5"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K5PL06T03-B02-IMG-p248-x49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4"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5"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6"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Keluli tahan karat Gred 304 atau 316 (316 lebih tahan kakisan untuk persekitaran pantai).</a:t>
            </a:r>
          </a:p>
          <a:p>
            <a:pPr/>
            <a:r>
              <a:rPr lang="en-MY" sz="1250" dirty="0">
                <a:solidFill>
                  <a:schemeClr val="tx1">
                    <a:lumMod val="85000"/>
                    <a:lumOff val="15000"/>
                  </a:schemeClr>
                </a:solidFill>
              </a:rPr>
              <a:t>Tebal</a:t>
            </a:r>
          </a:p>
          <a:p>
            <a:pPr/>
            <a:r>
              <a:rPr lang="en-MY" sz="1250" dirty="0">
                <a:solidFill>
                  <a:schemeClr val="tx1">
                    <a:lumMod val="85000"/>
                    <a:lumOff val="15000"/>
                  </a:schemeClr>
                </a:solidFill>
              </a:rPr>
              <a:t>min. 1.5mm.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1/6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6"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7"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Injap</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Injap tekan tahan lasak dan tahan vandalisme; mekanisme membersihkan diri satu kelebihan.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II_DRINKING_FOUNTAIN_R01_SPEC02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2/6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8"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Kepala pancutan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Aliran stabil dan bersih, dilindungi daripada sentuhan mulut pengguna.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II_DRINKING_FOUNTAIN_R01_SPEC03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3/6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Penapisan (pilihan)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Penapis karbon atau sedimen.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II_DRINKING_FOUNTAIN_R01_SPEC04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4/6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Perpaipan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Air bersih (PVC atau HDPE) dan saliran air buangan yang cekap; injap tutup untuk</a:t>
            </a:r>
          </a:p>
          <a:p>
            <a:pPr/>
            <a:r>
              <a:rPr lang="en-MY" sz="1250" dirty="0">
                <a:solidFill>
                  <a:schemeClr val="tx1">
                    <a:lumMod val="85000"/>
                    <a:lumOff val="15000"/>
                  </a:schemeClr>
                </a:solidFill>
              </a:rPr>
              <a:t>penyelenggaraan.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II_DRINKING_FOUNTAIN_R01_SPEC05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5/6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Aksesibiliti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Mengikut piawaian reka bentuk universal.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Struktur asas konkrit bertetulang atau batu asli/tiruan. Bahagian pancutan (faucet/basin)</a:t>
            </a:r>
          </a:p>
          <a:p>
            <a:pPr/>
            <a:r>
              <a:rPr lang="en-MY" sz="1250" dirty="0">
                <a:solidFill>
                  <a:schemeClr val="tx1">
                    <a:lumMod val="85000"/>
                    <a:lumOff val="15000"/>
                  </a:schemeClr>
                </a:solidFill>
              </a:rPr>
              <a:t>biasanya kekal keluli tahan karat untuk kebersihan.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Piawaian kesihatan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Mesti mematuhi piawaian kualiti air minuman Kementerian Kesihatan Malaysia atau badan</a:t>
            </a:r>
          </a:p>
          <a:p>
            <a:pPr/>
            <a:r>
              <a:rPr lang="en-MY" sz="1250" dirty="0">
                <a:solidFill>
                  <a:schemeClr val="tx1">
                    <a:lumMod val="85000"/>
                    <a:lumOff val="15000"/>
                  </a:schemeClr>
                </a:solidFill>
              </a:rPr>
              <a:t>berkaitan.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Tick"/>
          <p:cNvSpPr/>
          <p:nvPr/>
        </p:nvSpPr>
        <p:spPr>
          <a:xfrm>
            <a:off x="5501625"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43"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1009498"/>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Pancutan Air Minum Keluli</a:t>
            </a:r>
          </a:p>
          <a:p>
            <a:pPr/>
            <a:r>
              <a:rPr lang="en-MY" sz="900" b="1" dirty="0">
                <a:solidFill>
                  <a:schemeClr val="tx1">
                    <a:lumMod val="85000"/>
                    <a:lumOff val="15000"/>
                  </a:schemeClr>
                </a:solidFill>
              </a:rPr>
              <a:t>Tahan Karat</a:t>
            </a:r>
          </a:p>
        </p:txBody>
      </p:sp>
      <p:sp>
        <p:nvSpPr>
          <p:cNvPr id="303" name="OverviewDir"/>
          <p:cNvSpPr txBox="1"/>
          <p:nvPr/>
        </p:nvSpPr>
        <p:spPr>
          <a:xfrm>
            <a:off x="815370" y="5636362"/>
            <a:ext cx="2194560" cy="512064"/>
          </a:xfrm>
          <a:prstGeom prst="rect">
            <a:avLst/>
          </a:prstGeom>
          <a:noFill/>
        </p:spPr>
        <p:txBody>
          <a:bodyPr wrap="square">
            <a:noAutofit/>
          </a:bodyPr>
          <a:lstStyle/>
          <a:p>
            <a:pPr/>
            <a:r>
              <a:rPr lang="en-MY" sz="750" dirty="0">
                <a:solidFill>
                  <a:srgbClr val="808080"/>
                </a:solidFill>
              </a:rPr>
              <a:t>[Visual: Foto jadual spesifikasi Pancutan</a:t>
            </a:r>
          </a:p>
          <a:p>
            <a:pPr/>
            <a:r>
              <a:rPr lang="en-MY" sz="750" dirty="0">
                <a:solidFill>
                  <a:srgbClr val="808080"/>
                </a:solidFill>
              </a:rPr>
              <a:t>Air Minum Keluli Tahan Karat, modul ms 248.</a:t>
            </a:r>
          </a:p>
          <a:p>
            <a:pPr/>
            <a:r>
              <a:rPr lang="en-MY" sz="750" dirty="0">
                <a:solidFill>
                  <a:srgbClr val="808080"/>
                </a:solidFill>
              </a:rPr>
              <a:t>Aset K5PL06T03-B02-IMG-p248-x49. Tidak</a:t>
            </a:r>
          </a:p>
          <a:p>
            <a:pPr/>
            <a:r>
              <a:rPr lang="en-MY" sz="750" dirty="0">
                <a:solidFill>
                  <a:srgbClr val="808080"/>
                </a:solidFill>
              </a:rPr>
              <a:t>dibenamkan.]</a:t>
            </a:r>
          </a:p>
        </p:txBody>
      </p:sp>
      <p:sp>
        <p:nvSpPr>
          <p:cNvPr id="304" name="OverviewCard"/>
          <p:cNvSpPr txBox="1"/>
          <p:nvPr/>
        </p:nvSpPr>
        <p:spPr>
          <a:xfrm>
            <a:off x="3284250" y="5212080"/>
            <a:ext cx="2377440" cy="1009498"/>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Pancutan Air Minum</a:t>
            </a:r>
          </a:p>
          <a:p>
            <a:pPr/>
            <a:r>
              <a:rPr lang="en-MY" sz="900" b="1" dirty="0">
                <a:solidFill>
                  <a:schemeClr val="tx1">
                    <a:lumMod val="85000"/>
                    <a:lumOff val="15000"/>
                  </a:schemeClr>
                </a:solidFill>
              </a:rPr>
              <a:t>Konkrit/Batu</a:t>
            </a:r>
          </a:p>
        </p:txBody>
      </p:sp>
      <p:sp>
        <p:nvSpPr>
          <p:cNvPr id="306" name="OverviewDir"/>
          <p:cNvSpPr txBox="1"/>
          <p:nvPr/>
        </p:nvSpPr>
        <p:spPr>
          <a:xfrm>
            <a:off x="3375690" y="5636362"/>
            <a:ext cx="2194560" cy="512064"/>
          </a:xfrm>
          <a:prstGeom prst="rect">
            <a:avLst/>
          </a:prstGeom>
          <a:noFill/>
        </p:spPr>
        <p:txBody>
          <a:bodyPr wrap="square">
            <a:noAutofit/>
          </a:bodyPr>
          <a:lstStyle/>
          <a:p>
            <a:pPr/>
            <a:r>
              <a:rPr lang="en-MY" sz="750" dirty="0">
                <a:solidFill>
                  <a:srgbClr val="808080"/>
                </a:solidFill>
              </a:rPr>
              <a:t>[Visual: Foto jadual spesifikasi Pancutan</a:t>
            </a:r>
          </a:p>
          <a:p>
            <a:pPr/>
            <a:r>
              <a:rPr lang="en-MY" sz="750" dirty="0">
                <a:solidFill>
                  <a:srgbClr val="808080"/>
                </a:solidFill>
              </a:rPr>
              <a:t>Air Minum Konkrit/Batu, modul ms 249. Aset</a:t>
            </a:r>
          </a:p>
          <a:p>
            <a:pPr/>
            <a:r>
              <a:rPr lang="en-MY" sz="750" dirty="0">
                <a:solidFill>
                  <a:srgbClr val="808080"/>
                </a:solidFill>
              </a:rPr>
              <a:t>K5PL06T03-B02-IMG-p249-x56.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2/2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4443984"/>
            <a:ext cx="10744200" cy="365760"/>
          </a:xfrm>
          <a:prstGeom prst="rect">
            <a:avLst/>
          </a:prstGeom>
          <a:noFill/>
        </p:spPr>
        <p:txBody>
          <a:bodyPr wrap="square">
            <a:noAutofit/>
          </a:bodyPr>
          <a:lstStyle/>
          <a:p>
            <a:pPr/>
            <a:r>
              <a:rPr lang="en-MY" sz="1100" dirty="0">
                <a:solidFill>
                  <a:srgbClr val="808080"/>
                </a:solidFill>
              </a:rPr>
              <a:t>[Visual: Foto jadual spesifikasi BBQ Pit, modul ms 249. Tidak dibenamkan.]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[component_complete[BBQ_PIT]]</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kategori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kelas cadangan: PROVISIONAL_VISUAL_PROPOSAL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Pembinaan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1074420"/>
          </a:xfrm>
          <a:prstGeom prst="rect">
            <a:avLst/>
          </a:prstGeom>
          <a:noFill/>
        </p:spPr>
        <p:txBody>
          <a:bodyPr wrap="square">
            <a:noAutofit/>
          </a:bodyPr>
          <a:lstStyle/>
          <a:p>
            <a:pPr/>
            <a:r>
              <a:rPr lang="en-MY" sz="1250" dirty="0">
                <a:solidFill>
                  <a:schemeClr val="tx1">
                    <a:lumMod val="85000"/>
                    <a:lumOff val="15000"/>
                  </a:schemeClr>
                </a:solidFill>
              </a:rPr>
              <a:t>Dinding dalam ruang pembakaran daripada bata tahan api (firebrick) atau blok konkrit tahan</a:t>
            </a:r>
          </a:p>
          <a:p>
            <a:pPr/>
            <a:r>
              <a:rPr lang="en-MY" sz="1250" dirty="0">
                <a:solidFill>
                  <a:schemeClr val="tx1">
                    <a:lumMod val="85000"/>
                    <a:lumOff val="15000"/>
                  </a:schemeClr>
                </a:solidFill>
              </a:rPr>
              <a:t>suhu</a:t>
            </a:r>
          </a:p>
          <a:p>
            <a:pPr/>
            <a:r>
              <a:rPr lang="en-MY" sz="1250" dirty="0">
                <a:solidFill>
                  <a:schemeClr val="tx1">
                    <a:lumMod val="85000"/>
                    <a:lumOff val="15000"/>
                  </a:schemeClr>
                </a:solidFill>
              </a:rPr>
              <a:t>tinggi, dengan mortar tahan api; dinding luar bata biasa, blok konkrit atau batu; pelat</a:t>
            </a:r>
          </a:p>
          <a:p>
            <a:pPr/>
            <a:r>
              <a:rPr lang="en-MY" sz="1250" dirty="0">
                <a:solidFill>
                  <a:schemeClr val="tx1">
                    <a:lumMod val="85000"/>
                    <a:lumOff val="15000"/>
                  </a:schemeClr>
                </a:solidFill>
              </a:rPr>
              <a:t>kerja</a:t>
            </a:r>
          </a:p>
          <a:p>
            <a:pPr/>
            <a:r>
              <a:rPr lang="en-MY" sz="1250" dirty="0">
                <a:solidFill>
                  <a:schemeClr val="tx1">
                    <a:lumMod val="85000"/>
                    <a:lumOff val="15000"/>
                  </a:schemeClr>
                </a:solidFill>
              </a:rPr>
              <a:t>konkrit, jubin seramik tahan haba atau batu granit.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Ketinggian memanggang lazimnya 750–900mm dari aras tanah; saiz lubang api mengikut saiz</a:t>
            </a:r>
          </a:p>
          <a:p>
            <a:pPr/>
            <a:r>
              <a:rPr lang="en-MY" sz="1250" dirty="0">
                <a:solidFill>
                  <a:schemeClr val="tx1">
                    <a:lumMod val="85000"/>
                    <a:lumOff val="15000"/>
                  </a:schemeClr>
                </a:solidFill>
              </a:rPr>
              <a:t>gril.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II_BBQ_PIT_CAT02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Gril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Keluli tahan karat gred makanan atau besi tuang; tebal palang min. 6mm.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II_BBQ_PIT_CAT03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Keselamatan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Pengudaraan di bawah ruang pembakaran; saliran air hujan; cerobong asap (pilihan); ruang</a:t>
            </a:r>
          </a:p>
          <a:p>
            <a:pPr/>
            <a:r>
              <a:rPr lang="en-MY" sz="1250" dirty="0">
                <a:solidFill>
                  <a:schemeClr val="tx1">
                    <a:lumMod val="85000"/>
                    <a:lumOff val="15000"/>
                  </a:schemeClr>
                </a:solidFill>
              </a:rPr>
              <a:t>persediaan bersebelahan; jarak selamat dari bahan mudah terbakar.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Rumusan</a:t>
            </a:r>
          </a:p>
        </p:txBody>
      </p:sp>
      <p:sp>
        <p:nvSpPr>
          <p:cNvPr id="30" name="VisualDir"/>
          <p:cNvSpPr txBox="1"/>
          <p:nvPr/>
        </p:nvSpPr>
        <p:spPr>
          <a:xfrm>
            <a:off x="723930" y="1188720"/>
            <a:ext cx="1074420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Papan rumusan — dua kumpulan komponen bersebelahan,</a:t>
            </a:r>
          </a:p>
          <a:p>
            <a:pPr/>
            <a:r>
              <a:rPr lang="en-MY" sz="1100" dirty="0">
                <a:solidFill>
                  <a:srgbClr val="808080"/>
                </a:solidFill>
              </a:rPr>
              <a:t>empat dan lima item. Tidak dibenamkan.]</a:t>
            </a:r>
          </a:p>
        </p:txBody>
      </p:sp>
      <p:sp>
        <p:nvSpPr>
          <p:cNvPr id="40" name="RumLine"/>
          <p:cNvSpPr txBox="1"/>
          <p:nvPr/>
        </p:nvSpPr>
        <p:spPr>
          <a:xfrm>
            <a:off x="723930" y="2011680"/>
            <a:ext cx="10744200" cy="640080"/>
          </a:xfrm>
          <a:prstGeom prst="rect">
            <a:avLst/>
          </a:prstGeom>
          <a:noFill/>
        </p:spPr>
        <p:txBody>
          <a:bodyPr wrap="square">
            <a:noAutofit/>
          </a:bodyPr>
          <a:lstStyle/>
          <a:p>
            <a:pPr/>
            <a:r>
              <a:rPr lang="en-MY" sz="1450" dirty="0">
                <a:solidFill>
                  <a:schemeClr val="tx1">
                    <a:lumMod val="85000"/>
                    <a:lumOff val="15000"/>
                  </a:schemeClr>
                </a:solidFill>
              </a:rPr>
              <a:t>Mengenal pasti struktur dan elemen landskap - kerja pembinaan, penyeliaan dan penyelenggaraan</a:t>
            </a:r>
          </a:p>
          <a:p>
            <a:pPr/>
            <a:r>
              <a:rPr lang="en-MY" sz="1450" dirty="0">
                <a:solidFill>
                  <a:schemeClr val="tx1">
                    <a:lumMod val="85000"/>
                    <a:lumOff val="15000"/>
                  </a:schemeClr>
                </a:solidFill>
              </a:rPr>
              <a:t>dirancang dengan tepat</a:t>
            </a:r>
          </a:p>
        </p:txBody>
      </p:sp>
      <p:sp>
        <p:nvSpPr>
          <p:cNvPr id="41" name="RumLine"/>
          <p:cNvSpPr txBox="1"/>
          <p:nvPr/>
        </p:nvSpPr>
        <p:spPr>
          <a:xfrm>
            <a:off x="723930" y="2889504"/>
            <a:ext cx="10744200" cy="365760"/>
          </a:xfrm>
          <a:prstGeom prst="rect">
            <a:avLst/>
          </a:prstGeom>
          <a:noFill/>
        </p:spPr>
        <p:txBody>
          <a:bodyPr wrap="square">
            <a:noAutofit/>
          </a:bodyPr>
          <a:lstStyle/>
          <a:p>
            <a:pPr/>
            <a:r>
              <a:rPr lang="en-MY" sz="1450" dirty="0">
                <a:solidFill>
                  <a:schemeClr val="tx1">
                    <a:lumMod val="85000"/>
                    <a:lumOff val="15000"/>
                  </a:schemeClr>
                </a:solidFill>
              </a:rPr>
              <a:t>Struktur Taman - Struktur Persisir Air, Struktur Teduhan, Kemudahan Awam, </a:t>
            </a:r>
            <a:r>
              <a:rPr lang="en-MY" sz="1450" i="1" dirty="0">
                <a:solidFill>
                  <a:schemeClr val="tx1">
                    <a:lumMod val="85000"/>
                    <a:lumOff val="15000"/>
                  </a:schemeClr>
                </a:solidFill>
              </a:rPr>
              <a:t>Water Feature</a:t>
            </a:r>
          </a:p>
        </p:txBody>
      </p:sp>
      <p:sp>
        <p:nvSpPr>
          <p:cNvPr id="42" name="RumLine"/>
          <p:cNvSpPr txBox="1"/>
          <p:nvPr/>
        </p:nvSpPr>
        <p:spPr>
          <a:xfrm>
            <a:off x="723930" y="3493008"/>
            <a:ext cx="10744200" cy="365760"/>
          </a:xfrm>
          <a:prstGeom prst="rect">
            <a:avLst/>
          </a:prstGeom>
          <a:noFill/>
        </p:spPr>
        <p:txBody>
          <a:bodyPr wrap="square">
            <a:noAutofit/>
          </a:bodyPr>
          <a:lstStyle/>
          <a:p>
            <a:pPr/>
            <a:r>
              <a:rPr lang="en-MY" sz="1450" dirty="0">
                <a:solidFill>
                  <a:schemeClr val="tx1">
                    <a:lumMod val="85000"/>
                    <a:lumOff val="15000"/>
                  </a:schemeClr>
                </a:solidFill>
              </a:rPr>
              <a:t>Perabot Taman - Kerusi Taman, Papan Tanda, Tong Sampah, </a:t>
            </a:r>
            <a:r>
              <a:rPr lang="en-MY" sz="1450" i="1" dirty="0">
                <a:solidFill>
                  <a:schemeClr val="tx1">
                    <a:lumMod val="85000"/>
                    <a:lumOff val="15000"/>
                  </a:schemeClr>
                </a:solidFill>
              </a:rPr>
              <a:t>Drinking Fountain</a:t>
            </a:r>
            <a:r>
              <a:rPr lang="en-MY" sz="1450" dirty="0">
                <a:solidFill>
                  <a:schemeClr val="tx1">
                    <a:lumMod val="85000"/>
                    <a:lumOff val="15000"/>
                  </a:schemeClr>
                </a:solidFill>
              </a:rPr>
              <a:t> dan </a:t>
            </a:r>
            <a:r>
              <a:rPr lang="en-MY" sz="1450" i="1" dirty="0">
                <a:solidFill>
                  <a:schemeClr val="tx1">
                    <a:lumMod val="85000"/>
                    <a:lumOff val="15000"/>
                  </a:schemeClr>
                </a:solidFill>
              </a:rPr>
              <a:t>BBQ Pit</a:t>
            </a:r>
          </a:p>
        </p:txBody>
      </p:sp>
      <p:sp>
        <p:nvSpPr>
          <p:cNvPr id="43" name="RumLine"/>
          <p:cNvSpPr txBox="1"/>
          <p:nvPr/>
        </p:nvSpPr>
        <p:spPr>
          <a:xfrm>
            <a:off x="723930" y="4096512"/>
            <a:ext cx="10744200" cy="640080"/>
          </a:xfrm>
          <a:prstGeom prst="rect">
            <a:avLst/>
          </a:prstGeom>
          <a:noFill/>
        </p:spPr>
        <p:txBody>
          <a:bodyPr wrap="square">
            <a:noAutofit/>
          </a:bodyPr>
          <a:lstStyle/>
          <a:p>
            <a:pPr/>
            <a:r>
              <a:rPr lang="en-MY" sz="1450" dirty="0">
                <a:solidFill>
                  <a:schemeClr val="tx1">
                    <a:lumMod val="85000"/>
                    <a:lumOff val="15000"/>
                  </a:schemeClr>
                </a:solidFill>
              </a:rPr>
              <a:t>Kontraktor dapat merancang, melaksana dan menyelenggara setiap komponen landskap mengikut</a:t>
            </a:r>
          </a:p>
          <a:p>
            <a:pPr/>
            <a:r>
              <a:rPr lang="en-MY" sz="1450" dirty="0">
                <a:solidFill>
                  <a:schemeClr val="tx1">
                    <a:lumMod val="85000"/>
                    <a:lumOff val="15000"/>
                  </a:schemeClr>
                </a:solidFill>
              </a:rPr>
              <a:t>fungsinya di tapak</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Rumusan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FRAME_SUMMARY_BASE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SCR_RUMUSAN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Rumusan aras Bahagian.</a:t>
            </a:r>
          </a:p>
          <a:p>
            <a:r>
              <a:rPr lang="en-MY" sz="900" b="1" dirty="0">
                <a:solidFill>
                  <a:schemeClr val="tx1">
                    <a:lumMod val="85000"/>
                    <a:lumOff val="15000"/>
                  </a:schemeClr>
                </a:solidFill>
              </a:rPr>
              <a:t>LABEL DILARANG DIPAPARKAN:</a:t>
            </a:r>
          </a:p>
          <a:p>
            <a:r>
              <a:rPr lang="en-MY" sz="900" dirty="0">
                <a:solidFill>
                  <a:schemeClr val="tx1">
                    <a:lumMod val="85000"/>
                    <a:lumOff val="15000"/>
                  </a:schemeClr>
                </a:solidFill>
              </a:rPr>
              <a:t>  Kepentingan, Isi Utama, Apa Yang Dipelajari, Manfaat</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omits the redundant opening label "Komponen Landskap — Struktur Taman dan Perabot Taman."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B02-D-09</a:t>
            </a:r>
          </a:p>
          <a:p>
            <a:r>
              <a:rPr lang="en-MY" sz="900" dirty="0">
                <a:solidFill>
                  <a:schemeClr val="tx1">
                    <a:lumMod val="85000"/>
                    <a:lumOff val="15000"/>
                  </a:schemeClr>
                </a:solidFill>
              </a:rPr>
              <a:t>STATUS BELUM SELESAI: NONE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a:t>
            </a:r>
          </a:p>
        </p:txBody>
      </p:sp>
      <p:sp>
        <p:nvSpPr>
          <p:cNvPr id="20" name="Strap"/>
          <p:cNvSpPr txBox="1"/>
          <p:nvPr/>
        </p:nvSpPr>
        <p:spPr>
          <a:xfrm>
            <a:off x="723930" y="1152144"/>
            <a:ext cx="10744200" cy="329184"/>
          </a:xfrm>
          <a:prstGeom prst="rect">
            <a:avLst/>
          </a:prstGeom>
          <a:noFill/>
        </p:spPr>
        <p:txBody>
          <a:bodyPr wrap="square">
            <a:noAutofit/>
          </a:bodyPr>
          <a:lstStyle/>
          <a:p>
            <a:pPr/>
            <a:r>
              <a:rPr lang="en-MY" sz="1300" dirty="0">
                <a:solidFill>
                  <a:srgbClr val="7F6000"/>
                </a:solidFill>
              </a:rPr>
              <a:t>5 soalan — 4 MCQ + 1 Multiple Response   ·   Lulus: 3/5 = 60%</a:t>
            </a:r>
          </a:p>
        </p:txBody>
      </p:sp>
      <p:sp>
        <p:nvSpPr>
          <p:cNvPr id="30" name="Purpose"/>
          <p:cNvSpPr txBox="1"/>
          <p:nvPr/>
        </p:nvSpPr>
        <p:spPr>
          <a:xfrm>
            <a:off x="723930" y="1700784"/>
            <a:ext cx="10744200" cy="658368"/>
          </a:xfrm>
          <a:prstGeom prst="rect">
            <a:avLst/>
          </a:prstGeom>
          <a:noFill/>
        </p:spPr>
        <p:txBody>
          <a:bodyPr wrap="square">
            <a:noAutofit/>
          </a:bodyPr>
          <a:lstStyle/>
          <a:p>
            <a:pPr/>
            <a:r>
              <a:rPr lang="en-MY" sz="1500" dirty="0">
                <a:solidFill>
                  <a:schemeClr val="tx1">
                    <a:lumMod val="85000"/>
                    <a:lumOff val="15000"/>
                  </a:schemeClr>
                </a:solidFill>
              </a:rPr>
              <a:t>Tujuan kuiz ini adalah untuk menguji kefahaman semata-mata dan bukan sebahagian daripada</a:t>
            </a:r>
          </a:p>
          <a:p>
            <a:pPr/>
            <a:r>
              <a:rPr lang="en-MY" sz="1500" dirty="0">
                <a:solidFill>
                  <a:schemeClr val="tx1">
                    <a:lumMod val="85000"/>
                    <a:lumOff val="15000"/>
                  </a:schemeClr>
                </a:solidFill>
              </a:rPr>
              <a:t>peperiksaan akhir kursus.</a:t>
            </a:r>
          </a:p>
        </p:txBody>
      </p:sp>
      <p:sp>
        <p:nvSpPr>
          <p:cNvPr id="31" name="Purpose"/>
          <p:cNvSpPr txBox="1"/>
          <p:nvPr/>
        </p:nvSpPr>
        <p:spPr>
          <a:xfrm>
            <a:off x="723930" y="2505456"/>
            <a:ext cx="10744200" cy="365760"/>
          </a:xfrm>
          <a:prstGeom prst="rect">
            <a:avLst/>
          </a:prstGeom>
          <a:noFill/>
        </p:spPr>
        <p:txBody>
          <a:bodyPr wrap="square">
            <a:noAutofit/>
          </a:bodyPr>
          <a:lstStyle/>
          <a:p>
            <a:pPr/>
            <a:r>
              <a:rPr lang="en-MY" sz="1500" dirty="0">
                <a:solidFill>
                  <a:schemeClr val="tx1">
                    <a:lumMod val="85000"/>
                    <a:lumOff val="15000"/>
                  </a:schemeClr>
                </a:solidFill>
              </a:rPr>
              <a:t>Markah tidak akan dinilai sebagai gred peperiksaan akhir kursus.</a:t>
            </a:r>
          </a:p>
        </p:txBody>
      </p:sp>
      <p:sp>
        <p:nvSpPr>
          <p:cNvPr id="40" name="Instr"/>
          <p:cNvSpPr txBox="1"/>
          <p:nvPr/>
        </p:nvSpPr>
        <p:spPr>
          <a:xfrm>
            <a:off x="723930" y="3200400"/>
            <a:ext cx="10744200" cy="365760"/>
          </a:xfrm>
          <a:prstGeom prst="rect">
            <a:avLst/>
          </a:prstGeom>
          <a:noFill/>
        </p:spPr>
        <p:txBody>
          <a:bodyPr wrap="square">
            <a:noAutofit/>
          </a:bodyPr>
          <a:lstStyle/>
          <a:p>
            <a:pPr/>
            <a:r>
              <a:rPr lang="en-MY" sz="1600" dirty="0">
                <a:solidFill>
                  <a:schemeClr val="tx1">
                    <a:lumMod val="85000"/>
                    <a:lumOff val="15000"/>
                  </a:schemeClr>
                </a:solidFill>
              </a:rPr>
              <a:t>Jawab semua soalan dengan pilihan jawapan yang betul.</a:t>
            </a:r>
          </a:p>
        </p:txBody>
      </p:sp>
      <p:sp>
        <p:nvSpPr>
          <p:cNvPr id="41" name="Instr"/>
          <p:cNvSpPr txBox="1"/>
          <p:nvPr/>
        </p:nvSpPr>
        <p:spPr>
          <a:xfrm>
            <a:off x="723930" y="3602736"/>
            <a:ext cx="10744200" cy="365760"/>
          </a:xfrm>
          <a:prstGeom prst="rect">
            <a:avLst/>
          </a:prstGeom>
          <a:noFill/>
        </p:spPr>
        <p:txBody>
          <a:bodyPr wrap="square">
            <a:noAutofit/>
          </a:bodyPr>
          <a:lstStyle/>
          <a:p>
            <a:pPr/>
            <a:r>
              <a:rPr lang="en-MY" sz="1600" b="1" dirty="0">
                <a:solidFill>
                  <a:schemeClr val="tx1">
                    <a:lumMod val="85000"/>
                    <a:lumOff val="15000"/>
                  </a:schemeClr>
                </a:solidFill>
              </a:rPr>
              <a:t>Klik Mula Kuiz untuk memulakan kuiz.</a:t>
            </a:r>
          </a:p>
        </p:txBody>
      </p:sp>
      <p:sp>
        <p:nvSpPr>
          <p:cNvPr id="50" name="Ctl"/>
          <p:cNvSpPr txBox="1"/>
          <p:nvPr/>
        </p:nvSpPr>
        <p:spPr>
          <a:xfrm>
            <a:off x="723930" y="5120640"/>
            <a:ext cx="2743200" cy="329184"/>
          </a:xfrm>
          <a:prstGeom prst="rect">
            <a:avLst/>
          </a:prstGeom>
          <a:noFill/>
        </p:spPr>
        <p:txBody>
          <a:bodyPr wrap="square">
            <a:noAutofit/>
          </a:bodyPr>
          <a:lstStyle/>
          <a:p>
            <a:pPr/>
            <a:r>
              <a:rPr lang="en-MY" sz="1300" dirty="0">
                <a:solidFill>
                  <a:srgbClr val="808080"/>
                </a:solidFill>
              </a:rPr>
              <a:t>Semak Jawapan</a:t>
            </a:r>
          </a:p>
        </p:txBody>
      </p:sp>
      <p:sp>
        <p:nvSpPr>
          <p:cNvPr id="51" name="Ctl"/>
          <p:cNvSpPr txBox="1"/>
          <p:nvPr/>
        </p:nvSpPr>
        <p:spPr>
          <a:xfrm>
            <a:off x="3650010" y="5120640"/>
            <a:ext cx="2743200" cy="329184"/>
          </a:xfrm>
          <a:prstGeom prst="rect">
            <a:avLst/>
          </a:prstGeom>
          <a:noFill/>
        </p:spPr>
        <p:txBody>
          <a:bodyPr wrap="square">
            <a:noAutofit/>
          </a:bodyPr>
          <a:lstStyle/>
          <a:p>
            <a:pPr/>
            <a:r>
              <a:rPr lang="en-MY" sz="1300" dirty="0">
                <a:solidFill>
                  <a:srgbClr val="808080"/>
                </a:solidFill>
              </a:rPr>
              <a:t>Ulang Kuiz</a:t>
            </a:r>
          </a:p>
        </p:txBody>
      </p:sp>
      <p:sp>
        <p:nvSpPr>
          <p:cNvPr id="96" name="Btn"/>
          <p:cNvSpPr txBox="1"/>
          <p:nvPr/>
        </p:nvSpPr>
        <p:spPr>
          <a:xfrm>
            <a:off x="4998705"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QUIZ_INTRO</a:t>
            </a:r>
          </a:p>
          <a:p>
            <a:r>
              <a:rPr lang="en-MY" sz="900" dirty="0">
                <a:solidFill>
                  <a:schemeClr val="tx1">
                    <a:lumMod val="85000"/>
                    <a:lumOff val="15000"/>
                  </a:schemeClr>
                </a:solidFill>
              </a:rPr>
              <a:t/>
            </a:r>
          </a:p>
          <a:p>
            <a:r>
              <a:rPr lang="en-MY" sz="900" dirty="0">
                <a:solidFill>
                  <a:schemeClr val="tx1">
                    <a:lumMod val="85000"/>
                    <a:lumOff val="15000"/>
                  </a:schemeClr>
                </a:solidFill>
              </a:rPr>
              <a:t>BUKTI: quiz entry</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MULA_KUIZ_BUTTON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KUIZ:</a:t>
            </a:r>
          </a:p>
          <a:p>
            <a:r>
              <a:rPr lang="en-MY" sz="900" dirty="0">
                <a:solidFill>
                  <a:schemeClr val="tx1">
                    <a:lumMod val="85000"/>
                    <a:lumOff val="15000"/>
                  </a:schemeClr>
                </a:solidFill>
              </a:rPr>
              <a:t>  5 soalan — 4 MCQ + 1 Multiple Response</a:t>
            </a:r>
          </a:p>
          <a:p>
            <a:r>
              <a:rPr lang="en-MY" sz="900" dirty="0">
                <a:solidFill>
                  <a:schemeClr val="tx1">
                    <a:lumMod val="85000"/>
                    <a:lumOff val="15000"/>
                  </a:schemeClr>
                </a:solidFill>
              </a:rPr>
              <a:t>  Lulus: 3/5 = 60%   Menyekat kemajuan: TIDAK</a:t>
            </a:r>
          </a:p>
          <a:p>
            <a:r>
              <a:rPr lang="en-MY" sz="900" dirty="0">
                <a:solidFill>
                  <a:schemeClr val="tx1">
                    <a:lumMod val="85000"/>
                    <a:lumOff val="15000"/>
                  </a:schemeClr>
                </a:solidFill>
              </a:rPr>
              <a:t>  Cuba semula: voluntary — Ulang Kuiz</a:t>
            </a:r>
          </a:p>
          <a:p>
            <a:r>
              <a:rPr lang="en-MY" sz="900" dirty="0">
                <a:solidFill>
                  <a:schemeClr val="tx1">
                    <a:lumMod val="85000"/>
                    <a:lumOff val="15000"/>
                  </a:schemeClr>
                </a:solidFill>
              </a:rPr>
              <a:t>  Semakan pengetahuan sahaja, bukan gred peperiksaan akhir kursus.</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Mula Kuiz untuk memulakan kuiz.</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QUIZ_INTRO</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1</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1</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238 (3.3.1)</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Struktur persisir air dibina di tepi badan air seperti tasik, sungai atau pantai. Apakah</a:t>
            </a:r>
          </a:p>
          <a:p>
            <a:pPr/>
            <a:r>
              <a:rPr lang="en-MY" sz="1600" b="1" dirty="0">
                <a:solidFill>
                  <a:schemeClr val="tx1">
                    <a:lumMod val="85000"/>
                    <a:lumOff val="15000"/>
                  </a:schemeClr>
                </a:solidFill>
              </a:rPr>
              <a:t>keperluan pembinaan yang paling kritikal bagi struktur ini?</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Warna permukaan yang menarik</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Asas yang stabil dan rata dengan saliran permukaan yang berkesan</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Ketinggian struktur melebihi dua meter</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Penggunaan bahan import</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B</a:t>
            </a:r>
          </a:p>
          <a:p>
            <a:pPr/>
            <a:r>
              <a:rPr lang="en-MY" sz="1250" b="1" dirty="0">
                <a:solidFill>
                  <a:schemeClr val="tx1">
                    <a:lumMod val="85000"/>
                    <a:lumOff val="15000"/>
                  </a:schemeClr>
                </a:solidFill>
              </a:rPr>
              <a:t>Asas yang stabil dan rata dengan saliran permukaan yang berkesan</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QUIZ_QUESTION_1</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TIADA VO</a:t>
            </a:r>
          </a:p>
          <a:p>
            <a:r>
              <a:rPr lang="en-MY" sz="900" dirty="0">
                <a:solidFill>
                  <a:schemeClr val="tx1">
                    <a:lumMod val="85000"/>
                    <a:lumOff val="15000"/>
                  </a:schemeClr>
                </a:solidFill>
              </a:rPr>
              <a:t>  salah: teks "Pilihan jawapan tidak tepat." · SFX SFX_WRONG · TIADA VO</a:t>
            </a:r>
          </a:p>
          <a:p>
            <a:r>
              <a:rPr lang="en-MY" sz="900" dirty="0">
                <a:solidFill>
                  <a:schemeClr val="tx1">
                    <a:lumMod val="85000"/>
                    <a:lumOff val="15000"/>
                  </a:schemeClr>
                </a:solidFill>
              </a:rPr>
              <a:t>  maklum balas dipaparkan selepas penghantaran sahaja; tidak dituturkan.</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B</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238 menyatakan asas yang sangat stabil dan rata dengan</a:t>
            </a:r>
          </a:p>
          <a:p>
            <a:r>
              <a:rPr lang="en-MY" sz="900" dirty="0">
                <a:solidFill>
                  <a:schemeClr val="tx1">
                    <a:lumMod val="85000"/>
                    <a:lumOff val="15000"/>
                  </a:schemeClr>
                </a:solidFill>
              </a:rPr>
              <a:t>  sistem saliran permukaan yang berkesan untuk mengelakkan genangan</a:t>
            </a:r>
          </a:p>
          <a:p>
            <a:r>
              <a:rPr lang="en-MY" sz="900" dirty="0">
                <a:solidFill>
                  <a:schemeClr val="tx1">
                    <a:lumMod val="85000"/>
                    <a:lumOff val="15000"/>
                  </a:schemeClr>
                </a:solidFill>
              </a:rPr>
              <a:t>  air.</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2</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2</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239 (3.3.2)</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Manakah antara berikut merupakan struktur teduhan tradisional Melayu yang digunakan sebagai</a:t>
            </a:r>
          </a:p>
          <a:p>
            <a:pPr/>
            <a:r>
              <a:rPr lang="en-MY" sz="1600" b="1" dirty="0">
                <a:solidFill>
                  <a:schemeClr val="tx1">
                    <a:lumMod val="85000"/>
                    <a:lumOff val="15000"/>
                  </a:schemeClr>
                </a:solidFill>
              </a:rPr>
              <a:t>tempat berehat?</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Pergola</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Canopy</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Wakaf</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Gazebo</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C</a:t>
            </a:r>
          </a:p>
          <a:p>
            <a:pPr/>
            <a:r>
              <a:rPr lang="en-MY" sz="1250" b="1" dirty="0">
                <a:solidFill>
                  <a:schemeClr val="tx1">
                    <a:lumMod val="85000"/>
                    <a:lumOff val="15000"/>
                  </a:schemeClr>
                </a:solidFill>
              </a:rPr>
              <a:t>Wakaf</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QUIZ_QUESTION_2</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TIADA VO</a:t>
            </a:r>
          </a:p>
          <a:p>
            <a:r>
              <a:rPr lang="en-MY" sz="900" dirty="0">
                <a:solidFill>
                  <a:schemeClr val="tx1">
                    <a:lumMod val="85000"/>
                    <a:lumOff val="15000"/>
                  </a:schemeClr>
                </a:solidFill>
              </a:rPr>
              <a:t>  salah: teks "Pilihan jawapan tidak tepat." · SFX SFX_WRONG · TIADA VO</a:t>
            </a:r>
          </a:p>
          <a:p>
            <a:r>
              <a:rPr lang="en-MY" sz="900" dirty="0">
                <a:solidFill>
                  <a:schemeClr val="tx1">
                    <a:lumMod val="85000"/>
                    <a:lumOff val="15000"/>
                  </a:schemeClr>
                </a:solidFill>
              </a:rPr>
              <a:t>  maklum balas dipaparkan selepas penghantaran sahaja; tidak dituturkan.</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C</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239 menyenaraikan Wakaf sebagai struktur teduhan</a:t>
            </a:r>
          </a:p>
          <a:p>
            <a:r>
              <a:rPr lang="en-MY" sz="900" dirty="0">
                <a:solidFill>
                  <a:schemeClr val="tx1">
                    <a:lumMod val="85000"/>
                    <a:lumOff val="15000"/>
                  </a:schemeClr>
                </a:solidFill>
              </a:rPr>
              <a:t>  tradisional Melayu. Pergola, Canopy dan Gazebo turut disenaraikan</a:t>
            </a:r>
          </a:p>
          <a:p>
            <a:r>
              <a:rPr lang="en-MY" sz="900" dirty="0">
                <a:solidFill>
                  <a:schemeClr val="tx1">
                    <a:lumMod val="85000"/>
                    <a:lumOff val="15000"/>
                  </a:schemeClr>
                </a:solidFill>
              </a:rPr>
              <a:t>  sebagai struktur teduhan, tetapi bukan sebagai bentuk tradisional</a:t>
            </a:r>
          </a:p>
          <a:p>
            <a:r>
              <a:rPr lang="en-MY" sz="900" dirty="0">
                <a:solidFill>
                  <a:schemeClr val="tx1">
                    <a:lumMod val="85000"/>
                    <a:lumOff val="15000"/>
                  </a:schemeClr>
                </a:solidFill>
              </a:rPr>
              <a:t>  Melayu.</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3</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3</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240 (3.3.3)</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Apakah pertimbangan utama dalam pemilihan bahan bagi kemudahan awam seperti tandas dan surau</a:t>
            </a:r>
          </a:p>
          <a:p>
            <a:pPr/>
            <a:r>
              <a:rPr lang="en-MY" sz="1600" b="1" dirty="0">
                <a:solidFill>
                  <a:schemeClr val="tx1">
                    <a:lumMod val="85000"/>
                    <a:lumOff val="15000"/>
                  </a:schemeClr>
                </a:solidFill>
              </a:rPr>
              <a:t>di taman?</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Bahan yang tahan vandalisme dan cuaca</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Bahan yang paling murah di pasaran</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Bahan yang perlu dicat semula setiap bulan</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Bahan yang seragam dengan perabot taman</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A</a:t>
            </a:r>
          </a:p>
          <a:p>
            <a:pPr/>
            <a:r>
              <a:rPr lang="en-MY" sz="1250" b="1" dirty="0">
                <a:solidFill>
                  <a:schemeClr val="tx1">
                    <a:lumMod val="85000"/>
                    <a:lumOff val="15000"/>
                  </a:schemeClr>
                </a:solidFill>
              </a:rPr>
              <a:t>Bahan yang tahan vandalisme dan cuaca</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QUIZ_QUESTION_3</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TIADA VO</a:t>
            </a:r>
          </a:p>
          <a:p>
            <a:r>
              <a:rPr lang="en-MY" sz="900" dirty="0">
                <a:solidFill>
                  <a:schemeClr val="tx1">
                    <a:lumMod val="85000"/>
                    <a:lumOff val="15000"/>
                  </a:schemeClr>
                </a:solidFill>
              </a:rPr>
              <a:t>  salah: teks "Pilihan jawapan tidak tepat." · SFX SFX_WRONG · TIADA VO</a:t>
            </a:r>
          </a:p>
          <a:p>
            <a:r>
              <a:rPr lang="en-MY" sz="900" dirty="0">
                <a:solidFill>
                  <a:schemeClr val="tx1">
                    <a:lumMod val="85000"/>
                    <a:lumOff val="15000"/>
                  </a:schemeClr>
                </a:solidFill>
              </a:rPr>
              <a:t>  maklum balas dipaparkan selepas penghantaran sahaja; tidak dituturkan.</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A</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240 menetapkan ketahanan terhadap vandalisme dan cuaca</a:t>
            </a:r>
          </a:p>
          <a:p>
            <a:r>
              <a:rPr lang="en-MY" sz="900" dirty="0">
                <a:solidFill>
                  <a:schemeClr val="tx1">
                    <a:lumMod val="85000"/>
                    <a:lumOff val="15000"/>
                  </a:schemeClr>
                </a:solidFill>
              </a:rPr>
              <a:t>  sebagai pertimbangan utama bagi kemudahan awam.</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4</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4</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241 (3.3.4)</a:t>
            </a:r>
          </a:p>
        </p:txBody>
      </p:sp>
      <p:sp>
        <p:nvSpPr>
          <p:cNvPr id="22" name="Stem"/>
          <p:cNvSpPr txBox="1"/>
          <p:nvPr/>
        </p:nvSpPr>
        <p:spPr>
          <a:xfrm>
            <a:off x="723930" y="1481328"/>
            <a:ext cx="10744200" cy="402336"/>
          </a:xfrm>
          <a:prstGeom prst="rect">
            <a:avLst/>
          </a:prstGeom>
          <a:noFill/>
        </p:spPr>
        <p:txBody>
          <a:bodyPr wrap="square">
            <a:noAutofit/>
          </a:bodyPr>
          <a:lstStyle/>
          <a:p>
            <a:pPr/>
            <a:r>
              <a:rPr lang="en-MY" sz="1600" b="1" dirty="0">
                <a:solidFill>
                  <a:schemeClr val="tx1">
                    <a:lumMod val="85000"/>
                    <a:lumOff val="15000"/>
                  </a:schemeClr>
                </a:solidFill>
              </a:rPr>
              <a:t>Dalam pembinaan water feature, apakah aspek kawalan kualiti air yang dinyatakan dalam modul?</a:t>
            </a:r>
          </a:p>
        </p:txBody>
      </p:sp>
      <p:sp>
        <p:nvSpPr>
          <p:cNvPr id="23" name="Instr"/>
          <p:cNvSpPr txBox="1"/>
          <p:nvPr/>
        </p:nvSpPr>
        <p:spPr>
          <a:xfrm>
            <a:off x="723930" y="1938528"/>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340864"/>
            <a:ext cx="10195560" cy="347472"/>
          </a:xfrm>
          <a:prstGeom prst="rect">
            <a:avLst/>
          </a:prstGeom>
          <a:noFill/>
        </p:spPr>
        <p:txBody>
          <a:bodyPr wrap="square">
            <a:noAutofit/>
          </a:bodyPr>
          <a:lstStyle/>
          <a:p>
            <a:pPr/>
            <a:r>
              <a:rPr lang="en-MY" sz="1450" dirty="0">
                <a:solidFill>
                  <a:schemeClr val="tx1">
                    <a:lumMod val="85000"/>
                    <a:lumOff val="15000"/>
                  </a:schemeClr>
                </a:solidFill>
              </a:rPr>
              <a:t>A.  Penambahan garam</a:t>
            </a:r>
          </a:p>
        </p:txBody>
      </p:sp>
      <p:sp>
        <p:nvSpPr>
          <p:cNvPr id="41" name="Opt"/>
          <p:cNvSpPr txBox="1"/>
          <p:nvPr/>
        </p:nvSpPr>
        <p:spPr>
          <a:xfrm>
            <a:off x="998250" y="2724912"/>
            <a:ext cx="10195560" cy="347472"/>
          </a:xfrm>
          <a:prstGeom prst="rect">
            <a:avLst/>
          </a:prstGeom>
          <a:noFill/>
        </p:spPr>
        <p:txBody>
          <a:bodyPr wrap="square">
            <a:noAutofit/>
          </a:bodyPr>
          <a:lstStyle/>
          <a:p>
            <a:pPr/>
            <a:r>
              <a:rPr lang="en-MY" sz="1450" dirty="0">
                <a:solidFill>
                  <a:schemeClr val="tx1">
                    <a:lumMod val="85000"/>
                    <a:lumOff val="15000"/>
                  </a:schemeClr>
                </a:solidFill>
              </a:rPr>
              <a:t>B.  Pencegahan alga</a:t>
            </a:r>
          </a:p>
        </p:txBody>
      </p:sp>
      <p:sp>
        <p:nvSpPr>
          <p:cNvPr id="42" name="Opt"/>
          <p:cNvSpPr txBox="1"/>
          <p:nvPr/>
        </p:nvSpPr>
        <p:spPr>
          <a:xfrm>
            <a:off x="998250" y="3108960"/>
            <a:ext cx="10195560" cy="347472"/>
          </a:xfrm>
          <a:prstGeom prst="rect">
            <a:avLst/>
          </a:prstGeom>
          <a:noFill/>
        </p:spPr>
        <p:txBody>
          <a:bodyPr wrap="square">
            <a:noAutofit/>
          </a:bodyPr>
          <a:lstStyle/>
          <a:p>
            <a:pPr/>
            <a:r>
              <a:rPr lang="en-MY" sz="1450" dirty="0">
                <a:solidFill>
                  <a:schemeClr val="tx1">
                    <a:lumMod val="85000"/>
                    <a:lumOff val="15000"/>
                  </a:schemeClr>
                </a:solidFill>
              </a:rPr>
              <a:t>C.  Pemanasan air</a:t>
            </a:r>
          </a:p>
        </p:txBody>
      </p:sp>
      <p:sp>
        <p:nvSpPr>
          <p:cNvPr id="43" name="Opt"/>
          <p:cNvSpPr txBox="1"/>
          <p:nvPr/>
        </p:nvSpPr>
        <p:spPr>
          <a:xfrm>
            <a:off x="998250" y="3493008"/>
            <a:ext cx="10195560" cy="347472"/>
          </a:xfrm>
          <a:prstGeom prst="rect">
            <a:avLst/>
          </a:prstGeom>
          <a:noFill/>
        </p:spPr>
        <p:txBody>
          <a:bodyPr wrap="square">
            <a:noAutofit/>
          </a:bodyPr>
          <a:lstStyle/>
          <a:p>
            <a:pPr/>
            <a:r>
              <a:rPr lang="en-MY" sz="1450" dirty="0">
                <a:solidFill>
                  <a:schemeClr val="tx1">
                    <a:lumMod val="85000"/>
                    <a:lumOff val="15000"/>
                  </a:schemeClr>
                </a:solidFill>
              </a:rPr>
              <a:t>D.  Pewarnaan air</a:t>
            </a:r>
          </a:p>
        </p:txBody>
      </p:sp>
      <p:sp>
        <p:nvSpPr>
          <p:cNvPr id="70" name="AnswerKeyBox"/>
          <p:cNvSpPr txBox="1"/>
          <p:nvPr/>
        </p:nvSpPr>
        <p:spPr>
          <a:xfrm>
            <a:off x="723930" y="4023360"/>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078224"/>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315968"/>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B</a:t>
            </a:r>
          </a:p>
          <a:p>
            <a:pPr/>
            <a:r>
              <a:rPr lang="en-MY" sz="1250" b="1" dirty="0">
                <a:solidFill>
                  <a:schemeClr val="tx1">
                    <a:lumMod val="85000"/>
                    <a:lumOff val="15000"/>
                  </a:schemeClr>
                </a:solidFill>
              </a:rPr>
              <a:t>Pencegahan alga</a:t>
            </a:r>
          </a:p>
        </p:txBody>
      </p:sp>
      <p:sp>
        <p:nvSpPr>
          <p:cNvPr id="75" name="FbC"/>
          <p:cNvSpPr txBox="1"/>
          <p:nvPr/>
        </p:nvSpPr>
        <p:spPr>
          <a:xfrm>
            <a:off x="723930" y="4992624"/>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4992624"/>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QUIZ_QUESTION_4</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TIADA VO</a:t>
            </a:r>
          </a:p>
          <a:p>
            <a:r>
              <a:rPr lang="en-MY" sz="900" dirty="0">
                <a:solidFill>
                  <a:schemeClr val="tx1">
                    <a:lumMod val="85000"/>
                    <a:lumOff val="15000"/>
                  </a:schemeClr>
                </a:solidFill>
              </a:rPr>
              <a:t>  salah: teks "Pilihan jawapan tidak tepat." · SFX SFX_WRONG · TIADA VO</a:t>
            </a:r>
          </a:p>
          <a:p>
            <a:r>
              <a:rPr lang="en-MY" sz="900" dirty="0">
                <a:solidFill>
                  <a:schemeClr val="tx1">
                    <a:lumMod val="85000"/>
                    <a:lumOff val="15000"/>
                  </a:schemeClr>
                </a:solidFill>
              </a:rPr>
              <a:t>  maklum balas dipaparkan selepas penghantaran sahaja; tidak dituturkan.</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B</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241 menyatakan pencegahan alga sebagai aspek kawalan</a:t>
            </a:r>
          </a:p>
          <a:p>
            <a:r>
              <a:rPr lang="en-MY" sz="900" dirty="0">
                <a:solidFill>
                  <a:schemeClr val="tx1">
                    <a:lumMod val="85000"/>
                    <a:lumOff val="15000"/>
                  </a:schemeClr>
                </a:solidFill>
              </a:rPr>
              <a:t>  kualiti air bagi water feature.</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5</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5</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i="1" dirty="0">
                <a:solidFill>
                  <a:srgbClr val="808080"/>
                </a:solidFill>
              </a:rPr>
              <a:t>Multiple Response</a:t>
            </a:r>
            <a:r>
              <a:rPr lang="en-MY" sz="1150" dirty="0">
                <a:solidFill>
                  <a:srgbClr val="808080"/>
                </a:solidFill>
              </a:rPr>
              <a:t>   ·   sumber: modul ms 242-249 (3.4.1-3.4.3)</a:t>
            </a:r>
          </a:p>
        </p:txBody>
      </p:sp>
      <p:sp>
        <p:nvSpPr>
          <p:cNvPr id="22" name="Stem"/>
          <p:cNvSpPr txBox="1"/>
          <p:nvPr/>
        </p:nvSpPr>
        <p:spPr>
          <a:xfrm>
            <a:off x="723930" y="1481328"/>
            <a:ext cx="10744200" cy="402336"/>
          </a:xfrm>
          <a:prstGeom prst="rect">
            <a:avLst/>
          </a:prstGeom>
          <a:noFill/>
        </p:spPr>
        <p:txBody>
          <a:bodyPr wrap="square">
            <a:noAutofit/>
          </a:bodyPr>
          <a:lstStyle/>
          <a:p>
            <a:pPr/>
            <a:r>
              <a:rPr lang="en-MY" sz="1600" b="1" dirty="0">
                <a:solidFill>
                  <a:schemeClr val="tx1">
                    <a:lumMod val="85000"/>
                    <a:lumOff val="15000"/>
                  </a:schemeClr>
                </a:solidFill>
              </a:rPr>
              <a:t>Pilih SEMUA perabot yang tergolong dalam Perabot Taman.</a:t>
            </a:r>
          </a:p>
        </p:txBody>
      </p:sp>
      <p:sp>
        <p:nvSpPr>
          <p:cNvPr id="23" name="Instr"/>
          <p:cNvSpPr txBox="1"/>
          <p:nvPr/>
        </p:nvSpPr>
        <p:spPr>
          <a:xfrm>
            <a:off x="723930" y="1938528"/>
            <a:ext cx="10744200" cy="310896"/>
          </a:xfrm>
          <a:prstGeom prst="rect">
            <a:avLst/>
          </a:prstGeom>
          <a:noFill/>
        </p:spPr>
        <p:txBody>
          <a:bodyPr wrap="square">
            <a:noAutofit/>
          </a:bodyPr>
          <a:lstStyle/>
          <a:p>
            <a:pPr/>
            <a:r>
              <a:rPr lang="en-MY" sz="1400" b="1" dirty="0">
                <a:solidFill>
                  <a:schemeClr val="tx1">
                    <a:lumMod val="85000"/>
                    <a:lumOff val="15000"/>
                  </a:schemeClr>
                </a:solidFill>
              </a:rPr>
              <a:t>Pilih semua jawapan yang tepat.</a:t>
            </a:r>
          </a:p>
        </p:txBody>
      </p:sp>
      <p:sp>
        <p:nvSpPr>
          <p:cNvPr id="40" name="Opt"/>
          <p:cNvSpPr txBox="1"/>
          <p:nvPr/>
        </p:nvSpPr>
        <p:spPr>
          <a:xfrm>
            <a:off x="998250" y="2340864"/>
            <a:ext cx="10195560" cy="228600"/>
          </a:xfrm>
          <a:prstGeom prst="rect">
            <a:avLst/>
          </a:prstGeom>
          <a:noFill/>
        </p:spPr>
        <p:txBody>
          <a:bodyPr wrap="square">
            <a:noAutofit/>
          </a:bodyPr>
          <a:lstStyle/>
          <a:p>
            <a:pPr/>
            <a:r>
              <a:rPr lang="en-MY" sz="1150" dirty="0">
                <a:solidFill>
                  <a:schemeClr val="tx1">
                    <a:lumMod val="85000"/>
                    <a:lumOff val="15000"/>
                  </a:schemeClr>
                </a:solidFill>
              </a:rPr>
              <a:t>Kerusi Taman</a:t>
            </a:r>
          </a:p>
        </p:txBody>
      </p:sp>
      <p:sp>
        <p:nvSpPr>
          <p:cNvPr id="41" name="Opt"/>
          <p:cNvSpPr txBox="1"/>
          <p:nvPr/>
        </p:nvSpPr>
        <p:spPr>
          <a:xfrm>
            <a:off x="998250" y="2606040"/>
            <a:ext cx="10195560" cy="228600"/>
          </a:xfrm>
          <a:prstGeom prst="rect">
            <a:avLst/>
          </a:prstGeom>
          <a:noFill/>
        </p:spPr>
        <p:txBody>
          <a:bodyPr wrap="square">
            <a:noAutofit/>
          </a:bodyPr>
          <a:lstStyle/>
          <a:p>
            <a:pPr/>
            <a:r>
              <a:rPr lang="en-MY" sz="1150" dirty="0">
                <a:solidFill>
                  <a:schemeClr val="tx1">
                    <a:lumMod val="85000"/>
                    <a:lumOff val="15000"/>
                  </a:schemeClr>
                </a:solidFill>
              </a:rPr>
              <a:t>Papan Tanda</a:t>
            </a:r>
          </a:p>
        </p:txBody>
      </p:sp>
      <p:sp>
        <p:nvSpPr>
          <p:cNvPr id="42" name="Opt"/>
          <p:cNvSpPr txBox="1"/>
          <p:nvPr/>
        </p:nvSpPr>
        <p:spPr>
          <a:xfrm>
            <a:off x="998250" y="2871216"/>
            <a:ext cx="10195560" cy="228600"/>
          </a:xfrm>
          <a:prstGeom prst="rect">
            <a:avLst/>
          </a:prstGeom>
          <a:noFill/>
        </p:spPr>
        <p:txBody>
          <a:bodyPr wrap="square">
            <a:noAutofit/>
          </a:bodyPr>
          <a:lstStyle/>
          <a:p>
            <a:pPr/>
            <a:r>
              <a:rPr lang="en-MY" sz="1150" i="1" dirty="0">
                <a:solidFill>
                  <a:schemeClr val="tx1">
                    <a:lumMod val="85000"/>
                    <a:lumOff val="15000"/>
                  </a:schemeClr>
                </a:solidFill>
              </a:rPr>
              <a:t>Boardwalk</a:t>
            </a:r>
          </a:p>
        </p:txBody>
      </p:sp>
      <p:sp>
        <p:nvSpPr>
          <p:cNvPr id="43" name="Opt"/>
          <p:cNvSpPr txBox="1"/>
          <p:nvPr/>
        </p:nvSpPr>
        <p:spPr>
          <a:xfrm>
            <a:off x="998250" y="3136392"/>
            <a:ext cx="10195560" cy="228600"/>
          </a:xfrm>
          <a:prstGeom prst="rect">
            <a:avLst/>
          </a:prstGeom>
          <a:noFill/>
        </p:spPr>
        <p:txBody>
          <a:bodyPr wrap="square">
            <a:noAutofit/>
          </a:bodyPr>
          <a:lstStyle/>
          <a:p>
            <a:pPr/>
            <a:r>
              <a:rPr lang="en-MY" sz="1150" dirty="0">
                <a:solidFill>
                  <a:schemeClr val="tx1">
                    <a:lumMod val="85000"/>
                    <a:lumOff val="15000"/>
                  </a:schemeClr>
                </a:solidFill>
              </a:rPr>
              <a:t>Tong Sampah</a:t>
            </a:r>
          </a:p>
        </p:txBody>
      </p:sp>
      <p:sp>
        <p:nvSpPr>
          <p:cNvPr id="44" name="Opt"/>
          <p:cNvSpPr txBox="1"/>
          <p:nvPr/>
        </p:nvSpPr>
        <p:spPr>
          <a:xfrm>
            <a:off x="998250" y="3401568"/>
            <a:ext cx="10195560" cy="228600"/>
          </a:xfrm>
          <a:prstGeom prst="rect">
            <a:avLst/>
          </a:prstGeom>
          <a:noFill/>
        </p:spPr>
        <p:txBody>
          <a:bodyPr wrap="square">
            <a:noAutofit/>
          </a:bodyPr>
          <a:lstStyle/>
          <a:p>
            <a:pPr/>
            <a:r>
              <a:rPr lang="en-MY" sz="1150" i="1" dirty="0">
                <a:solidFill>
                  <a:schemeClr val="tx1">
                    <a:lumMod val="85000"/>
                    <a:lumOff val="15000"/>
                  </a:schemeClr>
                </a:solidFill>
              </a:rPr>
              <a:t>Drinking Fountain</a:t>
            </a:r>
          </a:p>
        </p:txBody>
      </p:sp>
      <p:sp>
        <p:nvSpPr>
          <p:cNvPr id="45" name="Opt"/>
          <p:cNvSpPr txBox="1"/>
          <p:nvPr/>
        </p:nvSpPr>
        <p:spPr>
          <a:xfrm>
            <a:off x="998250" y="3666744"/>
            <a:ext cx="10195560" cy="228600"/>
          </a:xfrm>
          <a:prstGeom prst="rect">
            <a:avLst/>
          </a:prstGeom>
          <a:noFill/>
        </p:spPr>
        <p:txBody>
          <a:bodyPr wrap="square">
            <a:noAutofit/>
          </a:bodyPr>
          <a:lstStyle/>
          <a:p>
            <a:pPr/>
            <a:r>
              <a:rPr lang="en-MY" sz="1150" i="1" dirty="0">
                <a:solidFill>
                  <a:schemeClr val="tx1">
                    <a:lumMod val="85000"/>
                    <a:lumOff val="15000"/>
                  </a:schemeClr>
                </a:solidFill>
              </a:rPr>
              <a:t>BBQ Pit</a:t>
            </a:r>
          </a:p>
        </p:txBody>
      </p:sp>
      <p:sp>
        <p:nvSpPr>
          <p:cNvPr id="46" name="Opt"/>
          <p:cNvSpPr txBox="1"/>
          <p:nvPr/>
        </p:nvSpPr>
        <p:spPr>
          <a:xfrm>
            <a:off x="998250" y="3931920"/>
            <a:ext cx="10195560" cy="228600"/>
          </a:xfrm>
          <a:prstGeom prst="rect">
            <a:avLst/>
          </a:prstGeom>
          <a:noFill/>
        </p:spPr>
        <p:txBody>
          <a:bodyPr wrap="square">
            <a:noAutofit/>
          </a:bodyPr>
          <a:lstStyle/>
          <a:p>
            <a:pPr/>
            <a:r>
              <a:rPr lang="en-MY" sz="1150" dirty="0">
                <a:solidFill>
                  <a:schemeClr val="tx1">
                    <a:lumMod val="85000"/>
                    <a:lumOff val="15000"/>
                  </a:schemeClr>
                </a:solidFill>
              </a:rPr>
              <a:t>Gazebo</a:t>
            </a:r>
          </a:p>
        </p:txBody>
      </p:sp>
      <p:sp>
        <p:nvSpPr>
          <p:cNvPr id="70" name="AnswerKeyBox"/>
          <p:cNvSpPr txBox="1"/>
          <p:nvPr/>
        </p:nvSpPr>
        <p:spPr>
          <a:xfrm>
            <a:off x="723930" y="4343400"/>
            <a:ext cx="10744200" cy="1408176"/>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98264"/>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36008"/>
            <a:ext cx="10378440" cy="1097280"/>
          </a:xfrm>
          <a:prstGeom prst="rect">
            <a:avLst/>
          </a:prstGeom>
          <a:noFill/>
        </p:spPr>
        <p:txBody>
          <a:bodyPr wrap="square">
            <a:noAutofit/>
          </a:bodyPr>
          <a:lstStyle/>
          <a:p>
            <a:pPr/>
            <a:r>
              <a:rPr lang="en-MY" sz="950" b="1" dirty="0">
                <a:solidFill>
                  <a:schemeClr val="tx1">
                    <a:lumMod val="85000"/>
                    <a:lumOff val="15000"/>
                  </a:schemeClr>
                </a:solidFill>
              </a:rPr>
              <a:t>Jawapan betul:</a:t>
            </a:r>
          </a:p>
          <a:p>
            <a:pPr/>
            <a:r>
              <a:rPr lang="en-MY" sz="950" b="1" dirty="0">
                <a:solidFill>
                  <a:schemeClr val="tx1">
                    <a:lumMod val="85000"/>
                    <a:lumOff val="15000"/>
                  </a:schemeClr>
                </a:solidFill>
              </a:rPr>
              <a:t>•  Kerusi Taman</a:t>
            </a:r>
          </a:p>
          <a:p>
            <a:pPr/>
            <a:r>
              <a:rPr lang="en-MY" sz="950" b="1" dirty="0">
                <a:solidFill>
                  <a:schemeClr val="tx1">
                    <a:lumMod val="85000"/>
                    <a:lumOff val="15000"/>
                  </a:schemeClr>
                </a:solidFill>
              </a:rPr>
              <a:t>•  Papan Tanda</a:t>
            </a:r>
          </a:p>
          <a:p>
            <a:pPr/>
            <a:r>
              <a:rPr lang="en-MY" sz="950" b="1" dirty="0">
                <a:solidFill>
                  <a:schemeClr val="tx1">
                    <a:lumMod val="85000"/>
                    <a:lumOff val="15000"/>
                  </a:schemeClr>
                </a:solidFill>
              </a:rPr>
              <a:t>•  Tong Sampah</a:t>
            </a:r>
          </a:p>
          <a:p>
            <a:pPr/>
            <a:r>
              <a:rPr lang="en-MY" sz="950" b="1" dirty="0">
                <a:solidFill>
                  <a:schemeClr val="tx1">
                    <a:lumMod val="85000"/>
                    <a:lumOff val="15000"/>
                  </a:schemeClr>
                </a:solidFill>
              </a:rPr>
              <a:t>•  </a:t>
            </a:r>
            <a:r>
              <a:rPr lang="en-MY" sz="950" b="1" i="1" dirty="0">
                <a:solidFill>
                  <a:schemeClr val="tx1">
                    <a:lumMod val="85000"/>
                    <a:lumOff val="15000"/>
                  </a:schemeClr>
                </a:solidFill>
              </a:rPr>
              <a:t>Drinking Fountain</a:t>
            </a:r>
          </a:p>
          <a:p>
            <a:pPr/>
            <a:r>
              <a:rPr lang="en-MY" sz="950" b="1" dirty="0">
                <a:solidFill>
                  <a:schemeClr val="tx1">
                    <a:lumMod val="85000"/>
                    <a:lumOff val="15000"/>
                  </a:schemeClr>
                </a:solidFill>
              </a:rPr>
              <a:t>•  </a:t>
            </a:r>
            <a:r>
              <a:rPr lang="en-MY" sz="950" b="1" i="1" dirty="0">
                <a:solidFill>
                  <a:schemeClr val="tx1">
                    <a:lumMod val="85000"/>
                    <a:lumOff val="15000"/>
                  </a:schemeClr>
                </a:solidFill>
              </a:rPr>
              <a:t>BBQ Pit</a:t>
            </a:r>
          </a:p>
        </p:txBody>
      </p:sp>
      <p:sp>
        <p:nvSpPr>
          <p:cNvPr id="75" name="FbC"/>
          <p:cNvSpPr txBox="1"/>
          <p:nvPr/>
        </p:nvSpPr>
        <p:spPr>
          <a:xfrm>
            <a:off x="723930" y="589788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89788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QUIZ_QUESTION_5</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TIADA VO</a:t>
            </a:r>
          </a:p>
          <a:p>
            <a:r>
              <a:rPr lang="en-MY" sz="900" dirty="0">
                <a:solidFill>
                  <a:schemeClr val="tx1">
                    <a:lumMod val="85000"/>
                    <a:lumOff val="15000"/>
                  </a:schemeClr>
                </a:solidFill>
              </a:rPr>
              <a:t>  salah: teks "Pilihan jawapan tidak tepat." · SFX SFX_WRONG · TIADA VO</a:t>
            </a:r>
          </a:p>
          <a:p>
            <a:r>
              <a:rPr lang="en-MY" sz="900" dirty="0">
                <a:solidFill>
                  <a:schemeClr val="tx1">
                    <a:lumMod val="85000"/>
                    <a:lumOff val="15000"/>
                  </a:schemeClr>
                </a:solidFill>
              </a:rPr>
              <a:t>  maklum balas dipaparkan selepas penghantaran sahaja; tidak dituturkan.</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Kerusi Taman, Papan Tanda, Tong Sampah, Drinking Fountain, BBQ Pit</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Boardwalk ialah struktur persisir air dan Gazebo ialah struktur</a:t>
            </a:r>
          </a:p>
          <a:p>
            <a:r>
              <a:rPr lang="en-MY" sz="900" dirty="0">
                <a:solidFill>
                  <a:schemeClr val="tx1">
                    <a:lumMod val="85000"/>
                    <a:lumOff val="15000"/>
                  </a:schemeClr>
                </a:solidFill>
              </a:rPr>
              <a:t>  teduhan; kedua-duanya tergolong dalam Struktur Taman, bukan</a:t>
            </a:r>
          </a:p>
          <a:p>
            <a:r>
              <a:rPr lang="en-MY" sz="900" dirty="0">
                <a:solidFill>
                  <a:schemeClr val="tx1">
                    <a:lumMod val="85000"/>
                    <a:lumOff val="15000"/>
                  </a:schemeClr>
                </a:solidFill>
              </a:rPr>
              <a:t>  Perabot Taman.</a:t>
            </a:r>
          </a:p>
          <a:p>
            <a:r>
              <a:rPr lang="en-MY" sz="900" b="1" dirty="0">
                <a:solidFill>
                  <a:schemeClr val="tx1">
                    <a:lumMod val="85000"/>
                    <a:lumOff val="15000"/>
                  </a:schemeClr>
                </a:solidFill>
              </a:rPr>
              <a:t>LABEL PILIHAN:</a:t>
            </a:r>
          </a:p>
          <a:p>
            <a:r>
              <a:rPr lang="en-MY" sz="900" dirty="0">
                <a:solidFill>
                  <a:schemeClr val="tx1">
                    <a:lumMod val="85000"/>
                    <a:lumOff val="15000"/>
                  </a:schemeClr>
                </a:solidFill>
              </a:rPr>
              <a:t>  TIADA label A/B/C pada pilihan pelajar.</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semua jawapan yang tepat.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U-05</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Keputusan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 — Keputusan</a:t>
            </a:r>
          </a:p>
        </p:txBody>
      </p:sp>
      <p:sp>
        <p:nvSpPr>
          <p:cNvPr id="20" name="Score"/>
          <p:cNvSpPr txBox="1"/>
          <p:nvPr/>
        </p:nvSpPr>
        <p:spPr>
          <a:xfrm>
            <a:off x="723930" y="1463040"/>
            <a:ext cx="10744200" cy="731520"/>
          </a:xfrm>
          <a:prstGeom prst="rect">
            <a:avLst/>
          </a:prstGeom>
          <a:noFill/>
        </p:spPr>
        <p:txBody>
          <a:bodyPr wrap="square">
            <a:noAutofit/>
          </a:bodyPr>
          <a:lstStyle/>
          <a:p>
            <a:pPr/>
            <a:r>
              <a:rPr lang="en-MY" sz="2800" b="1" dirty="0">
                <a:solidFill>
                  <a:schemeClr val="tx1">
                    <a:lumMod val="85000"/>
                    <a:lumOff val="15000"/>
                  </a:schemeClr>
                </a:solidFill>
              </a:rPr>
              <a:t>Markah: 4 / 5</a:t>
            </a:r>
          </a:p>
        </p:txBody>
      </p:sp>
      <p:sp>
        <p:nvSpPr>
          <p:cNvPr id="21" name="Verdict"/>
          <p:cNvSpPr txBox="1"/>
          <p:nvPr/>
        </p:nvSpPr>
        <p:spPr>
          <a:xfrm>
            <a:off x="723930" y="2286000"/>
            <a:ext cx="10744200" cy="457200"/>
          </a:xfrm>
          <a:prstGeom prst="rect">
            <a:avLst/>
          </a:prstGeom>
          <a:noFill/>
        </p:spPr>
        <p:txBody>
          <a:bodyPr wrap="square">
            <a:noAutofit/>
          </a:bodyPr>
          <a:lstStyle/>
          <a:p>
            <a:pPr/>
            <a:r>
              <a:rPr lang="en-MY" sz="2200" b="1" dirty="0">
                <a:solidFill>
                  <a:srgbClr val="2E7D32"/>
                </a:solidFill>
              </a:rPr>
              <a:t>Lulus</a:t>
            </a:r>
          </a:p>
        </p:txBody>
      </p:sp>
      <p:sp>
        <p:nvSpPr>
          <p:cNvPr id="22" name="Pass"/>
          <p:cNvSpPr txBox="1"/>
          <p:nvPr/>
        </p:nvSpPr>
        <p:spPr>
          <a:xfrm>
            <a:off x="723930" y="2834640"/>
            <a:ext cx="10744200" cy="329184"/>
          </a:xfrm>
          <a:prstGeom prst="rect">
            <a:avLst/>
          </a:prstGeom>
          <a:noFill/>
        </p:spPr>
        <p:txBody>
          <a:bodyPr wrap="square">
            <a:noAutofit/>
          </a:bodyPr>
          <a:lstStyle/>
          <a:p>
            <a:pPr/>
            <a:r>
              <a:rPr lang="en-MY" sz="1300" dirty="0">
                <a:solidFill>
                  <a:srgbClr val="808080"/>
                </a:solidFill>
              </a:rPr>
              <a:t>Lulus: 3/5 = 60%</a:t>
            </a:r>
          </a:p>
        </p:txBody>
      </p:sp>
      <p:sp>
        <p:nvSpPr>
          <p:cNvPr id="60" name="Btn"/>
          <p:cNvSpPr txBox="1"/>
          <p:nvPr/>
        </p:nvSpPr>
        <p:spPr>
          <a:xfrm>
            <a:off x="72393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Semak Jawapan</a:t>
            </a:r>
          </a:p>
        </p:txBody>
      </p:sp>
      <p:sp>
        <p:nvSpPr>
          <p:cNvPr id="61" name="Btn"/>
          <p:cNvSpPr txBox="1"/>
          <p:nvPr/>
        </p:nvSpPr>
        <p:spPr>
          <a:xfrm>
            <a:off x="310137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QUIZ_RESULT</a:t>
            </a:r>
          </a:p>
          <a:p>
            <a:r>
              <a:rPr lang="en-MY" sz="900" dirty="0">
                <a:solidFill>
                  <a:schemeClr val="tx1">
                    <a:lumMod val="85000"/>
                    <a:lumOff val="15000"/>
                  </a:schemeClr>
                </a:solidFill>
              </a:rPr>
              <a:t/>
            </a:r>
          </a:p>
          <a:p>
            <a:r>
              <a:rPr lang="en-MY" sz="900" dirty="0">
                <a:solidFill>
                  <a:schemeClr val="tx1">
                    <a:lumMod val="85000"/>
                    <a:lumOff val="15000"/>
                  </a:schemeClr>
                </a:solidFill>
              </a:rPr>
              <a:t>BUKTI: quiz result</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[always_enabled — score does not gate progression]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KEPUTUSAN:</a:t>
            </a:r>
          </a:p>
          <a:p>
            <a:r>
              <a:rPr lang="en-MY" sz="900" dirty="0">
                <a:solidFill>
                  <a:schemeClr val="tx1">
                    <a:lumMod val="85000"/>
                    <a:lumOff val="15000"/>
                  </a:schemeClr>
                </a:solidFill>
              </a:rPr>
              <a:t>  Markah dipaparkan. Keputusan: Lulus / Tidak Lulus. Lulus: 3/5 = 60%.</a:t>
            </a:r>
          </a:p>
          <a:p>
            <a:r>
              <a:rPr lang="en-MY" sz="900" dirty="0">
                <a:solidFill>
                  <a:schemeClr val="tx1">
                    <a:lumMod val="85000"/>
                    <a:lumOff val="15000"/>
                  </a:schemeClr>
                </a:solidFill>
              </a:rPr>
              <a:t>  Kawalan: Semak Jawapan, Ulang Kuiz. Cuba semula: sukarela.</a:t>
            </a:r>
          </a:p>
          <a:p>
            <a:r>
              <a:rPr lang="en-MY" sz="900" dirty="0">
                <a:solidFill>
                  <a:schemeClr val="tx1">
                    <a:lumMod val="85000"/>
                    <a:lumOff val="15000"/>
                  </a:schemeClr>
                </a:solidFill>
              </a:rPr>
              <a:t>  Markah di bawah 60% TIDAK menyekat kemajuan yang lebih luas.</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Kekal sebagai metadata produksi sahaja sehingga Bariah mengesahkan</a:t>
            </a:r>
          </a:p>
          <a:p>
            <a:r>
              <a:rPr lang="en-MY" sz="900" dirty="0">
                <a:solidFill>
                  <a:schemeClr val="tx1">
                    <a:lumMod val="85000"/>
                    <a:lumOff val="15000"/>
                  </a:schemeClr>
                </a:solidFill>
              </a:rPr>
              <a:t>  penempatan akhirnya (U-05).</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QUIZ_RESULT</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Semak Jawapan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Semak Jawapan</a:t>
            </a:r>
          </a:p>
        </p:txBody>
      </p:sp>
      <p:sp>
        <p:nvSpPr>
          <p:cNvPr id="20" name="Intro"/>
          <p:cNvSpPr txBox="1"/>
          <p:nvPr/>
        </p:nvSpPr>
        <p:spPr>
          <a:xfrm>
            <a:off x="723930" y="1188720"/>
            <a:ext cx="10744200" cy="365760"/>
          </a:xfrm>
          <a:prstGeom prst="rect">
            <a:avLst/>
          </a:prstGeom>
          <a:noFill/>
        </p:spPr>
        <p:txBody>
          <a:bodyPr wrap="square">
            <a:noAutofit/>
          </a:bodyPr>
          <a:lstStyle/>
          <a:p>
            <a:pPr/>
            <a:r>
              <a:rPr lang="en-MY" sz="1600" b="1" dirty="0">
                <a:solidFill>
                  <a:schemeClr val="tx1">
                    <a:lumMod val="85000"/>
                    <a:lumOff val="15000"/>
                  </a:schemeClr>
                </a:solidFill>
              </a:rPr>
              <a:t>Semakan jawapan bagi kelima-lima soalan.</a:t>
            </a:r>
          </a:p>
        </p:txBody>
      </p:sp>
      <p:sp>
        <p:nvSpPr>
          <p:cNvPr id="42" name="RvQ"/>
          <p:cNvSpPr txBox="1"/>
          <p:nvPr/>
        </p:nvSpPr>
        <p:spPr>
          <a:xfrm>
            <a:off x="723930" y="1755648"/>
            <a:ext cx="10744200" cy="566928"/>
          </a:xfrm>
          <a:prstGeom prst="rect">
            <a:avLst/>
          </a:prstGeom>
          <a:noFill/>
        </p:spPr>
        <p:txBody>
          <a:bodyPr wrap="square">
            <a:noAutofit/>
          </a:bodyPr>
          <a:lstStyle/>
          <a:p>
            <a:pPr/>
            <a:r>
              <a:rPr lang="en-MY" sz="1250" dirty="0">
                <a:solidFill>
                  <a:schemeClr val="tx1">
                    <a:lumMod val="85000"/>
                    <a:lumOff val="15000"/>
                  </a:schemeClr>
                </a:solidFill>
              </a:rPr>
              <a:t>Soalan 1: Struktur persisir air dibina di tepi badan air seperti tasik, sungai atau pantai. Apakah</a:t>
            </a:r>
          </a:p>
          <a:p>
            <a:pPr/>
            <a:r>
              <a:rPr lang="en-MY" sz="1250" dirty="0">
                <a:solidFill>
                  <a:schemeClr val="tx1">
                    <a:lumMod val="85000"/>
                    <a:lumOff val="15000"/>
                  </a:schemeClr>
                </a:solidFill>
              </a:rPr>
              <a:t>keperluan pembinaan yang paling kritikal bagi struktur ini?</a:t>
            </a:r>
          </a:p>
        </p:txBody>
      </p:sp>
      <p:sp>
        <p:nvSpPr>
          <p:cNvPr id="43" name="RvA"/>
          <p:cNvSpPr txBox="1"/>
          <p:nvPr/>
        </p:nvSpPr>
        <p:spPr>
          <a:xfrm>
            <a:off x="998250" y="2304288"/>
            <a:ext cx="10195560" cy="274320"/>
          </a:xfrm>
          <a:prstGeom prst="rect">
            <a:avLst/>
          </a:prstGeom>
          <a:noFill/>
        </p:spPr>
        <p:txBody>
          <a:bodyPr wrap="square">
            <a:noAutofit/>
          </a:bodyPr>
          <a:lstStyle/>
          <a:p>
            <a:pPr/>
            <a:r>
              <a:rPr lang="en-MY" sz="1250" b="1" dirty="0">
                <a:solidFill>
                  <a:srgbClr val="2E7D32"/>
                </a:solidFill>
              </a:rPr>
              <a:t>Jawapan: B</a:t>
            </a:r>
          </a:p>
        </p:txBody>
      </p:sp>
      <p:sp>
        <p:nvSpPr>
          <p:cNvPr id="44" name="RvQ"/>
          <p:cNvSpPr txBox="1"/>
          <p:nvPr/>
        </p:nvSpPr>
        <p:spPr>
          <a:xfrm>
            <a:off x="723930" y="2688336"/>
            <a:ext cx="10744200" cy="566928"/>
          </a:xfrm>
          <a:prstGeom prst="rect">
            <a:avLst/>
          </a:prstGeom>
          <a:noFill/>
        </p:spPr>
        <p:txBody>
          <a:bodyPr wrap="square">
            <a:noAutofit/>
          </a:bodyPr>
          <a:lstStyle/>
          <a:p>
            <a:pPr/>
            <a:r>
              <a:rPr lang="en-MY" sz="1250" dirty="0">
                <a:solidFill>
                  <a:schemeClr val="tx1">
                    <a:lumMod val="85000"/>
                    <a:lumOff val="15000"/>
                  </a:schemeClr>
                </a:solidFill>
              </a:rPr>
              <a:t>Soalan 2: Manakah antara berikut merupakan struktur teduhan tradisional Melayu yang digunakan sebagai</a:t>
            </a:r>
          </a:p>
          <a:p>
            <a:pPr/>
            <a:r>
              <a:rPr lang="en-MY" sz="1250" dirty="0">
                <a:solidFill>
                  <a:schemeClr val="tx1">
                    <a:lumMod val="85000"/>
                    <a:lumOff val="15000"/>
                  </a:schemeClr>
                </a:solidFill>
              </a:rPr>
              <a:t>tempat berehat?</a:t>
            </a:r>
          </a:p>
        </p:txBody>
      </p:sp>
      <p:sp>
        <p:nvSpPr>
          <p:cNvPr id="45" name="RvA"/>
          <p:cNvSpPr txBox="1"/>
          <p:nvPr/>
        </p:nvSpPr>
        <p:spPr>
          <a:xfrm>
            <a:off x="998250" y="3236976"/>
            <a:ext cx="10195560" cy="274320"/>
          </a:xfrm>
          <a:prstGeom prst="rect">
            <a:avLst/>
          </a:prstGeom>
          <a:noFill/>
        </p:spPr>
        <p:txBody>
          <a:bodyPr wrap="square">
            <a:noAutofit/>
          </a:bodyPr>
          <a:lstStyle/>
          <a:p>
            <a:pPr/>
            <a:r>
              <a:rPr lang="en-MY" sz="1250" b="1" dirty="0">
                <a:solidFill>
                  <a:srgbClr val="2E7D32"/>
                </a:solidFill>
              </a:rPr>
              <a:t>Jawapan: C</a:t>
            </a:r>
          </a:p>
        </p:txBody>
      </p:sp>
      <p:sp>
        <p:nvSpPr>
          <p:cNvPr id="46" name="RvQ"/>
          <p:cNvSpPr txBox="1"/>
          <p:nvPr/>
        </p:nvSpPr>
        <p:spPr>
          <a:xfrm>
            <a:off x="723930" y="3621024"/>
            <a:ext cx="10744200" cy="566928"/>
          </a:xfrm>
          <a:prstGeom prst="rect">
            <a:avLst/>
          </a:prstGeom>
          <a:noFill/>
        </p:spPr>
        <p:txBody>
          <a:bodyPr wrap="square">
            <a:noAutofit/>
          </a:bodyPr>
          <a:lstStyle/>
          <a:p>
            <a:pPr/>
            <a:r>
              <a:rPr lang="en-MY" sz="1250" dirty="0">
                <a:solidFill>
                  <a:schemeClr val="tx1">
                    <a:lumMod val="85000"/>
                    <a:lumOff val="15000"/>
                  </a:schemeClr>
                </a:solidFill>
              </a:rPr>
              <a:t>Soalan 3: Apakah pertimbangan utama dalam pemilihan bahan bagi kemudahan awam seperti tandas dan surau</a:t>
            </a:r>
          </a:p>
          <a:p>
            <a:pPr/>
            <a:r>
              <a:rPr lang="en-MY" sz="1250" dirty="0">
                <a:solidFill>
                  <a:schemeClr val="tx1">
                    <a:lumMod val="85000"/>
                    <a:lumOff val="15000"/>
                  </a:schemeClr>
                </a:solidFill>
              </a:rPr>
              <a:t>di taman?</a:t>
            </a:r>
          </a:p>
        </p:txBody>
      </p:sp>
      <p:sp>
        <p:nvSpPr>
          <p:cNvPr id="47" name="RvA"/>
          <p:cNvSpPr txBox="1"/>
          <p:nvPr/>
        </p:nvSpPr>
        <p:spPr>
          <a:xfrm>
            <a:off x="998250" y="4169664"/>
            <a:ext cx="10195560" cy="274320"/>
          </a:xfrm>
          <a:prstGeom prst="rect">
            <a:avLst/>
          </a:prstGeom>
          <a:noFill/>
        </p:spPr>
        <p:txBody>
          <a:bodyPr wrap="square">
            <a:noAutofit/>
          </a:bodyPr>
          <a:lstStyle/>
          <a:p>
            <a:pPr/>
            <a:r>
              <a:rPr lang="en-MY" sz="1250" b="1" dirty="0">
                <a:solidFill>
                  <a:srgbClr val="2E7D32"/>
                </a:solidFill>
              </a:rPr>
              <a:t>Jawapan: A</a:t>
            </a:r>
          </a:p>
        </p:txBody>
      </p:sp>
      <p:sp>
        <p:nvSpPr>
          <p:cNvPr id="48" name="RvQ"/>
          <p:cNvSpPr txBox="1"/>
          <p:nvPr/>
        </p:nvSpPr>
        <p:spPr>
          <a:xfrm>
            <a:off x="723930" y="4553712"/>
            <a:ext cx="10744200" cy="310896"/>
          </a:xfrm>
          <a:prstGeom prst="rect">
            <a:avLst/>
          </a:prstGeom>
          <a:noFill/>
        </p:spPr>
        <p:txBody>
          <a:bodyPr wrap="square">
            <a:noAutofit/>
          </a:bodyPr>
          <a:lstStyle/>
          <a:p>
            <a:pPr/>
            <a:r>
              <a:rPr lang="en-MY" sz="1250" dirty="0">
                <a:solidFill>
                  <a:schemeClr val="tx1">
                    <a:lumMod val="85000"/>
                    <a:lumOff val="15000"/>
                  </a:schemeClr>
                </a:solidFill>
              </a:rPr>
              <a:t>Soalan 4: Dalam pembinaan water feature, apakah aspek kawalan kualiti air yang dinyatakan dalam modul?</a:t>
            </a:r>
          </a:p>
        </p:txBody>
      </p:sp>
      <p:sp>
        <p:nvSpPr>
          <p:cNvPr id="49" name="RvA"/>
          <p:cNvSpPr txBox="1"/>
          <p:nvPr/>
        </p:nvSpPr>
        <p:spPr>
          <a:xfrm>
            <a:off x="998250" y="4846320"/>
            <a:ext cx="10195560" cy="274320"/>
          </a:xfrm>
          <a:prstGeom prst="rect">
            <a:avLst/>
          </a:prstGeom>
          <a:noFill/>
        </p:spPr>
        <p:txBody>
          <a:bodyPr wrap="square">
            <a:noAutofit/>
          </a:bodyPr>
          <a:lstStyle/>
          <a:p>
            <a:pPr/>
            <a:r>
              <a:rPr lang="en-MY" sz="1250" b="1" dirty="0">
                <a:solidFill>
                  <a:srgbClr val="2E7D32"/>
                </a:solidFill>
              </a:rPr>
              <a:t>Jawapan: B</a:t>
            </a:r>
          </a:p>
        </p:txBody>
      </p:sp>
      <p:sp>
        <p:nvSpPr>
          <p:cNvPr id="50" name="RvQ"/>
          <p:cNvSpPr txBox="1"/>
          <p:nvPr/>
        </p:nvSpPr>
        <p:spPr>
          <a:xfrm>
            <a:off x="723930" y="5230368"/>
            <a:ext cx="10744200" cy="310896"/>
          </a:xfrm>
          <a:prstGeom prst="rect">
            <a:avLst/>
          </a:prstGeom>
          <a:noFill/>
        </p:spPr>
        <p:txBody>
          <a:bodyPr wrap="square">
            <a:noAutofit/>
          </a:bodyPr>
          <a:lstStyle/>
          <a:p>
            <a:pPr/>
            <a:r>
              <a:rPr lang="en-MY" sz="1250" dirty="0">
                <a:solidFill>
                  <a:schemeClr val="tx1">
                    <a:lumMod val="85000"/>
                    <a:lumOff val="15000"/>
                  </a:schemeClr>
                </a:solidFill>
              </a:rPr>
              <a:t>Soalan 5: Pilih SEMUA perabot yang tergolong dalam Perabot Taman.</a:t>
            </a:r>
          </a:p>
        </p:txBody>
      </p:sp>
      <p:sp>
        <p:nvSpPr>
          <p:cNvPr id="51" name="RvA"/>
          <p:cNvSpPr txBox="1"/>
          <p:nvPr/>
        </p:nvSpPr>
        <p:spPr>
          <a:xfrm>
            <a:off x="998250" y="5522976"/>
            <a:ext cx="10195560" cy="274320"/>
          </a:xfrm>
          <a:prstGeom prst="rect">
            <a:avLst/>
          </a:prstGeom>
          <a:noFill/>
        </p:spPr>
        <p:txBody>
          <a:bodyPr wrap="square">
            <a:noAutofit/>
          </a:bodyPr>
          <a:lstStyle/>
          <a:p>
            <a:pPr/>
            <a:r>
              <a:rPr lang="en-MY" sz="1250" b="1" dirty="0">
                <a:solidFill>
                  <a:srgbClr val="2E7D32"/>
                </a:solidFill>
              </a:rPr>
              <a:t>Jawapan: Kerusi Taman, Papan Tanda, Tong Sampah, </a:t>
            </a:r>
            <a:r>
              <a:rPr lang="en-MY" sz="1250" b="1" i="1" dirty="0">
                <a:solidFill>
                  <a:srgbClr val="2E7D32"/>
                </a:solidFill>
              </a:rPr>
              <a:t>Drinking Fountain</a:t>
            </a:r>
            <a:r>
              <a:rPr lang="en-MY" sz="1250" b="1" dirty="0">
                <a:solidFill>
                  <a:srgbClr val="2E7D32"/>
                </a:solidFill>
              </a:rPr>
              <a:t>, </a:t>
            </a:r>
            <a:r>
              <a:rPr lang="en-MY" sz="1250" b="1" i="1" dirty="0">
                <a:solidFill>
                  <a:srgbClr val="2E7D32"/>
                </a:solidFill>
              </a:rPr>
              <a:t>BBQ Pit</a:t>
            </a:r>
          </a:p>
        </p:txBody>
      </p:sp>
      <p:sp>
        <p:nvSpPr>
          <p:cNvPr id="60" name="Btn"/>
          <p:cNvSpPr txBox="1"/>
          <p:nvPr/>
        </p:nvSpPr>
        <p:spPr>
          <a:xfrm>
            <a:off x="723930" y="5888736"/>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QUIZ_REVIEW</a:t>
            </a:r>
          </a:p>
          <a:p>
            <a:r>
              <a:rPr lang="en-MY" sz="900" dirty="0">
                <a:solidFill>
                  <a:schemeClr val="tx1">
                    <a:lumMod val="85000"/>
                    <a:lumOff val="15000"/>
                  </a:schemeClr>
                </a:solidFill>
              </a:rPr>
              <a:t/>
            </a:r>
          </a:p>
          <a:p>
            <a:r>
              <a:rPr lang="en-MY" sz="900" dirty="0">
                <a:solidFill>
                  <a:schemeClr val="tx1">
                    <a:lumMod val="85000"/>
                    <a:lumOff val="15000"/>
                  </a:schemeClr>
                </a:solidFill>
              </a:rPr>
              <a:t>BUKTI: Semak Jawapan / Ulang Kuiz</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[always_enabled]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ST_KUIZ_RESULT</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SEMAK JAWAPAN:</a:t>
            </a:r>
          </a:p>
          <a:p>
            <a:r>
              <a:rPr lang="en-MY" sz="900" dirty="0">
                <a:solidFill>
                  <a:schemeClr val="tx1">
                    <a:lumMod val="85000"/>
                    <a:lumOff val="15000"/>
                  </a:schemeClr>
                </a:solidFill>
              </a:rPr>
              <a:t>  Jawapan betul dipaparkan bagi kelima-lima soalan.</a:t>
            </a:r>
          </a:p>
          <a:p>
            <a:r>
              <a:rPr lang="en-MY" sz="900" dirty="0">
                <a:solidFill>
                  <a:schemeClr val="tx1">
                    <a:lumMod val="85000"/>
                    <a:lumOff val="15000"/>
                  </a:schemeClr>
                </a:solidFill>
              </a:rPr>
              <a:t>  Cuba semula bersifat sukarela.</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Rasional terperinci bagi setiap soalan kekal sebagai metadata produksi sehingga penempatan akhirnya disahkan.</a:t>
            </a:r>
          </a:p>
          <a:p>
            <a:r>
              <a:rPr lang="en-MY" sz="900" dirty="0">
                <a:solidFill>
                  <a:schemeClr val="tx1">
                    <a:lumMod val="85000"/>
                    <a:lumOff val="15000"/>
                  </a:schemeClr>
                </a:solidFill>
              </a:rPr>
              <a:t>  status: U-05 — whether the detailed rationale is exposed here is PENDING_BARIAH_CONFIRMATION; for v0.4 it stays metadata-only</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QUIZ_REVIEW</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B02-D-23</a:t>
            </a:r>
          </a:p>
          <a:p>
            <a:r>
              <a:rPr lang="en-MY" sz="900" dirty="0">
                <a:solidFill>
                  <a:schemeClr val="tx1">
                    <a:lumMod val="85000"/>
                    <a:lumOff val="15000"/>
                  </a:schemeClr>
                </a:solidFill>
              </a:rPr>
              <a:t>STATUS BELUM SELESAI: U-05 — whether the detailed rationale is exposed here is PENDING_BARIAH_CONFIRMATION; for v0.4 it stays metadata-only</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Tamat</a:t>
            </a:r>
          </a:p>
        </p:txBody>
      </p:sp>
      <p:sp>
        <p:nvSpPr>
          <p:cNvPr id="20" name="TamatLine"/>
          <p:cNvSpPr txBox="1"/>
          <p:nvPr/>
        </p:nvSpPr>
        <p:spPr>
          <a:xfrm>
            <a:off x="723930" y="1243584"/>
            <a:ext cx="10744200" cy="420624"/>
          </a:xfrm>
          <a:prstGeom prst="rect">
            <a:avLst/>
          </a:prstGeom>
          <a:noFill/>
        </p:spPr>
        <p:txBody>
          <a:bodyPr wrap="square">
            <a:noAutofit/>
          </a:bodyPr>
          <a:lstStyle/>
          <a:p>
            <a:pPr/>
            <a:r>
              <a:rPr lang="en-MY" sz="1500" b="1" dirty="0">
                <a:solidFill>
                  <a:srgbClr val="7F6000"/>
                </a:solidFill>
              </a:rPr>
              <a:t>KURSUS KERJA BANGUNAN –</a:t>
            </a:r>
          </a:p>
        </p:txBody>
      </p:sp>
      <p:sp>
        <p:nvSpPr>
          <p:cNvPr id="21" name="TamatLine"/>
          <p:cNvSpPr txBox="1"/>
          <p:nvPr/>
        </p:nvSpPr>
        <p:spPr>
          <a:xfrm>
            <a:off x="723930" y="1645920"/>
            <a:ext cx="10744200" cy="420624"/>
          </a:xfrm>
          <a:prstGeom prst="rect">
            <a:avLst/>
          </a:prstGeom>
          <a:noFill/>
        </p:spPr>
        <p:txBody>
          <a:bodyPr wrap="square">
            <a:noAutofit/>
          </a:bodyPr>
          <a:lstStyle/>
          <a:p>
            <a:pPr/>
            <a:r>
              <a:rPr lang="en-MY" sz="1500" b="1" dirty="0">
                <a:solidFill>
                  <a:srgbClr val="7F6000"/>
                </a:solidFill>
              </a:rPr>
              <a:t>PEMBINAAN LANDSKAP LUAR</a:t>
            </a:r>
          </a:p>
        </p:txBody>
      </p:sp>
      <p:sp>
        <p:nvSpPr>
          <p:cNvPr id="24" name="TamatLine"/>
          <p:cNvSpPr txBox="1"/>
          <p:nvPr/>
        </p:nvSpPr>
        <p:spPr>
          <a:xfrm>
            <a:off x="723930" y="2322576"/>
            <a:ext cx="10744200" cy="420624"/>
          </a:xfrm>
          <a:prstGeom prst="rect">
            <a:avLst/>
          </a:prstGeom>
          <a:noFill/>
        </p:spPr>
        <p:txBody>
          <a:bodyPr wrap="square">
            <a:noAutofit/>
          </a:bodyPr>
          <a:lstStyle/>
          <a:p>
            <a:pPr/>
            <a:r>
              <a:rPr lang="en-MY" sz="1500" b="1" dirty="0">
                <a:solidFill>
                  <a:srgbClr val="7F6000"/>
                </a:solidFill>
              </a:rPr>
              <a:t>PL06:</a:t>
            </a:r>
          </a:p>
        </p:txBody>
      </p:sp>
      <p:sp>
        <p:nvSpPr>
          <p:cNvPr id="25" name="TamatLine"/>
          <p:cNvSpPr txBox="1"/>
          <p:nvPr/>
        </p:nvSpPr>
        <p:spPr>
          <a:xfrm>
            <a:off x="723930" y="2724912"/>
            <a:ext cx="10744200" cy="420624"/>
          </a:xfrm>
          <a:prstGeom prst="rect">
            <a:avLst/>
          </a:prstGeom>
          <a:noFill/>
        </p:spPr>
        <p:txBody>
          <a:bodyPr wrap="square">
            <a:noAutofit/>
          </a:bodyPr>
          <a:lstStyle/>
          <a:p>
            <a:pPr/>
            <a:r>
              <a:rPr lang="en-MY" sz="1500" b="1" dirty="0">
                <a:solidFill>
                  <a:srgbClr val="7F6000"/>
                </a:solidFill>
              </a:rPr>
              <a:t>PENGURUSAN OPERASI PEMBINAAN LANDSKAP</a:t>
            </a:r>
          </a:p>
        </p:txBody>
      </p:sp>
      <p:sp>
        <p:nvSpPr>
          <p:cNvPr id="28" name="TamatLine"/>
          <p:cNvSpPr txBox="1"/>
          <p:nvPr/>
        </p:nvSpPr>
        <p:spPr>
          <a:xfrm>
            <a:off x="723930" y="3401568"/>
            <a:ext cx="10744200" cy="420624"/>
          </a:xfrm>
          <a:prstGeom prst="rect">
            <a:avLst/>
          </a:prstGeom>
          <a:noFill/>
        </p:spPr>
        <p:txBody>
          <a:bodyPr wrap="square">
            <a:noAutofit/>
          </a:bodyPr>
          <a:lstStyle/>
          <a:p>
            <a:pPr/>
            <a:r>
              <a:rPr lang="en-MY" sz="2000" b="1" dirty="0">
                <a:solidFill>
                  <a:schemeClr val="tx1">
                    <a:lumMod val="85000"/>
                    <a:lumOff val="15000"/>
                  </a:schemeClr>
                </a:solidFill>
              </a:rPr>
              <a:t>Tamat Topik 3 Bahagian 2:</a:t>
            </a:r>
          </a:p>
        </p:txBody>
      </p:sp>
      <p:sp>
        <p:nvSpPr>
          <p:cNvPr id="29" name="TamatLine"/>
          <p:cNvSpPr txBox="1"/>
          <p:nvPr/>
        </p:nvSpPr>
        <p:spPr>
          <a:xfrm>
            <a:off x="723930" y="3803904"/>
            <a:ext cx="10744200" cy="420624"/>
          </a:xfrm>
          <a:prstGeom prst="rect">
            <a:avLst/>
          </a:prstGeom>
          <a:noFill/>
        </p:spPr>
        <p:txBody>
          <a:bodyPr wrap="square">
            <a:noAutofit/>
          </a:bodyPr>
          <a:lstStyle/>
          <a:p>
            <a:pPr/>
            <a:r>
              <a:rPr lang="en-MY" sz="2000" b="1" dirty="0">
                <a:solidFill>
                  <a:schemeClr val="tx1">
                    <a:lumMod val="85000"/>
                    <a:lumOff val="15000"/>
                  </a:schemeClr>
                </a:solidFill>
              </a:rPr>
              <a:t>Komponen Landskap</a:t>
            </a:r>
          </a:p>
        </p:txBody>
      </p:sp>
      <p:sp>
        <p:nvSpPr>
          <p:cNvPr id="60" name="TamatInstr"/>
          <p:cNvSpPr txBox="1"/>
          <p:nvPr/>
        </p:nvSpPr>
        <p:spPr>
          <a:xfrm>
            <a:off x="723930" y="4754880"/>
            <a:ext cx="10744200" cy="420624"/>
          </a:xfrm>
          <a:prstGeom prst="rect">
            <a:avLst/>
          </a:prstGeom>
          <a:noFill/>
        </p:spPr>
        <p:txBody>
          <a:bodyPr wrap="square">
            <a:noAutofit/>
          </a:bodyPr>
          <a:lstStyle/>
          <a:p>
            <a:pPr/>
            <a:r>
              <a:rPr lang="en-MY" sz="1700" b="1" dirty="0">
                <a:solidFill>
                  <a:schemeClr val="tx1">
                    <a:lumMod val="85000"/>
                    <a:lumOff val="15000"/>
                  </a:schemeClr>
                </a:solidFill>
              </a:rPr>
              <a:t>Teruskan pembelajaran ke bahagian seterusnya.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Tamat Topik 3 Bahagian 2</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FRAME_END_BASE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[PENDING_FIRDAUS_OR_LMS_CONFIRMATION — no claim made about the shell control]</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SCR_TAMAT</a:t>
            </a:r>
          </a:p>
          <a:p>
            <a:r>
              <a:rPr lang="en-MY" sz="900" b="1" dirty="0">
                <a:solidFill>
                  <a:schemeClr val="tx1">
                    <a:lumMod val="85000"/>
                    <a:lumOff val="15000"/>
                  </a:schemeClr>
                </a:solidFill>
              </a:rPr>
              <a:t>KELUAR / NAVIGASI:</a:t>
            </a:r>
          </a:p>
          <a:p>
            <a:r>
              <a:rPr lang="en-MY" sz="900" dirty="0">
                <a:solidFill>
                  <a:schemeClr val="tx1">
                    <a:lumMod val="85000"/>
                    <a:lumOff val="15000"/>
                  </a:schemeClr>
                </a:solidFill>
              </a:rPr>
              <a:t>  salinan Tamat: CONFIRMED_BARIAH</a:t>
            </a:r>
          </a:p>
          <a:p>
            <a:r>
              <a:rPr lang="en-MY" sz="900" dirty="0">
                <a:solidFill>
                  <a:schemeClr val="tx1">
                    <a:lumMod val="85000"/>
                    <a:lumOff val="15000"/>
                  </a:schemeClr>
                </a:solidFill>
              </a:rPr>
              <a:t>  destinasi logik: NEXT_BAHAGIAN</a:t>
            </a:r>
          </a:p>
          <a:p>
            <a:r>
              <a:rPr lang="en-MY" sz="900" dirty="0">
                <a:solidFill>
                  <a:schemeClr val="tx1">
                    <a:lumMod val="85000"/>
                    <a:lumOff val="15000"/>
                  </a:schemeClr>
                </a:solidFill>
              </a:rPr>
              <a:t>  kelakuan navigasi fizikal: PENDING_FIRDAUS_OR_LMS_CONFIRMATION</a:t>
            </a:r>
          </a:p>
          <a:p>
            <a:r>
              <a:rPr lang="en-MY" sz="900" dirty="0">
                <a:solidFill>
                  <a:schemeClr val="tx1">
                    <a:lumMod val="85000"/>
                    <a:lumOff val="15000"/>
                  </a:schemeClr>
                </a:solidFill>
              </a:rPr>
              <a:t>  MEKANISME NAVIGASI (FIRDAUS / PEMILIK LMS):</a:t>
            </a:r>
          </a:p>
          <a:p>
            <a:r>
              <a:rPr lang="en-MY" sz="900" dirty="0">
                <a:solidFill>
                  <a:schemeClr val="tx1">
                    <a:lumMod val="85000"/>
                    <a:lumOff val="15000"/>
                  </a:schemeClr>
                </a:solidFill>
              </a:rPr>
              <a:t>    tindakan pelajar: menutup lesson/content window</a:t>
            </a:r>
          </a:p>
          <a:p>
            <a:r>
              <a:rPr lang="en-MY" sz="900" dirty="0">
                <a:solidFill>
                  <a:schemeClr val="tx1">
                    <a:lumMod val="85000"/>
                    <a:lumOff val="15000"/>
                  </a:schemeClr>
                </a:solidFill>
              </a:rPr>
              <a:t>    hasil navigasi: kembali ke course menu</a:t>
            </a:r>
          </a:p>
          <a:p>
            <a:r>
              <a:rPr lang="en-MY" sz="900" dirty="0">
                <a:solidFill>
                  <a:schemeClr val="tx1">
                    <a:lumMod val="85000"/>
                    <a:lumOff val="15000"/>
                  </a:schemeClr>
                </a:solidFill>
              </a:rPr>
              <a:t>    langkah seterusnya: pelajar memilih bahagian pembelajaran seterusnya</a:t>
            </a:r>
          </a:p>
          <a:p>
            <a:r>
              <a:rPr lang="en-MY" sz="900" dirty="0">
                <a:solidFill>
                  <a:schemeClr val="tx1">
                    <a:lumMod val="85000"/>
                    <a:lumOff val="15000"/>
                  </a:schemeClr>
                </a:solidFill>
              </a:rPr>
              <a:t>    laluan seterusnya automatik: TIDAK TERBUKTI</a:t>
            </a:r>
          </a:p>
          <a:p>
            <a:r>
              <a:rPr lang="en-MY" sz="900" dirty="0">
                <a:solidFill>
                  <a:schemeClr val="tx1">
                    <a:lumMod val="85000"/>
                    <a:lumOff val="15000"/>
                  </a:schemeClr>
                </a:solidFill>
              </a:rPr>
              <a:t>    LMS shell Next: TIDAK TERBUKTI</a:t>
            </a:r>
          </a:p>
          <a:p>
            <a:r>
              <a:rPr lang="en-MY" sz="900" dirty="0">
                <a:solidFill>
                  <a:schemeClr val="tx1">
                    <a:lumMod val="85000"/>
                    <a:lumOff val="15000"/>
                  </a:schemeClr>
                </a:solidFill>
              </a:rPr>
              <a:t>  Tiada dakwaan dibuat tentang keadaan Seterusnya shell LMS.</a:t>
            </a:r>
          </a:p>
          <a:p>
            <a:r>
              <a:rPr lang="en-MY" sz="900" dirty="0">
                <a:solidFill>
                  <a:schemeClr val="tx1">
                    <a:lumMod val="85000"/>
                    <a:lumOff val="15000"/>
                  </a:schemeClr>
                </a:solidFill>
              </a:rPr>
              <a:t>  Tiada butang navigasi kanvas tersuai dicipta.</a:t>
            </a:r>
          </a:p>
          <a:p>
            <a:r>
              <a:rPr lang="en-MY" sz="900" dirty="0">
                <a:solidFill>
                  <a:schemeClr val="tx1">
                    <a:lumMod val="85000"/>
                    <a:lumOff val="15000"/>
                  </a:schemeClr>
                </a:solidFill>
              </a:rPr>
              <a:t>  Segitiga merah dalam contoh Bariah dianggap ISYARAT VISUAL,</a:t>
            </a:r>
          </a:p>
          <a:p>
            <a:r>
              <a:rPr lang="en-MY" sz="900" dirty="0">
                <a:solidFill>
                  <a:schemeClr val="tx1">
                    <a:lumMod val="85000"/>
                    <a:lumOff val="15000"/>
                  </a:schemeClr>
                </a:solidFill>
              </a:rPr>
              <a:t>  bukan butang interaktif, sehingga ada bukti sebaliknya.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B02-D-14, B02-D-15</a:t>
            </a:r>
          </a:p>
          <a:p>
            <a:r>
              <a:rPr lang="en-MY" sz="900" dirty="0">
                <a:solidFill>
                  <a:schemeClr val="tx1">
                    <a:lumMod val="85000"/>
                    <a:lumOff val="15000"/>
                  </a:schemeClr>
                </a:solidFill>
              </a:rPr>
              <a:t>STATUS BELUM SELESAI: U-03 — Tamat COPY is CONFIRMED_BARIAH; the physical LMS navigation mechanism is PENDING_FIRDAUS_OR_LMS_CONFIRMATION</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19</Slides>
  <Notes>19</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19</vt:i4>
      </vt:variant>
    </vt:vector>
  </HeadingPairs>
  <TitlesOfParts>
    <vt:vector size="20" baseType="lpstr">
      <vt:lpstr>Theme</vt:lpstr>
      <vt:lpstr>S01 TAJUK</vt:lpstr>
      <vt:lpstr>S02 DIALOG</vt:lpstr>
      <vt:lpstr>S03 OVERVIEW</vt:lpstr>
      <vt:lpstr>S04 CR_BASE</vt:lpstr>
      <vt:lpstr>S05 FULL</vt:lpstr>
      <vt:lpstr>S06 FULL</vt:lpstr>
      <vt:lpstr>S07 FULL</vt:lpstr>
      <vt:lpstr>S08 FULL</vt:lpstr>
      <vt:lpstr>S09 TICK</vt:lpstr>
      <vt:lpstr>S10 CR_BASE</vt:lpstr>
      <vt:lpstr>S11 FULL</vt:lpstr>
      <vt:lpstr>S12 FULL</vt:lpstr>
      <vt:lpstr>S13 FULL</vt:lpstr>
      <vt:lpstr>S14 FULL</vt:lpstr>
      <vt:lpstr>S15 FULL</vt:lpstr>
      <vt:lpstr>S16 TICK</vt:lpstr>
      <vt:lpstr>S17 RUMUSAN</vt:lpstr>
      <vt:lpstr>S18 KUIZ</vt:lpstr>
      <vt:lpstr>S19 TAMAT</vt:lpstr>
    </vt:vector>
  </TitlesOfPart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Contoh Treatment — 4 slaid — bukan storyboard penuh</dc:title>
  <dc:creator>SMEC courseware.my</dc:creator>
  <cp:lastModifiedBy>CAIR compiler</cp:lastModifiedBy>
  <cp:revision>1</cp:revision>
  <dcterms:created xsi:type="dcterms:W3CDTF">2021-11-01T02:42:52Z</dcterms:created>
  <dcterms:modified xsi:type="dcterms:W3CDTF">2026-07-25T19:09:29Z</dcterms:modified>
  <dc:subject>Treatment probe. Not a storyboard. Output-only, disposable.</dc:subject>
  <dc:description>Hand-built from 4 slides of the Tier-1 storyboard specification. Not regenerable, not a baseline, must never be promoted.</dc:description>
  <cp:keywords>storyboard; K5; source-bound</cp:keywords>
  <cp:category>Storyboard Specification</cp:category>
</cp:coreProperties>
</file>