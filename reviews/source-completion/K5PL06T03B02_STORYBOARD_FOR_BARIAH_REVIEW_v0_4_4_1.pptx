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3.svg" ContentType="image/svg+xml"/>
  <Override PartName="/ppt/notesMasters/notesMaster1.xml" ContentType="application/vnd.openxmlformats-officedocument.presentationml.notesMaster+xml"/>
  <Override PartName="/ppt/notesSlides/notesSlide12.xml" ContentType="application/vnd.openxmlformats-officedocument.presentationml.notesSlide+xml"/>
  <Override PartName="/ppt/notesSlides/notesSlide16.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2.xml" ContentType="application/vnd.openxmlformats-officedocument.presentationml.slide+xml"/>
  <Override PartName="/ppt/slides/slide17.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9401" r:id="rId101"/>
    <p:sldId id="9402" r:id="rId102"/>
    <p:sldId id="9403" r:id="rId103"/>
    <p:sldId id="9404" r:id="rId104"/>
    <p:sldId id="9405" r:id="rId105"/>
    <p:sldId id="9406" r:id="rId106"/>
    <p:sldId id="9407" r:id="rId107"/>
    <p:sldId id="9408" r:id="rId108"/>
    <p:sldId id="9409" r:id="rId109"/>
    <p:sldId id="9410" r:id="rId110"/>
    <p:sldId id="9411" r:id="rId111"/>
    <p:sldId id="9412" r:id="rId112"/>
    <p:sldId id="9413" r:id="rId113"/>
    <p:sldId id="9414" r:id="rId114"/>
    <p:sldId id="9415" r:id="rId115"/>
    <p:sldId id="9416" r:id="rId116"/>
    <p:sldId id="9417" r:id="rId117"/>
    <p:sldId id="9418" r:id="rId118"/>
    <p:sldId id="9419" r:id="rId119"/>
    <p:sldId id="9420" r:id="rId120"/>
    <p:sldId id="9421" r:id="rId121"/>
    <p:sldId id="9422" r:id="rId122"/>
    <p:sldId id="9423" r:id="rId123"/>
    <p:sldId id="9424" r:id="rId124"/>
    <p:sldId id="9425" r:id="rId125"/>
    <p:sldId id="9426" r:id="rId126"/>
    <p:sldId id="9427" r:id="rId127"/>
    <p:sldId id="9428" r:id="rId128"/>
    <p:sldId id="9429" r:id="rId129"/>
    <p:sldId id="9430" r:id="rId130"/>
    <p:sldId id="9431" r:id="rId131"/>
    <p:sldId id="9432" r:id="rId132"/>
    <p:sldId id="9433" r:id="rId133"/>
    <p:sldId id="9434" r:id="rId134"/>
    <p:sldId id="9435" r:id="rId135"/>
    <p:sldId id="9436" r:id="rId136"/>
    <p:sldId id="9437" r:id="rId137"/>
    <p:sldId id="9438" r:id="rId138"/>
    <p:sldId id="9439" r:id="rId139"/>
    <p:sldId id="9440" r:id="rId140"/>
    <p:sldId id="9441" r:id="rId141"/>
    <p:sldId id="9442" r:id="rId142"/>
    <p:sldId id="9443" r:id="rId143"/>
    <p:sldId id="9444" r:id="rId144"/>
    <p:sldId id="9445" r:id="rId145"/>
    <p:sldId id="9446" r:id="rId146"/>
    <p:sldId id="9447" r:id="rId147"/>
    <p:sldId id="9448" r:id="rId148"/>
    <p:sldId id="9449" r:id="rId149"/>
    <p:sldId id="9450" r:id="rId150"/>
    <p:sldId id="9451" r:id="rId151"/>
    <p:sldId id="9452" r:id="rId152"/>
    <p:sldId id="9453" r:id="rId153"/>
    <p:sldId id="9454" r:id="rId154"/>
    <p:sldId id="9455" r:id="rId155"/>
    <p:sldId id="9456" r:id="rId156"/>
    <p:sldId id="9457" r:id="rId157"/>
    <p:sldId id="9458" r:id="rId158"/>
    <p:sldId id="9459" r:id="rId159"/>
    <p:sldId id="9460" r:id="rId160"/>
    <p:sldId id="9461" r:id="rId161"/>
    <p:sldId id="9462" r:id="rId162"/>
    <p:sldId id="9463" r:id="rId163"/>
    <p:sldId id="9464" r:id="rId164"/>
    <p:sldId id="9465" r:id="rId165"/>
    <p:sldId id="9466" r:id="rId166"/>
    <p:sldId id="9467" r:id="rId167"/>
    <p:sldId id="9468" r:id="rId168"/>
    <p:sldId id="9469" r:id="rId169"/>
    <p:sldId id="9470" r:id="rId170"/>
    <p:sldId id="9471" r:id="rId171"/>
    <p:sldId id="9472" r:id="rId172"/>
    <p:sldId id="9473" r:id="rId173"/>
    <p:sldId id="9474" r:id="rId174"/>
    <p:sldId id="9475" r:id="rId175"/>
    <p:sldId id="9476" r:id="rId176"/>
    <p:sldId id="9477" r:id="rId177"/>
    <p:sldId id="9478" r:id="rId178"/>
    <p:sldId id="9479" r:id="rId179"/>
    <p:sldId id="9480" r:id="rId180"/>
    <p:sldId id="9481" r:id="rId181"/>
    <p:sldId id="9482" r:id="rId182"/>
    <p:sldId id="9483" r:id="rId183"/>
    <p:sldId id="9484" r:id="rId184"/>
    <p:sldId id="9485" r:id="rId185"/>
    <p:sldId id="9486" r:id="rId186"/>
    <p:sldId id="9487" r:id="rId187"/>
    <p:sldId id="9488" r:id="rId188"/>
    <p:sldId id="9489" r:id="rId189"/>
    <p:sldId id="9490" r:id="rId190"/>
    <p:sldId id="9491" r:id="rId191"/>
    <p:sldId id="9492" r:id="rId192"/>
    <p:sldId id="9493" r:id="rId193"/>
    <p:sldId id="9494" r:id="rId194"/>
    <p:sldId id="9495" r:id="rId195"/>
    <p:sldId id="9496" r:id="rId196"/>
    <p:sldId id="9497" r:id="rId197"/>
    <p:sldId id="9498" r:id="rId198"/>
    <p:sldId id="9499" r:id="rId199"/>
    <p:sldId id="9500" r:id="rId20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26"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F9F9E"/>
    <a:srgbClr val="DFE0D1"/>
    <a:srgbClr val="AC8300"/>
    <a:srgbClr val="F6D4CF"/>
    <a:srgbClr val="D8928B"/>
    <a:srgbClr val="98768E"/>
    <a:srgbClr val="D3B8C5"/>
    <a:srgbClr val="4E7189"/>
    <a:srgbClr val="385F77"/>
    <a:srgbClr val="244F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91" autoAdjust="0"/>
    <p:restoredTop sz="35546" autoAdjust="0"/>
  </p:normalViewPr>
  <p:slideViewPr>
    <p:cSldViewPr snapToGrid="0" snapToObjects="1">
      <p:cViewPr>
        <p:scale>
          <a:sx n="50" d="100"/>
          <a:sy n="50" d="100"/>
        </p:scale>
        <p:origin x="1930" y="264"/>
      </p:cViewPr>
      <p:guideLst>
        <p:guide orient="horz" pos="1026"/>
        <p:guide pos="3840"/>
      </p:guideLst>
    </p:cSldViewPr>
  </p:slideViewPr>
  <p:outlineViewPr>
    <p:cViewPr>
      <p:scale>
        <a:sx n="33" d="100"/>
        <a:sy n="33" d="100"/>
      </p:scale>
      <p:origin x="0" y="0"/>
    </p:cViewPr>
  </p:outlineViewPr>
  <p:notesTextViewPr>
    <p:cViewPr>
      <p:scale>
        <a:sx n="75" d="100"/>
        <a:sy n="75" d="100"/>
      </p:scale>
      <p:origin x="0" y="0"/>
    </p:cViewPr>
  </p:notesTextViewPr>
  <p:sorterViewPr>
    <p:cViewPr>
      <p:scale>
        <a:sx n="70" d="100"/>
        <a:sy n="70" d="100"/>
      </p:scale>
      <p:origin x="0" y="-6198"/>
    </p:cViewPr>
  </p:sorterViewPr>
  <p:notesViewPr>
    <p:cSldViewPr snapToGrid="0" snapToObjects="1">
      <p:cViewPr varScale="1">
        <p:scale>
          <a:sx n="50" d="100"/>
          <a:sy n="50" d="100"/>
        </p:scale>
        <p:origin x="2016" y="6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1" Type="http://schemas.openxmlformats.org/officeDocument/2006/relationships/slide" Target="slides/slide1.xml"/><Relationship Id="rId102" Type="http://schemas.openxmlformats.org/officeDocument/2006/relationships/slide" Target="slides/slide2.xml"/><Relationship Id="rId103" Type="http://schemas.openxmlformats.org/officeDocument/2006/relationships/slide" Target="slides/slide3.xml"/><Relationship Id="rId104" Type="http://schemas.openxmlformats.org/officeDocument/2006/relationships/slide" Target="slides/slide4.xml"/><Relationship Id="rId105" Type="http://schemas.openxmlformats.org/officeDocument/2006/relationships/slide" Target="slides/slide5.xml"/><Relationship Id="rId106" Type="http://schemas.openxmlformats.org/officeDocument/2006/relationships/slide" Target="slides/slide6.xml"/><Relationship Id="rId107" Type="http://schemas.openxmlformats.org/officeDocument/2006/relationships/slide" Target="slides/slide7.xml"/><Relationship Id="rId108" Type="http://schemas.openxmlformats.org/officeDocument/2006/relationships/slide" Target="slides/slide8.xml"/><Relationship Id="rId109" Type="http://schemas.openxmlformats.org/officeDocument/2006/relationships/slide" Target="slides/slide9.xml"/><Relationship Id="rId110" Type="http://schemas.openxmlformats.org/officeDocument/2006/relationships/slide" Target="slides/slide10.xml"/><Relationship Id="rId111" Type="http://schemas.openxmlformats.org/officeDocument/2006/relationships/slide" Target="slides/slide11.xml"/><Relationship Id="rId112" Type="http://schemas.openxmlformats.org/officeDocument/2006/relationships/slide" Target="slides/slide12.xml"/><Relationship Id="rId113" Type="http://schemas.openxmlformats.org/officeDocument/2006/relationships/slide" Target="slides/slide13.xml"/><Relationship Id="rId114" Type="http://schemas.openxmlformats.org/officeDocument/2006/relationships/slide" Target="slides/slide14.xml"/><Relationship Id="rId115" Type="http://schemas.openxmlformats.org/officeDocument/2006/relationships/slide" Target="slides/slide15.xml"/><Relationship Id="rId116" Type="http://schemas.openxmlformats.org/officeDocument/2006/relationships/slide" Target="slides/slide16.xml"/><Relationship Id="rId117" Type="http://schemas.openxmlformats.org/officeDocument/2006/relationships/slide" Target="slides/slide17.xml"/><Relationship Id="rId118" Type="http://schemas.openxmlformats.org/officeDocument/2006/relationships/slide" Target="slides/slide18.xml"/><Relationship Id="rId119" Type="http://schemas.openxmlformats.org/officeDocument/2006/relationships/slide" Target="slides/slide19.xml"/><Relationship Id="rId120" Type="http://schemas.openxmlformats.org/officeDocument/2006/relationships/slide" Target="slides/slide20.xml"/><Relationship Id="rId121" Type="http://schemas.openxmlformats.org/officeDocument/2006/relationships/slide" Target="slides/slide21.xml"/><Relationship Id="rId122" Type="http://schemas.openxmlformats.org/officeDocument/2006/relationships/slide" Target="slides/slide22.xml"/><Relationship Id="rId123" Type="http://schemas.openxmlformats.org/officeDocument/2006/relationships/slide" Target="slides/slide23.xml"/><Relationship Id="rId124" Type="http://schemas.openxmlformats.org/officeDocument/2006/relationships/slide" Target="slides/slide24.xml"/><Relationship Id="rId125" Type="http://schemas.openxmlformats.org/officeDocument/2006/relationships/slide" Target="slides/slide25.xml"/><Relationship Id="rId126" Type="http://schemas.openxmlformats.org/officeDocument/2006/relationships/slide" Target="slides/slide26.xml"/><Relationship Id="rId127" Type="http://schemas.openxmlformats.org/officeDocument/2006/relationships/slide" Target="slides/slide27.xml"/><Relationship Id="rId128" Type="http://schemas.openxmlformats.org/officeDocument/2006/relationships/slide" Target="slides/slide28.xml"/><Relationship Id="rId129" Type="http://schemas.openxmlformats.org/officeDocument/2006/relationships/slide" Target="slides/slide29.xml"/><Relationship Id="rId130" Type="http://schemas.openxmlformats.org/officeDocument/2006/relationships/slide" Target="slides/slide30.xml"/><Relationship Id="rId131" Type="http://schemas.openxmlformats.org/officeDocument/2006/relationships/slide" Target="slides/slide31.xml"/><Relationship Id="rId132" Type="http://schemas.openxmlformats.org/officeDocument/2006/relationships/slide" Target="slides/slide32.xml"/><Relationship Id="rId133" Type="http://schemas.openxmlformats.org/officeDocument/2006/relationships/slide" Target="slides/slide33.xml"/><Relationship Id="rId134" Type="http://schemas.openxmlformats.org/officeDocument/2006/relationships/slide" Target="slides/slide34.xml"/><Relationship Id="rId135" Type="http://schemas.openxmlformats.org/officeDocument/2006/relationships/slide" Target="slides/slide35.xml"/><Relationship Id="rId136" Type="http://schemas.openxmlformats.org/officeDocument/2006/relationships/slide" Target="slides/slide36.xml"/><Relationship Id="rId137" Type="http://schemas.openxmlformats.org/officeDocument/2006/relationships/slide" Target="slides/slide37.xml"/><Relationship Id="rId138" Type="http://schemas.openxmlformats.org/officeDocument/2006/relationships/slide" Target="slides/slide38.xml"/><Relationship Id="rId139" Type="http://schemas.openxmlformats.org/officeDocument/2006/relationships/slide" Target="slides/slide39.xml"/><Relationship Id="rId140" Type="http://schemas.openxmlformats.org/officeDocument/2006/relationships/slide" Target="slides/slide40.xml"/><Relationship Id="rId141" Type="http://schemas.openxmlformats.org/officeDocument/2006/relationships/slide" Target="slides/slide41.xml"/><Relationship Id="rId142" Type="http://schemas.openxmlformats.org/officeDocument/2006/relationships/slide" Target="slides/slide42.xml"/><Relationship Id="rId143" Type="http://schemas.openxmlformats.org/officeDocument/2006/relationships/slide" Target="slides/slide43.xml"/><Relationship Id="rId144" Type="http://schemas.openxmlformats.org/officeDocument/2006/relationships/slide" Target="slides/slide44.xml"/><Relationship Id="rId145" Type="http://schemas.openxmlformats.org/officeDocument/2006/relationships/slide" Target="slides/slide45.xml"/><Relationship Id="rId146" Type="http://schemas.openxmlformats.org/officeDocument/2006/relationships/slide" Target="slides/slide46.xml"/><Relationship Id="rId147" Type="http://schemas.openxmlformats.org/officeDocument/2006/relationships/slide" Target="slides/slide47.xml"/><Relationship Id="rId148" Type="http://schemas.openxmlformats.org/officeDocument/2006/relationships/slide" Target="slides/slide48.xml"/><Relationship Id="rId149" Type="http://schemas.openxmlformats.org/officeDocument/2006/relationships/slide" Target="slides/slide49.xml"/><Relationship Id="rId150" Type="http://schemas.openxmlformats.org/officeDocument/2006/relationships/slide" Target="slides/slide50.xml"/><Relationship Id="rId151" Type="http://schemas.openxmlformats.org/officeDocument/2006/relationships/slide" Target="slides/slide51.xml"/><Relationship Id="rId152" Type="http://schemas.openxmlformats.org/officeDocument/2006/relationships/slide" Target="slides/slide52.xml"/><Relationship Id="rId153" Type="http://schemas.openxmlformats.org/officeDocument/2006/relationships/slide" Target="slides/slide53.xml"/><Relationship Id="rId154" Type="http://schemas.openxmlformats.org/officeDocument/2006/relationships/slide" Target="slides/slide54.xml"/><Relationship Id="rId155" Type="http://schemas.openxmlformats.org/officeDocument/2006/relationships/slide" Target="slides/slide55.xml"/><Relationship Id="rId156" Type="http://schemas.openxmlformats.org/officeDocument/2006/relationships/slide" Target="slides/slide56.xml"/><Relationship Id="rId157" Type="http://schemas.openxmlformats.org/officeDocument/2006/relationships/slide" Target="slides/slide57.xml"/><Relationship Id="rId158" Type="http://schemas.openxmlformats.org/officeDocument/2006/relationships/slide" Target="slides/slide58.xml"/><Relationship Id="rId159" Type="http://schemas.openxmlformats.org/officeDocument/2006/relationships/slide" Target="slides/slide59.xml"/><Relationship Id="rId160" Type="http://schemas.openxmlformats.org/officeDocument/2006/relationships/slide" Target="slides/slide60.xml"/><Relationship Id="rId161" Type="http://schemas.openxmlformats.org/officeDocument/2006/relationships/slide" Target="slides/slide61.xml"/><Relationship Id="rId162" Type="http://schemas.openxmlformats.org/officeDocument/2006/relationships/slide" Target="slides/slide62.xml"/><Relationship Id="rId163" Type="http://schemas.openxmlformats.org/officeDocument/2006/relationships/slide" Target="slides/slide63.xml"/><Relationship Id="rId164" Type="http://schemas.openxmlformats.org/officeDocument/2006/relationships/slide" Target="slides/slide64.xml"/><Relationship Id="rId165" Type="http://schemas.openxmlformats.org/officeDocument/2006/relationships/slide" Target="slides/slide65.xml"/><Relationship Id="rId166" Type="http://schemas.openxmlformats.org/officeDocument/2006/relationships/slide" Target="slides/slide66.xml"/><Relationship Id="rId167" Type="http://schemas.openxmlformats.org/officeDocument/2006/relationships/slide" Target="slides/slide67.xml"/><Relationship Id="rId168" Type="http://schemas.openxmlformats.org/officeDocument/2006/relationships/slide" Target="slides/slide68.xml"/><Relationship Id="rId169" Type="http://schemas.openxmlformats.org/officeDocument/2006/relationships/slide" Target="slides/slide69.xml"/><Relationship Id="rId170" Type="http://schemas.openxmlformats.org/officeDocument/2006/relationships/slide" Target="slides/slide70.xml"/><Relationship Id="rId171" Type="http://schemas.openxmlformats.org/officeDocument/2006/relationships/slide" Target="slides/slide71.xml"/><Relationship Id="rId172" Type="http://schemas.openxmlformats.org/officeDocument/2006/relationships/slide" Target="slides/slide72.xml"/><Relationship Id="rId173" Type="http://schemas.openxmlformats.org/officeDocument/2006/relationships/slide" Target="slides/slide73.xml"/><Relationship Id="rId174" Type="http://schemas.openxmlformats.org/officeDocument/2006/relationships/slide" Target="slides/slide74.xml"/><Relationship Id="rId175" Type="http://schemas.openxmlformats.org/officeDocument/2006/relationships/slide" Target="slides/slide75.xml"/><Relationship Id="rId176" Type="http://schemas.openxmlformats.org/officeDocument/2006/relationships/slide" Target="slides/slide76.xml"/><Relationship Id="rId177" Type="http://schemas.openxmlformats.org/officeDocument/2006/relationships/slide" Target="slides/slide77.xml"/><Relationship Id="rId178" Type="http://schemas.openxmlformats.org/officeDocument/2006/relationships/slide" Target="slides/slide78.xml"/><Relationship Id="rId179" Type="http://schemas.openxmlformats.org/officeDocument/2006/relationships/slide" Target="slides/slide79.xml"/><Relationship Id="rId180" Type="http://schemas.openxmlformats.org/officeDocument/2006/relationships/slide" Target="slides/slide80.xml"/><Relationship Id="rId181" Type="http://schemas.openxmlformats.org/officeDocument/2006/relationships/slide" Target="slides/slide81.xml"/><Relationship Id="rId182" Type="http://schemas.openxmlformats.org/officeDocument/2006/relationships/slide" Target="slides/slide82.xml"/><Relationship Id="rId183" Type="http://schemas.openxmlformats.org/officeDocument/2006/relationships/slide" Target="slides/slide83.xml"/><Relationship Id="rId184" Type="http://schemas.openxmlformats.org/officeDocument/2006/relationships/slide" Target="slides/slide84.xml"/><Relationship Id="rId185" Type="http://schemas.openxmlformats.org/officeDocument/2006/relationships/slide" Target="slides/slide85.xml"/><Relationship Id="rId186" Type="http://schemas.openxmlformats.org/officeDocument/2006/relationships/slide" Target="slides/slide86.xml"/><Relationship Id="rId187" Type="http://schemas.openxmlformats.org/officeDocument/2006/relationships/slide" Target="slides/slide87.xml"/><Relationship Id="rId188" Type="http://schemas.openxmlformats.org/officeDocument/2006/relationships/slide" Target="slides/slide88.xml"/><Relationship Id="rId189" Type="http://schemas.openxmlformats.org/officeDocument/2006/relationships/slide" Target="slides/slide89.xml"/><Relationship Id="rId190" Type="http://schemas.openxmlformats.org/officeDocument/2006/relationships/slide" Target="slides/slide90.xml"/><Relationship Id="rId191" Type="http://schemas.openxmlformats.org/officeDocument/2006/relationships/slide" Target="slides/slide91.xml"/><Relationship Id="rId192" Type="http://schemas.openxmlformats.org/officeDocument/2006/relationships/slide" Target="slides/slide92.xml"/><Relationship Id="rId193" Type="http://schemas.openxmlformats.org/officeDocument/2006/relationships/slide" Target="slides/slide93.xml"/><Relationship Id="rId194" Type="http://schemas.openxmlformats.org/officeDocument/2006/relationships/slide" Target="slides/slide94.xml"/><Relationship Id="rId195" Type="http://schemas.openxmlformats.org/officeDocument/2006/relationships/slide" Target="slides/slide95.xml"/><Relationship Id="rId196" Type="http://schemas.openxmlformats.org/officeDocument/2006/relationships/slide" Target="slides/slide96.xml"/><Relationship Id="rId197" Type="http://schemas.openxmlformats.org/officeDocument/2006/relationships/slide" Target="slides/slide97.xml"/><Relationship Id="rId198" Type="http://schemas.openxmlformats.org/officeDocument/2006/relationships/slide" Target="slides/slide98.xml"/><Relationship Id="rId199" Type="http://schemas.openxmlformats.org/officeDocument/2006/relationships/slide" Target="slides/slide99.xml"/><Relationship Id="rId200" Type="http://schemas.openxmlformats.org/officeDocument/2006/relationships/slide" Target="slides/slide100.xml"/><Relationship Id="rId2" Type="http://schemas.openxmlformats.org/officeDocument/2006/relationships/notesMaster" Target="notesMasters/notes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CCA8EA-268C-9240-A93C-AAC79D8999C8}" type="datetimeFigureOut">
              <a:rPr lang="en-US" smtClean="0"/>
              <a:t>7/26/2026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5C05A5-7321-AF4F-BADD-6247ABA70E9B}" type="slidenum">
              <a:rPr lang="en-US" smtClean="0"/>
              <a:t>‹#›</a:t>
            </a:fld>
            <a:endParaRPr lang="en-US"/>
          </a:p>
        </p:txBody>
      </p:sp>
    </p:spTree>
    <p:extLst>
      <p:ext uri="{BB962C8B-B14F-4D97-AF65-F5344CB8AC3E}">
        <p14:creationId xmlns:p14="http://schemas.microsoft.com/office/powerpoint/2010/main" val="2579992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PL06: Pengurusan Operasi Pembinaan Landskap</a:t>
            </a:r>
          </a:p>
          <a:p>
            <a:r>
              <a:rPr lang="en-MY" dirty="0"/>
              <a:t>Topik 3 Bahagian 2: Komponen Landskap</a:t>
            </a:r>
          </a:p>
          <a:p>
            <a:r>
              <a:rPr lang="en-MY" dirty="0"/>
              <a:t>Klik butang “Mula” untuk memulakan pembelajaran.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Pengenalan — senario tapak</a:t>
            </a:r>
          </a:p>
          <a:p>
            <a:endParaRPr lang="en-MY" dirty="0"/>
          </a:p>
          <a:p>
            <a:r>
              <a:rPr lang="en-MY" dirty="0"/>
              <a:t>SPOKEN TRANSCRIPT</a:t>
            </a:r>
          </a:p>
          <a:p>
            <a:endParaRPr lang="en-MY" dirty="0"/>
          </a:p>
          <a:p>
            <a:r>
              <a:rPr lang="en-MY" dirty="0"/>
              <a:t>Alya: Encik Rahman, lepas kerja tanaman, seterusnya struktur taman dan perabot taman. Saya nak sahkan skop sebelum susun jadual.</a:t>
            </a:r>
          </a:p>
          <a:p>
            <a:r>
              <a:rPr lang="en-MY" dirty="0"/>
              <a:t>Encik Rahman: Apa yang kamu faham setakat ini?</a:t>
            </a:r>
          </a:p>
          <a:p>
            <a:r>
              <a:rPr lang="en-MY" dirty="0"/>
              <a:t>Alya: Untuk struktur taman, binaan tetap macam gazebo, dek kayu, boardwalk. Perabot taman pula, kelengkapan macam kerusi, papan tanda, tong sampah. Semuanya ada fungsi, reka bentuk dan spesifikasi bahan tersendiri.</a:t>
            </a:r>
          </a:p>
          <a:p>
            <a:r>
              <a:rPr lang="en-MY" dirty="0"/>
              <a:t>Encik Rahman: Betul. Sebab itulah spesifikasi setiap komponen perlu disemak dahulu sebelum jadual kerja disusun.</a:t>
            </a:r>
          </a:p>
          <a:p>
            <a:r>
              <a:rPr lang="en-MY" dirty="0"/>
              <a:t>Alya: Faham. Saya semak spesifikasi setiap item sebelum mula kerja.</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Pengenalan — gambaran keseluruhan</a:t>
            </a:r>
          </a:p>
          <a:p>
            <a:endParaRPr lang="en-MY" dirty="0"/>
          </a:p>
          <a:p>
            <a:r>
              <a:rPr lang="en-MY" dirty="0"/>
              <a:t>SPOKEN TRANSCRIPT</a:t>
            </a:r>
          </a:p>
          <a:p>
            <a:endParaRPr lang="en-MY" dirty="0"/>
          </a:p>
          <a:p>
            <a:r>
              <a:rPr lang="en-MY" dirty="0"/>
              <a:t>Hilmi: Seperti yang dilihat di halaman sebelum ini, adalah penting untuk anda memahami tentang struktur taman dan perabot taman yang menjadi sebahagian daripada kerja pembinaan landskap luar. Anda akan mempelajari tentang struktur taman, termasuk struktur persisir air, struktur teduhan, kemudahan awam, dan water feature, serta perabot taman, termasuk kerusi taman, papan tanda, tong sampah, drinking fountain, dan BBQ pit.</a:t>
            </a:r>
          </a:p>
          <a:p>
            <a:r>
              <a:rPr lang="en-MY" dirty="0"/>
              <a:t>Jika anda ditugaskan memasang kerusi taman di tepi tasik, apakah jenis bahan yang anda akan pilih, dan mengapa?</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a:t>
            </a:r>
          </a:p>
          <a:p>
            <a:endParaRPr lang="en-MY" dirty="0"/>
          </a:p>
          <a:p>
            <a:r>
              <a:rPr lang="en-MY" dirty="0"/>
              <a:t>SPOKEN TRANSCRIPT</a:t>
            </a:r>
          </a:p>
          <a:p>
            <a:endParaRPr lang="en-MY" dirty="0"/>
          </a:p>
          <a:p>
            <a:r>
              <a:rPr lang="en-MY" dirty="0"/>
              <a:t>Struktur taman membina fungsi dan estetika landskap merangkumi pelbagai jenis binaan yang mengintegrasikan reka bentuk seni bina dengan landskap semula jadi. Setiap struktur mempunyai tujuan tersendiri, sama ada untuk akses, rekreasi, perlindungan, atau sebagai elemen visual utama. Terdapat empat jenis struktur taman: Struktur Persisir Air, Struktur Teduhan, Kemudahan Awam, dan </a:t>
            </a:r>
            <a:r>
              <a:rPr lang="en-MY" i="1" dirty="0"/>
              <a:t>Water Feature</a:t>
            </a:r>
            <a:r>
              <a:rPr lang="en-MY" dirty="0"/>
              <a:t>.</a:t>
            </a:r>
          </a:p>
          <a:p>
            <a:r>
              <a:rPr lang="en-MY" dirty="0"/>
              <a:t>Klik pada setiap struktur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endParaRPr lang="en-MY" dirty="0"/>
          </a:p>
          <a:p>
            <a:r>
              <a:rPr lang="en-MY" dirty="0"/>
              <a:t>SPOKEN TRANSCRIPT</a:t>
            </a:r>
          </a:p>
          <a:p>
            <a:endParaRPr lang="en-MY" dirty="0"/>
          </a:p>
          <a:p>
            <a:r>
              <a:rPr lang="en-MY" dirty="0"/>
              <a:t>Struktur persisir air direka untuk meningkatkan akses dan pengalaman pengguna di tepi badan air seperti tasik, sungai, atau pantai. Ia memerlukan kepakaran dalam pembinaan di persekitaran yang lembap dan berpotensi hakisan. Pembinaannya memerlukan asas yang sangat stabil dan rata, dengan sistem saliran permukaan yang berkesan untuk mengelakkan genangan air. Pemilihan bahan permukaan bergantung pada fungsi utama ruang tersebut. Asas pembinaannya: Asas stabil dan rata, dengan sistem saliran permukaan berkesan untuk mengelakkan genangan air; Pemilihan bahan permukaan bergantung pada fungsi utama. Mari lihat contoh bagi Struktur Persisir Air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r>
              <a:rPr lang="en-MY" dirty="0"/>
              <a:t>Contoh — arahan interaksi</a:t>
            </a:r>
          </a:p>
          <a:p>
            <a:endParaRPr lang="en-MY" dirty="0"/>
          </a:p>
          <a:p>
            <a:r>
              <a:rPr lang="en-MY" dirty="0"/>
              <a:t>SPOKEN TRANSCRIPT</a:t>
            </a:r>
          </a:p>
          <a:p>
            <a:endParaRPr lang="en-MY" dirty="0"/>
          </a:p>
          <a:p>
            <a:r>
              <a:rPr lang="en-MY" dirty="0"/>
              <a:t>Klik pada setiap contoh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r>
              <a:rPr lang="en-MY" dirty="0"/>
              <a:t>Contoh: </a:t>
            </a:r>
            <a:r>
              <a:rPr lang="en-MY" i="1" dirty="0"/>
              <a:t>Promenade</a:t>
            </a:r>
          </a:p>
          <a:p>
            <a:endParaRPr lang="en-MY" dirty="0"/>
          </a:p>
          <a:p>
            <a:r>
              <a:rPr lang="en-MY" dirty="0"/>
              <a:t>SPOKEN TRANSCRIPT</a:t>
            </a:r>
          </a:p>
          <a:p>
            <a:endParaRPr lang="en-MY" dirty="0"/>
          </a:p>
          <a:p>
            <a:r>
              <a:rPr lang="en-MY" i="1" dirty="0"/>
              <a:t>Promenade</a:t>
            </a:r>
            <a:r>
              <a:rPr lang="en-MY" dirty="0"/>
              <a:t> ialah laluan lebar di sepanjang pinggir air, selesa untuk berjalan dan bersantai. Contohnya </a:t>
            </a:r>
            <a:r>
              <a:rPr lang="en-MY" i="1" dirty="0"/>
              <a:t>Promenade</a:t>
            </a:r>
            <a:r>
              <a:rPr lang="en-MY" dirty="0"/>
              <a:t> Tasik Titiwangsa di Kuala Lumpur.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r>
              <a:rPr lang="en-MY" dirty="0"/>
              <a:t>Contoh: Jeti</a:t>
            </a:r>
          </a:p>
          <a:p>
            <a:endParaRPr lang="en-MY" dirty="0"/>
          </a:p>
          <a:p>
            <a:r>
              <a:rPr lang="en-MY" dirty="0"/>
              <a:t>SPOKEN TRANSCRIPT</a:t>
            </a:r>
          </a:p>
          <a:p>
            <a:endParaRPr lang="en-MY" dirty="0"/>
          </a:p>
          <a:p>
            <a:r>
              <a:rPr lang="en-MY" dirty="0"/>
              <a:t>Jeti ialah platform atau pelantar panjang untuk akses ke air, dan sering digunakan untuk bot. Contohnya Jeti Lumut di Perak.</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r>
              <a:rPr lang="en-MY" dirty="0"/>
              <a:t>Contoh: Dek Kayu</a:t>
            </a:r>
          </a:p>
          <a:p>
            <a:endParaRPr lang="en-MY" dirty="0"/>
          </a:p>
          <a:p>
            <a:r>
              <a:rPr lang="en-MY" dirty="0"/>
              <a:t>SPOKEN TRANSCRIPT</a:t>
            </a:r>
          </a:p>
          <a:p>
            <a:endParaRPr lang="en-MY" dirty="0"/>
          </a:p>
          <a:p>
            <a:r>
              <a:rPr lang="en-MY" dirty="0"/>
              <a:t>Dek kayu ialah ruang kayu terbuka di atas atau berhampiran air, untuk rehat dan menikmati pemandangan. Contohnya Wetland Park Putrajaya.</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r>
              <a:rPr lang="en-MY" dirty="0"/>
              <a:t>Contoh: </a:t>
            </a:r>
            <a:r>
              <a:rPr lang="en-MY" i="1" dirty="0"/>
              <a:t>Boardwalk</a:t>
            </a:r>
          </a:p>
          <a:p>
            <a:endParaRPr lang="en-MY" dirty="0"/>
          </a:p>
          <a:p>
            <a:r>
              <a:rPr lang="en-MY" dirty="0"/>
              <a:t>SPOKEN TRANSCRIPT</a:t>
            </a:r>
          </a:p>
          <a:p>
            <a:endParaRPr lang="en-MY" dirty="0"/>
          </a:p>
          <a:p>
            <a:r>
              <a:rPr lang="en-MY" i="1" dirty="0"/>
              <a:t>Boardwalk</a:t>
            </a:r>
            <a:r>
              <a:rPr lang="en-MY" dirty="0"/>
              <a:t> ialah laluan kayu di atas tanah berpaya atau basah. Ia mesra alam dan mengekalkan visual semula jadi. Contohnya </a:t>
            </a:r>
            <a:r>
              <a:rPr lang="en-MY" i="1" dirty="0"/>
              <a:t>Boardwalk</a:t>
            </a:r>
            <a:r>
              <a:rPr lang="en-MY" dirty="0"/>
              <a:t> Paya Indah Wetlands.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Persisir Air</a:t>
            </a:r>
          </a:p>
          <a:p>
            <a:r>
              <a:rPr lang="en-MY" dirty="0"/>
              <a:t>Contoh: </a:t>
            </a:r>
            <a:r>
              <a:rPr lang="en-MY" i="1" dirty="0"/>
              <a:t>Footbridge</a:t>
            </a:r>
          </a:p>
          <a:p>
            <a:endParaRPr lang="en-MY" dirty="0"/>
          </a:p>
          <a:p>
            <a:r>
              <a:rPr lang="en-MY" dirty="0"/>
              <a:t>SPOKEN TRANSCRIPT</a:t>
            </a:r>
          </a:p>
          <a:p>
            <a:endParaRPr lang="en-MY" dirty="0"/>
          </a:p>
          <a:p>
            <a:r>
              <a:rPr lang="en-MY" i="1" dirty="0"/>
              <a:t>Footbridge</a:t>
            </a:r>
            <a:r>
              <a:rPr lang="en-MY" dirty="0"/>
              <a:t> ialah jambatan kecil untuk laluan pejalan kaki melintasi aliran air atau longkang besar. Contohnya </a:t>
            </a:r>
            <a:r>
              <a:rPr lang="en-MY" i="1" dirty="0"/>
              <a:t>Footbridge</a:t>
            </a:r>
            <a:r>
              <a:rPr lang="en-MY" dirty="0"/>
              <a:t> Taman Botani Perdana.</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Teduhan</a:t>
            </a:r>
          </a:p>
          <a:p>
            <a:endParaRPr lang="en-MY" dirty="0"/>
          </a:p>
          <a:p>
            <a:r>
              <a:rPr lang="en-MY" dirty="0"/>
              <a:t>SPOKEN TRANSCRIPT</a:t>
            </a:r>
          </a:p>
          <a:p>
            <a:endParaRPr lang="en-MY" dirty="0"/>
          </a:p>
          <a:p>
            <a:r>
              <a:rPr lang="en-MY" dirty="0"/>
              <a:t>Struktur teduhan direka untuk memberikan perlindungan daripada matahari dan hujan, dan mewujudkan ruang yang selesa untuk bersantai atau berinteraksi. Mari lihat contoh bagi Struktur Teduhan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Teduhan</a:t>
            </a:r>
          </a:p>
          <a:p>
            <a:r>
              <a:rPr lang="en-MY" dirty="0"/>
              <a:t>Contoh — arahan interaksi</a:t>
            </a:r>
          </a:p>
          <a:p>
            <a:endParaRPr lang="en-MY" dirty="0"/>
          </a:p>
          <a:p>
            <a:r>
              <a:rPr lang="en-MY" dirty="0"/>
              <a:t>SPOKEN TRANSCRIPT</a:t>
            </a:r>
          </a:p>
          <a:p>
            <a:endParaRPr lang="en-MY" dirty="0"/>
          </a:p>
          <a:p>
            <a:r>
              <a:rPr lang="en-MY" dirty="0"/>
              <a:t>Klik pada setiap contoh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Teduhan</a:t>
            </a:r>
          </a:p>
          <a:p>
            <a:r>
              <a:rPr lang="en-MY" dirty="0"/>
              <a:t>Contoh: Gazebo</a:t>
            </a:r>
          </a:p>
          <a:p>
            <a:endParaRPr lang="en-MY" dirty="0"/>
          </a:p>
          <a:p>
            <a:r>
              <a:rPr lang="en-MY" dirty="0"/>
              <a:t>SPOKEN TRANSCRIPT</a:t>
            </a:r>
          </a:p>
          <a:p>
            <a:endParaRPr lang="en-MY" dirty="0"/>
          </a:p>
          <a:p>
            <a:r>
              <a:rPr lang="en-MY" dirty="0"/>
              <a:t>Gazebo ialah struktur berbumbung terbuka untuk bersantai atau menikmati pemandangan. Contohnya di Taman Tasik Shah Alam.</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Teduhan</a:t>
            </a:r>
          </a:p>
          <a:p>
            <a:r>
              <a:rPr lang="en-MY" dirty="0"/>
              <a:t>Contoh: Wakaf</a:t>
            </a:r>
          </a:p>
          <a:p>
            <a:endParaRPr lang="en-MY" dirty="0"/>
          </a:p>
          <a:p>
            <a:r>
              <a:rPr lang="en-MY" dirty="0"/>
              <a:t>SPOKEN TRANSCRIPT</a:t>
            </a:r>
          </a:p>
          <a:p>
            <a:endParaRPr lang="en-MY" dirty="0"/>
          </a:p>
          <a:p>
            <a:r>
              <a:rPr lang="en-MY" dirty="0"/>
              <a:t>Wakaf ialah struktur tradisional Melayu yang digunakan sebagai tempat berehat. Contohnya wakaf di Taman Desa, Kuala Lumpur.</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Teduhan</a:t>
            </a:r>
          </a:p>
          <a:p>
            <a:r>
              <a:rPr lang="en-MY" dirty="0"/>
              <a:t>Contoh: Pergola</a:t>
            </a:r>
          </a:p>
          <a:p>
            <a:endParaRPr lang="en-MY" dirty="0"/>
          </a:p>
          <a:p>
            <a:r>
              <a:rPr lang="en-MY" dirty="0"/>
              <a:t>SPOKEN TRANSCRIPT</a:t>
            </a:r>
          </a:p>
          <a:p>
            <a:endParaRPr lang="en-MY" dirty="0"/>
          </a:p>
          <a:p>
            <a:r>
              <a:rPr lang="en-MY" dirty="0"/>
              <a:t>Pergola ialah rangka struktur terbuka yang biasanya ditumbuhi tanaman pemanjat seperti bougainvillea. Contohnya pergola di Laman Herba Putrajaya.</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Teduhan</a:t>
            </a:r>
          </a:p>
          <a:p>
            <a:r>
              <a:rPr lang="en-MY" dirty="0"/>
              <a:t>Contoh: Canopy</a:t>
            </a:r>
          </a:p>
          <a:p>
            <a:endParaRPr lang="en-MY" dirty="0"/>
          </a:p>
          <a:p>
            <a:r>
              <a:rPr lang="en-MY" dirty="0"/>
              <a:t>SPOKEN TRANSCRIPT</a:t>
            </a:r>
          </a:p>
          <a:p>
            <a:endParaRPr lang="en-MY" dirty="0"/>
          </a:p>
          <a:p>
            <a:r>
              <a:rPr lang="en-MY" dirty="0"/>
              <a:t>Canopy ialah struktur kain atau polikarbonat ringan untuk meneduhi kawasan aktiviti. Contohnya canopy rekreasi di Taman Jaya.</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Struktur Teduhan</a:t>
            </a:r>
          </a:p>
          <a:p>
            <a:r>
              <a:rPr lang="en-MY" dirty="0"/>
              <a:t>Contoh: Struktur Teduhan Moden</a:t>
            </a:r>
          </a:p>
          <a:p>
            <a:endParaRPr lang="en-MY" dirty="0"/>
          </a:p>
          <a:p>
            <a:r>
              <a:rPr lang="en-MY" dirty="0"/>
              <a:t>SPOKEN TRANSCRIPT</a:t>
            </a:r>
          </a:p>
          <a:p>
            <a:endParaRPr lang="en-MY" dirty="0"/>
          </a:p>
          <a:p>
            <a:r>
              <a:rPr lang="en-MY" dirty="0"/>
              <a:t>Struktur teduhan moden mempunyai reka bentuk kontemporari. Ia menggunakan bahan seperti keluli dan panel lutsinar atau berlubang untuk mencipta corak cahaya dan bayangan. Ia banyak digunakan di kawasan awam di Putrajaya.</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Kemudahan Awam</a:t>
            </a:r>
          </a:p>
          <a:p>
            <a:endParaRPr lang="en-MY" dirty="0"/>
          </a:p>
          <a:p>
            <a:r>
              <a:rPr lang="en-MY" dirty="0"/>
              <a:t>SPOKEN TRANSCRIPT</a:t>
            </a:r>
          </a:p>
          <a:p>
            <a:endParaRPr lang="en-MY" dirty="0"/>
          </a:p>
          <a:p>
            <a:r>
              <a:rPr lang="en-MY" dirty="0"/>
              <a:t>Kemudahan awam ialah bangunan atau struktur yang menyediakan perkhidmatan asas untuk keselesaan dan pendidikan pengguna taman. Ia memerlukan reka bentuk yang berfungsi, tahan lasak, dan mudah diselenggara. Aksesibiliti untuk orang kurang upaya adalah pertimbangan penting, dan bahan yang digunakan harus tahan vandalisme dan cuaca. Mari lihat contoh bagi Kemudahan Awam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Kemudahan Awam</a:t>
            </a:r>
          </a:p>
          <a:p>
            <a:r>
              <a:rPr lang="en-MY" dirty="0"/>
              <a:t>Contoh — arahan interaksi</a:t>
            </a:r>
          </a:p>
          <a:p>
            <a:endParaRPr lang="en-MY" dirty="0"/>
          </a:p>
          <a:p>
            <a:r>
              <a:rPr lang="en-MY" dirty="0"/>
              <a:t>SPOKEN TRANSCRIPT</a:t>
            </a:r>
          </a:p>
          <a:p>
            <a:endParaRPr lang="en-MY" dirty="0"/>
          </a:p>
          <a:p>
            <a:r>
              <a:rPr lang="en-MY" dirty="0"/>
              <a:t>Klik pada setiap contoh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Kemudahan Awam</a:t>
            </a:r>
          </a:p>
          <a:p>
            <a:r>
              <a:rPr lang="en-MY" dirty="0"/>
              <a:t>Contoh: Tandas Awam</a:t>
            </a:r>
          </a:p>
          <a:p>
            <a:endParaRPr lang="en-MY" dirty="0"/>
          </a:p>
          <a:p>
            <a:r>
              <a:rPr lang="en-MY" dirty="0"/>
              <a:t>SPOKEN TRANSCRIPT</a:t>
            </a:r>
          </a:p>
          <a:p>
            <a:endParaRPr lang="en-MY" dirty="0"/>
          </a:p>
          <a:p>
            <a:r>
              <a:rPr lang="en-MY" dirty="0"/>
              <a:t>Tandas awam ialah kemudahan sanitasi yang bersih dan boleh diakses. Pembinaannya perlu mematuhi piawaian kebersihan dan mempunyai sistem bekalan air serta saliran yang cekap.</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Kemudahan Awam</a:t>
            </a:r>
          </a:p>
          <a:p>
            <a:r>
              <a:rPr lang="en-MY" dirty="0"/>
              <a:t>Contoh: Surau</a:t>
            </a:r>
          </a:p>
          <a:p>
            <a:endParaRPr lang="en-MY" dirty="0"/>
          </a:p>
          <a:p>
            <a:r>
              <a:rPr lang="en-MY" dirty="0"/>
              <a:t>SPOKEN TRANSCRIPT</a:t>
            </a:r>
          </a:p>
          <a:p>
            <a:endParaRPr lang="en-MY" dirty="0"/>
          </a:p>
          <a:p>
            <a:r>
              <a:rPr lang="en-MY" dirty="0"/>
              <a:t>Surau ialah ruang ibadah yang disediakan untuk umat Islam menunaikan solat. Reka bentuknya biasanya ringkas tetapi memenuhi keperluan keagamaan.</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Kemudahan Awam</a:t>
            </a:r>
          </a:p>
          <a:p>
            <a:r>
              <a:rPr lang="en-MY" dirty="0"/>
              <a:t>Contoh: Bangunan Interpretatif</a:t>
            </a:r>
          </a:p>
          <a:p>
            <a:endParaRPr lang="en-MY" dirty="0"/>
          </a:p>
          <a:p>
            <a:r>
              <a:rPr lang="en-MY" dirty="0"/>
              <a:t>SPOKEN TRANSCRIPT</a:t>
            </a:r>
          </a:p>
          <a:p>
            <a:endParaRPr lang="en-MY" dirty="0"/>
          </a:p>
          <a:p>
            <a:r>
              <a:rPr lang="en-MY" dirty="0"/>
              <a:t>Bangunan interpretatif ialah struktur yang menyediakan maklumat pendidikan tentang persekitaran — flora, fauna, sejarah dan geologi — melalui pameran, paparan, atau papan tanda.</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a:t>
            </a:r>
            <a:r>
              <a:rPr lang="en-MY" i="1" dirty="0"/>
              <a:t>Water Feature</a:t>
            </a:r>
          </a:p>
          <a:p>
            <a:endParaRPr lang="en-MY" dirty="0"/>
          </a:p>
          <a:p>
            <a:r>
              <a:rPr lang="en-MY" dirty="0"/>
              <a:t>SPOKEN TRANSCRIPT</a:t>
            </a:r>
          </a:p>
          <a:p>
            <a:endParaRPr lang="en-MY" dirty="0"/>
          </a:p>
          <a:p>
            <a:r>
              <a:rPr lang="en-MY" dirty="0"/>
              <a:t>Ciri air ialah elemen landskap yang menggunakan air untuk tujuan estetika, bunyi, atau sebagai titik tumpuan. Pembinaannya memerlukan sistem paip, pam air, penapisan, dan sistem saliran yang betul. Kawalan kualiti air, termasuk pencegahan alga, adalah penting. Aspek keselamatan seperti kedalaman dan permukaan yang tidak licin juga perlu diambil kira. Mari lihat contoh bagi </a:t>
            </a:r>
            <a:r>
              <a:rPr lang="en-MY" i="1" dirty="0"/>
              <a:t>Water Feature</a:t>
            </a:r>
            <a:r>
              <a:rPr lang="en-MY" dirty="0"/>
              <a:t>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a:t>
            </a:r>
            <a:r>
              <a:rPr lang="en-MY" i="1" dirty="0"/>
              <a:t>Water Feature</a:t>
            </a:r>
          </a:p>
          <a:p>
            <a:r>
              <a:rPr lang="en-MY" dirty="0"/>
              <a:t>Contoh — arahan interaksi</a:t>
            </a:r>
          </a:p>
          <a:p>
            <a:endParaRPr lang="en-MY" dirty="0"/>
          </a:p>
          <a:p>
            <a:r>
              <a:rPr lang="en-MY" dirty="0"/>
              <a:t>SPOKEN TRANSCRIPT</a:t>
            </a:r>
          </a:p>
          <a:p>
            <a:endParaRPr lang="en-MY" dirty="0"/>
          </a:p>
          <a:p>
            <a:r>
              <a:rPr lang="en-MY" dirty="0"/>
              <a:t>Klik pada setiap contoh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a:t>
            </a:r>
            <a:r>
              <a:rPr lang="en-MY" i="1" dirty="0"/>
              <a:t>Water Feature</a:t>
            </a:r>
          </a:p>
          <a:p>
            <a:r>
              <a:rPr lang="en-MY" dirty="0"/>
              <a:t>Contoh: Air Pancut (Fountain)</a:t>
            </a:r>
          </a:p>
          <a:p>
            <a:endParaRPr lang="en-MY" dirty="0"/>
          </a:p>
          <a:p>
            <a:r>
              <a:rPr lang="en-MY" dirty="0"/>
              <a:t>SPOKEN TRANSCRIPT</a:t>
            </a:r>
          </a:p>
          <a:p>
            <a:endParaRPr lang="en-MY" dirty="0"/>
          </a:p>
          <a:p>
            <a:r>
              <a:rPr lang="en-MY" dirty="0"/>
              <a:t>Air pancut ialah struktur yang mengeluarkan air dalam corak tertentu. Ia mewujudkan bunyi yang menenangkan dan pergerakan visual.</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a:t>
            </a:r>
            <a:r>
              <a:rPr lang="en-MY" i="1" dirty="0"/>
              <a:t>Water Feature</a:t>
            </a:r>
          </a:p>
          <a:p>
            <a:r>
              <a:rPr lang="en-MY" dirty="0"/>
              <a:t>Contoh: Kolam (Pond)</a:t>
            </a:r>
          </a:p>
          <a:p>
            <a:endParaRPr lang="en-MY" dirty="0"/>
          </a:p>
          <a:p>
            <a:r>
              <a:rPr lang="en-MY" dirty="0"/>
              <a:t>SPOKEN TRANSCRIPT</a:t>
            </a:r>
          </a:p>
          <a:p>
            <a:endParaRPr lang="en-MY" dirty="0"/>
          </a:p>
          <a:p>
            <a:r>
              <a:rPr lang="en-MY" dirty="0"/>
              <a:t>Kolam ialah kawasan air statik atau perlahan. Ia boleh menjadi kolam hiasan, kolam ikan, atau kolam refleksi.</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Struktur Taman — </a:t>
            </a:r>
            <a:r>
              <a:rPr lang="en-MY" i="1" dirty="0"/>
              <a:t>Water Feature</a:t>
            </a:r>
          </a:p>
          <a:p>
            <a:r>
              <a:rPr lang="en-MY" dirty="0"/>
              <a:t>Contoh: Kolam Renang / Kolam Hiasan Besar (Pool)</a:t>
            </a:r>
          </a:p>
          <a:p>
            <a:endParaRPr lang="en-MY" dirty="0"/>
          </a:p>
          <a:p>
            <a:r>
              <a:rPr lang="en-MY" dirty="0"/>
              <a:t>SPOKEN TRANSCRIPT</a:t>
            </a:r>
          </a:p>
          <a:p>
            <a:endParaRPr lang="en-MY" dirty="0"/>
          </a:p>
          <a:p>
            <a:r>
              <a:rPr lang="en-MY" dirty="0"/>
              <a:t>Kolam renang atau kolam hiasan besar ialah kolam berskala lebih besar, sama ada untuk berenang atau sebagai kolam hiasan dengan ciri-ciri reka bentuk yang kompleks.</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a:t>
            </a:r>
          </a:p>
          <a:p>
            <a:endParaRPr lang="en-MY" dirty="0"/>
          </a:p>
          <a:p>
            <a:r>
              <a:rPr lang="en-MY" dirty="0"/>
              <a:t>SPOKEN TRANSCRIPT</a:t>
            </a:r>
          </a:p>
          <a:p>
            <a:endParaRPr lang="en-MY" dirty="0"/>
          </a:p>
          <a:p>
            <a:r>
              <a:rPr lang="en-MY" dirty="0"/>
              <a:t>Perabot taman merujuk kepada elemen-elemen boleh alih atau kekal yang ditempatkan di ruang landskap untuk meningkatkan fungsi, keselesaan, dan estetika. Ini melibatkan pemahaman tentang bahan, ketahanan, ergonomik, dan kesesuaian reka bentuk dengan tema keseluruhan landskap. Terdapat lima jenis perabot taman: Kerusi Taman, Papan Tanda, Tong Sampah, </a:t>
            </a:r>
            <a:r>
              <a:rPr lang="en-MY" i="1" dirty="0"/>
              <a:t>Drinking Fountain</a:t>
            </a:r>
            <a:r>
              <a:rPr lang="en-MY" dirty="0"/>
              <a:t>, dan </a:t>
            </a:r>
            <a:r>
              <a:rPr lang="en-MY" i="1" dirty="0"/>
              <a:t>BBQ Pit</a:t>
            </a:r>
            <a:r>
              <a:rPr lang="en-MY" dirty="0"/>
              <a:t>.</a:t>
            </a:r>
          </a:p>
          <a:p>
            <a:r>
              <a:rPr lang="en-MY" dirty="0"/>
              <a:t>Mari lihat setiap contoh perabot di halaman seterusnya.</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endParaRPr lang="en-MY" dirty="0"/>
          </a:p>
          <a:p>
            <a:r>
              <a:rPr lang="en-MY" dirty="0"/>
              <a:t>SPOKEN TRANSCRIPT</a:t>
            </a:r>
          </a:p>
          <a:p>
            <a:endParaRPr lang="en-MY" dirty="0"/>
          </a:p>
          <a:p>
            <a:r>
              <a:rPr lang="en-MY" dirty="0"/>
              <a:t>Kerusi taman menyediakan tempat duduk untuk pengguna berehat dan menikmati persekitaran. Ia merupakan elemen asas untuk keselesaan di mana-mana ruang awam atau peribadi. Pemilihan kerusi yang betul mengambil kira faktor seperti keselesaan, ketahanan terhadap cuaca, dan estetika yang sepadan dengan gaya landskap. Pemasangan mungkin melibatkan penetapan ke tanah untuk mengelakkan kecurian atau pergerakan.</a:t>
            </a:r>
          </a:p>
          <a:p>
            <a:r>
              <a:rPr lang="en-MY" dirty="0"/>
              <a:t>Klik pada setiap contoh untuk melihat perincian.</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Kayu Keras</a:t>
            </a:r>
          </a:p>
          <a:p>
            <a:endParaRPr lang="en-MY" dirty="0"/>
          </a:p>
          <a:p>
            <a:r>
              <a:rPr lang="en-MY" dirty="0"/>
              <a:t>SPOKEN TRANSCRIPT</a:t>
            </a:r>
          </a:p>
          <a:p>
            <a:endParaRPr lang="en-MY" dirty="0"/>
          </a:p>
          <a:p>
            <a:r>
              <a:rPr lang="en-MY" dirty="0"/>
              <a:t>Klik pada setiap spesifikasi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Kayu Keras</a:t>
            </a:r>
          </a:p>
          <a:p>
            <a:r>
              <a:rPr lang="en-MY" dirty="0"/>
              <a:t>Spesifikasi: Bahan</a:t>
            </a:r>
          </a:p>
          <a:p>
            <a:endParaRPr lang="en-MY" dirty="0"/>
          </a:p>
          <a:p>
            <a:r>
              <a:rPr lang="en-MY" dirty="0"/>
              <a:t>SPOKEN TRANSCRIPT</a:t>
            </a:r>
          </a:p>
          <a:p>
            <a:endParaRPr lang="en-MY" dirty="0"/>
          </a:p>
          <a:p>
            <a:r>
              <a:rPr lang="en-MY" dirty="0"/>
              <a:t>Bahan. Kayu padu gred perabot luar dengan ketahanan semula jadi tinggi terhadap serangga dan reput, atau kayu dirawat tekanan (pressure-treated).</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Kayu Keras</a:t>
            </a:r>
          </a:p>
          <a:p>
            <a:r>
              <a:rPr lang="en-MY" dirty="0"/>
              <a:t>Spesifikasi: Dimensi</a:t>
            </a:r>
          </a:p>
          <a:p>
            <a:endParaRPr lang="en-MY" dirty="0"/>
          </a:p>
          <a:p>
            <a:r>
              <a:rPr lang="en-MY" dirty="0"/>
              <a:t>SPOKEN TRANSCRIPT</a:t>
            </a:r>
          </a:p>
          <a:p>
            <a:endParaRPr lang="en-MY" dirty="0"/>
          </a:p>
          <a:p>
            <a:r>
              <a:rPr lang="en-MY" dirty="0"/>
              <a:t>Dimensi. Ketebalan minimum komponen utama 25mm–50mm.</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Kayu Keras</a:t>
            </a:r>
          </a:p>
          <a:p>
            <a:r>
              <a:rPr lang="en-MY" dirty="0"/>
              <a:t>Spesifikasi: Penyambungan</a:t>
            </a:r>
          </a:p>
          <a:p>
            <a:endParaRPr lang="en-MY" dirty="0"/>
          </a:p>
          <a:p>
            <a:r>
              <a:rPr lang="en-MY" dirty="0"/>
              <a:t>SPOKEN TRANSCRIPT</a:t>
            </a:r>
          </a:p>
          <a:p>
            <a:endParaRPr lang="en-MY" dirty="0"/>
          </a:p>
          <a:p>
            <a:r>
              <a:rPr lang="en-MY" dirty="0"/>
              <a:t>Penyambungan. Skru tahan karat (stainless steel), bolt, atau tanggam kayu (mortise and tenon joints).</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Kayu Keras</a:t>
            </a:r>
          </a:p>
          <a:p>
            <a:r>
              <a:rPr lang="en-MY" dirty="0"/>
              <a:t>Spesifikasi: Kemasan</a:t>
            </a:r>
          </a:p>
          <a:p>
            <a:endParaRPr lang="en-MY" dirty="0"/>
          </a:p>
          <a:p>
            <a:r>
              <a:rPr lang="en-MY" dirty="0"/>
              <a:t>SPOKEN TRANSCRIPT</a:t>
            </a:r>
          </a:p>
          <a:p>
            <a:endParaRPr lang="en-MY" dirty="0"/>
          </a:p>
          <a:p>
            <a:r>
              <a:rPr lang="en-MY" dirty="0"/>
              <a:t>Kemasan. Sealant luaran, minyak kayu, atau varnis tahan UV dan kelembapan.</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Konkrit</a:t>
            </a:r>
          </a:p>
          <a:p>
            <a:endParaRPr lang="en-MY" dirty="0"/>
          </a:p>
          <a:p>
            <a:r>
              <a:rPr lang="en-MY" dirty="0"/>
              <a:t>SPOKEN TRANSCRIPT</a:t>
            </a:r>
          </a:p>
          <a:p>
            <a:endParaRPr lang="en-MY" dirty="0"/>
          </a:p>
          <a:p>
            <a:r>
              <a:rPr lang="en-MY" dirty="0"/>
              <a:t>Klik pada setiap spesifikasi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Konkrit</a:t>
            </a:r>
          </a:p>
          <a:p>
            <a:r>
              <a:rPr lang="en-MY" dirty="0"/>
              <a:t>Spesifikasi: Bahan</a:t>
            </a:r>
          </a:p>
          <a:p>
            <a:endParaRPr lang="en-MY" dirty="0"/>
          </a:p>
          <a:p>
            <a:r>
              <a:rPr lang="en-MY" dirty="0"/>
              <a:t>SPOKEN TRANSCRIPT</a:t>
            </a:r>
          </a:p>
          <a:p>
            <a:endParaRPr lang="en-MY" dirty="0"/>
          </a:p>
          <a:p>
            <a:r>
              <a:rPr lang="en-MY" dirty="0"/>
              <a:t>Bahan. Konkrit bertetulang gentian (FRC) atau konkrit pratuang (precast concrete). Pembesaran (expansion joints) mungkin diperlukan bagi mengelak keretakan akibat perubahan suhu.</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Konkrit</a:t>
            </a:r>
          </a:p>
          <a:p>
            <a:r>
              <a:rPr lang="en-MY" dirty="0"/>
              <a:t>Spesifikasi: Kemasan</a:t>
            </a:r>
          </a:p>
          <a:p>
            <a:endParaRPr lang="en-MY" dirty="0"/>
          </a:p>
          <a:p>
            <a:r>
              <a:rPr lang="en-MY" dirty="0"/>
              <a:t>SPOKEN TRANSCRIPT</a:t>
            </a:r>
          </a:p>
          <a:p>
            <a:endParaRPr lang="en-MY" dirty="0"/>
          </a:p>
          <a:p>
            <a:r>
              <a:rPr lang="en-MY" dirty="0"/>
              <a:t>Kemasan. Boleh dibiarkan asli, digilap, dicat, atau bertekstur (exposed aggregate). Permukaan mesti licin, tanpa tepi tajam.</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Komposit</a:t>
            </a:r>
          </a:p>
          <a:p>
            <a:endParaRPr lang="en-MY" dirty="0"/>
          </a:p>
          <a:p>
            <a:r>
              <a:rPr lang="en-MY" dirty="0"/>
              <a:t>SPOKEN TRANSCRIPT</a:t>
            </a:r>
          </a:p>
          <a:p>
            <a:endParaRPr lang="en-MY" dirty="0"/>
          </a:p>
          <a:p>
            <a:r>
              <a:rPr lang="en-MY" dirty="0"/>
              <a:t>Klik pada setiap spesifikasi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Komposit</a:t>
            </a:r>
          </a:p>
          <a:p>
            <a:r>
              <a:rPr lang="en-MY" dirty="0"/>
              <a:t>Spesifikasi: Bahan</a:t>
            </a:r>
          </a:p>
          <a:p>
            <a:endParaRPr lang="en-MY" dirty="0"/>
          </a:p>
          <a:p>
            <a:r>
              <a:rPr lang="en-MY" dirty="0"/>
              <a:t>SPOKEN TRANSCRIPT</a:t>
            </a:r>
          </a:p>
          <a:p>
            <a:endParaRPr lang="en-MY" dirty="0"/>
          </a:p>
          <a:p>
            <a:r>
              <a:rPr lang="en-MY" dirty="0"/>
              <a:t>Bahan. Papan atau profil daripada campuran gentian kayu/selulosa dan plastik kitar semula. Tahan UV, kalis air, tidak reput, kalis serangga.</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Kerusi Taman</a:t>
            </a:r>
          </a:p>
          <a:p>
            <a:r>
              <a:rPr lang="en-MY" dirty="0"/>
              <a:t>Contoh: Kerusi Komposit</a:t>
            </a:r>
          </a:p>
          <a:p>
            <a:r>
              <a:rPr lang="en-MY" dirty="0"/>
              <a:t>Spesifikasi: Kemasan</a:t>
            </a:r>
          </a:p>
          <a:p>
            <a:endParaRPr lang="en-MY" dirty="0"/>
          </a:p>
          <a:p>
            <a:r>
              <a:rPr lang="en-MY" dirty="0"/>
              <a:t>SPOKEN TRANSCRIPT</a:t>
            </a:r>
          </a:p>
          <a:p>
            <a:endParaRPr lang="en-MY" dirty="0"/>
          </a:p>
          <a:p>
            <a:r>
              <a:rPr lang="en-MY" dirty="0"/>
              <a:t>Kemasan. Warna disepadukan dalam bahan; tidak memerlukan cat atau varnis. Tekstur permukaan mungkin meniru urat kayu.</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Papan Tanda</a:t>
            </a:r>
          </a:p>
          <a:p>
            <a:endParaRPr lang="en-MY" dirty="0"/>
          </a:p>
          <a:p>
            <a:r>
              <a:rPr lang="en-MY" dirty="0"/>
              <a:t>SPOKEN TRANSCRIPT</a:t>
            </a:r>
          </a:p>
          <a:p>
            <a:endParaRPr lang="en-MY" dirty="0"/>
          </a:p>
          <a:p>
            <a:r>
              <a:rPr lang="en-MY" dirty="0"/>
              <a:t>Klik pada setiap kategori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Papan Tanda</a:t>
            </a:r>
          </a:p>
          <a:p>
            <a:r>
              <a:rPr lang="en-MY" dirty="0"/>
              <a:t>Spesifikasi: Bahan Panel</a:t>
            </a:r>
          </a:p>
          <a:p>
            <a:endParaRPr lang="en-MY" dirty="0"/>
          </a:p>
          <a:p>
            <a:r>
              <a:rPr lang="en-MY" dirty="0"/>
              <a:t>SPOKEN TRANSCRIPT</a:t>
            </a:r>
          </a:p>
          <a:p>
            <a:endParaRPr lang="en-MY" dirty="0"/>
          </a:p>
          <a:p>
            <a:r>
              <a:rPr lang="en-MY" dirty="0"/>
              <a:t>Bahan Panel. Aluminium Komposit (ACP) 3–4mm; HPL gred luar 6–10mm; Akrilik terstabil UV 5–10mm; Kayu dirawat tekanan/kayu keras min. 20mm.</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Papan Tanda</a:t>
            </a:r>
          </a:p>
          <a:p>
            <a:r>
              <a:rPr lang="en-MY" dirty="0"/>
              <a:t>Spesifikasi: Bahan Struktur/Tiang</a:t>
            </a:r>
          </a:p>
          <a:p>
            <a:endParaRPr lang="en-MY" dirty="0"/>
          </a:p>
          <a:p>
            <a:r>
              <a:rPr lang="en-MY" dirty="0"/>
              <a:t>SPOKEN TRANSCRIPT</a:t>
            </a:r>
          </a:p>
          <a:p>
            <a:endParaRPr lang="en-MY" dirty="0"/>
          </a:p>
          <a:p>
            <a:r>
              <a:rPr lang="en-MY" dirty="0"/>
              <a:t>Bahan Struktur/Tiang. Keluli bersalut serbuk atau tahan karat, profil 50mm × 50mm ke atas; kayu keras min. 75mm × 75mm.</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Papan Tanda</a:t>
            </a:r>
          </a:p>
          <a:p>
            <a:r>
              <a:rPr lang="en-MY" dirty="0"/>
              <a:t>Spesifikasi: Grafik</a:t>
            </a:r>
          </a:p>
          <a:p>
            <a:endParaRPr lang="en-MY" dirty="0"/>
          </a:p>
          <a:p>
            <a:r>
              <a:rPr lang="en-MY" dirty="0"/>
              <a:t>SPOKEN TRANSCRIPT</a:t>
            </a:r>
          </a:p>
          <a:p>
            <a:endParaRPr lang="en-MY" dirty="0"/>
          </a:p>
          <a:p>
            <a:r>
              <a:rPr lang="en-MY" dirty="0"/>
              <a:t>Grafik. Cetakan UV langsung, cetakan digital pada vinil gred luar, atau ukiran laser. Mesti tahan pudar.</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Papan Tanda</a:t>
            </a:r>
          </a:p>
          <a:p>
            <a:r>
              <a:rPr lang="en-MY" dirty="0"/>
              <a:t>Spesifikasi: Rekaan</a:t>
            </a:r>
          </a:p>
          <a:p>
            <a:endParaRPr lang="en-MY" dirty="0"/>
          </a:p>
          <a:p>
            <a:r>
              <a:rPr lang="en-MY" dirty="0"/>
              <a:t>SPOKEN TRANSCRIPT</a:t>
            </a:r>
          </a:p>
          <a:p>
            <a:endParaRPr lang="en-MY" dirty="0"/>
          </a:p>
          <a:p>
            <a:r>
              <a:rPr lang="en-MY" dirty="0"/>
              <a:t>Rekaan. Font jelas, saiz teks sesuai jarak pandang, kontras warna tinggi.</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endParaRPr lang="en-MY" dirty="0"/>
          </a:p>
          <a:p>
            <a:r>
              <a:rPr lang="en-MY" dirty="0"/>
              <a:t>SPOKEN TRANSCRIPT</a:t>
            </a:r>
          </a:p>
          <a:p>
            <a:endParaRPr lang="en-MY" dirty="0"/>
          </a:p>
          <a:p>
            <a:r>
              <a:rPr lang="en-MY" dirty="0"/>
              <a:t>Tong sampah ialah kemudahan asas untuk pengurusan sisa dan menjaga kebersihan ruang landskap. Tong sampah harus mencukupi dari segi bilangan dan diletakkan di lokasi yang mudah diakses. Reka bentuknya perlu tahan lama, mudah dikosongkan, dan dapat menghalang haiwan daripada mengusik sampah. Sesetengah tong sampah direka untuk pengasingan sisa kitar semula.</a:t>
            </a:r>
          </a:p>
          <a:p>
            <a:r>
              <a:rPr lang="en-MY" dirty="0"/>
              <a:t>Klik pada setiap contoh untuk melihat perincian.</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Logam</a:t>
            </a:r>
          </a:p>
          <a:p>
            <a:endParaRPr lang="en-MY" dirty="0"/>
          </a:p>
          <a:p>
            <a:r>
              <a:rPr lang="en-MY" dirty="0"/>
              <a:t>SPOKEN TRANSCRIPT</a:t>
            </a:r>
          </a:p>
          <a:p>
            <a:endParaRPr lang="en-MY" dirty="0"/>
          </a:p>
          <a:p>
            <a:r>
              <a:rPr lang="en-MY" dirty="0"/>
              <a:t>Klik pada setiap spesifikasi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Logam</a:t>
            </a:r>
          </a:p>
          <a:p>
            <a:r>
              <a:rPr lang="en-MY" dirty="0"/>
              <a:t>Spesifikasi: Bahan</a:t>
            </a:r>
          </a:p>
          <a:p>
            <a:endParaRPr lang="en-MY" dirty="0"/>
          </a:p>
          <a:p>
            <a:r>
              <a:rPr lang="en-MY" dirty="0"/>
              <a:t>SPOKEN TRANSCRIPT</a:t>
            </a:r>
          </a:p>
          <a:p>
            <a:endParaRPr lang="en-MY" dirty="0"/>
          </a:p>
          <a:p>
            <a:r>
              <a:rPr lang="en-MY" dirty="0"/>
              <a:t>Bahan. Keluli lembut digalvani dan disalut serbuk, atau keluli tahan karat. Ketebalan dinding badan min. 1.2mm.</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Logam</a:t>
            </a:r>
          </a:p>
          <a:p>
            <a:r>
              <a:rPr lang="en-MY" dirty="0"/>
              <a:t>Spesifikasi: Ciri-ciri</a:t>
            </a:r>
          </a:p>
          <a:p>
            <a:endParaRPr lang="en-MY" dirty="0"/>
          </a:p>
          <a:p>
            <a:r>
              <a:rPr lang="en-MY" dirty="0"/>
              <a:t>SPOKEN TRANSCRIPT</a:t>
            </a:r>
          </a:p>
          <a:p>
            <a:endParaRPr lang="en-MY" dirty="0"/>
          </a:p>
          <a:p>
            <a:r>
              <a:rPr lang="en-MY" dirty="0"/>
              <a:t>Ciri-ciri. Penutup tahan cuaca dan tahan haiwan; pembukaan pembuangan ergonomik; tong dalam (liner) mudah dikeluarkan.</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Konkrit/Batu</a:t>
            </a:r>
          </a:p>
          <a:p>
            <a:endParaRPr lang="en-MY" dirty="0"/>
          </a:p>
          <a:p>
            <a:r>
              <a:rPr lang="en-MY" dirty="0"/>
              <a:t>SPOKEN TRANSCRIPT</a:t>
            </a:r>
          </a:p>
          <a:p>
            <a:endParaRPr lang="en-MY" dirty="0"/>
          </a:p>
          <a:p>
            <a:r>
              <a:rPr lang="en-MY" dirty="0"/>
              <a:t>Klik pada setiap spesifikasi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Konkrit/Batu</a:t>
            </a:r>
          </a:p>
          <a:p>
            <a:r>
              <a:rPr lang="en-MY" dirty="0"/>
              <a:t>Spesifikasi: Bahan</a:t>
            </a:r>
          </a:p>
          <a:p>
            <a:endParaRPr lang="en-MY" dirty="0"/>
          </a:p>
          <a:p>
            <a:r>
              <a:rPr lang="en-MY" dirty="0"/>
              <a:t>SPOKEN TRANSCRIPT</a:t>
            </a:r>
          </a:p>
          <a:p>
            <a:endParaRPr lang="en-MY" dirty="0"/>
          </a:p>
          <a:p>
            <a:r>
              <a:rPr lang="en-MY" dirty="0"/>
              <a:t>Bahan. Konkrit bertetulang atau batu asli/tiruan. Berat mencukupi bagi mengelak kecurian atau pergerakan tidak disengajakan.</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Konkrit/Batu</a:t>
            </a:r>
          </a:p>
          <a:p>
            <a:r>
              <a:rPr lang="en-MY" dirty="0"/>
              <a:t>Spesifikasi: Ciri-ciri</a:t>
            </a:r>
          </a:p>
          <a:p>
            <a:endParaRPr lang="en-MY" dirty="0"/>
          </a:p>
          <a:p>
            <a:r>
              <a:rPr lang="en-MY" dirty="0"/>
              <a:t>SPOKEN TRANSCRIPT</a:t>
            </a:r>
          </a:p>
          <a:p>
            <a:endParaRPr lang="en-MY" dirty="0"/>
          </a:p>
          <a:p>
            <a:r>
              <a:rPr lang="en-MY" dirty="0"/>
              <a:t>Ciri-ciri. Pembukaan sesuai untuk sampah, dengan atau tanpa tong dalam logam.</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Plastik Kitar Semula (HDPE)</a:t>
            </a:r>
          </a:p>
          <a:p>
            <a:endParaRPr lang="en-MY" dirty="0"/>
          </a:p>
          <a:p>
            <a:r>
              <a:rPr lang="en-MY" dirty="0"/>
              <a:t>SPOKEN TRANSCRIPT</a:t>
            </a:r>
          </a:p>
          <a:p>
            <a:endParaRPr lang="en-MY" dirty="0"/>
          </a:p>
          <a:p>
            <a:r>
              <a:rPr lang="en-MY" dirty="0"/>
              <a:t>Klik pada setiap spesifikasi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Plastik Kitar Semula (HDPE)</a:t>
            </a:r>
          </a:p>
          <a:p>
            <a:r>
              <a:rPr lang="en-MY" dirty="0"/>
              <a:t>Spesifikasi: Bahan</a:t>
            </a:r>
          </a:p>
          <a:p>
            <a:endParaRPr lang="en-MY" dirty="0"/>
          </a:p>
          <a:p>
            <a:r>
              <a:rPr lang="en-MY" dirty="0"/>
              <a:t>SPOKEN TRANSCRIPT</a:t>
            </a:r>
          </a:p>
          <a:p>
            <a:endParaRPr lang="en-MY" dirty="0"/>
          </a:p>
          <a:p>
            <a:r>
              <a:rPr lang="en-MY" dirty="0"/>
              <a:t>Bahan. Plastik berketumpatan tinggi (HDPE) yang tahan UV, tidak reput dan mudah dibersihkan.</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Tong Sampah</a:t>
            </a:r>
          </a:p>
          <a:p>
            <a:r>
              <a:rPr lang="en-MY" dirty="0"/>
              <a:t>Contoh: Tong Sampah Plastik Kitar Semula (HDPE)</a:t>
            </a:r>
          </a:p>
          <a:p>
            <a:r>
              <a:rPr lang="en-MY" dirty="0"/>
              <a:t>Spesifikasi: Ciri-ciri</a:t>
            </a:r>
          </a:p>
          <a:p>
            <a:endParaRPr lang="en-MY" dirty="0"/>
          </a:p>
          <a:p>
            <a:r>
              <a:rPr lang="en-MY" dirty="0"/>
              <a:t>SPOKEN TRANSCRIPT</a:t>
            </a:r>
          </a:p>
          <a:p>
            <a:endParaRPr lang="en-MY" dirty="0"/>
          </a:p>
          <a:p>
            <a:r>
              <a:rPr lang="en-MY" dirty="0"/>
              <a:t>Ciri-ciri. Ringan, mudah dialihkan jika tidak dipasang tetap; pelbagai warna untuk pengasingan sisa.</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endParaRPr lang="en-MY" dirty="0"/>
          </a:p>
          <a:p>
            <a:r>
              <a:rPr lang="en-MY" dirty="0"/>
              <a:t>SPOKEN TRANSCRIPT</a:t>
            </a:r>
          </a:p>
          <a:p>
            <a:endParaRPr lang="en-MY" dirty="0"/>
          </a:p>
          <a:p>
            <a:r>
              <a:rPr lang="en-MY" dirty="0"/>
              <a:t>Pancutan air minum menyediakan akses mudah kepada air bersih untuk pengguna taman. Ia harus dibina dengan bahan yang bersih dan tahan lasak, serta memerlukan sambungan paip air yang bersih dan sistem saliran yang berkesan untuk air buangan. Ketinggian yang berbeza mungkin diperlukan untuk kanak-kanak dan orang dewasa, serta akses untuk kerusi roda.</a:t>
            </a:r>
          </a:p>
          <a:p>
            <a:r>
              <a:rPr lang="en-MY" dirty="0"/>
              <a:t>Klik pada setiap contoh untuk melihat perincian.</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Keluli Tahan Karat</a:t>
            </a:r>
          </a:p>
          <a:p>
            <a:endParaRPr lang="en-MY" dirty="0"/>
          </a:p>
          <a:p>
            <a:r>
              <a:rPr lang="en-MY" dirty="0"/>
              <a:t>SPOKEN TRANSCRIPT</a:t>
            </a:r>
          </a:p>
          <a:p>
            <a:endParaRPr lang="en-MY" dirty="0"/>
          </a:p>
          <a:p>
            <a:r>
              <a:rPr lang="en-MY" dirty="0"/>
              <a:t>Klik pada setiap spesifikasi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Keluli Tahan Karat</a:t>
            </a:r>
          </a:p>
          <a:p>
            <a:r>
              <a:rPr lang="en-MY" dirty="0"/>
              <a:t>Spesifikasi: Bahan</a:t>
            </a:r>
          </a:p>
          <a:p>
            <a:endParaRPr lang="en-MY" dirty="0"/>
          </a:p>
          <a:p>
            <a:r>
              <a:rPr lang="en-MY" dirty="0"/>
              <a:t>SPOKEN TRANSCRIPT</a:t>
            </a:r>
          </a:p>
          <a:p>
            <a:endParaRPr lang="en-MY" dirty="0"/>
          </a:p>
          <a:p>
            <a:r>
              <a:rPr lang="en-MY" dirty="0"/>
              <a:t>Bahan. Keluli tahan karat Gred 304 atau 316 (316 lebih tahan kakisan untuk persekitaran pantai). Tebal min. 1.5mm.</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Keluli Tahan Karat</a:t>
            </a:r>
          </a:p>
          <a:p>
            <a:r>
              <a:rPr lang="en-MY" dirty="0"/>
              <a:t>Spesifikasi: Injap</a:t>
            </a:r>
          </a:p>
          <a:p>
            <a:endParaRPr lang="en-MY" dirty="0"/>
          </a:p>
          <a:p>
            <a:r>
              <a:rPr lang="en-MY" dirty="0"/>
              <a:t>SPOKEN TRANSCRIPT</a:t>
            </a:r>
          </a:p>
          <a:p>
            <a:endParaRPr lang="en-MY" dirty="0"/>
          </a:p>
          <a:p>
            <a:r>
              <a:rPr lang="en-MY" dirty="0"/>
              <a:t>Injap. Injap tekan tahan lasak dan tahan vandalisme; mekanisme membersihkan diri satu kelebihan.</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Keluli Tahan Karat</a:t>
            </a:r>
          </a:p>
          <a:p>
            <a:r>
              <a:rPr lang="en-MY" dirty="0"/>
              <a:t>Spesifikasi: Kepala pancutan</a:t>
            </a:r>
          </a:p>
          <a:p>
            <a:endParaRPr lang="en-MY" dirty="0"/>
          </a:p>
          <a:p>
            <a:r>
              <a:rPr lang="en-MY" dirty="0"/>
              <a:t>SPOKEN TRANSCRIPT</a:t>
            </a:r>
          </a:p>
          <a:p>
            <a:endParaRPr lang="en-MY" dirty="0"/>
          </a:p>
          <a:p>
            <a:r>
              <a:rPr lang="en-MY" dirty="0"/>
              <a:t>Kepala pancutan. Aliran stabil dan bersih, dilindungi daripada sentuhan mulut pengguna.</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Keluli Tahan Karat</a:t>
            </a:r>
          </a:p>
          <a:p>
            <a:r>
              <a:rPr lang="en-MY" dirty="0"/>
              <a:t>Spesifikasi: Penapisan (pilihan)</a:t>
            </a:r>
          </a:p>
          <a:p>
            <a:endParaRPr lang="en-MY" dirty="0"/>
          </a:p>
          <a:p>
            <a:r>
              <a:rPr lang="en-MY" dirty="0"/>
              <a:t>SPOKEN TRANSCRIPT</a:t>
            </a:r>
          </a:p>
          <a:p>
            <a:endParaRPr lang="en-MY" dirty="0"/>
          </a:p>
          <a:p>
            <a:r>
              <a:rPr lang="en-MY" dirty="0"/>
              <a:t>Penapisan (pilihan). Penapis karbon atau sedimen.</a:t>
            </a:r>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Keluli Tahan Karat</a:t>
            </a:r>
          </a:p>
          <a:p>
            <a:r>
              <a:rPr lang="en-MY" dirty="0"/>
              <a:t>Spesifikasi: Perpaipan</a:t>
            </a:r>
          </a:p>
          <a:p>
            <a:endParaRPr lang="en-MY" dirty="0"/>
          </a:p>
          <a:p>
            <a:r>
              <a:rPr lang="en-MY" dirty="0"/>
              <a:t>SPOKEN TRANSCRIPT</a:t>
            </a:r>
          </a:p>
          <a:p>
            <a:endParaRPr lang="en-MY" dirty="0"/>
          </a:p>
          <a:p>
            <a:r>
              <a:rPr lang="en-MY" dirty="0"/>
              <a:t>Perpaipan. Air bersih (PVC atau HDPE) dan saliran air buangan yang cekap; injap tutup untuk penyelenggaraan.</a:t>
            </a:r>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Keluli Tahan Karat</a:t>
            </a:r>
          </a:p>
          <a:p>
            <a:r>
              <a:rPr lang="en-MY" dirty="0"/>
              <a:t>Spesifikasi: Aksesibiliti</a:t>
            </a:r>
          </a:p>
          <a:p>
            <a:endParaRPr lang="en-MY" dirty="0"/>
          </a:p>
          <a:p>
            <a:r>
              <a:rPr lang="en-MY" dirty="0"/>
              <a:t>SPOKEN TRANSCRIPT</a:t>
            </a:r>
          </a:p>
          <a:p>
            <a:endParaRPr lang="en-MY" dirty="0"/>
          </a:p>
          <a:p>
            <a:r>
              <a:rPr lang="en-MY" dirty="0"/>
              <a:t>Aksesibiliti. Mengikut piawaian reka bentuk universal.</a:t>
            </a:r>
          </a:p>
        </p:txBody>
      </p:sp>
      <p:sp>
        <p:nvSpPr>
          <p:cNvPr id="4" name="Slide Number Placeholder 3"/>
          <p:cNvSpPr>
            <a:spLocks noGrp="1"/>
          </p:cNvSpPr>
          <p:nvPr>
            <p:ph type="sldNum" sz="quarter" idx="5"/>
          </p:nvPr>
        </p:nvSpPr>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Konkrit/Batu</a:t>
            </a:r>
          </a:p>
          <a:p>
            <a:endParaRPr lang="en-MY" dirty="0"/>
          </a:p>
          <a:p>
            <a:r>
              <a:rPr lang="en-MY" dirty="0"/>
              <a:t>SPOKEN TRANSCRIPT</a:t>
            </a:r>
          </a:p>
          <a:p>
            <a:endParaRPr lang="en-MY" dirty="0"/>
          </a:p>
          <a:p>
            <a:r>
              <a:rPr lang="en-MY" dirty="0"/>
              <a:t>Klik pada setiap spesifikasi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Konkrit/Batu</a:t>
            </a:r>
          </a:p>
          <a:p>
            <a:r>
              <a:rPr lang="en-MY" dirty="0"/>
              <a:t>Spesifikasi: Bahan</a:t>
            </a:r>
          </a:p>
          <a:p>
            <a:endParaRPr lang="en-MY" dirty="0"/>
          </a:p>
          <a:p>
            <a:r>
              <a:rPr lang="en-MY" dirty="0"/>
              <a:t>SPOKEN TRANSCRIPT</a:t>
            </a:r>
          </a:p>
          <a:p>
            <a:endParaRPr lang="en-MY" dirty="0"/>
          </a:p>
          <a:p>
            <a:r>
              <a:rPr lang="en-MY" dirty="0"/>
              <a:t>Bahan. Struktur asas konkrit bertetulang atau batu asli/tiruan. Bahagian pancutan (faucet/basin) biasanya kekal keluli tahan karat untuk kebersihan.</a:t>
            </a:r>
          </a:p>
        </p:txBody>
      </p:sp>
      <p:sp>
        <p:nvSpPr>
          <p:cNvPr id="4" name="Slide Number Placeholder 3"/>
          <p:cNvSpPr>
            <a:spLocks noGrp="1"/>
          </p:cNvSpPr>
          <p:nvPr>
            <p:ph type="sldNum" sz="quarter" idx="5"/>
          </p:nvPr>
        </p:nvSpPr>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Drinking Fountain</a:t>
            </a:r>
          </a:p>
          <a:p>
            <a:r>
              <a:rPr lang="en-MY" dirty="0"/>
              <a:t>Contoh: Pancutan Air Minum Konkrit/Batu</a:t>
            </a:r>
          </a:p>
          <a:p>
            <a:r>
              <a:rPr lang="en-MY" dirty="0"/>
              <a:t>Spesifikasi: Piawaian kesihatan</a:t>
            </a:r>
          </a:p>
          <a:p>
            <a:endParaRPr lang="en-MY" dirty="0"/>
          </a:p>
          <a:p>
            <a:r>
              <a:rPr lang="en-MY" dirty="0"/>
              <a:t>SPOKEN TRANSCRIPT</a:t>
            </a:r>
          </a:p>
          <a:p>
            <a:endParaRPr lang="en-MY" dirty="0"/>
          </a:p>
          <a:p>
            <a:r>
              <a:rPr lang="en-MY" dirty="0"/>
              <a:t>Piawaian kesihatan. Mesti mematuhi piawaian kualiti air minuman Kementerian Kesihatan Malaysia atau badan berkaitan.</a:t>
            </a:r>
          </a:p>
        </p:txBody>
      </p:sp>
      <p:sp>
        <p:nvSpPr>
          <p:cNvPr id="4" name="Slide Number Placeholder 3"/>
          <p:cNvSpPr>
            <a:spLocks noGrp="1"/>
          </p:cNvSpPr>
          <p:nvPr>
            <p:ph type="sldNum" sz="quarter" idx="5"/>
          </p:nvPr>
        </p:nvSpPr>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BBQ Pit</a:t>
            </a:r>
          </a:p>
          <a:p>
            <a:endParaRPr lang="en-MY" dirty="0"/>
          </a:p>
          <a:p>
            <a:r>
              <a:rPr lang="en-MY" dirty="0"/>
              <a:t>SPOKEN TRANSCRIPT</a:t>
            </a:r>
          </a:p>
          <a:p>
            <a:endParaRPr lang="en-MY" dirty="0"/>
          </a:p>
          <a:p>
            <a:r>
              <a:rPr lang="en-MY" dirty="0"/>
              <a:t>Klik pada setiap kategori untuk penjelasan lanjut.</a:t>
            </a:r>
          </a:p>
        </p:txBody>
      </p:sp>
      <p:sp>
        <p:nvSpPr>
          <p:cNvPr id="4" name="Slide Number Placeholder 3"/>
          <p:cNvSpPr>
            <a:spLocks noGrp="1"/>
          </p:cNvSpPr>
          <p:nvPr>
            <p:ph type="sldNum" sz="quarter" idx="5"/>
          </p:nvPr>
        </p:nvSpPr>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BBQ Pit</a:t>
            </a:r>
          </a:p>
          <a:p>
            <a:r>
              <a:rPr lang="en-MY" dirty="0"/>
              <a:t>Spesifikasi: Bahan Pembinaan</a:t>
            </a:r>
          </a:p>
          <a:p>
            <a:endParaRPr lang="en-MY" dirty="0"/>
          </a:p>
          <a:p>
            <a:r>
              <a:rPr lang="en-MY" dirty="0"/>
              <a:t>SPOKEN TRANSCRIPT</a:t>
            </a:r>
          </a:p>
          <a:p>
            <a:endParaRPr lang="en-MY" dirty="0"/>
          </a:p>
          <a:p>
            <a:r>
              <a:rPr lang="en-MY" dirty="0"/>
              <a:t>Bahan Pembinaan. Dinding dalam ruang pembakaran daripada bata tahan api (firebrick) atau blok konkrit tahan suhu tinggi, dengan mortar tahan api; dinding luar bata biasa, blok konkrit atau batu; pelat kerja konkrit, jubin seramik tahan haba atau batu granit.</a:t>
            </a:r>
          </a:p>
        </p:txBody>
      </p:sp>
      <p:sp>
        <p:nvSpPr>
          <p:cNvPr id="4" name="Slide Number Placeholder 3"/>
          <p:cNvSpPr>
            <a:spLocks noGrp="1"/>
          </p:cNvSpPr>
          <p:nvPr>
            <p:ph type="sldNum" sz="quarter" idx="5"/>
          </p:nvPr>
        </p:nvSpPr>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BBQ Pit</a:t>
            </a:r>
          </a:p>
          <a:p>
            <a:r>
              <a:rPr lang="en-MY" dirty="0"/>
              <a:t>Spesifikasi: Dimensi</a:t>
            </a:r>
          </a:p>
          <a:p>
            <a:endParaRPr lang="en-MY" dirty="0"/>
          </a:p>
          <a:p>
            <a:r>
              <a:rPr lang="en-MY" dirty="0"/>
              <a:t>SPOKEN TRANSCRIPT</a:t>
            </a:r>
          </a:p>
          <a:p>
            <a:endParaRPr lang="en-MY" dirty="0"/>
          </a:p>
          <a:p>
            <a:r>
              <a:rPr lang="en-MY" dirty="0"/>
              <a:t>Dimensi. Ketinggian memanggang lazimnya 750–900mm dari aras tanah; saiz lubang api mengikut saiz gril.</a:t>
            </a:r>
          </a:p>
        </p:txBody>
      </p:sp>
      <p:sp>
        <p:nvSpPr>
          <p:cNvPr id="4" name="Slide Number Placeholder 3"/>
          <p:cNvSpPr>
            <a:spLocks noGrp="1"/>
          </p:cNvSpPr>
          <p:nvPr>
            <p:ph type="sldNum" sz="quarter" idx="5"/>
          </p:nvPr>
        </p:nvSpPr>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BBQ Pit</a:t>
            </a:r>
          </a:p>
          <a:p>
            <a:r>
              <a:rPr lang="en-MY" dirty="0"/>
              <a:t>Spesifikasi: Gril</a:t>
            </a:r>
          </a:p>
          <a:p>
            <a:endParaRPr lang="en-MY" dirty="0"/>
          </a:p>
          <a:p>
            <a:r>
              <a:rPr lang="en-MY" dirty="0"/>
              <a:t>SPOKEN TRANSCRIPT</a:t>
            </a:r>
          </a:p>
          <a:p>
            <a:endParaRPr lang="en-MY" dirty="0"/>
          </a:p>
          <a:p>
            <a:r>
              <a:rPr lang="en-MY" dirty="0"/>
              <a:t>Gril. Keluli tahan karat gred makanan atau besi tuang; tebal palang min. 6mm.</a:t>
            </a:r>
          </a:p>
        </p:txBody>
      </p:sp>
      <p:sp>
        <p:nvSpPr>
          <p:cNvPr id="4" name="Slide Number Placeholder 3"/>
          <p:cNvSpPr>
            <a:spLocks noGrp="1"/>
          </p:cNvSpPr>
          <p:nvPr>
            <p:ph type="sldNum" sz="quarter" idx="5"/>
          </p:nvPr>
        </p:nvSpPr>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Perabot Taman — </a:t>
            </a:r>
            <a:r>
              <a:rPr lang="en-MY" i="1" dirty="0"/>
              <a:t>BBQ Pit</a:t>
            </a:r>
          </a:p>
          <a:p>
            <a:r>
              <a:rPr lang="en-MY" dirty="0"/>
              <a:t>Spesifikasi: Keselamatan</a:t>
            </a:r>
          </a:p>
          <a:p>
            <a:endParaRPr lang="en-MY" dirty="0"/>
          </a:p>
          <a:p>
            <a:r>
              <a:rPr lang="en-MY" dirty="0"/>
              <a:t>SPOKEN TRANSCRIPT</a:t>
            </a:r>
          </a:p>
          <a:p>
            <a:endParaRPr lang="en-MY" dirty="0"/>
          </a:p>
          <a:p>
            <a:r>
              <a:rPr lang="en-MY" dirty="0"/>
              <a:t>Keselamatan. Pengudaraan di bawah ruang pembakaran; saliran air hujan; cerobong asap (pilihan); ruang persediaan bersebelahan; jarak selamat dari bahan mudah terbakar.</a:t>
            </a:r>
          </a:p>
        </p:txBody>
      </p:sp>
      <p:sp>
        <p:nvSpPr>
          <p:cNvPr id="4" name="Slide Number Placeholder 3"/>
          <p:cNvSpPr>
            <a:spLocks noGrp="1"/>
          </p:cNvSpPr>
          <p:nvPr>
            <p:ph type="sldNum" sz="quarter" idx="5"/>
          </p:nvPr>
        </p:nvSpPr>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Rumusan</a:t>
            </a:r>
          </a:p>
          <a:p>
            <a:endParaRPr lang="en-MY" dirty="0"/>
          </a:p>
          <a:p>
            <a:r>
              <a:rPr lang="en-MY" dirty="0"/>
              <a:t>SPOKEN TRANSCRIPT</a:t>
            </a:r>
          </a:p>
          <a:p>
            <a:endParaRPr lang="en-MY" dirty="0"/>
          </a:p>
          <a:p>
            <a:r>
              <a:rPr lang="en-MY" dirty="0"/>
              <a:t>Mengenal pasti struktur dan elemen landskap membolehkan kerja pembinaan, penyeliaan dan penyelenggaraan dirancang dengan tepat. Struktur taman merangkumi Struktur Persisir Air, Struktur Teduhan, Kemudahan Awam dan </a:t>
            </a:r>
            <a:r>
              <a:rPr lang="en-MY" i="1" dirty="0"/>
              <a:t>Water Feature</a:t>
            </a:r>
            <a:r>
              <a:rPr lang="en-MY" dirty="0"/>
              <a:t>, manakala perabot taman merangkumi Kerusi Taman, Papan Tanda, Tong Sampah, </a:t>
            </a:r>
            <a:r>
              <a:rPr lang="en-MY" i="1" dirty="0"/>
              <a:t>Drinking Fountain</a:t>
            </a:r>
            <a:r>
              <a:rPr lang="en-MY" dirty="0"/>
              <a:t> dan </a:t>
            </a:r>
            <a:r>
              <a:rPr lang="en-MY" i="1" dirty="0"/>
              <a:t>BBQ Pit</a:t>
            </a:r>
            <a:r>
              <a:rPr lang="en-MY" dirty="0"/>
              <a:t>. Dengan memahami komponen-komponen ini, kontraktor dapat merancang, melaksana dan menyelenggara setiap komponen landskap mengikut fungsinya di tapak.</a:t>
            </a:r>
          </a:p>
        </p:txBody>
      </p:sp>
      <p:sp>
        <p:nvSpPr>
          <p:cNvPr id="4" name="Slide Number Placeholder 3"/>
          <p:cNvSpPr>
            <a:spLocks noGrp="1"/>
          </p:cNvSpPr>
          <p:nvPr>
            <p:ph type="sldNum" sz="quarter" idx="5"/>
          </p:nvPr>
        </p:nvSpPr>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endParaRPr lang="en-MY" dirty="0"/>
          </a:p>
          <a:p>
            <a:r>
              <a:rPr lang="en-MY" dirty="0"/>
              <a:t>SPOKEN TRANSCRIPT</a:t>
            </a:r>
          </a:p>
          <a:p>
            <a:endParaRPr lang="en-MY" dirty="0"/>
          </a:p>
          <a:p>
            <a:r>
              <a:rPr lang="en-MY" dirty="0"/>
              <a:t>Jawab semua soalan dengan pilihan jawapan yang betul.</a:t>
            </a:r>
          </a:p>
          <a:p>
            <a:r>
              <a:rPr lang="en-MY" dirty="0"/>
              <a:t>Klik Mula Kuiz untuk memulakan kuiz.</a:t>
            </a:r>
          </a:p>
        </p:txBody>
      </p:sp>
      <p:sp>
        <p:nvSpPr>
          <p:cNvPr id="4" name="Slide Number Placeholder 3"/>
          <p:cNvSpPr>
            <a:spLocks noGrp="1"/>
          </p:cNvSpPr>
          <p:nvPr>
            <p:ph type="sldNum" sz="quarter" idx="5"/>
          </p:nvPr>
        </p:nvSpPr>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r>
              <a:rPr lang="en-MY" dirty="0"/>
              <a:t>Soalan 1</a:t>
            </a:r>
          </a:p>
          <a:p>
            <a:endParaRPr lang="en-MY" dirty="0"/>
          </a:p>
          <a:p>
            <a:r>
              <a:rPr lang="en-MY" dirty="0"/>
              <a:t>SPOKEN TRANSCRIPT</a:t>
            </a:r>
          </a:p>
          <a:p>
            <a:endParaRPr lang="en-MY" dirty="0"/>
          </a:p>
          <a:p>
            <a:r>
              <a:rPr lang="en-MY" dirty="0"/>
              <a:t>Struktur persisir air dibina di tepi badan air seperti tasik, sungai atau pantai. Apakah keperluan pembinaan yang paling kritikal bagi struktur ini?</a:t>
            </a:r>
          </a:p>
          <a:p>
            <a:r>
              <a:rPr lang="en-MY" dirty="0"/>
              <a:t>A. Warna permukaan yang menarik</a:t>
            </a:r>
          </a:p>
          <a:p>
            <a:r>
              <a:rPr lang="en-MY" dirty="0"/>
              <a:t>B. Asas yang stabil dan rata dengan saliran permukaan yang berkesan</a:t>
            </a:r>
          </a:p>
          <a:p>
            <a:r>
              <a:rPr lang="en-MY" dirty="0"/>
              <a:t>C. Ketinggian struktur melebihi dua meter</a:t>
            </a:r>
          </a:p>
          <a:p>
            <a:r>
              <a:rPr lang="en-MY" dirty="0"/>
              <a:t>D. Penggunaan bahan import</a:t>
            </a:r>
          </a:p>
          <a:p>
            <a:r>
              <a:rPr lang="en-MY" dirty="0"/>
              <a:t>Pilih satu jawapan.</a:t>
            </a:r>
          </a:p>
        </p:txBody>
      </p:sp>
      <p:sp>
        <p:nvSpPr>
          <p:cNvPr id="4" name="Slide Number Placeholder 3"/>
          <p:cNvSpPr>
            <a:spLocks noGrp="1"/>
          </p:cNvSpPr>
          <p:nvPr>
            <p:ph type="sldNum" sz="quarter" idx="5"/>
          </p:nvPr>
        </p:nvSpPr>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r>
              <a:rPr lang="en-MY" dirty="0"/>
              <a:t>Soalan 2</a:t>
            </a:r>
          </a:p>
          <a:p>
            <a:endParaRPr lang="en-MY" dirty="0"/>
          </a:p>
          <a:p>
            <a:r>
              <a:rPr lang="en-MY" dirty="0"/>
              <a:t>SPOKEN TRANSCRIPT</a:t>
            </a:r>
          </a:p>
          <a:p>
            <a:endParaRPr lang="en-MY" dirty="0"/>
          </a:p>
          <a:p>
            <a:r>
              <a:rPr lang="en-MY" dirty="0"/>
              <a:t>Manakah antara berikut merupakan struktur teduhan tradisional Melayu yang digunakan sebagai tempat berehat?</a:t>
            </a:r>
          </a:p>
          <a:p>
            <a:r>
              <a:rPr lang="en-MY" dirty="0"/>
              <a:t>A. Pergola</a:t>
            </a:r>
          </a:p>
          <a:p>
            <a:r>
              <a:rPr lang="en-MY" dirty="0"/>
              <a:t>B. Canopy</a:t>
            </a:r>
          </a:p>
          <a:p>
            <a:r>
              <a:rPr lang="en-MY" dirty="0"/>
              <a:t>C. Wakaf</a:t>
            </a:r>
          </a:p>
          <a:p>
            <a:r>
              <a:rPr lang="en-MY" dirty="0"/>
              <a:t>D. Gazebo</a:t>
            </a:r>
          </a:p>
          <a:p>
            <a:r>
              <a:rPr lang="en-MY" dirty="0"/>
              <a:t>Pilih satu jawapan.</a:t>
            </a:r>
          </a:p>
        </p:txBody>
      </p:sp>
      <p:sp>
        <p:nvSpPr>
          <p:cNvPr id="4" name="Slide Number Placeholder 3"/>
          <p:cNvSpPr>
            <a:spLocks noGrp="1"/>
          </p:cNvSpPr>
          <p:nvPr>
            <p:ph type="sldNum" sz="quarter" idx="5"/>
          </p:nvPr>
        </p:nvSpPr>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r>
              <a:rPr lang="en-MY" dirty="0"/>
              <a:t>Soalan 3</a:t>
            </a:r>
          </a:p>
          <a:p>
            <a:endParaRPr lang="en-MY" dirty="0"/>
          </a:p>
          <a:p>
            <a:r>
              <a:rPr lang="en-MY" dirty="0"/>
              <a:t>SPOKEN TRANSCRIPT</a:t>
            </a:r>
          </a:p>
          <a:p>
            <a:endParaRPr lang="en-MY" dirty="0"/>
          </a:p>
          <a:p>
            <a:r>
              <a:rPr lang="en-MY" dirty="0"/>
              <a:t>Apakah pertimbangan utama dalam pemilihan bahan bagi kemudahan awam seperti tandas dan surau di taman?</a:t>
            </a:r>
          </a:p>
          <a:p>
            <a:r>
              <a:rPr lang="en-MY" dirty="0"/>
              <a:t>A. Bahan yang tahan vandalisme dan cuaca</a:t>
            </a:r>
          </a:p>
          <a:p>
            <a:r>
              <a:rPr lang="en-MY" dirty="0"/>
              <a:t>B. Bahan yang paling murah di pasaran</a:t>
            </a:r>
          </a:p>
          <a:p>
            <a:r>
              <a:rPr lang="en-MY" dirty="0"/>
              <a:t>C. Bahan yang perlu dicat semula setiap bulan</a:t>
            </a:r>
          </a:p>
          <a:p>
            <a:r>
              <a:rPr lang="en-MY" dirty="0"/>
              <a:t>D. Bahan yang seragam dengan perabot taman</a:t>
            </a:r>
          </a:p>
          <a:p>
            <a:r>
              <a:rPr lang="en-MY" dirty="0"/>
              <a:t>Pilih satu jawapan.</a:t>
            </a:r>
          </a:p>
        </p:txBody>
      </p:sp>
      <p:sp>
        <p:nvSpPr>
          <p:cNvPr id="4" name="Slide Number Placeholder 3"/>
          <p:cNvSpPr>
            <a:spLocks noGrp="1"/>
          </p:cNvSpPr>
          <p:nvPr>
            <p:ph type="sldNum" sz="quarter" idx="5"/>
          </p:nvPr>
        </p:nvSpPr>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r>
              <a:rPr lang="en-MY" dirty="0"/>
              <a:t>Soalan 4</a:t>
            </a:r>
          </a:p>
          <a:p>
            <a:endParaRPr lang="en-MY" dirty="0"/>
          </a:p>
          <a:p>
            <a:r>
              <a:rPr lang="en-MY" dirty="0"/>
              <a:t>SPOKEN TRANSCRIPT</a:t>
            </a:r>
          </a:p>
          <a:p>
            <a:endParaRPr lang="en-MY" dirty="0"/>
          </a:p>
          <a:p>
            <a:r>
              <a:rPr lang="en-MY" dirty="0"/>
              <a:t>Dalam pembinaan water feature, apakah aspek kawalan kualiti air yang dinyatakan dalam modul?</a:t>
            </a:r>
          </a:p>
          <a:p>
            <a:r>
              <a:rPr lang="en-MY" dirty="0"/>
              <a:t>A. Penambahan garam</a:t>
            </a:r>
          </a:p>
          <a:p>
            <a:r>
              <a:rPr lang="en-MY" dirty="0"/>
              <a:t>B. Pencegahan alga</a:t>
            </a:r>
          </a:p>
          <a:p>
            <a:r>
              <a:rPr lang="en-MY" dirty="0"/>
              <a:t>C. Pemanasan air</a:t>
            </a:r>
          </a:p>
          <a:p>
            <a:r>
              <a:rPr lang="en-MY" dirty="0"/>
              <a:t>D. Pewarnaan air</a:t>
            </a:r>
          </a:p>
          <a:p>
            <a:r>
              <a:rPr lang="en-MY" dirty="0"/>
              <a:t>Pilih satu jawapan.</a:t>
            </a:r>
          </a:p>
        </p:txBody>
      </p:sp>
      <p:sp>
        <p:nvSpPr>
          <p:cNvPr id="4" name="Slide Number Placeholder 3"/>
          <p:cNvSpPr>
            <a:spLocks noGrp="1"/>
          </p:cNvSpPr>
          <p:nvPr>
            <p:ph type="sldNum" sz="quarter" idx="5"/>
          </p:nvPr>
        </p:nvSpPr>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r>
              <a:rPr lang="en-MY" dirty="0"/>
              <a:t>Soalan 5</a:t>
            </a:r>
          </a:p>
          <a:p>
            <a:endParaRPr lang="en-MY" dirty="0"/>
          </a:p>
          <a:p>
            <a:r>
              <a:rPr lang="en-MY" dirty="0"/>
              <a:t>SPOKEN TRANSCRIPT</a:t>
            </a:r>
          </a:p>
          <a:p>
            <a:endParaRPr lang="en-MY" dirty="0"/>
          </a:p>
          <a:p>
            <a:r>
              <a:rPr lang="en-MY" dirty="0"/>
              <a:t>Pilih SEMUA perabot yang tergolong dalam Perabot Taman.</a:t>
            </a:r>
          </a:p>
          <a:p>
            <a:r>
              <a:rPr lang="en-MY" dirty="0"/>
              <a:t>Kerusi Taman</a:t>
            </a:r>
          </a:p>
          <a:p>
            <a:r>
              <a:rPr lang="en-MY" dirty="0"/>
              <a:t>Papan Tanda</a:t>
            </a:r>
          </a:p>
          <a:p>
            <a:r>
              <a:rPr lang="en-MY" i="1" dirty="0"/>
              <a:t>Boardwalk</a:t>
            </a:r>
          </a:p>
          <a:p>
            <a:r>
              <a:rPr lang="en-MY" dirty="0"/>
              <a:t>Tong Sampah</a:t>
            </a:r>
          </a:p>
          <a:p>
            <a:r>
              <a:rPr lang="en-MY" i="1" dirty="0"/>
              <a:t>Drinking Fountain</a:t>
            </a:r>
          </a:p>
          <a:p>
            <a:r>
              <a:rPr lang="en-MY" i="1" dirty="0"/>
              <a:t>BBQ Pit</a:t>
            </a:r>
          </a:p>
          <a:p>
            <a:r>
              <a:rPr lang="en-MY" dirty="0"/>
              <a:t>Gazebo</a:t>
            </a:r>
          </a:p>
          <a:p>
            <a:r>
              <a:rPr lang="en-MY" dirty="0"/>
              <a:t>Pilih semua jawapan yang tepat.</a:t>
            </a:r>
          </a:p>
        </p:txBody>
      </p:sp>
      <p:sp>
        <p:nvSpPr>
          <p:cNvPr id="4" name="Slide Number Placeholder 3"/>
          <p:cNvSpPr>
            <a:spLocks noGrp="1"/>
          </p:cNvSpPr>
          <p:nvPr>
            <p:ph type="sldNum" sz="quarter" idx="5"/>
          </p:nvPr>
        </p:nvSpPr>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r>
              <a:rPr lang="en-MY" dirty="0"/>
              <a:t>Keputusan</a:t>
            </a:r>
          </a:p>
          <a:p>
            <a:endParaRPr lang="en-MY" dirty="0"/>
          </a:p>
          <a:p>
            <a:r>
              <a:rPr lang="en-MY" dirty="0"/>
              <a:t>SPOKEN TRANSCRIPT</a:t>
            </a:r>
          </a:p>
          <a:p>
            <a:endParaRPr lang="en-MY" dirty="0"/>
          </a:p>
          <a:p>
            <a:r>
              <a:rPr lang="en-MY" dirty="0"/>
              <a:t>Anda telah melengkapkan kuiz semakan pengetahuan. Anda boleh menyemak jawapan atau mengulang kuiz ini.</a:t>
            </a:r>
          </a:p>
        </p:txBody>
      </p:sp>
      <p:sp>
        <p:nvSpPr>
          <p:cNvPr id="4" name="Slide Number Placeholder 3"/>
          <p:cNvSpPr>
            <a:spLocks noGrp="1"/>
          </p:cNvSpPr>
          <p:nvPr>
            <p:ph type="sldNum" sz="quarter" idx="5"/>
          </p:nvPr>
        </p:nvSpPr>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Kuiz</a:t>
            </a:r>
          </a:p>
          <a:p>
            <a:r>
              <a:rPr lang="en-MY" dirty="0"/>
              <a:t>Semak Jawapan</a:t>
            </a:r>
          </a:p>
          <a:p>
            <a:endParaRPr lang="en-MY" dirty="0"/>
          </a:p>
          <a:p>
            <a:r>
              <a:rPr lang="en-MY" dirty="0"/>
              <a:t>SPOKEN TRANSCRIPT</a:t>
            </a:r>
          </a:p>
          <a:p>
            <a:endParaRPr lang="en-MY" dirty="0"/>
          </a:p>
        </p:txBody>
      </p:sp>
      <p:sp>
        <p:nvSpPr>
          <p:cNvPr id="4" name="Slide Number Placeholder 3"/>
          <p:cNvSpPr>
            <a:spLocks noGrp="1"/>
          </p:cNvSpPr>
          <p:nvPr>
            <p:ph type="sldNum" sz="quarter" idx="5"/>
          </p:nvPr>
        </p:nvSpPr>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MY" dirty="0"/>
              <a:t>NON-SPOKEN CONTEXT</a:t>
            </a:r>
          </a:p>
          <a:p>
            <a:endParaRPr lang="en-MY" dirty="0"/>
          </a:p>
          <a:p>
            <a:r>
              <a:rPr lang="en-MY" dirty="0"/>
              <a:t>PL06: Pengurusan Operasi Pembinaan Landskap</a:t>
            </a:r>
          </a:p>
          <a:p>
            <a:r>
              <a:rPr lang="en-MY" dirty="0"/>
              <a:t>Topik 3 Bahagian 2: Komponen Landskap</a:t>
            </a:r>
          </a:p>
          <a:p>
            <a:r>
              <a:rPr lang="en-MY" dirty="0"/>
              <a:t>Tamat</a:t>
            </a:r>
          </a:p>
          <a:p>
            <a:endParaRPr lang="en-MY" dirty="0"/>
          </a:p>
          <a:p>
            <a:r>
              <a:rPr lang="en-MY" dirty="0"/>
              <a:t>SPOKEN TRANSCRIPT</a:t>
            </a:r>
          </a:p>
          <a:p>
            <a:endParaRPr lang="en-MY" dirty="0"/>
          </a:p>
          <a:p>
            <a:r>
              <a:rPr lang="en-MY" dirty="0"/>
              <a:t>Tamat Topik 3 Bahagian 2: Komponen Landskap.</a:t>
            </a:r>
          </a:p>
          <a:p>
            <a:r>
              <a:rPr lang="en-MY" dirty="0"/>
              <a:t>Teruskan pembelajaran ke bahagian seterusnya.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3_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0357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5_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C3B2182B-4038-41C3-019B-38E13D6A2C11}"/>
              </a:ext>
            </a:extLst>
          </p:cNvPr>
          <p:cNvSpPr>
            <a:spLocks noGrp="1"/>
          </p:cNvSpPr>
          <p:nvPr>
            <p:ph type="pic" sz="quarter" idx="10"/>
          </p:nvPr>
        </p:nvSpPr>
        <p:spPr>
          <a:xfrm>
            <a:off x="4818997" y="591208"/>
            <a:ext cx="8787275" cy="5675584"/>
          </a:xfrm>
          <a:custGeom>
            <a:avLst/>
            <a:gdLst>
              <a:gd name="connsiteX0" fmla="*/ 0 w 8787275"/>
              <a:gd name="connsiteY0" fmla="*/ 0 h 5675584"/>
              <a:gd name="connsiteX1" fmla="*/ 8787275 w 8787275"/>
              <a:gd name="connsiteY1" fmla="*/ 0 h 5675584"/>
              <a:gd name="connsiteX2" fmla="*/ 8787275 w 8787275"/>
              <a:gd name="connsiteY2" fmla="*/ 5675584 h 5675584"/>
              <a:gd name="connsiteX3" fmla="*/ 0 w 8787275"/>
              <a:gd name="connsiteY3" fmla="*/ 5675584 h 5675584"/>
            </a:gdLst>
            <a:ahLst/>
            <a:cxnLst>
              <a:cxn ang="0">
                <a:pos x="connsiteX0" y="connsiteY0"/>
              </a:cxn>
              <a:cxn ang="0">
                <a:pos x="connsiteX1" y="connsiteY1"/>
              </a:cxn>
              <a:cxn ang="0">
                <a:pos x="connsiteX2" y="connsiteY2"/>
              </a:cxn>
              <a:cxn ang="0">
                <a:pos x="connsiteX3" y="connsiteY3"/>
              </a:cxn>
            </a:cxnLst>
            <a:rect l="l" t="t" r="r" b="b"/>
            <a:pathLst>
              <a:path w="8787275" h="5675584">
                <a:moveTo>
                  <a:pt x="0" y="0"/>
                </a:moveTo>
                <a:lnTo>
                  <a:pt x="8787275" y="0"/>
                </a:lnTo>
                <a:lnTo>
                  <a:pt x="8787275" y="5675584"/>
                </a:lnTo>
                <a:lnTo>
                  <a:pt x="0" y="5675584"/>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Tree>
    <p:extLst>
      <p:ext uri="{BB962C8B-B14F-4D97-AF65-F5344CB8AC3E}">
        <p14:creationId xmlns:p14="http://schemas.microsoft.com/office/powerpoint/2010/main" val="965708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35" presetClass="path" presetSubtype="0" repeatCount="indefinite" autoRev="1" fill="hold" grpId="1" nodeType="withEffect">
                                  <p:stCondLst>
                                    <p:cond delay="16500"/>
                                  </p:stCondLst>
                                  <p:childTnLst>
                                    <p:animMotion origin="layout" path="M 1.04167E-6 0 L -0.06172 0 " pathEditMode="relative" rAng="0" ptsTypes="AA">
                                      <p:cBhvr>
                                        <p:cTn id="10" dur="20000" fill="hold"/>
                                        <p:tgtEl>
                                          <p:spTgt spid="4"/>
                                        </p:tgtEl>
                                        <p:attrNameLst>
                                          <p:attrName>ppt_x</p:attrName>
                                          <p:attrName>ppt_y</p:attrName>
                                        </p:attrNameLst>
                                      </p:cBhvr>
                                      <p:rCtr x="-3086"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33088B3-81DD-FB17-13BE-90F7249765F2}"/>
              </a:ext>
            </a:extLst>
          </p:cNvPr>
          <p:cNvSpPr>
            <a:spLocks noGrp="1"/>
          </p:cNvSpPr>
          <p:nvPr>
            <p:ph type="pic" sz="quarter" idx="11"/>
          </p:nvPr>
        </p:nvSpPr>
        <p:spPr>
          <a:xfrm>
            <a:off x="3748903" y="3428997"/>
            <a:ext cx="3143783" cy="3428998"/>
          </a:xfrm>
          <a:custGeom>
            <a:avLst/>
            <a:gdLst>
              <a:gd name="connsiteX0" fmla="*/ 0 w 3143783"/>
              <a:gd name="connsiteY0" fmla="*/ 0 h 3428998"/>
              <a:gd name="connsiteX1" fmla="*/ 3143783 w 3143783"/>
              <a:gd name="connsiteY1" fmla="*/ 0 h 3428998"/>
              <a:gd name="connsiteX2" fmla="*/ 3143783 w 3143783"/>
              <a:gd name="connsiteY2" fmla="*/ 3428998 h 3428998"/>
              <a:gd name="connsiteX3" fmla="*/ 0 w 3143783"/>
              <a:gd name="connsiteY3" fmla="*/ 3428998 h 3428998"/>
            </a:gdLst>
            <a:ahLst/>
            <a:cxnLst>
              <a:cxn ang="0">
                <a:pos x="connsiteX0" y="connsiteY0"/>
              </a:cxn>
              <a:cxn ang="0">
                <a:pos x="connsiteX1" y="connsiteY1"/>
              </a:cxn>
              <a:cxn ang="0">
                <a:pos x="connsiteX2" y="connsiteY2"/>
              </a:cxn>
              <a:cxn ang="0">
                <a:pos x="connsiteX3" y="connsiteY3"/>
              </a:cxn>
            </a:cxnLst>
            <a:rect l="l" t="t" r="r" b="b"/>
            <a:pathLst>
              <a:path w="3143783" h="3428998">
                <a:moveTo>
                  <a:pt x="0" y="0"/>
                </a:moveTo>
                <a:lnTo>
                  <a:pt x="3143783" y="0"/>
                </a:lnTo>
                <a:lnTo>
                  <a:pt x="3143783" y="3428998"/>
                </a:lnTo>
                <a:lnTo>
                  <a:pt x="0" y="3428998"/>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
        <p:nvSpPr>
          <p:cNvPr id="5" name="Picture Placeholder 4">
            <a:extLst>
              <a:ext uri="{FF2B5EF4-FFF2-40B4-BE49-F238E27FC236}">
                <a16:creationId xmlns:a16="http://schemas.microsoft.com/office/drawing/2014/main" id="{325C6063-1B18-34DC-B266-32D60EBB74E3}"/>
              </a:ext>
            </a:extLst>
          </p:cNvPr>
          <p:cNvSpPr>
            <a:spLocks noGrp="1"/>
          </p:cNvSpPr>
          <p:nvPr>
            <p:ph type="pic" sz="quarter" idx="10"/>
          </p:nvPr>
        </p:nvSpPr>
        <p:spPr>
          <a:xfrm>
            <a:off x="605120" y="-1"/>
            <a:ext cx="3143783" cy="3428998"/>
          </a:xfrm>
          <a:custGeom>
            <a:avLst/>
            <a:gdLst>
              <a:gd name="connsiteX0" fmla="*/ 0 w 3143783"/>
              <a:gd name="connsiteY0" fmla="*/ 0 h 3428998"/>
              <a:gd name="connsiteX1" fmla="*/ 3143783 w 3143783"/>
              <a:gd name="connsiteY1" fmla="*/ 0 h 3428998"/>
              <a:gd name="connsiteX2" fmla="*/ 3143783 w 3143783"/>
              <a:gd name="connsiteY2" fmla="*/ 3428998 h 3428998"/>
              <a:gd name="connsiteX3" fmla="*/ 0 w 3143783"/>
              <a:gd name="connsiteY3" fmla="*/ 3428998 h 3428998"/>
            </a:gdLst>
            <a:ahLst/>
            <a:cxnLst>
              <a:cxn ang="0">
                <a:pos x="connsiteX0" y="connsiteY0"/>
              </a:cxn>
              <a:cxn ang="0">
                <a:pos x="connsiteX1" y="connsiteY1"/>
              </a:cxn>
              <a:cxn ang="0">
                <a:pos x="connsiteX2" y="connsiteY2"/>
              </a:cxn>
              <a:cxn ang="0">
                <a:pos x="connsiteX3" y="connsiteY3"/>
              </a:cxn>
            </a:cxnLst>
            <a:rect l="l" t="t" r="r" b="b"/>
            <a:pathLst>
              <a:path w="3143783" h="3428998">
                <a:moveTo>
                  <a:pt x="0" y="0"/>
                </a:moveTo>
                <a:lnTo>
                  <a:pt x="3143783" y="0"/>
                </a:lnTo>
                <a:lnTo>
                  <a:pt x="3143783" y="3428998"/>
                </a:lnTo>
                <a:lnTo>
                  <a:pt x="0" y="3428998"/>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Tree>
    <p:extLst>
      <p:ext uri="{BB962C8B-B14F-4D97-AF65-F5344CB8AC3E}">
        <p14:creationId xmlns:p14="http://schemas.microsoft.com/office/powerpoint/2010/main" val="3150165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50000" decel="50000" fill="hold" grpId="0" nodeType="withEffect">
                                  <p:stCondLst>
                                    <p:cond delay="5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par>
                                <p:cTn id="9" presetID="2" presetClass="entr" presetSubtype="4" accel="50000" decel="50000" fill="hold" grpId="0" nodeType="withEffect">
                                  <p:stCondLst>
                                    <p:cond delay="50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8_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797700D-0768-84DB-CFE2-F86F2CE2011F}"/>
              </a:ext>
            </a:extLst>
          </p:cNvPr>
          <p:cNvSpPr>
            <a:spLocks noGrp="1"/>
          </p:cNvSpPr>
          <p:nvPr>
            <p:ph type="pic" sz="quarter" idx="11"/>
          </p:nvPr>
        </p:nvSpPr>
        <p:spPr>
          <a:xfrm>
            <a:off x="8666206" y="3429000"/>
            <a:ext cx="3525795" cy="2560838"/>
          </a:xfrm>
          <a:custGeom>
            <a:avLst/>
            <a:gdLst>
              <a:gd name="connsiteX0" fmla="*/ 0 w 3525795"/>
              <a:gd name="connsiteY0" fmla="*/ 0 h 2560838"/>
              <a:gd name="connsiteX1" fmla="*/ 3525795 w 3525795"/>
              <a:gd name="connsiteY1" fmla="*/ 0 h 2560838"/>
              <a:gd name="connsiteX2" fmla="*/ 3525795 w 3525795"/>
              <a:gd name="connsiteY2" fmla="*/ 2560838 h 2560838"/>
              <a:gd name="connsiteX3" fmla="*/ 0 w 3525795"/>
              <a:gd name="connsiteY3" fmla="*/ 2560838 h 2560838"/>
            </a:gdLst>
            <a:ahLst/>
            <a:cxnLst>
              <a:cxn ang="0">
                <a:pos x="connsiteX0" y="connsiteY0"/>
              </a:cxn>
              <a:cxn ang="0">
                <a:pos x="connsiteX1" y="connsiteY1"/>
              </a:cxn>
              <a:cxn ang="0">
                <a:pos x="connsiteX2" y="connsiteY2"/>
              </a:cxn>
              <a:cxn ang="0">
                <a:pos x="connsiteX3" y="connsiteY3"/>
              </a:cxn>
            </a:cxnLst>
            <a:rect l="l" t="t" r="r" b="b"/>
            <a:pathLst>
              <a:path w="3525795" h="2560838">
                <a:moveTo>
                  <a:pt x="0" y="0"/>
                </a:moveTo>
                <a:lnTo>
                  <a:pt x="3525795" y="0"/>
                </a:lnTo>
                <a:lnTo>
                  <a:pt x="3525795" y="2560838"/>
                </a:lnTo>
                <a:lnTo>
                  <a:pt x="0" y="2560838"/>
                </a:lnTo>
                <a:close/>
              </a:path>
            </a:pathLst>
          </a:custGeom>
          <a:pattFill prst="pct5">
            <a:fgClr>
              <a:schemeClr val="accent1"/>
            </a:fgClr>
            <a:bgClr>
              <a:schemeClr val="accent4">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
        <p:nvSpPr>
          <p:cNvPr id="5" name="Picture Placeholder 4">
            <a:extLst>
              <a:ext uri="{FF2B5EF4-FFF2-40B4-BE49-F238E27FC236}">
                <a16:creationId xmlns:a16="http://schemas.microsoft.com/office/drawing/2014/main" id="{91546D6E-F5E7-12C9-9BA0-07418A64A194}"/>
              </a:ext>
            </a:extLst>
          </p:cNvPr>
          <p:cNvSpPr>
            <a:spLocks noGrp="1"/>
          </p:cNvSpPr>
          <p:nvPr>
            <p:ph type="pic" sz="quarter" idx="10"/>
          </p:nvPr>
        </p:nvSpPr>
        <p:spPr>
          <a:xfrm>
            <a:off x="8666206" y="868162"/>
            <a:ext cx="3525795" cy="2560838"/>
          </a:xfrm>
          <a:custGeom>
            <a:avLst/>
            <a:gdLst>
              <a:gd name="connsiteX0" fmla="*/ 0 w 3525795"/>
              <a:gd name="connsiteY0" fmla="*/ 0 h 2560838"/>
              <a:gd name="connsiteX1" fmla="*/ 3525795 w 3525795"/>
              <a:gd name="connsiteY1" fmla="*/ 0 h 2560838"/>
              <a:gd name="connsiteX2" fmla="*/ 3525795 w 3525795"/>
              <a:gd name="connsiteY2" fmla="*/ 2560838 h 2560838"/>
              <a:gd name="connsiteX3" fmla="*/ 0 w 3525795"/>
              <a:gd name="connsiteY3" fmla="*/ 2560838 h 2560838"/>
            </a:gdLst>
            <a:ahLst/>
            <a:cxnLst>
              <a:cxn ang="0">
                <a:pos x="connsiteX0" y="connsiteY0"/>
              </a:cxn>
              <a:cxn ang="0">
                <a:pos x="connsiteX1" y="connsiteY1"/>
              </a:cxn>
              <a:cxn ang="0">
                <a:pos x="connsiteX2" y="connsiteY2"/>
              </a:cxn>
              <a:cxn ang="0">
                <a:pos x="connsiteX3" y="connsiteY3"/>
              </a:cxn>
            </a:cxnLst>
            <a:rect l="l" t="t" r="r" b="b"/>
            <a:pathLst>
              <a:path w="3525795" h="2560838">
                <a:moveTo>
                  <a:pt x="0" y="0"/>
                </a:moveTo>
                <a:lnTo>
                  <a:pt x="3525795" y="0"/>
                </a:lnTo>
                <a:lnTo>
                  <a:pt x="3525795" y="2560838"/>
                </a:lnTo>
                <a:lnTo>
                  <a:pt x="0" y="2560838"/>
                </a:lnTo>
                <a:close/>
              </a:path>
            </a:pathLst>
          </a:custGeom>
          <a:pattFill prst="pct5">
            <a:fgClr>
              <a:schemeClr val="accent1"/>
            </a:fgClr>
            <a:bgClr>
              <a:schemeClr val="accent6">
                <a:lumMod val="20000"/>
                <a:lumOff val="80000"/>
              </a:schemeClr>
            </a:bgClr>
          </a:pattFill>
        </p:spPr>
        <p:txBody>
          <a:bodyPr wrap="square" lIns="91440" tIns="91440" rIns="91440" bIns="91440">
            <a:noAutofit/>
          </a:bodyPr>
          <a:lstStyle>
            <a:lvl1pPr marL="0" indent="0">
              <a:buNone/>
              <a:defRPr sz="1800" b="0" i="0">
                <a:latin typeface="Roboto Light" panose="02000000000000000000" pitchFamily="2" charset="0"/>
                <a:ea typeface="Roboto Light" panose="02000000000000000000" pitchFamily="2" charset="0"/>
              </a:defRPr>
            </a:lvl1pPr>
          </a:lstStyle>
          <a:p>
            <a:endParaRPr lang="en-US"/>
          </a:p>
        </p:txBody>
      </p:sp>
    </p:spTree>
    <p:extLst>
      <p:ext uri="{BB962C8B-B14F-4D97-AF65-F5344CB8AC3E}">
        <p14:creationId xmlns:p14="http://schemas.microsoft.com/office/powerpoint/2010/main" val="3991099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accel="50000" decel="50000" fill="hold" grpId="0" nodeType="withEffect">
                                  <p:stCondLst>
                                    <p:cond delay="15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accel="50000" decel="50000" fill="hold" grpId="0" nodeType="withEffect">
                                  <p:stCondLst>
                                    <p:cond delay="175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11_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6235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5"/>
        <p:cNvGrpSpPr/>
        <p:nvPr/>
      </p:nvGrpSpPr>
      <p:grpSpPr>
        <a:xfrm>
          <a:off x="0" y="0"/>
          <a:ext cx="0" cy="0"/>
          <a:chOff x="0" y="0"/>
          <a:chExt cx="0" cy="0"/>
        </a:xfrm>
      </p:grpSpPr>
      <p:sp>
        <p:nvSpPr>
          <p:cNvPr id="16" name="Google Shape;16;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182" lvl="0" indent="-342886" algn="l">
              <a:lnSpc>
                <a:spcPct val="90000"/>
              </a:lnSpc>
              <a:spcBef>
                <a:spcPts val="1000"/>
              </a:spcBef>
              <a:spcAft>
                <a:spcPts val="0"/>
              </a:spcAft>
              <a:buClr>
                <a:schemeClr val="dk1"/>
              </a:buClr>
              <a:buSzPts val="1800"/>
              <a:buChar char="•"/>
              <a:defRPr/>
            </a:lvl1pPr>
            <a:lvl2pPr marL="914363" lvl="1" indent="-342886" algn="l">
              <a:lnSpc>
                <a:spcPct val="90000"/>
              </a:lnSpc>
              <a:spcBef>
                <a:spcPts val="500"/>
              </a:spcBef>
              <a:spcAft>
                <a:spcPts val="0"/>
              </a:spcAft>
              <a:buClr>
                <a:schemeClr val="dk1"/>
              </a:buClr>
              <a:buSzPts val="1800"/>
              <a:buChar char="•"/>
              <a:defRPr/>
            </a:lvl2pPr>
            <a:lvl3pPr marL="1371545" lvl="2" indent="-342886" algn="l">
              <a:lnSpc>
                <a:spcPct val="90000"/>
              </a:lnSpc>
              <a:spcBef>
                <a:spcPts val="500"/>
              </a:spcBef>
              <a:spcAft>
                <a:spcPts val="0"/>
              </a:spcAft>
              <a:buClr>
                <a:schemeClr val="dk1"/>
              </a:buClr>
              <a:buSzPts val="1800"/>
              <a:buChar char="•"/>
              <a:defRPr/>
            </a:lvl3pPr>
            <a:lvl4pPr marL="1828727" lvl="3" indent="-342886" algn="l">
              <a:lnSpc>
                <a:spcPct val="90000"/>
              </a:lnSpc>
              <a:spcBef>
                <a:spcPts val="500"/>
              </a:spcBef>
              <a:spcAft>
                <a:spcPts val="0"/>
              </a:spcAft>
              <a:buClr>
                <a:schemeClr val="dk1"/>
              </a:buClr>
              <a:buSzPts val="1800"/>
              <a:buChar char="•"/>
              <a:defRPr/>
            </a:lvl4pPr>
            <a:lvl5pPr marL="2285909" lvl="4" indent="-342886" algn="l">
              <a:lnSpc>
                <a:spcPct val="90000"/>
              </a:lnSpc>
              <a:spcBef>
                <a:spcPts val="500"/>
              </a:spcBef>
              <a:spcAft>
                <a:spcPts val="0"/>
              </a:spcAft>
              <a:buClr>
                <a:schemeClr val="dk1"/>
              </a:buClr>
              <a:buSzPts val="1800"/>
              <a:buChar char="•"/>
              <a:defRPr/>
            </a:lvl5pPr>
            <a:lvl6pPr marL="2743090" lvl="5" indent="-342886" algn="l">
              <a:lnSpc>
                <a:spcPct val="90000"/>
              </a:lnSpc>
              <a:spcBef>
                <a:spcPts val="500"/>
              </a:spcBef>
              <a:spcAft>
                <a:spcPts val="0"/>
              </a:spcAft>
              <a:buClr>
                <a:schemeClr val="dk1"/>
              </a:buClr>
              <a:buSzPts val="1800"/>
              <a:buChar char="•"/>
              <a:defRPr/>
            </a:lvl6pPr>
            <a:lvl7pPr marL="3200272" lvl="6" indent="-342886" algn="l">
              <a:lnSpc>
                <a:spcPct val="90000"/>
              </a:lnSpc>
              <a:spcBef>
                <a:spcPts val="500"/>
              </a:spcBef>
              <a:spcAft>
                <a:spcPts val="0"/>
              </a:spcAft>
              <a:buClr>
                <a:schemeClr val="dk1"/>
              </a:buClr>
              <a:buSzPts val="1800"/>
              <a:buChar char="•"/>
              <a:defRPr/>
            </a:lvl7pPr>
            <a:lvl8pPr marL="3657454" lvl="7" indent="-342886" algn="l">
              <a:lnSpc>
                <a:spcPct val="90000"/>
              </a:lnSpc>
              <a:spcBef>
                <a:spcPts val="500"/>
              </a:spcBef>
              <a:spcAft>
                <a:spcPts val="0"/>
              </a:spcAft>
              <a:buClr>
                <a:schemeClr val="dk1"/>
              </a:buClr>
              <a:buSzPts val="1800"/>
              <a:buChar char="•"/>
              <a:defRPr/>
            </a:lvl8pPr>
            <a:lvl9pPr marL="4114635" lvl="8" indent="-342886" algn="l">
              <a:lnSpc>
                <a:spcPct val="90000"/>
              </a:lnSpc>
              <a:spcBef>
                <a:spcPts val="500"/>
              </a:spcBef>
              <a:spcAft>
                <a:spcPts val="0"/>
              </a:spcAft>
              <a:buClr>
                <a:schemeClr val="dk1"/>
              </a:buClr>
              <a:buSzPts val="1800"/>
              <a:buChar char="•"/>
              <a:defRPr/>
            </a:lvl9pPr>
          </a:lstStyle>
          <a:p>
            <a:endParaRPr/>
          </a:p>
        </p:txBody>
      </p:sp>
      <p:sp>
        <p:nvSpPr>
          <p:cNvPr id="18" name="Google Shape;18;p25"/>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5"/>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5"/>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MY" smtClean="0"/>
              <a:pPr/>
              <a:t>‹#›</a:t>
            </a:fld>
            <a:endParaRPr lang="en-MY"/>
          </a:p>
        </p:txBody>
      </p:sp>
    </p:spTree>
    <p:extLst>
      <p:ext uri="{BB962C8B-B14F-4D97-AF65-F5344CB8AC3E}">
        <p14:creationId xmlns:p14="http://schemas.microsoft.com/office/powerpoint/2010/main" val="1145996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
        <p:nvSpPr>
          <p:cNvPr id="29" name="Title Placeholder 1">
            <a:extLst>
              <a:ext uri="{FF2B5EF4-FFF2-40B4-BE49-F238E27FC236}">
                <a16:creationId xmlns:a16="http://schemas.microsoft.com/office/drawing/2014/main" id="{8F1E2742-D414-F4F1-C791-24DC8FA6BC89}"/>
              </a:ext>
            </a:extLst>
          </p:cNvPr>
          <p:cNvSpPr>
            <a:spLocks noGrp="1"/>
          </p:cNvSpPr>
          <p:nvPr>
            <p:ph type="title"/>
          </p:nvPr>
        </p:nvSpPr>
        <p:spPr>
          <a:xfrm>
            <a:off x="1" y="-622575"/>
            <a:ext cx="11125200" cy="463985"/>
          </a:xfrm>
          <a:prstGeom prst="rect">
            <a:avLst/>
          </a:prstGeom>
        </p:spPr>
        <p:txBody>
          <a:bodyPr vert="horz" lIns="0" tIns="0" rIns="0" bIns="0" rtlCol="0" anchor="ctr" anchorCtr="0">
            <a:noAutofit/>
          </a:bodyPr>
          <a:lstStyle>
            <a:lvl1pPr>
              <a:defRPr sz="16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4205416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19A2C1-868B-E048-BC42-05B15F482131}"/>
              </a:ext>
            </a:extLst>
          </p:cNvPr>
          <p:cNvSpPr>
            <a:spLocks noGrp="1"/>
          </p:cNvSpPr>
          <p:nvPr>
            <p:ph type="title"/>
          </p:nvPr>
        </p:nvSpPr>
        <p:spPr>
          <a:xfrm>
            <a:off x="533400" y="419099"/>
            <a:ext cx="11125200" cy="463985"/>
          </a:xfrm>
          <a:prstGeom prst="rect">
            <a:avLst/>
          </a:prstGeom>
        </p:spPr>
        <p:txBody>
          <a:bodyPr vert="horz" lIns="0" tIns="0" rIns="0" bIns="0" rtlCol="0" anchor="t">
            <a:no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E2E175A4-F8EA-2E4A-A9FC-8E6DA130CB25}"/>
              </a:ext>
            </a:extLst>
          </p:cNvPr>
          <p:cNvSpPr>
            <a:spLocks noGrp="1"/>
          </p:cNvSpPr>
          <p:nvPr>
            <p:ph type="body" idx="1"/>
          </p:nvPr>
        </p:nvSpPr>
        <p:spPr>
          <a:xfrm>
            <a:off x="533400" y="1460500"/>
            <a:ext cx="11125200" cy="4351338"/>
          </a:xfrm>
          <a:prstGeom prst="rect">
            <a:avLst/>
          </a:prstGeom>
        </p:spPr>
        <p:txBody>
          <a:bodyPr vert="horz" lIns="0" tIns="0" rIns="0" bIns="0" rtlCol="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a:extLst>
              <a:ext uri="{FF2B5EF4-FFF2-40B4-BE49-F238E27FC236}">
                <a16:creationId xmlns:a16="http://schemas.microsoft.com/office/drawing/2014/main" id="{6FFFA472-F704-9D4A-AE43-BF8DA1CC6404}"/>
              </a:ext>
            </a:extLst>
          </p:cNvPr>
          <p:cNvSpPr>
            <a:spLocks noGrp="1"/>
          </p:cNvSpPr>
          <p:nvPr>
            <p:ph type="dt" sz="half" idx="2"/>
          </p:nvPr>
        </p:nvSpPr>
        <p:spPr>
          <a:xfrm>
            <a:off x="9896606" y="6445229"/>
            <a:ext cx="756781" cy="187367"/>
          </a:xfrm>
          <a:prstGeom prst="rect">
            <a:avLst/>
          </a:prstGeom>
        </p:spPr>
        <p:txBody>
          <a:bodyPr vert="horz" lIns="0" tIns="0" rIns="0" bIns="0" rtlCol="0" anchor="ctr"/>
          <a:lstStyle>
            <a:lvl1pPr algn="ctr">
              <a:defRPr sz="1000">
                <a:solidFill>
                  <a:schemeClr val="bg1">
                    <a:lumMod val="50000"/>
                  </a:schemeClr>
                </a:solidFill>
              </a:defRPr>
            </a:lvl1pPr>
          </a:lstStyle>
          <a:p>
            <a:fld id="{B2896C5E-20F6-5143-9F77-A8D16BC84A78}" type="datetimeFigureOut">
              <a:rPr lang="en-US" smtClean="0"/>
              <a:pPr/>
              <a:t>7/26/2026</a:t>
            </a:fld>
            <a:endParaRPr lang="en-US" dirty="0"/>
          </a:p>
        </p:txBody>
      </p:sp>
      <p:sp>
        <p:nvSpPr>
          <p:cNvPr id="5" name="Footer Placeholder 4">
            <a:extLst>
              <a:ext uri="{FF2B5EF4-FFF2-40B4-BE49-F238E27FC236}">
                <a16:creationId xmlns:a16="http://schemas.microsoft.com/office/drawing/2014/main" id="{F537EDD9-B49B-1342-9401-0E870BD269D0}"/>
              </a:ext>
            </a:extLst>
          </p:cNvPr>
          <p:cNvSpPr>
            <a:spLocks noGrp="1"/>
          </p:cNvSpPr>
          <p:nvPr>
            <p:ph type="ftr" sz="quarter" idx="3"/>
          </p:nvPr>
        </p:nvSpPr>
        <p:spPr>
          <a:xfrm>
            <a:off x="533399" y="6445229"/>
            <a:ext cx="9237947" cy="187367"/>
          </a:xfrm>
          <a:prstGeom prst="rect">
            <a:avLst/>
          </a:prstGeom>
        </p:spPr>
        <p:txBody>
          <a:bodyPr vert="horz" lIns="0" tIns="0" rIns="0" bIns="0" rtlCol="0" anchor="ctr"/>
          <a:lstStyle>
            <a:lvl1pPr algn="l">
              <a:defRPr sz="1000">
                <a:solidFill>
                  <a:schemeClr val="bg1">
                    <a:lumMod val="50000"/>
                  </a:schemeClr>
                </a:solidFill>
              </a:defRPr>
            </a:lvl1pPr>
          </a:lstStyle>
          <a:p>
            <a:endParaRPr lang="en-US"/>
          </a:p>
        </p:txBody>
      </p:sp>
      <p:sp>
        <p:nvSpPr>
          <p:cNvPr id="6" name="Slide Number Placeholder 5">
            <a:extLst>
              <a:ext uri="{FF2B5EF4-FFF2-40B4-BE49-F238E27FC236}">
                <a16:creationId xmlns:a16="http://schemas.microsoft.com/office/drawing/2014/main" id="{A80051E2-0E41-A34C-8D98-2FD15D190DD1}"/>
              </a:ext>
            </a:extLst>
          </p:cNvPr>
          <p:cNvSpPr>
            <a:spLocks noGrp="1"/>
          </p:cNvSpPr>
          <p:nvPr>
            <p:ph type="sldNum" sz="quarter" idx="4"/>
          </p:nvPr>
        </p:nvSpPr>
        <p:spPr>
          <a:xfrm>
            <a:off x="10778646" y="6445229"/>
            <a:ext cx="879953" cy="187367"/>
          </a:xfrm>
          <a:prstGeom prst="rect">
            <a:avLst/>
          </a:prstGeom>
        </p:spPr>
        <p:txBody>
          <a:bodyPr vert="horz" lIns="0" tIns="0" rIns="0" bIns="0" rtlCol="0" anchor="ctr"/>
          <a:lstStyle>
            <a:lvl1pPr algn="r">
              <a:defRPr sz="1000">
                <a:solidFill>
                  <a:schemeClr val="bg1">
                    <a:lumMod val="50000"/>
                  </a:schemeClr>
                </a:solidFill>
              </a:defRPr>
            </a:lvl1pPr>
          </a:lstStyle>
          <a:p>
            <a:fld id="{914EC2E2-0820-654D-85EB-EBA0A2E7E8B4}" type="slidenum">
              <a:rPr lang="en-US" smtClean="0"/>
              <a:pPr/>
              <a:t>‹#›</a:t>
            </a:fld>
            <a:endParaRPr lang="en-US"/>
          </a:p>
        </p:txBody>
      </p:sp>
    </p:spTree>
    <p:extLst>
      <p:ext uri="{BB962C8B-B14F-4D97-AF65-F5344CB8AC3E}">
        <p14:creationId xmlns:p14="http://schemas.microsoft.com/office/powerpoint/2010/main" val="3914225784"/>
      </p:ext>
    </p:extLst>
  </p:cSld>
  <p:clrMap bg1="lt1" tx1="dk1" bg2="lt2" tx2="dk2" accent1="accent1" accent2="accent2" accent3="accent3" accent4="accent4" accent5="accent5" accent6="accent6" hlink="hlink" folHlink="folHlink"/>
  <p:sldLayoutIdLst>
    <p:sldLayoutId id="2147483658" r:id="rId1"/>
    <p:sldLayoutId id="2147483660" r:id="rId2"/>
    <p:sldLayoutId id="2147483662" r:id="rId3"/>
    <p:sldLayoutId id="2147483663" r:id="rId4"/>
    <p:sldLayoutId id="2147483666" r:id="rId5"/>
    <p:sldLayoutId id="2147483687" r:id="rId6"/>
    <p:sldLayoutId id="2147483703" r:id="rId7"/>
  </p:sldLayoutIdLst>
  <p:txStyles>
    <p:titleStyle>
      <a:lvl1pPr algn="l" defTabSz="914400" rtl="0" eaLnBrk="1" latinLnBrk="0" hangingPunct="1">
        <a:lnSpc>
          <a:spcPct val="90000"/>
        </a:lnSpc>
        <a:spcBef>
          <a:spcPct val="0"/>
        </a:spcBef>
        <a:buNone/>
        <a:defRPr sz="3200" kern="120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456" userDrawn="1">
          <p15:clr>
            <a:srgbClr val="F26B43"/>
          </p15:clr>
        </p15:guide>
        <p15:guide id="3" pos="7224" userDrawn="1">
          <p15:clr>
            <a:srgbClr val="F26B43"/>
          </p15:clr>
        </p15:guide>
        <p15:guide id="4" orient="horz" pos="264" userDrawn="1">
          <p15:clr>
            <a:srgbClr val="F26B43"/>
          </p15:clr>
        </p15:guide>
        <p15:guide id="6" orient="horz" pos="405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Topik 3 Bahagian 2: Komponen Landskap</a:t>
            </a:r>
          </a:p>
        </p:txBody>
      </p:sp>
      <p:sp>
        <p:nvSpPr>
          <p:cNvPr id="6" name="TextBox 5"/>
          <p:cNvSpPr txBox="1"/>
          <p:nvPr/>
        </p:nvSpPr>
        <p:spPr>
          <a:xfrm>
            <a:off x="617952" y="384048"/>
            <a:ext cx="11338560" cy="592440"/>
          </a:xfrm>
          <a:prstGeom prst="rect">
            <a:avLst/>
          </a:prstGeom>
          <a:noFill/>
        </p:spPr>
        <p:txBody>
          <a:bodyPr wrap="square" rtlCol="0">
            <a:noAutofit/>
          </a:bodyPr>
          <a:lstStyle/>
          <a:p>
            <a:pPr>
              <a:lnSpc>
                <a:spcPts val="3600"/>
              </a:lnSpc>
            </a:pPr>
            <a:r>
              <a:rPr lang="en-MY" sz="3600" b="1" dirty="0"/>
              <a:t>Topik 3 Bahagian 2: Komponen Landskap</a:t>
            </a:r>
          </a:p>
        </p:txBody>
      </p:sp>
      <p:sp>
        <p:nvSpPr>
          <p:cNvPr id="20" name="Course"/>
          <p:cNvSpPr txBox="1"/>
          <p:nvPr/>
        </p:nvSpPr>
        <p:spPr>
          <a:xfrm>
            <a:off x="723930" y="1316736"/>
            <a:ext cx="10744200" cy="402336"/>
          </a:xfrm>
          <a:prstGeom prst="rect">
            <a:avLst/>
          </a:prstGeom>
          <a:noFill/>
        </p:spPr>
        <p:txBody>
          <a:bodyPr wrap="square">
            <a:noAutofit/>
          </a:bodyPr>
          <a:lstStyle/>
          <a:p>
            <a:pPr/>
            <a:r>
              <a:rPr lang="en-MY" sz="1600" b="1" dirty="0">
                <a:solidFill>
                  <a:srgbClr val="7F6000"/>
                </a:solidFill>
              </a:rPr>
              <a:t>KURSUS KERJA BANGUNAN – PEMBINAAN LANDSKAP LUAR</a:t>
            </a:r>
          </a:p>
        </p:txBody>
      </p:sp>
      <p:sp>
        <p:nvSpPr>
          <p:cNvPr id="21" name="PL"/>
          <p:cNvSpPr txBox="1"/>
          <p:nvPr/>
        </p:nvSpPr>
        <p:spPr>
          <a:xfrm>
            <a:off x="723930" y="1828800"/>
            <a:ext cx="10744200" cy="420624"/>
          </a:xfrm>
          <a:prstGeom prst="rect">
            <a:avLst/>
          </a:prstGeom>
          <a:noFill/>
        </p:spPr>
        <p:txBody>
          <a:bodyPr wrap="square">
            <a:noAutofit/>
          </a:bodyPr>
          <a:lstStyle/>
          <a:p>
            <a:pPr/>
            <a:r>
              <a:rPr lang="en-MY" sz="1900" b="1" dirty="0">
                <a:solidFill>
                  <a:schemeClr val="tx1">
                    <a:lumMod val="85000"/>
                    <a:lumOff val="15000"/>
                  </a:schemeClr>
                </a:solidFill>
              </a:rPr>
              <a:t>PL06: Pengurusan Operasi Pembinaan Landskap</a:t>
            </a:r>
          </a:p>
        </p:txBody>
      </p:sp>
      <p:sp>
        <p:nvSpPr>
          <p:cNvPr id="22" name="Topic"/>
          <p:cNvSpPr txBox="1"/>
          <p:nvPr/>
        </p:nvSpPr>
        <p:spPr>
          <a:xfrm>
            <a:off x="723930" y="2340864"/>
            <a:ext cx="10744200" cy="420624"/>
          </a:xfrm>
          <a:prstGeom prst="rect">
            <a:avLst/>
          </a:prstGeom>
          <a:noFill/>
        </p:spPr>
        <p:txBody>
          <a:bodyPr wrap="square">
            <a:noAutofit/>
          </a:bodyPr>
          <a:lstStyle/>
          <a:p>
            <a:pPr/>
            <a:r>
              <a:rPr lang="en-MY" sz="1900" b="1" dirty="0">
                <a:solidFill>
                  <a:schemeClr val="tx1">
                    <a:lumMod val="85000"/>
                    <a:lumOff val="15000"/>
                  </a:schemeClr>
                </a:solidFill>
              </a:rPr>
              <a:t>Topik 3 Bahagian 2: Komponen Landskap</a:t>
            </a:r>
          </a:p>
        </p:txBody>
      </p:sp>
      <p:sp>
        <p:nvSpPr>
          <p:cNvPr id="30" name="VisualDir"/>
          <p:cNvSpPr txBox="1"/>
          <p:nvPr/>
        </p:nvSpPr>
        <p:spPr>
          <a:xfrm>
            <a:off x="723930" y="3017520"/>
            <a:ext cx="10744200" cy="877824"/>
          </a:xfrm>
          <a:prstGeom prst="rect">
            <a:avLst/>
          </a:prstGeom>
          <a:noFill/>
        </p:spPr>
        <p:txBody>
          <a:bodyPr wrap="square">
            <a:noAutofit/>
          </a:bodyPr>
          <a:lstStyle/>
          <a:p>
            <a:pPr/>
            <a:r>
              <a:rPr lang="en-MY" sz="1100" dirty="0">
                <a:solidFill>
                  <a:srgbClr val="808080"/>
                </a:solidFill>
              </a:rPr>
              <a:t>ARAHAN VISUAL — SPESIFIKASI SAHAJA</a:t>
            </a:r>
          </a:p>
          <a:p>
            <a:pPr/>
            <a:r>
              <a:rPr lang="en-MY" sz="1100" dirty="0">
                <a:solidFill>
                  <a:srgbClr val="808080"/>
                </a:solidFill>
              </a:rPr>
              <a:t>[Visual: Imej pembuka bahagian — foto tapak landskap siap yang memaparkan struktur taman dan</a:t>
            </a:r>
          </a:p>
          <a:p>
            <a:pPr/>
            <a:r>
              <a:rPr lang="en-MY" sz="1100" dirty="0">
                <a:solidFill>
                  <a:srgbClr val="808080"/>
                </a:solidFill>
              </a:rPr>
              <a:t>perabot taman dalam satu bingkai. Tidak dibenamkan.]</a:t>
            </a:r>
          </a:p>
        </p:txBody>
      </p:sp>
      <p:sp>
        <p:nvSpPr>
          <p:cNvPr id="96"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MULA</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Topik 3 Bahagian 2 — mula bahagian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TOPIC_SECTION_ENTRY_BASE</a:t>
            </a:r>
          </a:p>
          <a:p>
            <a:r>
              <a:rPr lang="en-MY" sz="900" dirty="0">
                <a:solidFill>
                  <a:schemeClr val="tx1">
                    <a:lumMod val="85000"/>
                    <a:lumOff val="15000"/>
                  </a:schemeClr>
                </a:solidFill>
              </a:rPr>
              <a:t/>
            </a:r>
          </a:p>
          <a:p>
            <a:r>
              <a:rPr lang="en-MY" sz="900" dirty="0">
                <a:solidFill>
                  <a:schemeClr val="tx1">
                    <a:lumMod val="85000"/>
                    <a:lumOff val="15000"/>
                  </a:schemeClr>
                </a:solidFill>
              </a:rPr>
              <a:t>BUKTI: frame screen</a:t>
            </a:r>
          </a:p>
          <a:p>
            <a:r>
              <a:rPr lang="en-MY" sz="900" dirty="0">
                <a:solidFill>
                  <a:schemeClr val="tx1">
                    <a:lumMod val="85000"/>
                    <a:lumOff val="15000"/>
                  </a:schemeClr>
                </a:solidFill>
              </a:rPr>
              <a:t>POLISI NOTA: SPOKEN_ENTRY_TITLES_PLUS_START_INSTRUCTION  (SPOKEN_ENTRY_TITLES_PLUS_START_INSTRUCTION)</a:t>
            </a:r>
          </a:p>
          <a:p>
            <a:r>
              <a:rPr lang="en-MY" sz="900" dirty="0">
                <a:solidFill>
                  <a:schemeClr val="tx1">
                    <a:lumMod val="85000"/>
                    <a:lumOff val="15000"/>
                  </a:schemeClr>
                </a:solidFill>
              </a:rPr>
              <a:t>  konteks dituturkan: YA</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MULA_BUTTON  [always_enabled]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SCR_S01</a:t>
            </a:r>
          </a:p>
          <a:p>
            <a:r>
              <a:rPr lang="en-MY" sz="900" b="1" dirty="0">
                <a:solidFill>
                  <a:schemeClr val="tx1">
                    <a:lumMod val="85000"/>
                    <a:lumOff val="15000"/>
                  </a:schemeClr>
                </a:solidFill>
              </a:rPr>
              <a:t>KONTEKS HULU:</a:t>
            </a:r>
          </a:p>
          <a:p>
            <a:r>
              <a:rPr lang="en-MY" sz="900" dirty="0">
                <a:solidFill>
                  <a:schemeClr val="tx1">
                    <a:lumMod val="85000"/>
                    <a:lumOff val="15000"/>
                  </a:schemeClr>
                </a:solidFill>
              </a:rPr>
              <a:t>  COURSE_MONTAGE_COMPLETED, PL06_MONTAGE_COMPLETED</a:t>
            </a:r>
          </a:p>
          <a:p>
            <a:r>
              <a:rPr lang="en-MY" sz="900" dirty="0">
                <a:solidFill>
                  <a:schemeClr val="tx1">
                    <a:lumMod val="85000"/>
                    <a:lumOff val="15000"/>
                  </a:schemeClr>
                </a:solidFill>
              </a:rPr>
              <a:t>  Montaj Kursus dan Montaj PL06 telah menyampaikan pengenalan kursus,</a:t>
            </a:r>
          </a:p>
          <a:p>
            <a:r>
              <a:rPr lang="en-MY" sz="900" dirty="0">
                <a:solidFill>
                  <a:schemeClr val="tx1">
                    <a:lumMod val="85000"/>
                    <a:lumOff val="15000"/>
                  </a:schemeClr>
                </a:solidFill>
              </a:rPr>
              <a:t>  lapan Pakej Latihan, objektif PL06, tujuh topik PL06 dan Hilmi.</a:t>
            </a:r>
          </a:p>
          <a:p>
            <a:r>
              <a:rPr lang="en-MY" sz="900" dirty="0">
                <a:solidFill>
                  <a:schemeClr val="tx1">
                    <a:lumMod val="85000"/>
                    <a:lumOff val="15000"/>
                  </a:schemeClr>
                </a:solidFill>
              </a:rPr>
              <a:t>  Skrin ini BERMULA di aras bahagian dan TIDAK mengulanginya.</a:t>
            </a:r>
          </a:p>
          <a:p>
            <a:r>
              <a:rPr lang="en-MY" sz="900" b="1" dirty="0">
                <a:solidFill>
                  <a:schemeClr val="tx1">
                    <a:lumMod val="85000"/>
                    <a:lumOff val="15000"/>
                  </a:schemeClr>
                </a:solidFill>
              </a:rPr>
              <a:t>TRANSKRIP DITUTURKAN (slide 1 sahaja):</a:t>
            </a:r>
          </a:p>
          <a:p>
            <a:r>
              <a:rPr lang="en-MY" sz="900" dirty="0">
                <a:solidFill>
                  <a:schemeClr val="tx1">
                    <a:lumMod val="85000"/>
                    <a:lumOff val="15000"/>
                  </a:schemeClr>
                </a:solidFill>
              </a:rPr>
              <a:t>  1. PL06_TITLE</a:t>
            </a:r>
          </a:p>
          <a:p>
            <a:r>
              <a:rPr lang="en-MY" sz="900" dirty="0">
                <a:solidFill>
                  <a:schemeClr val="tx1">
                    <a:lumMod val="85000"/>
                    <a:lumOff val="15000"/>
                  </a:schemeClr>
                </a:solidFill>
              </a:rPr>
              <a:t>  2. TOPIC_BAHAGIAN_TITLE</a:t>
            </a:r>
          </a:p>
          <a:p>
            <a:r>
              <a:rPr lang="en-MY" sz="900" dirty="0">
                <a:solidFill>
                  <a:schemeClr val="tx1">
                    <a:lumMod val="85000"/>
                    <a:lumOff val="15000"/>
                  </a:schemeClr>
                </a:solidFill>
              </a:rPr>
              <a:t>  3. MULA_INSTRUCTION</a:t>
            </a:r>
          </a:p>
          <a:p>
            <a:r>
              <a:rPr lang="en-MY" sz="900" dirty="0">
                <a:solidFill>
                  <a:schemeClr val="tx1">
                    <a:lumMod val="85000"/>
                    <a:lumOff val="15000"/>
                  </a:schemeClr>
                </a:solidFill>
              </a:rPr>
              <a:t>  Tajuk kursus kekal visual sahaja — tidak dituturkan.</a:t>
            </a:r>
          </a:p>
          <a:p>
            <a:r>
              <a:rPr lang="en-MY" sz="900" b="1" dirty="0">
                <a:solidFill>
                  <a:schemeClr val="tx1">
                    <a:lumMod val="85000"/>
                    <a:lumOff val="15000"/>
                  </a:schemeClr>
                </a:solidFill>
              </a:rPr>
              <a:t>NOTA PRODUKSI:</a:t>
            </a:r>
          </a:p>
          <a:p>
            <a:r>
              <a:rPr lang="en-MY" sz="900" dirty="0">
                <a:solidFill>
                  <a:schemeClr val="tx1">
                    <a:lumMod val="85000"/>
                    <a:lumOff val="15000"/>
                  </a:schemeClr>
                </a:solidFill>
              </a:rPr>
              <a:t>  VO PL satu, bukan PL kosong satu, dan seterusnya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TOPIC_ENTRY_SCREEN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BARIAH_DIRECT</a:t>
            </a:r>
          </a:p>
          <a:p>
            <a:r>
              <a:rPr lang="en-MY" sz="900" dirty="0">
                <a:solidFill>
                  <a:schemeClr val="tx1">
                    <a:lumMod val="85000"/>
                    <a:lumOff val="15000"/>
                  </a:schemeClr>
                </a:solidFill>
              </a:rPr>
              <a:t>STATUS KEPUTUSAN: B02-D-06, B02-D-25, B02-D-26</a:t>
            </a:r>
          </a:p>
          <a:p>
            <a:r>
              <a:rPr lang="en-MY" sz="900" dirty="0">
                <a:solidFill>
                  <a:schemeClr val="tx1">
                    <a:lumMod val="85000"/>
                    <a:lumOff val="15000"/>
                  </a:schemeClr>
                </a:solidFill>
              </a:rPr>
              <a:t>STATUS BELUM SELESAI: NONE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Pengenalan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Pengenalan</a:t>
            </a:r>
          </a:p>
        </p:txBody>
      </p:sp>
      <p:sp>
        <p:nvSpPr>
          <p:cNvPr id="30" name="VisualDir"/>
          <p:cNvSpPr txBox="1"/>
          <p:nvPr/>
        </p:nvSpPr>
        <p:spPr>
          <a:xfrm>
            <a:off x="723930" y="1207008"/>
            <a:ext cx="10744200" cy="877824"/>
          </a:xfrm>
          <a:prstGeom prst="rect">
            <a:avLst/>
          </a:prstGeom>
          <a:noFill/>
        </p:spPr>
        <p:txBody>
          <a:bodyPr wrap="square">
            <a:noAutofit/>
          </a:bodyPr>
          <a:lstStyle/>
          <a:p>
            <a:pPr/>
            <a:r>
              <a:rPr lang="en-MY" sz="1100" dirty="0">
                <a:solidFill>
                  <a:srgbClr val="808080"/>
                </a:solidFill>
              </a:rPr>
              <a:t>ARAHAN VISUAL — SPESIFIKASI SAHAJA</a:t>
            </a:r>
          </a:p>
          <a:p>
            <a:pPr/>
            <a:r>
              <a:rPr lang="en-MY" sz="1100" dirty="0">
                <a:solidFill>
                  <a:srgbClr val="808080"/>
                </a:solidFill>
              </a:rPr>
              <a:t>[Visual: Latar tapak landskap dalam pembinaan. Dua watak berdiri di</a:t>
            </a:r>
          </a:p>
          <a:p>
            <a:pPr/>
            <a:r>
              <a:rPr lang="en-MY" sz="1100" dirty="0">
                <a:solidFill>
                  <a:srgbClr val="808080"/>
                </a:solidFill>
              </a:rPr>
              <a:t>kawasan yang sudah ditanam, struktur taman di latar belakang.]</a:t>
            </a:r>
          </a:p>
        </p:txBody>
      </p:sp>
      <p:sp>
        <p:nvSpPr>
          <p:cNvPr id="40" name="CastName"/>
          <p:cNvSpPr txBox="1"/>
          <p:nvPr/>
        </p:nvSpPr>
        <p:spPr>
          <a:xfrm>
            <a:off x="723930" y="2286000"/>
            <a:ext cx="4572000" cy="384048"/>
          </a:xfrm>
          <a:prstGeom prst="rect">
            <a:avLst/>
          </a:prstGeom>
          <a:noFill/>
        </p:spPr>
        <p:txBody>
          <a:bodyPr wrap="square">
            <a:noAutofit/>
          </a:bodyPr>
          <a:lstStyle/>
          <a:p>
            <a:pPr/>
            <a:r>
              <a:rPr lang="en-MY" sz="1900" b="1" dirty="0">
                <a:solidFill>
                  <a:schemeClr val="tx1">
                    <a:lumMod val="85000"/>
                    <a:lumOff val="15000"/>
                  </a:schemeClr>
                </a:solidFill>
              </a:rPr>
              <a:t>Alya</a:t>
            </a:r>
          </a:p>
        </p:txBody>
      </p:sp>
      <p:sp>
        <p:nvSpPr>
          <p:cNvPr id="41" name="CastRole"/>
          <p:cNvSpPr txBox="1"/>
          <p:nvPr/>
        </p:nvSpPr>
        <p:spPr>
          <a:xfrm>
            <a:off x="723930" y="2688336"/>
            <a:ext cx="5120640" cy="310896"/>
          </a:xfrm>
          <a:prstGeom prst="rect">
            <a:avLst/>
          </a:prstGeom>
          <a:noFill/>
        </p:spPr>
        <p:txBody>
          <a:bodyPr wrap="square">
            <a:noAutofit/>
          </a:bodyPr>
          <a:lstStyle/>
          <a:p>
            <a:pPr/>
            <a:r>
              <a:rPr lang="en-MY" sz="1300" dirty="0">
                <a:solidFill>
                  <a:srgbClr val="808080"/>
                </a:solidFill>
              </a:rPr>
              <a:t>Kontraktor Junior</a:t>
            </a:r>
          </a:p>
        </p:txBody>
      </p:sp>
      <p:sp>
        <p:nvSpPr>
          <p:cNvPr id="42" name="CastName"/>
          <p:cNvSpPr txBox="1"/>
          <p:nvPr/>
        </p:nvSpPr>
        <p:spPr>
          <a:xfrm>
            <a:off x="723930" y="3291840"/>
            <a:ext cx="4572000" cy="384048"/>
          </a:xfrm>
          <a:prstGeom prst="rect">
            <a:avLst/>
          </a:prstGeom>
          <a:noFill/>
        </p:spPr>
        <p:txBody>
          <a:bodyPr wrap="square">
            <a:noAutofit/>
          </a:bodyPr>
          <a:lstStyle/>
          <a:p>
            <a:pPr/>
            <a:r>
              <a:rPr lang="en-MY" sz="1900" b="1" dirty="0">
                <a:solidFill>
                  <a:schemeClr val="tx1">
                    <a:lumMod val="85000"/>
                    <a:lumOff val="15000"/>
                  </a:schemeClr>
                </a:solidFill>
              </a:rPr>
              <a:t>Encik Rahman</a:t>
            </a:r>
          </a:p>
        </p:txBody>
      </p:sp>
      <p:sp>
        <p:nvSpPr>
          <p:cNvPr id="43" name="CastRole"/>
          <p:cNvSpPr txBox="1"/>
          <p:nvPr/>
        </p:nvSpPr>
        <p:spPr>
          <a:xfrm>
            <a:off x="723930" y="3694176"/>
            <a:ext cx="5120640" cy="310896"/>
          </a:xfrm>
          <a:prstGeom prst="rect">
            <a:avLst/>
          </a:prstGeom>
          <a:noFill/>
        </p:spPr>
        <p:txBody>
          <a:bodyPr wrap="square">
            <a:noAutofit/>
          </a:bodyPr>
          <a:lstStyle/>
          <a:p>
            <a:pPr/>
            <a:r>
              <a:rPr lang="en-MY" sz="1300" dirty="0">
                <a:solidFill>
                  <a:srgbClr val="808080"/>
                </a:solidFill>
              </a:rPr>
              <a:t>Mentor / Kontraktor Senior</a:t>
            </a:r>
          </a:p>
        </p:txBody>
      </p:sp>
      <p:sp>
        <p:nvSpPr>
          <p:cNvPr id="60" name="Note"/>
          <p:cNvSpPr txBox="1"/>
          <p:nvPr/>
        </p:nvSpPr>
        <p:spPr>
          <a:xfrm>
            <a:off x="723930" y="4663440"/>
            <a:ext cx="10744200" cy="365760"/>
          </a:xfrm>
          <a:prstGeom prst="rect">
            <a:avLst/>
          </a:prstGeom>
          <a:noFill/>
        </p:spPr>
        <p:txBody>
          <a:bodyPr wrap="square">
            <a:noAutofit/>
          </a:bodyPr>
          <a:lstStyle/>
          <a:p>
            <a:pPr/>
            <a:r>
              <a:rPr lang="en-MY" sz="1300" dirty="0">
                <a:solidFill>
                  <a:srgbClr val="808080"/>
                </a:solidFill>
              </a:rPr>
              <a:t>Dialog penuh dimainkan sebagai video watak. Teks dialog berada dalam Notes.</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Pengenalan — senario tapak</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FRAME_SCENARIO_BASE</a:t>
            </a:r>
          </a:p>
          <a:p>
            <a:r>
              <a:rPr lang="en-MY" sz="900" dirty="0">
                <a:solidFill>
                  <a:schemeClr val="tx1">
                    <a:lumMod val="85000"/>
                    <a:lumOff val="15000"/>
                  </a:schemeClr>
                </a:solidFill>
              </a:rPr>
              <a:t/>
            </a:r>
          </a:p>
          <a:p>
            <a:r>
              <a:rPr lang="en-MY" sz="900" dirty="0">
                <a:solidFill>
                  <a:schemeClr val="tx1">
                    <a:lumMod val="85000"/>
                    <a:lumOff val="15000"/>
                  </a:schemeClr>
                </a:solidFill>
              </a:rPr>
              <a:t>BUKTI: frame screen</a:t>
            </a:r>
          </a:p>
          <a:p>
            <a:r>
              <a:rPr lang="en-MY" sz="900" dirty="0">
                <a:solidFill>
                  <a:schemeClr val="tx1">
                    <a:lumMod val="85000"/>
                    <a:lumOff val="15000"/>
                  </a:schemeClr>
                </a:solidFill>
              </a:rPr>
              <a:t>POLISI NOTA: DIALOGUE_NOTES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[dialogue_video_complete]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SCR_S02</a:t>
            </a:r>
          </a:p>
          <a:p>
            <a:r>
              <a:rPr lang="en-MY" sz="900" b="1" dirty="0">
                <a:solidFill>
                  <a:schemeClr val="tx1">
                    <a:lumMod val="85000"/>
                    <a:lumOff val="15000"/>
                  </a:schemeClr>
                </a:solidFill>
              </a:rPr>
              <a:t>WATAK:</a:t>
            </a:r>
          </a:p>
          <a:p>
            <a:r>
              <a:rPr lang="en-MY" sz="900" dirty="0">
                <a:solidFill>
                  <a:schemeClr val="tx1">
                    <a:lumMod val="85000"/>
                    <a:lumOff val="15000"/>
                  </a:schemeClr>
                </a:solidFill>
              </a:rPr>
              <a:t>  Alya — Kontraktor Junior</a:t>
            </a:r>
          </a:p>
          <a:p>
            <a:r>
              <a:rPr lang="en-MY" sz="900" dirty="0">
                <a:solidFill>
                  <a:schemeClr val="tx1">
                    <a:lumMod val="85000"/>
                    <a:lumOff val="15000"/>
                  </a:schemeClr>
                </a:solidFill>
              </a:rPr>
              <a:t>    learner proxy — junior contractor who confirms her understanding of the work scope</a:t>
            </a:r>
          </a:p>
          <a:p>
            <a:r>
              <a:rPr lang="en-MY" sz="900" dirty="0">
                <a:solidFill>
                  <a:schemeClr val="tx1">
                    <a:lumMod val="85000"/>
                    <a:lumOff val="15000"/>
                  </a:schemeClr>
                </a:solidFill>
              </a:rPr>
              <a:t>  Encik Rahman — Mentor / Kontraktor Senior Berpengalaman Landskap</a:t>
            </a:r>
          </a:p>
          <a:p>
            <a:r>
              <a:rPr lang="en-MY" sz="900" dirty="0">
                <a:solidFill>
                  <a:schemeClr val="tx1">
                    <a:lumMod val="85000"/>
                    <a:lumOff val="15000"/>
                  </a:schemeClr>
                </a:solidFill>
              </a:rPr>
              <a:t>    Penyelia Tapak / mentor who validates and extends Alya’s understanding</a:t>
            </a:r>
          </a:p>
          <a:p>
            <a:r>
              <a:rPr lang="en-MY" sz="900" dirty="0">
                <a:solidFill>
                  <a:schemeClr val="tx1">
                    <a:lumMod val="85000"/>
                    <a:lumOff val="15000"/>
                  </a:schemeClr>
                </a:solidFill>
              </a:rPr>
              <a:t>  Label peranan generik (Pelatih / Penyelia Tapak) ialah metadata produksi</a:t>
            </a:r>
          </a:p>
          <a:p>
            <a:r>
              <a:rPr lang="en-MY" sz="900" dirty="0">
                <a:solidFill>
                  <a:schemeClr val="tx1">
                    <a:lumMod val="85000"/>
                    <a:lumOff val="15000"/>
                  </a:schemeClr>
                </a:solidFill>
              </a:rPr>
              <a:t>  sahaja dan BUKAN nama akhir yang dilihat pelajar.</a:t>
            </a:r>
          </a:p>
          <a:p>
            <a:r>
              <a:rPr lang="en-MY" sz="900" b="1" dirty="0">
                <a:solidFill>
                  <a:schemeClr val="tx1">
                    <a:lumMod val="85000"/>
                    <a:lumOff val="15000"/>
                  </a:schemeClr>
                </a:solidFill>
              </a:rPr>
              <a:t>KANDUNGAN DIKELUARKAN:</a:t>
            </a:r>
          </a:p>
          <a:p>
            <a:r>
              <a:rPr lang="en-MY" sz="900" dirty="0">
                <a:solidFill>
                  <a:schemeClr val="tx1">
                    <a:lumMod val="85000"/>
                    <a:lumOff val="15000"/>
                  </a:schemeClr>
                </a:solidFill>
              </a:rPr>
              <a:t>  "Dan jangan lupa, kedua-duanya kena ikut MS2680."</a:t>
            </a:r>
          </a:p>
          <a:p>
            <a:r>
              <a:rPr lang="en-MY" sz="900" dirty="0">
                <a:solidFill>
                  <a:schemeClr val="tx1">
                    <a:lumMod val="85000"/>
                    <a:lumOff val="15000"/>
                  </a:schemeClr>
                </a:solidFill>
              </a:rPr>
              <a:t>  sebab: MS2680 applicability to both groups is not yet verified against the authoritative source</a:t>
            </a:r>
          </a:p>
          <a:p>
            <a:r>
              <a:rPr lang="en-MY" sz="900" dirty="0">
                <a:solidFill>
                  <a:schemeClr val="tx1">
                    <a:lumMod val="85000"/>
                    <a:lumOff val="15000"/>
                  </a:schemeClr>
                </a:solidFill>
              </a:rPr>
              <a:t>  status: PENDING_SOURCE_VERIFICATION</a:t>
            </a:r>
          </a:p>
          <a:p>
            <a:r>
              <a:rPr lang="en-MY" sz="900" dirty="0">
                <a:solidFill>
                  <a:schemeClr val="tx1">
                    <a:lumMod val="85000"/>
                    <a:lumOff val="15000"/>
                  </a:schemeClr>
                </a:solidFill>
              </a:rPr>
              <a:t>  gantian: none — no substitute standards claim invented</a:t>
            </a:r>
          </a:p>
          <a:p>
            <a:r>
              <a:rPr lang="en-MY" sz="900" b="1" dirty="0">
                <a:solidFill>
                  <a:schemeClr val="tx1">
                    <a:lumMod val="85000"/>
                    <a:lumOff val="15000"/>
                  </a:schemeClr>
                </a:solidFill>
              </a:rPr>
              <a:t>KESINAMBUNGAN:</a:t>
            </a:r>
          </a:p>
          <a:p>
            <a:r>
              <a:rPr lang="en-MY" sz="900" dirty="0">
                <a:solidFill>
                  <a:schemeClr val="tx1">
                    <a:lumMod val="85000"/>
                    <a:lumOff val="15000"/>
                  </a:schemeClr>
                </a:solidFill>
              </a:rPr>
              <a:t>  Start of the B02 scenario, immediately after S01. The course and PL06 are NOT reintroduced — both montages and S01 have already established them.</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FRAME_SCREEN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B02-D-17, B02-D-18, B02-D-19, B02-D-25, B02-D-26</a:t>
            </a:r>
          </a:p>
          <a:p>
            <a:r>
              <a:rPr lang="en-MY" sz="900" dirty="0">
                <a:solidFill>
                  <a:schemeClr val="tx1">
                    <a:lumMod val="85000"/>
                    <a:lumOff val="15000"/>
                  </a:schemeClr>
                </a:solidFill>
              </a:rPr>
              <a:t>STATUS BELUM SELESAI: U-01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Pengenalan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Pengenalan</a:t>
            </a:r>
          </a:p>
        </p:txBody>
      </p:sp>
      <p:sp>
        <p:nvSpPr>
          <p:cNvPr id="30" name="VisualDir"/>
          <p:cNvSpPr txBox="1"/>
          <p:nvPr/>
        </p:nvSpPr>
        <p:spPr>
          <a:xfrm>
            <a:off x="723930" y="1188720"/>
            <a:ext cx="4846320" cy="877824"/>
          </a:xfrm>
          <a:prstGeom prst="rect">
            <a:avLst/>
          </a:prstGeom>
          <a:noFill/>
        </p:spPr>
        <p:txBody>
          <a:bodyPr wrap="square">
            <a:noAutofit/>
          </a:bodyPr>
          <a:lstStyle/>
          <a:p>
            <a:pPr/>
            <a:r>
              <a:rPr lang="en-MY" sz="1100" dirty="0">
                <a:solidFill>
                  <a:srgbClr val="808080"/>
                </a:solidFill>
              </a:rPr>
              <a:t>ARAHAN VISUAL</a:t>
            </a:r>
          </a:p>
          <a:p>
            <a:pPr/>
            <a:r>
              <a:rPr lang="en-MY" sz="1100" dirty="0">
                <a:solidFill>
                  <a:srgbClr val="808080"/>
                </a:solidFill>
              </a:rPr>
              <a:t>[Visual: Kad narator Hilmi — potret separuh badan,</a:t>
            </a:r>
          </a:p>
          <a:p>
            <a:pPr/>
            <a:r>
              <a:rPr lang="en-MY" sz="1100" dirty="0">
                <a:solidFill>
                  <a:srgbClr val="808080"/>
                </a:solidFill>
              </a:rPr>
              <a:t>pakaian kerja lapangan, latar tapak landskap kabur.]</a:t>
            </a:r>
          </a:p>
        </p:txBody>
      </p:sp>
      <p:sp>
        <p:nvSpPr>
          <p:cNvPr id="40" name="Narr"/>
          <p:cNvSpPr txBox="1"/>
          <p:nvPr/>
        </p:nvSpPr>
        <p:spPr>
          <a:xfrm>
            <a:off x="723930" y="2084832"/>
            <a:ext cx="4846320" cy="365760"/>
          </a:xfrm>
          <a:prstGeom prst="rect">
            <a:avLst/>
          </a:prstGeom>
          <a:noFill/>
        </p:spPr>
        <p:txBody>
          <a:bodyPr wrap="square">
            <a:noAutofit/>
          </a:bodyPr>
          <a:lstStyle/>
          <a:p>
            <a:pPr/>
            <a:r>
              <a:rPr lang="en-MY" sz="1800" b="1" dirty="0">
                <a:solidFill>
                  <a:schemeClr val="tx1">
                    <a:lumMod val="85000"/>
                    <a:lumOff val="15000"/>
                  </a:schemeClr>
                </a:solidFill>
              </a:rPr>
              <a:t>Hilmi</a:t>
            </a:r>
          </a:p>
        </p:txBody>
      </p:sp>
      <p:sp>
        <p:nvSpPr>
          <p:cNvPr id="41" name="NarrRole"/>
          <p:cNvSpPr txBox="1"/>
          <p:nvPr/>
        </p:nvSpPr>
        <p:spPr>
          <a:xfrm>
            <a:off x="723930" y="2468880"/>
            <a:ext cx="4846320" cy="292608"/>
          </a:xfrm>
          <a:prstGeom prst="rect">
            <a:avLst/>
          </a:prstGeom>
          <a:noFill/>
        </p:spPr>
        <p:txBody>
          <a:bodyPr wrap="square">
            <a:noAutofit/>
          </a:bodyPr>
          <a:lstStyle/>
          <a:p>
            <a:pPr/>
            <a:r>
              <a:rPr lang="en-MY" sz="1200" dirty="0">
                <a:solidFill>
                  <a:srgbClr val="808080"/>
                </a:solidFill>
              </a:rPr>
              <a:t>Narator kursus</a:t>
            </a:r>
          </a:p>
        </p:txBody>
      </p:sp>
      <p:sp>
        <p:nvSpPr>
          <p:cNvPr id="50" name="Grp"/>
          <p:cNvSpPr txBox="1"/>
          <p:nvPr/>
        </p:nvSpPr>
        <p:spPr>
          <a:xfrm>
            <a:off x="5989320" y="1207008"/>
            <a:ext cx="5486400" cy="731520"/>
          </a:xfrm>
          <a:prstGeom prst="rect">
            <a:avLst/>
          </a:prstGeom>
          <a:noFill/>
        </p:spPr>
        <p:txBody>
          <a:bodyPr wrap="square">
            <a:noAutofit/>
          </a:bodyPr>
          <a:lstStyle/>
          <a:p>
            <a:pPr/>
            <a:r>
              <a:rPr lang="en-MY" sz="1250" b="1" dirty="0">
                <a:solidFill>
                  <a:schemeClr val="tx1">
                    <a:lumMod val="85000"/>
                    <a:lumOff val="15000"/>
                  </a:schemeClr>
                </a:solidFill>
              </a:rPr>
              <a:t>Struktur Taman: Struktur Persisir Air, Struktur</a:t>
            </a:r>
          </a:p>
          <a:p>
            <a:pPr/>
            <a:r>
              <a:rPr lang="en-MY" sz="1250" b="1" dirty="0">
                <a:solidFill>
                  <a:schemeClr val="tx1">
                    <a:lumMod val="85000"/>
                    <a:lumOff val="15000"/>
                  </a:schemeClr>
                </a:solidFill>
              </a:rPr>
              <a:t>Teduhan, Kemudahan Awam, </a:t>
            </a:r>
            <a:r>
              <a:rPr lang="en-MY" sz="1250" b="1" i="1" dirty="0">
                <a:solidFill>
                  <a:schemeClr val="tx1">
                    <a:lumMod val="85000"/>
                    <a:lumOff val="15000"/>
                  </a:schemeClr>
                </a:solidFill>
              </a:rPr>
              <a:t>Water Feature</a:t>
            </a:r>
          </a:p>
        </p:txBody>
      </p:sp>
      <p:sp>
        <p:nvSpPr>
          <p:cNvPr id="51" name="Grp"/>
          <p:cNvSpPr txBox="1"/>
          <p:nvPr/>
        </p:nvSpPr>
        <p:spPr>
          <a:xfrm>
            <a:off x="5989320" y="1993392"/>
            <a:ext cx="5486400" cy="731520"/>
          </a:xfrm>
          <a:prstGeom prst="rect">
            <a:avLst/>
          </a:prstGeom>
          <a:noFill/>
        </p:spPr>
        <p:txBody>
          <a:bodyPr wrap="square">
            <a:noAutofit/>
          </a:bodyPr>
          <a:lstStyle/>
          <a:p>
            <a:pPr/>
            <a:r>
              <a:rPr lang="en-MY" sz="1250" b="1" dirty="0">
                <a:solidFill>
                  <a:schemeClr val="tx1">
                    <a:lumMod val="85000"/>
                    <a:lumOff val="15000"/>
                  </a:schemeClr>
                </a:solidFill>
              </a:rPr>
              <a:t>Perabot Taman: Kerusi Taman, Papan Tanda, Tong</a:t>
            </a:r>
          </a:p>
          <a:p>
            <a:pPr/>
            <a:r>
              <a:rPr lang="en-MY" sz="1250" b="1" dirty="0">
                <a:solidFill>
                  <a:schemeClr val="tx1">
                    <a:lumMod val="85000"/>
                    <a:lumOff val="15000"/>
                  </a:schemeClr>
                </a:solidFill>
              </a:rPr>
              <a:t>Sampah, </a:t>
            </a:r>
            <a:r>
              <a:rPr lang="en-MY" sz="1250" b="1" i="1" dirty="0">
                <a:solidFill>
                  <a:schemeClr val="tx1">
                    <a:lumMod val="85000"/>
                    <a:lumOff val="15000"/>
                  </a:schemeClr>
                </a:solidFill>
              </a:rPr>
              <a:t>Drinking Fountain</a:t>
            </a:r>
            <a:r>
              <a:rPr lang="en-MY" sz="1250" b="1" dirty="0">
                <a:solidFill>
                  <a:schemeClr val="tx1">
                    <a:lumMod val="85000"/>
                    <a:lumOff val="15000"/>
                  </a:schemeClr>
                </a:solidFill>
              </a:rPr>
              <a:t>, </a:t>
            </a:r>
            <a:r>
              <a:rPr lang="en-MY" sz="1250" b="1" i="1" dirty="0">
                <a:solidFill>
                  <a:schemeClr val="tx1">
                    <a:lumMod val="85000"/>
                    <a:lumOff val="15000"/>
                  </a:schemeClr>
                </a:solidFill>
              </a:rPr>
              <a:t>BBQ Pit</a:t>
            </a:r>
          </a:p>
        </p:txBody>
      </p:sp>
      <p:sp>
        <p:nvSpPr>
          <p:cNvPr id="60" name="VisualDir"/>
          <p:cNvSpPr txBox="1"/>
          <p:nvPr/>
        </p:nvSpPr>
        <p:spPr>
          <a:xfrm>
            <a:off x="5989320" y="2926080"/>
            <a:ext cx="5486400" cy="1645920"/>
          </a:xfrm>
          <a:prstGeom prst="rect">
            <a:avLst/>
          </a:prstGeom>
          <a:noFill/>
        </p:spPr>
        <p:txBody>
          <a:bodyPr wrap="square">
            <a:noAutofit/>
          </a:bodyPr>
          <a:lstStyle/>
          <a:p>
            <a:pPr/>
            <a:r>
              <a:rPr lang="en-MY" sz="1000" dirty="0">
                <a:solidFill>
                  <a:srgbClr val="808080"/>
                </a:solidFill>
              </a:rPr>
              <a:t>ARAHAN VISUAL — MIND MAP (SPESIFIKASI TEKS SAHAJA)</a:t>
            </a:r>
          </a:p>
          <a:p>
            <a:pPr/>
            <a:r>
              <a:rPr lang="en-MY" sz="1000" dirty="0">
                <a:solidFill>
                  <a:srgbClr val="808080"/>
                </a:solidFill>
              </a:rPr>
              <a:t>[Visual: Mind Map — nod pusat 'Komponen Landskap' bercabang kepada dua</a:t>
            </a:r>
          </a:p>
          <a:p>
            <a:pPr/>
            <a:r>
              <a:rPr lang="en-MY" sz="1000" dirty="0">
                <a:solidFill>
                  <a:srgbClr val="808080"/>
                </a:solidFill>
              </a:rPr>
              <a:t>kumpulan. Cabang 1 – Struktur Taman: Struktur Persisir Air, Struktur</a:t>
            </a:r>
          </a:p>
          <a:p>
            <a:pPr/>
            <a:r>
              <a:rPr lang="en-MY" sz="1000" dirty="0">
                <a:solidFill>
                  <a:srgbClr val="808080"/>
                </a:solidFill>
              </a:rPr>
              <a:t>Teduhan, Kemudahan Awam, Water Feature. Cabang 2 – Perabot Taman: Kerusi</a:t>
            </a:r>
          </a:p>
          <a:p>
            <a:pPr/>
            <a:r>
              <a:rPr lang="en-MY" sz="1000" dirty="0">
                <a:solidFill>
                  <a:srgbClr val="808080"/>
                </a:solidFill>
              </a:rPr>
              <a:t>Taman, Papan Tanda, Tong Sampah, Drinking Fountain, BBQ Pit. Spesifikasi</a:t>
            </a:r>
          </a:p>
          <a:p>
            <a:pPr/>
            <a:r>
              <a:rPr lang="en-MY" sz="1000" dirty="0">
                <a:solidFill>
                  <a:srgbClr val="808080"/>
                </a:solidFill>
              </a:rPr>
              <a:t>teks sahaja — aset Mind Map TIDAK dihasilkan pada peringkat ini.]</a:t>
            </a:r>
          </a:p>
        </p:txBody>
      </p:sp>
      <p:sp>
        <p:nvSpPr>
          <p:cNvPr id="70" name="Reflect"/>
          <p:cNvSpPr txBox="1"/>
          <p:nvPr/>
        </p:nvSpPr>
        <p:spPr>
          <a:xfrm>
            <a:off x="723930" y="4901184"/>
            <a:ext cx="10744200" cy="658368"/>
          </a:xfrm>
          <a:prstGeom prst="rect">
            <a:avLst/>
          </a:prstGeom>
          <a:noFill/>
        </p:spPr>
        <p:txBody>
          <a:bodyPr wrap="square">
            <a:noAutofit/>
          </a:bodyPr>
          <a:lstStyle/>
          <a:p>
            <a:pPr/>
            <a:r>
              <a:rPr lang="en-MY" sz="1500" b="1" dirty="0">
                <a:solidFill>
                  <a:srgbClr val="7F6000"/>
                </a:solidFill>
              </a:rPr>
              <a:t>Jika anda ditugaskan memasang kerusi taman di tepi tasik, apakah jenis bahan yang anda akan</a:t>
            </a:r>
          </a:p>
          <a:p>
            <a:pPr/>
            <a:r>
              <a:rPr lang="en-MY" sz="1500" b="1" dirty="0">
                <a:solidFill>
                  <a:srgbClr val="7F6000"/>
                </a:solidFill>
              </a:rPr>
              <a:t>pilih, dan mengapa?</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Pengenalan — gambaran keseluruhan (Hilmi)</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FRAME_NARRATOR_BASE</a:t>
            </a:r>
          </a:p>
          <a:p>
            <a:r>
              <a:rPr lang="en-MY" sz="900" dirty="0">
                <a:solidFill>
                  <a:schemeClr val="tx1">
                    <a:lumMod val="85000"/>
                    <a:lumOff val="15000"/>
                  </a:schemeClr>
                </a:solidFill>
              </a:rPr>
              <a:t/>
            </a:r>
          </a:p>
          <a:p>
            <a:r>
              <a:rPr lang="en-MY" sz="900" dirty="0">
                <a:solidFill>
                  <a:schemeClr val="tx1">
                    <a:lumMod val="85000"/>
                    <a:lumOff val="15000"/>
                  </a:schemeClr>
                </a:solidFill>
              </a:rPr>
              <a:t>BUKTI: frame screen</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[vo_complete]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SCR_S03</a:t>
            </a:r>
          </a:p>
          <a:p>
            <a:r>
              <a:rPr lang="en-MY" sz="900" b="1" dirty="0">
                <a:solidFill>
                  <a:schemeClr val="tx1">
                    <a:lumMod val="85000"/>
                    <a:lumOff val="15000"/>
                  </a:schemeClr>
                </a:solidFill>
              </a:rPr>
              <a:t>NARATOR:</a:t>
            </a:r>
          </a:p>
          <a:p>
            <a:r>
              <a:rPr lang="en-MY" sz="900" dirty="0">
                <a:solidFill>
                  <a:schemeClr val="tx1">
                    <a:lumMod val="85000"/>
                    <a:lumOff val="15000"/>
                  </a:schemeClr>
                </a:solidFill>
              </a:rPr>
              <a:t>  Hilmi — Narator kursus</a:t>
            </a:r>
          </a:p>
          <a:p>
            <a:r>
              <a:rPr lang="en-MY" sz="900" dirty="0">
                <a:solidFill>
                  <a:schemeClr val="tx1">
                    <a:lumMod val="85000"/>
                    <a:lumOff val="15000"/>
                  </a:schemeClr>
                </a:solidFill>
              </a:rPr>
              <a:t>  HILMI_REINTRODUCED_AS_NEW = false</a:t>
            </a:r>
          </a:p>
          <a:p>
            <a:r>
              <a:rPr lang="en-MY" sz="900" dirty="0">
                <a:solidFill>
                  <a:schemeClr val="tx1">
                    <a:lumMod val="85000"/>
                    <a:lumOff val="15000"/>
                  </a:schemeClr>
                </a:solidFill>
              </a:rPr>
              <a:t>  HILMI_CONTINUITY_FROM_COURSE_MONTAGE = true</a:t>
            </a:r>
          </a:p>
          <a:p>
            <a:r>
              <a:rPr lang="en-MY" sz="900" dirty="0">
                <a:solidFill>
                  <a:schemeClr val="tx1">
                    <a:lumMod val="85000"/>
                    <a:lumOff val="15000"/>
                  </a:schemeClr>
                </a:solidFill>
              </a:rPr>
              <a:t>  Hilmi continues the narration established by the Course Montage. He is not introduced as a new character. The "Hilmi:" label remains on S03 as storyboard speaker identification only.</a:t>
            </a:r>
          </a:p>
          <a:p>
            <a:r>
              <a:rPr lang="en-MY" sz="900" dirty="0">
                <a:solidFill>
                  <a:schemeClr val="tx1">
                    <a:lumMod val="85000"/>
                    <a:lumOff val="15000"/>
                  </a:schemeClr>
                </a:solidFill>
              </a:rPr>
              <a:t>  Pembukaan dilarang: Hai, saya Hilmi; Saya Hilmi, narator kursus ini; any first-time self-introduction</a:t>
            </a:r>
          </a:p>
          <a:p>
            <a:r>
              <a:rPr lang="en-MY" sz="900" dirty="0">
                <a:solidFill>
                  <a:schemeClr val="tx1">
                    <a:lumMod val="85000"/>
                    <a:lumOff val="15000"/>
                  </a:schemeClr>
                </a:solidFill>
              </a:rPr>
              <a:t>  The VO transitions out of the Alya–Encik Rahman scenario and into the learning overview — it does not restart the course.</a:t>
            </a:r>
          </a:p>
          <a:p>
            <a:r>
              <a:rPr lang="en-MY" sz="900" b="1" dirty="0">
                <a:solidFill>
                  <a:schemeClr val="tx1">
                    <a:lumMod val="85000"/>
                    <a:lumOff val="15000"/>
                  </a:schemeClr>
                </a:solidFill>
              </a:rPr>
              <a:t>NOTA PRODUKSI:</a:t>
            </a:r>
          </a:p>
          <a:p>
            <a:r>
              <a:rPr lang="en-MY" sz="900" dirty="0">
                <a:solidFill>
                  <a:schemeClr val="tx1">
                    <a:lumMod val="85000"/>
                    <a:lumOff val="15000"/>
                  </a:schemeClr>
                </a:solidFill>
              </a:rPr>
              <a:t>  "Hilmi:" speaker prefix appears on S03 only; it must not appear on any other screen</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FRAME_SCREEN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B02-D-20, B02-D-25</a:t>
            </a:r>
          </a:p>
          <a:p>
            <a:r>
              <a:rPr lang="en-MY" sz="900" dirty="0">
                <a:solidFill>
                  <a:schemeClr val="tx1">
                    <a:lumMod val="85000"/>
                    <a:lumOff val="15000"/>
                  </a:schemeClr>
                </a:solidFill>
              </a:rPr>
              <a:t>STATUS BELUM SELESAI: NONE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25" name="Instr"/>
          <p:cNvSpPr txBox="1"/>
          <p:nvPr/>
        </p:nvSpPr>
        <p:spPr>
          <a:xfrm>
            <a:off x="723930" y="1051560"/>
            <a:ext cx="10744200" cy="365760"/>
          </a:xfrm>
          <a:prstGeom prst="rect">
            <a:avLst/>
          </a:prstGeom>
          <a:noFill/>
        </p:spPr>
        <p:txBody>
          <a:bodyPr wrap="square">
            <a:noAutofit/>
          </a:bodyPr>
          <a:lstStyle/>
          <a:p>
            <a:pPr algn="ctr"/>
            <a:r>
              <a:rPr lang="en-MY" sz="1600" dirty="0">
                <a:solidFill>
                  <a:schemeClr val="tx1">
                    <a:lumMod val="85000"/>
                    <a:lumOff val="15000"/>
                  </a:schemeClr>
                </a:solidFill>
              </a:rPr>
              <a:t>Klik pada setiap struktur untuk penjelasan lanjut.</a:t>
            </a:r>
          </a:p>
        </p:txBody>
      </p:sp>
      <p:sp>
        <p:nvSpPr>
          <p:cNvPr id="40" name="ItemCard"/>
          <p:cNvSpPr txBox="1"/>
          <p:nvPr/>
        </p:nvSpPr>
        <p:spPr>
          <a:xfrm>
            <a:off x="2174397" y="1508760"/>
            <a:ext cx="3598164" cy="1819747"/>
          </a:xfrm>
          <a:prstGeom prst="rect">
            <a:avLst/>
          </a:prstGeom>
          <a:solidFill>
            <a:srgbClr val="F2F2F2"/>
          </a:solidFill>
          <a:ln w="12700">
            <a:solidFill>
              <a:srgbClr val="404040"/>
            </a:solidFill>
          </a:ln>
        </p:spPr>
        <p:txBody>
          <a:bodyPr wrap="square" anchor="ctr">
            <a:noAutofit/>
          </a:bodyPr>
          <a:lstStyle/>
          <a:p>
            <a:pPr algn="ctr"/>
            <a:r>
              <a:rPr lang="en-MY" sz="1600" b="1" dirty="0">
                <a:solidFill>
                  <a:schemeClr val="tx1">
                    <a:lumMod val="85000"/>
                    <a:lumOff val="15000"/>
                  </a:schemeClr>
                </a:solidFill>
              </a:rPr>
              <a:t>Struktur Persisir Air</a:t>
            </a:r>
          </a:p>
        </p:txBody>
      </p:sp>
      <p:sp>
        <p:nvSpPr>
          <p:cNvPr id="41" name="ItemCard"/>
          <p:cNvSpPr txBox="1"/>
          <p:nvPr/>
        </p:nvSpPr>
        <p:spPr>
          <a:xfrm>
            <a:off x="6419408" y="1508760"/>
            <a:ext cx="3598164" cy="1819747"/>
          </a:xfrm>
          <a:prstGeom prst="rect">
            <a:avLst/>
          </a:prstGeom>
          <a:solidFill>
            <a:srgbClr val="F2F2F2"/>
          </a:solidFill>
          <a:ln w="12700">
            <a:solidFill>
              <a:srgbClr val="404040"/>
            </a:solidFill>
          </a:ln>
        </p:spPr>
        <p:txBody>
          <a:bodyPr wrap="square" anchor="ctr">
            <a:noAutofit/>
          </a:bodyPr>
          <a:lstStyle/>
          <a:p>
            <a:pPr algn="ctr"/>
            <a:r>
              <a:rPr lang="en-MY" sz="1600" b="1" dirty="0">
                <a:solidFill>
                  <a:schemeClr val="tx1">
                    <a:lumMod val="85000"/>
                    <a:lumOff val="15000"/>
                  </a:schemeClr>
                </a:solidFill>
              </a:rPr>
              <a:t>Struktur Teduhan</a:t>
            </a:r>
          </a:p>
        </p:txBody>
      </p:sp>
      <p:sp>
        <p:nvSpPr>
          <p:cNvPr id="42" name="ItemCard"/>
          <p:cNvSpPr txBox="1"/>
          <p:nvPr/>
        </p:nvSpPr>
        <p:spPr>
          <a:xfrm>
            <a:off x="2174397" y="4031224"/>
            <a:ext cx="3598164" cy="1819747"/>
          </a:xfrm>
          <a:prstGeom prst="rect">
            <a:avLst/>
          </a:prstGeom>
          <a:solidFill>
            <a:srgbClr val="F2F2F2"/>
          </a:solidFill>
          <a:ln w="12700">
            <a:solidFill>
              <a:srgbClr val="404040"/>
            </a:solidFill>
          </a:ln>
        </p:spPr>
        <p:txBody>
          <a:bodyPr wrap="square" anchor="ctr">
            <a:noAutofit/>
          </a:bodyPr>
          <a:lstStyle/>
          <a:p>
            <a:pPr algn="ctr"/>
            <a:r>
              <a:rPr lang="en-MY" sz="1600" b="1" dirty="0">
                <a:solidFill>
                  <a:schemeClr val="tx1">
                    <a:lumMod val="85000"/>
                    <a:lumOff val="15000"/>
                  </a:schemeClr>
                </a:solidFill>
              </a:rPr>
              <a:t>Kemudahan Awam</a:t>
            </a:r>
          </a:p>
        </p:txBody>
      </p:sp>
      <p:sp>
        <p:nvSpPr>
          <p:cNvPr id="43" name="ItemCard"/>
          <p:cNvSpPr txBox="1"/>
          <p:nvPr/>
        </p:nvSpPr>
        <p:spPr>
          <a:xfrm>
            <a:off x="6419408" y="4031224"/>
            <a:ext cx="3598164" cy="1819747"/>
          </a:xfrm>
          <a:prstGeom prst="rect">
            <a:avLst/>
          </a:prstGeom>
          <a:solidFill>
            <a:srgbClr val="F2F2F2"/>
          </a:solidFill>
          <a:ln w="12700">
            <a:solidFill>
              <a:srgbClr val="404040"/>
            </a:solidFill>
          </a:ln>
        </p:spPr>
        <p:txBody>
          <a:bodyPr wrap="square" anchor="ctr">
            <a:noAutofit/>
          </a:bodyPr>
          <a:lstStyle/>
          <a:p>
            <a:pPr algn="ctr"/>
            <a:r>
              <a:rPr lang="en-MY" sz="1600" b="1" i="1" dirty="0">
                <a:solidFill>
                  <a:schemeClr val="tx1">
                    <a:lumMod val="85000"/>
                    <a:lumOff val="15000"/>
                  </a:schemeClr>
                </a:solidFill>
              </a:rPr>
              <a:t>Water Feature</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Struktur Taman — papan kumpulan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GROUP_MASTER_BASE</a:t>
            </a:r>
          </a:p>
          <a:p>
            <a:r>
              <a:rPr lang="en-MY" sz="900" dirty="0">
                <a:solidFill>
                  <a:schemeClr val="tx1">
                    <a:lumMod val="85000"/>
                    <a:lumOff val="15000"/>
                  </a:schemeClr>
                </a:solidFill>
              </a:rPr>
              <a:t/>
            </a:r>
          </a:p>
          <a:p>
            <a:r>
              <a:rPr lang="en-MY" sz="900" dirty="0">
                <a:solidFill>
                  <a:schemeClr val="tx1">
                    <a:lumMod val="85000"/>
                    <a:lumOff val="15000"/>
                  </a:schemeClr>
                </a:solidFill>
              </a:rPr>
              <a:t>BUKTI: group master, no component visited</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[group_complete[STRUKTUR_TAMAN]]</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GROUP</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SCR_GM_STRUKTUR</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Empat kad komponen. Boleh diklik dalam sebarang susunan.</a:t>
            </a:r>
          </a:p>
          <a:p>
            <a:r>
              <a:rPr lang="en-MY" sz="900" dirty="0">
                <a:solidFill>
                  <a:schemeClr val="tx1">
                    <a:lumMod val="85000"/>
                    <a:lumOff val="15000"/>
                  </a:schemeClr>
                </a:solidFill>
              </a:rPr>
              <a:t>  Setiap komponen yang selesai menerima tik.</a:t>
            </a:r>
          </a:p>
          <a:p>
            <a:r>
              <a:rPr lang="en-MY" sz="900" dirty="0">
                <a:solidFill>
                  <a:schemeClr val="tx1">
                    <a:lumMod val="85000"/>
                    <a:lumOff val="15000"/>
                  </a:schemeClr>
                </a:solidFill>
              </a:rPr>
              <a:t>  Kemajuan kumpulan dikawal oleh Seterusnya shell LMS.</a:t>
            </a:r>
          </a:p>
          <a:p>
            <a:r>
              <a:rPr lang="en-MY" sz="900" dirty="0">
                <a:solidFill>
                  <a:schemeClr val="tx1">
                    <a:lumMod val="85000"/>
                    <a:lumOff val="15000"/>
                  </a:schemeClr>
                </a:solidFill>
              </a:rPr>
              <a:t>  TIADA butang Seterusnya tersuai dilukis pada kanvas pelajar.</a:t>
            </a:r>
          </a:p>
          <a:p>
            <a:r>
              <a:rPr lang="en-MY" sz="900" b="1" dirty="0">
                <a:solidFill>
                  <a:schemeClr val="tx1">
                    <a:lumMod val="85000"/>
                    <a:lumOff val="15000"/>
                  </a:schemeClr>
                </a:solidFill>
              </a:rPr>
              <a:t>SASARAN KEMBALI:</a:t>
            </a:r>
          </a:p>
          <a:p>
            <a:r>
              <a:rPr lang="en-MY" sz="900" dirty="0">
                <a:solidFill>
                  <a:schemeClr val="tx1">
                    <a:lumMod val="85000"/>
                    <a:lumOff val="15000"/>
                  </a:schemeClr>
                </a:solidFill>
              </a:rPr>
              <a:t>  Skrin contoh Family S kembali ke sini.</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struktur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GROUP_MASTER</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B02-D-01, B02-D-04</a:t>
            </a:r>
          </a:p>
          <a:p>
            <a:r>
              <a:rPr lang="en-MY" sz="900" dirty="0">
                <a:solidFill>
                  <a:schemeClr val="tx1">
                    <a:lumMod val="85000"/>
                    <a:lumOff val="15000"/>
                  </a:schemeClr>
                </a:solidFill>
              </a:rPr>
              <a:t>STATUS BELUM SELESAI: NONE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20" name="Head"/>
          <p:cNvSpPr txBox="1"/>
          <p:nvPr/>
        </p:nvSpPr>
        <p:spPr>
          <a:xfrm>
            <a:off x="723930" y="1188720"/>
            <a:ext cx="10744200" cy="420624"/>
          </a:xfrm>
          <a:prstGeom prst="rect">
            <a:avLst/>
          </a:prstGeom>
          <a:noFill/>
        </p:spPr>
        <p:txBody>
          <a:bodyPr wrap="square">
            <a:noAutofit/>
          </a:bodyPr>
          <a:lstStyle/>
          <a:p>
            <a:pPr/>
            <a:r>
              <a:rPr lang="en-MY" sz="2000" b="1" dirty="0">
                <a:solidFill>
                  <a:schemeClr val="tx1">
                    <a:lumMod val="85000"/>
                    <a:lumOff val="15000"/>
                  </a:schemeClr>
                </a:solidFill>
              </a:rPr>
              <a:t>Struktur Persisir Air</a:t>
            </a:r>
          </a:p>
        </p:txBody>
      </p:sp>
      <p:sp>
        <p:nvSpPr>
          <p:cNvPr id="22" name="Body"/>
          <p:cNvSpPr txBox="1"/>
          <p:nvPr/>
        </p:nvSpPr>
        <p:spPr>
          <a:xfrm>
            <a:off x="723930" y="1755648"/>
            <a:ext cx="10744200" cy="3108960"/>
          </a:xfrm>
          <a:prstGeom prst="rect">
            <a:avLst/>
          </a:prstGeom>
          <a:noFill/>
        </p:spPr>
        <p:txBody>
          <a:bodyPr wrap="square">
            <a:noAutofit/>
          </a:bodyPr>
          <a:lstStyle/>
          <a:p>
            <a:pPr marL="285750" indent="-285750">
              <a:spcBef>
                <a:spcPts val="600"/>
              </a:spcBef>
              <a:buFont typeface="Arial" panose="020B0604020202020204" pitchFamily="34" charset="0"/>
              <a:buChar char="•"/>
            </a:pPr>
            <a:r>
              <a:rPr lang="en-MY" sz="1500" dirty="0">
                <a:solidFill>
                  <a:schemeClr val="tx1">
                    <a:lumMod val="85000"/>
                    <a:lumOff val="15000"/>
                  </a:schemeClr>
                </a:solidFill>
              </a:rPr>
              <a:t>Meningkatkan akses dan pengalaman pengguna di tepi badan air</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Untuk tasik, sungai atau pantai</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Perlu kepakaran pembinaan di persekitaran lembap dan berpotensi hakisan</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Asas Pembinaan</a:t>
            </a:r>
          </a:p>
          <a:p>
            <a:pPr marL="571500" lvl="1" indent="-285750">
              <a:spcBef>
                <a:spcPts val="600"/>
              </a:spcBef>
              <a:buFont typeface="Arial" panose="020B0604020202020204" pitchFamily="34" charset="0"/>
              <a:buChar char="•"/>
            </a:pPr>
            <a:r>
              <a:rPr lang="en-MY" sz="1500" dirty="0">
                <a:solidFill>
                  <a:schemeClr val="tx1">
                    <a:lumMod val="85000"/>
                    <a:lumOff val="15000"/>
                  </a:schemeClr>
                </a:solidFill>
              </a:rPr>
              <a:t>Asas stabil dan rata, dengan sistem saliran permukaan berkesan untuk mengelakkan genangan air</a:t>
            </a:r>
          </a:p>
          <a:p>
            <a:pPr marL="571500" lvl="1" indent="-285750">
              <a:spcBef>
                <a:spcPts val="600"/>
              </a:spcBef>
              <a:buFont typeface="Arial" panose="020B0604020202020204" pitchFamily="34" charset="0"/>
              <a:buChar char="•"/>
            </a:pPr>
            <a:r>
              <a:rPr lang="en-MY" sz="1500" dirty="0">
                <a:solidFill>
                  <a:schemeClr val="tx1">
                    <a:lumMod val="85000"/>
                    <a:lumOff val="15000"/>
                  </a:schemeClr>
                </a:solidFill>
              </a:rPr>
              <a:t>Pemilihan bahan permukaan bergantung pada fungsi utama</a:t>
            </a:r>
          </a:p>
        </p:txBody>
      </p:sp>
      <p:sp>
        <p:nvSpPr>
          <p:cNvPr id="30" name="VisualDir"/>
          <p:cNvSpPr txBox="1"/>
          <p:nvPr/>
        </p:nvSpPr>
        <p:spPr>
          <a:xfrm>
            <a:off x="723930" y="4663440"/>
            <a:ext cx="10744200" cy="365760"/>
          </a:xfrm>
          <a:prstGeom prst="rect">
            <a:avLst/>
          </a:prstGeom>
          <a:noFill/>
        </p:spPr>
        <p:txBody>
          <a:bodyPr wrap="square">
            <a:noAutofit/>
          </a:bodyPr>
          <a:lstStyle/>
          <a:p>
            <a:pPr/>
            <a:r>
              <a:rPr lang="en-MY" sz="1100" dirty="0">
                <a:solidFill>
                  <a:srgbClr val="808080"/>
                </a:solidFill>
              </a:rPr>
              <a:t>[Visual: Pelbagai Struktur Persisir Air. Tidak dibenamkan.]</a:t>
            </a:r>
          </a:p>
        </p:txBody>
      </p:sp>
      <p:sp>
        <p:nvSpPr>
          <p:cNvPr id="300" name="OverviewHead"/>
          <p:cNvSpPr txBox="1"/>
          <p:nvPr/>
        </p:nvSpPr>
        <p:spPr>
          <a:xfrm>
            <a:off x="723930" y="5084064"/>
            <a:ext cx="10744200" cy="201168"/>
          </a:xfrm>
          <a:prstGeom prst="rect">
            <a:avLst/>
          </a:prstGeom>
          <a:noFill/>
        </p:spPr>
        <p:txBody>
          <a:bodyPr wrap="square">
            <a:noAutofit/>
          </a:bodyPr>
          <a:lstStyle/>
          <a:p>
            <a:pPr/>
            <a:r>
              <a:rPr lang="en-MY" sz="850" b="1" dirty="0">
                <a:solidFill>
                  <a:srgbClr val="7F6000"/>
                </a:solidFill>
              </a:rPr>
              <a:t>ARAHAN VISUAL — OVERVIEW KOMPONEN (TIDAK DIBENAMKAN)</a:t>
            </a:r>
          </a:p>
        </p:txBody>
      </p:sp>
      <p:sp>
        <p:nvSpPr>
          <p:cNvPr id="301" name="OverviewCard"/>
          <p:cNvSpPr txBox="1"/>
          <p:nvPr/>
        </p:nvSpPr>
        <p:spPr>
          <a:xfrm>
            <a:off x="723930" y="5321808"/>
            <a:ext cx="2002536" cy="984809"/>
          </a:xfrm>
          <a:prstGeom prst="rect">
            <a:avLst/>
          </a:prstGeom>
          <a:solidFill>
            <a:srgbClr val="F7F7F7"/>
          </a:solidFill>
          <a:ln w="12700">
            <a:solidFill>
              <a:srgbClr val="BFBFBF"/>
            </a:solidFill>
          </a:ln>
        </p:spPr>
        <p:txBody>
          <a:bodyPr wrap="square">
            <a:noAutofit/>
          </a:bodyPr>
          <a:lstStyle/>
        </p:txBody>
      </p:sp>
      <p:sp>
        <p:nvSpPr>
          <p:cNvPr id="302" name="OverviewSubject"/>
          <p:cNvSpPr txBox="1"/>
          <p:nvPr/>
        </p:nvSpPr>
        <p:spPr>
          <a:xfrm>
            <a:off x="815370" y="5376672"/>
            <a:ext cx="1819656" cy="193853"/>
          </a:xfrm>
          <a:prstGeom prst="rect">
            <a:avLst/>
          </a:prstGeom>
          <a:noFill/>
        </p:spPr>
        <p:txBody>
          <a:bodyPr wrap="square">
            <a:noAutofit/>
          </a:bodyPr>
          <a:lstStyle/>
          <a:p>
            <a:pPr/>
            <a:r>
              <a:rPr lang="en-MY" sz="900" b="1" i="1" dirty="0">
                <a:solidFill>
                  <a:schemeClr val="tx1">
                    <a:lumMod val="85000"/>
                    <a:lumOff val="15000"/>
                  </a:schemeClr>
                </a:solidFill>
              </a:rPr>
              <a:t>Promenade</a:t>
            </a:r>
          </a:p>
        </p:txBody>
      </p:sp>
      <p:sp>
        <p:nvSpPr>
          <p:cNvPr id="303" name="OverviewDir"/>
          <p:cNvSpPr txBox="1"/>
          <p:nvPr/>
        </p:nvSpPr>
        <p:spPr>
          <a:xfrm>
            <a:off x="815370" y="5607101"/>
            <a:ext cx="1819656" cy="626364"/>
          </a:xfrm>
          <a:prstGeom prst="rect">
            <a:avLst/>
          </a:prstGeom>
          <a:noFill/>
        </p:spPr>
        <p:txBody>
          <a:bodyPr wrap="square">
            <a:noAutofit/>
          </a:bodyPr>
          <a:lstStyle/>
          <a:p>
            <a:pPr/>
            <a:r>
              <a:rPr lang="en-MY" sz="750" dirty="0">
                <a:solidFill>
                  <a:srgbClr val="808080"/>
                </a:solidFill>
              </a:rPr>
              <a:t>[Visual: Promenade Tasik Titiwangsa,</a:t>
            </a:r>
          </a:p>
          <a:p>
            <a:pPr/>
            <a:r>
              <a:rPr lang="en-MY" sz="750" dirty="0">
                <a:solidFill>
                  <a:srgbClr val="808080"/>
                </a:solidFill>
              </a:rPr>
              <a:t>KL]</a:t>
            </a:r>
          </a:p>
        </p:txBody>
      </p:sp>
      <p:sp>
        <p:nvSpPr>
          <p:cNvPr id="304" name="OverviewCard"/>
          <p:cNvSpPr txBox="1"/>
          <p:nvPr/>
        </p:nvSpPr>
        <p:spPr>
          <a:xfrm>
            <a:off x="2909346" y="5321808"/>
            <a:ext cx="2002536" cy="984809"/>
          </a:xfrm>
          <a:prstGeom prst="rect">
            <a:avLst/>
          </a:prstGeom>
          <a:solidFill>
            <a:srgbClr val="F7F7F7"/>
          </a:solidFill>
          <a:ln w="12700">
            <a:solidFill>
              <a:srgbClr val="BFBFBF"/>
            </a:solidFill>
          </a:ln>
        </p:spPr>
        <p:txBody>
          <a:bodyPr wrap="square">
            <a:noAutofit/>
          </a:bodyPr>
          <a:lstStyle/>
        </p:txBody>
      </p:sp>
      <p:sp>
        <p:nvSpPr>
          <p:cNvPr id="305" name="OverviewSubject"/>
          <p:cNvSpPr txBox="1"/>
          <p:nvPr/>
        </p:nvSpPr>
        <p:spPr>
          <a:xfrm>
            <a:off x="3000786" y="5376672"/>
            <a:ext cx="1819656" cy="193853"/>
          </a:xfrm>
          <a:prstGeom prst="rect">
            <a:avLst/>
          </a:prstGeom>
          <a:noFill/>
        </p:spPr>
        <p:txBody>
          <a:bodyPr wrap="square">
            <a:noAutofit/>
          </a:bodyPr>
          <a:lstStyle/>
          <a:p>
            <a:pPr/>
            <a:r>
              <a:rPr lang="en-MY" sz="900" b="1" dirty="0">
                <a:solidFill>
                  <a:schemeClr val="tx1">
                    <a:lumMod val="85000"/>
                    <a:lumOff val="15000"/>
                  </a:schemeClr>
                </a:solidFill>
              </a:rPr>
              <a:t>Jeti</a:t>
            </a:r>
          </a:p>
        </p:txBody>
      </p:sp>
      <p:sp>
        <p:nvSpPr>
          <p:cNvPr id="306" name="OverviewDir"/>
          <p:cNvSpPr txBox="1"/>
          <p:nvPr/>
        </p:nvSpPr>
        <p:spPr>
          <a:xfrm>
            <a:off x="3000786" y="5607101"/>
            <a:ext cx="1819656" cy="626364"/>
          </a:xfrm>
          <a:prstGeom prst="rect">
            <a:avLst/>
          </a:prstGeom>
          <a:noFill/>
        </p:spPr>
        <p:txBody>
          <a:bodyPr wrap="square">
            <a:noAutofit/>
          </a:bodyPr>
          <a:lstStyle/>
          <a:p>
            <a:pPr/>
            <a:r>
              <a:rPr lang="en-MY" sz="750" dirty="0">
                <a:solidFill>
                  <a:srgbClr val="808080"/>
                </a:solidFill>
              </a:rPr>
              <a:t>[Visual: Jeti Lumut, Perak]</a:t>
            </a:r>
          </a:p>
        </p:txBody>
      </p:sp>
      <p:sp>
        <p:nvSpPr>
          <p:cNvPr id="307" name="OverviewCard"/>
          <p:cNvSpPr txBox="1"/>
          <p:nvPr/>
        </p:nvSpPr>
        <p:spPr>
          <a:xfrm>
            <a:off x="5094762" y="5321808"/>
            <a:ext cx="2002536" cy="984809"/>
          </a:xfrm>
          <a:prstGeom prst="rect">
            <a:avLst/>
          </a:prstGeom>
          <a:solidFill>
            <a:srgbClr val="F7F7F7"/>
          </a:solidFill>
          <a:ln w="12700">
            <a:solidFill>
              <a:srgbClr val="BFBFBF"/>
            </a:solidFill>
          </a:ln>
        </p:spPr>
        <p:txBody>
          <a:bodyPr wrap="square">
            <a:noAutofit/>
          </a:bodyPr>
          <a:lstStyle/>
        </p:txBody>
      </p:sp>
      <p:sp>
        <p:nvSpPr>
          <p:cNvPr id="308" name="OverviewSubject"/>
          <p:cNvSpPr txBox="1"/>
          <p:nvPr/>
        </p:nvSpPr>
        <p:spPr>
          <a:xfrm>
            <a:off x="5186202" y="5376672"/>
            <a:ext cx="1819656" cy="193853"/>
          </a:xfrm>
          <a:prstGeom prst="rect">
            <a:avLst/>
          </a:prstGeom>
          <a:noFill/>
        </p:spPr>
        <p:txBody>
          <a:bodyPr wrap="square">
            <a:noAutofit/>
          </a:bodyPr>
          <a:lstStyle/>
          <a:p>
            <a:pPr/>
            <a:r>
              <a:rPr lang="en-MY" sz="900" b="1" dirty="0">
                <a:solidFill>
                  <a:schemeClr val="tx1">
                    <a:lumMod val="85000"/>
                    <a:lumOff val="15000"/>
                  </a:schemeClr>
                </a:solidFill>
              </a:rPr>
              <a:t>Dek Kayu</a:t>
            </a:r>
          </a:p>
        </p:txBody>
      </p:sp>
      <p:sp>
        <p:nvSpPr>
          <p:cNvPr id="309" name="OverviewDir"/>
          <p:cNvSpPr txBox="1"/>
          <p:nvPr/>
        </p:nvSpPr>
        <p:spPr>
          <a:xfrm>
            <a:off x="5186202" y="5607101"/>
            <a:ext cx="1819656" cy="626364"/>
          </a:xfrm>
          <a:prstGeom prst="rect">
            <a:avLst/>
          </a:prstGeom>
          <a:noFill/>
        </p:spPr>
        <p:txBody>
          <a:bodyPr wrap="square">
            <a:noAutofit/>
          </a:bodyPr>
          <a:lstStyle/>
          <a:p>
            <a:pPr/>
            <a:r>
              <a:rPr lang="en-MY" sz="750" dirty="0">
                <a:solidFill>
                  <a:srgbClr val="808080"/>
                </a:solidFill>
              </a:rPr>
              <a:t>[Visual: Wetland Park Putrajaya]</a:t>
            </a:r>
          </a:p>
        </p:txBody>
      </p:sp>
      <p:sp>
        <p:nvSpPr>
          <p:cNvPr id="310" name="OverviewCard"/>
          <p:cNvSpPr txBox="1"/>
          <p:nvPr/>
        </p:nvSpPr>
        <p:spPr>
          <a:xfrm>
            <a:off x="7280178" y="5321808"/>
            <a:ext cx="2002536" cy="984809"/>
          </a:xfrm>
          <a:prstGeom prst="rect">
            <a:avLst/>
          </a:prstGeom>
          <a:solidFill>
            <a:srgbClr val="F7F7F7"/>
          </a:solidFill>
          <a:ln w="12700">
            <a:solidFill>
              <a:srgbClr val="BFBFBF"/>
            </a:solidFill>
          </a:ln>
        </p:spPr>
        <p:txBody>
          <a:bodyPr wrap="square">
            <a:noAutofit/>
          </a:bodyPr>
          <a:lstStyle/>
        </p:txBody>
      </p:sp>
      <p:sp>
        <p:nvSpPr>
          <p:cNvPr id="311" name="OverviewSubject"/>
          <p:cNvSpPr txBox="1"/>
          <p:nvPr/>
        </p:nvSpPr>
        <p:spPr>
          <a:xfrm>
            <a:off x="7371618" y="5376672"/>
            <a:ext cx="1819656" cy="193853"/>
          </a:xfrm>
          <a:prstGeom prst="rect">
            <a:avLst/>
          </a:prstGeom>
          <a:noFill/>
        </p:spPr>
        <p:txBody>
          <a:bodyPr wrap="square">
            <a:noAutofit/>
          </a:bodyPr>
          <a:lstStyle/>
          <a:p>
            <a:pPr/>
            <a:r>
              <a:rPr lang="en-MY" sz="900" b="1" i="1" dirty="0">
                <a:solidFill>
                  <a:schemeClr val="tx1">
                    <a:lumMod val="85000"/>
                    <a:lumOff val="15000"/>
                  </a:schemeClr>
                </a:solidFill>
              </a:rPr>
              <a:t>Boardwalk</a:t>
            </a:r>
          </a:p>
        </p:txBody>
      </p:sp>
      <p:sp>
        <p:nvSpPr>
          <p:cNvPr id="312" name="OverviewDir"/>
          <p:cNvSpPr txBox="1"/>
          <p:nvPr/>
        </p:nvSpPr>
        <p:spPr>
          <a:xfrm>
            <a:off x="7371618" y="5607101"/>
            <a:ext cx="1819656" cy="626364"/>
          </a:xfrm>
          <a:prstGeom prst="rect">
            <a:avLst/>
          </a:prstGeom>
          <a:noFill/>
        </p:spPr>
        <p:txBody>
          <a:bodyPr wrap="square">
            <a:noAutofit/>
          </a:bodyPr>
          <a:lstStyle/>
          <a:p>
            <a:pPr/>
            <a:r>
              <a:rPr lang="en-MY" sz="750" dirty="0">
                <a:solidFill>
                  <a:srgbClr val="808080"/>
                </a:solidFill>
              </a:rPr>
              <a:t>[Visual: Rajah 23 — Contoh Boardwalk</a:t>
            </a:r>
          </a:p>
          <a:p>
            <a:pPr/>
            <a:r>
              <a:rPr lang="en-MY" sz="750" dirty="0">
                <a:solidFill>
                  <a:srgbClr val="808080"/>
                </a:solidFill>
              </a:rPr>
              <a:t>dalam Taman Paya Bakau, modul ms</a:t>
            </a:r>
          </a:p>
          <a:p>
            <a:pPr/>
            <a:r>
              <a:rPr lang="en-MY" sz="750" dirty="0">
                <a:solidFill>
                  <a:srgbClr val="808080"/>
                </a:solidFill>
              </a:rPr>
              <a:t>239. Aset</a:t>
            </a:r>
          </a:p>
          <a:p>
            <a:pPr/>
            <a:r>
              <a:rPr lang="en-MY" sz="750" dirty="0">
                <a:solidFill>
                  <a:srgbClr val="808080"/>
                </a:solidFill>
              </a:rPr>
              <a:t>K5PL06T03-B02-IMG-p239-x20. Tidak</a:t>
            </a:r>
          </a:p>
          <a:p>
            <a:pPr/>
            <a:r>
              <a:rPr lang="en-MY" sz="750" dirty="0">
                <a:solidFill>
                  <a:srgbClr val="808080"/>
                </a:solidFill>
              </a:rPr>
              <a:t>dibenamkan.]</a:t>
            </a:r>
          </a:p>
        </p:txBody>
      </p:sp>
      <p:sp>
        <p:nvSpPr>
          <p:cNvPr id="313" name="OverviewCard"/>
          <p:cNvSpPr txBox="1"/>
          <p:nvPr/>
        </p:nvSpPr>
        <p:spPr>
          <a:xfrm>
            <a:off x="9465594" y="5321808"/>
            <a:ext cx="2002536" cy="984809"/>
          </a:xfrm>
          <a:prstGeom prst="rect">
            <a:avLst/>
          </a:prstGeom>
          <a:solidFill>
            <a:srgbClr val="F7F7F7"/>
          </a:solidFill>
          <a:ln w="12700">
            <a:solidFill>
              <a:srgbClr val="BFBFBF"/>
            </a:solidFill>
          </a:ln>
        </p:spPr>
        <p:txBody>
          <a:bodyPr wrap="square">
            <a:noAutofit/>
          </a:bodyPr>
          <a:lstStyle/>
        </p:txBody>
      </p:sp>
      <p:sp>
        <p:nvSpPr>
          <p:cNvPr id="314" name="OverviewSubject"/>
          <p:cNvSpPr txBox="1"/>
          <p:nvPr/>
        </p:nvSpPr>
        <p:spPr>
          <a:xfrm>
            <a:off x="9557034" y="5376672"/>
            <a:ext cx="1819656" cy="193853"/>
          </a:xfrm>
          <a:prstGeom prst="rect">
            <a:avLst/>
          </a:prstGeom>
          <a:noFill/>
        </p:spPr>
        <p:txBody>
          <a:bodyPr wrap="square">
            <a:noAutofit/>
          </a:bodyPr>
          <a:lstStyle/>
          <a:p>
            <a:pPr/>
            <a:r>
              <a:rPr lang="en-MY" sz="900" b="1" i="1" dirty="0">
                <a:solidFill>
                  <a:schemeClr val="tx1">
                    <a:lumMod val="85000"/>
                    <a:lumOff val="15000"/>
                  </a:schemeClr>
                </a:solidFill>
              </a:rPr>
              <a:t>Footbridge</a:t>
            </a:r>
          </a:p>
        </p:txBody>
      </p:sp>
      <p:sp>
        <p:nvSpPr>
          <p:cNvPr id="315" name="OverviewDir"/>
          <p:cNvSpPr txBox="1"/>
          <p:nvPr/>
        </p:nvSpPr>
        <p:spPr>
          <a:xfrm>
            <a:off x="9557034" y="5607101"/>
            <a:ext cx="1819656" cy="626364"/>
          </a:xfrm>
          <a:prstGeom prst="rect">
            <a:avLst/>
          </a:prstGeom>
          <a:noFill/>
        </p:spPr>
        <p:txBody>
          <a:bodyPr wrap="square">
            <a:noAutofit/>
          </a:bodyPr>
          <a:lstStyle/>
          <a:p>
            <a:pPr/>
            <a:r>
              <a:rPr lang="en-MY" sz="750" dirty="0">
                <a:solidFill>
                  <a:srgbClr val="808080"/>
                </a:solidFill>
              </a:rPr>
              <a:t>[Visual: Footbridge Taman Botani</a:t>
            </a:r>
          </a:p>
          <a:p>
            <a:pPr/>
            <a:r>
              <a:rPr lang="en-MY" sz="750" dirty="0">
                <a:solidFill>
                  <a:srgbClr val="808080"/>
                </a:solidFill>
              </a:rPr>
              <a:t>Perdana]</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Struktur Persisir Air — penerangan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COMPONENT_MAIN_BASE</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main explanation</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[vo_complete]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SCR_STRUKTUR_PERSISIR_AIR_MAIN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kandungan. Kemajuan melalui shell LMS.</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COMPONENT_MAIN_SCREEN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BARIAH_DIRECT</a:t>
            </a:r>
          </a:p>
          <a:p>
            <a:r>
              <a:rPr lang="en-MY" sz="900" dirty="0">
                <a:solidFill>
                  <a:schemeClr val="tx1">
                    <a:lumMod val="85000"/>
                    <a:lumOff val="15000"/>
                  </a:schemeClr>
                </a:solidFill>
              </a:rPr>
              <a:t>  kuasa keperluan: BARIAH_DIRECT_SCREENSHOT</a:t>
            </a:r>
          </a:p>
          <a:p>
            <a:r>
              <a:rPr lang="en-MY" sz="900" dirty="0">
                <a:solidFill>
                  <a:schemeClr val="tx1">
                    <a:lumMod val="85000"/>
                    <a:lumOff val="15000"/>
                  </a:schemeClr>
                </a:solidFill>
              </a:rPr>
              <a:t>  rawatan: SOURCE_BOUND_OVERVIEW</a:t>
            </a:r>
          </a:p>
          <a:p>
            <a:r>
              <a:rPr lang="en-MY" sz="900" dirty="0">
                <a:solidFill>
                  <a:schemeClr val="tx1">
                    <a:lumMod val="85000"/>
                    <a:lumOff val="15000"/>
                  </a:schemeClr>
                </a:solidFill>
              </a:rPr>
              <a:t>  kuasa rawatan: BARIAH_DIRECT_SCREENSHOT</a:t>
            </a:r>
          </a:p>
          <a:p>
            <a:r>
              <a:rPr lang="en-MY" sz="900" dirty="0">
                <a:solidFill>
                  <a:schemeClr val="tx1">
                    <a:lumMod val="85000"/>
                    <a:lumOff val="15000"/>
                  </a:schemeClr>
                </a:solidFill>
              </a:rPr>
              <a:t>  sumber subjek: MODULE_SOURCE_ATTESTED 5</a:t>
            </a:r>
          </a:p>
          <a:p>
            <a:r>
              <a:rPr lang="en-MY" sz="900" dirty="0">
                <a:solidFill>
                  <a:schemeClr val="tx1">
                    <a:lumMod val="85000"/>
                    <a:lumOff val="15000"/>
                  </a:schemeClr>
                </a:solidFill>
              </a:rPr>
              <a:t>  bilangan subjek overview: 5</a:t>
            </a:r>
          </a:p>
          <a:p>
            <a:r>
              <a:rPr lang="en-MY" sz="900" dirty="0">
                <a:solidFill>
                  <a:schemeClr val="tx1">
                    <a:lumMod val="85000"/>
                    <a:lumOff val="15000"/>
                  </a:schemeClr>
                </a:solidFill>
              </a:rPr>
              <a:t>  status pemetaan: RESOLVED</a:t>
            </a:r>
          </a:p>
          <a:p>
            <a:r>
              <a:rPr lang="en-MY" sz="900" dirty="0">
                <a:solidFill>
                  <a:schemeClr val="tx1">
                    <a:lumMod val="85000"/>
                    <a:lumOff val="15000"/>
                  </a:schemeClr>
                </a:solidFill>
              </a:rPr>
              <a:t>  pemetaan instans: COMPLETE</a:t>
            </a:r>
          </a:p>
          <a:p>
            <a:r>
              <a:rPr lang="en-MY" sz="900" dirty="0">
                <a:solidFill>
                  <a:schemeClr val="tx1">
                    <a:lumMod val="85000"/>
                    <a:lumOff val="15000"/>
                  </a:schemeClr>
                </a:solidFill>
              </a:rPr>
              <a:t>  menunggu keputusan manusia: TIDAK</a:t>
            </a:r>
          </a:p>
          <a:p>
            <a:r>
              <a:rPr lang="en-MY" sz="900" dirty="0">
                <a:solidFill>
                  <a:schemeClr val="tx1">
                    <a:lumMod val="85000"/>
                    <a:lumOff val="15000"/>
                  </a:schemeClr>
                </a:solidFill>
              </a:rPr>
              <a:t>  ARAHAN DIGANTI — SUPERSEDED_BY_LATEST_BARIAH_SCREENSHOT:</a:t>
            </a:r>
          </a:p>
          <a:p>
            <a:r>
              <a:rPr lang="en-MY" sz="900" dirty="0">
                <a:solidFill>
                  <a:schemeClr val="tx1">
                    <a:lumMod val="85000"/>
                    <a:lumOff val="15000"/>
                  </a:schemeClr>
                </a:solidFill>
              </a:rPr>
              <a:t>    aktif: [Visual: Pelbagai Struktur Persisir Air. Tidak dibenamkan.]</a:t>
            </a:r>
          </a:p>
          <a:p>
            <a:r>
              <a:rPr lang="en-MY" sz="900" dirty="0">
                <a:solidFill>
                  <a:schemeClr val="tx1">
                    <a:lumMod val="85000"/>
                    <a:lumOff val="15000"/>
                  </a:schemeClr>
                </a:solidFill>
              </a:rPr>
              <a:t>    diganti: [Visual: Rajah 23 — Contoh Boardwalk dalam Taman Paya Bakau, modul ms 239. Tidak dibenamkan.]</a:t>
            </a:r>
          </a:p>
          <a:p>
            <a:r>
              <a:rPr lang="en-MY" sz="900" dirty="0">
                <a:solidFill>
                  <a:schemeClr val="tx1">
                    <a:lumMod val="85000"/>
                    <a:lumOff val="15000"/>
                  </a:schemeClr>
                </a:solidFill>
              </a:rPr>
              <a:t>    lokasi lama: annotated Bariah review deck, slide 10, component-main exemplar</a:t>
            </a:r>
          </a:p>
          <a:p>
            <a:r>
              <a:rPr lang="en-MY" sz="900" dirty="0">
                <a:solidFill>
                  <a:schemeClr val="tx1">
                    <a:lumMod val="85000"/>
                    <a:lumOff val="15000"/>
                  </a:schemeClr>
                </a:solidFill>
              </a:rPr>
              <a:t>    bukti pengganti: B02_BARIAH_STRUKTUR_PERSISIR_EVIDENCE.jpg</a:t>
            </a:r>
          </a:p>
          <a:p>
            <a:r>
              <a:rPr lang="en-MY" sz="900" dirty="0">
                <a:solidFill>
                  <a:schemeClr val="tx1">
                    <a:lumMod val="85000"/>
                    <a:lumOff val="15000"/>
                  </a:schemeClr>
                </a:solidFill>
              </a:rPr>
              <a:t>    nota: Rajah 23 remains the source-attested direction of the Boardwalk EXAMPLE row. What is superseded is its use as the COMPONENT-MAIN screen direction.</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Promenade</a:t>
            </a:r>
          </a:p>
        </p:txBody>
      </p:sp>
      <p:sp>
        <p:nvSpPr>
          <p:cNvPr id="41"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Promenade Tasik Titiwangsa, KL]</a:t>
            </a:r>
          </a:p>
        </p:txBody>
      </p:sp>
      <p:sp>
        <p:nvSpPr>
          <p:cNvPr id="42" name="ItemCard"/>
          <p:cNvSpPr txBox="1"/>
          <p:nvPr/>
        </p:nvSpPr>
        <p:spPr>
          <a:xfrm>
            <a:off x="4433301"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Jeti</a:t>
            </a:r>
          </a:p>
        </p:txBody>
      </p:sp>
      <p:sp>
        <p:nvSpPr>
          <p:cNvPr id="43"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Jeti Lumut, Perak]</a:t>
            </a:r>
          </a:p>
        </p:txBody>
      </p:sp>
      <p:sp>
        <p:nvSpPr>
          <p:cNvPr id="44" name="ItemCard"/>
          <p:cNvSpPr txBox="1"/>
          <p:nvPr/>
        </p:nvSpPr>
        <p:spPr>
          <a:xfrm>
            <a:off x="8142717"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5"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Wetland Park Putrajaya]</a:t>
            </a:r>
          </a:p>
        </p:txBody>
      </p:sp>
      <p:sp>
        <p:nvSpPr>
          <p:cNvPr id="46" name="ItemCard"/>
          <p:cNvSpPr txBox="1"/>
          <p:nvPr/>
        </p:nvSpPr>
        <p:spPr>
          <a:xfrm>
            <a:off x="2578593"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Boardwalk</a:t>
            </a:r>
          </a:p>
        </p:txBody>
      </p:sp>
      <p:sp>
        <p:nvSpPr>
          <p:cNvPr id="47" name="VisualDir"/>
          <p:cNvSpPr txBox="1"/>
          <p:nvPr/>
        </p:nvSpPr>
        <p:spPr>
          <a:xfrm>
            <a:off x="2615169" y="4727448"/>
            <a:ext cx="3252216" cy="457200"/>
          </a:xfrm>
          <a:prstGeom prst="rect">
            <a:avLst/>
          </a:prstGeom>
          <a:noFill/>
        </p:spPr>
        <p:txBody>
          <a:bodyPr wrap="square">
            <a:noAutofit/>
          </a:bodyPr>
          <a:lstStyle/>
          <a:p>
            <a:pPr/>
            <a:r>
              <a:rPr lang="en-MY" sz="800" dirty="0">
                <a:solidFill>
                  <a:srgbClr val="808080"/>
                </a:solidFill>
              </a:rPr>
              <a:t>[Visual: Rajah 23 — Contoh Boardwalk dalam Taman Paya Bakau,</a:t>
            </a:r>
          </a:p>
          <a:p>
            <a:pPr/>
            <a:r>
              <a:rPr lang="en-MY" sz="800" dirty="0">
                <a:solidFill>
                  <a:srgbClr val="808080"/>
                </a:solidFill>
              </a:rPr>
              <a:t>modul ms 239. Aset K5PL06T03-B02-IMG-p239-x20. Tidak</a:t>
            </a:r>
          </a:p>
          <a:p>
            <a:pPr/>
            <a:r>
              <a:rPr lang="en-MY" sz="800" dirty="0">
                <a:solidFill>
                  <a:srgbClr val="808080"/>
                </a:solidFill>
              </a:rPr>
              <a:t>dibenamkan.]</a:t>
            </a:r>
          </a:p>
        </p:txBody>
      </p:sp>
      <p:sp>
        <p:nvSpPr>
          <p:cNvPr id="48" name="ItemCard"/>
          <p:cNvSpPr txBox="1"/>
          <p:nvPr/>
        </p:nvSpPr>
        <p:spPr>
          <a:xfrm>
            <a:off x="6288009"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Footbridge</a:t>
            </a:r>
          </a:p>
        </p:txBody>
      </p:sp>
      <p:sp>
        <p:nvSpPr>
          <p:cNvPr id="49" name="VisualDir"/>
          <p:cNvSpPr txBox="1"/>
          <p:nvPr/>
        </p:nvSpPr>
        <p:spPr>
          <a:xfrm>
            <a:off x="6324585" y="4727448"/>
            <a:ext cx="3252216" cy="457200"/>
          </a:xfrm>
          <a:prstGeom prst="rect">
            <a:avLst/>
          </a:prstGeom>
          <a:noFill/>
        </p:spPr>
        <p:txBody>
          <a:bodyPr wrap="square">
            <a:noAutofit/>
          </a:bodyPr>
          <a:lstStyle/>
          <a:p>
            <a:pPr/>
            <a:r>
              <a:rPr lang="en-MY" sz="800" dirty="0">
                <a:solidFill>
                  <a:srgbClr val="808080"/>
                </a:solidFill>
              </a:rPr>
              <a:t>[Visual: Footbridge Taman Botani Perdana]</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selection, none viewed</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[component_complete[STRUKTUR_PERSISIR_AIR]]</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K5-PL06-T03-B02-STRUKTUR-PERSISIR-AIR-ROW-01</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K5-PL06-T03-B02-STRUKTUR-PERSISIR-AIR-ROW-02</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K5-PL06-T03-B02-STRUKTUR-PERSISIR-AIR-ROW-03</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K5-PL06-T03-B02-STRUKTUR-PERSISIR-AIR-ROW-04</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K5-PL06-T03-B02-STRUKTUR-PERSISIR-AIR-ROW-05</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II_STRUKTUR_PERSISIR_AIR_EX01  &lt;-  K5-PL06-T03-B02-STRUKTUR-PERSISIR-AIR-ROW-01</a:t>
            </a:r>
          </a:p>
          <a:p>
            <a:r>
              <a:rPr lang="en-MY" sz="900" dirty="0">
                <a:solidFill>
                  <a:schemeClr val="tx1">
                    <a:lumMod val="85000"/>
                    <a:lumOff val="15000"/>
                  </a:schemeClr>
                </a:solidFill>
              </a:rPr>
              <a:t>  II_STRUKTUR_PERSISIR_AIR_EX02  &lt;-  K5-PL06-T03-B02-STRUKTUR-PERSISIR-AIR-ROW-02</a:t>
            </a:r>
          </a:p>
          <a:p>
            <a:r>
              <a:rPr lang="en-MY" sz="900" dirty="0">
                <a:solidFill>
                  <a:schemeClr val="tx1">
                    <a:lumMod val="85000"/>
                    <a:lumOff val="15000"/>
                  </a:schemeClr>
                </a:solidFill>
              </a:rPr>
              <a:t>  II_STRUKTUR_PERSISIR_AIR_EX03  &lt;-  K5-PL06-T03-B02-STRUKTUR-PERSISIR-AIR-ROW-03</a:t>
            </a:r>
          </a:p>
          <a:p>
            <a:r>
              <a:rPr lang="en-MY" sz="900" dirty="0">
                <a:solidFill>
                  <a:schemeClr val="tx1">
                    <a:lumMod val="85000"/>
                    <a:lumOff val="15000"/>
                  </a:schemeClr>
                </a:solidFill>
              </a:rPr>
              <a:t>  II_STRUKTUR_PERSISIR_AIR_EX04  &lt;-  K5-PL06-T03-B02-STRUKTUR-PERSISIR-AIR-ROW-04</a:t>
            </a:r>
          </a:p>
          <a:p>
            <a:r>
              <a:rPr lang="en-MY" sz="900" dirty="0">
                <a:solidFill>
                  <a:schemeClr val="tx1">
                    <a:lumMod val="85000"/>
                    <a:lumOff val="15000"/>
                  </a:schemeClr>
                </a:solidFill>
              </a:rPr>
              <a:t>  II_STRUKTUR_PERSISIR_AIR_EX05  &lt;-  K5-PL06-T03-B02-STRUKTUR-PERSISIR-AIR-ROW-05</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0/5 contoh dilihat.</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contoh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EXAMPLE_SELECTION_SCREEN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RESOLVED_PER_EXAMPLE_CARD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  visual setiap contoh (satu per kad):</a:t>
            </a:r>
          </a:p>
          <a:p>
            <a:r>
              <a:rPr lang="en-MY" sz="900" dirty="0">
                <a:solidFill>
                  <a:schemeClr val="tx1">
                    <a:lumMod val="85000"/>
                    <a:lumOff val="15000"/>
                  </a:schemeClr>
                </a:solidFill>
              </a:rPr>
              <a:t>    Promenade — [Visual: Promenade Tasik Titiwangsa, KL]</a:t>
            </a:r>
          </a:p>
          <a:p>
            <a:r>
              <a:rPr lang="en-MY" sz="900" dirty="0">
                <a:solidFill>
                  <a:schemeClr val="tx1">
                    <a:lumMod val="85000"/>
                    <a:lumOff val="15000"/>
                  </a:schemeClr>
                </a:solidFill>
              </a:rPr>
              <a:t>    Jeti — [Visual: Jeti Lumut, Perak]</a:t>
            </a:r>
          </a:p>
          <a:p>
            <a:r>
              <a:rPr lang="en-MY" sz="900" dirty="0">
                <a:solidFill>
                  <a:schemeClr val="tx1">
                    <a:lumMod val="85000"/>
                    <a:lumOff val="15000"/>
                  </a:schemeClr>
                </a:solidFill>
              </a:rPr>
              <a:t>    Dek Kayu — [Visual: Wetland Park Putrajaya]</a:t>
            </a:r>
          </a:p>
          <a:p>
            <a:r>
              <a:rPr lang="en-MY" sz="900" dirty="0">
                <a:solidFill>
                  <a:schemeClr val="tx1">
                    <a:lumMod val="85000"/>
                    <a:lumOff val="15000"/>
                  </a:schemeClr>
                </a:solidFill>
              </a:rPr>
              <a:t>    Boardwalk — [Visual: Rajah 23 — Contoh Boardwalk dalam Taman Paya Bakau, modul ms 239. Aset K5PL06T03-B02-IMG-p239-x20. Tidak dibenamkan.]</a:t>
            </a:r>
          </a:p>
          <a:p>
            <a:r>
              <a:rPr lang="en-MY" sz="900" dirty="0">
                <a:solidFill>
                  <a:schemeClr val="tx1">
                    <a:lumMod val="85000"/>
                    <a:lumOff val="15000"/>
                  </a:schemeClr>
                </a:solidFill>
              </a:rPr>
              <a:t>    Footbridge — [Visual: Footbridge Taman Botani Perdana]</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Promenade</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Promenade Tasik Titiwangsa, KL]</a:t>
            </a:r>
          </a:p>
        </p:txBody>
      </p:sp>
      <p:sp>
        <p:nvSpPr>
          <p:cNvPr id="43" name="ItemCard"/>
          <p:cNvSpPr txBox="1"/>
          <p:nvPr/>
        </p:nvSpPr>
        <p:spPr>
          <a:xfrm>
            <a:off x="4433301"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Jeti</a:t>
            </a:r>
          </a:p>
        </p:txBody>
      </p:sp>
      <p:sp>
        <p:nvSpPr>
          <p:cNvPr id="44"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Jeti Lumut, Perak]</a:t>
            </a:r>
          </a:p>
        </p:txBody>
      </p:sp>
      <p:sp>
        <p:nvSpPr>
          <p:cNvPr id="45" name="ItemCard"/>
          <p:cNvSpPr txBox="1"/>
          <p:nvPr/>
        </p:nvSpPr>
        <p:spPr>
          <a:xfrm>
            <a:off x="8142717"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6"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Wetland Park Putrajaya]</a:t>
            </a:r>
          </a:p>
        </p:txBody>
      </p:sp>
      <p:sp>
        <p:nvSpPr>
          <p:cNvPr id="47" name="ItemCard"/>
          <p:cNvSpPr txBox="1"/>
          <p:nvPr/>
        </p:nvSpPr>
        <p:spPr>
          <a:xfrm>
            <a:off x="2578593"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Boardwalk</a:t>
            </a:r>
          </a:p>
        </p:txBody>
      </p:sp>
      <p:sp>
        <p:nvSpPr>
          <p:cNvPr id="48" name="VisualDir"/>
          <p:cNvSpPr txBox="1"/>
          <p:nvPr/>
        </p:nvSpPr>
        <p:spPr>
          <a:xfrm>
            <a:off x="2615169" y="4727448"/>
            <a:ext cx="3252216" cy="457200"/>
          </a:xfrm>
          <a:prstGeom prst="rect">
            <a:avLst/>
          </a:prstGeom>
          <a:noFill/>
        </p:spPr>
        <p:txBody>
          <a:bodyPr wrap="square">
            <a:noAutofit/>
          </a:bodyPr>
          <a:lstStyle/>
          <a:p>
            <a:pPr/>
            <a:r>
              <a:rPr lang="en-MY" sz="800" dirty="0">
                <a:solidFill>
                  <a:srgbClr val="808080"/>
                </a:solidFill>
              </a:rPr>
              <a:t>[Visual: Rajah 23 — Contoh Boardwalk dalam Taman Paya Bakau,</a:t>
            </a:r>
          </a:p>
          <a:p>
            <a:pPr/>
            <a:r>
              <a:rPr lang="en-MY" sz="800" dirty="0">
                <a:solidFill>
                  <a:srgbClr val="808080"/>
                </a:solidFill>
              </a:rPr>
              <a:t>modul ms 239. Aset K5PL06T03-B02-IMG-p239-x20. Tidak</a:t>
            </a:r>
          </a:p>
          <a:p>
            <a:pPr/>
            <a:r>
              <a:rPr lang="en-MY" sz="800" dirty="0">
                <a:solidFill>
                  <a:srgbClr val="808080"/>
                </a:solidFill>
              </a:rPr>
              <a:t>dibenamkan.]</a:t>
            </a:r>
          </a:p>
        </p:txBody>
      </p:sp>
      <p:sp>
        <p:nvSpPr>
          <p:cNvPr id="49" name="ItemCard"/>
          <p:cNvSpPr txBox="1"/>
          <p:nvPr/>
        </p:nvSpPr>
        <p:spPr>
          <a:xfrm>
            <a:off x="6288009"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Footbridge</a:t>
            </a:r>
          </a:p>
        </p:txBody>
      </p:sp>
      <p:sp>
        <p:nvSpPr>
          <p:cNvPr id="50" name="VisualDir"/>
          <p:cNvSpPr txBox="1"/>
          <p:nvPr/>
        </p:nvSpPr>
        <p:spPr>
          <a:xfrm>
            <a:off x="6324585" y="4727448"/>
            <a:ext cx="3252216" cy="457200"/>
          </a:xfrm>
          <a:prstGeom prst="rect">
            <a:avLst/>
          </a:prstGeom>
          <a:noFill/>
        </p:spPr>
        <p:txBody>
          <a:bodyPr wrap="square">
            <a:noAutofit/>
          </a:bodyPr>
          <a:lstStyle/>
          <a:p>
            <a:pPr/>
            <a:r>
              <a:rPr lang="en-MY" sz="800" dirty="0">
                <a:solidFill>
                  <a:srgbClr val="808080"/>
                </a:solidFill>
              </a:rPr>
              <a:t>[Visual: Footbridge Taman Botani Perdana]</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257800" cy="365760"/>
          </a:xfrm>
          <a:prstGeom prst="rect">
            <a:avLst/>
          </a:prstGeom>
          <a:noFill/>
        </p:spPr>
        <p:txBody>
          <a:bodyPr wrap="square">
            <a:noAutofit/>
          </a:bodyPr>
          <a:lstStyle/>
          <a:p>
            <a:pPr/>
            <a:r>
              <a:rPr lang="en-MY" sz="2000" b="1" i="1" dirty="0">
                <a:solidFill>
                  <a:schemeClr val="tx1">
                    <a:lumMod val="85000"/>
                    <a:lumOff val="15000"/>
                  </a:schemeClr>
                </a:solidFill>
              </a:rPr>
              <a:t>Promenade</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25780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257800" cy="429768"/>
          </a:xfrm>
          <a:prstGeom prst="rect">
            <a:avLst/>
          </a:prstGeom>
          <a:noFill/>
        </p:spPr>
        <p:txBody>
          <a:bodyPr wrap="square">
            <a:noAutofit/>
          </a:bodyPr>
          <a:lstStyle/>
          <a:p>
            <a:pPr/>
            <a:r>
              <a:rPr lang="en-MY" sz="1250" dirty="0">
                <a:solidFill>
                  <a:schemeClr val="tx1">
                    <a:lumMod val="85000"/>
                    <a:lumOff val="15000"/>
                  </a:schemeClr>
                </a:solidFill>
              </a:rPr>
              <a:t>Laluan lebar di sepanjang pinggir air, selesa untuk</a:t>
            </a:r>
          </a:p>
          <a:p>
            <a:pPr/>
            <a:r>
              <a:rPr lang="en-MY" sz="1250" dirty="0">
                <a:solidFill>
                  <a:schemeClr val="tx1">
                    <a:lumMod val="85000"/>
                    <a:lumOff val="15000"/>
                  </a:schemeClr>
                </a:solidFill>
              </a:rPr>
              <a:t>berjalan dan bersantai.</a:t>
            </a:r>
          </a:p>
        </p:txBody>
      </p:sp>
      <p:sp>
        <p:nvSpPr>
          <p:cNvPr id="212" name="FHead"/>
          <p:cNvSpPr txBox="1"/>
          <p:nvPr/>
        </p:nvSpPr>
        <p:spPr>
          <a:xfrm>
            <a:off x="1490472" y="3044952"/>
            <a:ext cx="525780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257800" cy="219456"/>
          </a:xfrm>
          <a:prstGeom prst="rect">
            <a:avLst/>
          </a:prstGeom>
          <a:noFill/>
        </p:spPr>
        <p:txBody>
          <a:bodyPr wrap="square">
            <a:noAutofit/>
          </a:bodyPr>
          <a:lstStyle/>
          <a:p>
            <a:pPr/>
            <a:r>
              <a:rPr lang="en-MY" sz="1250" i="1" dirty="0">
                <a:solidFill>
                  <a:schemeClr val="tx1">
                    <a:lumMod val="85000"/>
                    <a:lumOff val="15000"/>
                  </a:schemeClr>
                </a:solidFill>
              </a:rPr>
              <a:t>Promenade</a:t>
            </a:r>
            <a:r>
              <a:rPr lang="en-MY" sz="1250" dirty="0">
                <a:solidFill>
                  <a:schemeClr val="tx1">
                    <a:lumMod val="85000"/>
                    <a:lumOff val="15000"/>
                  </a:schemeClr>
                </a:solidFill>
              </a:rPr>
              <a:t> Tasik Titiwangsa, KL</a:t>
            </a:r>
          </a:p>
        </p:txBody>
      </p:sp>
      <p:sp>
        <p:nvSpPr>
          <p:cNvPr id="230" name="VisualPanel"/>
          <p:cNvSpPr txBox="1"/>
          <p:nvPr/>
        </p:nvSpPr>
        <p:spPr>
          <a:xfrm>
            <a:off x="6903720" y="2157984"/>
            <a:ext cx="3785616"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068312" y="2286000"/>
            <a:ext cx="3456432"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068312" y="2542032"/>
            <a:ext cx="3456432" cy="256032"/>
          </a:xfrm>
          <a:prstGeom prst="rect">
            <a:avLst/>
          </a:prstGeom>
          <a:noFill/>
        </p:spPr>
        <p:txBody>
          <a:bodyPr wrap="square">
            <a:noAutofit/>
          </a:bodyPr>
          <a:lstStyle/>
          <a:p>
            <a:pPr/>
            <a:r>
              <a:rPr lang="en-MY" sz="1150" dirty="0">
                <a:solidFill>
                  <a:schemeClr val="tx1">
                    <a:lumMod val="85000"/>
                    <a:lumOff val="15000"/>
                  </a:schemeClr>
                </a:solidFill>
              </a:rPr>
              <a:t>[Visual: </a:t>
            </a:r>
            <a:r>
              <a:rPr lang="en-MY" sz="1150" i="1" dirty="0">
                <a:solidFill>
                  <a:schemeClr val="tx1">
                    <a:lumMod val="85000"/>
                    <a:lumOff val="15000"/>
                  </a:schemeClr>
                </a:solidFill>
              </a:rPr>
              <a:t>Promenade</a:t>
            </a:r>
            <a:r>
              <a:rPr lang="en-MY" sz="1150" dirty="0">
                <a:solidFill>
                  <a:schemeClr val="tx1">
                    <a:lumMod val="85000"/>
                    <a:lumOff val="15000"/>
                  </a:schemeClr>
                </a:solidFill>
              </a:rPr>
              <a:t> Tasik Titiwangsa, KL]</a:t>
            </a:r>
          </a:p>
        </p:txBody>
      </p:sp>
      <p:sp>
        <p:nvSpPr>
          <p:cNvPr id="233" name="VisualPanelArea"/>
          <p:cNvSpPr txBox="1"/>
          <p:nvPr/>
        </p:nvSpPr>
        <p:spPr>
          <a:xfrm>
            <a:off x="7068312" y="3758184"/>
            <a:ext cx="3456432"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SCR_STRUKTUR_PERSISIR_AIR_EXAMPLES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K5-PL06-T03-B02-STRUKTUR-PERSISIR-AIR-ROW-01</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II_STRUKTUR_PERSISIR_AIR_EX01  &lt;-  K5-PL06-T03-B02-STRUKTUR-PERSISIR-AIR-ROW-01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1/5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Promenade</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Promenade Tasik Titiwangsa, KL]</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Jeti</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Jeti Lumut, Perak]</a:t>
            </a:r>
          </a:p>
        </p:txBody>
      </p:sp>
      <p:sp>
        <p:nvSpPr>
          <p:cNvPr id="46" name="ItemCard"/>
          <p:cNvSpPr txBox="1"/>
          <p:nvPr/>
        </p:nvSpPr>
        <p:spPr>
          <a:xfrm>
            <a:off x="8142717"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7"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Wetland Park Putrajaya]</a:t>
            </a:r>
          </a:p>
        </p:txBody>
      </p:sp>
      <p:sp>
        <p:nvSpPr>
          <p:cNvPr id="48" name="ItemCard"/>
          <p:cNvSpPr txBox="1"/>
          <p:nvPr/>
        </p:nvSpPr>
        <p:spPr>
          <a:xfrm>
            <a:off x="2578593"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Boardwalk</a:t>
            </a:r>
          </a:p>
        </p:txBody>
      </p:sp>
      <p:sp>
        <p:nvSpPr>
          <p:cNvPr id="49" name="VisualDir"/>
          <p:cNvSpPr txBox="1"/>
          <p:nvPr/>
        </p:nvSpPr>
        <p:spPr>
          <a:xfrm>
            <a:off x="2615169" y="4727448"/>
            <a:ext cx="3252216" cy="457200"/>
          </a:xfrm>
          <a:prstGeom prst="rect">
            <a:avLst/>
          </a:prstGeom>
          <a:noFill/>
        </p:spPr>
        <p:txBody>
          <a:bodyPr wrap="square">
            <a:noAutofit/>
          </a:bodyPr>
          <a:lstStyle/>
          <a:p>
            <a:pPr/>
            <a:r>
              <a:rPr lang="en-MY" sz="800" dirty="0">
                <a:solidFill>
                  <a:srgbClr val="808080"/>
                </a:solidFill>
              </a:rPr>
              <a:t>[Visual: Rajah 23 — Contoh Boardwalk dalam Taman Paya Bakau,</a:t>
            </a:r>
          </a:p>
          <a:p>
            <a:pPr/>
            <a:r>
              <a:rPr lang="en-MY" sz="800" dirty="0">
                <a:solidFill>
                  <a:srgbClr val="808080"/>
                </a:solidFill>
              </a:rPr>
              <a:t>modul ms 239. Aset K5PL06T03-B02-IMG-p239-x20. Tidak</a:t>
            </a:r>
          </a:p>
          <a:p>
            <a:pPr/>
            <a:r>
              <a:rPr lang="en-MY" sz="800" dirty="0">
                <a:solidFill>
                  <a:srgbClr val="808080"/>
                </a:solidFill>
              </a:rPr>
              <a:t>dibenamkan.]</a:t>
            </a:r>
          </a:p>
        </p:txBody>
      </p:sp>
      <p:sp>
        <p:nvSpPr>
          <p:cNvPr id="50" name="ItemCard"/>
          <p:cNvSpPr txBox="1"/>
          <p:nvPr/>
        </p:nvSpPr>
        <p:spPr>
          <a:xfrm>
            <a:off x="6288009"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Footbridge</a:t>
            </a:r>
          </a:p>
        </p:txBody>
      </p:sp>
      <p:sp>
        <p:nvSpPr>
          <p:cNvPr id="51" name="VisualDir"/>
          <p:cNvSpPr txBox="1"/>
          <p:nvPr/>
        </p:nvSpPr>
        <p:spPr>
          <a:xfrm>
            <a:off x="6324585" y="4727448"/>
            <a:ext cx="3252216" cy="457200"/>
          </a:xfrm>
          <a:prstGeom prst="rect">
            <a:avLst/>
          </a:prstGeom>
          <a:noFill/>
        </p:spPr>
        <p:txBody>
          <a:bodyPr wrap="square">
            <a:noAutofit/>
          </a:bodyPr>
          <a:lstStyle/>
          <a:p>
            <a:pPr/>
            <a:r>
              <a:rPr lang="en-MY" sz="800" dirty="0">
                <a:solidFill>
                  <a:srgbClr val="808080"/>
                </a:solidFill>
              </a:rPr>
              <a:t>[Visual: Footbridge Taman Botani Perdana]</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257800" cy="365760"/>
          </a:xfrm>
          <a:prstGeom prst="rect">
            <a:avLst/>
          </a:prstGeom>
          <a:noFill/>
        </p:spPr>
        <p:txBody>
          <a:bodyPr wrap="square">
            <a:noAutofit/>
          </a:bodyPr>
          <a:lstStyle/>
          <a:p>
            <a:pPr/>
            <a:r>
              <a:rPr lang="en-MY" sz="2000" b="1" dirty="0">
                <a:solidFill>
                  <a:schemeClr val="tx1">
                    <a:lumMod val="85000"/>
                    <a:lumOff val="15000"/>
                  </a:schemeClr>
                </a:solidFill>
              </a:rPr>
              <a:t>Jeti</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25780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257800" cy="429768"/>
          </a:xfrm>
          <a:prstGeom prst="rect">
            <a:avLst/>
          </a:prstGeom>
          <a:noFill/>
        </p:spPr>
        <p:txBody>
          <a:bodyPr wrap="square">
            <a:noAutofit/>
          </a:bodyPr>
          <a:lstStyle/>
          <a:p>
            <a:pPr/>
            <a:r>
              <a:rPr lang="en-MY" sz="1250" dirty="0">
                <a:solidFill>
                  <a:schemeClr val="tx1">
                    <a:lumMod val="85000"/>
                    <a:lumOff val="15000"/>
                  </a:schemeClr>
                </a:solidFill>
              </a:rPr>
              <a:t>Platform atau pelantar panjang untuk akses ke air,</a:t>
            </a:r>
          </a:p>
          <a:p>
            <a:pPr/>
            <a:r>
              <a:rPr lang="en-MY" sz="1250" dirty="0">
                <a:solidFill>
                  <a:schemeClr val="tx1">
                    <a:lumMod val="85000"/>
                    <a:lumOff val="15000"/>
                  </a:schemeClr>
                </a:solidFill>
              </a:rPr>
              <a:t>sering digunakan untuk bot.</a:t>
            </a:r>
          </a:p>
        </p:txBody>
      </p:sp>
      <p:sp>
        <p:nvSpPr>
          <p:cNvPr id="212" name="FHead"/>
          <p:cNvSpPr txBox="1"/>
          <p:nvPr/>
        </p:nvSpPr>
        <p:spPr>
          <a:xfrm>
            <a:off x="1490472" y="3044952"/>
            <a:ext cx="525780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257800" cy="219456"/>
          </a:xfrm>
          <a:prstGeom prst="rect">
            <a:avLst/>
          </a:prstGeom>
          <a:noFill/>
        </p:spPr>
        <p:txBody>
          <a:bodyPr wrap="square">
            <a:noAutofit/>
          </a:bodyPr>
          <a:lstStyle/>
          <a:p>
            <a:pPr/>
            <a:r>
              <a:rPr lang="en-MY" sz="1250" dirty="0">
                <a:solidFill>
                  <a:schemeClr val="tx1">
                    <a:lumMod val="85000"/>
                    <a:lumOff val="15000"/>
                  </a:schemeClr>
                </a:solidFill>
              </a:rPr>
              <a:t>Jeti Lumut, Perak</a:t>
            </a:r>
          </a:p>
        </p:txBody>
      </p:sp>
      <p:sp>
        <p:nvSpPr>
          <p:cNvPr id="230" name="VisualPanel"/>
          <p:cNvSpPr txBox="1"/>
          <p:nvPr/>
        </p:nvSpPr>
        <p:spPr>
          <a:xfrm>
            <a:off x="6903720" y="2157984"/>
            <a:ext cx="3785616"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068312" y="2286000"/>
            <a:ext cx="3456432"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068312" y="2542032"/>
            <a:ext cx="3456432" cy="256032"/>
          </a:xfrm>
          <a:prstGeom prst="rect">
            <a:avLst/>
          </a:prstGeom>
          <a:noFill/>
        </p:spPr>
        <p:txBody>
          <a:bodyPr wrap="square">
            <a:noAutofit/>
          </a:bodyPr>
          <a:lstStyle/>
          <a:p>
            <a:pPr/>
            <a:r>
              <a:rPr lang="en-MY" sz="1150" dirty="0">
                <a:solidFill>
                  <a:schemeClr val="tx1">
                    <a:lumMod val="85000"/>
                    <a:lumOff val="15000"/>
                  </a:schemeClr>
                </a:solidFill>
              </a:rPr>
              <a:t>[Visual: Jeti Lumut, Perak]</a:t>
            </a:r>
          </a:p>
        </p:txBody>
      </p:sp>
      <p:sp>
        <p:nvSpPr>
          <p:cNvPr id="233" name="VisualPanelArea"/>
          <p:cNvSpPr txBox="1"/>
          <p:nvPr/>
        </p:nvSpPr>
        <p:spPr>
          <a:xfrm>
            <a:off x="7068312" y="3758184"/>
            <a:ext cx="3456432"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SCR_STRUKTUR_PERSISIR_AIR_EXAMPLES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K5-PL06-T03-B02-STRUKTUR-PERSISIR-AIR-ROW-02</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II_STRUKTUR_PERSISIR_AIR_EX02  &lt;-  K5-PL06-T03-B02-STRUKTUR-PERSISIR-AIR-ROW-02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2/5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Promenade</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Promenade Tasik Titiwangsa, KL]</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Jeti</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Jeti Lumut, Perak]</a:t>
            </a:r>
          </a:p>
        </p:txBody>
      </p:sp>
      <p:sp>
        <p:nvSpPr>
          <p:cNvPr id="46" name="ItemCard"/>
          <p:cNvSpPr txBox="1"/>
          <p:nvPr/>
        </p:nvSpPr>
        <p:spPr>
          <a:xfrm>
            <a:off x="8142717"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7"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Wetland Park Putrajaya]</a:t>
            </a:r>
          </a:p>
        </p:txBody>
      </p:sp>
      <p:sp>
        <p:nvSpPr>
          <p:cNvPr id="49" name="ItemCard"/>
          <p:cNvSpPr txBox="1"/>
          <p:nvPr/>
        </p:nvSpPr>
        <p:spPr>
          <a:xfrm>
            <a:off x="2578593"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Boardwalk</a:t>
            </a:r>
          </a:p>
        </p:txBody>
      </p:sp>
      <p:sp>
        <p:nvSpPr>
          <p:cNvPr id="50" name="VisualDir"/>
          <p:cNvSpPr txBox="1"/>
          <p:nvPr/>
        </p:nvSpPr>
        <p:spPr>
          <a:xfrm>
            <a:off x="2615169" y="4727448"/>
            <a:ext cx="3252216" cy="457200"/>
          </a:xfrm>
          <a:prstGeom prst="rect">
            <a:avLst/>
          </a:prstGeom>
          <a:noFill/>
        </p:spPr>
        <p:txBody>
          <a:bodyPr wrap="square">
            <a:noAutofit/>
          </a:bodyPr>
          <a:lstStyle/>
          <a:p>
            <a:pPr/>
            <a:r>
              <a:rPr lang="en-MY" sz="800" dirty="0">
                <a:solidFill>
                  <a:srgbClr val="808080"/>
                </a:solidFill>
              </a:rPr>
              <a:t>[Visual: Rajah 23 — Contoh Boardwalk dalam Taman Paya Bakau,</a:t>
            </a:r>
          </a:p>
          <a:p>
            <a:pPr/>
            <a:r>
              <a:rPr lang="en-MY" sz="800" dirty="0">
                <a:solidFill>
                  <a:srgbClr val="808080"/>
                </a:solidFill>
              </a:rPr>
              <a:t>modul ms 239. Aset K5PL06T03-B02-IMG-p239-x20. Tidak</a:t>
            </a:r>
          </a:p>
          <a:p>
            <a:pPr/>
            <a:r>
              <a:rPr lang="en-MY" sz="800" dirty="0">
                <a:solidFill>
                  <a:srgbClr val="808080"/>
                </a:solidFill>
              </a:rPr>
              <a:t>dibenamkan.]</a:t>
            </a:r>
          </a:p>
        </p:txBody>
      </p:sp>
      <p:sp>
        <p:nvSpPr>
          <p:cNvPr id="51" name="ItemCard"/>
          <p:cNvSpPr txBox="1"/>
          <p:nvPr/>
        </p:nvSpPr>
        <p:spPr>
          <a:xfrm>
            <a:off x="6288009"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Footbridge</a:t>
            </a:r>
          </a:p>
        </p:txBody>
      </p:sp>
      <p:sp>
        <p:nvSpPr>
          <p:cNvPr id="52" name="VisualDir"/>
          <p:cNvSpPr txBox="1"/>
          <p:nvPr/>
        </p:nvSpPr>
        <p:spPr>
          <a:xfrm>
            <a:off x="6324585" y="4727448"/>
            <a:ext cx="3252216" cy="457200"/>
          </a:xfrm>
          <a:prstGeom prst="rect">
            <a:avLst/>
          </a:prstGeom>
          <a:noFill/>
        </p:spPr>
        <p:txBody>
          <a:bodyPr wrap="square">
            <a:noAutofit/>
          </a:bodyPr>
          <a:lstStyle/>
          <a:p>
            <a:pPr/>
            <a:r>
              <a:rPr lang="en-MY" sz="800" dirty="0">
                <a:solidFill>
                  <a:srgbClr val="808080"/>
                </a:solidFill>
              </a:rPr>
              <a:t>[Visual: Footbridge Taman Botani Perdana]</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257800" cy="365760"/>
          </a:xfrm>
          <a:prstGeom prst="rect">
            <a:avLst/>
          </a:prstGeom>
          <a:noFill/>
        </p:spPr>
        <p:txBody>
          <a:bodyPr wrap="square">
            <a:noAutofit/>
          </a:bodyPr>
          <a:lstStyle/>
          <a:p>
            <a:pPr/>
            <a:r>
              <a:rPr lang="en-MY" sz="2000" b="1" dirty="0">
                <a:solidFill>
                  <a:schemeClr val="tx1">
                    <a:lumMod val="85000"/>
                    <a:lumOff val="15000"/>
                  </a:schemeClr>
                </a:solidFill>
              </a:rPr>
              <a:t>Dek Kayu</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25780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257800" cy="429768"/>
          </a:xfrm>
          <a:prstGeom prst="rect">
            <a:avLst/>
          </a:prstGeom>
          <a:noFill/>
        </p:spPr>
        <p:txBody>
          <a:bodyPr wrap="square">
            <a:noAutofit/>
          </a:bodyPr>
          <a:lstStyle/>
          <a:p>
            <a:pPr/>
            <a:r>
              <a:rPr lang="en-MY" sz="1250" dirty="0">
                <a:solidFill>
                  <a:schemeClr val="tx1">
                    <a:lumMod val="85000"/>
                    <a:lumOff val="15000"/>
                  </a:schemeClr>
                </a:solidFill>
              </a:rPr>
              <a:t>Ruang kayu terbuka di atas atau berhampiran air</a:t>
            </a:r>
          </a:p>
          <a:p>
            <a:pPr/>
            <a:r>
              <a:rPr lang="en-MY" sz="1250" dirty="0">
                <a:solidFill>
                  <a:schemeClr val="tx1">
                    <a:lumMod val="85000"/>
                    <a:lumOff val="15000"/>
                  </a:schemeClr>
                </a:solidFill>
              </a:rPr>
              <a:t>untuk rehat &amp; pemandangan.</a:t>
            </a:r>
          </a:p>
        </p:txBody>
      </p:sp>
      <p:sp>
        <p:nvSpPr>
          <p:cNvPr id="212" name="FHead"/>
          <p:cNvSpPr txBox="1"/>
          <p:nvPr/>
        </p:nvSpPr>
        <p:spPr>
          <a:xfrm>
            <a:off x="1490472" y="3044952"/>
            <a:ext cx="525780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257800" cy="219456"/>
          </a:xfrm>
          <a:prstGeom prst="rect">
            <a:avLst/>
          </a:prstGeom>
          <a:noFill/>
        </p:spPr>
        <p:txBody>
          <a:bodyPr wrap="square">
            <a:noAutofit/>
          </a:bodyPr>
          <a:lstStyle/>
          <a:p>
            <a:pPr/>
            <a:r>
              <a:rPr lang="en-MY" sz="1250" dirty="0">
                <a:solidFill>
                  <a:schemeClr val="tx1">
                    <a:lumMod val="85000"/>
                    <a:lumOff val="15000"/>
                  </a:schemeClr>
                </a:solidFill>
              </a:rPr>
              <a:t>Wetland Park Putrajaya</a:t>
            </a:r>
          </a:p>
        </p:txBody>
      </p:sp>
      <p:sp>
        <p:nvSpPr>
          <p:cNvPr id="230" name="VisualPanel"/>
          <p:cNvSpPr txBox="1"/>
          <p:nvPr/>
        </p:nvSpPr>
        <p:spPr>
          <a:xfrm>
            <a:off x="6903720" y="2157984"/>
            <a:ext cx="3785616"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068312" y="2286000"/>
            <a:ext cx="3456432"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068312" y="2542032"/>
            <a:ext cx="3456432" cy="256032"/>
          </a:xfrm>
          <a:prstGeom prst="rect">
            <a:avLst/>
          </a:prstGeom>
          <a:noFill/>
        </p:spPr>
        <p:txBody>
          <a:bodyPr wrap="square">
            <a:noAutofit/>
          </a:bodyPr>
          <a:lstStyle/>
          <a:p>
            <a:pPr/>
            <a:r>
              <a:rPr lang="en-MY" sz="1150" dirty="0">
                <a:solidFill>
                  <a:schemeClr val="tx1">
                    <a:lumMod val="85000"/>
                    <a:lumOff val="15000"/>
                  </a:schemeClr>
                </a:solidFill>
              </a:rPr>
              <a:t>[Visual: Wetland Park Putrajaya]</a:t>
            </a:r>
          </a:p>
        </p:txBody>
      </p:sp>
      <p:sp>
        <p:nvSpPr>
          <p:cNvPr id="233" name="VisualPanelArea"/>
          <p:cNvSpPr txBox="1"/>
          <p:nvPr/>
        </p:nvSpPr>
        <p:spPr>
          <a:xfrm>
            <a:off x="7068312" y="3758184"/>
            <a:ext cx="3456432"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SCR_STRUKTUR_PERSISIR_AIR_EXAMPLES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K5-PL06-T03-B02-STRUKTUR-PERSISIR-AIR-ROW-03</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II_STRUKTUR_PERSISIR_AIR_EX03  &lt;-  K5-PL06-T03-B02-STRUKTUR-PERSISIR-AIR-ROW-03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3/5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Promenade</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Promenade Tasik Titiwangsa, KL]</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Jeti</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Jeti Lumut, Perak]</a:t>
            </a:r>
          </a:p>
        </p:txBody>
      </p:sp>
      <p:sp>
        <p:nvSpPr>
          <p:cNvPr id="46" name="ItemCard"/>
          <p:cNvSpPr txBox="1"/>
          <p:nvPr/>
        </p:nvSpPr>
        <p:spPr>
          <a:xfrm>
            <a:off x="8142717"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7"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Wetland Park Putrajaya]</a:t>
            </a:r>
          </a:p>
        </p:txBody>
      </p:sp>
      <p:sp>
        <p:nvSpPr>
          <p:cNvPr id="49" name="ItemCard"/>
          <p:cNvSpPr txBox="1"/>
          <p:nvPr/>
        </p:nvSpPr>
        <p:spPr>
          <a:xfrm>
            <a:off x="2578593" y="3721608"/>
            <a:ext cx="3325368" cy="969264"/>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Boardwalk</a:t>
            </a:r>
          </a:p>
        </p:txBody>
      </p:sp>
      <p:sp>
        <p:nvSpPr>
          <p:cNvPr id="50" name="Tick"/>
          <p:cNvSpPr/>
          <p:nvPr/>
        </p:nvSpPr>
        <p:spPr>
          <a:xfrm>
            <a:off x="5501625"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1" name="VisualDir"/>
          <p:cNvSpPr txBox="1"/>
          <p:nvPr/>
        </p:nvSpPr>
        <p:spPr>
          <a:xfrm>
            <a:off x="2615169" y="4727448"/>
            <a:ext cx="3252216" cy="457200"/>
          </a:xfrm>
          <a:prstGeom prst="rect">
            <a:avLst/>
          </a:prstGeom>
          <a:noFill/>
        </p:spPr>
        <p:txBody>
          <a:bodyPr wrap="square">
            <a:noAutofit/>
          </a:bodyPr>
          <a:lstStyle/>
          <a:p>
            <a:pPr/>
            <a:r>
              <a:rPr lang="en-MY" sz="800" dirty="0">
                <a:solidFill>
                  <a:srgbClr val="808080"/>
                </a:solidFill>
              </a:rPr>
              <a:t>[Visual: Rajah 23 — Contoh Boardwalk dalam Taman Paya Bakau,</a:t>
            </a:r>
          </a:p>
          <a:p>
            <a:pPr/>
            <a:r>
              <a:rPr lang="en-MY" sz="800" dirty="0">
                <a:solidFill>
                  <a:srgbClr val="808080"/>
                </a:solidFill>
              </a:rPr>
              <a:t>modul ms 239. Aset K5PL06T03-B02-IMG-p239-x20. Tidak</a:t>
            </a:r>
          </a:p>
          <a:p>
            <a:pPr/>
            <a:r>
              <a:rPr lang="en-MY" sz="800" dirty="0">
                <a:solidFill>
                  <a:srgbClr val="808080"/>
                </a:solidFill>
              </a:rPr>
              <a:t>dibenamkan.]</a:t>
            </a:r>
          </a:p>
        </p:txBody>
      </p:sp>
      <p:sp>
        <p:nvSpPr>
          <p:cNvPr id="52" name="ItemCard"/>
          <p:cNvSpPr txBox="1"/>
          <p:nvPr/>
        </p:nvSpPr>
        <p:spPr>
          <a:xfrm>
            <a:off x="6288009"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i="1" dirty="0">
                <a:solidFill>
                  <a:schemeClr val="tx1">
                    <a:lumMod val="85000"/>
                    <a:lumOff val="15000"/>
                  </a:schemeClr>
                </a:solidFill>
              </a:rPr>
              <a:t>Footbridge</a:t>
            </a:r>
          </a:p>
        </p:txBody>
      </p:sp>
      <p:sp>
        <p:nvSpPr>
          <p:cNvPr id="53" name="VisualDir"/>
          <p:cNvSpPr txBox="1"/>
          <p:nvPr/>
        </p:nvSpPr>
        <p:spPr>
          <a:xfrm>
            <a:off x="6324585" y="4727448"/>
            <a:ext cx="3252216" cy="457200"/>
          </a:xfrm>
          <a:prstGeom prst="rect">
            <a:avLst/>
          </a:prstGeom>
          <a:noFill/>
        </p:spPr>
        <p:txBody>
          <a:bodyPr wrap="square">
            <a:noAutofit/>
          </a:bodyPr>
          <a:lstStyle/>
          <a:p>
            <a:pPr/>
            <a:r>
              <a:rPr lang="en-MY" sz="800" dirty="0">
                <a:solidFill>
                  <a:srgbClr val="808080"/>
                </a:solidFill>
              </a:rPr>
              <a:t>[Visual: Footbridge Taman Botani Perdana]</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257800" cy="365760"/>
          </a:xfrm>
          <a:prstGeom prst="rect">
            <a:avLst/>
          </a:prstGeom>
          <a:noFill/>
        </p:spPr>
        <p:txBody>
          <a:bodyPr wrap="square">
            <a:noAutofit/>
          </a:bodyPr>
          <a:lstStyle/>
          <a:p>
            <a:pPr/>
            <a:r>
              <a:rPr lang="en-MY" sz="2000" b="1" i="1" dirty="0">
                <a:solidFill>
                  <a:schemeClr val="tx1">
                    <a:lumMod val="85000"/>
                    <a:lumOff val="15000"/>
                  </a:schemeClr>
                </a:solidFill>
              </a:rPr>
              <a:t>Boardwalk</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25780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257800" cy="429768"/>
          </a:xfrm>
          <a:prstGeom prst="rect">
            <a:avLst/>
          </a:prstGeom>
          <a:noFill/>
        </p:spPr>
        <p:txBody>
          <a:bodyPr wrap="square">
            <a:noAutofit/>
          </a:bodyPr>
          <a:lstStyle/>
          <a:p>
            <a:pPr/>
            <a:r>
              <a:rPr lang="en-MY" sz="1250" dirty="0">
                <a:solidFill>
                  <a:schemeClr val="tx1">
                    <a:lumMod val="85000"/>
                    <a:lumOff val="15000"/>
                  </a:schemeClr>
                </a:solidFill>
              </a:rPr>
              <a:t>Laluan kayu di atas tanah berpaya/basah, mesra alam</a:t>
            </a:r>
          </a:p>
          <a:p>
            <a:pPr/>
            <a:r>
              <a:rPr lang="en-MY" sz="1250" dirty="0">
                <a:solidFill>
                  <a:schemeClr val="tx1">
                    <a:lumMod val="85000"/>
                    <a:lumOff val="15000"/>
                  </a:schemeClr>
                </a:solidFill>
              </a:rPr>
              <a:t>dan visual semula jadi.</a:t>
            </a:r>
          </a:p>
        </p:txBody>
      </p:sp>
      <p:sp>
        <p:nvSpPr>
          <p:cNvPr id="212" name="FHead"/>
          <p:cNvSpPr txBox="1"/>
          <p:nvPr/>
        </p:nvSpPr>
        <p:spPr>
          <a:xfrm>
            <a:off x="1490472" y="3044952"/>
            <a:ext cx="525780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257800" cy="219456"/>
          </a:xfrm>
          <a:prstGeom prst="rect">
            <a:avLst/>
          </a:prstGeom>
          <a:noFill/>
        </p:spPr>
        <p:txBody>
          <a:bodyPr wrap="square">
            <a:noAutofit/>
          </a:bodyPr>
          <a:lstStyle/>
          <a:p>
            <a:pPr/>
            <a:r>
              <a:rPr lang="en-MY" sz="1250" i="1" dirty="0">
                <a:solidFill>
                  <a:schemeClr val="tx1">
                    <a:lumMod val="85000"/>
                    <a:lumOff val="15000"/>
                  </a:schemeClr>
                </a:solidFill>
              </a:rPr>
              <a:t>Boardwalk</a:t>
            </a:r>
            <a:r>
              <a:rPr lang="en-MY" sz="1250" dirty="0">
                <a:solidFill>
                  <a:schemeClr val="tx1">
                    <a:lumMod val="85000"/>
                    <a:lumOff val="15000"/>
                  </a:schemeClr>
                </a:solidFill>
              </a:rPr>
              <a:t> Paya Indah Wetlands</a:t>
            </a:r>
          </a:p>
        </p:txBody>
      </p:sp>
      <p:sp>
        <p:nvSpPr>
          <p:cNvPr id="230" name="VisualPanel"/>
          <p:cNvSpPr txBox="1"/>
          <p:nvPr/>
        </p:nvSpPr>
        <p:spPr>
          <a:xfrm>
            <a:off x="6903720" y="2157984"/>
            <a:ext cx="3785616"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068312" y="2286000"/>
            <a:ext cx="3456432"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068312" y="2542032"/>
            <a:ext cx="3456432" cy="804672"/>
          </a:xfrm>
          <a:prstGeom prst="rect">
            <a:avLst/>
          </a:prstGeom>
          <a:noFill/>
        </p:spPr>
        <p:txBody>
          <a:bodyPr wrap="square">
            <a:noAutofit/>
          </a:bodyPr>
          <a:lstStyle/>
          <a:p>
            <a:pPr/>
            <a:r>
              <a:rPr lang="en-MY" sz="1150" dirty="0">
                <a:solidFill>
                  <a:schemeClr val="tx1">
                    <a:lumMod val="85000"/>
                    <a:lumOff val="15000"/>
                  </a:schemeClr>
                </a:solidFill>
              </a:rPr>
              <a:t>[Visual: Rajah 23 — Contoh </a:t>
            </a:r>
            <a:r>
              <a:rPr lang="en-MY" sz="1150" i="1" dirty="0">
                <a:solidFill>
                  <a:schemeClr val="tx1">
                    <a:lumMod val="85000"/>
                    <a:lumOff val="15000"/>
                  </a:schemeClr>
                </a:solidFill>
              </a:rPr>
              <a:t>Boardwalk</a:t>
            </a:r>
            <a:r>
              <a:rPr lang="en-MY" sz="1150" dirty="0">
                <a:solidFill>
                  <a:schemeClr val="tx1">
                    <a:lumMod val="85000"/>
                    <a:lumOff val="15000"/>
                  </a:schemeClr>
                </a:solidFill>
              </a:rPr>
              <a:t> dalam</a:t>
            </a:r>
          </a:p>
          <a:p>
            <a:pPr/>
            <a:r>
              <a:rPr lang="en-MY" sz="1150" dirty="0">
                <a:solidFill>
                  <a:schemeClr val="tx1">
                    <a:lumMod val="85000"/>
                    <a:lumOff val="15000"/>
                  </a:schemeClr>
                </a:solidFill>
              </a:rPr>
              <a:t>Taman Paya Bakau, modul ms 239. Aset</a:t>
            </a:r>
          </a:p>
          <a:p>
            <a:pPr/>
            <a:r>
              <a:rPr lang="en-MY" sz="1150" dirty="0">
                <a:solidFill>
                  <a:schemeClr val="tx1">
                    <a:lumMod val="85000"/>
                    <a:lumOff val="15000"/>
                  </a:schemeClr>
                </a:solidFill>
              </a:rPr>
              <a:t>K5PL06T03-B02-IMG-p239-x20. Tidak</a:t>
            </a:r>
          </a:p>
          <a:p>
            <a:pPr/>
            <a:r>
              <a:rPr lang="en-MY" sz="1150" dirty="0">
                <a:solidFill>
                  <a:schemeClr val="tx1">
                    <a:lumMod val="85000"/>
                    <a:lumOff val="15000"/>
                  </a:schemeClr>
                </a:solidFill>
              </a:rPr>
              <a:t>dibenamkan.]</a:t>
            </a:r>
          </a:p>
        </p:txBody>
      </p:sp>
      <p:sp>
        <p:nvSpPr>
          <p:cNvPr id="233" name="VisualPanelArea"/>
          <p:cNvSpPr txBox="1"/>
          <p:nvPr/>
        </p:nvSpPr>
        <p:spPr>
          <a:xfrm>
            <a:off x="7068312" y="3758184"/>
            <a:ext cx="3456432"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SCR_STRUKTUR_PERSISIR_AIR_EXAMPLES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K5-PL06-T03-B02-STRUKTUR-PERSISIR-AIR-ROW-04</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K5PL06T03-B02-IMG-p239-x20</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II_STRUKTUR_PERSISIR_AIR_EX04  &lt;-  K5-PL06-T03-B02-STRUKTUR-PERSISIR-AIR-ROW-04</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4/5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Promenade</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Promenade Tasik Titiwangsa, KL]</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Jeti</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Jeti Lumut, Perak]</a:t>
            </a:r>
          </a:p>
        </p:txBody>
      </p:sp>
      <p:sp>
        <p:nvSpPr>
          <p:cNvPr id="46" name="ItemCard"/>
          <p:cNvSpPr txBox="1"/>
          <p:nvPr/>
        </p:nvSpPr>
        <p:spPr>
          <a:xfrm>
            <a:off x="8142717"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7"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Wetland Park Putrajaya]</a:t>
            </a:r>
          </a:p>
        </p:txBody>
      </p:sp>
      <p:sp>
        <p:nvSpPr>
          <p:cNvPr id="49" name="ItemCard"/>
          <p:cNvSpPr txBox="1"/>
          <p:nvPr/>
        </p:nvSpPr>
        <p:spPr>
          <a:xfrm>
            <a:off x="2578593" y="3721608"/>
            <a:ext cx="3325368" cy="969264"/>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Boardwalk</a:t>
            </a:r>
          </a:p>
        </p:txBody>
      </p:sp>
      <p:sp>
        <p:nvSpPr>
          <p:cNvPr id="50" name="Tick"/>
          <p:cNvSpPr/>
          <p:nvPr/>
        </p:nvSpPr>
        <p:spPr>
          <a:xfrm>
            <a:off x="5501625"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1" name="VisualDir"/>
          <p:cNvSpPr txBox="1"/>
          <p:nvPr/>
        </p:nvSpPr>
        <p:spPr>
          <a:xfrm>
            <a:off x="2615169" y="4727448"/>
            <a:ext cx="3252216" cy="457200"/>
          </a:xfrm>
          <a:prstGeom prst="rect">
            <a:avLst/>
          </a:prstGeom>
          <a:noFill/>
        </p:spPr>
        <p:txBody>
          <a:bodyPr wrap="square">
            <a:noAutofit/>
          </a:bodyPr>
          <a:lstStyle/>
          <a:p>
            <a:pPr/>
            <a:r>
              <a:rPr lang="en-MY" sz="800" dirty="0">
                <a:solidFill>
                  <a:srgbClr val="808080"/>
                </a:solidFill>
              </a:rPr>
              <a:t>[Visual: Rajah 23 — Contoh Boardwalk dalam Taman Paya Bakau,</a:t>
            </a:r>
          </a:p>
          <a:p>
            <a:pPr/>
            <a:r>
              <a:rPr lang="en-MY" sz="800" dirty="0">
                <a:solidFill>
                  <a:srgbClr val="808080"/>
                </a:solidFill>
              </a:rPr>
              <a:t>modul ms 239. Aset K5PL06T03-B02-IMG-p239-x20. Tidak</a:t>
            </a:r>
          </a:p>
          <a:p>
            <a:pPr/>
            <a:r>
              <a:rPr lang="en-MY" sz="800" dirty="0">
                <a:solidFill>
                  <a:srgbClr val="808080"/>
                </a:solidFill>
              </a:rPr>
              <a:t>dibenamkan.]</a:t>
            </a:r>
          </a:p>
        </p:txBody>
      </p:sp>
      <p:sp>
        <p:nvSpPr>
          <p:cNvPr id="52" name="ItemCard"/>
          <p:cNvSpPr txBox="1"/>
          <p:nvPr/>
        </p:nvSpPr>
        <p:spPr>
          <a:xfrm>
            <a:off x="6288009" y="3721608"/>
            <a:ext cx="3325368" cy="969264"/>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Footbridge</a:t>
            </a:r>
          </a:p>
        </p:txBody>
      </p:sp>
      <p:sp>
        <p:nvSpPr>
          <p:cNvPr id="53" name="Tick"/>
          <p:cNvSpPr/>
          <p:nvPr/>
        </p:nvSpPr>
        <p:spPr>
          <a:xfrm>
            <a:off x="9211041"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4" name="VisualDir"/>
          <p:cNvSpPr txBox="1"/>
          <p:nvPr/>
        </p:nvSpPr>
        <p:spPr>
          <a:xfrm>
            <a:off x="6324585" y="4727448"/>
            <a:ext cx="3252216" cy="457200"/>
          </a:xfrm>
          <a:prstGeom prst="rect">
            <a:avLst/>
          </a:prstGeom>
          <a:noFill/>
        </p:spPr>
        <p:txBody>
          <a:bodyPr wrap="square">
            <a:noAutofit/>
          </a:bodyPr>
          <a:lstStyle/>
          <a:p>
            <a:pPr/>
            <a:r>
              <a:rPr lang="en-MY" sz="800" dirty="0">
                <a:solidFill>
                  <a:srgbClr val="808080"/>
                </a:solidFill>
              </a:rPr>
              <a:t>[Visual: Footbridge Taman Botani Perdana]</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257800" cy="365760"/>
          </a:xfrm>
          <a:prstGeom prst="rect">
            <a:avLst/>
          </a:prstGeom>
          <a:noFill/>
        </p:spPr>
        <p:txBody>
          <a:bodyPr wrap="square">
            <a:noAutofit/>
          </a:bodyPr>
          <a:lstStyle/>
          <a:p>
            <a:pPr/>
            <a:r>
              <a:rPr lang="en-MY" sz="2000" b="1" i="1" dirty="0">
                <a:solidFill>
                  <a:schemeClr val="tx1">
                    <a:lumMod val="85000"/>
                    <a:lumOff val="15000"/>
                  </a:schemeClr>
                </a:solidFill>
              </a:rPr>
              <a:t>Footbridge</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25780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257800" cy="429768"/>
          </a:xfrm>
          <a:prstGeom prst="rect">
            <a:avLst/>
          </a:prstGeom>
          <a:noFill/>
        </p:spPr>
        <p:txBody>
          <a:bodyPr wrap="square">
            <a:noAutofit/>
          </a:bodyPr>
          <a:lstStyle/>
          <a:p>
            <a:pPr/>
            <a:r>
              <a:rPr lang="en-MY" sz="1250" dirty="0">
                <a:solidFill>
                  <a:schemeClr val="tx1">
                    <a:lumMod val="85000"/>
                    <a:lumOff val="15000"/>
                  </a:schemeClr>
                </a:solidFill>
              </a:rPr>
              <a:t>Jambatan kecil untuk laluan pejalan kaki melintasi</a:t>
            </a:r>
          </a:p>
          <a:p>
            <a:pPr/>
            <a:r>
              <a:rPr lang="en-MY" sz="1250" dirty="0">
                <a:solidFill>
                  <a:schemeClr val="tx1">
                    <a:lumMod val="85000"/>
                    <a:lumOff val="15000"/>
                  </a:schemeClr>
                </a:solidFill>
              </a:rPr>
              <a:t>aliran air atau longkang besar.</a:t>
            </a:r>
          </a:p>
        </p:txBody>
      </p:sp>
      <p:sp>
        <p:nvSpPr>
          <p:cNvPr id="212" name="FHead"/>
          <p:cNvSpPr txBox="1"/>
          <p:nvPr/>
        </p:nvSpPr>
        <p:spPr>
          <a:xfrm>
            <a:off x="1490472" y="3044952"/>
            <a:ext cx="525780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257800" cy="219456"/>
          </a:xfrm>
          <a:prstGeom prst="rect">
            <a:avLst/>
          </a:prstGeom>
          <a:noFill/>
        </p:spPr>
        <p:txBody>
          <a:bodyPr wrap="square">
            <a:noAutofit/>
          </a:bodyPr>
          <a:lstStyle/>
          <a:p>
            <a:pPr/>
            <a:r>
              <a:rPr lang="en-MY" sz="1250" i="1" dirty="0">
                <a:solidFill>
                  <a:schemeClr val="tx1">
                    <a:lumMod val="85000"/>
                    <a:lumOff val="15000"/>
                  </a:schemeClr>
                </a:solidFill>
              </a:rPr>
              <a:t>Footbridge</a:t>
            </a:r>
            <a:r>
              <a:rPr lang="en-MY" sz="1250" dirty="0">
                <a:solidFill>
                  <a:schemeClr val="tx1">
                    <a:lumMod val="85000"/>
                    <a:lumOff val="15000"/>
                  </a:schemeClr>
                </a:solidFill>
              </a:rPr>
              <a:t> Taman Botani Perdana</a:t>
            </a:r>
          </a:p>
        </p:txBody>
      </p:sp>
      <p:sp>
        <p:nvSpPr>
          <p:cNvPr id="230" name="VisualPanel"/>
          <p:cNvSpPr txBox="1"/>
          <p:nvPr/>
        </p:nvSpPr>
        <p:spPr>
          <a:xfrm>
            <a:off x="6903720" y="2157984"/>
            <a:ext cx="3785616"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068312" y="2286000"/>
            <a:ext cx="3456432"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068312" y="2542032"/>
            <a:ext cx="3456432" cy="256032"/>
          </a:xfrm>
          <a:prstGeom prst="rect">
            <a:avLst/>
          </a:prstGeom>
          <a:noFill/>
        </p:spPr>
        <p:txBody>
          <a:bodyPr wrap="square">
            <a:noAutofit/>
          </a:bodyPr>
          <a:lstStyle/>
          <a:p>
            <a:pPr/>
            <a:r>
              <a:rPr lang="en-MY" sz="1150" dirty="0">
                <a:solidFill>
                  <a:schemeClr val="tx1">
                    <a:lumMod val="85000"/>
                    <a:lumOff val="15000"/>
                  </a:schemeClr>
                </a:solidFill>
              </a:rPr>
              <a:t>[Visual: </a:t>
            </a:r>
            <a:r>
              <a:rPr lang="en-MY" sz="1150" i="1" dirty="0">
                <a:solidFill>
                  <a:schemeClr val="tx1">
                    <a:lumMod val="85000"/>
                    <a:lumOff val="15000"/>
                  </a:schemeClr>
                </a:solidFill>
              </a:rPr>
              <a:t>Footbridge</a:t>
            </a:r>
            <a:r>
              <a:rPr lang="en-MY" sz="1150" dirty="0">
                <a:solidFill>
                  <a:schemeClr val="tx1">
                    <a:lumMod val="85000"/>
                    <a:lumOff val="15000"/>
                  </a:schemeClr>
                </a:solidFill>
              </a:rPr>
              <a:t> Taman Botani Perdana]</a:t>
            </a:r>
          </a:p>
        </p:txBody>
      </p:sp>
      <p:sp>
        <p:nvSpPr>
          <p:cNvPr id="233" name="VisualPanelArea"/>
          <p:cNvSpPr txBox="1"/>
          <p:nvPr/>
        </p:nvSpPr>
        <p:spPr>
          <a:xfrm>
            <a:off x="7068312" y="3758184"/>
            <a:ext cx="3456432"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SCR_STRUKTUR_PERSISIR_AIR_EXAMPLES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K5-PL06-T03-B02-STRUKTUR-PERSISIR-AIR-ROW-05</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II_STRUKTUR_PERSISIR_AIR_EX05  &lt;-  K5-PL06-T03-B02-STRUKTUR-PERSISIR-AIR-ROW-05</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5/5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Persisir Air</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Persisir Air</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Promenade</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Promenade Tasik Titiwangsa, KL]</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Jeti</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Jeti Lumut, Perak]</a:t>
            </a:r>
          </a:p>
        </p:txBody>
      </p:sp>
      <p:sp>
        <p:nvSpPr>
          <p:cNvPr id="46" name="ItemCard"/>
          <p:cNvSpPr txBox="1"/>
          <p:nvPr/>
        </p:nvSpPr>
        <p:spPr>
          <a:xfrm>
            <a:off x="8142717"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Dek Kayu</a:t>
            </a:r>
          </a:p>
        </p:txBody>
      </p:sp>
      <p:sp>
        <p:nvSpPr>
          <p:cNvPr id="47"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Wetland Park Putrajaya]</a:t>
            </a:r>
          </a:p>
        </p:txBody>
      </p:sp>
      <p:sp>
        <p:nvSpPr>
          <p:cNvPr id="49" name="ItemCard"/>
          <p:cNvSpPr txBox="1"/>
          <p:nvPr/>
        </p:nvSpPr>
        <p:spPr>
          <a:xfrm>
            <a:off x="2578593" y="3721608"/>
            <a:ext cx="3325368" cy="969264"/>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Boardwalk</a:t>
            </a:r>
          </a:p>
        </p:txBody>
      </p:sp>
      <p:sp>
        <p:nvSpPr>
          <p:cNvPr id="50" name="Tick"/>
          <p:cNvSpPr/>
          <p:nvPr/>
        </p:nvSpPr>
        <p:spPr>
          <a:xfrm>
            <a:off x="5501625"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1" name="VisualDir"/>
          <p:cNvSpPr txBox="1"/>
          <p:nvPr/>
        </p:nvSpPr>
        <p:spPr>
          <a:xfrm>
            <a:off x="2615169" y="4727448"/>
            <a:ext cx="3252216" cy="457200"/>
          </a:xfrm>
          <a:prstGeom prst="rect">
            <a:avLst/>
          </a:prstGeom>
          <a:noFill/>
        </p:spPr>
        <p:txBody>
          <a:bodyPr wrap="square">
            <a:noAutofit/>
          </a:bodyPr>
          <a:lstStyle/>
          <a:p>
            <a:pPr/>
            <a:r>
              <a:rPr lang="en-MY" sz="800" dirty="0">
                <a:solidFill>
                  <a:srgbClr val="808080"/>
                </a:solidFill>
              </a:rPr>
              <a:t>[Visual: Rajah 23 — Contoh Boardwalk dalam Taman Paya Bakau,</a:t>
            </a:r>
          </a:p>
          <a:p>
            <a:pPr/>
            <a:r>
              <a:rPr lang="en-MY" sz="800" dirty="0">
                <a:solidFill>
                  <a:srgbClr val="808080"/>
                </a:solidFill>
              </a:rPr>
              <a:t>modul ms 239. Aset K5PL06T03-B02-IMG-p239-x20. Tidak</a:t>
            </a:r>
          </a:p>
          <a:p>
            <a:pPr/>
            <a:r>
              <a:rPr lang="en-MY" sz="800" dirty="0">
                <a:solidFill>
                  <a:srgbClr val="808080"/>
                </a:solidFill>
              </a:rPr>
              <a:t>dibenamkan.]</a:t>
            </a:r>
          </a:p>
        </p:txBody>
      </p:sp>
      <p:sp>
        <p:nvSpPr>
          <p:cNvPr id="52" name="ItemCard"/>
          <p:cNvSpPr txBox="1"/>
          <p:nvPr/>
        </p:nvSpPr>
        <p:spPr>
          <a:xfrm>
            <a:off x="6288009" y="3721608"/>
            <a:ext cx="3325368" cy="969264"/>
          </a:xfrm>
          <a:prstGeom prst="rect">
            <a:avLst/>
          </a:prstGeom>
          <a:solidFill>
            <a:srgbClr val="E8F5E9"/>
          </a:solidFill>
          <a:ln w="28575">
            <a:solidFill>
              <a:srgbClr val="2E7D32"/>
            </a:solidFill>
          </a:ln>
        </p:spPr>
        <p:txBody>
          <a:bodyPr wrap="square" anchor="ctr">
            <a:noAutofit/>
          </a:bodyPr>
          <a:lstStyle/>
          <a:p>
            <a:pPr algn="ctr"/>
            <a:r>
              <a:rPr lang="en-MY" sz="1500" b="1" i="1" dirty="0">
                <a:solidFill>
                  <a:schemeClr val="tx1">
                    <a:lumMod val="85000"/>
                    <a:lumOff val="15000"/>
                  </a:schemeClr>
                </a:solidFill>
              </a:rPr>
              <a:t>Footbridge</a:t>
            </a:r>
          </a:p>
        </p:txBody>
      </p:sp>
      <p:sp>
        <p:nvSpPr>
          <p:cNvPr id="53" name="Tick"/>
          <p:cNvSpPr/>
          <p:nvPr/>
        </p:nvSpPr>
        <p:spPr>
          <a:xfrm>
            <a:off x="9211041"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4" name="VisualDir"/>
          <p:cNvSpPr txBox="1"/>
          <p:nvPr/>
        </p:nvSpPr>
        <p:spPr>
          <a:xfrm>
            <a:off x="6324585" y="4727448"/>
            <a:ext cx="3252216" cy="457200"/>
          </a:xfrm>
          <a:prstGeom prst="rect">
            <a:avLst/>
          </a:prstGeom>
          <a:noFill/>
        </p:spPr>
        <p:txBody>
          <a:bodyPr wrap="square">
            <a:noAutofit/>
          </a:bodyPr>
          <a:lstStyle/>
          <a:p>
            <a:pPr/>
            <a:r>
              <a:rPr lang="en-MY" sz="800" dirty="0">
                <a:solidFill>
                  <a:srgbClr val="808080"/>
                </a:solidFill>
              </a:rPr>
              <a:t>[Visual: Footbridge Taman Botani Perdana]</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Persisir Air</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all examples viewed, Kembali enabled</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examples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SCR_STRUKTUR_PERSISIR_AIR_EXAMPLES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K5-PL06-T03-B02-STRUKTUR-PERSISIR-AIR-ROW-01</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K5-PL06-T03-B02-STRUKTUR-PERSISIR-AIR-ROW-02</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K5-PL06-T03-B02-STRUKTUR-PERSISIR-AIR-ROW-03</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K5-PL06-T03-B02-STRUKTUR-PERSISIR-AIR-ROW-04</a:t>
            </a:r>
          </a:p>
          <a:p>
            <a:r>
              <a:rPr lang="en-MY" sz="900" dirty="0">
                <a:solidFill>
                  <a:schemeClr val="tx1">
                    <a:lumMod val="85000"/>
                    <a:lumOff val="15000"/>
                  </a:schemeClr>
                </a:solidFill>
              </a:rPr>
              <a:t>    ms 238 / fizikal 257</a:t>
            </a:r>
          </a:p>
          <a:p>
            <a:r>
              <a:rPr lang="en-MY" sz="900" dirty="0">
                <a:solidFill>
                  <a:schemeClr val="tx1">
                    <a:lumMod val="85000"/>
                    <a:lumOff val="15000"/>
                  </a:schemeClr>
                </a:solidFill>
              </a:rPr>
              <a:t>  K5-PL06-T03-B02-STRUKTUR-PERSISIR-AIR-ROW-05</a:t>
            </a:r>
          </a:p>
          <a:p>
            <a:r>
              <a:rPr lang="en-MY" sz="900" dirty="0">
                <a:solidFill>
                  <a:schemeClr val="tx1">
                    <a:lumMod val="85000"/>
                    <a:lumOff val="15000"/>
                  </a:schemeClr>
                </a:solidFill>
              </a:rPr>
              <a:t>    ms 238 / fizikal 257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II_STRUKTUR_PERSISIR_AIR_EX01  &lt;-  K5-PL06-T03-B02-STRUKTUR-PERSISIR-AIR-ROW-01</a:t>
            </a:r>
          </a:p>
          <a:p>
            <a:r>
              <a:rPr lang="en-MY" sz="900" dirty="0">
                <a:solidFill>
                  <a:schemeClr val="tx1">
                    <a:lumMod val="85000"/>
                    <a:lumOff val="15000"/>
                  </a:schemeClr>
                </a:solidFill>
              </a:rPr>
              <a:t>  II_STRUKTUR_PERSISIR_AIR_EX02  &lt;-  K5-PL06-T03-B02-STRUKTUR-PERSISIR-AIR-ROW-02</a:t>
            </a:r>
          </a:p>
          <a:p>
            <a:r>
              <a:rPr lang="en-MY" sz="900" dirty="0">
                <a:solidFill>
                  <a:schemeClr val="tx1">
                    <a:lumMod val="85000"/>
                    <a:lumOff val="15000"/>
                  </a:schemeClr>
                </a:solidFill>
              </a:rPr>
              <a:t>  II_STRUKTUR_PERSISIR_AIR_EX03  &lt;-  K5-PL06-T03-B02-STRUKTUR-PERSISIR-AIR-ROW-03</a:t>
            </a:r>
          </a:p>
          <a:p>
            <a:r>
              <a:rPr lang="en-MY" sz="900" dirty="0">
                <a:solidFill>
                  <a:schemeClr val="tx1">
                    <a:lumMod val="85000"/>
                    <a:lumOff val="15000"/>
                  </a:schemeClr>
                </a:solidFill>
              </a:rPr>
              <a:t>  II_STRUKTUR_PERSISIR_AIR_EX04  &lt;-  K5-PL06-T03-B02-STRUKTUR-PERSISIR-AIR-ROW-04</a:t>
            </a:r>
          </a:p>
          <a:p>
            <a:r>
              <a:rPr lang="en-MY" sz="900" dirty="0">
                <a:solidFill>
                  <a:schemeClr val="tx1">
                    <a:lumMod val="85000"/>
                    <a:lumOff val="15000"/>
                  </a:schemeClr>
                </a:solidFill>
              </a:rPr>
              <a:t>  II_STRUKTUR_PERSISIR_AIR_EX05  &lt;-  K5-PL06-T03-B02-STRUKTUR-PERSISIR-AIR-ROW-05</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5/5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B02-D-01, B02-D-07</a:t>
            </a:r>
          </a:p>
          <a:p>
            <a:r>
              <a:rPr lang="en-MY" sz="900" dirty="0">
                <a:solidFill>
                  <a:schemeClr val="tx1">
                    <a:lumMod val="85000"/>
                    <a:lumOff val="15000"/>
                  </a:schemeClr>
                </a:solidFill>
              </a:rPr>
              <a:t>STATUS BELUM SELESAI: NONE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20" name="Head"/>
          <p:cNvSpPr txBox="1"/>
          <p:nvPr/>
        </p:nvSpPr>
        <p:spPr>
          <a:xfrm>
            <a:off x="723930" y="1188720"/>
            <a:ext cx="10744200" cy="420624"/>
          </a:xfrm>
          <a:prstGeom prst="rect">
            <a:avLst/>
          </a:prstGeom>
          <a:noFill/>
        </p:spPr>
        <p:txBody>
          <a:bodyPr wrap="square">
            <a:noAutofit/>
          </a:bodyPr>
          <a:lstStyle/>
          <a:p>
            <a:pPr/>
            <a:r>
              <a:rPr lang="en-MY" sz="2000" b="1" dirty="0">
                <a:solidFill>
                  <a:schemeClr val="tx1">
                    <a:lumMod val="85000"/>
                    <a:lumOff val="15000"/>
                  </a:schemeClr>
                </a:solidFill>
              </a:rPr>
              <a:t>Struktur Teduhan</a:t>
            </a:r>
          </a:p>
        </p:txBody>
      </p:sp>
      <p:sp>
        <p:nvSpPr>
          <p:cNvPr id="22" name="Body"/>
          <p:cNvSpPr txBox="1"/>
          <p:nvPr/>
        </p:nvSpPr>
        <p:spPr>
          <a:xfrm>
            <a:off x="723930" y="1755648"/>
            <a:ext cx="10744200" cy="3108960"/>
          </a:xfrm>
          <a:prstGeom prst="rect">
            <a:avLst/>
          </a:prstGeom>
          <a:noFill/>
        </p:spPr>
        <p:txBody>
          <a:bodyPr wrap="square">
            <a:noAutofit/>
          </a:bodyPr>
          <a:lstStyle/>
          <a:p>
            <a:pPr marL="285750" indent="-285750">
              <a:spcBef>
                <a:spcPts val="600"/>
              </a:spcBef>
              <a:buFont typeface="Arial" panose="020B0604020202020204" pitchFamily="34" charset="0"/>
              <a:buChar char="•"/>
            </a:pPr>
            <a:r>
              <a:rPr lang="en-MY" sz="1500" dirty="0">
                <a:solidFill>
                  <a:schemeClr val="tx1">
                    <a:lumMod val="85000"/>
                    <a:lumOff val="15000"/>
                  </a:schemeClr>
                </a:solidFill>
              </a:rPr>
              <a:t>Perlindungan daripada matahari dan hujan</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Mewujudkan ruang selesa untuk bersantai atau berinteraksi</a:t>
            </a:r>
          </a:p>
        </p:txBody>
      </p:sp>
      <p:sp>
        <p:nvSpPr>
          <p:cNvPr id="30" name="VisualDir"/>
          <p:cNvSpPr txBox="1"/>
          <p:nvPr/>
        </p:nvSpPr>
        <p:spPr>
          <a:xfrm>
            <a:off x="723930" y="4663440"/>
            <a:ext cx="10744200" cy="365760"/>
          </a:xfrm>
          <a:prstGeom prst="rect">
            <a:avLst/>
          </a:prstGeom>
          <a:noFill/>
        </p:spPr>
        <p:txBody>
          <a:bodyPr wrap="square">
            <a:noAutofit/>
          </a:bodyPr>
          <a:lstStyle/>
          <a:p>
            <a:pPr/>
            <a:r>
              <a:rPr lang="en-MY" sz="1100" dirty="0">
                <a:solidFill>
                  <a:srgbClr val="808080"/>
                </a:solidFill>
              </a:rPr>
              <a:t>[Visual: Rajah 24 — Contoh Pergola, modul ms 240. Tidak dibenamkan.]</a:t>
            </a:r>
          </a:p>
        </p:txBody>
      </p:sp>
      <p:sp>
        <p:nvSpPr>
          <p:cNvPr id="300" name="OverviewHead"/>
          <p:cNvSpPr txBox="1"/>
          <p:nvPr/>
        </p:nvSpPr>
        <p:spPr>
          <a:xfrm>
            <a:off x="723930" y="5084064"/>
            <a:ext cx="10744200" cy="201168"/>
          </a:xfrm>
          <a:prstGeom prst="rect">
            <a:avLst/>
          </a:prstGeom>
          <a:noFill/>
        </p:spPr>
        <p:txBody>
          <a:bodyPr wrap="square">
            <a:noAutofit/>
          </a:bodyPr>
          <a:lstStyle/>
          <a:p>
            <a:pPr/>
            <a:r>
              <a:rPr lang="en-MY" sz="850" b="1" dirty="0">
                <a:solidFill>
                  <a:srgbClr val="7F6000"/>
                </a:solidFill>
              </a:rPr>
              <a:t>ARAHAN VISUAL — OVERVIEW KOMPONEN (TIDAK DIBENAMKAN)</a:t>
            </a:r>
          </a:p>
        </p:txBody>
      </p:sp>
      <p:sp>
        <p:nvSpPr>
          <p:cNvPr id="301" name="OverviewCard"/>
          <p:cNvSpPr txBox="1"/>
          <p:nvPr/>
        </p:nvSpPr>
        <p:spPr>
          <a:xfrm>
            <a:off x="723930" y="5321808"/>
            <a:ext cx="2002536" cy="870509"/>
          </a:xfrm>
          <a:prstGeom prst="rect">
            <a:avLst/>
          </a:prstGeom>
          <a:solidFill>
            <a:srgbClr val="F7F7F7"/>
          </a:solidFill>
          <a:ln w="12700">
            <a:solidFill>
              <a:srgbClr val="BFBFBF"/>
            </a:solidFill>
          </a:ln>
        </p:spPr>
        <p:txBody>
          <a:bodyPr wrap="square">
            <a:noAutofit/>
          </a:bodyPr>
          <a:lstStyle/>
        </p:txBody>
      </p:sp>
      <p:sp>
        <p:nvSpPr>
          <p:cNvPr id="302" name="OverviewSubject"/>
          <p:cNvSpPr txBox="1"/>
          <p:nvPr/>
        </p:nvSpPr>
        <p:spPr>
          <a:xfrm>
            <a:off x="815370" y="5376672"/>
            <a:ext cx="1819656" cy="193853"/>
          </a:xfrm>
          <a:prstGeom prst="rect">
            <a:avLst/>
          </a:prstGeom>
          <a:noFill/>
        </p:spPr>
        <p:txBody>
          <a:bodyPr wrap="square">
            <a:noAutofit/>
          </a:bodyPr>
          <a:lstStyle/>
          <a:p>
            <a:pPr/>
            <a:r>
              <a:rPr lang="en-MY" sz="900" b="1" dirty="0">
                <a:solidFill>
                  <a:schemeClr val="tx1">
                    <a:lumMod val="85000"/>
                    <a:lumOff val="15000"/>
                  </a:schemeClr>
                </a:solidFill>
              </a:rPr>
              <a:t>Gazebo</a:t>
            </a:r>
          </a:p>
        </p:txBody>
      </p:sp>
      <p:sp>
        <p:nvSpPr>
          <p:cNvPr id="303" name="OverviewDir"/>
          <p:cNvSpPr txBox="1"/>
          <p:nvPr/>
        </p:nvSpPr>
        <p:spPr>
          <a:xfrm>
            <a:off x="815370" y="5607101"/>
            <a:ext cx="1819656" cy="512064"/>
          </a:xfrm>
          <a:prstGeom prst="rect">
            <a:avLst/>
          </a:prstGeom>
          <a:noFill/>
        </p:spPr>
        <p:txBody>
          <a:bodyPr wrap="square">
            <a:noAutofit/>
          </a:bodyPr>
          <a:lstStyle/>
          <a:p>
            <a:pPr/>
            <a:r>
              <a:rPr lang="en-MY" sz="750" dirty="0">
                <a:solidFill>
                  <a:srgbClr val="808080"/>
                </a:solidFill>
              </a:rPr>
              <a:t>[Visual: Taman Tasik Shah Alam]</a:t>
            </a:r>
          </a:p>
        </p:txBody>
      </p:sp>
      <p:sp>
        <p:nvSpPr>
          <p:cNvPr id="304" name="OverviewCard"/>
          <p:cNvSpPr txBox="1"/>
          <p:nvPr/>
        </p:nvSpPr>
        <p:spPr>
          <a:xfrm>
            <a:off x="2909346" y="5321808"/>
            <a:ext cx="2002536" cy="870509"/>
          </a:xfrm>
          <a:prstGeom prst="rect">
            <a:avLst/>
          </a:prstGeom>
          <a:solidFill>
            <a:srgbClr val="F7F7F7"/>
          </a:solidFill>
          <a:ln w="12700">
            <a:solidFill>
              <a:srgbClr val="BFBFBF"/>
            </a:solidFill>
          </a:ln>
        </p:spPr>
        <p:txBody>
          <a:bodyPr wrap="square">
            <a:noAutofit/>
          </a:bodyPr>
          <a:lstStyle/>
        </p:txBody>
      </p:sp>
      <p:sp>
        <p:nvSpPr>
          <p:cNvPr id="305" name="OverviewSubject"/>
          <p:cNvSpPr txBox="1"/>
          <p:nvPr/>
        </p:nvSpPr>
        <p:spPr>
          <a:xfrm>
            <a:off x="3000786" y="5376672"/>
            <a:ext cx="1819656" cy="193853"/>
          </a:xfrm>
          <a:prstGeom prst="rect">
            <a:avLst/>
          </a:prstGeom>
          <a:noFill/>
        </p:spPr>
        <p:txBody>
          <a:bodyPr wrap="square">
            <a:noAutofit/>
          </a:bodyPr>
          <a:lstStyle/>
          <a:p>
            <a:pPr/>
            <a:r>
              <a:rPr lang="en-MY" sz="900" b="1" dirty="0">
                <a:solidFill>
                  <a:schemeClr val="tx1">
                    <a:lumMod val="85000"/>
                    <a:lumOff val="15000"/>
                  </a:schemeClr>
                </a:solidFill>
              </a:rPr>
              <a:t>Wakaf</a:t>
            </a:r>
          </a:p>
        </p:txBody>
      </p:sp>
      <p:sp>
        <p:nvSpPr>
          <p:cNvPr id="306" name="OverviewDir"/>
          <p:cNvSpPr txBox="1"/>
          <p:nvPr/>
        </p:nvSpPr>
        <p:spPr>
          <a:xfrm>
            <a:off x="3000786" y="5607101"/>
            <a:ext cx="1819656" cy="512064"/>
          </a:xfrm>
          <a:prstGeom prst="rect">
            <a:avLst/>
          </a:prstGeom>
          <a:noFill/>
        </p:spPr>
        <p:txBody>
          <a:bodyPr wrap="square">
            <a:noAutofit/>
          </a:bodyPr>
          <a:lstStyle/>
          <a:p>
            <a:pPr/>
            <a:r>
              <a:rPr lang="en-MY" sz="750" dirty="0">
                <a:solidFill>
                  <a:srgbClr val="808080"/>
                </a:solidFill>
              </a:rPr>
              <a:t>[Visual: Wakaf di Taman Desa, KL]</a:t>
            </a:r>
          </a:p>
        </p:txBody>
      </p:sp>
      <p:sp>
        <p:nvSpPr>
          <p:cNvPr id="307" name="OverviewCard"/>
          <p:cNvSpPr txBox="1"/>
          <p:nvPr/>
        </p:nvSpPr>
        <p:spPr>
          <a:xfrm>
            <a:off x="5094762" y="5321808"/>
            <a:ext cx="2002536" cy="870509"/>
          </a:xfrm>
          <a:prstGeom prst="rect">
            <a:avLst/>
          </a:prstGeom>
          <a:solidFill>
            <a:srgbClr val="F7F7F7"/>
          </a:solidFill>
          <a:ln w="12700">
            <a:solidFill>
              <a:srgbClr val="BFBFBF"/>
            </a:solidFill>
          </a:ln>
        </p:spPr>
        <p:txBody>
          <a:bodyPr wrap="square">
            <a:noAutofit/>
          </a:bodyPr>
          <a:lstStyle/>
        </p:txBody>
      </p:sp>
      <p:sp>
        <p:nvSpPr>
          <p:cNvPr id="308" name="OverviewSubject"/>
          <p:cNvSpPr txBox="1"/>
          <p:nvPr/>
        </p:nvSpPr>
        <p:spPr>
          <a:xfrm>
            <a:off x="5186202" y="5376672"/>
            <a:ext cx="1819656" cy="193853"/>
          </a:xfrm>
          <a:prstGeom prst="rect">
            <a:avLst/>
          </a:prstGeom>
          <a:noFill/>
        </p:spPr>
        <p:txBody>
          <a:bodyPr wrap="square">
            <a:noAutofit/>
          </a:bodyPr>
          <a:lstStyle/>
          <a:p>
            <a:pPr/>
            <a:r>
              <a:rPr lang="en-MY" sz="900" b="1" dirty="0">
                <a:solidFill>
                  <a:schemeClr val="tx1">
                    <a:lumMod val="85000"/>
                    <a:lumOff val="15000"/>
                  </a:schemeClr>
                </a:solidFill>
              </a:rPr>
              <a:t>Pergola</a:t>
            </a:r>
          </a:p>
        </p:txBody>
      </p:sp>
      <p:sp>
        <p:nvSpPr>
          <p:cNvPr id="309" name="OverviewDir"/>
          <p:cNvSpPr txBox="1"/>
          <p:nvPr/>
        </p:nvSpPr>
        <p:spPr>
          <a:xfrm>
            <a:off x="5186202" y="5607101"/>
            <a:ext cx="1819656" cy="512064"/>
          </a:xfrm>
          <a:prstGeom prst="rect">
            <a:avLst/>
          </a:prstGeom>
          <a:noFill/>
        </p:spPr>
        <p:txBody>
          <a:bodyPr wrap="square">
            <a:noAutofit/>
          </a:bodyPr>
          <a:lstStyle/>
          <a:p>
            <a:pPr/>
            <a:r>
              <a:rPr lang="en-MY" sz="750" dirty="0">
                <a:solidFill>
                  <a:srgbClr val="808080"/>
                </a:solidFill>
              </a:rPr>
              <a:t>[Visual: Rajah 24 — Contoh Pergola,</a:t>
            </a:r>
          </a:p>
          <a:p>
            <a:pPr/>
            <a:r>
              <a:rPr lang="en-MY" sz="750" dirty="0">
                <a:solidFill>
                  <a:srgbClr val="808080"/>
                </a:solidFill>
              </a:rPr>
              <a:t>modul ms 240. Aset</a:t>
            </a:r>
          </a:p>
          <a:p>
            <a:pPr/>
            <a:r>
              <a:rPr lang="en-MY" sz="750" dirty="0">
                <a:solidFill>
                  <a:srgbClr val="808080"/>
                </a:solidFill>
              </a:rPr>
              <a:t>K5PL06T03-B02-IMG-p240-x23. Tidak</a:t>
            </a:r>
          </a:p>
          <a:p>
            <a:pPr/>
            <a:r>
              <a:rPr lang="en-MY" sz="750" dirty="0">
                <a:solidFill>
                  <a:srgbClr val="808080"/>
                </a:solidFill>
              </a:rPr>
              <a:t>dibenamkan.]</a:t>
            </a:r>
          </a:p>
        </p:txBody>
      </p:sp>
      <p:sp>
        <p:nvSpPr>
          <p:cNvPr id="310" name="OverviewCard"/>
          <p:cNvSpPr txBox="1"/>
          <p:nvPr/>
        </p:nvSpPr>
        <p:spPr>
          <a:xfrm>
            <a:off x="7280178" y="5321808"/>
            <a:ext cx="2002536" cy="870509"/>
          </a:xfrm>
          <a:prstGeom prst="rect">
            <a:avLst/>
          </a:prstGeom>
          <a:solidFill>
            <a:srgbClr val="F7F7F7"/>
          </a:solidFill>
          <a:ln w="12700">
            <a:solidFill>
              <a:srgbClr val="BFBFBF"/>
            </a:solidFill>
          </a:ln>
        </p:spPr>
        <p:txBody>
          <a:bodyPr wrap="square">
            <a:noAutofit/>
          </a:bodyPr>
          <a:lstStyle/>
        </p:txBody>
      </p:sp>
      <p:sp>
        <p:nvSpPr>
          <p:cNvPr id="311" name="OverviewSubject"/>
          <p:cNvSpPr txBox="1"/>
          <p:nvPr/>
        </p:nvSpPr>
        <p:spPr>
          <a:xfrm>
            <a:off x="7371618" y="5376672"/>
            <a:ext cx="1819656" cy="193853"/>
          </a:xfrm>
          <a:prstGeom prst="rect">
            <a:avLst/>
          </a:prstGeom>
          <a:noFill/>
        </p:spPr>
        <p:txBody>
          <a:bodyPr wrap="square">
            <a:noAutofit/>
          </a:bodyPr>
          <a:lstStyle/>
          <a:p>
            <a:pPr/>
            <a:r>
              <a:rPr lang="en-MY" sz="900" b="1" dirty="0">
                <a:solidFill>
                  <a:schemeClr val="tx1">
                    <a:lumMod val="85000"/>
                    <a:lumOff val="15000"/>
                  </a:schemeClr>
                </a:solidFill>
              </a:rPr>
              <a:t>Canopy</a:t>
            </a:r>
          </a:p>
        </p:txBody>
      </p:sp>
      <p:sp>
        <p:nvSpPr>
          <p:cNvPr id="312" name="OverviewDir"/>
          <p:cNvSpPr txBox="1"/>
          <p:nvPr/>
        </p:nvSpPr>
        <p:spPr>
          <a:xfrm>
            <a:off x="7371618" y="5607101"/>
            <a:ext cx="1819656" cy="512064"/>
          </a:xfrm>
          <a:prstGeom prst="rect">
            <a:avLst/>
          </a:prstGeom>
          <a:noFill/>
        </p:spPr>
        <p:txBody>
          <a:bodyPr wrap="square">
            <a:noAutofit/>
          </a:bodyPr>
          <a:lstStyle/>
          <a:p>
            <a:pPr/>
            <a:r>
              <a:rPr lang="en-MY" sz="750" dirty="0">
                <a:solidFill>
                  <a:srgbClr val="808080"/>
                </a:solidFill>
              </a:rPr>
              <a:t>[Visual: Canopy rekreasi di Taman</a:t>
            </a:r>
          </a:p>
          <a:p>
            <a:pPr/>
            <a:r>
              <a:rPr lang="en-MY" sz="750" dirty="0">
                <a:solidFill>
                  <a:srgbClr val="808080"/>
                </a:solidFill>
              </a:rPr>
              <a:t>Jaya]</a:t>
            </a:r>
          </a:p>
        </p:txBody>
      </p:sp>
      <p:sp>
        <p:nvSpPr>
          <p:cNvPr id="313" name="OverviewCard"/>
          <p:cNvSpPr txBox="1"/>
          <p:nvPr/>
        </p:nvSpPr>
        <p:spPr>
          <a:xfrm>
            <a:off x="9465594" y="5321808"/>
            <a:ext cx="2002536" cy="870509"/>
          </a:xfrm>
          <a:prstGeom prst="rect">
            <a:avLst/>
          </a:prstGeom>
          <a:solidFill>
            <a:srgbClr val="F7F7F7"/>
          </a:solidFill>
          <a:ln w="12700">
            <a:solidFill>
              <a:srgbClr val="BFBFBF"/>
            </a:solidFill>
          </a:ln>
        </p:spPr>
        <p:txBody>
          <a:bodyPr wrap="square">
            <a:noAutofit/>
          </a:bodyPr>
          <a:lstStyle/>
        </p:txBody>
      </p:sp>
      <p:sp>
        <p:nvSpPr>
          <p:cNvPr id="314" name="OverviewSubject"/>
          <p:cNvSpPr txBox="1"/>
          <p:nvPr/>
        </p:nvSpPr>
        <p:spPr>
          <a:xfrm>
            <a:off x="9557034" y="5376672"/>
            <a:ext cx="1819656" cy="193853"/>
          </a:xfrm>
          <a:prstGeom prst="rect">
            <a:avLst/>
          </a:prstGeom>
          <a:noFill/>
        </p:spPr>
        <p:txBody>
          <a:bodyPr wrap="square">
            <a:noAutofit/>
          </a:bodyPr>
          <a:lstStyle/>
          <a:p>
            <a:pPr/>
            <a:r>
              <a:rPr lang="en-MY" sz="900" b="1" dirty="0">
                <a:solidFill>
                  <a:schemeClr val="tx1">
                    <a:lumMod val="85000"/>
                    <a:lumOff val="15000"/>
                  </a:schemeClr>
                </a:solidFill>
              </a:rPr>
              <a:t>Struktur Teduhan Moden</a:t>
            </a:r>
          </a:p>
        </p:txBody>
      </p:sp>
      <p:sp>
        <p:nvSpPr>
          <p:cNvPr id="315" name="OverviewDir"/>
          <p:cNvSpPr txBox="1"/>
          <p:nvPr/>
        </p:nvSpPr>
        <p:spPr>
          <a:xfrm>
            <a:off x="9557034" y="5607101"/>
            <a:ext cx="1819656" cy="512064"/>
          </a:xfrm>
          <a:prstGeom prst="rect">
            <a:avLst/>
          </a:prstGeom>
          <a:noFill/>
        </p:spPr>
        <p:txBody>
          <a:bodyPr wrap="square">
            <a:noAutofit/>
          </a:bodyPr>
          <a:lstStyle/>
          <a:p>
            <a:pPr/>
            <a:r>
              <a:rPr lang="en-MY" sz="750" dirty="0">
                <a:solidFill>
                  <a:srgbClr val="808080"/>
                </a:solidFill>
              </a:rPr>
              <a:t>[Visual: Banyak kawasan awam di</a:t>
            </a:r>
          </a:p>
          <a:p>
            <a:pPr/>
            <a:r>
              <a:rPr lang="en-MY" sz="750" dirty="0">
                <a:solidFill>
                  <a:srgbClr val="808080"/>
                </a:solidFill>
              </a:rPr>
              <a:t>Putrajaya]</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Struktur Teduhan — penerangan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COMPONENT_MAIN_BASE</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main explanation</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[vo_complete]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SCR_STRUKTUR_TEDUHAN_MAIN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kandungan. Kemajuan melalui shell LMS.</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COMPONENT_MAIN_SCREEN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SOURCE_ATTESTED_COMPONENT_VISUAL</a:t>
            </a:r>
          </a:p>
          <a:p>
            <a:r>
              <a:rPr lang="en-MY" sz="900" dirty="0">
                <a:solidFill>
                  <a:schemeClr val="tx1">
                    <a:lumMod val="85000"/>
                    <a:lumOff val="15000"/>
                  </a:schemeClr>
                </a:solidFill>
              </a:rPr>
              <a:t>  kuasa keperluan: BARIAH_DIRECT_SCREENSHOT</a:t>
            </a:r>
          </a:p>
          <a:p>
            <a:r>
              <a:rPr lang="en-MY" sz="900" dirty="0">
                <a:solidFill>
                  <a:schemeClr val="tx1">
                    <a:lumMod val="85000"/>
                    <a:lumOff val="15000"/>
                  </a:schemeClr>
                </a:solidFill>
              </a:rPr>
              <a:t>  rawatan: SOURCE_BOUND_OVERVIEW</a:t>
            </a:r>
          </a:p>
          <a:p>
            <a:r>
              <a:rPr lang="en-MY" sz="900" dirty="0">
                <a:solidFill>
                  <a:schemeClr val="tx1">
                    <a:lumMod val="85000"/>
                    <a:lumOff val="15000"/>
                  </a:schemeClr>
                </a:solidFill>
              </a:rPr>
              <a:t>  kuasa rawatan: BARIAH_DIRECT_SCREENSHOT</a:t>
            </a:r>
          </a:p>
          <a:p>
            <a:r>
              <a:rPr lang="en-MY" sz="900" dirty="0">
                <a:solidFill>
                  <a:schemeClr val="tx1">
                    <a:lumMod val="85000"/>
                    <a:lumOff val="15000"/>
                  </a:schemeClr>
                </a:solidFill>
              </a:rPr>
              <a:t>  sumber subjek: MODULE_SOURCE_ATTESTED 5</a:t>
            </a:r>
          </a:p>
          <a:p>
            <a:r>
              <a:rPr lang="en-MY" sz="900" dirty="0">
                <a:solidFill>
                  <a:schemeClr val="tx1">
                    <a:lumMod val="85000"/>
                    <a:lumOff val="15000"/>
                  </a:schemeClr>
                </a:solidFill>
              </a:rPr>
              <a:t>  bilangan subjek overview: 5</a:t>
            </a:r>
          </a:p>
          <a:p>
            <a:r>
              <a:rPr lang="en-MY" sz="900" dirty="0">
                <a:solidFill>
                  <a:schemeClr val="tx1">
                    <a:lumMod val="85000"/>
                    <a:lumOff val="15000"/>
                  </a:schemeClr>
                </a:solidFill>
              </a:rPr>
              <a:t>  status pemetaan: RESOLVED</a:t>
            </a:r>
          </a:p>
          <a:p>
            <a:r>
              <a:rPr lang="en-MY" sz="900" dirty="0">
                <a:solidFill>
                  <a:schemeClr val="tx1">
                    <a:lumMod val="85000"/>
                    <a:lumOff val="15000"/>
                  </a:schemeClr>
                </a:solidFill>
              </a:rPr>
              <a:t>  pemetaan instans: COMPLETE</a:t>
            </a:r>
          </a:p>
          <a:p>
            <a:r>
              <a:rPr lang="en-MY" sz="900" dirty="0">
                <a:solidFill>
                  <a:schemeClr val="tx1">
                    <a:lumMod val="85000"/>
                    <a:lumOff val="15000"/>
                  </a:schemeClr>
                </a:solidFill>
              </a:rPr>
              <a:t>  menunggu keputusan manusia: TIDAK</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Taman Tasik Shah Alam]</a:t>
            </a:r>
          </a:p>
        </p:txBody>
      </p:sp>
      <p:sp>
        <p:nvSpPr>
          <p:cNvPr id="42" name="ItemCard"/>
          <p:cNvSpPr txBox="1"/>
          <p:nvPr/>
        </p:nvSpPr>
        <p:spPr>
          <a:xfrm>
            <a:off x="4433301"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Wakaf</a:t>
            </a:r>
          </a:p>
        </p:txBody>
      </p:sp>
      <p:sp>
        <p:nvSpPr>
          <p:cNvPr id="43"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Wakaf di Taman Desa, KL]</a:t>
            </a:r>
          </a:p>
        </p:txBody>
      </p:sp>
      <p:sp>
        <p:nvSpPr>
          <p:cNvPr id="44" name="ItemCard"/>
          <p:cNvSpPr txBox="1"/>
          <p:nvPr/>
        </p:nvSpPr>
        <p:spPr>
          <a:xfrm>
            <a:off x="8142717"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5"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Rajah 24 — Contoh Pergola, modul ms 240. Aset</a:t>
            </a:r>
          </a:p>
          <a:p>
            <a:pPr/>
            <a:r>
              <a:rPr lang="en-MY" sz="800" dirty="0">
                <a:solidFill>
                  <a:srgbClr val="808080"/>
                </a:solidFill>
              </a:rPr>
              <a:t>K5PL06T03-B02-IMG-p240-x23. Tidak dibenamkan.]</a:t>
            </a:r>
          </a:p>
        </p:txBody>
      </p:sp>
      <p:sp>
        <p:nvSpPr>
          <p:cNvPr id="46" name="ItemCard"/>
          <p:cNvSpPr txBox="1"/>
          <p:nvPr/>
        </p:nvSpPr>
        <p:spPr>
          <a:xfrm>
            <a:off x="2578593"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Canopy</a:t>
            </a:r>
          </a:p>
        </p:txBody>
      </p:sp>
      <p:sp>
        <p:nvSpPr>
          <p:cNvPr id="47" name="VisualDir"/>
          <p:cNvSpPr txBox="1"/>
          <p:nvPr/>
        </p:nvSpPr>
        <p:spPr>
          <a:xfrm>
            <a:off x="2615169" y="4727448"/>
            <a:ext cx="3252216" cy="457200"/>
          </a:xfrm>
          <a:prstGeom prst="rect">
            <a:avLst/>
          </a:prstGeom>
          <a:noFill/>
        </p:spPr>
        <p:txBody>
          <a:bodyPr wrap="square">
            <a:noAutofit/>
          </a:bodyPr>
          <a:lstStyle/>
          <a:p>
            <a:pPr/>
            <a:r>
              <a:rPr lang="en-MY" sz="800" dirty="0">
                <a:solidFill>
                  <a:srgbClr val="808080"/>
                </a:solidFill>
              </a:rPr>
              <a:t>[Visual: Canopy rekreasi di Taman Jaya]</a:t>
            </a:r>
          </a:p>
        </p:txBody>
      </p:sp>
      <p:sp>
        <p:nvSpPr>
          <p:cNvPr id="48" name="ItemCard"/>
          <p:cNvSpPr txBox="1"/>
          <p:nvPr/>
        </p:nvSpPr>
        <p:spPr>
          <a:xfrm>
            <a:off x="6288009"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49" name="VisualDir"/>
          <p:cNvSpPr txBox="1"/>
          <p:nvPr/>
        </p:nvSpPr>
        <p:spPr>
          <a:xfrm>
            <a:off x="6324585" y="4727448"/>
            <a:ext cx="3252216" cy="457200"/>
          </a:xfrm>
          <a:prstGeom prst="rect">
            <a:avLst/>
          </a:prstGeom>
          <a:noFill/>
        </p:spPr>
        <p:txBody>
          <a:bodyPr wrap="square">
            <a:noAutofit/>
          </a:bodyPr>
          <a:lstStyle/>
          <a:p>
            <a:pPr/>
            <a:r>
              <a:rPr lang="en-MY" sz="800" dirty="0">
                <a:solidFill>
                  <a:srgbClr val="808080"/>
                </a:solidFill>
              </a:rPr>
              <a:t>[Visual: Banyak kawasan awam di Putrajaya]</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Teduhan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selection, none viewed</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[component_complete[STRUKTUR_TEDUHAN]]</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SCR_STRUKTUR_TEDUHAN_EXAMPLES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K5-PL06-T03-B02-STRUKTUR-TEDUHAN-ROW-01</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K5-PL06-T03-B02-STRUKTUR-TEDUHAN-ROW-02</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K5-PL06-T03-B02-STRUKTUR-TEDUHAN-ROW-03</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K5-PL06-T03-B02-STRUKTUR-TEDUHAN-ROW-04</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K5-PL06-T03-B02-STRUKTUR-TEDUHAN-ROW-05</a:t>
            </a:r>
          </a:p>
          <a:p>
            <a:r>
              <a:rPr lang="en-MY" sz="900" dirty="0">
                <a:solidFill>
                  <a:schemeClr val="tx1">
                    <a:lumMod val="85000"/>
                    <a:lumOff val="15000"/>
                  </a:schemeClr>
                </a:solidFill>
              </a:rPr>
              <a:t>    ms 239 / fizikal 258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II_STRUKTUR_TEDUHAN_EX01  &lt;-  K5-PL06-T03-B02-STRUKTUR-TEDUHAN-ROW-01</a:t>
            </a:r>
          </a:p>
          <a:p>
            <a:r>
              <a:rPr lang="en-MY" sz="900" dirty="0">
                <a:solidFill>
                  <a:schemeClr val="tx1">
                    <a:lumMod val="85000"/>
                    <a:lumOff val="15000"/>
                  </a:schemeClr>
                </a:solidFill>
              </a:rPr>
              <a:t>  II_STRUKTUR_TEDUHAN_EX02  &lt;-  K5-PL06-T03-B02-STRUKTUR-TEDUHAN-ROW-02</a:t>
            </a:r>
          </a:p>
          <a:p>
            <a:r>
              <a:rPr lang="en-MY" sz="900" dirty="0">
                <a:solidFill>
                  <a:schemeClr val="tx1">
                    <a:lumMod val="85000"/>
                    <a:lumOff val="15000"/>
                  </a:schemeClr>
                </a:solidFill>
              </a:rPr>
              <a:t>  II_STRUKTUR_TEDUHAN_EX03  &lt;-  K5-PL06-T03-B02-STRUKTUR-TEDUHAN-ROW-03</a:t>
            </a:r>
          </a:p>
          <a:p>
            <a:r>
              <a:rPr lang="en-MY" sz="900" dirty="0">
                <a:solidFill>
                  <a:schemeClr val="tx1">
                    <a:lumMod val="85000"/>
                    <a:lumOff val="15000"/>
                  </a:schemeClr>
                </a:solidFill>
              </a:rPr>
              <a:t>  II_STRUKTUR_TEDUHAN_EX04  &lt;-  K5-PL06-T03-B02-STRUKTUR-TEDUHAN-ROW-04</a:t>
            </a:r>
          </a:p>
          <a:p>
            <a:r>
              <a:rPr lang="en-MY" sz="900" dirty="0">
                <a:solidFill>
                  <a:schemeClr val="tx1">
                    <a:lumMod val="85000"/>
                    <a:lumOff val="15000"/>
                  </a:schemeClr>
                </a:solidFill>
              </a:rPr>
              <a:t>  II_STRUKTUR_TEDUHAN_EX05  &lt;-  K5-PL06-T03-B02-STRUKTUR-TEDUHAN-ROW-05</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0/5 contoh dilihat.</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contoh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EXAMPLE_SELECTION_SCREEN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RESOLVED_PER_EXAMPLE_CARD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  visual setiap contoh (satu per kad):</a:t>
            </a:r>
          </a:p>
          <a:p>
            <a:r>
              <a:rPr lang="en-MY" sz="900" dirty="0">
                <a:solidFill>
                  <a:schemeClr val="tx1">
                    <a:lumMod val="85000"/>
                    <a:lumOff val="15000"/>
                  </a:schemeClr>
                </a:solidFill>
              </a:rPr>
              <a:t>    Gazebo — [Visual: Taman Tasik Shah Alam]</a:t>
            </a:r>
          </a:p>
          <a:p>
            <a:r>
              <a:rPr lang="en-MY" sz="900" dirty="0">
                <a:solidFill>
                  <a:schemeClr val="tx1">
                    <a:lumMod val="85000"/>
                    <a:lumOff val="15000"/>
                  </a:schemeClr>
                </a:solidFill>
              </a:rPr>
              <a:t>    Wakaf — [Visual: Wakaf di Taman Desa, KL]</a:t>
            </a:r>
          </a:p>
          <a:p>
            <a:r>
              <a:rPr lang="en-MY" sz="900" dirty="0">
                <a:solidFill>
                  <a:schemeClr val="tx1">
                    <a:lumMod val="85000"/>
                    <a:lumOff val="15000"/>
                  </a:schemeClr>
                </a:solidFill>
              </a:rPr>
              <a:t>    Pergola — [Visual: Rajah 24 — Contoh Pergola, modul ms 240. Aset K5PL06T03-B02-IMG-p240-x23. Tidak dibenamkan.]</a:t>
            </a:r>
          </a:p>
          <a:p>
            <a:r>
              <a:rPr lang="en-MY" sz="900" dirty="0">
                <a:solidFill>
                  <a:schemeClr val="tx1">
                    <a:lumMod val="85000"/>
                    <a:lumOff val="15000"/>
                  </a:schemeClr>
                </a:solidFill>
              </a:rPr>
              <a:t>    Canopy — [Visual: Canopy rekreasi di Taman Jaya]</a:t>
            </a:r>
          </a:p>
          <a:p>
            <a:r>
              <a:rPr lang="en-MY" sz="900" dirty="0">
                <a:solidFill>
                  <a:schemeClr val="tx1">
                    <a:lumMod val="85000"/>
                    <a:lumOff val="15000"/>
                  </a:schemeClr>
                </a:solidFill>
              </a:rPr>
              <a:t>    Struktur Teduhan Moden — [Visual: Banyak kawasan awam di Putrajaya]</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Taman Tasik Shah Alam]</a:t>
            </a:r>
          </a:p>
        </p:txBody>
      </p:sp>
      <p:sp>
        <p:nvSpPr>
          <p:cNvPr id="43" name="ItemCard"/>
          <p:cNvSpPr txBox="1"/>
          <p:nvPr/>
        </p:nvSpPr>
        <p:spPr>
          <a:xfrm>
            <a:off x="4433301"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Wakaf</a:t>
            </a:r>
          </a:p>
        </p:txBody>
      </p:sp>
      <p:sp>
        <p:nvSpPr>
          <p:cNvPr id="44"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Wakaf di Taman Desa, KL]</a:t>
            </a:r>
          </a:p>
        </p:txBody>
      </p:sp>
      <p:sp>
        <p:nvSpPr>
          <p:cNvPr id="45" name="ItemCard"/>
          <p:cNvSpPr txBox="1"/>
          <p:nvPr/>
        </p:nvSpPr>
        <p:spPr>
          <a:xfrm>
            <a:off x="8142717"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6"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Rajah 24 — Contoh Pergola, modul ms 240. Aset</a:t>
            </a:r>
          </a:p>
          <a:p>
            <a:pPr/>
            <a:r>
              <a:rPr lang="en-MY" sz="800" dirty="0">
                <a:solidFill>
                  <a:srgbClr val="808080"/>
                </a:solidFill>
              </a:rPr>
              <a:t>K5PL06T03-B02-IMG-p240-x23. Tidak dibenamkan.]</a:t>
            </a:r>
          </a:p>
        </p:txBody>
      </p:sp>
      <p:sp>
        <p:nvSpPr>
          <p:cNvPr id="47" name="ItemCard"/>
          <p:cNvSpPr txBox="1"/>
          <p:nvPr/>
        </p:nvSpPr>
        <p:spPr>
          <a:xfrm>
            <a:off x="2578593"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Canopy</a:t>
            </a:r>
          </a:p>
        </p:txBody>
      </p:sp>
      <p:sp>
        <p:nvSpPr>
          <p:cNvPr id="48" name="VisualDir"/>
          <p:cNvSpPr txBox="1"/>
          <p:nvPr/>
        </p:nvSpPr>
        <p:spPr>
          <a:xfrm>
            <a:off x="2615169" y="4727448"/>
            <a:ext cx="3252216" cy="457200"/>
          </a:xfrm>
          <a:prstGeom prst="rect">
            <a:avLst/>
          </a:prstGeom>
          <a:noFill/>
        </p:spPr>
        <p:txBody>
          <a:bodyPr wrap="square">
            <a:noAutofit/>
          </a:bodyPr>
          <a:lstStyle/>
          <a:p>
            <a:pPr/>
            <a:r>
              <a:rPr lang="en-MY" sz="800" dirty="0">
                <a:solidFill>
                  <a:srgbClr val="808080"/>
                </a:solidFill>
              </a:rPr>
              <a:t>[Visual: Canopy rekreasi di Taman Jaya]</a:t>
            </a:r>
          </a:p>
        </p:txBody>
      </p:sp>
      <p:sp>
        <p:nvSpPr>
          <p:cNvPr id="49" name="ItemCard"/>
          <p:cNvSpPr txBox="1"/>
          <p:nvPr/>
        </p:nvSpPr>
        <p:spPr>
          <a:xfrm>
            <a:off x="6288009"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50" name="VisualDir"/>
          <p:cNvSpPr txBox="1"/>
          <p:nvPr/>
        </p:nvSpPr>
        <p:spPr>
          <a:xfrm>
            <a:off x="6324585" y="4727448"/>
            <a:ext cx="3252216" cy="457200"/>
          </a:xfrm>
          <a:prstGeom prst="rect">
            <a:avLst/>
          </a:prstGeom>
          <a:noFill/>
        </p:spPr>
        <p:txBody>
          <a:bodyPr wrap="square">
            <a:noAutofit/>
          </a:bodyPr>
          <a:lstStyle/>
          <a:p>
            <a:pPr/>
            <a:r>
              <a:rPr lang="en-MY" sz="800" dirty="0">
                <a:solidFill>
                  <a:srgbClr val="808080"/>
                </a:solidFill>
              </a:rPr>
              <a:t>[Visual: Banyak kawasan awam di Putrajaya]</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257800" cy="365760"/>
          </a:xfrm>
          <a:prstGeom prst="rect">
            <a:avLst/>
          </a:prstGeom>
          <a:noFill/>
        </p:spPr>
        <p:txBody>
          <a:bodyPr wrap="square">
            <a:noAutofit/>
          </a:bodyPr>
          <a:lstStyle/>
          <a:p>
            <a:pPr/>
            <a:r>
              <a:rPr lang="en-MY" sz="2000" b="1" dirty="0">
                <a:solidFill>
                  <a:schemeClr val="tx1">
                    <a:lumMod val="85000"/>
                    <a:lumOff val="15000"/>
                  </a:schemeClr>
                </a:solidFill>
              </a:rPr>
              <a:t>Gazebo</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25780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257800" cy="429768"/>
          </a:xfrm>
          <a:prstGeom prst="rect">
            <a:avLst/>
          </a:prstGeom>
          <a:noFill/>
        </p:spPr>
        <p:txBody>
          <a:bodyPr wrap="square">
            <a:noAutofit/>
          </a:bodyPr>
          <a:lstStyle/>
          <a:p>
            <a:pPr/>
            <a:r>
              <a:rPr lang="en-MY" sz="1250" dirty="0">
                <a:solidFill>
                  <a:schemeClr val="tx1">
                    <a:lumMod val="85000"/>
                    <a:lumOff val="15000"/>
                  </a:schemeClr>
                </a:solidFill>
              </a:rPr>
              <a:t>Struktur berbumbung terbuka untuk bersantai atau</a:t>
            </a:r>
          </a:p>
          <a:p>
            <a:pPr/>
            <a:r>
              <a:rPr lang="en-MY" sz="1250" dirty="0">
                <a:solidFill>
                  <a:schemeClr val="tx1">
                    <a:lumMod val="85000"/>
                    <a:lumOff val="15000"/>
                  </a:schemeClr>
                </a:solidFill>
              </a:rPr>
              <a:t>menikmati pemandangan.</a:t>
            </a:r>
          </a:p>
        </p:txBody>
      </p:sp>
      <p:sp>
        <p:nvSpPr>
          <p:cNvPr id="212" name="FHead"/>
          <p:cNvSpPr txBox="1"/>
          <p:nvPr/>
        </p:nvSpPr>
        <p:spPr>
          <a:xfrm>
            <a:off x="1490472" y="3044952"/>
            <a:ext cx="525780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257800" cy="219456"/>
          </a:xfrm>
          <a:prstGeom prst="rect">
            <a:avLst/>
          </a:prstGeom>
          <a:noFill/>
        </p:spPr>
        <p:txBody>
          <a:bodyPr wrap="square">
            <a:noAutofit/>
          </a:bodyPr>
          <a:lstStyle/>
          <a:p>
            <a:pPr/>
            <a:r>
              <a:rPr lang="en-MY" sz="1250" dirty="0">
                <a:solidFill>
                  <a:schemeClr val="tx1">
                    <a:lumMod val="85000"/>
                    <a:lumOff val="15000"/>
                  </a:schemeClr>
                </a:solidFill>
              </a:rPr>
              <a:t>Taman Tasik Shah Alam</a:t>
            </a:r>
          </a:p>
        </p:txBody>
      </p:sp>
      <p:sp>
        <p:nvSpPr>
          <p:cNvPr id="230" name="VisualPanel"/>
          <p:cNvSpPr txBox="1"/>
          <p:nvPr/>
        </p:nvSpPr>
        <p:spPr>
          <a:xfrm>
            <a:off x="6903720" y="2157984"/>
            <a:ext cx="3785616"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068312" y="2286000"/>
            <a:ext cx="3456432"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068312" y="2542032"/>
            <a:ext cx="3456432" cy="256032"/>
          </a:xfrm>
          <a:prstGeom prst="rect">
            <a:avLst/>
          </a:prstGeom>
          <a:noFill/>
        </p:spPr>
        <p:txBody>
          <a:bodyPr wrap="square">
            <a:noAutofit/>
          </a:bodyPr>
          <a:lstStyle/>
          <a:p>
            <a:pPr/>
            <a:r>
              <a:rPr lang="en-MY" sz="1150" dirty="0">
                <a:solidFill>
                  <a:schemeClr val="tx1">
                    <a:lumMod val="85000"/>
                    <a:lumOff val="15000"/>
                  </a:schemeClr>
                </a:solidFill>
              </a:rPr>
              <a:t>[Visual: Taman Tasik Shah Alam]</a:t>
            </a:r>
          </a:p>
        </p:txBody>
      </p:sp>
      <p:sp>
        <p:nvSpPr>
          <p:cNvPr id="233" name="VisualPanelArea"/>
          <p:cNvSpPr txBox="1"/>
          <p:nvPr/>
        </p:nvSpPr>
        <p:spPr>
          <a:xfrm>
            <a:off x="7068312" y="3758184"/>
            <a:ext cx="3456432"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Teduhan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SCR_STRUKTUR_TEDUHAN_EXAMPLES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SCR_STRUKTUR_TEDUHAN_EXAMPLES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K5-PL06-T03-B02-STRUKTUR-TEDUHAN-ROW-01</a:t>
            </a:r>
          </a:p>
          <a:p>
            <a:r>
              <a:rPr lang="en-MY" sz="900" dirty="0">
                <a:solidFill>
                  <a:schemeClr val="tx1">
                    <a:lumMod val="85000"/>
                    <a:lumOff val="15000"/>
                  </a:schemeClr>
                </a:solidFill>
              </a:rPr>
              <a:t>    ms 239 / fizikal 258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II_STRUKTUR_TEDUHAN_EX01  &lt;-  K5-PL06-T03-B02-STRUKTUR-TEDUHAN-ROW-01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1/5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Taman Tasik Shah Alam]</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Wakaf</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Wakaf di Taman Desa, KL]</a:t>
            </a:r>
          </a:p>
        </p:txBody>
      </p:sp>
      <p:sp>
        <p:nvSpPr>
          <p:cNvPr id="46" name="ItemCard"/>
          <p:cNvSpPr txBox="1"/>
          <p:nvPr/>
        </p:nvSpPr>
        <p:spPr>
          <a:xfrm>
            <a:off x="8142717"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7"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Rajah 24 — Contoh Pergola, modul ms 240. Aset</a:t>
            </a:r>
          </a:p>
          <a:p>
            <a:pPr/>
            <a:r>
              <a:rPr lang="en-MY" sz="800" dirty="0">
                <a:solidFill>
                  <a:srgbClr val="808080"/>
                </a:solidFill>
              </a:rPr>
              <a:t>K5PL06T03-B02-IMG-p240-x23. Tidak dibenamkan.]</a:t>
            </a:r>
          </a:p>
        </p:txBody>
      </p:sp>
      <p:sp>
        <p:nvSpPr>
          <p:cNvPr id="48" name="ItemCard"/>
          <p:cNvSpPr txBox="1"/>
          <p:nvPr/>
        </p:nvSpPr>
        <p:spPr>
          <a:xfrm>
            <a:off x="2578593"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Canopy</a:t>
            </a:r>
          </a:p>
        </p:txBody>
      </p:sp>
      <p:sp>
        <p:nvSpPr>
          <p:cNvPr id="49" name="VisualDir"/>
          <p:cNvSpPr txBox="1"/>
          <p:nvPr/>
        </p:nvSpPr>
        <p:spPr>
          <a:xfrm>
            <a:off x="2615169" y="4727448"/>
            <a:ext cx="3252216" cy="457200"/>
          </a:xfrm>
          <a:prstGeom prst="rect">
            <a:avLst/>
          </a:prstGeom>
          <a:noFill/>
        </p:spPr>
        <p:txBody>
          <a:bodyPr wrap="square">
            <a:noAutofit/>
          </a:bodyPr>
          <a:lstStyle/>
          <a:p>
            <a:pPr/>
            <a:r>
              <a:rPr lang="en-MY" sz="800" dirty="0">
                <a:solidFill>
                  <a:srgbClr val="808080"/>
                </a:solidFill>
              </a:rPr>
              <a:t>[Visual: Canopy rekreasi di Taman Jaya]</a:t>
            </a:r>
          </a:p>
        </p:txBody>
      </p:sp>
      <p:sp>
        <p:nvSpPr>
          <p:cNvPr id="50" name="ItemCard"/>
          <p:cNvSpPr txBox="1"/>
          <p:nvPr/>
        </p:nvSpPr>
        <p:spPr>
          <a:xfrm>
            <a:off x="6288009"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51" name="VisualDir"/>
          <p:cNvSpPr txBox="1"/>
          <p:nvPr/>
        </p:nvSpPr>
        <p:spPr>
          <a:xfrm>
            <a:off x="6324585" y="4727448"/>
            <a:ext cx="3252216" cy="457200"/>
          </a:xfrm>
          <a:prstGeom prst="rect">
            <a:avLst/>
          </a:prstGeom>
          <a:noFill/>
        </p:spPr>
        <p:txBody>
          <a:bodyPr wrap="square">
            <a:noAutofit/>
          </a:bodyPr>
          <a:lstStyle/>
          <a:p>
            <a:pPr/>
            <a:r>
              <a:rPr lang="en-MY" sz="800" dirty="0">
                <a:solidFill>
                  <a:srgbClr val="808080"/>
                </a:solidFill>
              </a:rPr>
              <a:t>[Visual: Banyak kawasan awam di Putrajaya]</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257800" cy="365760"/>
          </a:xfrm>
          <a:prstGeom prst="rect">
            <a:avLst/>
          </a:prstGeom>
          <a:noFill/>
        </p:spPr>
        <p:txBody>
          <a:bodyPr wrap="square">
            <a:noAutofit/>
          </a:bodyPr>
          <a:lstStyle/>
          <a:p>
            <a:pPr/>
            <a:r>
              <a:rPr lang="en-MY" sz="2000" b="1" dirty="0">
                <a:solidFill>
                  <a:schemeClr val="tx1">
                    <a:lumMod val="85000"/>
                    <a:lumOff val="15000"/>
                  </a:schemeClr>
                </a:solidFill>
              </a:rPr>
              <a:t>Wakaf</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25780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257800" cy="429768"/>
          </a:xfrm>
          <a:prstGeom prst="rect">
            <a:avLst/>
          </a:prstGeom>
          <a:noFill/>
        </p:spPr>
        <p:txBody>
          <a:bodyPr wrap="square">
            <a:noAutofit/>
          </a:bodyPr>
          <a:lstStyle/>
          <a:p>
            <a:pPr/>
            <a:r>
              <a:rPr lang="en-MY" sz="1250" dirty="0">
                <a:solidFill>
                  <a:schemeClr val="tx1">
                    <a:lumMod val="85000"/>
                    <a:lumOff val="15000"/>
                  </a:schemeClr>
                </a:solidFill>
              </a:rPr>
              <a:t>Struktur tradisional Melayu yang digunakan sebagai</a:t>
            </a:r>
          </a:p>
          <a:p>
            <a:pPr/>
            <a:r>
              <a:rPr lang="en-MY" sz="1250" dirty="0">
                <a:solidFill>
                  <a:schemeClr val="tx1">
                    <a:lumMod val="85000"/>
                    <a:lumOff val="15000"/>
                  </a:schemeClr>
                </a:solidFill>
              </a:rPr>
              <a:t>tempat berehat.</a:t>
            </a:r>
          </a:p>
        </p:txBody>
      </p:sp>
      <p:sp>
        <p:nvSpPr>
          <p:cNvPr id="212" name="FHead"/>
          <p:cNvSpPr txBox="1"/>
          <p:nvPr/>
        </p:nvSpPr>
        <p:spPr>
          <a:xfrm>
            <a:off x="1490472" y="3044952"/>
            <a:ext cx="525780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257800" cy="219456"/>
          </a:xfrm>
          <a:prstGeom prst="rect">
            <a:avLst/>
          </a:prstGeom>
          <a:noFill/>
        </p:spPr>
        <p:txBody>
          <a:bodyPr wrap="square">
            <a:noAutofit/>
          </a:bodyPr>
          <a:lstStyle/>
          <a:p>
            <a:pPr/>
            <a:r>
              <a:rPr lang="en-MY" sz="1250" dirty="0">
                <a:solidFill>
                  <a:schemeClr val="tx1">
                    <a:lumMod val="85000"/>
                    <a:lumOff val="15000"/>
                  </a:schemeClr>
                </a:solidFill>
              </a:rPr>
              <a:t>Wakaf di Taman Desa, KL</a:t>
            </a:r>
          </a:p>
        </p:txBody>
      </p:sp>
      <p:sp>
        <p:nvSpPr>
          <p:cNvPr id="230" name="VisualPanel"/>
          <p:cNvSpPr txBox="1"/>
          <p:nvPr/>
        </p:nvSpPr>
        <p:spPr>
          <a:xfrm>
            <a:off x="6903720" y="2157984"/>
            <a:ext cx="3785616"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068312" y="2286000"/>
            <a:ext cx="3456432"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068312" y="2542032"/>
            <a:ext cx="3456432" cy="256032"/>
          </a:xfrm>
          <a:prstGeom prst="rect">
            <a:avLst/>
          </a:prstGeom>
          <a:noFill/>
        </p:spPr>
        <p:txBody>
          <a:bodyPr wrap="square">
            <a:noAutofit/>
          </a:bodyPr>
          <a:lstStyle/>
          <a:p>
            <a:pPr/>
            <a:r>
              <a:rPr lang="en-MY" sz="1150" dirty="0">
                <a:solidFill>
                  <a:schemeClr val="tx1">
                    <a:lumMod val="85000"/>
                    <a:lumOff val="15000"/>
                  </a:schemeClr>
                </a:solidFill>
              </a:rPr>
              <a:t>[Visual: Wakaf di Taman Desa, KL]</a:t>
            </a:r>
          </a:p>
        </p:txBody>
      </p:sp>
      <p:sp>
        <p:nvSpPr>
          <p:cNvPr id="233" name="VisualPanelArea"/>
          <p:cNvSpPr txBox="1"/>
          <p:nvPr/>
        </p:nvSpPr>
        <p:spPr>
          <a:xfrm>
            <a:off x="7068312" y="3758184"/>
            <a:ext cx="3456432"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Teduhan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SCR_STRUKTUR_TEDUHAN_EXAMPLES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SCR_STRUKTUR_TEDUHAN_EXAMPLES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K5-PL06-T03-B02-STRUKTUR-TEDUHAN-ROW-02</a:t>
            </a:r>
          </a:p>
          <a:p>
            <a:r>
              <a:rPr lang="en-MY" sz="900" dirty="0">
                <a:solidFill>
                  <a:schemeClr val="tx1">
                    <a:lumMod val="85000"/>
                    <a:lumOff val="15000"/>
                  </a:schemeClr>
                </a:solidFill>
              </a:rPr>
              <a:t>    ms 239 / fizikal 258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II_STRUKTUR_TEDUHAN_EX02  &lt;-  K5-PL06-T03-B02-STRUKTUR-TEDUHAN-ROW-02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2/5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Taman Tasik Shah Alam]</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Wakaf</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Wakaf di Taman Desa, KL]</a:t>
            </a:r>
          </a:p>
        </p:txBody>
      </p:sp>
      <p:sp>
        <p:nvSpPr>
          <p:cNvPr id="46" name="ItemCard"/>
          <p:cNvSpPr txBox="1"/>
          <p:nvPr/>
        </p:nvSpPr>
        <p:spPr>
          <a:xfrm>
            <a:off x="8142717"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7"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Rajah 24 — Contoh Pergola, modul ms 240. Aset</a:t>
            </a:r>
          </a:p>
          <a:p>
            <a:pPr/>
            <a:r>
              <a:rPr lang="en-MY" sz="800" dirty="0">
                <a:solidFill>
                  <a:srgbClr val="808080"/>
                </a:solidFill>
              </a:rPr>
              <a:t>K5PL06T03-B02-IMG-p240-x23. Tidak dibenamkan.]</a:t>
            </a:r>
          </a:p>
        </p:txBody>
      </p:sp>
      <p:sp>
        <p:nvSpPr>
          <p:cNvPr id="49" name="ItemCard"/>
          <p:cNvSpPr txBox="1"/>
          <p:nvPr/>
        </p:nvSpPr>
        <p:spPr>
          <a:xfrm>
            <a:off x="2578593"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Canopy</a:t>
            </a:r>
          </a:p>
        </p:txBody>
      </p:sp>
      <p:sp>
        <p:nvSpPr>
          <p:cNvPr id="50" name="VisualDir"/>
          <p:cNvSpPr txBox="1"/>
          <p:nvPr/>
        </p:nvSpPr>
        <p:spPr>
          <a:xfrm>
            <a:off x="2615169" y="4727448"/>
            <a:ext cx="3252216" cy="457200"/>
          </a:xfrm>
          <a:prstGeom prst="rect">
            <a:avLst/>
          </a:prstGeom>
          <a:noFill/>
        </p:spPr>
        <p:txBody>
          <a:bodyPr wrap="square">
            <a:noAutofit/>
          </a:bodyPr>
          <a:lstStyle/>
          <a:p>
            <a:pPr/>
            <a:r>
              <a:rPr lang="en-MY" sz="800" dirty="0">
                <a:solidFill>
                  <a:srgbClr val="808080"/>
                </a:solidFill>
              </a:rPr>
              <a:t>[Visual: Canopy rekreasi di Taman Jaya]</a:t>
            </a:r>
          </a:p>
        </p:txBody>
      </p:sp>
      <p:sp>
        <p:nvSpPr>
          <p:cNvPr id="51" name="ItemCard"/>
          <p:cNvSpPr txBox="1"/>
          <p:nvPr/>
        </p:nvSpPr>
        <p:spPr>
          <a:xfrm>
            <a:off x="6288009"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52" name="VisualDir"/>
          <p:cNvSpPr txBox="1"/>
          <p:nvPr/>
        </p:nvSpPr>
        <p:spPr>
          <a:xfrm>
            <a:off x="6324585" y="4727448"/>
            <a:ext cx="3252216" cy="457200"/>
          </a:xfrm>
          <a:prstGeom prst="rect">
            <a:avLst/>
          </a:prstGeom>
          <a:noFill/>
        </p:spPr>
        <p:txBody>
          <a:bodyPr wrap="square">
            <a:noAutofit/>
          </a:bodyPr>
          <a:lstStyle/>
          <a:p>
            <a:pPr/>
            <a:r>
              <a:rPr lang="en-MY" sz="800" dirty="0">
                <a:solidFill>
                  <a:srgbClr val="808080"/>
                </a:solidFill>
              </a:rPr>
              <a:t>[Visual: Banyak kawasan awam di Putrajaya]</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257800" cy="365760"/>
          </a:xfrm>
          <a:prstGeom prst="rect">
            <a:avLst/>
          </a:prstGeom>
          <a:noFill/>
        </p:spPr>
        <p:txBody>
          <a:bodyPr wrap="square">
            <a:noAutofit/>
          </a:bodyPr>
          <a:lstStyle/>
          <a:p>
            <a:pPr/>
            <a:r>
              <a:rPr lang="en-MY" sz="2000" b="1" dirty="0">
                <a:solidFill>
                  <a:schemeClr val="tx1">
                    <a:lumMod val="85000"/>
                    <a:lumOff val="15000"/>
                  </a:schemeClr>
                </a:solidFill>
              </a:rPr>
              <a:t>Pergola</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25780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257800" cy="429768"/>
          </a:xfrm>
          <a:prstGeom prst="rect">
            <a:avLst/>
          </a:prstGeom>
          <a:noFill/>
        </p:spPr>
        <p:txBody>
          <a:bodyPr wrap="square">
            <a:noAutofit/>
          </a:bodyPr>
          <a:lstStyle/>
          <a:p>
            <a:pPr/>
            <a:r>
              <a:rPr lang="en-MY" sz="1250" dirty="0">
                <a:solidFill>
                  <a:schemeClr val="tx1">
                    <a:lumMod val="85000"/>
                    <a:lumOff val="15000"/>
                  </a:schemeClr>
                </a:solidFill>
              </a:rPr>
              <a:t>Rangka struktur terbuka yang biasanya ditumbuhi</a:t>
            </a:r>
          </a:p>
          <a:p>
            <a:pPr/>
            <a:r>
              <a:rPr lang="en-MY" sz="1250" dirty="0">
                <a:solidFill>
                  <a:schemeClr val="tx1">
                    <a:lumMod val="85000"/>
                    <a:lumOff val="15000"/>
                  </a:schemeClr>
                </a:solidFill>
              </a:rPr>
              <a:t>tanaman pemanjat seperti bougainvillea.</a:t>
            </a:r>
          </a:p>
        </p:txBody>
      </p:sp>
      <p:sp>
        <p:nvSpPr>
          <p:cNvPr id="212" name="FHead"/>
          <p:cNvSpPr txBox="1"/>
          <p:nvPr/>
        </p:nvSpPr>
        <p:spPr>
          <a:xfrm>
            <a:off x="1490472" y="3044952"/>
            <a:ext cx="525780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257800" cy="219456"/>
          </a:xfrm>
          <a:prstGeom prst="rect">
            <a:avLst/>
          </a:prstGeom>
          <a:noFill/>
        </p:spPr>
        <p:txBody>
          <a:bodyPr wrap="square">
            <a:noAutofit/>
          </a:bodyPr>
          <a:lstStyle/>
          <a:p>
            <a:pPr/>
            <a:r>
              <a:rPr lang="en-MY" sz="1250" dirty="0">
                <a:solidFill>
                  <a:schemeClr val="tx1">
                    <a:lumMod val="85000"/>
                    <a:lumOff val="15000"/>
                  </a:schemeClr>
                </a:solidFill>
              </a:rPr>
              <a:t>Pergola di Laman Herba Putrajaya</a:t>
            </a:r>
          </a:p>
        </p:txBody>
      </p:sp>
      <p:sp>
        <p:nvSpPr>
          <p:cNvPr id="230" name="VisualPanel"/>
          <p:cNvSpPr txBox="1"/>
          <p:nvPr/>
        </p:nvSpPr>
        <p:spPr>
          <a:xfrm>
            <a:off x="6903720" y="2157984"/>
            <a:ext cx="3785616"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068312" y="2286000"/>
            <a:ext cx="3456432"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068312" y="2542032"/>
            <a:ext cx="3456432" cy="621792"/>
          </a:xfrm>
          <a:prstGeom prst="rect">
            <a:avLst/>
          </a:prstGeom>
          <a:noFill/>
        </p:spPr>
        <p:txBody>
          <a:bodyPr wrap="square">
            <a:noAutofit/>
          </a:bodyPr>
          <a:lstStyle/>
          <a:p>
            <a:pPr/>
            <a:r>
              <a:rPr lang="en-MY" sz="1150" dirty="0">
                <a:solidFill>
                  <a:schemeClr val="tx1">
                    <a:lumMod val="85000"/>
                    <a:lumOff val="15000"/>
                  </a:schemeClr>
                </a:solidFill>
              </a:rPr>
              <a:t>[Visual: Rajah 24 — Contoh Pergola, modul</a:t>
            </a:r>
          </a:p>
          <a:p>
            <a:pPr/>
            <a:r>
              <a:rPr lang="en-MY" sz="1150" dirty="0">
                <a:solidFill>
                  <a:schemeClr val="tx1">
                    <a:lumMod val="85000"/>
                    <a:lumOff val="15000"/>
                  </a:schemeClr>
                </a:solidFill>
              </a:rPr>
              <a:t>ms 240. Aset K5PL06T03-B02-IMG-p240-x23.</a:t>
            </a:r>
          </a:p>
          <a:p>
            <a:pPr/>
            <a:r>
              <a:rPr lang="en-MY" sz="1150" dirty="0">
                <a:solidFill>
                  <a:schemeClr val="tx1">
                    <a:lumMod val="85000"/>
                    <a:lumOff val="15000"/>
                  </a:schemeClr>
                </a:solidFill>
              </a:rPr>
              <a:t>Tidak dibenamkan.]</a:t>
            </a:r>
          </a:p>
        </p:txBody>
      </p:sp>
      <p:sp>
        <p:nvSpPr>
          <p:cNvPr id="233" name="VisualPanelArea"/>
          <p:cNvSpPr txBox="1"/>
          <p:nvPr/>
        </p:nvSpPr>
        <p:spPr>
          <a:xfrm>
            <a:off x="7068312" y="3758184"/>
            <a:ext cx="3456432"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Teduhan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SCR_STRUKTUR_TEDUHAN_EXAMPLES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SCR_STRUKTUR_TEDUHAN_EXAMPLES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K5-PL06-T03-B02-STRUKTUR-TEDUHAN-ROW-03</a:t>
            </a:r>
          </a:p>
          <a:p>
            <a:r>
              <a:rPr lang="en-MY" sz="900" dirty="0">
                <a:solidFill>
                  <a:schemeClr val="tx1">
                    <a:lumMod val="85000"/>
                    <a:lumOff val="15000"/>
                  </a:schemeClr>
                </a:solidFill>
              </a:rPr>
              <a:t>    ms 239 / fizikal 258</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K5PL06T03-B02-IMG-p240-x23</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II_STRUKTUR_TEDUHAN_EX03  &lt;-  K5-PL06-T03-B02-STRUKTUR-TEDUHAN-ROW-03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3/5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Taman Tasik Shah Alam]</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Wakaf</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Wakaf di Taman Desa, KL]</a:t>
            </a:r>
          </a:p>
        </p:txBody>
      </p:sp>
      <p:sp>
        <p:nvSpPr>
          <p:cNvPr id="46" name="ItemCard"/>
          <p:cNvSpPr txBox="1"/>
          <p:nvPr/>
        </p:nvSpPr>
        <p:spPr>
          <a:xfrm>
            <a:off x="8142717"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7"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Rajah 24 — Contoh Pergola, modul ms 240. Aset</a:t>
            </a:r>
          </a:p>
          <a:p>
            <a:pPr/>
            <a:r>
              <a:rPr lang="en-MY" sz="800" dirty="0">
                <a:solidFill>
                  <a:srgbClr val="808080"/>
                </a:solidFill>
              </a:rPr>
              <a:t>K5PL06T03-B02-IMG-p240-x23. Tidak dibenamkan.]</a:t>
            </a:r>
          </a:p>
        </p:txBody>
      </p:sp>
      <p:sp>
        <p:nvSpPr>
          <p:cNvPr id="49" name="ItemCard"/>
          <p:cNvSpPr txBox="1"/>
          <p:nvPr/>
        </p:nvSpPr>
        <p:spPr>
          <a:xfrm>
            <a:off x="2578593" y="3721608"/>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Canopy</a:t>
            </a:r>
          </a:p>
        </p:txBody>
      </p:sp>
      <p:sp>
        <p:nvSpPr>
          <p:cNvPr id="50" name="Tick"/>
          <p:cNvSpPr/>
          <p:nvPr/>
        </p:nvSpPr>
        <p:spPr>
          <a:xfrm>
            <a:off x="5501625"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1" name="VisualDir"/>
          <p:cNvSpPr txBox="1"/>
          <p:nvPr/>
        </p:nvSpPr>
        <p:spPr>
          <a:xfrm>
            <a:off x="2615169" y="4727448"/>
            <a:ext cx="3252216" cy="457200"/>
          </a:xfrm>
          <a:prstGeom prst="rect">
            <a:avLst/>
          </a:prstGeom>
          <a:noFill/>
        </p:spPr>
        <p:txBody>
          <a:bodyPr wrap="square">
            <a:noAutofit/>
          </a:bodyPr>
          <a:lstStyle/>
          <a:p>
            <a:pPr/>
            <a:r>
              <a:rPr lang="en-MY" sz="800" dirty="0">
                <a:solidFill>
                  <a:srgbClr val="808080"/>
                </a:solidFill>
              </a:rPr>
              <a:t>[Visual: Canopy rekreasi di Taman Jaya]</a:t>
            </a:r>
          </a:p>
        </p:txBody>
      </p:sp>
      <p:sp>
        <p:nvSpPr>
          <p:cNvPr id="52" name="ItemCard"/>
          <p:cNvSpPr txBox="1"/>
          <p:nvPr/>
        </p:nvSpPr>
        <p:spPr>
          <a:xfrm>
            <a:off x="6288009" y="3721608"/>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53" name="VisualDir"/>
          <p:cNvSpPr txBox="1"/>
          <p:nvPr/>
        </p:nvSpPr>
        <p:spPr>
          <a:xfrm>
            <a:off x="6324585" y="4727448"/>
            <a:ext cx="3252216" cy="457200"/>
          </a:xfrm>
          <a:prstGeom prst="rect">
            <a:avLst/>
          </a:prstGeom>
          <a:noFill/>
        </p:spPr>
        <p:txBody>
          <a:bodyPr wrap="square">
            <a:noAutofit/>
          </a:bodyPr>
          <a:lstStyle/>
          <a:p>
            <a:pPr/>
            <a:r>
              <a:rPr lang="en-MY" sz="800" dirty="0">
                <a:solidFill>
                  <a:srgbClr val="808080"/>
                </a:solidFill>
              </a:rPr>
              <a:t>[Visual: Banyak kawasan awam di Putrajaya]</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257800" cy="365760"/>
          </a:xfrm>
          <a:prstGeom prst="rect">
            <a:avLst/>
          </a:prstGeom>
          <a:noFill/>
        </p:spPr>
        <p:txBody>
          <a:bodyPr wrap="square">
            <a:noAutofit/>
          </a:bodyPr>
          <a:lstStyle/>
          <a:p>
            <a:pPr/>
            <a:r>
              <a:rPr lang="en-MY" sz="2000" b="1" dirty="0">
                <a:solidFill>
                  <a:schemeClr val="tx1">
                    <a:lumMod val="85000"/>
                    <a:lumOff val="15000"/>
                  </a:schemeClr>
                </a:solidFill>
              </a:rPr>
              <a:t>Canopy</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25780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257800" cy="429768"/>
          </a:xfrm>
          <a:prstGeom prst="rect">
            <a:avLst/>
          </a:prstGeom>
          <a:noFill/>
        </p:spPr>
        <p:txBody>
          <a:bodyPr wrap="square">
            <a:noAutofit/>
          </a:bodyPr>
          <a:lstStyle/>
          <a:p>
            <a:pPr/>
            <a:r>
              <a:rPr lang="en-MY" sz="1250" dirty="0">
                <a:solidFill>
                  <a:schemeClr val="tx1">
                    <a:lumMod val="85000"/>
                    <a:lumOff val="15000"/>
                  </a:schemeClr>
                </a:solidFill>
              </a:rPr>
              <a:t>Struktur kain atau polikarbonat ringan untuk teduhan</a:t>
            </a:r>
          </a:p>
          <a:p>
            <a:pPr/>
            <a:r>
              <a:rPr lang="en-MY" sz="1250" dirty="0">
                <a:solidFill>
                  <a:schemeClr val="tx1">
                    <a:lumMod val="85000"/>
                    <a:lumOff val="15000"/>
                  </a:schemeClr>
                </a:solidFill>
              </a:rPr>
              <a:t>kawasan aktiviti</a:t>
            </a:r>
          </a:p>
        </p:txBody>
      </p:sp>
      <p:sp>
        <p:nvSpPr>
          <p:cNvPr id="212" name="FHead"/>
          <p:cNvSpPr txBox="1"/>
          <p:nvPr/>
        </p:nvSpPr>
        <p:spPr>
          <a:xfrm>
            <a:off x="1490472" y="3044952"/>
            <a:ext cx="525780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257800" cy="219456"/>
          </a:xfrm>
          <a:prstGeom prst="rect">
            <a:avLst/>
          </a:prstGeom>
          <a:noFill/>
        </p:spPr>
        <p:txBody>
          <a:bodyPr wrap="square">
            <a:noAutofit/>
          </a:bodyPr>
          <a:lstStyle/>
          <a:p>
            <a:pPr/>
            <a:r>
              <a:rPr lang="en-MY" sz="1250" dirty="0">
                <a:solidFill>
                  <a:schemeClr val="tx1">
                    <a:lumMod val="85000"/>
                    <a:lumOff val="15000"/>
                  </a:schemeClr>
                </a:solidFill>
              </a:rPr>
              <a:t>Canopy rekreasi di Taman Jaya</a:t>
            </a:r>
          </a:p>
        </p:txBody>
      </p:sp>
      <p:sp>
        <p:nvSpPr>
          <p:cNvPr id="230" name="VisualPanel"/>
          <p:cNvSpPr txBox="1"/>
          <p:nvPr/>
        </p:nvSpPr>
        <p:spPr>
          <a:xfrm>
            <a:off x="6903720" y="2157984"/>
            <a:ext cx="3785616"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068312" y="2286000"/>
            <a:ext cx="3456432"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068312" y="2542032"/>
            <a:ext cx="3456432" cy="256032"/>
          </a:xfrm>
          <a:prstGeom prst="rect">
            <a:avLst/>
          </a:prstGeom>
          <a:noFill/>
        </p:spPr>
        <p:txBody>
          <a:bodyPr wrap="square">
            <a:noAutofit/>
          </a:bodyPr>
          <a:lstStyle/>
          <a:p>
            <a:pPr/>
            <a:r>
              <a:rPr lang="en-MY" sz="1150" dirty="0">
                <a:solidFill>
                  <a:schemeClr val="tx1">
                    <a:lumMod val="85000"/>
                    <a:lumOff val="15000"/>
                  </a:schemeClr>
                </a:solidFill>
              </a:rPr>
              <a:t>[Visual: Canopy rekreasi di Taman Jaya]</a:t>
            </a:r>
          </a:p>
        </p:txBody>
      </p:sp>
      <p:sp>
        <p:nvSpPr>
          <p:cNvPr id="233" name="VisualPanelArea"/>
          <p:cNvSpPr txBox="1"/>
          <p:nvPr/>
        </p:nvSpPr>
        <p:spPr>
          <a:xfrm>
            <a:off x="7068312" y="3758184"/>
            <a:ext cx="3456432"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Teduhan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SCR_STRUKTUR_TEDUHAN_EXAMPLES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SCR_STRUKTUR_TEDUHAN_EXAMPLES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K5-PL06-T03-B02-STRUKTUR-TEDUHAN-ROW-04</a:t>
            </a:r>
          </a:p>
          <a:p>
            <a:r>
              <a:rPr lang="en-MY" sz="900" dirty="0">
                <a:solidFill>
                  <a:schemeClr val="tx1">
                    <a:lumMod val="85000"/>
                    <a:lumOff val="15000"/>
                  </a:schemeClr>
                </a:solidFill>
              </a:rPr>
              <a:t>    ms 239 / fizikal 258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II_STRUKTUR_TEDUHAN_EX04  &lt;-  K5-PL06-T03-B02-STRUKTUR-TEDUHAN-ROW-04</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4/5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Taman Tasik Shah Alam]</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Wakaf</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Wakaf di Taman Desa, KL]</a:t>
            </a:r>
          </a:p>
        </p:txBody>
      </p:sp>
      <p:sp>
        <p:nvSpPr>
          <p:cNvPr id="46" name="ItemCard"/>
          <p:cNvSpPr txBox="1"/>
          <p:nvPr/>
        </p:nvSpPr>
        <p:spPr>
          <a:xfrm>
            <a:off x="8142717"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7"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Rajah 24 — Contoh Pergola, modul ms 240. Aset</a:t>
            </a:r>
          </a:p>
          <a:p>
            <a:pPr/>
            <a:r>
              <a:rPr lang="en-MY" sz="800" dirty="0">
                <a:solidFill>
                  <a:srgbClr val="808080"/>
                </a:solidFill>
              </a:rPr>
              <a:t>K5PL06T03-B02-IMG-p240-x23. Tidak dibenamkan.]</a:t>
            </a:r>
          </a:p>
        </p:txBody>
      </p:sp>
      <p:sp>
        <p:nvSpPr>
          <p:cNvPr id="49" name="ItemCard"/>
          <p:cNvSpPr txBox="1"/>
          <p:nvPr/>
        </p:nvSpPr>
        <p:spPr>
          <a:xfrm>
            <a:off x="2578593" y="3721608"/>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Canopy</a:t>
            </a:r>
          </a:p>
        </p:txBody>
      </p:sp>
      <p:sp>
        <p:nvSpPr>
          <p:cNvPr id="50" name="Tick"/>
          <p:cNvSpPr/>
          <p:nvPr/>
        </p:nvSpPr>
        <p:spPr>
          <a:xfrm>
            <a:off x="5501625"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1" name="VisualDir"/>
          <p:cNvSpPr txBox="1"/>
          <p:nvPr/>
        </p:nvSpPr>
        <p:spPr>
          <a:xfrm>
            <a:off x="2615169" y="4727448"/>
            <a:ext cx="3252216" cy="457200"/>
          </a:xfrm>
          <a:prstGeom prst="rect">
            <a:avLst/>
          </a:prstGeom>
          <a:noFill/>
        </p:spPr>
        <p:txBody>
          <a:bodyPr wrap="square">
            <a:noAutofit/>
          </a:bodyPr>
          <a:lstStyle/>
          <a:p>
            <a:pPr/>
            <a:r>
              <a:rPr lang="en-MY" sz="800" dirty="0">
                <a:solidFill>
                  <a:srgbClr val="808080"/>
                </a:solidFill>
              </a:rPr>
              <a:t>[Visual: Canopy rekreasi di Taman Jaya]</a:t>
            </a:r>
          </a:p>
        </p:txBody>
      </p:sp>
      <p:sp>
        <p:nvSpPr>
          <p:cNvPr id="52" name="ItemCard"/>
          <p:cNvSpPr txBox="1"/>
          <p:nvPr/>
        </p:nvSpPr>
        <p:spPr>
          <a:xfrm>
            <a:off x="6288009" y="3721608"/>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53" name="Tick"/>
          <p:cNvSpPr/>
          <p:nvPr/>
        </p:nvSpPr>
        <p:spPr>
          <a:xfrm>
            <a:off x="9211041"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4" name="VisualDir"/>
          <p:cNvSpPr txBox="1"/>
          <p:nvPr/>
        </p:nvSpPr>
        <p:spPr>
          <a:xfrm>
            <a:off x="6324585" y="4727448"/>
            <a:ext cx="3252216" cy="457200"/>
          </a:xfrm>
          <a:prstGeom prst="rect">
            <a:avLst/>
          </a:prstGeom>
          <a:noFill/>
        </p:spPr>
        <p:txBody>
          <a:bodyPr wrap="square">
            <a:noAutofit/>
          </a:bodyPr>
          <a:lstStyle/>
          <a:p>
            <a:pPr/>
            <a:r>
              <a:rPr lang="en-MY" sz="800" dirty="0">
                <a:solidFill>
                  <a:srgbClr val="808080"/>
                </a:solidFill>
              </a:rPr>
              <a:t>[Visual: Banyak kawasan awam di Putrajaya]</a:t>
            </a:r>
          </a:p>
        </p:txBody>
      </p:sp>
      <p:sp>
        <p:nvSpPr>
          <p:cNvPr id="200" name="PopupPanel"/>
          <p:cNvSpPr txBox="1"/>
          <p:nvPr/>
        </p:nvSpPr>
        <p:spPr>
          <a:xfrm>
            <a:off x="1234440" y="1481328"/>
            <a:ext cx="9723090" cy="2830068"/>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257800" cy="365760"/>
          </a:xfrm>
          <a:prstGeom prst="rect">
            <a:avLst/>
          </a:prstGeom>
          <a:noFill/>
        </p:spPr>
        <p:txBody>
          <a:bodyPr wrap="square">
            <a:noAutofit/>
          </a:bodyPr>
          <a:lstStyle/>
          <a:p>
            <a:pPr/>
            <a:r>
              <a:rPr lang="en-MY" sz="2000" b="1" dirty="0">
                <a:solidFill>
                  <a:schemeClr val="tx1">
                    <a:lumMod val="85000"/>
                    <a:lumOff val="15000"/>
                  </a:schemeClr>
                </a:solidFill>
              </a:rPr>
              <a:t>Struktur Teduhan Moden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25780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257800" cy="859536"/>
          </a:xfrm>
          <a:prstGeom prst="rect">
            <a:avLst/>
          </a:prstGeom>
          <a:noFill/>
        </p:spPr>
        <p:txBody>
          <a:bodyPr wrap="square">
            <a:noAutofit/>
          </a:bodyPr>
          <a:lstStyle/>
          <a:p>
            <a:pPr/>
            <a:r>
              <a:rPr lang="en-MY" sz="1250" dirty="0">
                <a:solidFill>
                  <a:schemeClr val="tx1">
                    <a:lumMod val="85000"/>
                    <a:lumOff val="15000"/>
                  </a:schemeClr>
                </a:solidFill>
              </a:rPr>
              <a:t>Struktur teduhan dengan reka bentuk kontemporari,</a:t>
            </a:r>
          </a:p>
          <a:p>
            <a:pPr/>
            <a:r>
              <a:rPr lang="en-MY" sz="1250" dirty="0">
                <a:solidFill>
                  <a:schemeClr val="tx1">
                    <a:lumMod val="85000"/>
                    <a:lumOff val="15000"/>
                  </a:schemeClr>
                </a:solidFill>
              </a:rPr>
              <a:t>menggunakan bahan seperti keluli dan panel lutsinar</a:t>
            </a:r>
          </a:p>
          <a:p>
            <a:pPr/>
            <a:r>
              <a:rPr lang="en-MY" sz="1250" dirty="0">
                <a:solidFill>
                  <a:schemeClr val="tx1">
                    <a:lumMod val="85000"/>
                    <a:lumOff val="15000"/>
                  </a:schemeClr>
                </a:solidFill>
              </a:rPr>
              <a:t>atau berlubang untuk mencipta corak cahaya dan</a:t>
            </a:r>
          </a:p>
          <a:p>
            <a:pPr/>
            <a:r>
              <a:rPr lang="en-MY" sz="1250" dirty="0">
                <a:solidFill>
                  <a:schemeClr val="tx1">
                    <a:lumMod val="85000"/>
                    <a:lumOff val="15000"/>
                  </a:schemeClr>
                </a:solidFill>
              </a:rPr>
              <a:t>bayangan.</a:t>
            </a:r>
          </a:p>
        </p:txBody>
      </p:sp>
      <p:sp>
        <p:nvSpPr>
          <p:cNvPr id="212" name="FHead"/>
          <p:cNvSpPr txBox="1"/>
          <p:nvPr/>
        </p:nvSpPr>
        <p:spPr>
          <a:xfrm>
            <a:off x="1490472" y="3474720"/>
            <a:ext cx="525780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712464"/>
            <a:ext cx="5257800" cy="219456"/>
          </a:xfrm>
          <a:prstGeom prst="rect">
            <a:avLst/>
          </a:prstGeom>
          <a:noFill/>
        </p:spPr>
        <p:txBody>
          <a:bodyPr wrap="square">
            <a:noAutofit/>
          </a:bodyPr>
          <a:lstStyle/>
          <a:p>
            <a:pPr/>
            <a:r>
              <a:rPr lang="en-MY" sz="1250" dirty="0">
                <a:solidFill>
                  <a:schemeClr val="tx1">
                    <a:lumMod val="85000"/>
                    <a:lumOff val="15000"/>
                  </a:schemeClr>
                </a:solidFill>
              </a:rPr>
              <a:t>Banyak kawasan awam di Putrajaya</a:t>
            </a:r>
          </a:p>
        </p:txBody>
      </p:sp>
      <p:sp>
        <p:nvSpPr>
          <p:cNvPr id="230" name="VisualPanel"/>
          <p:cNvSpPr txBox="1"/>
          <p:nvPr/>
        </p:nvSpPr>
        <p:spPr>
          <a:xfrm>
            <a:off x="6903720" y="2157984"/>
            <a:ext cx="3785616" cy="1915668"/>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068312" y="2286000"/>
            <a:ext cx="3456432"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068312" y="2542032"/>
            <a:ext cx="3456432" cy="256032"/>
          </a:xfrm>
          <a:prstGeom prst="rect">
            <a:avLst/>
          </a:prstGeom>
          <a:noFill/>
        </p:spPr>
        <p:txBody>
          <a:bodyPr wrap="square">
            <a:noAutofit/>
          </a:bodyPr>
          <a:lstStyle/>
          <a:p>
            <a:pPr/>
            <a:r>
              <a:rPr lang="en-MY" sz="1150" dirty="0">
                <a:solidFill>
                  <a:schemeClr val="tx1">
                    <a:lumMod val="85000"/>
                    <a:lumOff val="15000"/>
                  </a:schemeClr>
                </a:solidFill>
              </a:rPr>
              <a:t>[Visual: Banyak kawasan awam di Putrajaya]</a:t>
            </a:r>
          </a:p>
        </p:txBody>
      </p:sp>
      <p:sp>
        <p:nvSpPr>
          <p:cNvPr id="233" name="VisualPanelArea"/>
          <p:cNvSpPr txBox="1"/>
          <p:nvPr/>
        </p:nvSpPr>
        <p:spPr>
          <a:xfrm>
            <a:off x="7068312" y="3799332"/>
            <a:ext cx="3456432"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Teduhan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SCR_STRUKTUR_TEDUHAN_EXAMPLES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SCR_STRUKTUR_TEDUHAN_EXAMPLES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K5-PL06-T03-B02-STRUKTUR-TEDUHAN-ROW-05</a:t>
            </a:r>
          </a:p>
          <a:p>
            <a:r>
              <a:rPr lang="en-MY" sz="900" dirty="0">
                <a:solidFill>
                  <a:schemeClr val="tx1">
                    <a:lumMod val="85000"/>
                    <a:lumOff val="15000"/>
                  </a:schemeClr>
                </a:solidFill>
              </a:rPr>
              <a:t>    ms 239 / fizikal 258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II_STRUKTUR_TEDUHAN_EX05  &lt;-  K5-PL06-T03-B02-STRUKTUR-TEDUHAN-ROW-05</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5/5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Struktur Teduhan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Struktur Teduhan</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Gazebo</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Taman Tasik Shah Alam]</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Wakaf</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Wakaf di Taman Desa, KL]</a:t>
            </a:r>
          </a:p>
        </p:txBody>
      </p:sp>
      <p:sp>
        <p:nvSpPr>
          <p:cNvPr id="46" name="ItemCard"/>
          <p:cNvSpPr txBox="1"/>
          <p:nvPr/>
        </p:nvSpPr>
        <p:spPr>
          <a:xfrm>
            <a:off x="8142717"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Pergola</a:t>
            </a:r>
          </a:p>
        </p:txBody>
      </p:sp>
      <p:sp>
        <p:nvSpPr>
          <p:cNvPr id="47"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Rajah 24 — Contoh Pergola, modul ms 240. Aset</a:t>
            </a:r>
          </a:p>
          <a:p>
            <a:pPr/>
            <a:r>
              <a:rPr lang="en-MY" sz="800" dirty="0">
                <a:solidFill>
                  <a:srgbClr val="808080"/>
                </a:solidFill>
              </a:rPr>
              <a:t>K5PL06T03-B02-IMG-p240-x23. Tidak dibenamkan.]</a:t>
            </a:r>
          </a:p>
        </p:txBody>
      </p:sp>
      <p:sp>
        <p:nvSpPr>
          <p:cNvPr id="49" name="ItemCard"/>
          <p:cNvSpPr txBox="1"/>
          <p:nvPr/>
        </p:nvSpPr>
        <p:spPr>
          <a:xfrm>
            <a:off x="2578593" y="3721608"/>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Canopy</a:t>
            </a:r>
          </a:p>
        </p:txBody>
      </p:sp>
      <p:sp>
        <p:nvSpPr>
          <p:cNvPr id="50" name="Tick"/>
          <p:cNvSpPr/>
          <p:nvPr/>
        </p:nvSpPr>
        <p:spPr>
          <a:xfrm>
            <a:off x="5501625"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1" name="VisualDir"/>
          <p:cNvSpPr txBox="1"/>
          <p:nvPr/>
        </p:nvSpPr>
        <p:spPr>
          <a:xfrm>
            <a:off x="2615169" y="4727448"/>
            <a:ext cx="3252216" cy="457200"/>
          </a:xfrm>
          <a:prstGeom prst="rect">
            <a:avLst/>
          </a:prstGeom>
          <a:noFill/>
        </p:spPr>
        <p:txBody>
          <a:bodyPr wrap="square">
            <a:noAutofit/>
          </a:bodyPr>
          <a:lstStyle/>
          <a:p>
            <a:pPr/>
            <a:r>
              <a:rPr lang="en-MY" sz="800" dirty="0">
                <a:solidFill>
                  <a:srgbClr val="808080"/>
                </a:solidFill>
              </a:rPr>
              <a:t>[Visual: Canopy rekreasi di Taman Jaya]</a:t>
            </a:r>
          </a:p>
        </p:txBody>
      </p:sp>
      <p:sp>
        <p:nvSpPr>
          <p:cNvPr id="52" name="ItemCard"/>
          <p:cNvSpPr txBox="1"/>
          <p:nvPr/>
        </p:nvSpPr>
        <p:spPr>
          <a:xfrm>
            <a:off x="6288009" y="3721608"/>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Struktur Teduhan Moden</a:t>
            </a:r>
          </a:p>
        </p:txBody>
      </p:sp>
      <p:sp>
        <p:nvSpPr>
          <p:cNvPr id="53" name="Tick"/>
          <p:cNvSpPr/>
          <p:nvPr/>
        </p:nvSpPr>
        <p:spPr>
          <a:xfrm>
            <a:off x="9211041" y="3803904"/>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4" name="VisualDir"/>
          <p:cNvSpPr txBox="1"/>
          <p:nvPr/>
        </p:nvSpPr>
        <p:spPr>
          <a:xfrm>
            <a:off x="6324585" y="4727448"/>
            <a:ext cx="3252216" cy="457200"/>
          </a:xfrm>
          <a:prstGeom prst="rect">
            <a:avLst/>
          </a:prstGeom>
          <a:noFill/>
        </p:spPr>
        <p:txBody>
          <a:bodyPr wrap="square">
            <a:noAutofit/>
          </a:bodyPr>
          <a:lstStyle/>
          <a:p>
            <a:pPr/>
            <a:r>
              <a:rPr lang="en-MY" sz="800" dirty="0">
                <a:solidFill>
                  <a:srgbClr val="808080"/>
                </a:solidFill>
              </a:rPr>
              <a:t>[Visual: Banyak kawasan awam di Putrajaya]</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Struktur Teduhan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all examples viewed, Kembali enabled</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examples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SCR_STRUKTUR_TEDUHAN_EXAMPLES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K5-PL06-T03-B02-STRUKTUR-TEDUHAN-ROW-01</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K5-PL06-T03-B02-STRUKTUR-TEDUHAN-ROW-02</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K5-PL06-T03-B02-STRUKTUR-TEDUHAN-ROW-03</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K5-PL06-T03-B02-STRUKTUR-TEDUHAN-ROW-04</a:t>
            </a:r>
          </a:p>
          <a:p>
            <a:r>
              <a:rPr lang="en-MY" sz="900" dirty="0">
                <a:solidFill>
                  <a:schemeClr val="tx1">
                    <a:lumMod val="85000"/>
                    <a:lumOff val="15000"/>
                  </a:schemeClr>
                </a:solidFill>
              </a:rPr>
              <a:t>    ms 239 / fizikal 258</a:t>
            </a:r>
          </a:p>
          <a:p>
            <a:r>
              <a:rPr lang="en-MY" sz="900" dirty="0">
                <a:solidFill>
                  <a:schemeClr val="tx1">
                    <a:lumMod val="85000"/>
                    <a:lumOff val="15000"/>
                  </a:schemeClr>
                </a:solidFill>
              </a:rPr>
              <a:t>  K5-PL06-T03-B02-STRUKTUR-TEDUHAN-ROW-05</a:t>
            </a:r>
          </a:p>
          <a:p>
            <a:r>
              <a:rPr lang="en-MY" sz="900" dirty="0">
                <a:solidFill>
                  <a:schemeClr val="tx1">
                    <a:lumMod val="85000"/>
                    <a:lumOff val="15000"/>
                  </a:schemeClr>
                </a:solidFill>
              </a:rPr>
              <a:t>    ms 239 / fizikal 258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II_STRUKTUR_TEDUHAN_EX01  &lt;-  K5-PL06-T03-B02-STRUKTUR-TEDUHAN-ROW-01</a:t>
            </a:r>
          </a:p>
          <a:p>
            <a:r>
              <a:rPr lang="en-MY" sz="900" dirty="0">
                <a:solidFill>
                  <a:schemeClr val="tx1">
                    <a:lumMod val="85000"/>
                    <a:lumOff val="15000"/>
                  </a:schemeClr>
                </a:solidFill>
              </a:rPr>
              <a:t>  II_STRUKTUR_TEDUHAN_EX02  &lt;-  K5-PL06-T03-B02-STRUKTUR-TEDUHAN-ROW-02</a:t>
            </a:r>
          </a:p>
          <a:p>
            <a:r>
              <a:rPr lang="en-MY" sz="900" dirty="0">
                <a:solidFill>
                  <a:schemeClr val="tx1">
                    <a:lumMod val="85000"/>
                    <a:lumOff val="15000"/>
                  </a:schemeClr>
                </a:solidFill>
              </a:rPr>
              <a:t>  II_STRUKTUR_TEDUHAN_EX03  &lt;-  K5-PL06-T03-B02-STRUKTUR-TEDUHAN-ROW-03</a:t>
            </a:r>
          </a:p>
          <a:p>
            <a:r>
              <a:rPr lang="en-MY" sz="900" dirty="0">
                <a:solidFill>
                  <a:schemeClr val="tx1">
                    <a:lumMod val="85000"/>
                    <a:lumOff val="15000"/>
                  </a:schemeClr>
                </a:solidFill>
              </a:rPr>
              <a:t>  II_STRUKTUR_TEDUHAN_EX04  &lt;-  K5-PL06-T03-B02-STRUKTUR-TEDUHAN-ROW-04</a:t>
            </a:r>
          </a:p>
          <a:p>
            <a:r>
              <a:rPr lang="en-MY" sz="900" dirty="0">
                <a:solidFill>
                  <a:schemeClr val="tx1">
                    <a:lumMod val="85000"/>
                    <a:lumOff val="15000"/>
                  </a:schemeClr>
                </a:solidFill>
              </a:rPr>
              <a:t>  II_STRUKTUR_TEDUHAN_EX05  &lt;-  K5-PL06-T03-B02-STRUKTUR-TEDUHAN-ROW-05</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5/5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B02-D-01, B02-D-07</a:t>
            </a:r>
          </a:p>
          <a:p>
            <a:r>
              <a:rPr lang="en-MY" sz="900" dirty="0">
                <a:solidFill>
                  <a:schemeClr val="tx1">
                    <a:lumMod val="85000"/>
                    <a:lumOff val="15000"/>
                  </a:schemeClr>
                </a:solidFill>
              </a:rPr>
              <a:t>STATUS BELUM SELESAI: NONE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Kemudahan Awam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20" name="Head"/>
          <p:cNvSpPr txBox="1"/>
          <p:nvPr/>
        </p:nvSpPr>
        <p:spPr>
          <a:xfrm>
            <a:off x="723930" y="1188720"/>
            <a:ext cx="10744200" cy="420624"/>
          </a:xfrm>
          <a:prstGeom prst="rect">
            <a:avLst/>
          </a:prstGeom>
          <a:noFill/>
        </p:spPr>
        <p:txBody>
          <a:bodyPr wrap="square">
            <a:noAutofit/>
          </a:bodyPr>
          <a:lstStyle/>
          <a:p>
            <a:pPr/>
            <a:r>
              <a:rPr lang="en-MY" sz="2000" b="1" dirty="0">
                <a:solidFill>
                  <a:schemeClr val="tx1">
                    <a:lumMod val="85000"/>
                    <a:lumOff val="15000"/>
                  </a:schemeClr>
                </a:solidFill>
              </a:rPr>
              <a:t>Kemudahan Awam</a:t>
            </a:r>
          </a:p>
        </p:txBody>
      </p:sp>
      <p:sp>
        <p:nvSpPr>
          <p:cNvPr id="22" name="Body"/>
          <p:cNvSpPr txBox="1"/>
          <p:nvPr/>
        </p:nvSpPr>
        <p:spPr>
          <a:xfrm>
            <a:off x="723930" y="1755648"/>
            <a:ext cx="10744200" cy="3108960"/>
          </a:xfrm>
          <a:prstGeom prst="rect">
            <a:avLst/>
          </a:prstGeom>
          <a:noFill/>
        </p:spPr>
        <p:txBody>
          <a:bodyPr wrap="square">
            <a:noAutofit/>
          </a:bodyPr>
          <a:lstStyle/>
          <a:p>
            <a:pPr marL="285750" indent="-285750">
              <a:spcBef>
                <a:spcPts val="600"/>
              </a:spcBef>
              <a:buFont typeface="Arial" panose="020B0604020202020204" pitchFamily="34" charset="0"/>
              <a:buChar char="•"/>
            </a:pPr>
            <a:r>
              <a:rPr lang="en-MY" sz="1500" dirty="0">
                <a:solidFill>
                  <a:schemeClr val="tx1">
                    <a:lumMod val="85000"/>
                    <a:lumOff val="15000"/>
                  </a:schemeClr>
                </a:solidFill>
              </a:rPr>
              <a:t>Perkhidmatan asas untuk keselesaan dan pendidikan pengguna taman</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Reka bentuk berfungsi, tahan lasak dan mudah diselenggara</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Aksesibiliti OKU satu pertimbangan penting</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Bahan tahan vandalisme dan cuaca</a:t>
            </a:r>
          </a:p>
        </p:txBody>
      </p:sp>
      <p:sp>
        <p:nvSpPr>
          <p:cNvPr id="30" name="VisualDir"/>
          <p:cNvSpPr txBox="1"/>
          <p:nvPr/>
        </p:nvSpPr>
        <p:spPr>
          <a:xfrm>
            <a:off x="723930" y="4663440"/>
            <a:ext cx="10744200" cy="621792"/>
          </a:xfrm>
          <a:prstGeom prst="rect">
            <a:avLst/>
          </a:prstGeom>
          <a:noFill/>
        </p:spPr>
        <p:txBody>
          <a:bodyPr wrap="square">
            <a:noAutofit/>
          </a:bodyPr>
          <a:lstStyle/>
          <a:p>
            <a:pPr/>
            <a:r>
              <a:rPr lang="en-MY" sz="1100" dirty="0">
                <a:solidFill>
                  <a:srgbClr val="808080"/>
                </a:solidFill>
              </a:rPr>
              <a:t>[Visual: TIADA IMEJ SUMBER — NO_DEDICATED_SOURCE_IMAGE. Cadangan rajah native: tiga sel berlabel Tandas Awam</a:t>
            </a:r>
          </a:p>
          <a:p>
            <a:pPr/>
            <a:r>
              <a:rPr lang="en-MY" sz="1100" dirty="0">
                <a:solidFill>
                  <a:srgbClr val="808080"/>
                </a:solidFill>
              </a:rPr>
              <a:t>| Surau | Bangunan Interpretatif. Tidak dilukis, tidak dibenamkan.]</a:t>
            </a:r>
          </a:p>
        </p:txBody>
      </p:sp>
      <p:sp>
        <p:nvSpPr>
          <p:cNvPr id="300" name="OverviewHead"/>
          <p:cNvSpPr txBox="1"/>
          <p:nvPr/>
        </p:nvSpPr>
        <p:spPr>
          <a:xfrm>
            <a:off x="723930" y="5340096"/>
            <a:ext cx="10744200" cy="201168"/>
          </a:xfrm>
          <a:prstGeom prst="rect">
            <a:avLst/>
          </a:prstGeom>
          <a:noFill/>
        </p:spPr>
        <p:txBody>
          <a:bodyPr wrap="square">
            <a:noAutofit/>
          </a:bodyPr>
          <a:lstStyle/>
          <a:p>
            <a:pPr/>
            <a:r>
              <a:rPr lang="en-MY" sz="850" b="1" dirty="0">
                <a:solidFill>
                  <a:srgbClr val="7F6000"/>
                </a:solidFill>
              </a:rPr>
              <a:t>ARAHAN VISUAL — OVERVIEW KOMPONEN (TIDAK DIBENAMKAN)</a:t>
            </a:r>
          </a:p>
        </p:txBody>
      </p:sp>
      <p:sp>
        <p:nvSpPr>
          <p:cNvPr id="301" name="OverviewCard"/>
          <p:cNvSpPr txBox="1"/>
          <p:nvPr/>
        </p:nvSpPr>
        <p:spPr>
          <a:xfrm>
            <a:off x="723930" y="5577840"/>
            <a:ext cx="2377440" cy="527609"/>
          </a:xfrm>
          <a:prstGeom prst="rect">
            <a:avLst/>
          </a:prstGeom>
          <a:solidFill>
            <a:srgbClr val="F7F7F7"/>
          </a:solidFill>
          <a:ln w="12700">
            <a:solidFill>
              <a:srgbClr val="BFBFBF"/>
            </a:solidFill>
          </a:ln>
        </p:spPr>
        <p:txBody>
          <a:bodyPr wrap="square">
            <a:noAutofit/>
          </a:bodyPr>
          <a:lstStyle/>
        </p:txBody>
      </p:sp>
      <p:sp>
        <p:nvSpPr>
          <p:cNvPr id="302" name="OverviewSubject"/>
          <p:cNvSpPr txBox="1"/>
          <p:nvPr/>
        </p:nvSpPr>
        <p:spPr>
          <a:xfrm>
            <a:off x="815370" y="5632704"/>
            <a:ext cx="2194560" cy="193853"/>
          </a:xfrm>
          <a:prstGeom prst="rect">
            <a:avLst/>
          </a:prstGeom>
          <a:noFill/>
        </p:spPr>
        <p:txBody>
          <a:bodyPr wrap="square">
            <a:noAutofit/>
          </a:bodyPr>
          <a:lstStyle/>
          <a:p>
            <a:pPr/>
            <a:r>
              <a:rPr lang="en-MY" sz="900" b="1" dirty="0">
                <a:solidFill>
                  <a:schemeClr val="tx1">
                    <a:lumMod val="85000"/>
                    <a:lumOff val="15000"/>
                  </a:schemeClr>
                </a:solidFill>
              </a:rPr>
              <a:t>Tandas Awam</a:t>
            </a:r>
          </a:p>
        </p:txBody>
      </p:sp>
      <p:sp>
        <p:nvSpPr>
          <p:cNvPr id="303" name="OverviewDir"/>
          <p:cNvSpPr txBox="1"/>
          <p:nvPr/>
        </p:nvSpPr>
        <p:spPr>
          <a:xfrm>
            <a:off x="815370" y="5863133"/>
            <a:ext cx="2194560" cy="169164"/>
          </a:xfrm>
          <a:prstGeom prst="rect">
            <a:avLst/>
          </a:prstGeom>
          <a:noFill/>
        </p:spPr>
        <p:txBody>
          <a:bodyPr wrap="square">
            <a:noAutofit/>
          </a:bodyPr>
          <a:lstStyle/>
          <a:p>
            <a:pPr/>
            <a:r>
              <a:rPr lang="en-MY" sz="750" dirty="0">
                <a:solidFill>
                  <a:srgbClr val="808080"/>
                </a:solidFill>
              </a:rPr>
              <a:t>[Visual: Tandas Awam]</a:t>
            </a:r>
          </a:p>
        </p:txBody>
      </p:sp>
      <p:sp>
        <p:nvSpPr>
          <p:cNvPr id="304" name="OverviewCard"/>
          <p:cNvSpPr txBox="1"/>
          <p:nvPr/>
        </p:nvSpPr>
        <p:spPr>
          <a:xfrm>
            <a:off x="3284250" y="5577840"/>
            <a:ext cx="2377440" cy="527609"/>
          </a:xfrm>
          <a:prstGeom prst="rect">
            <a:avLst/>
          </a:prstGeom>
          <a:solidFill>
            <a:srgbClr val="F7F7F7"/>
          </a:solidFill>
          <a:ln w="12700">
            <a:solidFill>
              <a:srgbClr val="BFBFBF"/>
            </a:solidFill>
          </a:ln>
        </p:spPr>
        <p:txBody>
          <a:bodyPr wrap="square">
            <a:noAutofit/>
          </a:bodyPr>
          <a:lstStyle/>
        </p:txBody>
      </p:sp>
      <p:sp>
        <p:nvSpPr>
          <p:cNvPr id="305" name="OverviewSubject"/>
          <p:cNvSpPr txBox="1"/>
          <p:nvPr/>
        </p:nvSpPr>
        <p:spPr>
          <a:xfrm>
            <a:off x="3375690" y="5632704"/>
            <a:ext cx="2194560" cy="193853"/>
          </a:xfrm>
          <a:prstGeom prst="rect">
            <a:avLst/>
          </a:prstGeom>
          <a:noFill/>
        </p:spPr>
        <p:txBody>
          <a:bodyPr wrap="square">
            <a:noAutofit/>
          </a:bodyPr>
          <a:lstStyle/>
          <a:p>
            <a:pPr/>
            <a:r>
              <a:rPr lang="en-MY" sz="900" b="1" dirty="0">
                <a:solidFill>
                  <a:schemeClr val="tx1">
                    <a:lumMod val="85000"/>
                    <a:lumOff val="15000"/>
                  </a:schemeClr>
                </a:solidFill>
              </a:rPr>
              <a:t>Surau</a:t>
            </a:r>
          </a:p>
        </p:txBody>
      </p:sp>
      <p:sp>
        <p:nvSpPr>
          <p:cNvPr id="306" name="OverviewDir"/>
          <p:cNvSpPr txBox="1"/>
          <p:nvPr/>
        </p:nvSpPr>
        <p:spPr>
          <a:xfrm>
            <a:off x="3375690" y="5863133"/>
            <a:ext cx="2194560" cy="169164"/>
          </a:xfrm>
          <a:prstGeom prst="rect">
            <a:avLst/>
          </a:prstGeom>
          <a:noFill/>
        </p:spPr>
        <p:txBody>
          <a:bodyPr wrap="square">
            <a:noAutofit/>
          </a:bodyPr>
          <a:lstStyle/>
          <a:p>
            <a:pPr/>
            <a:r>
              <a:rPr lang="en-MY" sz="750" dirty="0">
                <a:solidFill>
                  <a:srgbClr val="808080"/>
                </a:solidFill>
              </a:rPr>
              <a:t>[Visual: Surau]</a:t>
            </a:r>
          </a:p>
        </p:txBody>
      </p:sp>
      <p:sp>
        <p:nvSpPr>
          <p:cNvPr id="307" name="OverviewCard"/>
          <p:cNvSpPr txBox="1"/>
          <p:nvPr/>
        </p:nvSpPr>
        <p:spPr>
          <a:xfrm>
            <a:off x="5844570" y="5577840"/>
            <a:ext cx="2377440" cy="527609"/>
          </a:xfrm>
          <a:prstGeom prst="rect">
            <a:avLst/>
          </a:prstGeom>
          <a:solidFill>
            <a:srgbClr val="F7F7F7"/>
          </a:solidFill>
          <a:ln w="12700">
            <a:solidFill>
              <a:srgbClr val="BFBFBF"/>
            </a:solidFill>
          </a:ln>
        </p:spPr>
        <p:txBody>
          <a:bodyPr wrap="square">
            <a:noAutofit/>
          </a:bodyPr>
          <a:lstStyle/>
        </p:txBody>
      </p:sp>
      <p:sp>
        <p:nvSpPr>
          <p:cNvPr id="308" name="OverviewSubject"/>
          <p:cNvSpPr txBox="1"/>
          <p:nvPr/>
        </p:nvSpPr>
        <p:spPr>
          <a:xfrm>
            <a:off x="5936010" y="5632704"/>
            <a:ext cx="2194560" cy="193853"/>
          </a:xfrm>
          <a:prstGeom prst="rect">
            <a:avLst/>
          </a:prstGeom>
          <a:noFill/>
        </p:spPr>
        <p:txBody>
          <a:bodyPr wrap="square">
            <a:noAutofit/>
          </a:bodyPr>
          <a:lstStyle/>
          <a:p>
            <a:pPr/>
            <a:r>
              <a:rPr lang="en-MY" sz="900" b="1" dirty="0">
                <a:solidFill>
                  <a:schemeClr val="tx1">
                    <a:lumMod val="85000"/>
                    <a:lumOff val="15000"/>
                  </a:schemeClr>
                </a:solidFill>
              </a:rPr>
              <a:t>Bangunan Interpretatif</a:t>
            </a:r>
          </a:p>
        </p:txBody>
      </p:sp>
      <p:sp>
        <p:nvSpPr>
          <p:cNvPr id="309" name="OverviewDir"/>
          <p:cNvSpPr txBox="1"/>
          <p:nvPr/>
        </p:nvSpPr>
        <p:spPr>
          <a:xfrm>
            <a:off x="5936010" y="5863133"/>
            <a:ext cx="2194560" cy="169164"/>
          </a:xfrm>
          <a:prstGeom prst="rect">
            <a:avLst/>
          </a:prstGeom>
          <a:noFill/>
        </p:spPr>
        <p:txBody>
          <a:bodyPr wrap="square">
            <a:noAutofit/>
          </a:bodyPr>
          <a:lstStyle/>
          <a:p>
            <a:pPr/>
            <a:r>
              <a:rPr lang="en-MY" sz="750" dirty="0">
                <a:solidFill>
                  <a:srgbClr val="808080"/>
                </a:solidFill>
              </a:rPr>
              <a:t>[Visual: Bangunan Interpretatif]</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Kemudahan Awam — penerangan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COMPONENT_MAIN_BASE</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main explanation</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[vo_complete]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SCR_KEMUDAHAN_AWAM_MAIN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kandungan. Kemajuan melalui shell LMS.</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COMPONENT_MAIN_SCREEN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SOURCE_ATTESTED_COMPONENT_VISUAL</a:t>
            </a:r>
          </a:p>
          <a:p>
            <a:r>
              <a:rPr lang="en-MY" sz="900" dirty="0">
                <a:solidFill>
                  <a:schemeClr val="tx1">
                    <a:lumMod val="85000"/>
                    <a:lumOff val="15000"/>
                  </a:schemeClr>
                </a:solidFill>
              </a:rPr>
              <a:t>  kuasa keperluan: BARIAH_DIRECT_SCREENSHOT</a:t>
            </a:r>
          </a:p>
          <a:p>
            <a:r>
              <a:rPr lang="en-MY" sz="900" dirty="0">
                <a:solidFill>
                  <a:schemeClr val="tx1">
                    <a:lumMod val="85000"/>
                    <a:lumOff val="15000"/>
                  </a:schemeClr>
                </a:solidFill>
              </a:rPr>
              <a:t>  rawatan: SOURCE_BOUND_OVERVIEW</a:t>
            </a:r>
          </a:p>
          <a:p>
            <a:r>
              <a:rPr lang="en-MY" sz="900" dirty="0">
                <a:solidFill>
                  <a:schemeClr val="tx1">
                    <a:lumMod val="85000"/>
                    <a:lumOff val="15000"/>
                  </a:schemeClr>
                </a:solidFill>
              </a:rPr>
              <a:t>  kuasa rawatan: BARIAH_DIRECT_SCREENSHOT</a:t>
            </a:r>
          </a:p>
          <a:p>
            <a:r>
              <a:rPr lang="en-MY" sz="900" dirty="0">
                <a:solidFill>
                  <a:schemeClr val="tx1">
                    <a:lumMod val="85000"/>
                    <a:lumOff val="15000"/>
                  </a:schemeClr>
                </a:solidFill>
              </a:rPr>
              <a:t>  sumber subjek: MODULE_SOURCE_ATTESTED 3</a:t>
            </a:r>
          </a:p>
          <a:p>
            <a:r>
              <a:rPr lang="en-MY" sz="900" dirty="0">
                <a:solidFill>
                  <a:schemeClr val="tx1">
                    <a:lumMod val="85000"/>
                    <a:lumOff val="15000"/>
                  </a:schemeClr>
                </a:solidFill>
              </a:rPr>
              <a:t>  bilangan subjek overview: 3</a:t>
            </a:r>
          </a:p>
          <a:p>
            <a:r>
              <a:rPr lang="en-MY" sz="900" dirty="0">
                <a:solidFill>
                  <a:schemeClr val="tx1">
                    <a:lumMod val="85000"/>
                    <a:lumOff val="15000"/>
                  </a:schemeClr>
                </a:solidFill>
              </a:rPr>
              <a:t>  status pemetaan: RESOLVED</a:t>
            </a:r>
          </a:p>
          <a:p>
            <a:r>
              <a:rPr lang="en-MY" sz="900" dirty="0">
                <a:solidFill>
                  <a:schemeClr val="tx1">
                    <a:lumMod val="85000"/>
                    <a:lumOff val="15000"/>
                  </a:schemeClr>
                </a:solidFill>
              </a:rPr>
              <a:t>  pemetaan instans: COMPLETE</a:t>
            </a:r>
          </a:p>
          <a:p>
            <a:r>
              <a:rPr lang="en-MY" sz="900" dirty="0">
                <a:solidFill>
                  <a:schemeClr val="tx1">
                    <a:lumMod val="85000"/>
                    <a:lumOff val="15000"/>
                  </a:schemeClr>
                </a:solidFill>
              </a:rPr>
              <a:t>  menunggu keputusan manusia: TIDAK</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Kemudahan Awam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Kemudahan Awam</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Tandas Awam</a:t>
            </a:r>
          </a:p>
        </p:txBody>
      </p:sp>
      <p:sp>
        <p:nvSpPr>
          <p:cNvPr id="41"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Tandas Awam]</a:t>
            </a:r>
          </a:p>
        </p:txBody>
      </p:sp>
      <p:sp>
        <p:nvSpPr>
          <p:cNvPr id="42" name="ItemCard"/>
          <p:cNvSpPr txBox="1"/>
          <p:nvPr/>
        </p:nvSpPr>
        <p:spPr>
          <a:xfrm>
            <a:off x="4433301"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Surau</a:t>
            </a:r>
          </a:p>
        </p:txBody>
      </p:sp>
      <p:sp>
        <p:nvSpPr>
          <p:cNvPr id="43"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Surau]</a:t>
            </a:r>
          </a:p>
        </p:txBody>
      </p:sp>
      <p:sp>
        <p:nvSpPr>
          <p:cNvPr id="44" name="ItemCard"/>
          <p:cNvSpPr txBox="1"/>
          <p:nvPr/>
        </p:nvSpPr>
        <p:spPr>
          <a:xfrm>
            <a:off x="8142717"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Bangunan Interpretatif</a:t>
            </a:r>
          </a:p>
        </p:txBody>
      </p:sp>
      <p:sp>
        <p:nvSpPr>
          <p:cNvPr id="45"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Bangunan Interpretatif]</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Kemudahan Awam</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selection, none viewed</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[component_complete[KEMUDAHAN_AWAM]]</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SCR_KEMUDAHAN_AWAM_EXAMPLES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K5-PL06-T03-B02-KEMUDAHAN-AWAM-ROW-01</a:t>
            </a:r>
          </a:p>
          <a:p>
            <a:r>
              <a:rPr lang="en-MY" sz="900" dirty="0">
                <a:solidFill>
                  <a:schemeClr val="tx1">
                    <a:lumMod val="85000"/>
                    <a:lumOff val="15000"/>
                  </a:schemeClr>
                </a:solidFill>
              </a:rPr>
              <a:t>    ms 240 / fizikal 259</a:t>
            </a:r>
          </a:p>
          <a:p>
            <a:r>
              <a:rPr lang="en-MY" sz="900" dirty="0">
                <a:solidFill>
                  <a:schemeClr val="tx1">
                    <a:lumMod val="85000"/>
                    <a:lumOff val="15000"/>
                  </a:schemeClr>
                </a:solidFill>
              </a:rPr>
              <a:t>  K5-PL06-T03-B02-KEMUDAHAN-AWAM-ROW-02</a:t>
            </a:r>
          </a:p>
          <a:p>
            <a:r>
              <a:rPr lang="en-MY" sz="900" dirty="0">
                <a:solidFill>
                  <a:schemeClr val="tx1">
                    <a:lumMod val="85000"/>
                    <a:lumOff val="15000"/>
                  </a:schemeClr>
                </a:solidFill>
              </a:rPr>
              <a:t>    ms 240 / fizikal 259</a:t>
            </a:r>
          </a:p>
          <a:p>
            <a:r>
              <a:rPr lang="en-MY" sz="900" dirty="0">
                <a:solidFill>
                  <a:schemeClr val="tx1">
                    <a:lumMod val="85000"/>
                    <a:lumOff val="15000"/>
                  </a:schemeClr>
                </a:solidFill>
              </a:rPr>
              <a:t>  K5-PL06-T03-B02-KEMUDAHAN-AWAM-ROW-03</a:t>
            </a:r>
          </a:p>
          <a:p>
            <a:r>
              <a:rPr lang="en-MY" sz="900" dirty="0">
                <a:solidFill>
                  <a:schemeClr val="tx1">
                    <a:lumMod val="85000"/>
                    <a:lumOff val="15000"/>
                  </a:schemeClr>
                </a:solidFill>
              </a:rPr>
              <a:t>    ms 240 / fizikal 259</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II_KEMUDAHAN_AWAM_EX01  &lt;-  K5-PL06-T03-B02-KEMUDAHAN-AWAM-ROW-01</a:t>
            </a:r>
          </a:p>
          <a:p>
            <a:r>
              <a:rPr lang="en-MY" sz="900" dirty="0">
                <a:solidFill>
                  <a:schemeClr val="tx1">
                    <a:lumMod val="85000"/>
                    <a:lumOff val="15000"/>
                  </a:schemeClr>
                </a:solidFill>
              </a:rPr>
              <a:t>  II_KEMUDAHAN_AWAM_EX02  &lt;-  K5-PL06-T03-B02-KEMUDAHAN-AWAM-ROW-02</a:t>
            </a:r>
          </a:p>
          <a:p>
            <a:r>
              <a:rPr lang="en-MY" sz="900" dirty="0">
                <a:solidFill>
                  <a:schemeClr val="tx1">
                    <a:lumMod val="85000"/>
                    <a:lumOff val="15000"/>
                  </a:schemeClr>
                </a:solidFill>
              </a:rPr>
              <a:t>  II_KEMUDAHAN_AWAM_EX03  &lt;-  K5-PL06-T03-B02-KEMUDAHAN-AWAM-ROW-03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0/3 contoh dilihat.</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contoh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EXAMPLE_SELECTION_SCREEN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RESOLVED_PER_EXAMPLE_CARD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  visual setiap contoh (satu per kad):</a:t>
            </a:r>
          </a:p>
          <a:p>
            <a:r>
              <a:rPr lang="en-MY" sz="900" dirty="0">
                <a:solidFill>
                  <a:schemeClr val="tx1">
                    <a:lumMod val="85000"/>
                    <a:lumOff val="15000"/>
                  </a:schemeClr>
                </a:solidFill>
              </a:rPr>
              <a:t>    Tandas Awam — [Visual: Tandas Awam]</a:t>
            </a:r>
          </a:p>
          <a:p>
            <a:r>
              <a:rPr lang="en-MY" sz="900" dirty="0">
                <a:solidFill>
                  <a:schemeClr val="tx1">
                    <a:lumMod val="85000"/>
                    <a:lumOff val="15000"/>
                  </a:schemeClr>
                </a:solidFill>
              </a:rPr>
              <a:t>    Surau — [Visual: Surau]</a:t>
            </a:r>
          </a:p>
          <a:p>
            <a:r>
              <a:rPr lang="en-MY" sz="900" dirty="0">
                <a:solidFill>
                  <a:schemeClr val="tx1">
                    <a:lumMod val="85000"/>
                    <a:lumOff val="15000"/>
                  </a:schemeClr>
                </a:solidFill>
              </a:rPr>
              <a:t>    Bangunan Interpretatif — [Visual: Bangunan Interpretatif]</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Kemudahan Awam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Kemudahan Awam</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Tandas Awam</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Tandas Awam]</a:t>
            </a:r>
          </a:p>
        </p:txBody>
      </p:sp>
      <p:sp>
        <p:nvSpPr>
          <p:cNvPr id="43" name="ItemCard"/>
          <p:cNvSpPr txBox="1"/>
          <p:nvPr/>
        </p:nvSpPr>
        <p:spPr>
          <a:xfrm>
            <a:off x="4433301"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Surau</a:t>
            </a:r>
          </a:p>
        </p:txBody>
      </p:sp>
      <p:sp>
        <p:nvSpPr>
          <p:cNvPr id="44"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Surau]</a:t>
            </a:r>
          </a:p>
        </p:txBody>
      </p:sp>
      <p:sp>
        <p:nvSpPr>
          <p:cNvPr id="45" name="ItemCard"/>
          <p:cNvSpPr txBox="1"/>
          <p:nvPr/>
        </p:nvSpPr>
        <p:spPr>
          <a:xfrm>
            <a:off x="8142717"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Bangunan Interpretatif</a:t>
            </a:r>
          </a:p>
        </p:txBody>
      </p:sp>
      <p:sp>
        <p:nvSpPr>
          <p:cNvPr id="46"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Bangunan Interpretatif]</a:t>
            </a:r>
          </a:p>
        </p:txBody>
      </p:sp>
      <p:sp>
        <p:nvSpPr>
          <p:cNvPr id="200" name="PopupPanel"/>
          <p:cNvSpPr txBox="1"/>
          <p:nvPr/>
        </p:nvSpPr>
        <p:spPr>
          <a:xfrm>
            <a:off x="1234440" y="1481328"/>
            <a:ext cx="9723090" cy="2830068"/>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257800" cy="365760"/>
          </a:xfrm>
          <a:prstGeom prst="rect">
            <a:avLst/>
          </a:prstGeom>
          <a:noFill/>
        </p:spPr>
        <p:txBody>
          <a:bodyPr wrap="square">
            <a:noAutofit/>
          </a:bodyPr>
          <a:lstStyle/>
          <a:p>
            <a:pPr/>
            <a:r>
              <a:rPr lang="en-MY" sz="2000" b="1" dirty="0">
                <a:solidFill>
                  <a:schemeClr val="tx1">
                    <a:lumMod val="85000"/>
                    <a:lumOff val="15000"/>
                  </a:schemeClr>
                </a:solidFill>
              </a:rPr>
              <a:t>Tandas Awam</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25780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257800" cy="859536"/>
          </a:xfrm>
          <a:prstGeom prst="rect">
            <a:avLst/>
          </a:prstGeom>
          <a:noFill/>
        </p:spPr>
        <p:txBody>
          <a:bodyPr wrap="square">
            <a:noAutofit/>
          </a:bodyPr>
          <a:lstStyle/>
          <a:p>
            <a:pPr/>
            <a:r>
              <a:rPr lang="en-MY" sz="1250" dirty="0">
                <a:solidFill>
                  <a:schemeClr val="tx1">
                    <a:lumMod val="85000"/>
                    <a:lumOff val="15000"/>
                  </a:schemeClr>
                </a:solidFill>
              </a:rPr>
              <a:t>Kemudahan sanitasi yang bersih dan boleh diakses.</a:t>
            </a:r>
          </a:p>
          <a:p>
            <a:pPr/>
            <a:r>
              <a:rPr lang="en-MY" sz="1250" dirty="0">
                <a:solidFill>
                  <a:schemeClr val="tx1">
                    <a:lumMod val="85000"/>
                    <a:lumOff val="15000"/>
                  </a:schemeClr>
                </a:solidFill>
              </a:rPr>
              <a:t>Pembinaannya perlu mematuhi piawaian kebersihan dan</a:t>
            </a:r>
          </a:p>
          <a:p>
            <a:pPr/>
            <a:r>
              <a:rPr lang="en-MY" sz="1250" dirty="0">
                <a:solidFill>
                  <a:schemeClr val="tx1">
                    <a:lumMod val="85000"/>
                    <a:lumOff val="15000"/>
                  </a:schemeClr>
                </a:solidFill>
              </a:rPr>
              <a:t>mempunyai sistem bekalan air serta saliran yang</a:t>
            </a:r>
          </a:p>
          <a:p>
            <a:pPr/>
            <a:r>
              <a:rPr lang="en-MY" sz="1250" dirty="0">
                <a:solidFill>
                  <a:schemeClr val="tx1">
                    <a:lumMod val="85000"/>
                    <a:lumOff val="15000"/>
                  </a:schemeClr>
                </a:solidFill>
              </a:rPr>
              <a:t>cekap.</a:t>
            </a:r>
          </a:p>
        </p:txBody>
      </p:sp>
      <p:sp>
        <p:nvSpPr>
          <p:cNvPr id="212" name="FHead"/>
          <p:cNvSpPr txBox="1"/>
          <p:nvPr/>
        </p:nvSpPr>
        <p:spPr>
          <a:xfrm>
            <a:off x="1490472" y="3474720"/>
            <a:ext cx="525780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712464"/>
            <a:ext cx="5257800" cy="219456"/>
          </a:xfrm>
          <a:prstGeom prst="rect">
            <a:avLst/>
          </a:prstGeom>
          <a:noFill/>
        </p:spPr>
        <p:txBody>
          <a:bodyPr wrap="square">
            <a:noAutofit/>
          </a:bodyPr>
          <a:lstStyle/>
          <a:p>
            <a:pPr/>
            <a:r>
              <a:rPr lang="en-MY" sz="1250" dirty="0">
                <a:solidFill>
                  <a:schemeClr val="tx1">
                    <a:lumMod val="85000"/>
                    <a:lumOff val="15000"/>
                  </a:schemeClr>
                </a:solidFill>
              </a:rPr>
              <a:t>Tandas Awam</a:t>
            </a:r>
          </a:p>
        </p:txBody>
      </p:sp>
      <p:sp>
        <p:nvSpPr>
          <p:cNvPr id="230" name="VisualPanel"/>
          <p:cNvSpPr txBox="1"/>
          <p:nvPr/>
        </p:nvSpPr>
        <p:spPr>
          <a:xfrm>
            <a:off x="6903720" y="2157984"/>
            <a:ext cx="3785616" cy="1915668"/>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068312" y="2286000"/>
            <a:ext cx="3456432"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068312" y="2542032"/>
            <a:ext cx="3456432" cy="256032"/>
          </a:xfrm>
          <a:prstGeom prst="rect">
            <a:avLst/>
          </a:prstGeom>
          <a:noFill/>
        </p:spPr>
        <p:txBody>
          <a:bodyPr wrap="square">
            <a:noAutofit/>
          </a:bodyPr>
          <a:lstStyle/>
          <a:p>
            <a:pPr/>
            <a:r>
              <a:rPr lang="en-MY" sz="1150" dirty="0">
                <a:solidFill>
                  <a:schemeClr val="tx1">
                    <a:lumMod val="85000"/>
                    <a:lumOff val="15000"/>
                  </a:schemeClr>
                </a:solidFill>
              </a:rPr>
              <a:t>[Visual: Tandas Awam]</a:t>
            </a:r>
          </a:p>
        </p:txBody>
      </p:sp>
      <p:sp>
        <p:nvSpPr>
          <p:cNvPr id="233" name="VisualPanelArea"/>
          <p:cNvSpPr txBox="1"/>
          <p:nvPr/>
        </p:nvSpPr>
        <p:spPr>
          <a:xfrm>
            <a:off x="7068312" y="3799332"/>
            <a:ext cx="3456432"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Kemudahan Awam</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SCR_KEMUDAHAN_AWAM_EXAMPLES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SCR_KEMUDAHAN_AWAM_EXAMPLES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K5-PL06-T03-B02-KEMUDAHAN-AWAM-ROW-01</a:t>
            </a:r>
          </a:p>
          <a:p>
            <a:r>
              <a:rPr lang="en-MY" sz="900" dirty="0">
                <a:solidFill>
                  <a:schemeClr val="tx1">
                    <a:lumMod val="85000"/>
                    <a:lumOff val="15000"/>
                  </a:schemeClr>
                </a:solidFill>
              </a:rPr>
              <a:t>    ms 240 / fizikal 259</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II_KEMUDAHAN_AWAM_EX01  &lt;-  K5-PL06-T03-B02-KEMUDAHAN-AWAM-ROW-01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1/3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Kemudahan Awam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Kemudahan Awam</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Tandas Awam</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Tandas Awam]</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Surau</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Surau]</a:t>
            </a:r>
          </a:p>
        </p:txBody>
      </p:sp>
      <p:sp>
        <p:nvSpPr>
          <p:cNvPr id="46" name="ItemCard"/>
          <p:cNvSpPr txBox="1"/>
          <p:nvPr/>
        </p:nvSpPr>
        <p:spPr>
          <a:xfrm>
            <a:off x="8142717"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Bangunan Interpretatif</a:t>
            </a:r>
          </a:p>
        </p:txBody>
      </p:sp>
      <p:sp>
        <p:nvSpPr>
          <p:cNvPr id="47"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Bangunan Interpretatif]</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257800" cy="365760"/>
          </a:xfrm>
          <a:prstGeom prst="rect">
            <a:avLst/>
          </a:prstGeom>
          <a:noFill/>
        </p:spPr>
        <p:txBody>
          <a:bodyPr wrap="square">
            <a:noAutofit/>
          </a:bodyPr>
          <a:lstStyle/>
          <a:p>
            <a:pPr/>
            <a:r>
              <a:rPr lang="en-MY" sz="2000" b="1" dirty="0">
                <a:solidFill>
                  <a:schemeClr val="tx1">
                    <a:lumMod val="85000"/>
                    <a:lumOff val="15000"/>
                  </a:schemeClr>
                </a:solidFill>
              </a:rPr>
              <a:t>Surau</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25780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257800" cy="644652"/>
          </a:xfrm>
          <a:prstGeom prst="rect">
            <a:avLst/>
          </a:prstGeom>
          <a:noFill/>
        </p:spPr>
        <p:txBody>
          <a:bodyPr wrap="square">
            <a:noAutofit/>
          </a:bodyPr>
          <a:lstStyle/>
          <a:p>
            <a:pPr/>
            <a:r>
              <a:rPr lang="en-MY" sz="1250" dirty="0">
                <a:solidFill>
                  <a:schemeClr val="tx1">
                    <a:lumMod val="85000"/>
                    <a:lumOff val="15000"/>
                  </a:schemeClr>
                </a:solidFill>
              </a:rPr>
              <a:t>Ruang ibadah yang disediakan untuk umat Islam</a:t>
            </a:r>
          </a:p>
          <a:p>
            <a:pPr/>
            <a:r>
              <a:rPr lang="en-MY" sz="1250" dirty="0">
                <a:solidFill>
                  <a:schemeClr val="tx1">
                    <a:lumMod val="85000"/>
                    <a:lumOff val="15000"/>
                  </a:schemeClr>
                </a:solidFill>
              </a:rPr>
              <a:t>menunaikan solat. Reka bentuk biasanya ringkas</a:t>
            </a:r>
          </a:p>
          <a:p>
            <a:pPr/>
            <a:r>
              <a:rPr lang="en-MY" sz="1250" dirty="0">
                <a:solidFill>
                  <a:schemeClr val="tx1">
                    <a:lumMod val="85000"/>
                    <a:lumOff val="15000"/>
                  </a:schemeClr>
                </a:solidFill>
              </a:rPr>
              <a:t>tetapi memenuhi keperluan keagamaan.</a:t>
            </a:r>
          </a:p>
        </p:txBody>
      </p:sp>
      <p:sp>
        <p:nvSpPr>
          <p:cNvPr id="212" name="FHead"/>
          <p:cNvSpPr txBox="1"/>
          <p:nvPr/>
        </p:nvSpPr>
        <p:spPr>
          <a:xfrm>
            <a:off x="1490472" y="3259836"/>
            <a:ext cx="525780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497580"/>
            <a:ext cx="5257800" cy="219456"/>
          </a:xfrm>
          <a:prstGeom prst="rect">
            <a:avLst/>
          </a:prstGeom>
          <a:noFill/>
        </p:spPr>
        <p:txBody>
          <a:bodyPr wrap="square">
            <a:noAutofit/>
          </a:bodyPr>
          <a:lstStyle/>
          <a:p>
            <a:pPr/>
            <a:r>
              <a:rPr lang="en-MY" sz="1250" dirty="0">
                <a:solidFill>
                  <a:schemeClr val="tx1">
                    <a:lumMod val="85000"/>
                    <a:lumOff val="15000"/>
                  </a:schemeClr>
                </a:solidFill>
              </a:rPr>
              <a:t>Surau</a:t>
            </a:r>
          </a:p>
        </p:txBody>
      </p:sp>
      <p:sp>
        <p:nvSpPr>
          <p:cNvPr id="230" name="VisualPanel"/>
          <p:cNvSpPr txBox="1"/>
          <p:nvPr/>
        </p:nvSpPr>
        <p:spPr>
          <a:xfrm>
            <a:off x="6903720" y="2157984"/>
            <a:ext cx="3785616"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068312" y="2286000"/>
            <a:ext cx="3456432"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068312" y="2542032"/>
            <a:ext cx="3456432" cy="256032"/>
          </a:xfrm>
          <a:prstGeom prst="rect">
            <a:avLst/>
          </a:prstGeom>
          <a:noFill/>
        </p:spPr>
        <p:txBody>
          <a:bodyPr wrap="square">
            <a:noAutofit/>
          </a:bodyPr>
          <a:lstStyle/>
          <a:p>
            <a:pPr/>
            <a:r>
              <a:rPr lang="en-MY" sz="1150" dirty="0">
                <a:solidFill>
                  <a:schemeClr val="tx1">
                    <a:lumMod val="85000"/>
                    <a:lumOff val="15000"/>
                  </a:schemeClr>
                </a:solidFill>
              </a:rPr>
              <a:t>[Visual: Surau]</a:t>
            </a:r>
          </a:p>
        </p:txBody>
      </p:sp>
      <p:sp>
        <p:nvSpPr>
          <p:cNvPr id="233" name="VisualPanelArea"/>
          <p:cNvSpPr txBox="1"/>
          <p:nvPr/>
        </p:nvSpPr>
        <p:spPr>
          <a:xfrm>
            <a:off x="7068312" y="3758184"/>
            <a:ext cx="3456432"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Kemudahan Awam</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SCR_KEMUDAHAN_AWAM_EXAMPLES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SCR_KEMUDAHAN_AWAM_EXAMPLES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K5-PL06-T03-B02-KEMUDAHAN-AWAM-ROW-02</a:t>
            </a:r>
          </a:p>
          <a:p>
            <a:r>
              <a:rPr lang="en-MY" sz="900" dirty="0">
                <a:solidFill>
                  <a:schemeClr val="tx1">
                    <a:lumMod val="85000"/>
                    <a:lumOff val="15000"/>
                  </a:schemeClr>
                </a:solidFill>
              </a:rPr>
              <a:t>    ms 240 / fizikal 259</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II_KEMUDAHAN_AWAM_EX02  &lt;-  K5-PL06-T03-B02-KEMUDAHAN-AWAM-ROW-02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2/3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Kemudahan Awam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Kemudahan Awam</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Tandas Awam</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Tandas Awam]</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Surau</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Surau]</a:t>
            </a:r>
          </a:p>
        </p:txBody>
      </p:sp>
      <p:sp>
        <p:nvSpPr>
          <p:cNvPr id="46" name="ItemCard"/>
          <p:cNvSpPr txBox="1"/>
          <p:nvPr/>
        </p:nvSpPr>
        <p:spPr>
          <a:xfrm>
            <a:off x="8142717"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Bangunan Interpretatif</a:t>
            </a:r>
          </a:p>
        </p:txBody>
      </p:sp>
      <p:sp>
        <p:nvSpPr>
          <p:cNvPr id="47"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Bangunan Interpretatif]</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257800" cy="365760"/>
          </a:xfrm>
          <a:prstGeom prst="rect">
            <a:avLst/>
          </a:prstGeom>
          <a:noFill/>
        </p:spPr>
        <p:txBody>
          <a:bodyPr wrap="square">
            <a:noAutofit/>
          </a:bodyPr>
          <a:lstStyle/>
          <a:p>
            <a:pPr/>
            <a:r>
              <a:rPr lang="en-MY" sz="2000" b="1" dirty="0">
                <a:solidFill>
                  <a:schemeClr val="tx1">
                    <a:lumMod val="85000"/>
                    <a:lumOff val="15000"/>
                  </a:schemeClr>
                </a:solidFill>
              </a:rPr>
              <a:t>Bangunan Interpretatif</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25780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257800" cy="644652"/>
          </a:xfrm>
          <a:prstGeom prst="rect">
            <a:avLst/>
          </a:prstGeom>
          <a:noFill/>
        </p:spPr>
        <p:txBody>
          <a:bodyPr wrap="square">
            <a:noAutofit/>
          </a:bodyPr>
          <a:lstStyle/>
          <a:p>
            <a:pPr/>
            <a:r>
              <a:rPr lang="en-MY" sz="1250" dirty="0">
                <a:solidFill>
                  <a:schemeClr val="tx1">
                    <a:lumMod val="85000"/>
                    <a:lumOff val="15000"/>
                  </a:schemeClr>
                </a:solidFill>
              </a:rPr>
              <a:t>Struktur yang menyediakan maklumat pendidikan</a:t>
            </a:r>
          </a:p>
          <a:p>
            <a:pPr/>
            <a:r>
              <a:rPr lang="en-MY" sz="1250" dirty="0">
                <a:solidFill>
                  <a:schemeClr val="tx1">
                    <a:lumMod val="85000"/>
                    <a:lumOff val="15000"/>
                  </a:schemeClr>
                </a:solidFill>
              </a:rPr>
              <a:t>tentang persekitaran (flora, fauna, sejarah,</a:t>
            </a:r>
          </a:p>
          <a:p>
            <a:pPr/>
            <a:r>
              <a:rPr lang="en-MY" sz="1250" dirty="0">
                <a:solidFill>
                  <a:schemeClr val="tx1">
                    <a:lumMod val="85000"/>
                    <a:lumOff val="15000"/>
                  </a:schemeClr>
                </a:solidFill>
              </a:rPr>
              <a:t>geologi) melalui pameran, paparan, atau papan tanda.</a:t>
            </a:r>
          </a:p>
        </p:txBody>
      </p:sp>
      <p:sp>
        <p:nvSpPr>
          <p:cNvPr id="212" name="FHead"/>
          <p:cNvSpPr txBox="1"/>
          <p:nvPr/>
        </p:nvSpPr>
        <p:spPr>
          <a:xfrm>
            <a:off x="1490472" y="3259836"/>
            <a:ext cx="525780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497580"/>
            <a:ext cx="5257800" cy="219456"/>
          </a:xfrm>
          <a:prstGeom prst="rect">
            <a:avLst/>
          </a:prstGeom>
          <a:noFill/>
        </p:spPr>
        <p:txBody>
          <a:bodyPr wrap="square">
            <a:noAutofit/>
          </a:bodyPr>
          <a:lstStyle/>
          <a:p>
            <a:pPr/>
            <a:r>
              <a:rPr lang="en-MY" sz="1250" dirty="0">
                <a:solidFill>
                  <a:schemeClr val="tx1">
                    <a:lumMod val="85000"/>
                    <a:lumOff val="15000"/>
                  </a:schemeClr>
                </a:solidFill>
              </a:rPr>
              <a:t>Bangunan Interpretatif</a:t>
            </a:r>
          </a:p>
        </p:txBody>
      </p:sp>
      <p:sp>
        <p:nvSpPr>
          <p:cNvPr id="230" name="VisualPanel"/>
          <p:cNvSpPr txBox="1"/>
          <p:nvPr/>
        </p:nvSpPr>
        <p:spPr>
          <a:xfrm>
            <a:off x="6903720" y="2157984"/>
            <a:ext cx="3785616"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068312" y="2286000"/>
            <a:ext cx="3456432"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068312" y="2542032"/>
            <a:ext cx="3456432" cy="256032"/>
          </a:xfrm>
          <a:prstGeom prst="rect">
            <a:avLst/>
          </a:prstGeom>
          <a:noFill/>
        </p:spPr>
        <p:txBody>
          <a:bodyPr wrap="square">
            <a:noAutofit/>
          </a:bodyPr>
          <a:lstStyle/>
          <a:p>
            <a:pPr/>
            <a:r>
              <a:rPr lang="en-MY" sz="1150" dirty="0">
                <a:solidFill>
                  <a:schemeClr val="tx1">
                    <a:lumMod val="85000"/>
                    <a:lumOff val="15000"/>
                  </a:schemeClr>
                </a:solidFill>
              </a:rPr>
              <a:t>[Visual: Bangunan Interpretatif]</a:t>
            </a:r>
          </a:p>
        </p:txBody>
      </p:sp>
      <p:sp>
        <p:nvSpPr>
          <p:cNvPr id="233" name="VisualPanelArea"/>
          <p:cNvSpPr txBox="1"/>
          <p:nvPr/>
        </p:nvSpPr>
        <p:spPr>
          <a:xfrm>
            <a:off x="7068312" y="3758184"/>
            <a:ext cx="3456432"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Kemudahan Awam</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SCR_KEMUDAHAN_AWAM_EXAMPLES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SCR_KEMUDAHAN_AWAM_EXAMPLES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K5-PL06-T03-B02-KEMUDAHAN-AWAM-ROW-03</a:t>
            </a:r>
          </a:p>
          <a:p>
            <a:r>
              <a:rPr lang="en-MY" sz="900" dirty="0">
                <a:solidFill>
                  <a:schemeClr val="tx1">
                    <a:lumMod val="85000"/>
                    <a:lumOff val="15000"/>
                  </a:schemeClr>
                </a:solidFill>
              </a:rPr>
              <a:t>    ms 240 / fizikal 259</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II_KEMUDAHAN_AWAM_EX03  &lt;-  K5-PL06-T03-B02-KEMUDAHAN-AWAM-ROW-03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3/3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Kemudahan Awam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Kemudahan Awam</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Tandas Awam</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Tandas Awam]</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Surau</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Surau]</a:t>
            </a:r>
          </a:p>
        </p:txBody>
      </p:sp>
      <p:sp>
        <p:nvSpPr>
          <p:cNvPr id="46" name="ItemCard"/>
          <p:cNvSpPr txBox="1"/>
          <p:nvPr/>
        </p:nvSpPr>
        <p:spPr>
          <a:xfrm>
            <a:off x="8142717"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Bangunan Interpretatif</a:t>
            </a:r>
          </a:p>
        </p:txBody>
      </p:sp>
      <p:sp>
        <p:nvSpPr>
          <p:cNvPr id="47"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Bangunan Interpretatif]</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Kemudahan Awam</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all examples viewed, Kembali enabled</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examples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SCR_KEMUDAHAN_AWAM_EXAMPLES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K5-PL06-T03-B02-KEMUDAHAN-AWAM-ROW-01</a:t>
            </a:r>
          </a:p>
          <a:p>
            <a:r>
              <a:rPr lang="en-MY" sz="900" dirty="0">
                <a:solidFill>
                  <a:schemeClr val="tx1">
                    <a:lumMod val="85000"/>
                    <a:lumOff val="15000"/>
                  </a:schemeClr>
                </a:solidFill>
              </a:rPr>
              <a:t>    ms 240 / fizikal 259</a:t>
            </a:r>
          </a:p>
          <a:p>
            <a:r>
              <a:rPr lang="en-MY" sz="900" dirty="0">
                <a:solidFill>
                  <a:schemeClr val="tx1">
                    <a:lumMod val="85000"/>
                    <a:lumOff val="15000"/>
                  </a:schemeClr>
                </a:solidFill>
              </a:rPr>
              <a:t>  K5-PL06-T03-B02-KEMUDAHAN-AWAM-ROW-02</a:t>
            </a:r>
          </a:p>
          <a:p>
            <a:r>
              <a:rPr lang="en-MY" sz="900" dirty="0">
                <a:solidFill>
                  <a:schemeClr val="tx1">
                    <a:lumMod val="85000"/>
                    <a:lumOff val="15000"/>
                  </a:schemeClr>
                </a:solidFill>
              </a:rPr>
              <a:t>    ms 240 / fizikal 259</a:t>
            </a:r>
          </a:p>
          <a:p>
            <a:r>
              <a:rPr lang="en-MY" sz="900" dirty="0">
                <a:solidFill>
                  <a:schemeClr val="tx1">
                    <a:lumMod val="85000"/>
                    <a:lumOff val="15000"/>
                  </a:schemeClr>
                </a:solidFill>
              </a:rPr>
              <a:t>  K5-PL06-T03-B02-KEMUDAHAN-AWAM-ROW-03</a:t>
            </a:r>
          </a:p>
          <a:p>
            <a:r>
              <a:rPr lang="en-MY" sz="900" dirty="0">
                <a:solidFill>
                  <a:schemeClr val="tx1">
                    <a:lumMod val="85000"/>
                    <a:lumOff val="15000"/>
                  </a:schemeClr>
                </a:solidFill>
              </a:rPr>
              <a:t>    ms 240 / fizikal 259</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II_KEMUDAHAN_AWAM_EX01  &lt;-  K5-PL06-T03-B02-KEMUDAHAN-AWAM-ROW-01</a:t>
            </a:r>
          </a:p>
          <a:p>
            <a:r>
              <a:rPr lang="en-MY" sz="900" dirty="0">
                <a:solidFill>
                  <a:schemeClr val="tx1">
                    <a:lumMod val="85000"/>
                    <a:lumOff val="15000"/>
                  </a:schemeClr>
                </a:solidFill>
              </a:rPr>
              <a:t>  II_KEMUDAHAN_AWAM_EX02  &lt;-  K5-PL06-T03-B02-KEMUDAHAN-AWAM-ROW-02</a:t>
            </a:r>
          </a:p>
          <a:p>
            <a:r>
              <a:rPr lang="en-MY" sz="900" dirty="0">
                <a:solidFill>
                  <a:schemeClr val="tx1">
                    <a:lumMod val="85000"/>
                    <a:lumOff val="15000"/>
                  </a:schemeClr>
                </a:solidFill>
              </a:rPr>
              <a:t>  II_KEMUDAHAN_AWAM_EX03  &lt;-  K5-PL06-T03-B02-KEMUDAHAN-AWAM-ROW-03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3/3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B02-D-01, B02-D-07</a:t>
            </a:r>
          </a:p>
          <a:p>
            <a:r>
              <a:rPr lang="en-MY" sz="900" dirty="0">
                <a:solidFill>
                  <a:schemeClr val="tx1">
                    <a:lumMod val="85000"/>
                    <a:lumOff val="15000"/>
                  </a:schemeClr>
                </a:solidFill>
              </a:rPr>
              <a:t>STATUS BELUM SELESAI: NONE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Water Feature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20" name="Head"/>
          <p:cNvSpPr txBox="1"/>
          <p:nvPr/>
        </p:nvSpPr>
        <p:spPr>
          <a:xfrm>
            <a:off x="723930" y="1188720"/>
            <a:ext cx="10744200" cy="420624"/>
          </a:xfrm>
          <a:prstGeom prst="rect">
            <a:avLst/>
          </a:prstGeom>
          <a:noFill/>
        </p:spPr>
        <p:txBody>
          <a:bodyPr wrap="square">
            <a:noAutofit/>
          </a:bodyPr>
          <a:lstStyle/>
          <a:p>
            <a:pPr/>
            <a:r>
              <a:rPr lang="en-MY" sz="2000" b="1" i="1" dirty="0">
                <a:solidFill>
                  <a:schemeClr val="tx1">
                    <a:lumMod val="85000"/>
                    <a:lumOff val="15000"/>
                  </a:schemeClr>
                </a:solidFill>
              </a:rPr>
              <a:t>Water Feature</a:t>
            </a:r>
          </a:p>
        </p:txBody>
      </p:sp>
      <p:sp>
        <p:nvSpPr>
          <p:cNvPr id="22" name="Body"/>
          <p:cNvSpPr txBox="1"/>
          <p:nvPr/>
        </p:nvSpPr>
        <p:spPr>
          <a:xfrm>
            <a:off x="723930" y="1755648"/>
            <a:ext cx="10744200" cy="3108960"/>
          </a:xfrm>
          <a:prstGeom prst="rect">
            <a:avLst/>
          </a:prstGeom>
          <a:noFill/>
        </p:spPr>
        <p:txBody>
          <a:bodyPr wrap="square">
            <a:noAutofit/>
          </a:bodyPr>
          <a:lstStyle/>
          <a:p>
            <a:pPr marL="285750" indent="-285750">
              <a:spcBef>
                <a:spcPts val="600"/>
              </a:spcBef>
              <a:buFont typeface="Arial" panose="020B0604020202020204" pitchFamily="34" charset="0"/>
              <a:buChar char="•"/>
            </a:pPr>
            <a:r>
              <a:rPr lang="en-MY" sz="1500" dirty="0">
                <a:solidFill>
                  <a:schemeClr val="tx1">
                    <a:lumMod val="85000"/>
                    <a:lumOff val="15000"/>
                  </a:schemeClr>
                </a:solidFill>
              </a:rPr>
              <a:t>Elemen landskap yang menggunakan air untuk estetika, bunyi atau titik tumpuan</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Perlu sistem paip, pam air, penapisan dan saliran yang betul</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Kawalan kualiti air termasuk pencegahan alga</a:t>
            </a:r>
          </a:p>
          <a:p>
            <a:pPr marL="285750" indent="-285750">
              <a:spcBef>
                <a:spcPts val="600"/>
              </a:spcBef>
              <a:buFont typeface="Arial" panose="020B0604020202020204" pitchFamily="34" charset="0"/>
              <a:buChar char="•"/>
            </a:pPr>
            <a:r>
              <a:rPr lang="en-MY" sz="1500" dirty="0">
                <a:solidFill>
                  <a:schemeClr val="tx1">
                    <a:lumMod val="85000"/>
                    <a:lumOff val="15000"/>
                  </a:schemeClr>
                </a:solidFill>
              </a:rPr>
              <a:t>Keselamatan: kedalaman dan permukaan yang tidak licin</a:t>
            </a:r>
          </a:p>
        </p:txBody>
      </p:sp>
      <p:sp>
        <p:nvSpPr>
          <p:cNvPr id="30" name="VisualDir"/>
          <p:cNvSpPr txBox="1"/>
          <p:nvPr/>
        </p:nvSpPr>
        <p:spPr>
          <a:xfrm>
            <a:off x="723930" y="4663440"/>
            <a:ext cx="10744200" cy="621792"/>
          </a:xfrm>
          <a:prstGeom prst="rect">
            <a:avLst/>
          </a:prstGeom>
          <a:noFill/>
        </p:spPr>
        <p:txBody>
          <a:bodyPr wrap="square">
            <a:noAutofit/>
          </a:bodyPr>
          <a:lstStyle/>
          <a:p>
            <a:pPr/>
            <a:r>
              <a:rPr lang="en-MY" sz="1100" dirty="0">
                <a:solidFill>
                  <a:srgbClr val="808080"/>
                </a:solidFill>
              </a:rPr>
              <a:t>[Visual: TIADA IMEJ SUMBER — NO_DEDICATED_SOURCE_IMAGE. Cadangan rajah native: keratan rentas dengan pam,</a:t>
            </a:r>
          </a:p>
          <a:p>
            <a:pPr/>
            <a:r>
              <a:rPr lang="en-MY" sz="1100" dirty="0">
                <a:solidFill>
                  <a:srgbClr val="808080"/>
                </a:solidFill>
              </a:rPr>
              <a:t>penapis, paip dan saliran berlabel. Tidak dilukis, tidak dibenamkan.]</a:t>
            </a:r>
          </a:p>
        </p:txBody>
      </p:sp>
      <p:sp>
        <p:nvSpPr>
          <p:cNvPr id="300" name="OverviewHead"/>
          <p:cNvSpPr txBox="1"/>
          <p:nvPr/>
        </p:nvSpPr>
        <p:spPr>
          <a:xfrm>
            <a:off x="723930" y="5340096"/>
            <a:ext cx="10744200" cy="201168"/>
          </a:xfrm>
          <a:prstGeom prst="rect">
            <a:avLst/>
          </a:prstGeom>
          <a:noFill/>
        </p:spPr>
        <p:txBody>
          <a:bodyPr wrap="square">
            <a:noAutofit/>
          </a:bodyPr>
          <a:lstStyle/>
          <a:p>
            <a:pPr/>
            <a:r>
              <a:rPr lang="en-MY" sz="850" b="1" dirty="0">
                <a:solidFill>
                  <a:srgbClr val="7F6000"/>
                </a:solidFill>
              </a:rPr>
              <a:t>ARAHAN VISUAL — OVERVIEW KOMPONEN (TIDAK DIBENAMKAN)</a:t>
            </a:r>
          </a:p>
        </p:txBody>
      </p:sp>
      <p:sp>
        <p:nvSpPr>
          <p:cNvPr id="301" name="OverviewCard"/>
          <p:cNvSpPr txBox="1"/>
          <p:nvPr/>
        </p:nvSpPr>
        <p:spPr>
          <a:xfrm>
            <a:off x="723930" y="5577840"/>
            <a:ext cx="2377440" cy="780898"/>
          </a:xfrm>
          <a:prstGeom prst="rect">
            <a:avLst/>
          </a:prstGeom>
          <a:solidFill>
            <a:srgbClr val="F7F7F7"/>
          </a:solidFill>
          <a:ln w="12700">
            <a:solidFill>
              <a:srgbClr val="BFBFBF"/>
            </a:solidFill>
          </a:ln>
        </p:spPr>
        <p:txBody>
          <a:bodyPr wrap="square">
            <a:noAutofit/>
          </a:bodyPr>
          <a:lstStyle/>
        </p:txBody>
      </p:sp>
      <p:sp>
        <p:nvSpPr>
          <p:cNvPr id="302" name="OverviewSubject"/>
          <p:cNvSpPr txBox="1"/>
          <p:nvPr/>
        </p:nvSpPr>
        <p:spPr>
          <a:xfrm>
            <a:off x="815370" y="5632704"/>
            <a:ext cx="2194560" cy="332842"/>
          </a:xfrm>
          <a:prstGeom prst="rect">
            <a:avLst/>
          </a:prstGeom>
          <a:noFill/>
        </p:spPr>
        <p:txBody>
          <a:bodyPr wrap="square">
            <a:noAutofit/>
          </a:bodyPr>
          <a:lstStyle/>
          <a:p>
            <a:pPr/>
            <a:r>
              <a:rPr lang="en-MY" sz="900" b="1" dirty="0">
                <a:solidFill>
                  <a:schemeClr val="tx1">
                    <a:lumMod val="85000"/>
                    <a:lumOff val="15000"/>
                  </a:schemeClr>
                </a:solidFill>
              </a:rPr>
              <a:t>Air Pancut (Fountain)</a:t>
            </a:r>
          </a:p>
        </p:txBody>
      </p:sp>
      <p:sp>
        <p:nvSpPr>
          <p:cNvPr id="303" name="OverviewDir"/>
          <p:cNvSpPr txBox="1"/>
          <p:nvPr/>
        </p:nvSpPr>
        <p:spPr>
          <a:xfrm>
            <a:off x="815370" y="6002122"/>
            <a:ext cx="2194560" cy="283464"/>
          </a:xfrm>
          <a:prstGeom prst="rect">
            <a:avLst/>
          </a:prstGeom>
          <a:noFill/>
        </p:spPr>
        <p:txBody>
          <a:bodyPr wrap="square">
            <a:noAutofit/>
          </a:bodyPr>
          <a:lstStyle/>
          <a:p>
            <a:pPr/>
            <a:r>
              <a:rPr lang="en-MY" sz="750" dirty="0">
                <a:solidFill>
                  <a:srgbClr val="808080"/>
                </a:solidFill>
              </a:rPr>
              <a:t>[Visual: Air Pancut (Fountain)]</a:t>
            </a:r>
          </a:p>
        </p:txBody>
      </p:sp>
      <p:sp>
        <p:nvSpPr>
          <p:cNvPr id="304" name="OverviewCard"/>
          <p:cNvSpPr txBox="1"/>
          <p:nvPr/>
        </p:nvSpPr>
        <p:spPr>
          <a:xfrm>
            <a:off x="3284250" y="5577840"/>
            <a:ext cx="2377440" cy="780898"/>
          </a:xfrm>
          <a:prstGeom prst="rect">
            <a:avLst/>
          </a:prstGeom>
          <a:solidFill>
            <a:srgbClr val="F7F7F7"/>
          </a:solidFill>
          <a:ln w="12700">
            <a:solidFill>
              <a:srgbClr val="BFBFBF"/>
            </a:solidFill>
          </a:ln>
        </p:spPr>
        <p:txBody>
          <a:bodyPr wrap="square">
            <a:noAutofit/>
          </a:bodyPr>
          <a:lstStyle/>
        </p:txBody>
      </p:sp>
      <p:sp>
        <p:nvSpPr>
          <p:cNvPr id="305" name="OverviewSubject"/>
          <p:cNvSpPr txBox="1"/>
          <p:nvPr/>
        </p:nvSpPr>
        <p:spPr>
          <a:xfrm>
            <a:off x="3375690" y="5632704"/>
            <a:ext cx="2194560" cy="332842"/>
          </a:xfrm>
          <a:prstGeom prst="rect">
            <a:avLst/>
          </a:prstGeom>
          <a:noFill/>
        </p:spPr>
        <p:txBody>
          <a:bodyPr wrap="square">
            <a:noAutofit/>
          </a:bodyPr>
          <a:lstStyle/>
          <a:p>
            <a:pPr/>
            <a:r>
              <a:rPr lang="en-MY" sz="900" b="1" dirty="0">
                <a:solidFill>
                  <a:schemeClr val="tx1">
                    <a:lumMod val="85000"/>
                    <a:lumOff val="15000"/>
                  </a:schemeClr>
                </a:solidFill>
              </a:rPr>
              <a:t>Kolam (Pond)</a:t>
            </a:r>
          </a:p>
        </p:txBody>
      </p:sp>
      <p:sp>
        <p:nvSpPr>
          <p:cNvPr id="306" name="OverviewDir"/>
          <p:cNvSpPr txBox="1"/>
          <p:nvPr/>
        </p:nvSpPr>
        <p:spPr>
          <a:xfrm>
            <a:off x="3375690" y="6002122"/>
            <a:ext cx="2194560" cy="283464"/>
          </a:xfrm>
          <a:prstGeom prst="rect">
            <a:avLst/>
          </a:prstGeom>
          <a:noFill/>
        </p:spPr>
        <p:txBody>
          <a:bodyPr wrap="square">
            <a:noAutofit/>
          </a:bodyPr>
          <a:lstStyle/>
          <a:p>
            <a:pPr/>
            <a:r>
              <a:rPr lang="en-MY" sz="750" dirty="0">
                <a:solidFill>
                  <a:srgbClr val="808080"/>
                </a:solidFill>
              </a:rPr>
              <a:t>[Visual: Kolam (Pond)]</a:t>
            </a:r>
          </a:p>
        </p:txBody>
      </p:sp>
      <p:sp>
        <p:nvSpPr>
          <p:cNvPr id="307" name="OverviewCard"/>
          <p:cNvSpPr txBox="1"/>
          <p:nvPr/>
        </p:nvSpPr>
        <p:spPr>
          <a:xfrm>
            <a:off x="5844570" y="5577840"/>
            <a:ext cx="2377440" cy="780898"/>
          </a:xfrm>
          <a:prstGeom prst="rect">
            <a:avLst/>
          </a:prstGeom>
          <a:solidFill>
            <a:srgbClr val="F7F7F7"/>
          </a:solidFill>
          <a:ln w="12700">
            <a:solidFill>
              <a:srgbClr val="BFBFBF"/>
            </a:solidFill>
          </a:ln>
        </p:spPr>
        <p:txBody>
          <a:bodyPr wrap="square">
            <a:noAutofit/>
          </a:bodyPr>
          <a:lstStyle/>
        </p:txBody>
      </p:sp>
      <p:sp>
        <p:nvSpPr>
          <p:cNvPr id="308" name="OverviewSubject"/>
          <p:cNvSpPr txBox="1"/>
          <p:nvPr/>
        </p:nvSpPr>
        <p:spPr>
          <a:xfrm>
            <a:off x="5936010" y="5632704"/>
            <a:ext cx="2194560" cy="332842"/>
          </a:xfrm>
          <a:prstGeom prst="rect">
            <a:avLst/>
          </a:prstGeom>
          <a:noFill/>
        </p:spPr>
        <p:txBody>
          <a:bodyPr wrap="square">
            <a:noAutofit/>
          </a:bodyPr>
          <a:lstStyle/>
          <a:p>
            <a:pPr/>
            <a:r>
              <a:rPr lang="en-MY" sz="900" b="1" dirty="0">
                <a:solidFill>
                  <a:schemeClr val="tx1">
                    <a:lumMod val="85000"/>
                    <a:lumOff val="15000"/>
                  </a:schemeClr>
                </a:solidFill>
              </a:rPr>
              <a:t>Kolam Renang / Kolam Hiasan</a:t>
            </a:r>
          </a:p>
          <a:p>
            <a:pPr/>
            <a:r>
              <a:rPr lang="en-MY" sz="900" b="1" dirty="0">
                <a:solidFill>
                  <a:schemeClr val="tx1">
                    <a:lumMod val="85000"/>
                    <a:lumOff val="15000"/>
                  </a:schemeClr>
                </a:solidFill>
              </a:rPr>
              <a:t>Besar (Pool)</a:t>
            </a:r>
          </a:p>
        </p:txBody>
      </p:sp>
      <p:sp>
        <p:nvSpPr>
          <p:cNvPr id="309" name="OverviewDir"/>
          <p:cNvSpPr txBox="1"/>
          <p:nvPr/>
        </p:nvSpPr>
        <p:spPr>
          <a:xfrm>
            <a:off x="5936010" y="6002122"/>
            <a:ext cx="2194560" cy="283464"/>
          </a:xfrm>
          <a:prstGeom prst="rect">
            <a:avLst/>
          </a:prstGeom>
          <a:noFill/>
        </p:spPr>
        <p:txBody>
          <a:bodyPr wrap="square">
            <a:noAutofit/>
          </a:bodyPr>
          <a:lstStyle/>
          <a:p>
            <a:pPr/>
            <a:r>
              <a:rPr lang="en-MY" sz="750" dirty="0">
                <a:solidFill>
                  <a:srgbClr val="808080"/>
                </a:solidFill>
              </a:rPr>
              <a:t>[Visual: Kolam Renang/Kolam Hiasan</a:t>
            </a:r>
          </a:p>
          <a:p>
            <a:pPr/>
            <a:r>
              <a:rPr lang="en-MY" sz="750" dirty="0">
                <a:solidFill>
                  <a:srgbClr val="808080"/>
                </a:solidFill>
              </a:rPr>
              <a:t>Besar(Pool)]</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Water Feature — penerangan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COMPONENT_MAIN_BASE</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main explanation</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[vo_complete]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SCR_WATER_FEATURE_MAIN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interaksi kandungan. Kemajuan melalui shell LMS.</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COMPONENT_MAIN_SCREEN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SOURCE_ATTESTED_COMPONENT_VISUAL</a:t>
            </a:r>
          </a:p>
          <a:p>
            <a:r>
              <a:rPr lang="en-MY" sz="900" dirty="0">
                <a:solidFill>
                  <a:schemeClr val="tx1">
                    <a:lumMod val="85000"/>
                    <a:lumOff val="15000"/>
                  </a:schemeClr>
                </a:solidFill>
              </a:rPr>
              <a:t>  kuasa keperluan: BARIAH_DIRECT_SCREENSHOT</a:t>
            </a:r>
          </a:p>
          <a:p>
            <a:r>
              <a:rPr lang="en-MY" sz="900" dirty="0">
                <a:solidFill>
                  <a:schemeClr val="tx1">
                    <a:lumMod val="85000"/>
                    <a:lumOff val="15000"/>
                  </a:schemeClr>
                </a:solidFill>
              </a:rPr>
              <a:t>  rawatan: SOURCE_BOUND_OVERVIEW</a:t>
            </a:r>
          </a:p>
          <a:p>
            <a:r>
              <a:rPr lang="en-MY" sz="900" dirty="0">
                <a:solidFill>
                  <a:schemeClr val="tx1">
                    <a:lumMod val="85000"/>
                    <a:lumOff val="15000"/>
                  </a:schemeClr>
                </a:solidFill>
              </a:rPr>
              <a:t>  kuasa rawatan: BARIAH_DIRECT_SCREENSHOT</a:t>
            </a:r>
          </a:p>
          <a:p>
            <a:r>
              <a:rPr lang="en-MY" sz="900" dirty="0">
                <a:solidFill>
                  <a:schemeClr val="tx1">
                    <a:lumMod val="85000"/>
                    <a:lumOff val="15000"/>
                  </a:schemeClr>
                </a:solidFill>
              </a:rPr>
              <a:t>  sumber subjek: MODULE_SOURCE_ATTESTED 3</a:t>
            </a:r>
          </a:p>
          <a:p>
            <a:r>
              <a:rPr lang="en-MY" sz="900" dirty="0">
                <a:solidFill>
                  <a:schemeClr val="tx1">
                    <a:lumMod val="85000"/>
                    <a:lumOff val="15000"/>
                  </a:schemeClr>
                </a:solidFill>
              </a:rPr>
              <a:t>  bilangan subjek overview: 3</a:t>
            </a:r>
          </a:p>
          <a:p>
            <a:r>
              <a:rPr lang="en-MY" sz="900" dirty="0">
                <a:solidFill>
                  <a:schemeClr val="tx1">
                    <a:lumMod val="85000"/>
                    <a:lumOff val="15000"/>
                  </a:schemeClr>
                </a:solidFill>
              </a:rPr>
              <a:t>  status pemetaan: RESOLVED</a:t>
            </a:r>
          </a:p>
          <a:p>
            <a:r>
              <a:rPr lang="en-MY" sz="900" dirty="0">
                <a:solidFill>
                  <a:schemeClr val="tx1">
                    <a:lumMod val="85000"/>
                    <a:lumOff val="15000"/>
                  </a:schemeClr>
                </a:solidFill>
              </a:rPr>
              <a:t>  pemetaan instans: COMPLETE</a:t>
            </a:r>
          </a:p>
          <a:p>
            <a:r>
              <a:rPr lang="en-MY" sz="900" dirty="0">
                <a:solidFill>
                  <a:schemeClr val="tx1">
                    <a:lumMod val="85000"/>
                    <a:lumOff val="15000"/>
                  </a:schemeClr>
                </a:solidFill>
              </a:rPr>
              <a:t>  menunggu keputusan manusia: TIDAK</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a:t>
            </a:r>
            <a:r>
              <a:rPr lang="en-MY" sz="2400" b="1" i="1" dirty="0"/>
              <a:t>Water Feature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Water Feature</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Air Pancut (Fountain)</a:t>
            </a:r>
          </a:p>
        </p:txBody>
      </p:sp>
      <p:sp>
        <p:nvSpPr>
          <p:cNvPr id="41"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Air Pancut (Fountain)]</a:t>
            </a:r>
          </a:p>
        </p:txBody>
      </p:sp>
      <p:sp>
        <p:nvSpPr>
          <p:cNvPr id="42" name="ItemCard"/>
          <p:cNvSpPr txBox="1"/>
          <p:nvPr/>
        </p:nvSpPr>
        <p:spPr>
          <a:xfrm>
            <a:off x="4433301"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Kolam (Pond)</a:t>
            </a:r>
          </a:p>
        </p:txBody>
      </p:sp>
      <p:sp>
        <p:nvSpPr>
          <p:cNvPr id="43"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Kolam (Pond)]</a:t>
            </a:r>
          </a:p>
        </p:txBody>
      </p:sp>
      <p:sp>
        <p:nvSpPr>
          <p:cNvPr id="44" name="ItemCard"/>
          <p:cNvSpPr txBox="1"/>
          <p:nvPr/>
        </p:nvSpPr>
        <p:spPr>
          <a:xfrm>
            <a:off x="8142717"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Kolam Renang / Kolam Hiasan Besar (Pool)</a:t>
            </a:r>
          </a:p>
        </p:txBody>
      </p:sp>
      <p:sp>
        <p:nvSpPr>
          <p:cNvPr id="45"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Kolam Renang/Kolam Hiasan Besar(Pool)]</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Water Feature</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selection, none viewed</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[component_complete[WATER_FEATURE]]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SCR_WATER_FEATURE_EXAMPLES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K5-PL06-T03-B02-WATER-FEATURE-ROW-01</a:t>
            </a:r>
          </a:p>
          <a:p>
            <a:r>
              <a:rPr lang="en-MY" sz="900" dirty="0">
                <a:solidFill>
                  <a:schemeClr val="tx1">
                    <a:lumMod val="85000"/>
                    <a:lumOff val="15000"/>
                  </a:schemeClr>
                </a:solidFill>
              </a:rPr>
              <a:t>    ms 241 / fizikal 260</a:t>
            </a:r>
          </a:p>
          <a:p>
            <a:r>
              <a:rPr lang="en-MY" sz="900" dirty="0">
                <a:solidFill>
                  <a:schemeClr val="tx1">
                    <a:lumMod val="85000"/>
                    <a:lumOff val="15000"/>
                  </a:schemeClr>
                </a:solidFill>
              </a:rPr>
              <a:t>  K5-PL06-T03-B02-WATER-FEATURE-ROW-02</a:t>
            </a:r>
          </a:p>
          <a:p>
            <a:r>
              <a:rPr lang="en-MY" sz="900" dirty="0">
                <a:solidFill>
                  <a:schemeClr val="tx1">
                    <a:lumMod val="85000"/>
                    <a:lumOff val="15000"/>
                  </a:schemeClr>
                </a:solidFill>
              </a:rPr>
              <a:t>    ms 241 / fizikal 260</a:t>
            </a:r>
          </a:p>
          <a:p>
            <a:r>
              <a:rPr lang="en-MY" sz="900" dirty="0">
                <a:solidFill>
                  <a:schemeClr val="tx1">
                    <a:lumMod val="85000"/>
                    <a:lumOff val="15000"/>
                  </a:schemeClr>
                </a:solidFill>
              </a:rPr>
              <a:t>  K5-PL06-T03-B02-WATER-FEATURE-ROW-03</a:t>
            </a:r>
          </a:p>
          <a:p>
            <a:r>
              <a:rPr lang="en-MY" sz="900" dirty="0">
                <a:solidFill>
                  <a:schemeClr val="tx1">
                    <a:lumMod val="85000"/>
                    <a:lumOff val="15000"/>
                  </a:schemeClr>
                </a:solidFill>
              </a:rPr>
              <a:t>    ms 241 / fizikal 260</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II_WATER_FEATURE_EX01  &lt;-  K5-PL06-T03-B02-WATER-FEATURE-ROW-01</a:t>
            </a:r>
          </a:p>
          <a:p>
            <a:r>
              <a:rPr lang="en-MY" sz="900" dirty="0">
                <a:solidFill>
                  <a:schemeClr val="tx1">
                    <a:lumMod val="85000"/>
                    <a:lumOff val="15000"/>
                  </a:schemeClr>
                </a:solidFill>
              </a:rPr>
              <a:t>  II_WATER_FEATURE_EX02  &lt;-  K5-PL06-T03-B02-WATER-FEATURE-ROW-02</a:t>
            </a:r>
          </a:p>
          <a:p>
            <a:r>
              <a:rPr lang="en-MY" sz="900" dirty="0">
                <a:solidFill>
                  <a:schemeClr val="tx1">
                    <a:lumMod val="85000"/>
                    <a:lumOff val="15000"/>
                  </a:schemeClr>
                </a:solidFill>
              </a:rPr>
              <a:t>  II_WATER_FEATURE_EX03  &lt;-  K5-PL06-T03-B02-WATER-FEATURE-ROW-03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0/3 contoh dilihat.</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contoh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EXAMPLE_SELECTION_SCREEN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RESOLVED_PER_EXAMPLE_CARD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  visual setiap contoh (satu per kad):</a:t>
            </a:r>
          </a:p>
          <a:p>
            <a:r>
              <a:rPr lang="en-MY" sz="900" dirty="0">
                <a:solidFill>
                  <a:schemeClr val="tx1">
                    <a:lumMod val="85000"/>
                    <a:lumOff val="15000"/>
                  </a:schemeClr>
                </a:solidFill>
              </a:rPr>
              <a:t>    Air Pancut (Fountain) — [Visual: Air Pancut (Fountain)]</a:t>
            </a:r>
          </a:p>
          <a:p>
            <a:r>
              <a:rPr lang="en-MY" sz="900" dirty="0">
                <a:solidFill>
                  <a:schemeClr val="tx1">
                    <a:lumMod val="85000"/>
                    <a:lumOff val="15000"/>
                  </a:schemeClr>
                </a:solidFill>
              </a:rPr>
              <a:t>    Kolam (Pond) — [Visual: Kolam (Pond)]</a:t>
            </a:r>
          </a:p>
          <a:p>
            <a:r>
              <a:rPr lang="en-MY" sz="900" dirty="0">
                <a:solidFill>
                  <a:schemeClr val="tx1">
                    <a:lumMod val="85000"/>
                    <a:lumOff val="15000"/>
                  </a:schemeClr>
                </a:solidFill>
              </a:rPr>
              <a:t>    Kolam Renang / Kolam Hiasan Besar (Pool) — [Visual: Kolam Renang/Kolam Hiasan Besar(Pool)]</a:t>
            </a:r>
          </a:p>
          <a:p>
            <a:r>
              <a:rPr lang="en-MY" sz="900" dirty="0">
                <a:solidFill>
                  <a:schemeClr val="tx1">
                    <a:lumMod val="85000"/>
                    <a:lumOff val="15000"/>
                  </a:schemeClr>
                </a:solidFill>
              </a:rPr>
              <a:t>STATUS KEPUTUSAN: B02-D-01</a:t>
            </a:r>
          </a:p>
          <a:p>
            <a:r>
              <a:rPr lang="en-MY" sz="900" dirty="0">
                <a:solidFill>
                  <a:schemeClr val="tx1">
                    <a:lumMod val="85000"/>
                    <a:lumOff val="15000"/>
                  </a:schemeClr>
                </a:solidFill>
              </a:rPr>
              <a:t>STATUS BELUM SELESAI: NONE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a:t>
            </a:r>
            <a:r>
              <a:rPr lang="en-MY" sz="2400" b="1" i="1" dirty="0"/>
              <a:t>Water Feature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Water Feature</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Air Pancut (Fountain)</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Air Pancut (Fountain)]</a:t>
            </a:r>
          </a:p>
        </p:txBody>
      </p:sp>
      <p:sp>
        <p:nvSpPr>
          <p:cNvPr id="43" name="ItemCard"/>
          <p:cNvSpPr txBox="1"/>
          <p:nvPr/>
        </p:nvSpPr>
        <p:spPr>
          <a:xfrm>
            <a:off x="4433301"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Kolam (Pond)</a:t>
            </a:r>
          </a:p>
        </p:txBody>
      </p:sp>
      <p:sp>
        <p:nvSpPr>
          <p:cNvPr id="44"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Kolam (Pond)]</a:t>
            </a:r>
          </a:p>
        </p:txBody>
      </p:sp>
      <p:sp>
        <p:nvSpPr>
          <p:cNvPr id="45" name="ItemCard"/>
          <p:cNvSpPr txBox="1"/>
          <p:nvPr/>
        </p:nvSpPr>
        <p:spPr>
          <a:xfrm>
            <a:off x="8142717"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Kolam Renang / Kolam Hiasan Besar (Pool)</a:t>
            </a:r>
          </a:p>
        </p:txBody>
      </p:sp>
      <p:sp>
        <p:nvSpPr>
          <p:cNvPr id="46"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Kolam Renang/Kolam Hiasan Besar(Pool)]</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257800" cy="365760"/>
          </a:xfrm>
          <a:prstGeom prst="rect">
            <a:avLst/>
          </a:prstGeom>
          <a:noFill/>
        </p:spPr>
        <p:txBody>
          <a:bodyPr wrap="square">
            <a:noAutofit/>
          </a:bodyPr>
          <a:lstStyle/>
          <a:p>
            <a:pPr/>
            <a:r>
              <a:rPr lang="en-MY" sz="2000" b="1" dirty="0">
                <a:solidFill>
                  <a:schemeClr val="tx1">
                    <a:lumMod val="85000"/>
                    <a:lumOff val="15000"/>
                  </a:schemeClr>
                </a:solidFill>
              </a:rPr>
              <a:t>Air Pancut (Fountain)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25780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257800" cy="644652"/>
          </a:xfrm>
          <a:prstGeom prst="rect">
            <a:avLst/>
          </a:prstGeom>
          <a:noFill/>
        </p:spPr>
        <p:txBody>
          <a:bodyPr wrap="square">
            <a:noAutofit/>
          </a:bodyPr>
          <a:lstStyle/>
          <a:p>
            <a:pPr/>
            <a:r>
              <a:rPr lang="en-MY" sz="1250" dirty="0">
                <a:solidFill>
                  <a:schemeClr val="tx1">
                    <a:lumMod val="85000"/>
                    <a:lumOff val="15000"/>
                  </a:schemeClr>
                </a:solidFill>
              </a:rPr>
              <a:t>Struktur yang mengeluarkan air dalam corak tertentu,</a:t>
            </a:r>
          </a:p>
          <a:p>
            <a:pPr/>
            <a:r>
              <a:rPr lang="en-MY" sz="1250" dirty="0">
                <a:solidFill>
                  <a:schemeClr val="tx1">
                    <a:lumMod val="85000"/>
                    <a:lumOff val="15000"/>
                  </a:schemeClr>
                </a:solidFill>
              </a:rPr>
              <a:t>mewujudkan bunyi yang menenangkan dan pergerakan</a:t>
            </a:r>
          </a:p>
          <a:p>
            <a:pPr/>
            <a:r>
              <a:rPr lang="en-MY" sz="1250" dirty="0">
                <a:solidFill>
                  <a:schemeClr val="tx1">
                    <a:lumMod val="85000"/>
                    <a:lumOff val="15000"/>
                  </a:schemeClr>
                </a:solidFill>
              </a:rPr>
              <a:t>visual.</a:t>
            </a:r>
          </a:p>
        </p:txBody>
      </p:sp>
      <p:sp>
        <p:nvSpPr>
          <p:cNvPr id="212" name="FHead"/>
          <p:cNvSpPr txBox="1"/>
          <p:nvPr/>
        </p:nvSpPr>
        <p:spPr>
          <a:xfrm>
            <a:off x="1490472" y="3259836"/>
            <a:ext cx="525780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497580"/>
            <a:ext cx="5257800" cy="219456"/>
          </a:xfrm>
          <a:prstGeom prst="rect">
            <a:avLst/>
          </a:prstGeom>
          <a:noFill/>
        </p:spPr>
        <p:txBody>
          <a:bodyPr wrap="square">
            <a:noAutofit/>
          </a:bodyPr>
          <a:lstStyle/>
          <a:p>
            <a:pPr/>
            <a:r>
              <a:rPr lang="en-MY" sz="1250" dirty="0">
                <a:solidFill>
                  <a:schemeClr val="tx1">
                    <a:lumMod val="85000"/>
                    <a:lumOff val="15000"/>
                  </a:schemeClr>
                </a:solidFill>
              </a:rPr>
              <a:t>Air Pancut (Fountain)</a:t>
            </a:r>
          </a:p>
        </p:txBody>
      </p:sp>
      <p:sp>
        <p:nvSpPr>
          <p:cNvPr id="230" name="VisualPanel"/>
          <p:cNvSpPr txBox="1"/>
          <p:nvPr/>
        </p:nvSpPr>
        <p:spPr>
          <a:xfrm>
            <a:off x="6903720" y="2157984"/>
            <a:ext cx="3785616"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068312" y="2286000"/>
            <a:ext cx="3456432"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068312" y="2542032"/>
            <a:ext cx="3456432" cy="256032"/>
          </a:xfrm>
          <a:prstGeom prst="rect">
            <a:avLst/>
          </a:prstGeom>
          <a:noFill/>
        </p:spPr>
        <p:txBody>
          <a:bodyPr wrap="square">
            <a:noAutofit/>
          </a:bodyPr>
          <a:lstStyle/>
          <a:p>
            <a:pPr/>
            <a:r>
              <a:rPr lang="en-MY" sz="1150" dirty="0">
                <a:solidFill>
                  <a:schemeClr val="tx1">
                    <a:lumMod val="85000"/>
                    <a:lumOff val="15000"/>
                  </a:schemeClr>
                </a:solidFill>
              </a:rPr>
              <a:t>[Visual: Air Pancut (Fountain)]</a:t>
            </a:r>
          </a:p>
        </p:txBody>
      </p:sp>
      <p:sp>
        <p:nvSpPr>
          <p:cNvPr id="233" name="VisualPanelArea"/>
          <p:cNvSpPr txBox="1"/>
          <p:nvPr/>
        </p:nvSpPr>
        <p:spPr>
          <a:xfrm>
            <a:off x="7068312" y="3758184"/>
            <a:ext cx="3456432"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Water Feature</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SCR_WATER_FEATURE_EXAMPLES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SCR_WATER_FEATURE_EXAMPLES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K5-PL06-T03-B02-WATER-FEATURE-ROW-01</a:t>
            </a:r>
          </a:p>
          <a:p>
            <a:r>
              <a:rPr lang="en-MY" sz="900" dirty="0">
                <a:solidFill>
                  <a:schemeClr val="tx1">
                    <a:lumMod val="85000"/>
                    <a:lumOff val="15000"/>
                  </a:schemeClr>
                </a:solidFill>
              </a:rPr>
              <a:t>    ms 241 / fizikal 260</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II_WATER_FEATURE_EX01  &lt;-  K5-PL06-T03-B02-WATER-FEATURE-ROW-01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1/3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a:t>
            </a:r>
            <a:r>
              <a:rPr lang="en-MY" sz="2400" b="1" i="1" dirty="0"/>
              <a:t>Water Feature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Water Feature</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Air Pancut (Fountain)</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Air Pancut (Fountain)]</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Kolam (Pond)</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Kolam (Pond)]</a:t>
            </a:r>
          </a:p>
        </p:txBody>
      </p:sp>
      <p:sp>
        <p:nvSpPr>
          <p:cNvPr id="46" name="ItemCard"/>
          <p:cNvSpPr txBox="1"/>
          <p:nvPr/>
        </p:nvSpPr>
        <p:spPr>
          <a:xfrm>
            <a:off x="8142717" y="1965960"/>
            <a:ext cx="3325368" cy="969264"/>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Kolam Renang / Kolam Hiasan Besar (Pool)</a:t>
            </a:r>
          </a:p>
        </p:txBody>
      </p:sp>
      <p:sp>
        <p:nvSpPr>
          <p:cNvPr id="47"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Kolam Renang/Kolam Hiasan Besar(Pool)]</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257800" cy="365760"/>
          </a:xfrm>
          <a:prstGeom prst="rect">
            <a:avLst/>
          </a:prstGeom>
          <a:noFill/>
        </p:spPr>
        <p:txBody>
          <a:bodyPr wrap="square">
            <a:noAutofit/>
          </a:bodyPr>
          <a:lstStyle/>
          <a:p>
            <a:pPr/>
            <a:r>
              <a:rPr lang="en-MY" sz="2000" b="1" dirty="0">
                <a:solidFill>
                  <a:schemeClr val="tx1">
                    <a:lumMod val="85000"/>
                    <a:lumOff val="15000"/>
                  </a:schemeClr>
                </a:solidFill>
              </a:rPr>
              <a:t>Kolam (Pond)</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212848"/>
            <a:ext cx="525780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450592"/>
            <a:ext cx="5257800" cy="429768"/>
          </a:xfrm>
          <a:prstGeom prst="rect">
            <a:avLst/>
          </a:prstGeom>
          <a:noFill/>
        </p:spPr>
        <p:txBody>
          <a:bodyPr wrap="square">
            <a:noAutofit/>
          </a:bodyPr>
          <a:lstStyle/>
          <a:p>
            <a:pPr/>
            <a:r>
              <a:rPr lang="en-MY" sz="1250" dirty="0">
                <a:solidFill>
                  <a:schemeClr val="tx1">
                    <a:lumMod val="85000"/>
                    <a:lumOff val="15000"/>
                  </a:schemeClr>
                </a:solidFill>
              </a:rPr>
              <a:t>Kawasan air statik atau perlahan, boleh menjadi</a:t>
            </a:r>
          </a:p>
          <a:p>
            <a:pPr/>
            <a:r>
              <a:rPr lang="en-MY" sz="1250" dirty="0">
                <a:solidFill>
                  <a:schemeClr val="tx1">
                    <a:lumMod val="85000"/>
                    <a:lumOff val="15000"/>
                  </a:schemeClr>
                </a:solidFill>
              </a:rPr>
              <a:t>kolam hiasan, kolam ikan, atau kolam refleksi.</a:t>
            </a:r>
          </a:p>
        </p:txBody>
      </p:sp>
      <p:sp>
        <p:nvSpPr>
          <p:cNvPr id="212" name="FHead"/>
          <p:cNvSpPr txBox="1"/>
          <p:nvPr/>
        </p:nvSpPr>
        <p:spPr>
          <a:xfrm>
            <a:off x="1490472" y="3044952"/>
            <a:ext cx="525780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282696"/>
            <a:ext cx="5257800" cy="219456"/>
          </a:xfrm>
          <a:prstGeom prst="rect">
            <a:avLst/>
          </a:prstGeom>
          <a:noFill/>
        </p:spPr>
        <p:txBody>
          <a:bodyPr wrap="square">
            <a:noAutofit/>
          </a:bodyPr>
          <a:lstStyle/>
          <a:p>
            <a:pPr/>
            <a:r>
              <a:rPr lang="en-MY" sz="1250" dirty="0">
                <a:solidFill>
                  <a:schemeClr val="tx1">
                    <a:lumMod val="85000"/>
                    <a:lumOff val="15000"/>
                  </a:schemeClr>
                </a:solidFill>
              </a:rPr>
              <a:t>Kolam (Pond)</a:t>
            </a:r>
          </a:p>
        </p:txBody>
      </p:sp>
      <p:sp>
        <p:nvSpPr>
          <p:cNvPr id="230" name="VisualPanel"/>
          <p:cNvSpPr txBox="1"/>
          <p:nvPr/>
        </p:nvSpPr>
        <p:spPr>
          <a:xfrm>
            <a:off x="6903720" y="2157984"/>
            <a:ext cx="3785616"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068312" y="2286000"/>
            <a:ext cx="3456432"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068312" y="2542032"/>
            <a:ext cx="3456432" cy="256032"/>
          </a:xfrm>
          <a:prstGeom prst="rect">
            <a:avLst/>
          </a:prstGeom>
          <a:noFill/>
        </p:spPr>
        <p:txBody>
          <a:bodyPr wrap="square">
            <a:noAutofit/>
          </a:bodyPr>
          <a:lstStyle/>
          <a:p>
            <a:pPr/>
            <a:r>
              <a:rPr lang="en-MY" sz="1150" dirty="0">
                <a:solidFill>
                  <a:schemeClr val="tx1">
                    <a:lumMod val="85000"/>
                    <a:lumOff val="15000"/>
                  </a:schemeClr>
                </a:solidFill>
              </a:rPr>
              <a:t>[Visual: Kolam (Pond)]</a:t>
            </a:r>
          </a:p>
        </p:txBody>
      </p:sp>
      <p:sp>
        <p:nvSpPr>
          <p:cNvPr id="233" name="VisualPanelArea"/>
          <p:cNvSpPr txBox="1"/>
          <p:nvPr/>
        </p:nvSpPr>
        <p:spPr>
          <a:xfrm>
            <a:off x="7068312" y="3758184"/>
            <a:ext cx="3456432"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Water Feature</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SCR_WATER_FEATURE_EXAMPLES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SCR_WATER_FEATURE_EXAMPLES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K5-PL06-T03-B02-WATER-FEATURE-ROW-02</a:t>
            </a:r>
          </a:p>
          <a:p>
            <a:r>
              <a:rPr lang="en-MY" sz="900" dirty="0">
                <a:solidFill>
                  <a:schemeClr val="tx1">
                    <a:lumMod val="85000"/>
                    <a:lumOff val="15000"/>
                  </a:schemeClr>
                </a:solidFill>
              </a:rPr>
              <a:t>    ms 241 / fizikal 260</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II_WATER_FEATURE_EX02  &lt;-  K5-PL06-T03-B02-WATER-FEATURE-ROW-02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2/3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a:t>
            </a:r>
            <a:r>
              <a:rPr lang="en-MY" sz="2400" b="1" i="1" dirty="0"/>
              <a:t>Water Feature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Water Feature</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Air Pancut (Fountain)</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Air Pancut (Fountain)]</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Kolam (Pond)</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Kolam (Pond)]</a:t>
            </a:r>
          </a:p>
        </p:txBody>
      </p:sp>
      <p:sp>
        <p:nvSpPr>
          <p:cNvPr id="46" name="ItemCard"/>
          <p:cNvSpPr txBox="1"/>
          <p:nvPr/>
        </p:nvSpPr>
        <p:spPr>
          <a:xfrm>
            <a:off x="8142717"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Kolam Renang / Kolam Hiasan Besar (Pool)</a:t>
            </a:r>
          </a:p>
        </p:txBody>
      </p:sp>
      <p:sp>
        <p:nvSpPr>
          <p:cNvPr id="47"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Kolam Renang/Kolam Hiasan Besar(Pool)]</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1" name="PopupTitle"/>
          <p:cNvSpPr txBox="1"/>
          <p:nvPr/>
        </p:nvSpPr>
        <p:spPr>
          <a:xfrm>
            <a:off x="1490472" y="1627632"/>
            <a:ext cx="5257800" cy="310896"/>
          </a:xfrm>
          <a:prstGeom prst="rect">
            <a:avLst/>
          </a:prstGeom>
          <a:noFill/>
        </p:spPr>
        <p:txBody>
          <a:bodyPr wrap="square">
            <a:noAutofit/>
          </a:bodyPr>
          <a:lstStyle/>
          <a:p>
            <a:pPr/>
            <a:r>
              <a:rPr lang="en-MY" sz="1600" b="1" dirty="0">
                <a:solidFill>
                  <a:schemeClr val="tx1">
                    <a:lumMod val="85000"/>
                    <a:lumOff val="15000"/>
                  </a:schemeClr>
                </a:solidFill>
              </a:rPr>
              <a:t>Kolam Renang / Kolam Hiasan Besar (Pool)</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0" name="FHead"/>
          <p:cNvSpPr txBox="1"/>
          <p:nvPr/>
        </p:nvSpPr>
        <p:spPr>
          <a:xfrm>
            <a:off x="1490472" y="2157984"/>
            <a:ext cx="5257800" cy="219456"/>
          </a:xfrm>
          <a:prstGeom prst="rect">
            <a:avLst/>
          </a:prstGeom>
          <a:noFill/>
        </p:spPr>
        <p:txBody>
          <a:bodyPr wrap="square">
            <a:noAutofit/>
          </a:bodyPr>
          <a:lstStyle/>
          <a:p>
            <a:pPr/>
            <a:r>
              <a:rPr lang="en-MY" sz="950" b="1" dirty="0">
                <a:solidFill>
                  <a:srgbClr val="7F6000"/>
                </a:solidFill>
              </a:rPr>
              <a:t>Fungsi dan Penerangan</a:t>
            </a:r>
          </a:p>
        </p:txBody>
      </p:sp>
      <p:sp>
        <p:nvSpPr>
          <p:cNvPr id="211" name="FBody"/>
          <p:cNvSpPr txBox="1"/>
          <p:nvPr/>
        </p:nvSpPr>
        <p:spPr>
          <a:xfrm>
            <a:off x="1490472" y="2395728"/>
            <a:ext cx="5257800" cy="644652"/>
          </a:xfrm>
          <a:prstGeom prst="rect">
            <a:avLst/>
          </a:prstGeom>
          <a:noFill/>
        </p:spPr>
        <p:txBody>
          <a:bodyPr wrap="square">
            <a:noAutofit/>
          </a:bodyPr>
          <a:lstStyle/>
          <a:p>
            <a:pPr/>
            <a:r>
              <a:rPr lang="en-MY" sz="1250" dirty="0">
                <a:solidFill>
                  <a:schemeClr val="tx1">
                    <a:lumMod val="85000"/>
                    <a:lumOff val="15000"/>
                  </a:schemeClr>
                </a:solidFill>
              </a:rPr>
              <a:t>Kolam berskala lebih besar, sama ada untuk berenang</a:t>
            </a:r>
          </a:p>
          <a:p>
            <a:pPr/>
            <a:r>
              <a:rPr lang="en-MY" sz="1250" dirty="0">
                <a:solidFill>
                  <a:schemeClr val="tx1">
                    <a:lumMod val="85000"/>
                    <a:lumOff val="15000"/>
                  </a:schemeClr>
                </a:solidFill>
              </a:rPr>
              <a:t>atau sebagai kolam hiasan dengan ciri-ciri reka</a:t>
            </a:r>
          </a:p>
          <a:p>
            <a:pPr/>
            <a:r>
              <a:rPr lang="en-MY" sz="1250" dirty="0">
                <a:solidFill>
                  <a:schemeClr val="tx1">
                    <a:lumMod val="85000"/>
                    <a:lumOff val="15000"/>
                  </a:schemeClr>
                </a:solidFill>
              </a:rPr>
              <a:t>bentuk yang kompleks.</a:t>
            </a:r>
          </a:p>
        </p:txBody>
      </p:sp>
      <p:sp>
        <p:nvSpPr>
          <p:cNvPr id="212" name="FHead"/>
          <p:cNvSpPr txBox="1"/>
          <p:nvPr/>
        </p:nvSpPr>
        <p:spPr>
          <a:xfrm>
            <a:off x="1490472" y="3204972"/>
            <a:ext cx="5257800" cy="219456"/>
          </a:xfrm>
          <a:prstGeom prst="rect">
            <a:avLst/>
          </a:prstGeom>
          <a:noFill/>
        </p:spPr>
        <p:txBody>
          <a:bodyPr wrap="square">
            <a:noAutofit/>
          </a:bodyPr>
          <a:lstStyle/>
          <a:p>
            <a:pPr/>
            <a:r>
              <a:rPr lang="en-MY" sz="950" b="1" dirty="0">
                <a:solidFill>
                  <a:srgbClr val="7F6000"/>
                </a:solidFill>
              </a:rPr>
              <a:t>Contoh</a:t>
            </a:r>
          </a:p>
        </p:txBody>
      </p:sp>
      <p:sp>
        <p:nvSpPr>
          <p:cNvPr id="213" name="FBody"/>
          <p:cNvSpPr txBox="1"/>
          <p:nvPr/>
        </p:nvSpPr>
        <p:spPr>
          <a:xfrm>
            <a:off x="1490472" y="3442716"/>
            <a:ext cx="5257800" cy="219456"/>
          </a:xfrm>
          <a:prstGeom prst="rect">
            <a:avLst/>
          </a:prstGeom>
          <a:noFill/>
        </p:spPr>
        <p:txBody>
          <a:bodyPr wrap="square">
            <a:noAutofit/>
          </a:bodyPr>
          <a:lstStyle/>
          <a:p>
            <a:pPr/>
            <a:r>
              <a:rPr lang="en-MY" sz="1250" dirty="0">
                <a:solidFill>
                  <a:schemeClr val="tx1">
                    <a:lumMod val="85000"/>
                    <a:lumOff val="15000"/>
                  </a:schemeClr>
                </a:solidFill>
              </a:rPr>
              <a:t>Kolam Renang/Kolam Hiasan Besar(Pool)</a:t>
            </a:r>
          </a:p>
        </p:txBody>
      </p:sp>
      <p:sp>
        <p:nvSpPr>
          <p:cNvPr id="230" name="VisualPanel"/>
          <p:cNvSpPr txBox="1"/>
          <p:nvPr/>
        </p:nvSpPr>
        <p:spPr>
          <a:xfrm>
            <a:off x="6903720" y="2157984"/>
            <a:ext cx="3785616" cy="1874520"/>
          </a:xfrm>
          <a:prstGeom prst="rect">
            <a:avLst/>
          </a:prstGeom>
          <a:solidFill>
            <a:srgbClr val="F7F7F7"/>
          </a:solidFill>
          <a:ln w="12700">
            <a:solidFill>
              <a:srgbClr val="BFBFBF"/>
            </a:solidFill>
          </a:ln>
        </p:spPr>
        <p:txBody>
          <a:bodyPr wrap="square">
            <a:noAutofit/>
          </a:bodyPr>
          <a:lstStyle/>
        </p:txBody>
      </p:sp>
      <p:sp>
        <p:nvSpPr>
          <p:cNvPr id="231" name="VisualPanelHead"/>
          <p:cNvSpPr txBox="1"/>
          <p:nvPr/>
        </p:nvSpPr>
        <p:spPr>
          <a:xfrm>
            <a:off x="7068312" y="2286000"/>
            <a:ext cx="3456432" cy="219456"/>
          </a:xfrm>
          <a:prstGeom prst="rect">
            <a:avLst/>
          </a:prstGeom>
          <a:noFill/>
        </p:spPr>
        <p:txBody>
          <a:bodyPr wrap="square">
            <a:noAutofit/>
          </a:bodyPr>
          <a:lstStyle/>
          <a:p>
            <a:pPr/>
            <a:r>
              <a:rPr lang="en-MY" sz="900" b="1" dirty="0">
                <a:solidFill>
                  <a:srgbClr val="7F6000"/>
                </a:solidFill>
              </a:rPr>
              <a:t>ARAHAN VISUAL — TIDAK DIBENAMKAN</a:t>
            </a:r>
          </a:p>
        </p:txBody>
      </p:sp>
      <p:sp>
        <p:nvSpPr>
          <p:cNvPr id="232" name="VisualPanelBody"/>
          <p:cNvSpPr txBox="1"/>
          <p:nvPr/>
        </p:nvSpPr>
        <p:spPr>
          <a:xfrm>
            <a:off x="7068312" y="2542032"/>
            <a:ext cx="3456432" cy="438912"/>
          </a:xfrm>
          <a:prstGeom prst="rect">
            <a:avLst/>
          </a:prstGeom>
          <a:noFill/>
        </p:spPr>
        <p:txBody>
          <a:bodyPr wrap="square">
            <a:noAutofit/>
          </a:bodyPr>
          <a:lstStyle/>
          <a:p>
            <a:pPr/>
            <a:r>
              <a:rPr lang="en-MY" sz="1150" dirty="0">
                <a:solidFill>
                  <a:schemeClr val="tx1">
                    <a:lumMod val="85000"/>
                    <a:lumOff val="15000"/>
                  </a:schemeClr>
                </a:solidFill>
              </a:rPr>
              <a:t>[Visual: Kolam Renang/Kolam Hiasan</a:t>
            </a:r>
          </a:p>
          <a:p>
            <a:pPr/>
            <a:r>
              <a:rPr lang="en-MY" sz="1150" dirty="0">
                <a:solidFill>
                  <a:schemeClr val="tx1">
                    <a:lumMod val="85000"/>
                    <a:lumOff val="15000"/>
                  </a:schemeClr>
                </a:solidFill>
              </a:rPr>
              <a:t>Besar(Pool)]</a:t>
            </a:r>
          </a:p>
        </p:txBody>
      </p:sp>
      <p:sp>
        <p:nvSpPr>
          <p:cNvPr id="233" name="VisualPanelArea"/>
          <p:cNvSpPr txBox="1"/>
          <p:nvPr/>
        </p:nvSpPr>
        <p:spPr>
          <a:xfrm>
            <a:off x="7068312" y="3758184"/>
            <a:ext cx="3456432" cy="201168"/>
          </a:xfrm>
          <a:prstGeom prst="rect">
            <a:avLst/>
          </a:prstGeom>
          <a:noFill/>
        </p:spPr>
        <p:txBody>
          <a:bodyPr wrap="square">
            <a:noAutofit/>
          </a:bodyPr>
          <a:lstStyle/>
          <a:p>
            <a:pPr/>
            <a:r>
              <a:rPr lang="en-MY" sz="800" dirty="0">
                <a:solidFill>
                  <a:srgbClr val="808080"/>
                </a:solidFill>
              </a:rPr>
              <a:t>Ruang visual produksi — aset tidak 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Water Feature</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COMPONENT_EXAMPLE_POPUP</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popup state</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SCR_WATER_FEATURE_EXAMPLES</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3</a:t>
            </a:r>
          </a:p>
          <a:p>
            <a:r>
              <a:rPr lang="en-MY" sz="900" dirty="0">
                <a:solidFill>
                  <a:schemeClr val="tx1">
                    <a:lumMod val="85000"/>
                    <a:lumOff val="15000"/>
                  </a:schemeClr>
                </a:solidFill>
              </a:rPr>
              <a:t>INDUK: SCR_WATER_FEATURE_EXAMPLES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K5-PL06-T03-B02-WATER-FEATURE-ROW-03</a:t>
            </a:r>
          </a:p>
          <a:p>
            <a:r>
              <a:rPr lang="en-MY" sz="900" dirty="0">
                <a:solidFill>
                  <a:schemeClr val="tx1">
                    <a:lumMod val="85000"/>
                    <a:lumOff val="15000"/>
                  </a:schemeClr>
                </a:solidFill>
              </a:rPr>
              <a:t>    ms 241 / fizikal 260</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II_WATER_FEATURE_EX03  &lt;-  K5-PL06-T03-B02-WATER-FEATURE-ROW-03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3/3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EXAMPLE_POPUP</a:t>
            </a:r>
          </a:p>
          <a:p>
            <a:r>
              <a:rPr lang="en-MY" sz="900" dirty="0">
                <a:solidFill>
                  <a:schemeClr val="tx1">
                    <a:lumMod val="85000"/>
                    <a:lumOff val="15000"/>
                  </a:schemeClr>
                </a:solidFill>
              </a:rPr>
              <a:t>  subjenis popup: EXAMPLE_POPUP</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BARIAH_EXEMPLAR_CONTOH</a:t>
            </a:r>
          </a:p>
          <a:p>
            <a:r>
              <a:rPr lang="en-MY" sz="900" dirty="0">
                <a:solidFill>
                  <a:schemeClr val="tx1">
                    <a:lumMod val="85000"/>
                    <a:lumOff val="15000"/>
                  </a:schemeClr>
                </a:solidFill>
              </a:rPr>
              <a:t>STATUS KEPUTUSAN: B02-D-01, B02-D-05</a:t>
            </a:r>
          </a:p>
          <a:p>
            <a:r>
              <a:rPr lang="en-MY" sz="900" dirty="0">
                <a:solidFill>
                  <a:schemeClr val="tx1">
                    <a:lumMod val="85000"/>
                    <a:lumOff val="15000"/>
                  </a:schemeClr>
                </a:solidFill>
              </a:rPr>
              <a:t>STATUS BELUM SELESAI: NONE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Contoh </a:t>
            </a:r>
            <a:r>
              <a:rPr lang="en-MY" sz="2400" b="1" i="1" dirty="0"/>
              <a:t>Water Feature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Contoh Water Feature</a:t>
            </a:r>
          </a:p>
        </p:txBody>
      </p:sp>
      <p:sp>
        <p:nvSpPr>
          <p:cNvPr id="25" name="Instr"/>
          <p:cNvSpPr txBox="1"/>
          <p:nvPr/>
        </p:nvSpPr>
        <p:spPr>
          <a:xfrm>
            <a:off x="723930" y="1207008"/>
            <a:ext cx="10744200" cy="384048"/>
          </a:xfrm>
          <a:prstGeom prst="rect">
            <a:avLst/>
          </a:prstGeom>
          <a:noFill/>
        </p:spPr>
        <p:txBody>
          <a:bodyPr wrap="square">
            <a:noAutofit/>
          </a:bodyPr>
          <a:lstStyle/>
          <a:p>
            <a:pPr algn="ctr"/>
            <a:r>
              <a:rPr lang="en-MY" sz="1600" dirty="0">
                <a:solidFill>
                  <a:schemeClr val="tx1">
                    <a:lumMod val="85000"/>
                    <a:lumOff val="15000"/>
                  </a:schemeClr>
                </a:solidFill>
              </a:rPr>
              <a:t>Klik pada setiap contoh untuk penjelasan lanjut.</a:t>
            </a:r>
          </a:p>
        </p:txBody>
      </p:sp>
      <p:sp>
        <p:nvSpPr>
          <p:cNvPr id="40" name="ItemCard"/>
          <p:cNvSpPr txBox="1"/>
          <p:nvPr/>
        </p:nvSpPr>
        <p:spPr>
          <a:xfrm>
            <a:off x="723885"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Air Pancut (Fountain)</a:t>
            </a:r>
          </a:p>
        </p:txBody>
      </p:sp>
      <p:sp>
        <p:nvSpPr>
          <p:cNvPr id="41" name="Tick"/>
          <p:cNvSpPr/>
          <p:nvPr/>
        </p:nvSpPr>
        <p:spPr>
          <a:xfrm>
            <a:off x="3646917"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VisualDir"/>
          <p:cNvSpPr txBox="1"/>
          <p:nvPr/>
        </p:nvSpPr>
        <p:spPr>
          <a:xfrm>
            <a:off x="760461" y="2971800"/>
            <a:ext cx="3252216" cy="457200"/>
          </a:xfrm>
          <a:prstGeom prst="rect">
            <a:avLst/>
          </a:prstGeom>
          <a:noFill/>
        </p:spPr>
        <p:txBody>
          <a:bodyPr wrap="square">
            <a:noAutofit/>
          </a:bodyPr>
          <a:lstStyle/>
          <a:p>
            <a:pPr/>
            <a:r>
              <a:rPr lang="en-MY" sz="800" dirty="0">
                <a:solidFill>
                  <a:srgbClr val="808080"/>
                </a:solidFill>
              </a:rPr>
              <a:t>[Visual: Air Pancut (Fountain)]</a:t>
            </a:r>
          </a:p>
        </p:txBody>
      </p:sp>
      <p:sp>
        <p:nvSpPr>
          <p:cNvPr id="43" name="ItemCard"/>
          <p:cNvSpPr txBox="1"/>
          <p:nvPr/>
        </p:nvSpPr>
        <p:spPr>
          <a:xfrm>
            <a:off x="4433301"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Kolam (Pond)</a:t>
            </a:r>
          </a:p>
        </p:txBody>
      </p:sp>
      <p:sp>
        <p:nvSpPr>
          <p:cNvPr id="44" name="Tick"/>
          <p:cNvSpPr/>
          <p:nvPr/>
        </p:nvSpPr>
        <p:spPr>
          <a:xfrm>
            <a:off x="7356333"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5" name="VisualDir"/>
          <p:cNvSpPr txBox="1"/>
          <p:nvPr/>
        </p:nvSpPr>
        <p:spPr>
          <a:xfrm>
            <a:off x="4469877" y="2971800"/>
            <a:ext cx="3252216" cy="457200"/>
          </a:xfrm>
          <a:prstGeom prst="rect">
            <a:avLst/>
          </a:prstGeom>
          <a:noFill/>
        </p:spPr>
        <p:txBody>
          <a:bodyPr wrap="square">
            <a:noAutofit/>
          </a:bodyPr>
          <a:lstStyle/>
          <a:p>
            <a:pPr/>
            <a:r>
              <a:rPr lang="en-MY" sz="800" dirty="0">
                <a:solidFill>
                  <a:srgbClr val="808080"/>
                </a:solidFill>
              </a:rPr>
              <a:t>[Visual: Kolam (Pond)]</a:t>
            </a:r>
          </a:p>
        </p:txBody>
      </p:sp>
      <p:sp>
        <p:nvSpPr>
          <p:cNvPr id="46" name="ItemCard"/>
          <p:cNvSpPr txBox="1"/>
          <p:nvPr/>
        </p:nvSpPr>
        <p:spPr>
          <a:xfrm>
            <a:off x="8142717" y="1965960"/>
            <a:ext cx="3325368" cy="969264"/>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Kolam Renang / Kolam Hiasan Besar (Pool)</a:t>
            </a:r>
          </a:p>
        </p:txBody>
      </p:sp>
      <p:sp>
        <p:nvSpPr>
          <p:cNvPr id="47" name="Tick"/>
          <p:cNvSpPr/>
          <p:nvPr/>
        </p:nvSpPr>
        <p:spPr>
          <a:xfrm>
            <a:off x="11065749" y="204825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VisualDir"/>
          <p:cNvSpPr txBox="1"/>
          <p:nvPr/>
        </p:nvSpPr>
        <p:spPr>
          <a:xfrm>
            <a:off x="8179293" y="2971800"/>
            <a:ext cx="3252216" cy="457200"/>
          </a:xfrm>
          <a:prstGeom prst="rect">
            <a:avLst/>
          </a:prstGeom>
          <a:noFill/>
        </p:spPr>
        <p:txBody>
          <a:bodyPr wrap="square">
            <a:noAutofit/>
          </a:bodyPr>
          <a:lstStyle/>
          <a:p>
            <a:pPr/>
            <a:r>
              <a:rPr lang="en-MY" sz="800" dirty="0">
                <a:solidFill>
                  <a:srgbClr val="808080"/>
                </a:solidFill>
              </a:rPr>
              <a:t>[Visual: Kolam Renang/Kolam Hiasan Besar(Pool)]</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Contoh Water Feature</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COMPONENT_EXAMPLES_ALL_VIEWED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all examples viewed, Kembali enabled</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examples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SCR_GM_STRUKTUR</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2</a:t>
            </a:r>
          </a:p>
          <a:p>
            <a:r>
              <a:rPr lang="en-MY" sz="900" dirty="0">
                <a:solidFill>
                  <a:schemeClr val="tx1">
                    <a:lumMod val="85000"/>
                    <a:lumOff val="15000"/>
                  </a:schemeClr>
                </a:solidFill>
              </a:rPr>
              <a:t>INDUK: SCR_WATER_FEATURE_EXAMPLES</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K5-PL06-T03-B02-WATER-FEATURE-ROW-01</a:t>
            </a:r>
          </a:p>
          <a:p>
            <a:r>
              <a:rPr lang="en-MY" sz="900" dirty="0">
                <a:solidFill>
                  <a:schemeClr val="tx1">
                    <a:lumMod val="85000"/>
                    <a:lumOff val="15000"/>
                  </a:schemeClr>
                </a:solidFill>
              </a:rPr>
              <a:t>    ms 241 / fizikal 260</a:t>
            </a:r>
          </a:p>
          <a:p>
            <a:r>
              <a:rPr lang="en-MY" sz="900" dirty="0">
                <a:solidFill>
                  <a:schemeClr val="tx1">
                    <a:lumMod val="85000"/>
                    <a:lumOff val="15000"/>
                  </a:schemeClr>
                </a:solidFill>
              </a:rPr>
              <a:t>  K5-PL06-T03-B02-WATER-FEATURE-ROW-02</a:t>
            </a:r>
          </a:p>
          <a:p>
            <a:r>
              <a:rPr lang="en-MY" sz="900" dirty="0">
                <a:solidFill>
                  <a:schemeClr val="tx1">
                    <a:lumMod val="85000"/>
                    <a:lumOff val="15000"/>
                  </a:schemeClr>
                </a:solidFill>
              </a:rPr>
              <a:t>    ms 241 / fizikal 260</a:t>
            </a:r>
          </a:p>
          <a:p>
            <a:r>
              <a:rPr lang="en-MY" sz="900" dirty="0">
                <a:solidFill>
                  <a:schemeClr val="tx1">
                    <a:lumMod val="85000"/>
                    <a:lumOff val="15000"/>
                  </a:schemeClr>
                </a:solidFill>
              </a:rPr>
              <a:t>  K5-PL06-T03-B02-WATER-FEATURE-ROW-03</a:t>
            </a:r>
          </a:p>
          <a:p>
            <a:r>
              <a:rPr lang="en-MY" sz="900" dirty="0">
                <a:solidFill>
                  <a:schemeClr val="tx1">
                    <a:lumMod val="85000"/>
                    <a:lumOff val="15000"/>
                  </a:schemeClr>
                </a:solidFill>
              </a:rPr>
              <a:t>    ms 241 / fizikal 260</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II_WATER_FEATURE_EX01  &lt;-  K5-PL06-T03-B02-WATER-FEATURE-ROW-01</a:t>
            </a:r>
          </a:p>
          <a:p>
            <a:r>
              <a:rPr lang="en-MY" sz="900" dirty="0">
                <a:solidFill>
                  <a:schemeClr val="tx1">
                    <a:lumMod val="85000"/>
                    <a:lumOff val="15000"/>
                  </a:schemeClr>
                </a:solidFill>
              </a:rPr>
              <a:t>  II_WATER_FEATURE_EX02  &lt;-  K5-PL06-T03-B02-WATER-FEATURE-ROW-02</a:t>
            </a:r>
          </a:p>
          <a:p>
            <a:r>
              <a:rPr lang="en-MY" sz="900" dirty="0">
                <a:solidFill>
                  <a:schemeClr val="tx1">
                    <a:lumMod val="85000"/>
                    <a:lumOff val="15000"/>
                  </a:schemeClr>
                </a:solidFill>
              </a:rPr>
              <a:t>  II_WATER_FEATURE_EX03  &lt;-  K5-PL06-T03-B02-WATER-FEATURE-ROW-03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Contoh boleh diklik dalam sebarang susunan.</a:t>
            </a:r>
          </a:p>
          <a:p>
            <a:r>
              <a:rPr lang="en-MY" sz="900" dirty="0">
                <a:solidFill>
                  <a:schemeClr val="tx1">
                    <a:lumMod val="85000"/>
                    <a:lumOff val="15000"/>
                  </a:schemeClr>
                </a:solidFill>
              </a:rPr>
              <a:t>  Setiap contoh membuka SATU popup. Popup ialah STATE.</a:t>
            </a:r>
          </a:p>
          <a:p>
            <a:r>
              <a:rPr lang="en-MY" sz="900" dirty="0">
                <a:solidFill>
                  <a:schemeClr val="tx1">
                    <a:lumMod val="85000"/>
                    <a:lumOff val="15000"/>
                  </a:schemeClr>
                </a:solidFill>
              </a:rPr>
              <a:t>  Menutup popup (ikon tutup) kembali ke skrin contoh yang sama.</a:t>
            </a:r>
          </a:p>
          <a:p>
            <a:r>
              <a:rPr lang="en-MY" sz="900" dirty="0">
                <a:solidFill>
                  <a:schemeClr val="tx1">
                    <a:lumMod val="85000"/>
                    <a:lumOff val="15000"/>
                  </a:schemeClr>
                </a:solidFill>
              </a:rPr>
              <a:t>  3/3 contoh dilihat.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B02-D-01, B02-D-07</a:t>
            </a:r>
          </a:p>
          <a:p>
            <a:r>
              <a:rPr lang="en-MY" sz="900" dirty="0">
                <a:solidFill>
                  <a:schemeClr val="tx1">
                    <a:lumMod val="85000"/>
                    <a:lumOff val="15000"/>
                  </a:schemeClr>
                </a:solidFill>
              </a:rPr>
              <a:t>STATUS BELUM SELESAI: NONE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Struktur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Struktur Taman</a:t>
            </a:r>
          </a:p>
        </p:txBody>
      </p:sp>
      <p:sp>
        <p:nvSpPr>
          <p:cNvPr id="25" name="Instr"/>
          <p:cNvSpPr txBox="1"/>
          <p:nvPr/>
        </p:nvSpPr>
        <p:spPr>
          <a:xfrm>
            <a:off x="723930" y="1051560"/>
            <a:ext cx="10744200" cy="365760"/>
          </a:xfrm>
          <a:prstGeom prst="rect">
            <a:avLst/>
          </a:prstGeom>
          <a:noFill/>
        </p:spPr>
        <p:txBody>
          <a:bodyPr wrap="square">
            <a:noAutofit/>
          </a:bodyPr>
          <a:lstStyle/>
          <a:p>
            <a:pPr algn="ctr"/>
            <a:r>
              <a:rPr lang="en-MY" sz="1600" dirty="0">
                <a:solidFill>
                  <a:schemeClr val="tx1">
                    <a:lumMod val="85000"/>
                    <a:lumOff val="15000"/>
                  </a:schemeClr>
                </a:solidFill>
              </a:rPr>
              <a:t>Klik pada setiap struktur untuk penjelasan lanjut.</a:t>
            </a:r>
          </a:p>
        </p:txBody>
      </p:sp>
      <p:sp>
        <p:nvSpPr>
          <p:cNvPr id="40" name="ItemCard"/>
          <p:cNvSpPr txBox="1"/>
          <p:nvPr/>
        </p:nvSpPr>
        <p:spPr>
          <a:xfrm>
            <a:off x="2174397" y="1508760"/>
            <a:ext cx="3598164" cy="1819747"/>
          </a:xfrm>
          <a:prstGeom prst="rect">
            <a:avLst/>
          </a:prstGeom>
          <a:solidFill>
            <a:srgbClr val="E8F5E9"/>
          </a:solidFill>
          <a:ln w="28575">
            <a:solidFill>
              <a:srgbClr val="2E7D32"/>
            </a:solidFill>
          </a:ln>
        </p:spPr>
        <p:txBody>
          <a:bodyPr wrap="square" anchor="ctr">
            <a:noAutofit/>
          </a:bodyPr>
          <a:lstStyle/>
          <a:p>
            <a:pPr algn="ctr"/>
            <a:r>
              <a:rPr lang="en-MY" sz="1600" b="1" dirty="0">
                <a:solidFill>
                  <a:schemeClr val="tx1">
                    <a:lumMod val="85000"/>
                    <a:lumOff val="15000"/>
                  </a:schemeClr>
                </a:solidFill>
              </a:rPr>
              <a:t>Struktur Persisir Air</a:t>
            </a:r>
          </a:p>
        </p:txBody>
      </p:sp>
      <p:sp>
        <p:nvSpPr>
          <p:cNvPr id="41" name="Tick"/>
          <p:cNvSpPr/>
          <p:nvPr/>
        </p:nvSpPr>
        <p:spPr>
          <a:xfrm>
            <a:off x="5297073" y="1618488"/>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419408" y="1508760"/>
            <a:ext cx="3598164" cy="1819747"/>
          </a:xfrm>
          <a:prstGeom prst="rect">
            <a:avLst/>
          </a:prstGeom>
          <a:solidFill>
            <a:srgbClr val="E8F5E9"/>
          </a:solidFill>
          <a:ln w="28575">
            <a:solidFill>
              <a:srgbClr val="2E7D32"/>
            </a:solidFill>
          </a:ln>
        </p:spPr>
        <p:txBody>
          <a:bodyPr wrap="square" anchor="ctr">
            <a:noAutofit/>
          </a:bodyPr>
          <a:lstStyle/>
          <a:p>
            <a:pPr algn="ctr"/>
            <a:r>
              <a:rPr lang="en-MY" sz="1600" b="1" dirty="0">
                <a:solidFill>
                  <a:schemeClr val="tx1">
                    <a:lumMod val="85000"/>
                    <a:lumOff val="15000"/>
                  </a:schemeClr>
                </a:solidFill>
              </a:rPr>
              <a:t>Struktur Teduhan</a:t>
            </a:r>
          </a:p>
        </p:txBody>
      </p:sp>
      <p:sp>
        <p:nvSpPr>
          <p:cNvPr id="43" name="Tick"/>
          <p:cNvSpPr/>
          <p:nvPr/>
        </p:nvSpPr>
        <p:spPr>
          <a:xfrm>
            <a:off x="9542084" y="1618488"/>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2174397" y="4031224"/>
            <a:ext cx="3598164" cy="1819747"/>
          </a:xfrm>
          <a:prstGeom prst="rect">
            <a:avLst/>
          </a:prstGeom>
          <a:solidFill>
            <a:srgbClr val="E8F5E9"/>
          </a:solidFill>
          <a:ln w="28575">
            <a:solidFill>
              <a:srgbClr val="2E7D32"/>
            </a:solidFill>
          </a:ln>
        </p:spPr>
        <p:txBody>
          <a:bodyPr wrap="square" anchor="ctr">
            <a:noAutofit/>
          </a:bodyPr>
          <a:lstStyle/>
          <a:p>
            <a:pPr algn="ctr"/>
            <a:r>
              <a:rPr lang="en-MY" sz="1600" b="1" dirty="0">
                <a:solidFill>
                  <a:schemeClr val="tx1">
                    <a:lumMod val="85000"/>
                    <a:lumOff val="15000"/>
                  </a:schemeClr>
                </a:solidFill>
              </a:rPr>
              <a:t>Kemudahan Awam</a:t>
            </a:r>
          </a:p>
        </p:txBody>
      </p:sp>
      <p:sp>
        <p:nvSpPr>
          <p:cNvPr id="45" name="Tick"/>
          <p:cNvSpPr/>
          <p:nvPr/>
        </p:nvSpPr>
        <p:spPr>
          <a:xfrm>
            <a:off x="5297073" y="4140952"/>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6419408" y="4031224"/>
            <a:ext cx="3598164" cy="1819747"/>
          </a:xfrm>
          <a:prstGeom prst="rect">
            <a:avLst/>
          </a:prstGeom>
          <a:solidFill>
            <a:srgbClr val="E8F5E9"/>
          </a:solidFill>
          <a:ln w="28575">
            <a:solidFill>
              <a:srgbClr val="2E7D32"/>
            </a:solidFill>
          </a:ln>
        </p:spPr>
        <p:txBody>
          <a:bodyPr wrap="square" anchor="ctr">
            <a:noAutofit/>
          </a:bodyPr>
          <a:lstStyle/>
          <a:p>
            <a:pPr algn="ctr"/>
            <a:r>
              <a:rPr lang="en-MY" sz="1600" b="1" i="1" dirty="0">
                <a:solidFill>
                  <a:schemeClr val="tx1">
                    <a:lumMod val="85000"/>
                    <a:lumOff val="15000"/>
                  </a:schemeClr>
                </a:solidFill>
              </a:rPr>
              <a:t>Water Feature</a:t>
            </a:r>
          </a:p>
        </p:txBody>
      </p:sp>
      <p:sp>
        <p:nvSpPr>
          <p:cNvPr id="47" name="Tick"/>
          <p:cNvSpPr/>
          <p:nvPr/>
        </p:nvSpPr>
        <p:spPr>
          <a:xfrm>
            <a:off x="9542084" y="4140952"/>
            <a:ext cx="359999" cy="359999"/>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Struktur Taman — papan kumpulan</a:t>
            </a:r>
          </a:p>
          <a:p>
            <a:r>
              <a:rPr lang="en-MY" sz="900" dirty="0">
                <a:solidFill>
                  <a:schemeClr val="tx1">
                    <a:lumMod val="85000"/>
                    <a:lumOff val="15000"/>
                  </a:schemeClr>
                </a:solidFill>
              </a:rPr>
              <a:t>KELUARGA PELAKSANAAN: FAMILY_S</a:t>
            </a:r>
          </a:p>
          <a:p>
            <a:r>
              <a:rPr lang="en-MY" sz="900" dirty="0">
                <a:solidFill>
                  <a:schemeClr val="tx1">
                    <a:lumMod val="85000"/>
                    <a:lumOff val="15000"/>
                  </a:schemeClr>
                </a:solidFill>
              </a:rPr>
              <a:t>PERANAN HALAMAN SEMAKAN: GROUP_MASTER_GROUP_COMPLETE</a:t>
            </a:r>
          </a:p>
          <a:p>
            <a:r>
              <a:rPr lang="en-MY" sz="900" dirty="0">
                <a:solidFill>
                  <a:schemeClr val="tx1">
                    <a:lumMod val="85000"/>
                    <a:lumOff val="15000"/>
                  </a:schemeClr>
                </a:solidFill>
              </a:rPr>
              <a:t/>
            </a:r>
          </a:p>
          <a:p>
            <a:r>
              <a:rPr lang="en-MY" sz="900" dirty="0">
                <a:solidFill>
                  <a:schemeClr val="tx1">
                    <a:lumMod val="85000"/>
                    <a:lumOff val="15000"/>
                  </a:schemeClr>
                </a:solidFill>
              </a:rPr>
              <a:t>BUKTI: group complete, shell Next enabled</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[enabled — group_complete satisfied]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GROUP</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SCR_GM_STRUKTUR</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Empat kad komponen. Boleh diklik dalam sebarang susunan.</a:t>
            </a:r>
          </a:p>
          <a:p>
            <a:r>
              <a:rPr lang="en-MY" sz="900" dirty="0">
                <a:solidFill>
                  <a:schemeClr val="tx1">
                    <a:lumMod val="85000"/>
                    <a:lumOff val="15000"/>
                  </a:schemeClr>
                </a:solidFill>
              </a:rPr>
              <a:t>  Setiap komponen yang selesai menerima tik.</a:t>
            </a:r>
          </a:p>
          <a:p>
            <a:r>
              <a:rPr lang="en-MY" sz="900" dirty="0">
                <a:solidFill>
                  <a:schemeClr val="tx1">
                    <a:lumMod val="85000"/>
                    <a:lumOff val="15000"/>
                  </a:schemeClr>
                </a:solidFill>
              </a:rPr>
              <a:t>  Kemajuan kumpulan dikawal oleh Seterusnya shell LMS.</a:t>
            </a:r>
          </a:p>
          <a:p>
            <a:r>
              <a:rPr lang="en-MY" sz="900" dirty="0">
                <a:solidFill>
                  <a:schemeClr val="tx1">
                    <a:lumMod val="85000"/>
                    <a:lumOff val="15000"/>
                  </a:schemeClr>
                </a:solidFill>
              </a:rPr>
              <a:t>  TIADA butang Seterusnya tersuai dilukis pada kanvas pelajar.</a:t>
            </a:r>
          </a:p>
          <a:p>
            <a:r>
              <a:rPr lang="en-MY" sz="900" b="1" dirty="0">
                <a:solidFill>
                  <a:schemeClr val="tx1">
                    <a:lumMod val="85000"/>
                    <a:lumOff val="15000"/>
                  </a:schemeClr>
                </a:solidFill>
              </a:rPr>
              <a:t>SASARAN KEMBALI:</a:t>
            </a:r>
          </a:p>
          <a:p>
            <a:r>
              <a:rPr lang="en-MY" sz="900" dirty="0">
                <a:solidFill>
                  <a:schemeClr val="tx1">
                    <a:lumMod val="85000"/>
                    <a:lumOff val="15000"/>
                  </a:schemeClr>
                </a:solidFill>
              </a:rPr>
              <a:t>  Skrin contoh Family S kembali ke sini.</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B02-D-01, B02-D-04, B02-D-07</a:t>
            </a:r>
          </a:p>
          <a:p>
            <a:r>
              <a:rPr lang="en-MY" sz="900" dirty="0">
                <a:solidFill>
                  <a:schemeClr val="tx1">
                    <a:lumMod val="85000"/>
                    <a:lumOff val="15000"/>
                  </a:schemeClr>
                </a:solidFill>
              </a:rPr>
              <a:t>STATUS BELUM SELESAI: NONE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Perabot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2" name="Body"/>
          <p:cNvSpPr txBox="1"/>
          <p:nvPr/>
        </p:nvSpPr>
        <p:spPr>
          <a:xfrm>
            <a:off x="723930" y="1115568"/>
            <a:ext cx="10744200" cy="786384"/>
          </a:xfrm>
          <a:prstGeom prst="rect">
            <a:avLst/>
          </a:prstGeom>
          <a:noFill/>
        </p:spPr>
        <p:txBody>
          <a:bodyPr wrap="square">
            <a:noAutofit/>
          </a:bodyPr>
          <a:lstStyle/>
          <a:p>
            <a:pPr/>
            <a:r>
              <a:rPr lang="en-MY" sz="1200" dirty="0">
                <a:solidFill>
                  <a:schemeClr val="tx1">
                    <a:lumMod val="85000"/>
                    <a:lumOff val="15000"/>
                  </a:schemeClr>
                </a:solidFill>
              </a:rPr>
              <a:t>Perabot taman merujuk kepada elemen-elemen boleh alih atau kekal yang ditempatkan di ruang landskap untuk meningkatkan</a:t>
            </a:r>
          </a:p>
          <a:p>
            <a:pPr/>
            <a:r>
              <a:rPr lang="en-MY" sz="1200" dirty="0">
                <a:solidFill>
                  <a:schemeClr val="tx1">
                    <a:lumMod val="85000"/>
                    <a:lumOff val="15000"/>
                  </a:schemeClr>
                </a:solidFill>
              </a:rPr>
              <a:t>fungsi, keselesaan, dan estetika. Ini melibatkan pemahaman tentang bahan, ketahanan, ergonomik, dan kesesuaian reka</a:t>
            </a:r>
          </a:p>
          <a:p>
            <a:pPr/>
            <a:r>
              <a:rPr lang="en-MY" sz="1200" dirty="0">
                <a:solidFill>
                  <a:schemeClr val="tx1">
                    <a:lumMod val="85000"/>
                    <a:lumOff val="15000"/>
                  </a:schemeClr>
                </a:solidFill>
              </a:rPr>
              <a:t>bentuk dengan tema keseluruhan landskap. Terdapat lima jenis perabot taman: Kerusi Taman, Papan Tanda, Tong Sampah,</a:t>
            </a:r>
          </a:p>
        </p:txBody>
      </p:sp>
      <p:sp>
        <p:nvSpPr>
          <p:cNvPr id="80" name="ComponentCard"/>
          <p:cNvSpPr txBox="1"/>
          <p:nvPr/>
        </p:nvSpPr>
        <p:spPr>
          <a:xfrm>
            <a:off x="723885" y="1993392"/>
            <a:ext cx="3325368" cy="1847088"/>
          </a:xfrm>
          <a:prstGeom prst="rect">
            <a:avLst/>
          </a:prstGeom>
          <a:solidFill>
            <a:srgbClr val="F2F2F2"/>
          </a:solidFill>
          <a:ln w="12700">
            <a:solidFill>
              <a:srgbClr val="404040"/>
            </a:solidFill>
          </a:ln>
        </p:spPr>
        <p:txBody>
          <a:bodyPr wrap="square">
            <a:noAutofit/>
          </a:bodyPr>
          <a:lstStyle/>
        </p:txBody>
      </p:sp>
      <p:sp>
        <p:nvSpPr>
          <p:cNvPr id="81" name="ComponentVisual"/>
          <p:cNvSpPr txBox="1"/>
          <p:nvPr/>
        </p:nvSpPr>
        <p:spPr>
          <a:xfrm>
            <a:off x="851901" y="2121408"/>
            <a:ext cx="3069336" cy="969264"/>
          </a:xfrm>
          <a:prstGeom prst="rect">
            <a:avLst/>
          </a:prstGeom>
          <a:solidFill>
            <a:srgbClr val="FFFFFF"/>
          </a:solidFill>
          <a:ln w="9525">
            <a:solidFill>
              <a:srgbClr val="BFBFBF"/>
            </a:solidFill>
            <a:prstDash val="dash"/>
          </a:ln>
        </p:spPr>
        <p:txBody>
          <a:bodyPr wrap="square">
            <a:noAutofit/>
          </a:bodyPr>
          <a:lstStyle/>
        </p:txBody>
      </p:sp>
      <p:sp>
        <p:nvSpPr>
          <p:cNvPr id="82" name="ComponentVisualDir"/>
          <p:cNvSpPr txBox="1"/>
          <p:nvPr/>
        </p:nvSpPr>
        <p:spPr>
          <a:xfrm>
            <a:off x="925053" y="2212848"/>
            <a:ext cx="2923032" cy="804672"/>
          </a:xfrm>
          <a:prstGeom prst="rect">
            <a:avLst/>
          </a:prstGeom>
          <a:noFill/>
        </p:spPr>
        <p:txBody>
          <a:bodyPr wrap="square">
            <a:noAutofit/>
          </a:bodyPr>
          <a:lstStyle/>
          <a:p>
            <a:pPr/>
            <a:r>
              <a:rPr lang="en-MY" sz="750" dirty="0">
                <a:solidFill>
                  <a:srgbClr val="808080"/>
                </a:solidFill>
              </a:rPr>
              <a:t>ARAHAN VISUAL</a:t>
            </a:r>
          </a:p>
          <a:p>
            <a:pPr/>
            <a:r>
              <a:rPr lang="en-MY" sz="750" dirty="0">
                <a:solidFill>
                  <a:srgbClr val="808080"/>
                </a:solidFill>
              </a:rPr>
              <a:t>[Visual: Foto jadual</a:t>
            </a:r>
          </a:p>
          <a:p>
            <a:pPr/>
            <a:r>
              <a:rPr lang="en-MY" sz="750" dirty="0">
                <a:solidFill>
                  <a:srgbClr val="808080"/>
                </a:solidFill>
              </a:rPr>
              <a:t>spesifikasi Kerusi Kayu Keras,</a:t>
            </a:r>
          </a:p>
          <a:p>
            <a:pPr/>
            <a:r>
              <a:rPr lang="en-MY" sz="750" dirty="0">
                <a:solidFill>
                  <a:srgbClr val="808080"/>
                </a:solidFill>
              </a:rPr>
              <a:t>modul ms 242. Aset</a:t>
            </a:r>
          </a:p>
        </p:txBody>
      </p:sp>
      <p:sp>
        <p:nvSpPr>
          <p:cNvPr id="83" name="ComponentName"/>
          <p:cNvSpPr txBox="1"/>
          <p:nvPr/>
        </p:nvSpPr>
        <p:spPr>
          <a:xfrm>
            <a:off x="851901" y="3163824"/>
            <a:ext cx="3069336" cy="365760"/>
          </a:xfrm>
          <a:prstGeom prst="rect">
            <a:avLst/>
          </a:prstGeom>
          <a:noFill/>
        </p:spPr>
        <p:txBody>
          <a:bodyPr wrap="square">
            <a:noAutofit/>
          </a:bodyPr>
          <a:lstStyle/>
          <a:p>
            <a:pPr algn="ctr"/>
            <a:r>
              <a:rPr lang="en-MY" sz="1400" b="1" dirty="0">
                <a:solidFill>
                  <a:schemeClr val="tx1">
                    <a:lumMod val="85000"/>
                    <a:lumOff val="15000"/>
                  </a:schemeClr>
                </a:solidFill>
              </a:rPr>
              <a:t>Kerusi Taman</a:t>
            </a:r>
          </a:p>
        </p:txBody>
      </p:sp>
      <p:sp>
        <p:nvSpPr>
          <p:cNvPr id="84" name="ComponentCue"/>
          <p:cNvSpPr txBox="1"/>
          <p:nvPr/>
        </p:nvSpPr>
        <p:spPr>
          <a:xfrm>
            <a:off x="851901" y="3529584"/>
            <a:ext cx="3069336" cy="256032"/>
          </a:xfrm>
          <a:prstGeom prst="rect">
            <a:avLst/>
          </a:prstGeom>
          <a:noFill/>
        </p:spPr>
        <p:txBody>
          <a:bodyPr wrap="square">
            <a:noAutofit/>
          </a:bodyPr>
          <a:lstStyle/>
          <a:p>
            <a:pPr algn="ctr"/>
            <a:r>
              <a:rPr lang="en-MY" sz="900" dirty="0">
                <a:solidFill>
                  <a:srgbClr val="808080"/>
                </a:solidFill>
              </a:rPr>
              <a:t>Halaman seterusnya</a:t>
            </a:r>
          </a:p>
        </p:txBody>
      </p:sp>
      <p:sp>
        <p:nvSpPr>
          <p:cNvPr id="85" name="ComponentCard"/>
          <p:cNvSpPr txBox="1"/>
          <p:nvPr/>
        </p:nvSpPr>
        <p:spPr>
          <a:xfrm>
            <a:off x="4433301" y="1993392"/>
            <a:ext cx="3325368" cy="1847088"/>
          </a:xfrm>
          <a:prstGeom prst="rect">
            <a:avLst/>
          </a:prstGeom>
          <a:solidFill>
            <a:srgbClr val="F2F2F2"/>
          </a:solidFill>
          <a:ln w="12700">
            <a:solidFill>
              <a:srgbClr val="404040"/>
            </a:solidFill>
          </a:ln>
        </p:spPr>
        <p:txBody>
          <a:bodyPr wrap="square">
            <a:noAutofit/>
          </a:bodyPr>
          <a:lstStyle/>
        </p:txBody>
      </p:sp>
      <p:sp>
        <p:nvSpPr>
          <p:cNvPr id="86" name="ComponentVisual"/>
          <p:cNvSpPr txBox="1"/>
          <p:nvPr/>
        </p:nvSpPr>
        <p:spPr>
          <a:xfrm>
            <a:off x="4561317" y="2121408"/>
            <a:ext cx="3069336" cy="969264"/>
          </a:xfrm>
          <a:prstGeom prst="rect">
            <a:avLst/>
          </a:prstGeom>
          <a:solidFill>
            <a:srgbClr val="FFFFFF"/>
          </a:solidFill>
          <a:ln w="9525">
            <a:solidFill>
              <a:srgbClr val="BFBFBF"/>
            </a:solidFill>
            <a:prstDash val="dash"/>
          </a:ln>
        </p:spPr>
        <p:txBody>
          <a:bodyPr wrap="square">
            <a:noAutofit/>
          </a:bodyPr>
          <a:lstStyle/>
        </p:txBody>
      </p:sp>
      <p:sp>
        <p:nvSpPr>
          <p:cNvPr id="87" name="ComponentVisualDir"/>
          <p:cNvSpPr txBox="1"/>
          <p:nvPr/>
        </p:nvSpPr>
        <p:spPr>
          <a:xfrm>
            <a:off x="4634469" y="2212848"/>
            <a:ext cx="2923032" cy="804672"/>
          </a:xfrm>
          <a:prstGeom prst="rect">
            <a:avLst/>
          </a:prstGeom>
          <a:noFill/>
        </p:spPr>
        <p:txBody>
          <a:bodyPr wrap="square">
            <a:noAutofit/>
          </a:bodyPr>
          <a:lstStyle/>
          <a:p>
            <a:pPr/>
            <a:r>
              <a:rPr lang="en-MY" sz="750" dirty="0">
                <a:solidFill>
                  <a:srgbClr val="808080"/>
                </a:solidFill>
              </a:rPr>
              <a:t>ARAHAN VISUAL</a:t>
            </a:r>
          </a:p>
          <a:p>
            <a:pPr/>
            <a:r>
              <a:rPr lang="en-MY" sz="750" dirty="0">
                <a:solidFill>
                  <a:srgbClr val="808080"/>
                </a:solidFill>
              </a:rPr>
              <a:t>[Visual: Rajah 25 — Lukisan</a:t>
            </a:r>
          </a:p>
          <a:p>
            <a:pPr/>
            <a:r>
              <a:rPr lang="en-MY" sz="750" dirty="0">
                <a:solidFill>
                  <a:srgbClr val="808080"/>
                </a:solidFill>
              </a:rPr>
              <a:t>Spesifikasi Papan Tanda</a:t>
            </a:r>
          </a:p>
          <a:p>
            <a:pPr/>
            <a:r>
              <a:rPr lang="en-MY" sz="750" dirty="0">
                <a:solidFill>
                  <a:srgbClr val="808080"/>
                </a:solidFill>
              </a:rPr>
              <a:t>Informasi, dan Rajah 26 —</a:t>
            </a:r>
          </a:p>
        </p:txBody>
      </p:sp>
      <p:sp>
        <p:nvSpPr>
          <p:cNvPr id="88" name="ComponentName"/>
          <p:cNvSpPr txBox="1"/>
          <p:nvPr/>
        </p:nvSpPr>
        <p:spPr>
          <a:xfrm>
            <a:off x="4561317" y="3163824"/>
            <a:ext cx="3069336" cy="365760"/>
          </a:xfrm>
          <a:prstGeom prst="rect">
            <a:avLst/>
          </a:prstGeom>
          <a:noFill/>
        </p:spPr>
        <p:txBody>
          <a:bodyPr wrap="square">
            <a:noAutofit/>
          </a:bodyPr>
          <a:lstStyle/>
          <a:p>
            <a:pPr algn="ctr"/>
            <a:r>
              <a:rPr lang="en-MY" sz="1400" b="1" dirty="0">
                <a:solidFill>
                  <a:schemeClr val="tx1">
                    <a:lumMod val="85000"/>
                    <a:lumOff val="15000"/>
                  </a:schemeClr>
                </a:solidFill>
              </a:rPr>
              <a:t>Papan Tanda</a:t>
            </a:r>
          </a:p>
        </p:txBody>
      </p:sp>
      <p:sp>
        <p:nvSpPr>
          <p:cNvPr id="89" name="ComponentCue"/>
          <p:cNvSpPr txBox="1"/>
          <p:nvPr/>
        </p:nvSpPr>
        <p:spPr>
          <a:xfrm>
            <a:off x="4561317" y="3529584"/>
            <a:ext cx="3069336" cy="256032"/>
          </a:xfrm>
          <a:prstGeom prst="rect">
            <a:avLst/>
          </a:prstGeom>
          <a:noFill/>
        </p:spPr>
        <p:txBody>
          <a:bodyPr wrap="square">
            <a:noAutofit/>
          </a:bodyPr>
          <a:lstStyle/>
          <a:p>
            <a:pPr algn="ctr"/>
            <a:r>
              <a:rPr lang="en-MY" sz="900" dirty="0">
                <a:solidFill>
                  <a:srgbClr val="808080"/>
                </a:solidFill>
              </a:rPr>
              <a:t>Halaman seterusnya</a:t>
            </a:r>
          </a:p>
        </p:txBody>
      </p:sp>
      <p:sp>
        <p:nvSpPr>
          <p:cNvPr id="90" name="ComponentCard"/>
          <p:cNvSpPr txBox="1"/>
          <p:nvPr/>
        </p:nvSpPr>
        <p:spPr>
          <a:xfrm>
            <a:off x="8142717" y="1993392"/>
            <a:ext cx="3325368" cy="1847088"/>
          </a:xfrm>
          <a:prstGeom prst="rect">
            <a:avLst/>
          </a:prstGeom>
          <a:solidFill>
            <a:srgbClr val="F2F2F2"/>
          </a:solidFill>
          <a:ln w="12700">
            <a:solidFill>
              <a:srgbClr val="404040"/>
            </a:solidFill>
          </a:ln>
        </p:spPr>
        <p:txBody>
          <a:bodyPr wrap="square">
            <a:noAutofit/>
          </a:bodyPr>
          <a:lstStyle/>
        </p:txBody>
      </p:sp>
      <p:sp>
        <p:nvSpPr>
          <p:cNvPr id="91" name="ComponentVisual"/>
          <p:cNvSpPr txBox="1"/>
          <p:nvPr/>
        </p:nvSpPr>
        <p:spPr>
          <a:xfrm>
            <a:off x="8270733" y="2121408"/>
            <a:ext cx="3069336" cy="969264"/>
          </a:xfrm>
          <a:prstGeom prst="rect">
            <a:avLst/>
          </a:prstGeom>
          <a:solidFill>
            <a:srgbClr val="FFFFFF"/>
          </a:solidFill>
          <a:ln w="9525">
            <a:solidFill>
              <a:srgbClr val="BFBFBF"/>
            </a:solidFill>
            <a:prstDash val="dash"/>
          </a:ln>
        </p:spPr>
        <p:txBody>
          <a:bodyPr wrap="square">
            <a:noAutofit/>
          </a:bodyPr>
          <a:lstStyle/>
        </p:txBody>
      </p:sp>
      <p:sp>
        <p:nvSpPr>
          <p:cNvPr id="92" name="ComponentVisualDir"/>
          <p:cNvSpPr txBox="1"/>
          <p:nvPr/>
        </p:nvSpPr>
        <p:spPr>
          <a:xfrm>
            <a:off x="8343885" y="2212848"/>
            <a:ext cx="2923032" cy="804672"/>
          </a:xfrm>
          <a:prstGeom prst="rect">
            <a:avLst/>
          </a:prstGeom>
          <a:noFill/>
        </p:spPr>
        <p:txBody>
          <a:bodyPr wrap="square">
            <a:noAutofit/>
          </a:bodyPr>
          <a:lstStyle/>
          <a:p>
            <a:pPr/>
            <a:r>
              <a:rPr lang="en-MY" sz="750" dirty="0">
                <a:solidFill>
                  <a:srgbClr val="808080"/>
                </a:solidFill>
              </a:rPr>
              <a:t>ARAHAN VISUAL</a:t>
            </a:r>
          </a:p>
          <a:p>
            <a:pPr/>
            <a:r>
              <a:rPr lang="en-MY" sz="750" dirty="0">
                <a:solidFill>
                  <a:srgbClr val="808080"/>
                </a:solidFill>
              </a:rPr>
              <a:t>[Visual: Foto jadual</a:t>
            </a:r>
          </a:p>
          <a:p>
            <a:pPr/>
            <a:r>
              <a:rPr lang="en-MY" sz="750" dirty="0">
                <a:solidFill>
                  <a:srgbClr val="808080"/>
                </a:solidFill>
              </a:rPr>
              <a:t>spesifikasi Tong Sampah Logam,</a:t>
            </a:r>
          </a:p>
          <a:p>
            <a:pPr/>
            <a:r>
              <a:rPr lang="en-MY" sz="750" dirty="0">
                <a:solidFill>
                  <a:srgbClr val="808080"/>
                </a:solidFill>
              </a:rPr>
              <a:t>modul ms 246. Aset</a:t>
            </a:r>
          </a:p>
        </p:txBody>
      </p:sp>
      <p:sp>
        <p:nvSpPr>
          <p:cNvPr id="93" name="ComponentName"/>
          <p:cNvSpPr txBox="1"/>
          <p:nvPr/>
        </p:nvSpPr>
        <p:spPr>
          <a:xfrm>
            <a:off x="8270733" y="3163824"/>
            <a:ext cx="3069336" cy="365760"/>
          </a:xfrm>
          <a:prstGeom prst="rect">
            <a:avLst/>
          </a:prstGeom>
          <a:noFill/>
        </p:spPr>
        <p:txBody>
          <a:bodyPr wrap="square">
            <a:noAutofit/>
          </a:bodyPr>
          <a:lstStyle/>
          <a:p>
            <a:pPr algn="ctr"/>
            <a:r>
              <a:rPr lang="en-MY" sz="1400" b="1" dirty="0">
                <a:solidFill>
                  <a:schemeClr val="tx1">
                    <a:lumMod val="85000"/>
                    <a:lumOff val="15000"/>
                  </a:schemeClr>
                </a:solidFill>
              </a:rPr>
              <a:t>Tong Sampah</a:t>
            </a:r>
          </a:p>
        </p:txBody>
      </p:sp>
      <p:sp>
        <p:nvSpPr>
          <p:cNvPr id="94" name="ComponentCue"/>
          <p:cNvSpPr txBox="1"/>
          <p:nvPr/>
        </p:nvSpPr>
        <p:spPr>
          <a:xfrm>
            <a:off x="8270733" y="3529584"/>
            <a:ext cx="3069336" cy="256032"/>
          </a:xfrm>
          <a:prstGeom prst="rect">
            <a:avLst/>
          </a:prstGeom>
          <a:noFill/>
        </p:spPr>
        <p:txBody>
          <a:bodyPr wrap="square">
            <a:noAutofit/>
          </a:bodyPr>
          <a:lstStyle/>
          <a:p>
            <a:pPr algn="ctr"/>
            <a:r>
              <a:rPr lang="en-MY" sz="900" dirty="0">
                <a:solidFill>
                  <a:srgbClr val="808080"/>
                </a:solidFill>
              </a:rPr>
              <a:t>Halaman seterusnya</a:t>
            </a:r>
          </a:p>
        </p:txBody>
      </p:sp>
      <p:sp>
        <p:nvSpPr>
          <p:cNvPr id="95" name="ComponentCard"/>
          <p:cNvSpPr txBox="1"/>
          <p:nvPr/>
        </p:nvSpPr>
        <p:spPr>
          <a:xfrm>
            <a:off x="2578593" y="4114800"/>
            <a:ext cx="3325368" cy="1847088"/>
          </a:xfrm>
          <a:prstGeom prst="rect">
            <a:avLst/>
          </a:prstGeom>
          <a:solidFill>
            <a:srgbClr val="F2F2F2"/>
          </a:solidFill>
          <a:ln w="12700">
            <a:solidFill>
              <a:srgbClr val="404040"/>
            </a:solidFill>
          </a:ln>
        </p:spPr>
        <p:txBody>
          <a:bodyPr wrap="square">
            <a:noAutofit/>
          </a:bodyPr>
          <a:lstStyle/>
        </p:txBody>
      </p:sp>
      <p:sp>
        <p:nvSpPr>
          <p:cNvPr id="96" name="ComponentVisual"/>
          <p:cNvSpPr txBox="1"/>
          <p:nvPr/>
        </p:nvSpPr>
        <p:spPr>
          <a:xfrm>
            <a:off x="2706609" y="4242816"/>
            <a:ext cx="3069336" cy="969264"/>
          </a:xfrm>
          <a:prstGeom prst="rect">
            <a:avLst/>
          </a:prstGeom>
          <a:solidFill>
            <a:srgbClr val="FFFFFF"/>
          </a:solidFill>
          <a:ln w="9525">
            <a:solidFill>
              <a:srgbClr val="BFBFBF"/>
            </a:solidFill>
            <a:prstDash val="dash"/>
          </a:ln>
        </p:spPr>
        <p:txBody>
          <a:bodyPr wrap="square">
            <a:noAutofit/>
          </a:bodyPr>
          <a:lstStyle/>
        </p:txBody>
      </p:sp>
      <p:sp>
        <p:nvSpPr>
          <p:cNvPr id="97" name="ComponentVisualDir"/>
          <p:cNvSpPr txBox="1"/>
          <p:nvPr/>
        </p:nvSpPr>
        <p:spPr>
          <a:xfrm>
            <a:off x="2779761" y="4334256"/>
            <a:ext cx="2923032" cy="804672"/>
          </a:xfrm>
          <a:prstGeom prst="rect">
            <a:avLst/>
          </a:prstGeom>
          <a:noFill/>
        </p:spPr>
        <p:txBody>
          <a:bodyPr wrap="square">
            <a:noAutofit/>
          </a:bodyPr>
          <a:lstStyle/>
          <a:p>
            <a:pPr/>
            <a:r>
              <a:rPr lang="en-MY" sz="750" dirty="0">
                <a:solidFill>
                  <a:srgbClr val="808080"/>
                </a:solidFill>
              </a:rPr>
              <a:t>ARAHAN VISUAL</a:t>
            </a:r>
          </a:p>
          <a:p>
            <a:pPr/>
            <a:r>
              <a:rPr lang="en-MY" sz="750" dirty="0">
                <a:solidFill>
                  <a:srgbClr val="808080"/>
                </a:solidFill>
              </a:rPr>
              <a:t>[Visual: Foto jadual</a:t>
            </a:r>
          </a:p>
          <a:p>
            <a:pPr/>
            <a:r>
              <a:rPr lang="en-MY" sz="750" dirty="0">
                <a:solidFill>
                  <a:srgbClr val="808080"/>
                </a:solidFill>
              </a:rPr>
              <a:t>spesifikasi Pancutan Air Minum</a:t>
            </a:r>
          </a:p>
          <a:p>
            <a:pPr/>
            <a:r>
              <a:rPr lang="en-MY" sz="750" dirty="0">
                <a:solidFill>
                  <a:srgbClr val="808080"/>
                </a:solidFill>
              </a:rPr>
              <a:t>Keluli Tahan Karat, modul ms</a:t>
            </a:r>
          </a:p>
        </p:txBody>
      </p:sp>
      <p:sp>
        <p:nvSpPr>
          <p:cNvPr id="98" name="ComponentName"/>
          <p:cNvSpPr txBox="1"/>
          <p:nvPr/>
        </p:nvSpPr>
        <p:spPr>
          <a:xfrm>
            <a:off x="2706609" y="5285232"/>
            <a:ext cx="3069336" cy="365760"/>
          </a:xfrm>
          <a:prstGeom prst="rect">
            <a:avLst/>
          </a:prstGeom>
          <a:noFill/>
        </p:spPr>
        <p:txBody>
          <a:bodyPr wrap="square">
            <a:noAutofit/>
          </a:bodyPr>
          <a:lstStyle/>
          <a:p>
            <a:pPr algn="ctr"/>
            <a:r>
              <a:rPr lang="en-MY" sz="1400" b="1" i="1" dirty="0">
                <a:solidFill>
                  <a:schemeClr val="tx1">
                    <a:lumMod val="85000"/>
                    <a:lumOff val="15000"/>
                  </a:schemeClr>
                </a:solidFill>
              </a:rPr>
              <a:t>Drinking Fountain</a:t>
            </a:r>
          </a:p>
        </p:txBody>
      </p:sp>
      <p:sp>
        <p:nvSpPr>
          <p:cNvPr id="99" name="ComponentCue"/>
          <p:cNvSpPr txBox="1"/>
          <p:nvPr/>
        </p:nvSpPr>
        <p:spPr>
          <a:xfrm>
            <a:off x="2706609" y="5650992"/>
            <a:ext cx="3069336" cy="256032"/>
          </a:xfrm>
          <a:prstGeom prst="rect">
            <a:avLst/>
          </a:prstGeom>
          <a:noFill/>
        </p:spPr>
        <p:txBody>
          <a:bodyPr wrap="square">
            <a:noAutofit/>
          </a:bodyPr>
          <a:lstStyle/>
          <a:p>
            <a:pPr algn="ctr"/>
            <a:r>
              <a:rPr lang="en-MY" sz="900" dirty="0">
                <a:solidFill>
                  <a:srgbClr val="808080"/>
                </a:solidFill>
              </a:rPr>
              <a:t>Halaman seterusnya</a:t>
            </a:r>
          </a:p>
        </p:txBody>
      </p:sp>
      <p:sp>
        <p:nvSpPr>
          <p:cNvPr id="100" name="ComponentCard"/>
          <p:cNvSpPr txBox="1"/>
          <p:nvPr/>
        </p:nvSpPr>
        <p:spPr>
          <a:xfrm>
            <a:off x="6288009" y="4114800"/>
            <a:ext cx="3325368" cy="1847088"/>
          </a:xfrm>
          <a:prstGeom prst="rect">
            <a:avLst/>
          </a:prstGeom>
          <a:solidFill>
            <a:srgbClr val="F2F2F2"/>
          </a:solidFill>
          <a:ln w="12700">
            <a:solidFill>
              <a:srgbClr val="404040"/>
            </a:solidFill>
          </a:ln>
        </p:spPr>
        <p:txBody>
          <a:bodyPr wrap="square">
            <a:noAutofit/>
          </a:bodyPr>
          <a:lstStyle/>
        </p:txBody>
      </p:sp>
      <p:sp>
        <p:nvSpPr>
          <p:cNvPr id="101" name="ComponentVisual"/>
          <p:cNvSpPr txBox="1"/>
          <p:nvPr/>
        </p:nvSpPr>
        <p:spPr>
          <a:xfrm>
            <a:off x="6416025" y="4242816"/>
            <a:ext cx="3069336" cy="969264"/>
          </a:xfrm>
          <a:prstGeom prst="rect">
            <a:avLst/>
          </a:prstGeom>
          <a:solidFill>
            <a:srgbClr val="FFFFFF"/>
          </a:solidFill>
          <a:ln w="9525">
            <a:solidFill>
              <a:srgbClr val="BFBFBF"/>
            </a:solidFill>
            <a:prstDash val="dash"/>
          </a:ln>
        </p:spPr>
        <p:txBody>
          <a:bodyPr wrap="square">
            <a:noAutofit/>
          </a:bodyPr>
          <a:lstStyle/>
        </p:txBody>
      </p:sp>
      <p:sp>
        <p:nvSpPr>
          <p:cNvPr id="102" name="ComponentVisualDir"/>
          <p:cNvSpPr txBox="1"/>
          <p:nvPr/>
        </p:nvSpPr>
        <p:spPr>
          <a:xfrm>
            <a:off x="6489177" y="4334256"/>
            <a:ext cx="2923032" cy="804672"/>
          </a:xfrm>
          <a:prstGeom prst="rect">
            <a:avLst/>
          </a:prstGeom>
          <a:noFill/>
        </p:spPr>
        <p:txBody>
          <a:bodyPr wrap="square">
            <a:noAutofit/>
          </a:bodyPr>
          <a:lstStyle/>
          <a:p>
            <a:pPr/>
            <a:r>
              <a:rPr lang="en-MY" sz="750" dirty="0">
                <a:solidFill>
                  <a:srgbClr val="808080"/>
                </a:solidFill>
              </a:rPr>
              <a:t>ARAHAN VISUAL</a:t>
            </a:r>
          </a:p>
          <a:p>
            <a:pPr/>
            <a:r>
              <a:rPr lang="en-MY" sz="750" dirty="0">
                <a:solidFill>
                  <a:srgbClr val="808080"/>
                </a:solidFill>
              </a:rPr>
              <a:t>[Visual: Foto jadual</a:t>
            </a:r>
          </a:p>
          <a:p>
            <a:pPr/>
            <a:r>
              <a:rPr lang="en-MY" sz="750" dirty="0">
                <a:solidFill>
                  <a:srgbClr val="808080"/>
                </a:solidFill>
              </a:rPr>
              <a:t>spesifikasi </a:t>
            </a:r>
            <a:r>
              <a:rPr lang="en-MY" sz="750" i="1" dirty="0">
                <a:solidFill>
                  <a:srgbClr val="808080"/>
                </a:solidFill>
              </a:rPr>
              <a:t>BBQ Pit</a:t>
            </a:r>
            <a:r>
              <a:rPr lang="en-MY" sz="750" dirty="0">
                <a:solidFill>
                  <a:srgbClr val="808080"/>
                </a:solidFill>
              </a:rPr>
              <a:t> Struktur</a:t>
            </a:r>
          </a:p>
          <a:p>
            <a:pPr/>
            <a:r>
              <a:rPr lang="en-MY" sz="750" dirty="0">
                <a:solidFill>
                  <a:srgbClr val="808080"/>
                </a:solidFill>
              </a:rPr>
              <a:t>Kekal, modul ms 249. Aset</a:t>
            </a:r>
          </a:p>
        </p:txBody>
      </p:sp>
      <p:sp>
        <p:nvSpPr>
          <p:cNvPr id="103" name="ComponentName"/>
          <p:cNvSpPr txBox="1"/>
          <p:nvPr/>
        </p:nvSpPr>
        <p:spPr>
          <a:xfrm>
            <a:off x="6416025" y="5285232"/>
            <a:ext cx="3069336" cy="365760"/>
          </a:xfrm>
          <a:prstGeom prst="rect">
            <a:avLst/>
          </a:prstGeom>
          <a:noFill/>
        </p:spPr>
        <p:txBody>
          <a:bodyPr wrap="square">
            <a:noAutofit/>
          </a:bodyPr>
          <a:lstStyle/>
          <a:p>
            <a:pPr algn="ctr"/>
            <a:r>
              <a:rPr lang="en-MY" sz="1400" b="1" i="1" dirty="0">
                <a:solidFill>
                  <a:schemeClr val="tx1">
                    <a:lumMod val="85000"/>
                    <a:lumOff val="15000"/>
                  </a:schemeClr>
                </a:solidFill>
              </a:rPr>
              <a:t>BBQ Pit</a:t>
            </a:r>
          </a:p>
        </p:txBody>
      </p:sp>
      <p:sp>
        <p:nvSpPr>
          <p:cNvPr id="104" name="ComponentCue"/>
          <p:cNvSpPr txBox="1"/>
          <p:nvPr/>
        </p:nvSpPr>
        <p:spPr>
          <a:xfrm>
            <a:off x="6416025" y="5650992"/>
            <a:ext cx="3069336" cy="256032"/>
          </a:xfrm>
          <a:prstGeom prst="rect">
            <a:avLst/>
          </a:prstGeom>
          <a:noFill/>
        </p:spPr>
        <p:txBody>
          <a:bodyPr wrap="square">
            <a:noAutofit/>
          </a:bodyPr>
          <a:lstStyle/>
          <a:p>
            <a:pPr algn="ctr"/>
            <a:r>
              <a:rPr lang="en-MY" sz="900" dirty="0">
                <a:solidFill>
                  <a:srgbClr val="808080"/>
                </a:solidFill>
              </a:rPr>
              <a:t>Halaman seterusnya</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Perabot Taman — gambaran keseluruhan</a:t>
            </a:r>
          </a:p>
          <a:p>
            <a:r>
              <a:rPr lang="en-MY" sz="900" dirty="0">
                <a:solidFill>
                  <a:schemeClr val="tx1">
                    <a:lumMod val="85000"/>
                    <a:lumOff val="15000"/>
                  </a:schemeClr>
                </a:solidFill>
              </a:rPr>
              <a:t>KELUARGA PELAKSANAAN: FAMILY_P1+FAMILY_P2</a:t>
            </a:r>
          </a:p>
          <a:p>
            <a:r>
              <a:rPr lang="en-MY" sz="900" dirty="0">
                <a:solidFill>
                  <a:schemeClr val="tx1">
                    <a:lumMod val="85000"/>
                    <a:lumOff val="15000"/>
                  </a:schemeClr>
                </a:solidFill>
              </a:rPr>
              <a:t>PERANAN HALAMAN SEMAKAN: GROUP_OVERVIEW_BASE</a:t>
            </a:r>
          </a:p>
          <a:p>
            <a:r>
              <a:rPr lang="en-MY" sz="900" dirty="0">
                <a:solidFill>
                  <a:schemeClr val="tx1">
                    <a:lumMod val="85000"/>
                    <a:lumOff val="15000"/>
                  </a:schemeClr>
                </a:solidFill>
              </a:rPr>
              <a:t/>
            </a:r>
          </a:p>
          <a:p>
            <a:r>
              <a:rPr lang="en-MY" sz="900" dirty="0">
                <a:solidFill>
                  <a:schemeClr val="tx1">
                    <a:lumMod val="85000"/>
                    <a:lumOff val="15000"/>
                  </a:schemeClr>
                </a:solidFill>
              </a:rPr>
              <a:t>BUKTI: gateway, no click level</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[vo_complete]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SCR_PERABOT_OVERVIEW</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klik dan TIADA aras interaksi. Ini gerbang penerangan visual.</a:t>
            </a:r>
          </a:p>
          <a:p>
            <a:r>
              <a:rPr lang="en-MY" sz="900" dirty="0">
                <a:solidFill>
                  <a:schemeClr val="tx1">
                    <a:lumMod val="85000"/>
                    <a:lumOff val="15000"/>
                  </a:schemeClr>
                </a:solidFill>
              </a:rPr>
              <a:t>  Pelajar memasuki setiap komponen melalui navigasi shell.</a:t>
            </a:r>
          </a:p>
          <a:p>
            <a:r>
              <a:rPr lang="en-MY" sz="900" b="1" dirty="0">
                <a:solidFill>
                  <a:schemeClr val="tx1">
                    <a:lumMod val="85000"/>
                    <a:lumOff val="15000"/>
                  </a:schemeClr>
                </a:solidFill>
              </a:rPr>
              <a:t>AGIHAN KELUARGA (metadata dalaman — tidak dipaparkan pada kanvas):</a:t>
            </a:r>
          </a:p>
          <a:p>
            <a:r>
              <a:rPr lang="en-MY" sz="900" dirty="0">
                <a:solidFill>
                  <a:schemeClr val="tx1">
                    <a:lumMod val="85000"/>
                    <a:lumOff val="15000"/>
                  </a:schemeClr>
                </a:solidFill>
              </a:rPr>
              <a:t>  Kerusi Taman -&gt; FAMILY_P1</a:t>
            </a:r>
          </a:p>
          <a:p>
            <a:r>
              <a:rPr lang="en-MY" sz="900" dirty="0">
                <a:solidFill>
                  <a:schemeClr val="tx1">
                    <a:lumMod val="85000"/>
                    <a:lumOff val="15000"/>
                  </a:schemeClr>
                </a:solidFill>
              </a:rPr>
              <a:t>  Papan Tanda -&gt; FAMILY_P2</a:t>
            </a:r>
          </a:p>
          <a:p>
            <a:r>
              <a:rPr lang="en-MY" sz="900" dirty="0">
                <a:solidFill>
                  <a:schemeClr val="tx1">
                    <a:lumMod val="85000"/>
                    <a:lumOff val="15000"/>
                  </a:schemeClr>
                </a:solidFill>
              </a:rPr>
              <a:t>  Tong Sampah -&gt; FAMILY_P1</a:t>
            </a:r>
          </a:p>
          <a:p>
            <a:r>
              <a:rPr lang="en-MY" sz="900" dirty="0">
                <a:solidFill>
                  <a:schemeClr val="tx1">
                    <a:lumMod val="85000"/>
                    <a:lumOff val="15000"/>
                  </a:schemeClr>
                </a:solidFill>
              </a:rPr>
              <a:t>  Drinking Fountain -&gt; FAMILY_P1</a:t>
            </a:r>
          </a:p>
          <a:p>
            <a:r>
              <a:rPr lang="en-MY" sz="900" dirty="0">
                <a:solidFill>
                  <a:schemeClr val="tx1">
                    <a:lumMod val="85000"/>
                    <a:lumOff val="15000"/>
                  </a:schemeClr>
                </a:solidFill>
              </a:rPr>
              <a:t>  BBQ Pit -&gt; FAMILY_P2</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GROUP_VISUAL_GATEWAY</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CONDITIONAL</a:t>
            </a:r>
          </a:p>
          <a:p>
            <a:r>
              <a:rPr lang="en-MY" sz="900" dirty="0">
                <a:solidFill>
                  <a:schemeClr val="tx1">
                    <a:lumMod val="85000"/>
                    <a:lumOff val="15000"/>
                  </a:schemeClr>
                </a:solidFill>
              </a:rPr>
              <a:t>  status: RESOLVED_PER_COMPONENT_CARD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B02-D-02</a:t>
            </a:r>
          </a:p>
          <a:p>
            <a:r>
              <a:rPr lang="en-MY" sz="900" dirty="0">
                <a:solidFill>
                  <a:schemeClr val="tx1">
                    <a:lumMod val="85000"/>
                    <a:lumOff val="15000"/>
                  </a:schemeClr>
                </a:solidFill>
              </a:rPr>
              <a:t>STATUS BELUM SELESAI: NONE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Kerusi Taman</a:t>
            </a:r>
          </a:p>
        </p:txBody>
      </p:sp>
      <p:sp>
        <p:nvSpPr>
          <p:cNvPr id="25" name="Instr"/>
          <p:cNvSpPr txBox="1"/>
          <p:nvPr/>
        </p:nvSpPr>
        <p:spPr>
          <a:xfrm>
            <a:off x="723930" y="1591056"/>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contoh untuk melihat perincian.</a:t>
            </a:r>
          </a:p>
        </p:txBody>
      </p:sp>
      <p:sp>
        <p:nvSpPr>
          <p:cNvPr id="40" name="ItemCard"/>
          <p:cNvSpPr txBox="1"/>
          <p:nvPr/>
        </p:nvSpPr>
        <p:spPr>
          <a:xfrm>
            <a:off x="723885" y="2157984"/>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Kerusi Kayu Keras</a:t>
            </a:r>
          </a:p>
        </p:txBody>
      </p:sp>
      <p:sp>
        <p:nvSpPr>
          <p:cNvPr id="41" name="ItemCard"/>
          <p:cNvSpPr txBox="1"/>
          <p:nvPr/>
        </p:nvSpPr>
        <p:spPr>
          <a:xfrm>
            <a:off x="4433301" y="2157984"/>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Kerusi Konkrit</a:t>
            </a:r>
          </a:p>
        </p:txBody>
      </p:sp>
      <p:sp>
        <p:nvSpPr>
          <p:cNvPr id="42" name="ItemCard"/>
          <p:cNvSpPr txBox="1"/>
          <p:nvPr/>
        </p:nvSpPr>
        <p:spPr>
          <a:xfrm>
            <a:off x="8142717" y="2157984"/>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Kerusi Komposit</a:t>
            </a:r>
          </a:p>
        </p:txBody>
      </p:sp>
      <p:sp>
        <p:nvSpPr>
          <p:cNvPr id="30" name="VisualDir"/>
          <p:cNvSpPr txBox="1"/>
          <p:nvPr/>
        </p:nvSpPr>
        <p:spPr>
          <a:xfrm>
            <a:off x="723930" y="4443984"/>
            <a:ext cx="10744200" cy="365760"/>
          </a:xfrm>
          <a:prstGeom prst="rect">
            <a:avLst/>
          </a:prstGeom>
          <a:noFill/>
        </p:spPr>
        <p:txBody>
          <a:bodyPr wrap="square">
            <a:noAutofit/>
          </a:bodyPr>
          <a:lstStyle/>
          <a:p>
            <a:pPr/>
            <a:r>
              <a:rPr lang="en-MY" sz="1100" dirty="0">
                <a:solidFill>
                  <a:srgbClr val="808080"/>
                </a:solidFill>
              </a:rPr>
              <a:t>[Visual: Foto jadual spesifikasi kerusi taman, modul ms 242–243. Tidak dibenamkan.]</a:t>
            </a:r>
          </a:p>
        </p:txBody>
      </p:sp>
      <p:sp>
        <p:nvSpPr>
          <p:cNvPr id="300" name="OverviewHead"/>
          <p:cNvSpPr txBox="1"/>
          <p:nvPr/>
        </p:nvSpPr>
        <p:spPr>
          <a:xfrm>
            <a:off x="723930" y="4974336"/>
            <a:ext cx="10744200" cy="201168"/>
          </a:xfrm>
          <a:prstGeom prst="rect">
            <a:avLst/>
          </a:prstGeom>
          <a:noFill/>
        </p:spPr>
        <p:txBody>
          <a:bodyPr wrap="square">
            <a:noAutofit/>
          </a:bodyPr>
          <a:lstStyle/>
          <a:p>
            <a:pPr/>
            <a:r>
              <a:rPr lang="en-MY" sz="850" b="1" dirty="0">
                <a:solidFill>
                  <a:srgbClr val="7F6000"/>
                </a:solidFill>
              </a:rPr>
              <a:t>ARAHAN VISUAL — OVERVIEW KOMPONEN (TIDAK DIBENAMKAN)</a:t>
            </a:r>
          </a:p>
        </p:txBody>
      </p:sp>
      <p:sp>
        <p:nvSpPr>
          <p:cNvPr id="301" name="OverviewCard"/>
          <p:cNvSpPr txBox="1"/>
          <p:nvPr/>
        </p:nvSpPr>
        <p:spPr>
          <a:xfrm>
            <a:off x="723930" y="5212080"/>
            <a:ext cx="2377440" cy="870509"/>
          </a:xfrm>
          <a:prstGeom prst="rect">
            <a:avLst/>
          </a:prstGeom>
          <a:solidFill>
            <a:srgbClr val="F7F7F7"/>
          </a:solidFill>
          <a:ln w="12700">
            <a:solidFill>
              <a:srgbClr val="BFBFBF"/>
            </a:solidFill>
          </a:ln>
        </p:spPr>
        <p:txBody>
          <a:bodyPr wrap="square">
            <a:noAutofit/>
          </a:bodyPr>
          <a:lstStyle/>
        </p:txBody>
      </p:sp>
      <p:sp>
        <p:nvSpPr>
          <p:cNvPr id="302" name="OverviewSubject"/>
          <p:cNvSpPr txBox="1"/>
          <p:nvPr/>
        </p:nvSpPr>
        <p:spPr>
          <a:xfrm>
            <a:off x="815370" y="5266944"/>
            <a:ext cx="2194560" cy="193853"/>
          </a:xfrm>
          <a:prstGeom prst="rect">
            <a:avLst/>
          </a:prstGeom>
          <a:noFill/>
        </p:spPr>
        <p:txBody>
          <a:bodyPr wrap="square">
            <a:noAutofit/>
          </a:bodyPr>
          <a:lstStyle/>
          <a:p>
            <a:pPr/>
            <a:r>
              <a:rPr lang="en-MY" sz="900" b="1" dirty="0">
                <a:solidFill>
                  <a:schemeClr val="tx1">
                    <a:lumMod val="85000"/>
                    <a:lumOff val="15000"/>
                  </a:schemeClr>
                </a:solidFill>
              </a:rPr>
              <a:t>Kerusi Kayu Keras</a:t>
            </a:r>
          </a:p>
        </p:txBody>
      </p:sp>
      <p:sp>
        <p:nvSpPr>
          <p:cNvPr id="303" name="OverviewDir"/>
          <p:cNvSpPr txBox="1"/>
          <p:nvPr/>
        </p:nvSpPr>
        <p:spPr>
          <a:xfrm>
            <a:off x="815370" y="5497373"/>
            <a:ext cx="2194560" cy="512064"/>
          </a:xfrm>
          <a:prstGeom prst="rect">
            <a:avLst/>
          </a:prstGeom>
          <a:noFill/>
        </p:spPr>
        <p:txBody>
          <a:bodyPr wrap="square">
            <a:noAutofit/>
          </a:bodyPr>
          <a:lstStyle/>
          <a:p>
            <a:pPr/>
            <a:r>
              <a:rPr lang="en-MY" sz="750" dirty="0">
                <a:solidFill>
                  <a:srgbClr val="808080"/>
                </a:solidFill>
              </a:rPr>
              <a:t>[Visual: Foto jadual spesifikasi Kerusi Kayu</a:t>
            </a:r>
          </a:p>
          <a:p>
            <a:pPr/>
            <a:r>
              <a:rPr lang="en-MY" sz="750" dirty="0">
                <a:solidFill>
                  <a:srgbClr val="808080"/>
                </a:solidFill>
              </a:rPr>
              <a:t>Keras, modul ms 242. Aset</a:t>
            </a:r>
          </a:p>
          <a:p>
            <a:pPr/>
            <a:r>
              <a:rPr lang="en-MY" sz="750" dirty="0">
                <a:solidFill>
                  <a:srgbClr val="808080"/>
                </a:solidFill>
              </a:rPr>
              <a:t>K5PL06T03-B02-IMG-p242-x28. Tidak</a:t>
            </a:r>
          </a:p>
          <a:p>
            <a:pPr/>
            <a:r>
              <a:rPr lang="en-MY" sz="750" dirty="0">
                <a:solidFill>
                  <a:srgbClr val="808080"/>
                </a:solidFill>
              </a:rPr>
              <a:t>dibenamkan.]</a:t>
            </a:r>
          </a:p>
        </p:txBody>
      </p:sp>
      <p:sp>
        <p:nvSpPr>
          <p:cNvPr id="304" name="OverviewCard"/>
          <p:cNvSpPr txBox="1"/>
          <p:nvPr/>
        </p:nvSpPr>
        <p:spPr>
          <a:xfrm>
            <a:off x="3284250" y="5212080"/>
            <a:ext cx="2377440" cy="870509"/>
          </a:xfrm>
          <a:prstGeom prst="rect">
            <a:avLst/>
          </a:prstGeom>
          <a:solidFill>
            <a:srgbClr val="F7F7F7"/>
          </a:solidFill>
          <a:ln w="12700">
            <a:solidFill>
              <a:srgbClr val="BFBFBF"/>
            </a:solidFill>
          </a:ln>
        </p:spPr>
        <p:txBody>
          <a:bodyPr wrap="square">
            <a:noAutofit/>
          </a:bodyPr>
          <a:lstStyle/>
        </p:txBody>
      </p:sp>
      <p:sp>
        <p:nvSpPr>
          <p:cNvPr id="305" name="OverviewSubject"/>
          <p:cNvSpPr txBox="1"/>
          <p:nvPr/>
        </p:nvSpPr>
        <p:spPr>
          <a:xfrm>
            <a:off x="3375690" y="5266944"/>
            <a:ext cx="2194560" cy="193853"/>
          </a:xfrm>
          <a:prstGeom prst="rect">
            <a:avLst/>
          </a:prstGeom>
          <a:noFill/>
        </p:spPr>
        <p:txBody>
          <a:bodyPr wrap="square">
            <a:noAutofit/>
          </a:bodyPr>
          <a:lstStyle/>
          <a:p>
            <a:pPr/>
            <a:r>
              <a:rPr lang="en-MY" sz="900" b="1" dirty="0">
                <a:solidFill>
                  <a:schemeClr val="tx1">
                    <a:lumMod val="85000"/>
                    <a:lumOff val="15000"/>
                  </a:schemeClr>
                </a:solidFill>
              </a:rPr>
              <a:t>Kerusi Konkrit</a:t>
            </a:r>
          </a:p>
        </p:txBody>
      </p:sp>
      <p:sp>
        <p:nvSpPr>
          <p:cNvPr id="306" name="OverviewDir"/>
          <p:cNvSpPr txBox="1"/>
          <p:nvPr/>
        </p:nvSpPr>
        <p:spPr>
          <a:xfrm>
            <a:off x="3375690" y="5497373"/>
            <a:ext cx="2194560" cy="512064"/>
          </a:xfrm>
          <a:prstGeom prst="rect">
            <a:avLst/>
          </a:prstGeom>
          <a:noFill/>
        </p:spPr>
        <p:txBody>
          <a:bodyPr wrap="square">
            <a:noAutofit/>
          </a:bodyPr>
          <a:lstStyle/>
          <a:p>
            <a:pPr/>
            <a:r>
              <a:rPr lang="en-MY" sz="750" dirty="0">
                <a:solidFill>
                  <a:srgbClr val="808080"/>
                </a:solidFill>
              </a:rPr>
              <a:t>[Visual: Foto jadual spesifikasi Kerusi</a:t>
            </a:r>
          </a:p>
          <a:p>
            <a:pPr/>
            <a:r>
              <a:rPr lang="en-MY" sz="750" dirty="0">
                <a:solidFill>
                  <a:srgbClr val="808080"/>
                </a:solidFill>
              </a:rPr>
              <a:t>Konkrit, modul ms 243. Aset</a:t>
            </a:r>
          </a:p>
          <a:p>
            <a:pPr/>
            <a:r>
              <a:rPr lang="en-MY" sz="750" dirty="0">
                <a:solidFill>
                  <a:srgbClr val="808080"/>
                </a:solidFill>
              </a:rPr>
              <a:t>K5PL06T03-B02-IMG-p243-x31. Tidak</a:t>
            </a:r>
          </a:p>
          <a:p>
            <a:pPr/>
            <a:r>
              <a:rPr lang="en-MY" sz="750" dirty="0">
                <a:solidFill>
                  <a:srgbClr val="808080"/>
                </a:solidFill>
              </a:rPr>
              <a:t>dibenamkan.]</a:t>
            </a:r>
          </a:p>
        </p:txBody>
      </p:sp>
      <p:sp>
        <p:nvSpPr>
          <p:cNvPr id="307" name="OverviewCard"/>
          <p:cNvSpPr txBox="1"/>
          <p:nvPr/>
        </p:nvSpPr>
        <p:spPr>
          <a:xfrm>
            <a:off x="5844570" y="5212080"/>
            <a:ext cx="2377440" cy="870509"/>
          </a:xfrm>
          <a:prstGeom prst="rect">
            <a:avLst/>
          </a:prstGeom>
          <a:solidFill>
            <a:srgbClr val="F7F7F7"/>
          </a:solidFill>
          <a:ln w="12700">
            <a:solidFill>
              <a:srgbClr val="BFBFBF"/>
            </a:solidFill>
          </a:ln>
        </p:spPr>
        <p:txBody>
          <a:bodyPr wrap="square">
            <a:noAutofit/>
          </a:bodyPr>
          <a:lstStyle/>
        </p:txBody>
      </p:sp>
      <p:sp>
        <p:nvSpPr>
          <p:cNvPr id="308" name="OverviewSubject"/>
          <p:cNvSpPr txBox="1"/>
          <p:nvPr/>
        </p:nvSpPr>
        <p:spPr>
          <a:xfrm>
            <a:off x="5936010" y="5266944"/>
            <a:ext cx="2194560" cy="193853"/>
          </a:xfrm>
          <a:prstGeom prst="rect">
            <a:avLst/>
          </a:prstGeom>
          <a:noFill/>
        </p:spPr>
        <p:txBody>
          <a:bodyPr wrap="square">
            <a:noAutofit/>
          </a:bodyPr>
          <a:lstStyle/>
          <a:p>
            <a:pPr/>
            <a:r>
              <a:rPr lang="en-MY" sz="900" b="1" dirty="0">
                <a:solidFill>
                  <a:schemeClr val="tx1">
                    <a:lumMod val="85000"/>
                    <a:lumOff val="15000"/>
                  </a:schemeClr>
                </a:solidFill>
              </a:rPr>
              <a:t>Kerusi Komposit</a:t>
            </a:r>
          </a:p>
        </p:txBody>
      </p:sp>
      <p:sp>
        <p:nvSpPr>
          <p:cNvPr id="309" name="OverviewDir"/>
          <p:cNvSpPr txBox="1"/>
          <p:nvPr/>
        </p:nvSpPr>
        <p:spPr>
          <a:xfrm>
            <a:off x="5936010" y="5497373"/>
            <a:ext cx="2194560" cy="512064"/>
          </a:xfrm>
          <a:prstGeom prst="rect">
            <a:avLst/>
          </a:prstGeom>
          <a:noFill/>
        </p:spPr>
        <p:txBody>
          <a:bodyPr wrap="square">
            <a:noAutofit/>
          </a:bodyPr>
          <a:lstStyle/>
          <a:p>
            <a:pPr/>
            <a:r>
              <a:rPr lang="en-MY" sz="750" dirty="0">
                <a:solidFill>
                  <a:srgbClr val="808080"/>
                </a:solidFill>
              </a:rPr>
              <a:t>[Visual: Foto jadual spesifikasi Kerusi</a:t>
            </a:r>
          </a:p>
          <a:p>
            <a:pPr/>
            <a:r>
              <a:rPr lang="en-MY" sz="750" dirty="0">
                <a:solidFill>
                  <a:srgbClr val="808080"/>
                </a:solidFill>
              </a:rPr>
              <a:t>Komposit, modul ms 243. Aset</a:t>
            </a:r>
          </a:p>
          <a:p>
            <a:pPr/>
            <a:r>
              <a:rPr lang="en-MY" sz="750" dirty="0">
                <a:solidFill>
                  <a:srgbClr val="808080"/>
                </a:solidFill>
              </a:rPr>
              <a:t>K5PL06T03-B02-IMG-p243-x32. Tidak</a:t>
            </a:r>
          </a:p>
          <a:p>
            <a:pPr/>
            <a:r>
              <a:rPr lang="en-MY" sz="750" dirty="0">
                <a:solidFill>
                  <a:srgbClr val="808080"/>
                </a:solidFill>
              </a:rPr>
              <a:t>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penerangan + senarai contoh</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COMPONENT_EXPLANATION_LIST_BASE</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overview + example list</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[component_complete[KERUSI_TAMAN]]</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SCR_KERUSI_TAMAN_MAIN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dirty="0">
                <a:solidFill>
                  <a:schemeClr val="tx1">
                    <a:lumMod val="85000"/>
                    <a:lumOff val="15000"/>
                  </a:schemeClr>
                </a:solidFill>
              </a:rPr>
              <a:t>  K5-PL06-T03-B02-KERUSI-TAMAN-ROW-02</a:t>
            </a:r>
          </a:p>
          <a:p>
            <a:r>
              <a:rPr lang="en-MY" sz="900" dirty="0">
                <a:solidFill>
                  <a:schemeClr val="tx1">
                    <a:lumMod val="85000"/>
                    <a:lumOff val="15000"/>
                  </a:schemeClr>
                </a:solidFill>
              </a:rPr>
              <a:t>    ms 243 / fizikal 262</a:t>
            </a:r>
          </a:p>
          <a:p>
            <a:r>
              <a:rPr lang="en-MY" sz="900" dirty="0">
                <a:solidFill>
                  <a:schemeClr val="tx1">
                    <a:lumMod val="85000"/>
                    <a:lumOff val="15000"/>
                  </a:schemeClr>
                </a:solidFill>
              </a:rPr>
              <a:t>  K5-PL06-T03-B02-KERUSI-TAMAN-ROW-03</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II_KERUSI_TAMAN_EX01  &lt;-  K5-PL06-T03-B02-KERUSI-TAMAN-ROW-01</a:t>
            </a:r>
          </a:p>
          <a:p>
            <a:r>
              <a:rPr lang="en-MY" sz="900" dirty="0">
                <a:solidFill>
                  <a:schemeClr val="tx1">
                    <a:lumMod val="85000"/>
                    <a:lumOff val="15000"/>
                  </a:schemeClr>
                </a:solidFill>
              </a:rPr>
              <a:t>  II_KERUSI_TAMAN_EX02  &lt;-  K5-PL06-T03-B02-KERUSI-TAMAN-ROW-02</a:t>
            </a:r>
          </a:p>
          <a:p>
            <a:r>
              <a:rPr lang="en-MY" sz="900" dirty="0">
                <a:solidFill>
                  <a:schemeClr val="tx1">
                    <a:lumMod val="85000"/>
                    <a:lumOff val="15000"/>
                  </a:schemeClr>
                </a:solidFill>
              </a:rPr>
              <a:t>  II_KERUSI_TAMAN_EX03  &lt;-  K5-PL06-T03-B02-KERUSI-TAMAN-ROW-03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contoh = Bariah Level 1. Membuka skrin penuh, bukan popup.</a:t>
            </a:r>
          </a:p>
          <a:p>
            <a:r>
              <a:rPr lang="en-MY" sz="900" dirty="0">
                <a:solidFill>
                  <a:schemeClr val="tx1">
                    <a:lumMod val="85000"/>
                    <a:lumOff val="15000"/>
                  </a:schemeClr>
                </a:solidFill>
              </a:rPr>
              <a:t>  0/3 contoh dilihat.</a:t>
            </a:r>
          </a:p>
          <a:p>
            <a:r>
              <a:rPr lang="en-MY" sz="900" dirty="0">
                <a:solidFill>
                  <a:schemeClr val="tx1">
                    <a:lumMod val="85000"/>
                    <a:lumOff val="15000"/>
                  </a:schemeClr>
                </a:solidFill>
              </a:rPr>
              <a:t>  component_complete hanya benar apabila SEMUA contoh selesai.</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contoh untuk melihat perincian.</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COMPONENT_MAIN_SCREEN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SOURCE_ATTESTED_COMPONENT_VISUAL</a:t>
            </a:r>
          </a:p>
          <a:p>
            <a:r>
              <a:rPr lang="en-MY" sz="900" dirty="0">
                <a:solidFill>
                  <a:schemeClr val="tx1">
                    <a:lumMod val="85000"/>
                    <a:lumOff val="15000"/>
                  </a:schemeClr>
                </a:solidFill>
              </a:rPr>
              <a:t>  kuasa keperluan: BARIAH_DIRECT_SCREENSHOT</a:t>
            </a:r>
          </a:p>
          <a:p>
            <a:r>
              <a:rPr lang="en-MY" sz="900" dirty="0">
                <a:solidFill>
                  <a:schemeClr val="tx1">
                    <a:lumMod val="85000"/>
                    <a:lumOff val="15000"/>
                  </a:schemeClr>
                </a:solidFill>
              </a:rPr>
              <a:t>  rawatan: SOURCE_BOUND_OVERVIEW</a:t>
            </a:r>
          </a:p>
          <a:p>
            <a:r>
              <a:rPr lang="en-MY" sz="900" dirty="0">
                <a:solidFill>
                  <a:schemeClr val="tx1">
                    <a:lumMod val="85000"/>
                    <a:lumOff val="15000"/>
                  </a:schemeClr>
                </a:solidFill>
              </a:rPr>
              <a:t>  kuasa rawatan: BARIAH_DIRECT_SCREENSHOT</a:t>
            </a:r>
          </a:p>
          <a:p>
            <a:r>
              <a:rPr lang="en-MY" sz="900" dirty="0">
                <a:solidFill>
                  <a:schemeClr val="tx1">
                    <a:lumMod val="85000"/>
                    <a:lumOff val="15000"/>
                  </a:schemeClr>
                </a:solidFill>
              </a:rPr>
              <a:t>  sumber subjek: MODULE_SOURCE_ATTESTED 3</a:t>
            </a:r>
          </a:p>
          <a:p>
            <a:r>
              <a:rPr lang="en-MY" sz="900" dirty="0">
                <a:solidFill>
                  <a:schemeClr val="tx1">
                    <a:lumMod val="85000"/>
                    <a:lumOff val="15000"/>
                  </a:schemeClr>
                </a:solidFill>
              </a:rPr>
              <a:t>  bilangan subjek overview: 3</a:t>
            </a:r>
          </a:p>
          <a:p>
            <a:r>
              <a:rPr lang="en-MY" sz="900" dirty="0">
                <a:solidFill>
                  <a:schemeClr val="tx1">
                    <a:lumMod val="85000"/>
                    <a:lumOff val="15000"/>
                  </a:schemeClr>
                </a:solidFill>
              </a:rPr>
              <a:t>  status pemetaan: RESOLVED</a:t>
            </a:r>
          </a:p>
          <a:p>
            <a:r>
              <a:rPr lang="en-MY" sz="900" dirty="0">
                <a:solidFill>
                  <a:schemeClr val="tx1">
                    <a:lumMod val="85000"/>
                    <a:lumOff val="15000"/>
                  </a:schemeClr>
                </a:solidFill>
              </a:rPr>
              <a:t>  pemetaan instans: COMPLETE</a:t>
            </a:r>
          </a:p>
          <a:p>
            <a:r>
              <a:rPr lang="en-MY" sz="900" dirty="0">
                <a:solidFill>
                  <a:schemeClr val="tx1">
                    <a:lumMod val="85000"/>
                    <a:lumOff val="15000"/>
                  </a:schemeClr>
                </a:solidFill>
              </a:rPr>
              <a:t>  menunggu keputusan manusia: TIDAK</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Kayu Keras</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Kayu Keras</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3505947"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Dimensi</a:t>
            </a:r>
          </a:p>
        </p:txBody>
      </p:sp>
      <p:sp>
        <p:nvSpPr>
          <p:cNvPr id="42" name="ItemCard"/>
          <p:cNvSpPr txBox="1"/>
          <p:nvPr/>
        </p:nvSpPr>
        <p:spPr>
          <a:xfrm>
            <a:off x="6288009"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Penyambungan</a:t>
            </a:r>
          </a:p>
        </p:txBody>
      </p:sp>
      <p:sp>
        <p:nvSpPr>
          <p:cNvPr id="43" name="ItemCard"/>
          <p:cNvSpPr txBox="1"/>
          <p:nvPr/>
        </p:nvSpPr>
        <p:spPr>
          <a:xfrm>
            <a:off x="9070071"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Jati, Cengal, Balau</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Kayu Keras, modul ms 242. Aset K5PL06T03-B02-IMG-p242-x28.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Kayu Keras</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[example_complete[K5-PL06-T03-B02-KERUSI-TAMAN-ROW-01]]</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SCR_KERUSI_TAMAN_MAIN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SCR_KERUSI_TAMAN_EX01_DETAIL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K5PL06T03-B02-IMG-p242-x28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II_KERUSI_TAMAN_R01_SPEC01  &lt;-  K5-PL06-T03-B02-KERUSI-TAMAN-ROW-01</a:t>
            </a:r>
          </a:p>
          <a:p>
            <a:r>
              <a:rPr lang="en-MY" sz="900" dirty="0">
                <a:solidFill>
                  <a:schemeClr val="tx1">
                    <a:lumMod val="85000"/>
                    <a:lumOff val="15000"/>
                  </a:schemeClr>
                </a:solidFill>
              </a:rPr>
              <a:t>  II_KERUSI_TAMAN_R01_SPEC02  &lt;-  K5-PL06-T03-B02-KERUSI-TAMAN-ROW-01</a:t>
            </a:r>
          </a:p>
          <a:p>
            <a:r>
              <a:rPr lang="en-MY" sz="900" dirty="0">
                <a:solidFill>
                  <a:schemeClr val="tx1">
                    <a:lumMod val="85000"/>
                    <a:lumOff val="15000"/>
                  </a:schemeClr>
                </a:solidFill>
              </a:rPr>
              <a:t>  II_KERUSI_TAMAN_R01_SPEC03  &lt;-  K5-PL06-T03-B02-KERUSI-TAMAN-ROW-01</a:t>
            </a:r>
          </a:p>
          <a:p>
            <a:r>
              <a:rPr lang="en-MY" sz="900" dirty="0">
                <a:solidFill>
                  <a:schemeClr val="tx1">
                    <a:lumMod val="85000"/>
                    <a:lumOff val="15000"/>
                  </a:schemeClr>
                </a:solidFill>
              </a:rPr>
              <a:t>  II_KERUSI_TAMAN_R01_SPEC04  &lt;-  K5-PL06-T03-B02-KERUSI-TAMAN-ROW-01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SCR_KERUSI_TAMAN_MAIN (senarai contoh komponen).</a:t>
            </a:r>
          </a:p>
          <a:p>
            <a:r>
              <a:rPr lang="en-MY" sz="900" dirty="0">
                <a:solidFill>
                  <a:schemeClr val="tx1">
                    <a:lumMod val="85000"/>
                    <a:lumOff val="15000"/>
                  </a:schemeClr>
                </a:solidFill>
              </a:rPr>
              <a:t>  0/4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item interaksi daripada SATU baris sumber: K5-PL06-T03-B02-KERUSI-TAMAN-ROW-01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spesifikasi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Kayu Keras</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Kayu Keras</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271956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Dimensi</a:t>
            </a:r>
          </a:p>
        </p:txBody>
      </p:sp>
      <p:sp>
        <p:nvSpPr>
          <p:cNvPr id="43" name="ItemCard"/>
          <p:cNvSpPr txBox="1"/>
          <p:nvPr/>
        </p:nvSpPr>
        <p:spPr>
          <a:xfrm>
            <a:off x="6288009"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Penyambungan</a:t>
            </a:r>
          </a:p>
        </p:txBody>
      </p:sp>
      <p:sp>
        <p:nvSpPr>
          <p:cNvPr id="44" name="ItemCard"/>
          <p:cNvSpPr txBox="1"/>
          <p:nvPr/>
        </p:nvSpPr>
        <p:spPr>
          <a:xfrm>
            <a:off x="9070071"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Jati, Cengal, Balau</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Kayu Keras, modul ms 242. Aset K5PL06T03-B02-IMG-p242-x28.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Kerusi Kayu Keras</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Kayu padu gred perabot luar dengan ketahanan semula jadi tinggi terhadap serangga dan reput,</a:t>
            </a:r>
          </a:p>
          <a:p>
            <a:pPr/>
            <a:r>
              <a:rPr lang="en-MY" sz="1250" dirty="0">
                <a:solidFill>
                  <a:schemeClr val="tx1">
                    <a:lumMod val="85000"/>
                    <a:lumOff val="15000"/>
                  </a:schemeClr>
                </a:solidFill>
              </a:rPr>
              <a:t>atau kayu dirawat tekanan (pressure-treated).</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Kayu Keras</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II_KERUSI_TAMAN_R01_SPEC01  &lt;-  K5-PL06-T03-B02-KERUSI-TAMAN-ROW-01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SCR_KERUSI_TAMAN_EX01_DETAIL (senarai contoh komponen).</a:t>
            </a:r>
          </a:p>
          <a:p>
            <a:r>
              <a:rPr lang="en-MY" sz="900" dirty="0">
                <a:solidFill>
                  <a:schemeClr val="tx1">
                    <a:lumMod val="85000"/>
                    <a:lumOff val="15000"/>
                  </a:schemeClr>
                </a:solidFill>
              </a:rPr>
              <a:t>  1/4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item interaksi daripada SATU baris sumber: K5-PL06-T03-B02-KERUSI-TAMAN-ROW-01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Kayu Keras</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Kayu Keras</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271956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Dimensi</a:t>
            </a:r>
          </a:p>
        </p:txBody>
      </p:sp>
      <p:sp>
        <p:nvSpPr>
          <p:cNvPr id="43"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Penyambungan</a:t>
            </a:r>
          </a:p>
        </p:txBody>
      </p:sp>
      <p:sp>
        <p:nvSpPr>
          <p:cNvPr id="45" name="ItemCard"/>
          <p:cNvSpPr txBox="1"/>
          <p:nvPr/>
        </p:nvSpPr>
        <p:spPr>
          <a:xfrm>
            <a:off x="9070071"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Jati, Cengal, Balau</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Kayu Keras, modul ms 242. Aset K5PL06T03-B02-IMG-p242-x28.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Kerusi Kayu Keras</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Dimensi</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Ketebalan minimum komponen utama 25mm–50mm.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Kayu Keras</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II_KERUSI_TAMAN_R01_SPEC02  &lt;-  K5-PL06-T03-B02-KERUSI-TAMAN-ROW-01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SCR_KERUSI_TAMAN_EX01_DETAIL (senarai contoh komponen).</a:t>
            </a:r>
          </a:p>
          <a:p>
            <a:r>
              <a:rPr lang="en-MY" sz="900" dirty="0">
                <a:solidFill>
                  <a:schemeClr val="tx1">
                    <a:lumMod val="85000"/>
                    <a:lumOff val="15000"/>
                  </a:schemeClr>
                </a:solidFill>
              </a:rPr>
              <a:t>  2/4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item interaksi daripada SATU baris sumber: K5-PL06-T03-B02-KERUSI-TAMAN-ROW-01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Kayu Keras</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Kayu Keras</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271956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Dimensi</a:t>
            </a:r>
          </a:p>
        </p:txBody>
      </p:sp>
      <p:sp>
        <p:nvSpPr>
          <p:cNvPr id="43"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Penyambungan</a:t>
            </a:r>
          </a:p>
        </p:txBody>
      </p:sp>
      <p:sp>
        <p:nvSpPr>
          <p:cNvPr id="45" name="Tick"/>
          <p:cNvSpPr/>
          <p:nvPr/>
        </p:nvSpPr>
        <p:spPr>
          <a:xfrm>
            <a:off x="828368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103120"/>
            <a:ext cx="2398014"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Jati, Cengal, Balau</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Kayu Keras, modul ms 242. Aset K5PL06T03-B02-IMG-p242-x28.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Kerusi Kayu Keras</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Penyambungan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Skru tahan karat (stainless steel), bolt, atau tanggam kayu (mortise and tenon joints).</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Kayu Keras</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II_KERUSI_TAMAN_R01_SPEC03  &lt;-  K5-PL06-T03-B02-KERUSI-TAMAN-ROW-01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SCR_KERUSI_TAMAN_EX01_DETAIL (senarai contoh komponen).</a:t>
            </a:r>
          </a:p>
          <a:p>
            <a:r>
              <a:rPr lang="en-MY" sz="900" dirty="0">
                <a:solidFill>
                  <a:schemeClr val="tx1">
                    <a:lumMod val="85000"/>
                    <a:lumOff val="15000"/>
                  </a:schemeClr>
                </a:solidFill>
              </a:rPr>
              <a:t>  3/4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item interaksi daripada SATU baris sumber: K5-PL06-T03-B02-KERUSI-TAMAN-ROW-01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Kayu Keras</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Kayu Keras</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271956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Dimensi</a:t>
            </a:r>
          </a:p>
        </p:txBody>
      </p:sp>
      <p:sp>
        <p:nvSpPr>
          <p:cNvPr id="43"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Penyambungan</a:t>
            </a:r>
          </a:p>
        </p:txBody>
      </p:sp>
      <p:sp>
        <p:nvSpPr>
          <p:cNvPr id="45" name="Tick"/>
          <p:cNvSpPr/>
          <p:nvPr/>
        </p:nvSpPr>
        <p:spPr>
          <a:xfrm>
            <a:off x="828368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Kemasan</a:t>
            </a:r>
          </a:p>
        </p:txBody>
      </p:sp>
      <p:sp>
        <p:nvSpPr>
          <p:cNvPr id="47"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Jati, Cengal, Balau</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Kayu Keras, modul ms 242. Aset K5PL06T03-B02-IMG-p242-x28.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Kerusi Kayu Keras</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Kemasan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Sealant luaran, minyak kayu, atau varnis tahan UV dan kelembapan.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Kayu Keras</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II_KERUSI_TAMAN_R01_SPEC04  &lt;-  K5-PL06-T03-B02-KERUSI-TAMAN-ROW-01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SCR_KERUSI_TAMAN_EX01_DETAIL (senarai contoh komponen).</a:t>
            </a:r>
          </a:p>
          <a:p>
            <a:r>
              <a:rPr lang="en-MY" sz="900" dirty="0">
                <a:solidFill>
                  <a:schemeClr val="tx1">
                    <a:lumMod val="85000"/>
                    <a:lumOff val="15000"/>
                  </a:schemeClr>
                </a:solidFill>
              </a:rPr>
              <a:t>  4/4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item interaksi daripada SATU baris sumber: K5-PL06-T03-B02-KERUSI-TAMAN-ROW-01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Kayu Keras</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Kayu Keras</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271956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Dimensi</a:t>
            </a:r>
          </a:p>
        </p:txBody>
      </p:sp>
      <p:sp>
        <p:nvSpPr>
          <p:cNvPr id="43"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Penyambungan</a:t>
            </a:r>
          </a:p>
        </p:txBody>
      </p:sp>
      <p:sp>
        <p:nvSpPr>
          <p:cNvPr id="45" name="Tick"/>
          <p:cNvSpPr/>
          <p:nvPr/>
        </p:nvSpPr>
        <p:spPr>
          <a:xfrm>
            <a:off x="828368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103120"/>
            <a:ext cx="2398014"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Kemasan</a:t>
            </a:r>
          </a:p>
        </p:txBody>
      </p:sp>
      <p:sp>
        <p:nvSpPr>
          <p:cNvPr id="47"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Jati, Cengal, Balau</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Kayu Keras, modul ms 242. Aset K5PL06T03-B02-IMG-p242-x28.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Kayu Keras</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SCR_KERUSI_TAMAN_MAIN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SCR_KERUSI_TAMAN_EX01_DETAIL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II_KERUSI_TAMAN_R01_SPEC01  &lt;-  K5-PL06-T03-B02-KERUSI-TAMAN-ROW-01</a:t>
            </a:r>
          </a:p>
          <a:p>
            <a:r>
              <a:rPr lang="en-MY" sz="900" dirty="0">
                <a:solidFill>
                  <a:schemeClr val="tx1">
                    <a:lumMod val="85000"/>
                    <a:lumOff val="15000"/>
                  </a:schemeClr>
                </a:solidFill>
              </a:rPr>
              <a:t>  II_KERUSI_TAMAN_R01_SPEC02  &lt;-  K5-PL06-T03-B02-KERUSI-TAMAN-ROW-01</a:t>
            </a:r>
          </a:p>
          <a:p>
            <a:r>
              <a:rPr lang="en-MY" sz="900" dirty="0">
                <a:solidFill>
                  <a:schemeClr val="tx1">
                    <a:lumMod val="85000"/>
                    <a:lumOff val="15000"/>
                  </a:schemeClr>
                </a:solidFill>
              </a:rPr>
              <a:t>  II_KERUSI_TAMAN_R01_SPEC03  &lt;-  K5-PL06-T03-B02-KERUSI-TAMAN-ROW-01</a:t>
            </a:r>
          </a:p>
          <a:p>
            <a:r>
              <a:rPr lang="en-MY" sz="900" dirty="0">
                <a:solidFill>
                  <a:schemeClr val="tx1">
                    <a:lumMod val="85000"/>
                    <a:lumOff val="15000"/>
                  </a:schemeClr>
                </a:solidFill>
              </a:rPr>
              <a:t>  II_KERUSI_TAMAN_R01_SPEC04  &lt;-  K5-PL06-T03-B02-KERUSI-TAMAN-ROW-01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SCR_KERUSI_TAMAN_MAIN (senarai contoh komponen).</a:t>
            </a:r>
          </a:p>
          <a:p>
            <a:r>
              <a:rPr lang="en-MY" sz="900" dirty="0">
                <a:solidFill>
                  <a:schemeClr val="tx1">
                    <a:lumMod val="85000"/>
                    <a:lumOff val="15000"/>
                  </a:schemeClr>
                </a:solidFill>
              </a:rPr>
              <a:t>  4/4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item interaksi daripada SATU baris sumber: K5-PL06-T03-B02-KERUSI-TAMAN-ROW-01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Konkrit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Konkrit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30" name="VisualDir"/>
          <p:cNvSpPr txBox="1"/>
          <p:nvPr/>
        </p:nvSpPr>
        <p:spPr>
          <a:xfrm>
            <a:off x="723930" y="3383280"/>
            <a:ext cx="10744200" cy="621792"/>
          </a:xfrm>
          <a:prstGeom prst="rect">
            <a:avLst/>
          </a:prstGeom>
          <a:noFill/>
        </p:spPr>
        <p:txBody>
          <a:bodyPr wrap="square">
            <a:noAutofit/>
          </a:bodyPr>
          <a:lstStyle/>
          <a:p>
            <a:pPr/>
            <a:r>
              <a:rPr lang="en-MY" sz="1100" dirty="0">
                <a:solidFill>
                  <a:srgbClr val="808080"/>
                </a:solidFill>
              </a:rPr>
              <a:t>[Visual: Foto jadual spesifikasi Kerusi Konkrit, modul ms 243. Aset K5PL06T03-B02-IMG-p243-x31.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Konkrit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[example_complete[K5-PL06-T03-B02-KERUSI-TAMAN-ROW-02]]</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SCR_KERUSI_TAMAN_MAIN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SCR_KERUSI_TAMAN_EX02_DETAIL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K5-PL06-T03-B02-KERUSI-TAMAN-ROW-02</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K5PL06T03-B02-IMG-p243-x31</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II_KERUSI_TAMAN_R02_SPEC01  &lt;-  K5-PL06-T03-B02-KERUSI-TAMAN-ROW-02</a:t>
            </a:r>
          </a:p>
          <a:p>
            <a:r>
              <a:rPr lang="en-MY" sz="900" dirty="0">
                <a:solidFill>
                  <a:schemeClr val="tx1">
                    <a:lumMod val="85000"/>
                    <a:lumOff val="15000"/>
                  </a:schemeClr>
                </a:solidFill>
              </a:rPr>
              <a:t>  II_KERUSI_TAMAN_R02_SPEC02  &lt;-  K5-PL06-T03-B02-KERUSI-TAMAN-ROW-02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SCR_KERUSI_TAMAN_MAIN (senarai contoh komponen).</a:t>
            </a:r>
          </a:p>
          <a:p>
            <a:r>
              <a:rPr lang="en-MY" sz="900" dirty="0">
                <a:solidFill>
                  <a:schemeClr val="tx1">
                    <a:lumMod val="85000"/>
                    <a:lumOff val="15000"/>
                  </a:schemeClr>
                </a:solidFill>
              </a:rPr>
              <a:t>  0/2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spesifikasi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Konkrit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Konkrit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30" name="VisualDir"/>
          <p:cNvSpPr txBox="1"/>
          <p:nvPr/>
        </p:nvSpPr>
        <p:spPr>
          <a:xfrm>
            <a:off x="723930" y="3383280"/>
            <a:ext cx="10744200" cy="621792"/>
          </a:xfrm>
          <a:prstGeom prst="rect">
            <a:avLst/>
          </a:prstGeom>
          <a:noFill/>
        </p:spPr>
        <p:txBody>
          <a:bodyPr wrap="square">
            <a:noAutofit/>
          </a:bodyPr>
          <a:lstStyle/>
          <a:p>
            <a:pPr/>
            <a:r>
              <a:rPr lang="en-MY" sz="1100" dirty="0">
                <a:solidFill>
                  <a:srgbClr val="808080"/>
                </a:solidFill>
              </a:rPr>
              <a:t>[Visual: Foto jadual spesifikasi Kerusi Konkrit, modul ms 243. Aset K5PL06T03-B02-IMG-p243-x31.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Kerusi Konkrit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Konkrit bertetulang gentian (FRC) atau konkrit pratuang (precast concrete). Pembesaran</a:t>
            </a:r>
          </a:p>
          <a:p>
            <a:pPr/>
            <a:r>
              <a:rPr lang="en-MY" sz="1250" dirty="0">
                <a:solidFill>
                  <a:schemeClr val="tx1">
                    <a:lumMod val="85000"/>
                    <a:lumOff val="15000"/>
                  </a:schemeClr>
                </a:solidFill>
              </a:rPr>
              <a:t>(expansion joints) mungkin diperlukan bagi mengelak keretakan akibat perubahan suhu.</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Konkrit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SCR_KERUSI_TAMAN_EX02_DETAIL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K5-PL06-T03-B02-KERUSI-TAMAN-ROW-02</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II_KERUSI_TAMAN_R02_SPEC01  &lt;-  K5-PL06-T03-B02-KERUSI-TAMAN-ROW-02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SCR_KERUSI_TAMAN_EX02_DETAIL (senarai contoh komponen).</a:t>
            </a:r>
          </a:p>
          <a:p>
            <a:r>
              <a:rPr lang="en-MY" sz="900" dirty="0">
                <a:solidFill>
                  <a:schemeClr val="tx1">
                    <a:lumMod val="85000"/>
                    <a:lumOff val="15000"/>
                  </a:schemeClr>
                </a:solidFill>
              </a:rPr>
              <a:t>  1/2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Konkrit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Konkrit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Kemasan</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 name="VisualDir"/>
          <p:cNvSpPr txBox="1"/>
          <p:nvPr/>
        </p:nvSpPr>
        <p:spPr>
          <a:xfrm>
            <a:off x="723930" y="3383280"/>
            <a:ext cx="10744200" cy="621792"/>
          </a:xfrm>
          <a:prstGeom prst="rect">
            <a:avLst/>
          </a:prstGeom>
          <a:noFill/>
        </p:spPr>
        <p:txBody>
          <a:bodyPr wrap="square">
            <a:noAutofit/>
          </a:bodyPr>
          <a:lstStyle/>
          <a:p>
            <a:pPr/>
            <a:r>
              <a:rPr lang="en-MY" sz="1100" dirty="0">
                <a:solidFill>
                  <a:srgbClr val="808080"/>
                </a:solidFill>
              </a:rPr>
              <a:t>[Visual: Foto jadual spesifikasi Kerusi Konkrit, modul ms 243. Aset K5PL06T03-B02-IMG-p243-x31.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Kerusi Konkrit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Kemasan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Boleh dibiarkan asli, digilap, dicat, atau bertekstur (exposed aggregate). Permukaan mesti</a:t>
            </a:r>
          </a:p>
          <a:p>
            <a:pPr/>
            <a:r>
              <a:rPr lang="en-MY" sz="1250" dirty="0">
                <a:solidFill>
                  <a:schemeClr val="tx1">
                    <a:lumMod val="85000"/>
                    <a:lumOff val="15000"/>
                  </a:schemeClr>
                </a:solidFill>
              </a:rPr>
              <a:t>licin, tanpa tepi tajam.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Konkrit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SCR_KERUSI_TAMAN_EX02_DETAIL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K5-PL06-T03-B02-KERUSI-TAMAN-ROW-02</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II_KERUSI_TAMAN_R02_SPEC02  &lt;-  K5-PL06-T03-B02-KERUSI-TAMAN-ROW-02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SCR_KERUSI_TAMAN_EX02_DETAIL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Konkrit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Konkrit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Kemasan</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 name="VisualDir"/>
          <p:cNvSpPr txBox="1"/>
          <p:nvPr/>
        </p:nvSpPr>
        <p:spPr>
          <a:xfrm>
            <a:off x="723930" y="3383280"/>
            <a:ext cx="10744200" cy="621792"/>
          </a:xfrm>
          <a:prstGeom prst="rect">
            <a:avLst/>
          </a:prstGeom>
          <a:noFill/>
        </p:spPr>
        <p:txBody>
          <a:bodyPr wrap="square">
            <a:noAutofit/>
          </a:bodyPr>
          <a:lstStyle/>
          <a:p>
            <a:pPr/>
            <a:r>
              <a:rPr lang="en-MY" sz="1100" dirty="0">
                <a:solidFill>
                  <a:srgbClr val="808080"/>
                </a:solidFill>
              </a:rPr>
              <a:t>[Visual: Foto jadual spesifikasi Kerusi Konkrit, modul ms 243. Aset K5PL06T03-B02-IMG-p243-x31.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Konkrit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SCR_KERUSI_TAMAN_MAIN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SCR_KERUSI_TAMAN_EX02_DETAIL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K5-PL06-T03-B02-KERUSI-TAMAN-ROW-02</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II_KERUSI_TAMAN_R02_SPEC01  &lt;-  K5-PL06-T03-B02-KERUSI-TAMAN-ROW-02</a:t>
            </a:r>
          </a:p>
          <a:p>
            <a:r>
              <a:rPr lang="en-MY" sz="900" dirty="0">
                <a:solidFill>
                  <a:schemeClr val="tx1">
                    <a:lumMod val="85000"/>
                    <a:lumOff val="15000"/>
                  </a:schemeClr>
                </a:solidFill>
              </a:rPr>
              <a:t>  II_KERUSI_TAMAN_R02_SPEC02  &lt;-  K5-PL06-T03-B02-KERUSI-TAMAN-ROW-02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SCR_KERUSI_TAMAN_MAIN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Komposit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Komposit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WPC - </a:t>
            </a:r>
            <a:r>
              <a:rPr lang="en-MY" sz="1400" b="1" i="1" dirty="0">
                <a:solidFill>
                  <a:schemeClr val="tx1">
                    <a:lumMod val="85000"/>
                    <a:lumOff val="15000"/>
                  </a:schemeClr>
                </a:solidFill>
              </a:rPr>
              <a:t>Wood-Plastic Composite</a:t>
            </a:r>
            <a:r>
              <a:rPr lang="en-MY" sz="1400" b="1" dirty="0">
                <a:solidFill>
                  <a:schemeClr val="tx1">
                    <a:lumMod val="85000"/>
                    <a:lumOff val="15000"/>
                  </a:schemeClr>
                </a:solidFill>
              </a:rPr>
              <a:t> / Plastik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Komposit, modul ms 243. Aset K5PL06T03-B02-IMG-p243-x32.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Komposit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[example_complete[K5-PL06-T03-B02-KERUSI-TAMAN-ROW-03]]</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SCR_KERUSI_TAMAN_MAIN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SCR_KERUSI_TAMAN_EX03_DETAIL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K5-PL06-T03-B02-KERUSI-TAMAN-ROW-03</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K5PL06T03-B02-IMG-p243-x32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II_KERUSI_TAMAN_R03_SPEC01  &lt;-  K5-PL06-T03-B02-KERUSI-TAMAN-ROW-03</a:t>
            </a:r>
          </a:p>
          <a:p>
            <a:r>
              <a:rPr lang="en-MY" sz="900" dirty="0">
                <a:solidFill>
                  <a:schemeClr val="tx1">
                    <a:lumMod val="85000"/>
                    <a:lumOff val="15000"/>
                  </a:schemeClr>
                </a:solidFill>
              </a:rPr>
              <a:t>  II_KERUSI_TAMAN_R03_SPEC02  &lt;-  K5-PL06-T03-B02-KERUSI-TAMAN-ROW-03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SCR_KERUSI_TAMAN_MAIN (senarai contoh komponen).</a:t>
            </a:r>
          </a:p>
          <a:p>
            <a:r>
              <a:rPr lang="en-MY" sz="900" dirty="0">
                <a:solidFill>
                  <a:schemeClr val="tx1">
                    <a:lumMod val="85000"/>
                    <a:lumOff val="15000"/>
                  </a:schemeClr>
                </a:solidFill>
              </a:rPr>
              <a:t>  0/2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K5-PL06-T03-B02-KERUSI-TAMAN-ROW-03</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spesifikasi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Komposit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Komposit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Kemasan</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WPC - </a:t>
            </a:r>
            <a:r>
              <a:rPr lang="en-MY" sz="1400" b="1" i="1" dirty="0">
                <a:solidFill>
                  <a:schemeClr val="tx1">
                    <a:lumMod val="85000"/>
                    <a:lumOff val="15000"/>
                  </a:schemeClr>
                </a:solidFill>
              </a:rPr>
              <a:t>Wood-Plastic Composite</a:t>
            </a:r>
            <a:r>
              <a:rPr lang="en-MY" sz="1400" b="1" dirty="0">
                <a:solidFill>
                  <a:schemeClr val="tx1">
                    <a:lumMod val="85000"/>
                    <a:lumOff val="15000"/>
                  </a:schemeClr>
                </a:solidFill>
              </a:rPr>
              <a:t> / Plastik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Komposit, modul ms 243. Aset K5PL06T03-B02-IMG-p243-x32.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Kerusi Komposit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644652"/>
          </a:xfrm>
          <a:prstGeom prst="rect">
            <a:avLst/>
          </a:prstGeom>
          <a:noFill/>
        </p:spPr>
        <p:txBody>
          <a:bodyPr wrap="square">
            <a:noAutofit/>
          </a:bodyPr>
          <a:lstStyle/>
          <a:p>
            <a:pPr/>
            <a:r>
              <a:rPr lang="en-MY" sz="1250" dirty="0">
                <a:solidFill>
                  <a:schemeClr val="tx1">
                    <a:lumMod val="85000"/>
                    <a:lumOff val="15000"/>
                  </a:schemeClr>
                </a:solidFill>
              </a:rPr>
              <a:t>Papan atau profil daripada campuran gentian kayu/selulosa dan plastik kitar semula. Tahan</a:t>
            </a:r>
          </a:p>
          <a:p>
            <a:pPr/>
            <a:r>
              <a:rPr lang="en-MY" sz="1250" dirty="0">
                <a:solidFill>
                  <a:schemeClr val="tx1">
                    <a:lumMod val="85000"/>
                    <a:lumOff val="15000"/>
                  </a:schemeClr>
                </a:solidFill>
              </a:rPr>
              <a:t>UV,</a:t>
            </a:r>
          </a:p>
          <a:p>
            <a:pPr/>
            <a:r>
              <a:rPr lang="en-MY" sz="1250" dirty="0">
                <a:solidFill>
                  <a:schemeClr val="tx1">
                    <a:lumMod val="85000"/>
                    <a:lumOff val="15000"/>
                  </a:schemeClr>
                </a:solidFill>
              </a:rPr>
              <a:t>kalis air, tidak reput, kalis serangga.</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Komposit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SCR_KERUSI_TAMAN_EX03_DETAIL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K5-PL06-T03-B02-KERUSI-TAMAN-ROW-03</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II_KERUSI_TAMAN_R03_SPEC01  &lt;-  K5-PL06-T03-B02-KERUSI-TAMAN-ROW-03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SCR_KERUSI_TAMAN_EX03_DETAIL (senarai contoh komponen).</a:t>
            </a:r>
          </a:p>
          <a:p>
            <a:r>
              <a:rPr lang="en-MY" sz="900" dirty="0">
                <a:solidFill>
                  <a:schemeClr val="tx1">
                    <a:lumMod val="85000"/>
                    <a:lumOff val="15000"/>
                  </a:schemeClr>
                </a:solidFill>
              </a:rPr>
              <a:t>  1/2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K5-PL06-T03-B02-KERUSI-TAMAN-ROW-03</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Komposit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Komposit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Kemasan</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WPC - </a:t>
            </a:r>
            <a:r>
              <a:rPr lang="en-MY" sz="1400" b="1" i="1" dirty="0">
                <a:solidFill>
                  <a:schemeClr val="tx1">
                    <a:lumMod val="85000"/>
                    <a:lumOff val="15000"/>
                  </a:schemeClr>
                </a:solidFill>
              </a:rPr>
              <a:t>Wood-Plastic Composite</a:t>
            </a:r>
            <a:r>
              <a:rPr lang="en-MY" sz="1400" b="1" dirty="0">
                <a:solidFill>
                  <a:schemeClr val="tx1">
                    <a:lumMod val="85000"/>
                    <a:lumOff val="15000"/>
                  </a:schemeClr>
                </a:solidFill>
              </a:rPr>
              <a:t> / Plastik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Komposit, modul ms 243. Aset K5PL06T03-B02-IMG-p243-x32.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Kerusi Komposit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Kemasan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Warna disepadukan dalam bahan; tidak memerlukan cat atau varnis. Tekstur permukaan mungkin</a:t>
            </a:r>
          </a:p>
          <a:p>
            <a:pPr/>
            <a:r>
              <a:rPr lang="en-MY" sz="1250" dirty="0">
                <a:solidFill>
                  <a:schemeClr val="tx1">
                    <a:lumMod val="85000"/>
                    <a:lumOff val="15000"/>
                  </a:schemeClr>
                </a:solidFill>
              </a:rPr>
              <a:t>meniru urat kayu.</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Komposit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SCR_KERUSI_TAMAN_EX03_DETAIL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SCR_KERUSI_TAMAN_EX03_DETAIL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K5-PL06-T03-B02-KERUSI-TAMAN-ROW-03</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II_KERUSI_TAMAN_R03_SPEC02  &lt;-  K5-PL06-T03-B02-KERUSI-TAMAN-ROW-03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SCR_KERUSI_TAMAN_EX03_DETAIL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K5-PL06-T03-B02-KERUSI-TAMAN-ROW-03</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Komposit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Kerusi Taman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Kerusi Komposit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Kemasan</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WPC - </a:t>
            </a:r>
            <a:r>
              <a:rPr lang="en-MY" sz="1400" b="1" i="1" dirty="0">
                <a:solidFill>
                  <a:schemeClr val="tx1">
                    <a:lumMod val="85000"/>
                    <a:lumOff val="15000"/>
                  </a:schemeClr>
                </a:solidFill>
              </a:rPr>
              <a:t>Wood-Plastic Composite</a:t>
            </a:r>
            <a:r>
              <a:rPr lang="en-MY" sz="1400" b="1" dirty="0">
                <a:solidFill>
                  <a:schemeClr val="tx1">
                    <a:lumMod val="85000"/>
                    <a:lumOff val="15000"/>
                  </a:schemeClr>
                </a:solidFill>
              </a:rPr>
              <a:t> / Plastik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Kerusi Komposit, modul ms 243. Aset K5PL06T03-B02-IMG-p243-x32.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Kerusi Komposit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SCR_KERUSI_TAMAN_MAIN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SCR_KERUSI_TAMAN_EX03_DETAIL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K5-PL06-T03-B02-KERUSI-TAMAN-ROW-03</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II_KERUSI_TAMAN_R03_SPEC01  &lt;-  K5-PL06-T03-B02-KERUSI-TAMAN-ROW-03</a:t>
            </a:r>
          </a:p>
          <a:p>
            <a:r>
              <a:rPr lang="en-MY" sz="900" dirty="0">
                <a:solidFill>
                  <a:schemeClr val="tx1">
                    <a:lumMod val="85000"/>
                    <a:lumOff val="15000"/>
                  </a:schemeClr>
                </a:solidFill>
              </a:rPr>
              <a:t>  II_KERUSI_TAMAN_R03_SPEC02  &lt;-  K5-PL06-T03-B02-KERUSI-TAMAN-ROW-03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SCR_KERUSI_TAMAN_MAIN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K5-PL06-T03-B02-KERUSI-TAMAN-ROW-03</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Kerusi Taman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Kerusi Taman</a:t>
            </a:r>
          </a:p>
        </p:txBody>
      </p:sp>
      <p:sp>
        <p:nvSpPr>
          <p:cNvPr id="25" name="Instr"/>
          <p:cNvSpPr txBox="1"/>
          <p:nvPr/>
        </p:nvSpPr>
        <p:spPr>
          <a:xfrm>
            <a:off x="723930" y="1591056"/>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contoh untuk melihat perincian.</a:t>
            </a:r>
          </a:p>
        </p:txBody>
      </p:sp>
      <p:sp>
        <p:nvSpPr>
          <p:cNvPr id="40" name="ItemCard"/>
          <p:cNvSpPr txBox="1"/>
          <p:nvPr/>
        </p:nvSpPr>
        <p:spPr>
          <a:xfrm>
            <a:off x="723885" y="2157984"/>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Kerusi Kayu Keras</a:t>
            </a:r>
          </a:p>
        </p:txBody>
      </p:sp>
      <p:sp>
        <p:nvSpPr>
          <p:cNvPr id="41" name="Tick"/>
          <p:cNvSpPr/>
          <p:nvPr/>
        </p:nvSpPr>
        <p:spPr>
          <a:xfrm>
            <a:off x="3646917"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57984"/>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Kerusi Konkrit</a:t>
            </a:r>
          </a:p>
        </p:txBody>
      </p:sp>
      <p:sp>
        <p:nvSpPr>
          <p:cNvPr id="43" name="Tick"/>
          <p:cNvSpPr/>
          <p:nvPr/>
        </p:nvSpPr>
        <p:spPr>
          <a:xfrm>
            <a:off x="7356333"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57984"/>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Kerusi Komposit</a:t>
            </a:r>
          </a:p>
        </p:txBody>
      </p:sp>
      <p:sp>
        <p:nvSpPr>
          <p:cNvPr id="45" name="Tick"/>
          <p:cNvSpPr/>
          <p:nvPr/>
        </p:nvSpPr>
        <p:spPr>
          <a:xfrm>
            <a:off x="11065749"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0" name="OverviewHead"/>
          <p:cNvSpPr txBox="1"/>
          <p:nvPr/>
        </p:nvSpPr>
        <p:spPr>
          <a:xfrm>
            <a:off x="723930" y="4974336"/>
            <a:ext cx="10744200" cy="201168"/>
          </a:xfrm>
          <a:prstGeom prst="rect">
            <a:avLst/>
          </a:prstGeom>
          <a:noFill/>
        </p:spPr>
        <p:txBody>
          <a:bodyPr wrap="square">
            <a:noAutofit/>
          </a:bodyPr>
          <a:lstStyle/>
          <a:p>
            <a:pPr/>
            <a:r>
              <a:rPr lang="en-MY" sz="850" b="1" dirty="0">
                <a:solidFill>
                  <a:srgbClr val="7F6000"/>
                </a:solidFill>
              </a:rPr>
              <a:t>ARAHAN VISUAL — OVERVIEW KOMPONEN (TIDAK DIBENAMKAN)</a:t>
            </a:r>
          </a:p>
        </p:txBody>
      </p:sp>
      <p:sp>
        <p:nvSpPr>
          <p:cNvPr id="301" name="OverviewCard"/>
          <p:cNvSpPr txBox="1"/>
          <p:nvPr/>
        </p:nvSpPr>
        <p:spPr>
          <a:xfrm>
            <a:off x="723930" y="5212080"/>
            <a:ext cx="2377440" cy="870509"/>
          </a:xfrm>
          <a:prstGeom prst="rect">
            <a:avLst/>
          </a:prstGeom>
          <a:solidFill>
            <a:srgbClr val="F7F7F7"/>
          </a:solidFill>
          <a:ln w="12700">
            <a:solidFill>
              <a:srgbClr val="BFBFBF"/>
            </a:solidFill>
          </a:ln>
        </p:spPr>
        <p:txBody>
          <a:bodyPr wrap="square">
            <a:noAutofit/>
          </a:bodyPr>
          <a:lstStyle/>
        </p:txBody>
      </p:sp>
      <p:sp>
        <p:nvSpPr>
          <p:cNvPr id="302" name="OverviewSubject"/>
          <p:cNvSpPr txBox="1"/>
          <p:nvPr/>
        </p:nvSpPr>
        <p:spPr>
          <a:xfrm>
            <a:off x="815370" y="5266944"/>
            <a:ext cx="2194560" cy="193853"/>
          </a:xfrm>
          <a:prstGeom prst="rect">
            <a:avLst/>
          </a:prstGeom>
          <a:noFill/>
        </p:spPr>
        <p:txBody>
          <a:bodyPr wrap="square">
            <a:noAutofit/>
          </a:bodyPr>
          <a:lstStyle/>
          <a:p>
            <a:pPr/>
            <a:r>
              <a:rPr lang="en-MY" sz="900" b="1" dirty="0">
                <a:solidFill>
                  <a:schemeClr val="tx1">
                    <a:lumMod val="85000"/>
                    <a:lumOff val="15000"/>
                  </a:schemeClr>
                </a:solidFill>
              </a:rPr>
              <a:t>Kerusi Kayu Keras</a:t>
            </a:r>
          </a:p>
        </p:txBody>
      </p:sp>
      <p:sp>
        <p:nvSpPr>
          <p:cNvPr id="303" name="OverviewDir"/>
          <p:cNvSpPr txBox="1"/>
          <p:nvPr/>
        </p:nvSpPr>
        <p:spPr>
          <a:xfrm>
            <a:off x="815370" y="5497373"/>
            <a:ext cx="2194560" cy="512064"/>
          </a:xfrm>
          <a:prstGeom prst="rect">
            <a:avLst/>
          </a:prstGeom>
          <a:noFill/>
        </p:spPr>
        <p:txBody>
          <a:bodyPr wrap="square">
            <a:noAutofit/>
          </a:bodyPr>
          <a:lstStyle/>
          <a:p>
            <a:pPr/>
            <a:r>
              <a:rPr lang="en-MY" sz="750" dirty="0">
                <a:solidFill>
                  <a:srgbClr val="808080"/>
                </a:solidFill>
              </a:rPr>
              <a:t>[Visual: Foto jadual spesifikasi Kerusi Kayu</a:t>
            </a:r>
          </a:p>
          <a:p>
            <a:pPr/>
            <a:r>
              <a:rPr lang="en-MY" sz="750" dirty="0">
                <a:solidFill>
                  <a:srgbClr val="808080"/>
                </a:solidFill>
              </a:rPr>
              <a:t>Keras, modul ms 242. Aset</a:t>
            </a:r>
          </a:p>
          <a:p>
            <a:pPr/>
            <a:r>
              <a:rPr lang="en-MY" sz="750" dirty="0">
                <a:solidFill>
                  <a:srgbClr val="808080"/>
                </a:solidFill>
              </a:rPr>
              <a:t>K5PL06T03-B02-IMG-p242-x28. Tidak</a:t>
            </a:r>
          </a:p>
          <a:p>
            <a:pPr/>
            <a:r>
              <a:rPr lang="en-MY" sz="750" dirty="0">
                <a:solidFill>
                  <a:srgbClr val="808080"/>
                </a:solidFill>
              </a:rPr>
              <a:t>dibenamkan.]</a:t>
            </a:r>
          </a:p>
        </p:txBody>
      </p:sp>
      <p:sp>
        <p:nvSpPr>
          <p:cNvPr id="304" name="OverviewCard"/>
          <p:cNvSpPr txBox="1"/>
          <p:nvPr/>
        </p:nvSpPr>
        <p:spPr>
          <a:xfrm>
            <a:off x="3284250" y="5212080"/>
            <a:ext cx="2377440" cy="870509"/>
          </a:xfrm>
          <a:prstGeom prst="rect">
            <a:avLst/>
          </a:prstGeom>
          <a:solidFill>
            <a:srgbClr val="F7F7F7"/>
          </a:solidFill>
          <a:ln w="12700">
            <a:solidFill>
              <a:srgbClr val="BFBFBF"/>
            </a:solidFill>
          </a:ln>
        </p:spPr>
        <p:txBody>
          <a:bodyPr wrap="square">
            <a:noAutofit/>
          </a:bodyPr>
          <a:lstStyle/>
        </p:txBody>
      </p:sp>
      <p:sp>
        <p:nvSpPr>
          <p:cNvPr id="305" name="OverviewSubject"/>
          <p:cNvSpPr txBox="1"/>
          <p:nvPr/>
        </p:nvSpPr>
        <p:spPr>
          <a:xfrm>
            <a:off x="3375690" y="5266944"/>
            <a:ext cx="2194560" cy="193853"/>
          </a:xfrm>
          <a:prstGeom prst="rect">
            <a:avLst/>
          </a:prstGeom>
          <a:noFill/>
        </p:spPr>
        <p:txBody>
          <a:bodyPr wrap="square">
            <a:noAutofit/>
          </a:bodyPr>
          <a:lstStyle/>
          <a:p>
            <a:pPr/>
            <a:r>
              <a:rPr lang="en-MY" sz="900" b="1" dirty="0">
                <a:solidFill>
                  <a:schemeClr val="tx1">
                    <a:lumMod val="85000"/>
                    <a:lumOff val="15000"/>
                  </a:schemeClr>
                </a:solidFill>
              </a:rPr>
              <a:t>Kerusi Konkrit</a:t>
            </a:r>
          </a:p>
        </p:txBody>
      </p:sp>
      <p:sp>
        <p:nvSpPr>
          <p:cNvPr id="306" name="OverviewDir"/>
          <p:cNvSpPr txBox="1"/>
          <p:nvPr/>
        </p:nvSpPr>
        <p:spPr>
          <a:xfrm>
            <a:off x="3375690" y="5497373"/>
            <a:ext cx="2194560" cy="512064"/>
          </a:xfrm>
          <a:prstGeom prst="rect">
            <a:avLst/>
          </a:prstGeom>
          <a:noFill/>
        </p:spPr>
        <p:txBody>
          <a:bodyPr wrap="square">
            <a:noAutofit/>
          </a:bodyPr>
          <a:lstStyle/>
          <a:p>
            <a:pPr/>
            <a:r>
              <a:rPr lang="en-MY" sz="750" dirty="0">
                <a:solidFill>
                  <a:srgbClr val="808080"/>
                </a:solidFill>
              </a:rPr>
              <a:t>[Visual: Foto jadual spesifikasi Kerusi</a:t>
            </a:r>
          </a:p>
          <a:p>
            <a:pPr/>
            <a:r>
              <a:rPr lang="en-MY" sz="750" dirty="0">
                <a:solidFill>
                  <a:srgbClr val="808080"/>
                </a:solidFill>
              </a:rPr>
              <a:t>Konkrit, modul ms 243. Aset</a:t>
            </a:r>
          </a:p>
          <a:p>
            <a:pPr/>
            <a:r>
              <a:rPr lang="en-MY" sz="750" dirty="0">
                <a:solidFill>
                  <a:srgbClr val="808080"/>
                </a:solidFill>
              </a:rPr>
              <a:t>K5PL06T03-B02-IMG-p243-x31. Tidak</a:t>
            </a:r>
          </a:p>
          <a:p>
            <a:pPr/>
            <a:r>
              <a:rPr lang="en-MY" sz="750" dirty="0">
                <a:solidFill>
                  <a:srgbClr val="808080"/>
                </a:solidFill>
              </a:rPr>
              <a:t>dibenamkan.]</a:t>
            </a:r>
          </a:p>
        </p:txBody>
      </p:sp>
      <p:sp>
        <p:nvSpPr>
          <p:cNvPr id="307" name="OverviewCard"/>
          <p:cNvSpPr txBox="1"/>
          <p:nvPr/>
        </p:nvSpPr>
        <p:spPr>
          <a:xfrm>
            <a:off x="5844570" y="5212080"/>
            <a:ext cx="2377440" cy="870509"/>
          </a:xfrm>
          <a:prstGeom prst="rect">
            <a:avLst/>
          </a:prstGeom>
          <a:solidFill>
            <a:srgbClr val="F7F7F7"/>
          </a:solidFill>
          <a:ln w="12700">
            <a:solidFill>
              <a:srgbClr val="BFBFBF"/>
            </a:solidFill>
          </a:ln>
        </p:spPr>
        <p:txBody>
          <a:bodyPr wrap="square">
            <a:noAutofit/>
          </a:bodyPr>
          <a:lstStyle/>
        </p:txBody>
      </p:sp>
      <p:sp>
        <p:nvSpPr>
          <p:cNvPr id="308" name="OverviewSubject"/>
          <p:cNvSpPr txBox="1"/>
          <p:nvPr/>
        </p:nvSpPr>
        <p:spPr>
          <a:xfrm>
            <a:off x="5936010" y="5266944"/>
            <a:ext cx="2194560" cy="193853"/>
          </a:xfrm>
          <a:prstGeom prst="rect">
            <a:avLst/>
          </a:prstGeom>
          <a:noFill/>
        </p:spPr>
        <p:txBody>
          <a:bodyPr wrap="square">
            <a:noAutofit/>
          </a:bodyPr>
          <a:lstStyle/>
          <a:p>
            <a:pPr/>
            <a:r>
              <a:rPr lang="en-MY" sz="900" b="1" dirty="0">
                <a:solidFill>
                  <a:schemeClr val="tx1">
                    <a:lumMod val="85000"/>
                    <a:lumOff val="15000"/>
                  </a:schemeClr>
                </a:solidFill>
              </a:rPr>
              <a:t>Kerusi Komposit</a:t>
            </a:r>
          </a:p>
        </p:txBody>
      </p:sp>
      <p:sp>
        <p:nvSpPr>
          <p:cNvPr id="309" name="OverviewDir"/>
          <p:cNvSpPr txBox="1"/>
          <p:nvPr/>
        </p:nvSpPr>
        <p:spPr>
          <a:xfrm>
            <a:off x="5936010" y="5497373"/>
            <a:ext cx="2194560" cy="512064"/>
          </a:xfrm>
          <a:prstGeom prst="rect">
            <a:avLst/>
          </a:prstGeom>
          <a:noFill/>
        </p:spPr>
        <p:txBody>
          <a:bodyPr wrap="square">
            <a:noAutofit/>
          </a:bodyPr>
          <a:lstStyle/>
          <a:p>
            <a:pPr/>
            <a:r>
              <a:rPr lang="en-MY" sz="750" dirty="0">
                <a:solidFill>
                  <a:srgbClr val="808080"/>
                </a:solidFill>
              </a:rPr>
              <a:t>[Visual: Foto jadual spesifikasi Kerusi</a:t>
            </a:r>
          </a:p>
          <a:p>
            <a:pPr/>
            <a:r>
              <a:rPr lang="en-MY" sz="750" dirty="0">
                <a:solidFill>
                  <a:srgbClr val="808080"/>
                </a:solidFill>
              </a:rPr>
              <a:t>Komposit, modul ms 243. Aset</a:t>
            </a:r>
          </a:p>
          <a:p>
            <a:pPr/>
            <a:r>
              <a:rPr lang="en-MY" sz="750" dirty="0">
                <a:solidFill>
                  <a:srgbClr val="808080"/>
                </a:solidFill>
              </a:rPr>
              <a:t>K5PL06T03-B02-IMG-p243-x32. Tidak</a:t>
            </a:r>
          </a:p>
          <a:p>
            <a:pPr/>
            <a:r>
              <a:rPr lang="en-MY" sz="750" dirty="0">
                <a:solidFill>
                  <a:srgbClr val="808080"/>
                </a:solidFill>
              </a:rPr>
              <a:t>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Kerusi Taman — penerangan + senarai contoh</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COMPONENT_EXPLANATION_LIST_ALL_VIEWED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[enabled — component 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SCR_KERUSI_TAMAN_MAIN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K5-PL06-T03-B02-KERUSI-TAMAN-ROW-01</a:t>
            </a:r>
          </a:p>
          <a:p>
            <a:r>
              <a:rPr lang="en-MY" sz="900" dirty="0">
                <a:solidFill>
                  <a:schemeClr val="tx1">
                    <a:lumMod val="85000"/>
                    <a:lumOff val="15000"/>
                  </a:schemeClr>
                </a:solidFill>
              </a:rPr>
              <a:t>    ms 242 / fizikal 261</a:t>
            </a:r>
          </a:p>
          <a:p>
            <a:r>
              <a:rPr lang="en-MY" sz="900" dirty="0">
                <a:solidFill>
                  <a:schemeClr val="tx1">
                    <a:lumMod val="85000"/>
                    <a:lumOff val="15000"/>
                  </a:schemeClr>
                </a:solidFill>
              </a:rPr>
              <a:t>  K5-PL06-T03-B02-KERUSI-TAMAN-ROW-02</a:t>
            </a:r>
          </a:p>
          <a:p>
            <a:r>
              <a:rPr lang="en-MY" sz="900" dirty="0">
                <a:solidFill>
                  <a:schemeClr val="tx1">
                    <a:lumMod val="85000"/>
                    <a:lumOff val="15000"/>
                  </a:schemeClr>
                </a:solidFill>
              </a:rPr>
              <a:t>    ms 243 / fizikal 262</a:t>
            </a:r>
          </a:p>
          <a:p>
            <a:r>
              <a:rPr lang="en-MY" sz="900" dirty="0">
                <a:solidFill>
                  <a:schemeClr val="tx1">
                    <a:lumMod val="85000"/>
                    <a:lumOff val="15000"/>
                  </a:schemeClr>
                </a:solidFill>
              </a:rPr>
              <a:t>  K5-PL06-T03-B02-KERUSI-TAMAN-ROW-03</a:t>
            </a:r>
          </a:p>
          <a:p>
            <a:r>
              <a:rPr lang="en-MY" sz="900" dirty="0">
                <a:solidFill>
                  <a:schemeClr val="tx1">
                    <a:lumMod val="85000"/>
                    <a:lumOff val="15000"/>
                  </a:schemeClr>
                </a:solidFill>
              </a:rPr>
              <a:t>    ms 243 / fizikal 262</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II_KERUSI_TAMAN_EX01  &lt;-  K5-PL06-T03-B02-KERUSI-TAMAN-ROW-01</a:t>
            </a:r>
          </a:p>
          <a:p>
            <a:r>
              <a:rPr lang="en-MY" sz="900" dirty="0">
                <a:solidFill>
                  <a:schemeClr val="tx1">
                    <a:lumMod val="85000"/>
                    <a:lumOff val="15000"/>
                  </a:schemeClr>
                </a:solidFill>
              </a:rPr>
              <a:t>  II_KERUSI_TAMAN_EX02  &lt;-  K5-PL06-T03-B02-KERUSI-TAMAN-ROW-02</a:t>
            </a:r>
          </a:p>
          <a:p>
            <a:r>
              <a:rPr lang="en-MY" sz="900" dirty="0">
                <a:solidFill>
                  <a:schemeClr val="tx1">
                    <a:lumMod val="85000"/>
                    <a:lumOff val="15000"/>
                  </a:schemeClr>
                </a:solidFill>
              </a:rPr>
              <a:t>  II_KERUSI_TAMAN_EX03  &lt;-  K5-PL06-T03-B02-KERUSI-TAMAN-ROW-03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contoh = Bariah Level 1. Membuka skrin penuh, bukan popup.</a:t>
            </a:r>
          </a:p>
          <a:p>
            <a:r>
              <a:rPr lang="en-MY" sz="900" dirty="0">
                <a:solidFill>
                  <a:schemeClr val="tx1">
                    <a:lumMod val="85000"/>
                    <a:lumOff val="15000"/>
                  </a:schemeClr>
                </a:solidFill>
              </a:rPr>
              <a:t>  3/3 contoh dilihat.</a:t>
            </a:r>
          </a:p>
          <a:p>
            <a:r>
              <a:rPr lang="en-MY" sz="900" dirty="0">
                <a:solidFill>
                  <a:schemeClr val="tx1">
                    <a:lumMod val="85000"/>
                    <a:lumOff val="15000"/>
                  </a:schemeClr>
                </a:solidFill>
              </a:rPr>
              <a:t>  component_complete hanya benar apabila SEMUA contoh selesai.</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Papan Tanda</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dirty="0">
                <a:solidFill>
                  <a:srgbClr val="7F6000"/>
                </a:solidFill>
              </a:rPr>
              <a:t>Papan Tanda Arah / Papan Tanda Interpretatif</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Bahan Panel</a:t>
            </a:r>
          </a:p>
        </p:txBody>
      </p:sp>
      <p:sp>
        <p:nvSpPr>
          <p:cNvPr id="41" name="ItemCard"/>
          <p:cNvSpPr txBox="1"/>
          <p:nvPr/>
        </p:nvSpPr>
        <p:spPr>
          <a:xfrm>
            <a:off x="3505947"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Bahan Struktur/Tiang</a:t>
            </a:r>
          </a:p>
        </p:txBody>
      </p:sp>
      <p:sp>
        <p:nvSpPr>
          <p:cNvPr id="42" name="ItemCard"/>
          <p:cNvSpPr txBox="1"/>
          <p:nvPr/>
        </p:nvSpPr>
        <p:spPr>
          <a:xfrm>
            <a:off x="6288009"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Grafik</a:t>
            </a:r>
          </a:p>
        </p:txBody>
      </p:sp>
      <p:sp>
        <p:nvSpPr>
          <p:cNvPr id="43"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Rekaan</a:t>
            </a:r>
          </a:p>
        </p:txBody>
      </p:sp>
      <p:sp>
        <p:nvSpPr>
          <p:cNvPr id="30" name="VisualDir"/>
          <p:cNvSpPr txBox="1"/>
          <p:nvPr/>
        </p:nvSpPr>
        <p:spPr>
          <a:xfrm>
            <a:off x="723930" y="4443984"/>
            <a:ext cx="10744200" cy="365760"/>
          </a:xfrm>
          <a:prstGeom prst="rect">
            <a:avLst/>
          </a:prstGeom>
          <a:noFill/>
        </p:spPr>
        <p:txBody>
          <a:bodyPr wrap="square">
            <a:noAutofit/>
          </a:bodyPr>
          <a:lstStyle/>
          <a:p>
            <a:pPr/>
            <a:r>
              <a:rPr lang="en-MY" sz="1100" dirty="0">
                <a:solidFill>
                  <a:srgbClr val="808080"/>
                </a:solidFill>
              </a:rPr>
              <a:t>[Visual: Rajah 25 dan Rajah 26, modul ms 245. Tidak dibenamkan.]</a:t>
            </a:r>
          </a:p>
        </p:txBody>
      </p:sp>
      <p:sp>
        <p:nvSpPr>
          <p:cNvPr id="300" name="OverviewHead"/>
          <p:cNvSpPr txBox="1"/>
          <p:nvPr/>
        </p:nvSpPr>
        <p:spPr>
          <a:xfrm>
            <a:off x="723930" y="4974336"/>
            <a:ext cx="10744200" cy="201168"/>
          </a:xfrm>
          <a:prstGeom prst="rect">
            <a:avLst/>
          </a:prstGeom>
          <a:noFill/>
        </p:spPr>
        <p:txBody>
          <a:bodyPr wrap="square">
            <a:noAutofit/>
          </a:bodyPr>
          <a:lstStyle/>
          <a:p>
            <a:pPr/>
            <a:r>
              <a:rPr lang="en-MY" sz="850" b="1" dirty="0">
                <a:solidFill>
                  <a:srgbClr val="7F6000"/>
                </a:solidFill>
              </a:rPr>
              <a:t>ARAHAN VISUAL — OVERVIEW KOMPONEN (TIDAK DIBENAMKAN)</a:t>
            </a:r>
          </a:p>
        </p:txBody>
      </p:sp>
      <p:sp>
        <p:nvSpPr>
          <p:cNvPr id="301" name="OverviewCard"/>
          <p:cNvSpPr txBox="1"/>
          <p:nvPr/>
        </p:nvSpPr>
        <p:spPr>
          <a:xfrm>
            <a:off x="723930" y="5212080"/>
            <a:ext cx="2377440" cy="870509"/>
          </a:xfrm>
          <a:prstGeom prst="rect">
            <a:avLst/>
          </a:prstGeom>
          <a:solidFill>
            <a:srgbClr val="F7F7F7"/>
          </a:solidFill>
          <a:ln w="12700">
            <a:solidFill>
              <a:srgbClr val="BFBFBF"/>
            </a:solidFill>
          </a:ln>
        </p:spPr>
        <p:txBody>
          <a:bodyPr wrap="square">
            <a:noAutofit/>
          </a:bodyPr>
          <a:lstStyle/>
        </p:txBody>
      </p:sp>
      <p:sp>
        <p:nvSpPr>
          <p:cNvPr id="302" name="OverviewSubject"/>
          <p:cNvSpPr txBox="1"/>
          <p:nvPr/>
        </p:nvSpPr>
        <p:spPr>
          <a:xfrm>
            <a:off x="815370" y="5266944"/>
            <a:ext cx="2194560" cy="193853"/>
          </a:xfrm>
          <a:prstGeom prst="rect">
            <a:avLst/>
          </a:prstGeom>
          <a:noFill/>
        </p:spPr>
        <p:txBody>
          <a:bodyPr wrap="square">
            <a:noAutofit/>
          </a:bodyPr>
          <a:lstStyle/>
          <a:p>
            <a:pPr/>
            <a:r>
              <a:rPr lang="en-MY" sz="900" b="1" dirty="0">
                <a:solidFill>
                  <a:schemeClr val="tx1">
                    <a:lumMod val="85000"/>
                    <a:lumOff val="15000"/>
                  </a:schemeClr>
                </a:solidFill>
              </a:rPr>
              <a:t>Papan Tanda Informasi</a:t>
            </a:r>
          </a:p>
        </p:txBody>
      </p:sp>
      <p:sp>
        <p:nvSpPr>
          <p:cNvPr id="303" name="OverviewDir"/>
          <p:cNvSpPr txBox="1"/>
          <p:nvPr/>
        </p:nvSpPr>
        <p:spPr>
          <a:xfrm>
            <a:off x="815370" y="5497373"/>
            <a:ext cx="2194560" cy="512064"/>
          </a:xfrm>
          <a:prstGeom prst="rect">
            <a:avLst/>
          </a:prstGeom>
          <a:noFill/>
        </p:spPr>
        <p:txBody>
          <a:bodyPr wrap="square">
            <a:noAutofit/>
          </a:bodyPr>
          <a:lstStyle/>
          <a:p>
            <a:pPr/>
            <a:r>
              <a:rPr lang="en-MY" sz="750" dirty="0">
                <a:solidFill>
                  <a:srgbClr val="808080"/>
                </a:solidFill>
              </a:rPr>
              <a:t>[Visual: Rajah 25 — Lukisan Spesifikasi</a:t>
            </a:r>
          </a:p>
          <a:p>
            <a:pPr/>
            <a:r>
              <a:rPr lang="en-MY" sz="750" dirty="0">
                <a:solidFill>
                  <a:srgbClr val="808080"/>
                </a:solidFill>
              </a:rPr>
              <a:t>Papan Tanda Informasi, modul ms 245. Aset</a:t>
            </a:r>
          </a:p>
          <a:p>
            <a:pPr/>
            <a:r>
              <a:rPr lang="en-MY" sz="750" dirty="0">
                <a:solidFill>
                  <a:srgbClr val="808080"/>
                </a:solidFill>
              </a:rPr>
              <a:t>K5PL06T03-B02-IMG-p245-x37. Tidak</a:t>
            </a:r>
          </a:p>
          <a:p>
            <a:pPr/>
            <a:r>
              <a:rPr lang="en-MY" sz="750" dirty="0">
                <a:solidFill>
                  <a:srgbClr val="808080"/>
                </a:solidFill>
              </a:rPr>
              <a:t>dibenamkan.]</a:t>
            </a:r>
          </a:p>
        </p:txBody>
      </p:sp>
      <p:sp>
        <p:nvSpPr>
          <p:cNvPr id="304" name="OverviewCard"/>
          <p:cNvSpPr txBox="1"/>
          <p:nvPr/>
        </p:nvSpPr>
        <p:spPr>
          <a:xfrm>
            <a:off x="3284250" y="5212080"/>
            <a:ext cx="2377440" cy="870509"/>
          </a:xfrm>
          <a:prstGeom prst="rect">
            <a:avLst/>
          </a:prstGeom>
          <a:solidFill>
            <a:srgbClr val="F7F7F7"/>
          </a:solidFill>
          <a:ln w="12700">
            <a:solidFill>
              <a:srgbClr val="BFBFBF"/>
            </a:solidFill>
          </a:ln>
        </p:spPr>
        <p:txBody>
          <a:bodyPr wrap="square">
            <a:noAutofit/>
          </a:bodyPr>
          <a:lstStyle/>
        </p:txBody>
      </p:sp>
      <p:sp>
        <p:nvSpPr>
          <p:cNvPr id="305" name="OverviewSubject"/>
          <p:cNvSpPr txBox="1"/>
          <p:nvPr/>
        </p:nvSpPr>
        <p:spPr>
          <a:xfrm>
            <a:off x="3375690" y="5266944"/>
            <a:ext cx="2194560" cy="193853"/>
          </a:xfrm>
          <a:prstGeom prst="rect">
            <a:avLst/>
          </a:prstGeom>
          <a:noFill/>
        </p:spPr>
        <p:txBody>
          <a:bodyPr wrap="square">
            <a:noAutofit/>
          </a:bodyPr>
          <a:lstStyle/>
          <a:p>
            <a:pPr/>
            <a:r>
              <a:rPr lang="en-MY" sz="900" b="1" dirty="0">
                <a:solidFill>
                  <a:schemeClr val="tx1">
                    <a:lumMod val="85000"/>
                    <a:lumOff val="15000"/>
                  </a:schemeClr>
                </a:solidFill>
              </a:rPr>
              <a:t>Papan Tanda Penunjuk Arah</a:t>
            </a:r>
          </a:p>
        </p:txBody>
      </p:sp>
      <p:sp>
        <p:nvSpPr>
          <p:cNvPr id="306" name="OverviewDir"/>
          <p:cNvSpPr txBox="1"/>
          <p:nvPr/>
        </p:nvSpPr>
        <p:spPr>
          <a:xfrm>
            <a:off x="3375690" y="5497373"/>
            <a:ext cx="2194560" cy="512064"/>
          </a:xfrm>
          <a:prstGeom prst="rect">
            <a:avLst/>
          </a:prstGeom>
          <a:noFill/>
        </p:spPr>
        <p:txBody>
          <a:bodyPr wrap="square">
            <a:noAutofit/>
          </a:bodyPr>
          <a:lstStyle/>
          <a:p>
            <a:pPr/>
            <a:r>
              <a:rPr lang="en-MY" sz="750" dirty="0">
                <a:solidFill>
                  <a:srgbClr val="808080"/>
                </a:solidFill>
              </a:rPr>
              <a:t>[Visual: Rajah 26 — Spesifikasi Papan Tanda</a:t>
            </a:r>
          </a:p>
          <a:p>
            <a:pPr/>
            <a:r>
              <a:rPr lang="en-MY" sz="750" dirty="0">
                <a:solidFill>
                  <a:srgbClr val="808080"/>
                </a:solidFill>
              </a:rPr>
              <a:t>Penunjuk Arah, modul ms 245. Aset</a:t>
            </a:r>
          </a:p>
          <a:p>
            <a:pPr/>
            <a:r>
              <a:rPr lang="en-MY" sz="750" dirty="0">
                <a:solidFill>
                  <a:srgbClr val="808080"/>
                </a:solidFill>
              </a:rPr>
              <a:t>K5PL06T03-B02-IMG-p245-x38. Tidak</a:t>
            </a:r>
          </a:p>
          <a:p>
            <a:pPr/>
            <a:r>
              <a:rPr lang="en-MY" sz="750" dirty="0">
                <a:solidFill>
                  <a:srgbClr val="808080"/>
                </a:solidFill>
              </a:rPr>
              <a:t>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Papan Tanda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COMPONENT_SPEC_LIST_BASE</a:t>
            </a:r>
          </a:p>
          <a:p>
            <a:r>
              <a:rPr lang="en-MY" sz="900" dirty="0">
                <a:solidFill>
                  <a:schemeClr val="tx1">
                    <a:lumMod val="85000"/>
                    <a:lumOff val="15000"/>
                  </a:schemeClr>
                </a:solidFill>
              </a:rPr>
              <a:t/>
            </a:r>
          </a:p>
          <a:p>
            <a:r>
              <a:rPr lang="en-MY" sz="900" dirty="0">
                <a:solidFill>
                  <a:schemeClr val="tx1">
                    <a:lumMod val="85000"/>
                    <a:lumOff val="15000"/>
                  </a:schemeClr>
                </a:solidFill>
              </a:rPr>
              <a:t>BUKTI: explanation + specification-category list</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[component_complete[PAPAN_TANDA]]</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SCR_PAPAN_TANDA_MAIN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K5-PL06-T03-B02-PAPAN-TANDA-ROW-01</a:t>
            </a:r>
          </a:p>
          <a:p>
            <a:r>
              <a:rPr lang="en-MY" sz="900" dirty="0">
                <a:solidFill>
                  <a:schemeClr val="tx1">
                    <a:lumMod val="85000"/>
                    <a:lumOff val="15000"/>
                  </a:schemeClr>
                </a:solidFill>
              </a:rPr>
              <a:t>    ms 244 / fizikal 263</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K5PL06T03-B02-IMG-p245-x37</a:t>
            </a:r>
          </a:p>
          <a:p>
            <a:r>
              <a:rPr lang="en-MY" sz="900" dirty="0">
                <a:solidFill>
                  <a:schemeClr val="tx1">
                    <a:lumMod val="85000"/>
                    <a:lumOff val="15000"/>
                  </a:schemeClr>
                </a:solidFill>
              </a:rPr>
              <a:t>  K5PL06T03-B02-IMG-p245-x38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II_PAPAN_TANDA_CAT01  &lt;-  K5-PL06-T03-B02-PAPAN-TANDA-ROW-01</a:t>
            </a:r>
          </a:p>
          <a:p>
            <a:r>
              <a:rPr lang="en-MY" sz="900" dirty="0">
                <a:solidFill>
                  <a:schemeClr val="tx1">
                    <a:lumMod val="85000"/>
                    <a:lumOff val="15000"/>
                  </a:schemeClr>
                </a:solidFill>
              </a:rPr>
              <a:t>  II_PAPAN_TANDA_CAT02  &lt;-  K5-PL06-T03-B02-PAPAN-TANDA-ROW-01</a:t>
            </a:r>
          </a:p>
          <a:p>
            <a:r>
              <a:rPr lang="en-MY" sz="900" dirty="0">
                <a:solidFill>
                  <a:schemeClr val="tx1">
                    <a:lumMod val="85000"/>
                    <a:lumOff val="15000"/>
                  </a:schemeClr>
                </a:solidFill>
              </a:rPr>
              <a:t>  II_PAPAN_TANDA_CAT03  &lt;-  K5-PL06-T03-B02-PAPAN-TANDA-ROW-01</a:t>
            </a:r>
          </a:p>
          <a:p>
            <a:r>
              <a:rPr lang="en-MY" sz="900" dirty="0">
                <a:solidFill>
                  <a:schemeClr val="tx1">
                    <a:lumMod val="85000"/>
                    <a:lumOff val="15000"/>
                  </a:schemeClr>
                </a:solidFill>
              </a:rPr>
              <a:t>  II_PAPAN_TANDA_CAT04  &lt;-  K5-PL06-T03-B02-PAPAN-TANDA-ROW-01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(None).</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0/4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K5-PL06-T03-B02-PAPAN-TANDA-ROW-01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kategori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COMPONENT_MAIN_SCREEN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SOURCE_ATTESTED_COMPONENT_VISUAL</a:t>
            </a:r>
          </a:p>
          <a:p>
            <a:r>
              <a:rPr lang="en-MY" sz="900" dirty="0">
                <a:solidFill>
                  <a:schemeClr val="tx1">
                    <a:lumMod val="85000"/>
                    <a:lumOff val="15000"/>
                  </a:schemeClr>
                </a:solidFill>
              </a:rPr>
              <a:t>  kuasa keperluan: BARIAH_DIRECT_SCREENSHOT</a:t>
            </a:r>
          </a:p>
          <a:p>
            <a:r>
              <a:rPr lang="en-MY" sz="900" dirty="0">
                <a:solidFill>
                  <a:schemeClr val="tx1">
                    <a:lumMod val="85000"/>
                    <a:lumOff val="15000"/>
                  </a:schemeClr>
                </a:solidFill>
              </a:rPr>
              <a:t>  rawatan: SOURCE_BOUND_OVERVIEW</a:t>
            </a:r>
          </a:p>
          <a:p>
            <a:r>
              <a:rPr lang="en-MY" sz="900" dirty="0">
                <a:solidFill>
                  <a:schemeClr val="tx1">
                    <a:lumMod val="85000"/>
                    <a:lumOff val="15000"/>
                  </a:schemeClr>
                </a:solidFill>
              </a:rPr>
              <a:t>  kuasa rawatan: BARIAH_DIRECT_SCREENSHOT</a:t>
            </a:r>
          </a:p>
          <a:p>
            <a:r>
              <a:rPr lang="en-MY" sz="900" dirty="0">
                <a:solidFill>
                  <a:schemeClr val="tx1">
                    <a:lumMod val="85000"/>
                    <a:lumOff val="15000"/>
                  </a:schemeClr>
                </a:solidFill>
              </a:rPr>
              <a:t>  sumber subjek: MODULE_SOURCE_ATTESTED 2</a:t>
            </a:r>
          </a:p>
          <a:p>
            <a:r>
              <a:rPr lang="en-MY" sz="900" dirty="0">
                <a:solidFill>
                  <a:schemeClr val="tx1">
                    <a:lumMod val="85000"/>
                    <a:lumOff val="15000"/>
                  </a:schemeClr>
                </a:solidFill>
              </a:rPr>
              <a:t>  bilangan subjek overview: 2</a:t>
            </a:r>
          </a:p>
          <a:p>
            <a:r>
              <a:rPr lang="en-MY" sz="900" dirty="0">
                <a:solidFill>
                  <a:schemeClr val="tx1">
                    <a:lumMod val="85000"/>
                    <a:lumOff val="15000"/>
                  </a:schemeClr>
                </a:solidFill>
              </a:rPr>
              <a:t>  status pemetaan: RESOLVED</a:t>
            </a:r>
          </a:p>
          <a:p>
            <a:r>
              <a:rPr lang="en-MY" sz="900" dirty="0">
                <a:solidFill>
                  <a:schemeClr val="tx1">
                    <a:lumMod val="85000"/>
                    <a:lumOff val="15000"/>
                  </a:schemeClr>
                </a:solidFill>
              </a:rPr>
              <a:t>  pemetaan instans: COMPLETE</a:t>
            </a:r>
          </a:p>
          <a:p>
            <a:r>
              <a:rPr lang="en-MY" sz="900" dirty="0">
                <a:solidFill>
                  <a:schemeClr val="tx1">
                    <a:lumMod val="85000"/>
                    <a:lumOff val="15000"/>
                  </a:schemeClr>
                </a:solidFill>
              </a:rPr>
              <a:t>  menunggu keputusan manusia: TIDAK</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Papan Tanda</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dirty="0">
                <a:solidFill>
                  <a:srgbClr val="7F6000"/>
                </a:solidFill>
              </a:rPr>
              <a:t>Papan Tanda Arah / Papan Tanda Interpretatif</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Panel</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Bahan Struktur/Tiang</a:t>
            </a:r>
          </a:p>
        </p:txBody>
      </p:sp>
      <p:sp>
        <p:nvSpPr>
          <p:cNvPr id="43" name="ItemCard"/>
          <p:cNvSpPr txBox="1"/>
          <p:nvPr/>
        </p:nvSpPr>
        <p:spPr>
          <a:xfrm>
            <a:off x="6288009"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Grafik</a:t>
            </a:r>
          </a:p>
        </p:txBody>
      </p:sp>
      <p:sp>
        <p:nvSpPr>
          <p:cNvPr id="44"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Rekaan</a:t>
            </a:r>
          </a:p>
        </p:txBody>
      </p:sp>
      <p:sp>
        <p:nvSpPr>
          <p:cNvPr id="300" name="OverviewHead"/>
          <p:cNvSpPr txBox="1"/>
          <p:nvPr/>
        </p:nvSpPr>
        <p:spPr>
          <a:xfrm>
            <a:off x="723930" y="4974336"/>
            <a:ext cx="10744200" cy="201168"/>
          </a:xfrm>
          <a:prstGeom prst="rect">
            <a:avLst/>
          </a:prstGeom>
          <a:noFill/>
        </p:spPr>
        <p:txBody>
          <a:bodyPr wrap="square">
            <a:noAutofit/>
          </a:bodyPr>
          <a:lstStyle/>
          <a:p>
            <a:pPr/>
            <a:r>
              <a:rPr lang="en-MY" sz="850" b="1" dirty="0">
                <a:solidFill>
                  <a:srgbClr val="7F6000"/>
                </a:solidFill>
              </a:rPr>
              <a:t>ARAHAN VISUAL — OVERVIEW KOMPONEN (TIDAK DIBENAMKAN)</a:t>
            </a:r>
          </a:p>
        </p:txBody>
      </p:sp>
      <p:sp>
        <p:nvSpPr>
          <p:cNvPr id="301" name="OverviewCard"/>
          <p:cNvSpPr txBox="1"/>
          <p:nvPr/>
        </p:nvSpPr>
        <p:spPr>
          <a:xfrm>
            <a:off x="723930" y="5212080"/>
            <a:ext cx="2377440" cy="870509"/>
          </a:xfrm>
          <a:prstGeom prst="rect">
            <a:avLst/>
          </a:prstGeom>
          <a:solidFill>
            <a:srgbClr val="F7F7F7"/>
          </a:solidFill>
          <a:ln w="12700">
            <a:solidFill>
              <a:srgbClr val="BFBFBF"/>
            </a:solidFill>
          </a:ln>
        </p:spPr>
        <p:txBody>
          <a:bodyPr wrap="square">
            <a:noAutofit/>
          </a:bodyPr>
          <a:lstStyle/>
        </p:txBody>
      </p:sp>
      <p:sp>
        <p:nvSpPr>
          <p:cNvPr id="302" name="OverviewSubject"/>
          <p:cNvSpPr txBox="1"/>
          <p:nvPr/>
        </p:nvSpPr>
        <p:spPr>
          <a:xfrm>
            <a:off x="815370" y="5266944"/>
            <a:ext cx="2194560" cy="193853"/>
          </a:xfrm>
          <a:prstGeom prst="rect">
            <a:avLst/>
          </a:prstGeom>
          <a:noFill/>
        </p:spPr>
        <p:txBody>
          <a:bodyPr wrap="square">
            <a:noAutofit/>
          </a:bodyPr>
          <a:lstStyle/>
          <a:p>
            <a:pPr/>
            <a:r>
              <a:rPr lang="en-MY" sz="900" b="1" dirty="0">
                <a:solidFill>
                  <a:schemeClr val="tx1">
                    <a:lumMod val="85000"/>
                    <a:lumOff val="15000"/>
                  </a:schemeClr>
                </a:solidFill>
              </a:rPr>
              <a:t>Papan Tanda Informasi</a:t>
            </a:r>
          </a:p>
        </p:txBody>
      </p:sp>
      <p:sp>
        <p:nvSpPr>
          <p:cNvPr id="303" name="OverviewDir"/>
          <p:cNvSpPr txBox="1"/>
          <p:nvPr/>
        </p:nvSpPr>
        <p:spPr>
          <a:xfrm>
            <a:off x="815370" y="5497373"/>
            <a:ext cx="2194560" cy="512064"/>
          </a:xfrm>
          <a:prstGeom prst="rect">
            <a:avLst/>
          </a:prstGeom>
          <a:noFill/>
        </p:spPr>
        <p:txBody>
          <a:bodyPr wrap="square">
            <a:noAutofit/>
          </a:bodyPr>
          <a:lstStyle/>
          <a:p>
            <a:pPr/>
            <a:r>
              <a:rPr lang="en-MY" sz="750" dirty="0">
                <a:solidFill>
                  <a:srgbClr val="808080"/>
                </a:solidFill>
              </a:rPr>
              <a:t>[Visual: Rajah 25 — Lukisan Spesifikasi</a:t>
            </a:r>
          </a:p>
          <a:p>
            <a:pPr/>
            <a:r>
              <a:rPr lang="en-MY" sz="750" dirty="0">
                <a:solidFill>
                  <a:srgbClr val="808080"/>
                </a:solidFill>
              </a:rPr>
              <a:t>Papan Tanda Informasi, modul ms 245. Aset</a:t>
            </a:r>
          </a:p>
          <a:p>
            <a:pPr/>
            <a:r>
              <a:rPr lang="en-MY" sz="750" dirty="0">
                <a:solidFill>
                  <a:srgbClr val="808080"/>
                </a:solidFill>
              </a:rPr>
              <a:t>K5PL06T03-B02-IMG-p245-x37. Tidak</a:t>
            </a:r>
          </a:p>
          <a:p>
            <a:pPr/>
            <a:r>
              <a:rPr lang="en-MY" sz="750" dirty="0">
                <a:solidFill>
                  <a:srgbClr val="808080"/>
                </a:solidFill>
              </a:rPr>
              <a:t>dibenamkan.]</a:t>
            </a:r>
          </a:p>
        </p:txBody>
      </p:sp>
      <p:sp>
        <p:nvSpPr>
          <p:cNvPr id="304" name="OverviewCard"/>
          <p:cNvSpPr txBox="1"/>
          <p:nvPr/>
        </p:nvSpPr>
        <p:spPr>
          <a:xfrm>
            <a:off x="3284250" y="5212080"/>
            <a:ext cx="2377440" cy="870509"/>
          </a:xfrm>
          <a:prstGeom prst="rect">
            <a:avLst/>
          </a:prstGeom>
          <a:solidFill>
            <a:srgbClr val="F7F7F7"/>
          </a:solidFill>
          <a:ln w="12700">
            <a:solidFill>
              <a:srgbClr val="BFBFBF"/>
            </a:solidFill>
          </a:ln>
        </p:spPr>
        <p:txBody>
          <a:bodyPr wrap="square">
            <a:noAutofit/>
          </a:bodyPr>
          <a:lstStyle/>
        </p:txBody>
      </p:sp>
      <p:sp>
        <p:nvSpPr>
          <p:cNvPr id="305" name="OverviewSubject"/>
          <p:cNvSpPr txBox="1"/>
          <p:nvPr/>
        </p:nvSpPr>
        <p:spPr>
          <a:xfrm>
            <a:off x="3375690" y="5266944"/>
            <a:ext cx="2194560" cy="193853"/>
          </a:xfrm>
          <a:prstGeom prst="rect">
            <a:avLst/>
          </a:prstGeom>
          <a:noFill/>
        </p:spPr>
        <p:txBody>
          <a:bodyPr wrap="square">
            <a:noAutofit/>
          </a:bodyPr>
          <a:lstStyle/>
          <a:p>
            <a:pPr/>
            <a:r>
              <a:rPr lang="en-MY" sz="900" b="1" dirty="0">
                <a:solidFill>
                  <a:schemeClr val="tx1">
                    <a:lumMod val="85000"/>
                    <a:lumOff val="15000"/>
                  </a:schemeClr>
                </a:solidFill>
              </a:rPr>
              <a:t>Papan Tanda Penunjuk Arah</a:t>
            </a:r>
          </a:p>
        </p:txBody>
      </p:sp>
      <p:sp>
        <p:nvSpPr>
          <p:cNvPr id="306" name="OverviewDir"/>
          <p:cNvSpPr txBox="1"/>
          <p:nvPr/>
        </p:nvSpPr>
        <p:spPr>
          <a:xfrm>
            <a:off x="3375690" y="5497373"/>
            <a:ext cx="2194560" cy="512064"/>
          </a:xfrm>
          <a:prstGeom prst="rect">
            <a:avLst/>
          </a:prstGeom>
          <a:noFill/>
        </p:spPr>
        <p:txBody>
          <a:bodyPr wrap="square">
            <a:noAutofit/>
          </a:bodyPr>
          <a:lstStyle/>
          <a:p>
            <a:pPr/>
            <a:r>
              <a:rPr lang="en-MY" sz="750" dirty="0">
                <a:solidFill>
                  <a:srgbClr val="808080"/>
                </a:solidFill>
              </a:rPr>
              <a:t>[Visual: Rajah 26 — Spesifikasi Papan Tanda</a:t>
            </a:r>
          </a:p>
          <a:p>
            <a:pPr/>
            <a:r>
              <a:rPr lang="en-MY" sz="750" dirty="0">
                <a:solidFill>
                  <a:srgbClr val="808080"/>
                </a:solidFill>
              </a:rPr>
              <a:t>Penunjuk Arah, modul ms 245. Aset</a:t>
            </a:r>
          </a:p>
          <a:p>
            <a:pPr/>
            <a:r>
              <a:rPr lang="en-MY" sz="750" dirty="0">
                <a:solidFill>
                  <a:srgbClr val="808080"/>
                </a:solidFill>
              </a:rPr>
              <a:t>K5PL06T03-B02-IMG-p245-x38. Tidak</a:t>
            </a:r>
          </a:p>
          <a:p>
            <a:pPr/>
            <a:r>
              <a:rPr lang="en-MY" sz="75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Papan Tanda Arah / Papan Tanda Interpretatif</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 Panel</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644652"/>
          </a:xfrm>
          <a:prstGeom prst="rect">
            <a:avLst/>
          </a:prstGeom>
          <a:noFill/>
        </p:spPr>
        <p:txBody>
          <a:bodyPr wrap="square">
            <a:noAutofit/>
          </a:bodyPr>
          <a:lstStyle/>
          <a:p>
            <a:pPr/>
            <a:r>
              <a:rPr lang="en-MY" sz="1250" dirty="0">
                <a:solidFill>
                  <a:schemeClr val="tx1">
                    <a:lumMod val="85000"/>
                    <a:lumOff val="15000"/>
                  </a:schemeClr>
                </a:solidFill>
              </a:rPr>
              <a:t>Aluminium Komposit (ACP) 3–4mm; HPL gred luar 6–10mm; Akrilik terstabil UV 5–10mm; Kayu</a:t>
            </a:r>
          </a:p>
          <a:p>
            <a:pPr/>
            <a:r>
              <a:rPr lang="en-MY" sz="1250" dirty="0">
                <a:solidFill>
                  <a:schemeClr val="tx1">
                    <a:lumMod val="85000"/>
                    <a:lumOff val="15000"/>
                  </a:schemeClr>
                </a:solidFill>
              </a:rPr>
              <a:t>dirawat</a:t>
            </a:r>
          </a:p>
          <a:p>
            <a:pPr/>
            <a:r>
              <a:rPr lang="en-MY" sz="1250" dirty="0">
                <a:solidFill>
                  <a:schemeClr val="tx1">
                    <a:lumMod val="85000"/>
                    <a:lumOff val="15000"/>
                  </a:schemeClr>
                </a:solidFill>
              </a:rPr>
              <a:t>tekanan/kayu keras min. 20mm.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Papan Tanda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SCR_PAPAN_TANDA_MAIN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SCR_PAPAN_TANDA_MAIN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K5-PL06-T03-B02-PAPAN-TANDA-ROW-01</a:t>
            </a:r>
          </a:p>
          <a:p>
            <a:r>
              <a:rPr lang="en-MY" sz="900" dirty="0">
                <a:solidFill>
                  <a:schemeClr val="tx1">
                    <a:lumMod val="85000"/>
                    <a:lumOff val="15000"/>
                  </a:schemeClr>
                </a:solidFill>
              </a:rPr>
              <a:t>    ms 244 / fizikal 263</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II_PAPAN_TANDA_CAT01  &lt;-  K5-PL06-T03-B02-PAPAN-TANDA-ROW-01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(SCR_PAPAN_TANDA_MAIN).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1/4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K5-PL06-T03-B02-PAPAN-TANDA-ROW-01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Papan Tanda</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dirty="0">
                <a:solidFill>
                  <a:srgbClr val="7F6000"/>
                </a:solidFill>
              </a:rPr>
              <a:t>Papan Tanda Arah / Papan Tanda Interpretatif</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Panel</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Struktur/Tiang</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Grafik</a:t>
            </a:r>
          </a:p>
        </p:txBody>
      </p:sp>
      <p:sp>
        <p:nvSpPr>
          <p:cNvPr id="45"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Rekaan</a:t>
            </a:r>
          </a:p>
        </p:txBody>
      </p:sp>
      <p:sp>
        <p:nvSpPr>
          <p:cNvPr id="300" name="OverviewHead"/>
          <p:cNvSpPr txBox="1"/>
          <p:nvPr/>
        </p:nvSpPr>
        <p:spPr>
          <a:xfrm>
            <a:off x="723930" y="4974336"/>
            <a:ext cx="10744200" cy="201168"/>
          </a:xfrm>
          <a:prstGeom prst="rect">
            <a:avLst/>
          </a:prstGeom>
          <a:noFill/>
        </p:spPr>
        <p:txBody>
          <a:bodyPr wrap="square">
            <a:noAutofit/>
          </a:bodyPr>
          <a:lstStyle/>
          <a:p>
            <a:pPr/>
            <a:r>
              <a:rPr lang="en-MY" sz="850" b="1" dirty="0">
                <a:solidFill>
                  <a:srgbClr val="7F6000"/>
                </a:solidFill>
              </a:rPr>
              <a:t>ARAHAN VISUAL — OVERVIEW KOMPONEN (TIDAK DIBENAMKAN)</a:t>
            </a:r>
          </a:p>
        </p:txBody>
      </p:sp>
      <p:sp>
        <p:nvSpPr>
          <p:cNvPr id="301" name="OverviewCard"/>
          <p:cNvSpPr txBox="1"/>
          <p:nvPr/>
        </p:nvSpPr>
        <p:spPr>
          <a:xfrm>
            <a:off x="723930" y="5212080"/>
            <a:ext cx="2377440" cy="870509"/>
          </a:xfrm>
          <a:prstGeom prst="rect">
            <a:avLst/>
          </a:prstGeom>
          <a:solidFill>
            <a:srgbClr val="F7F7F7"/>
          </a:solidFill>
          <a:ln w="12700">
            <a:solidFill>
              <a:srgbClr val="BFBFBF"/>
            </a:solidFill>
          </a:ln>
        </p:spPr>
        <p:txBody>
          <a:bodyPr wrap="square">
            <a:noAutofit/>
          </a:bodyPr>
          <a:lstStyle/>
        </p:txBody>
      </p:sp>
      <p:sp>
        <p:nvSpPr>
          <p:cNvPr id="302" name="OverviewSubject"/>
          <p:cNvSpPr txBox="1"/>
          <p:nvPr/>
        </p:nvSpPr>
        <p:spPr>
          <a:xfrm>
            <a:off x="815370" y="5266944"/>
            <a:ext cx="2194560" cy="193853"/>
          </a:xfrm>
          <a:prstGeom prst="rect">
            <a:avLst/>
          </a:prstGeom>
          <a:noFill/>
        </p:spPr>
        <p:txBody>
          <a:bodyPr wrap="square">
            <a:noAutofit/>
          </a:bodyPr>
          <a:lstStyle/>
          <a:p>
            <a:pPr/>
            <a:r>
              <a:rPr lang="en-MY" sz="900" b="1" dirty="0">
                <a:solidFill>
                  <a:schemeClr val="tx1">
                    <a:lumMod val="85000"/>
                    <a:lumOff val="15000"/>
                  </a:schemeClr>
                </a:solidFill>
              </a:rPr>
              <a:t>Papan Tanda Informasi</a:t>
            </a:r>
          </a:p>
        </p:txBody>
      </p:sp>
      <p:sp>
        <p:nvSpPr>
          <p:cNvPr id="303" name="OverviewDir"/>
          <p:cNvSpPr txBox="1"/>
          <p:nvPr/>
        </p:nvSpPr>
        <p:spPr>
          <a:xfrm>
            <a:off x="815370" y="5497373"/>
            <a:ext cx="2194560" cy="512064"/>
          </a:xfrm>
          <a:prstGeom prst="rect">
            <a:avLst/>
          </a:prstGeom>
          <a:noFill/>
        </p:spPr>
        <p:txBody>
          <a:bodyPr wrap="square">
            <a:noAutofit/>
          </a:bodyPr>
          <a:lstStyle/>
          <a:p>
            <a:pPr/>
            <a:r>
              <a:rPr lang="en-MY" sz="750" dirty="0">
                <a:solidFill>
                  <a:srgbClr val="808080"/>
                </a:solidFill>
              </a:rPr>
              <a:t>[Visual: Rajah 25 — Lukisan Spesifikasi</a:t>
            </a:r>
          </a:p>
          <a:p>
            <a:pPr/>
            <a:r>
              <a:rPr lang="en-MY" sz="750" dirty="0">
                <a:solidFill>
                  <a:srgbClr val="808080"/>
                </a:solidFill>
              </a:rPr>
              <a:t>Papan Tanda Informasi, modul ms 245. Aset</a:t>
            </a:r>
          </a:p>
          <a:p>
            <a:pPr/>
            <a:r>
              <a:rPr lang="en-MY" sz="750" dirty="0">
                <a:solidFill>
                  <a:srgbClr val="808080"/>
                </a:solidFill>
              </a:rPr>
              <a:t>K5PL06T03-B02-IMG-p245-x37. Tidak</a:t>
            </a:r>
          </a:p>
          <a:p>
            <a:pPr/>
            <a:r>
              <a:rPr lang="en-MY" sz="750" dirty="0">
                <a:solidFill>
                  <a:srgbClr val="808080"/>
                </a:solidFill>
              </a:rPr>
              <a:t>dibenamkan.]</a:t>
            </a:r>
          </a:p>
        </p:txBody>
      </p:sp>
      <p:sp>
        <p:nvSpPr>
          <p:cNvPr id="304" name="OverviewCard"/>
          <p:cNvSpPr txBox="1"/>
          <p:nvPr/>
        </p:nvSpPr>
        <p:spPr>
          <a:xfrm>
            <a:off x="3284250" y="5212080"/>
            <a:ext cx="2377440" cy="870509"/>
          </a:xfrm>
          <a:prstGeom prst="rect">
            <a:avLst/>
          </a:prstGeom>
          <a:solidFill>
            <a:srgbClr val="F7F7F7"/>
          </a:solidFill>
          <a:ln w="12700">
            <a:solidFill>
              <a:srgbClr val="BFBFBF"/>
            </a:solidFill>
          </a:ln>
        </p:spPr>
        <p:txBody>
          <a:bodyPr wrap="square">
            <a:noAutofit/>
          </a:bodyPr>
          <a:lstStyle/>
        </p:txBody>
      </p:sp>
      <p:sp>
        <p:nvSpPr>
          <p:cNvPr id="305" name="OverviewSubject"/>
          <p:cNvSpPr txBox="1"/>
          <p:nvPr/>
        </p:nvSpPr>
        <p:spPr>
          <a:xfrm>
            <a:off x="3375690" y="5266944"/>
            <a:ext cx="2194560" cy="193853"/>
          </a:xfrm>
          <a:prstGeom prst="rect">
            <a:avLst/>
          </a:prstGeom>
          <a:noFill/>
        </p:spPr>
        <p:txBody>
          <a:bodyPr wrap="square">
            <a:noAutofit/>
          </a:bodyPr>
          <a:lstStyle/>
          <a:p>
            <a:pPr/>
            <a:r>
              <a:rPr lang="en-MY" sz="900" b="1" dirty="0">
                <a:solidFill>
                  <a:schemeClr val="tx1">
                    <a:lumMod val="85000"/>
                    <a:lumOff val="15000"/>
                  </a:schemeClr>
                </a:solidFill>
              </a:rPr>
              <a:t>Papan Tanda Penunjuk Arah</a:t>
            </a:r>
          </a:p>
        </p:txBody>
      </p:sp>
      <p:sp>
        <p:nvSpPr>
          <p:cNvPr id="306" name="OverviewDir"/>
          <p:cNvSpPr txBox="1"/>
          <p:nvPr/>
        </p:nvSpPr>
        <p:spPr>
          <a:xfrm>
            <a:off x="3375690" y="5497373"/>
            <a:ext cx="2194560" cy="512064"/>
          </a:xfrm>
          <a:prstGeom prst="rect">
            <a:avLst/>
          </a:prstGeom>
          <a:noFill/>
        </p:spPr>
        <p:txBody>
          <a:bodyPr wrap="square">
            <a:noAutofit/>
          </a:bodyPr>
          <a:lstStyle/>
          <a:p>
            <a:pPr/>
            <a:r>
              <a:rPr lang="en-MY" sz="750" dirty="0">
                <a:solidFill>
                  <a:srgbClr val="808080"/>
                </a:solidFill>
              </a:rPr>
              <a:t>[Visual: Rajah 26 — Spesifikasi Papan Tanda</a:t>
            </a:r>
          </a:p>
          <a:p>
            <a:pPr/>
            <a:r>
              <a:rPr lang="en-MY" sz="750" dirty="0">
                <a:solidFill>
                  <a:srgbClr val="808080"/>
                </a:solidFill>
              </a:rPr>
              <a:t>Penunjuk Arah, modul ms 245. Aset</a:t>
            </a:r>
          </a:p>
          <a:p>
            <a:pPr/>
            <a:r>
              <a:rPr lang="en-MY" sz="750" dirty="0">
                <a:solidFill>
                  <a:srgbClr val="808080"/>
                </a:solidFill>
              </a:rPr>
              <a:t>K5PL06T03-B02-IMG-p245-x38. Tidak</a:t>
            </a:r>
          </a:p>
          <a:p>
            <a:pPr/>
            <a:r>
              <a:rPr lang="en-MY" sz="75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Papan Tanda Arah / Papan Tanda Interpretatif</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 Struktur/Tiang</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Keluli bersalut serbuk atau tahan karat, profil 50mm × 50mm ke atas; kayu keras min. 75mm ×</a:t>
            </a:r>
          </a:p>
          <a:p>
            <a:pPr/>
            <a:r>
              <a:rPr lang="en-MY" sz="1250" dirty="0">
                <a:solidFill>
                  <a:schemeClr val="tx1">
                    <a:lumMod val="85000"/>
                    <a:lumOff val="15000"/>
                  </a:schemeClr>
                </a:solidFill>
              </a:rPr>
              <a:t>75mm.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Papan Tanda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SCR_PAPAN_TANDA_MAIN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SCR_PAPAN_TANDA_MAIN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K5-PL06-T03-B02-PAPAN-TANDA-ROW-01</a:t>
            </a:r>
          </a:p>
          <a:p>
            <a:r>
              <a:rPr lang="en-MY" sz="900" dirty="0">
                <a:solidFill>
                  <a:schemeClr val="tx1">
                    <a:lumMod val="85000"/>
                    <a:lumOff val="15000"/>
                  </a:schemeClr>
                </a:solidFill>
              </a:rPr>
              <a:t>    ms 244 / fizikal 263</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II_PAPAN_TANDA_CAT02  &lt;-  K5-PL06-T03-B02-PAPAN-TANDA-ROW-01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(SCR_PAPAN_TANDA_MAIN).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2/4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K5-PL06-T03-B02-PAPAN-TANDA-ROW-01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Papan Tanda</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dirty="0">
                <a:solidFill>
                  <a:srgbClr val="7F6000"/>
                </a:solidFill>
              </a:rPr>
              <a:t>Papan Tanda Arah / Papan Tanda Interpretatif</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Panel</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Struktur/Tiang</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Grafik</a:t>
            </a:r>
          </a:p>
        </p:txBody>
      </p:sp>
      <p:sp>
        <p:nvSpPr>
          <p:cNvPr id="45" name="Tick"/>
          <p:cNvSpPr/>
          <p:nvPr/>
        </p:nvSpPr>
        <p:spPr>
          <a:xfrm>
            <a:off x="8283687"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Rekaan</a:t>
            </a:r>
          </a:p>
        </p:txBody>
      </p:sp>
      <p:sp>
        <p:nvSpPr>
          <p:cNvPr id="300" name="OverviewHead"/>
          <p:cNvSpPr txBox="1"/>
          <p:nvPr/>
        </p:nvSpPr>
        <p:spPr>
          <a:xfrm>
            <a:off x="723930" y="4974336"/>
            <a:ext cx="10744200" cy="201168"/>
          </a:xfrm>
          <a:prstGeom prst="rect">
            <a:avLst/>
          </a:prstGeom>
          <a:noFill/>
        </p:spPr>
        <p:txBody>
          <a:bodyPr wrap="square">
            <a:noAutofit/>
          </a:bodyPr>
          <a:lstStyle/>
          <a:p>
            <a:pPr/>
            <a:r>
              <a:rPr lang="en-MY" sz="850" b="1" dirty="0">
                <a:solidFill>
                  <a:srgbClr val="7F6000"/>
                </a:solidFill>
              </a:rPr>
              <a:t>ARAHAN VISUAL — OVERVIEW KOMPONEN (TIDAK DIBENAMKAN)</a:t>
            </a:r>
          </a:p>
        </p:txBody>
      </p:sp>
      <p:sp>
        <p:nvSpPr>
          <p:cNvPr id="301" name="OverviewCard"/>
          <p:cNvSpPr txBox="1"/>
          <p:nvPr/>
        </p:nvSpPr>
        <p:spPr>
          <a:xfrm>
            <a:off x="723930" y="5212080"/>
            <a:ext cx="2377440" cy="870509"/>
          </a:xfrm>
          <a:prstGeom prst="rect">
            <a:avLst/>
          </a:prstGeom>
          <a:solidFill>
            <a:srgbClr val="F7F7F7"/>
          </a:solidFill>
          <a:ln w="12700">
            <a:solidFill>
              <a:srgbClr val="BFBFBF"/>
            </a:solidFill>
          </a:ln>
        </p:spPr>
        <p:txBody>
          <a:bodyPr wrap="square">
            <a:noAutofit/>
          </a:bodyPr>
          <a:lstStyle/>
        </p:txBody>
      </p:sp>
      <p:sp>
        <p:nvSpPr>
          <p:cNvPr id="302" name="OverviewSubject"/>
          <p:cNvSpPr txBox="1"/>
          <p:nvPr/>
        </p:nvSpPr>
        <p:spPr>
          <a:xfrm>
            <a:off x="815370" y="5266944"/>
            <a:ext cx="2194560" cy="193853"/>
          </a:xfrm>
          <a:prstGeom prst="rect">
            <a:avLst/>
          </a:prstGeom>
          <a:noFill/>
        </p:spPr>
        <p:txBody>
          <a:bodyPr wrap="square">
            <a:noAutofit/>
          </a:bodyPr>
          <a:lstStyle/>
          <a:p>
            <a:pPr/>
            <a:r>
              <a:rPr lang="en-MY" sz="900" b="1" dirty="0">
                <a:solidFill>
                  <a:schemeClr val="tx1">
                    <a:lumMod val="85000"/>
                    <a:lumOff val="15000"/>
                  </a:schemeClr>
                </a:solidFill>
              </a:rPr>
              <a:t>Papan Tanda Informasi</a:t>
            </a:r>
          </a:p>
        </p:txBody>
      </p:sp>
      <p:sp>
        <p:nvSpPr>
          <p:cNvPr id="303" name="OverviewDir"/>
          <p:cNvSpPr txBox="1"/>
          <p:nvPr/>
        </p:nvSpPr>
        <p:spPr>
          <a:xfrm>
            <a:off x="815370" y="5497373"/>
            <a:ext cx="2194560" cy="512064"/>
          </a:xfrm>
          <a:prstGeom prst="rect">
            <a:avLst/>
          </a:prstGeom>
          <a:noFill/>
        </p:spPr>
        <p:txBody>
          <a:bodyPr wrap="square">
            <a:noAutofit/>
          </a:bodyPr>
          <a:lstStyle/>
          <a:p>
            <a:pPr/>
            <a:r>
              <a:rPr lang="en-MY" sz="750" dirty="0">
                <a:solidFill>
                  <a:srgbClr val="808080"/>
                </a:solidFill>
              </a:rPr>
              <a:t>[Visual: Rajah 25 — Lukisan Spesifikasi</a:t>
            </a:r>
          </a:p>
          <a:p>
            <a:pPr/>
            <a:r>
              <a:rPr lang="en-MY" sz="750" dirty="0">
                <a:solidFill>
                  <a:srgbClr val="808080"/>
                </a:solidFill>
              </a:rPr>
              <a:t>Papan Tanda Informasi, modul ms 245. Aset</a:t>
            </a:r>
          </a:p>
          <a:p>
            <a:pPr/>
            <a:r>
              <a:rPr lang="en-MY" sz="750" dirty="0">
                <a:solidFill>
                  <a:srgbClr val="808080"/>
                </a:solidFill>
              </a:rPr>
              <a:t>K5PL06T03-B02-IMG-p245-x37. Tidak</a:t>
            </a:r>
          </a:p>
          <a:p>
            <a:pPr/>
            <a:r>
              <a:rPr lang="en-MY" sz="750" dirty="0">
                <a:solidFill>
                  <a:srgbClr val="808080"/>
                </a:solidFill>
              </a:rPr>
              <a:t>dibenamkan.]</a:t>
            </a:r>
          </a:p>
        </p:txBody>
      </p:sp>
      <p:sp>
        <p:nvSpPr>
          <p:cNvPr id="304" name="OverviewCard"/>
          <p:cNvSpPr txBox="1"/>
          <p:nvPr/>
        </p:nvSpPr>
        <p:spPr>
          <a:xfrm>
            <a:off x="3284250" y="5212080"/>
            <a:ext cx="2377440" cy="870509"/>
          </a:xfrm>
          <a:prstGeom prst="rect">
            <a:avLst/>
          </a:prstGeom>
          <a:solidFill>
            <a:srgbClr val="F7F7F7"/>
          </a:solidFill>
          <a:ln w="12700">
            <a:solidFill>
              <a:srgbClr val="BFBFBF"/>
            </a:solidFill>
          </a:ln>
        </p:spPr>
        <p:txBody>
          <a:bodyPr wrap="square">
            <a:noAutofit/>
          </a:bodyPr>
          <a:lstStyle/>
        </p:txBody>
      </p:sp>
      <p:sp>
        <p:nvSpPr>
          <p:cNvPr id="305" name="OverviewSubject"/>
          <p:cNvSpPr txBox="1"/>
          <p:nvPr/>
        </p:nvSpPr>
        <p:spPr>
          <a:xfrm>
            <a:off x="3375690" y="5266944"/>
            <a:ext cx="2194560" cy="193853"/>
          </a:xfrm>
          <a:prstGeom prst="rect">
            <a:avLst/>
          </a:prstGeom>
          <a:noFill/>
        </p:spPr>
        <p:txBody>
          <a:bodyPr wrap="square">
            <a:noAutofit/>
          </a:bodyPr>
          <a:lstStyle/>
          <a:p>
            <a:pPr/>
            <a:r>
              <a:rPr lang="en-MY" sz="900" b="1" dirty="0">
                <a:solidFill>
                  <a:schemeClr val="tx1">
                    <a:lumMod val="85000"/>
                    <a:lumOff val="15000"/>
                  </a:schemeClr>
                </a:solidFill>
              </a:rPr>
              <a:t>Papan Tanda Penunjuk Arah</a:t>
            </a:r>
          </a:p>
        </p:txBody>
      </p:sp>
      <p:sp>
        <p:nvSpPr>
          <p:cNvPr id="306" name="OverviewDir"/>
          <p:cNvSpPr txBox="1"/>
          <p:nvPr/>
        </p:nvSpPr>
        <p:spPr>
          <a:xfrm>
            <a:off x="3375690" y="5497373"/>
            <a:ext cx="2194560" cy="512064"/>
          </a:xfrm>
          <a:prstGeom prst="rect">
            <a:avLst/>
          </a:prstGeom>
          <a:noFill/>
        </p:spPr>
        <p:txBody>
          <a:bodyPr wrap="square">
            <a:noAutofit/>
          </a:bodyPr>
          <a:lstStyle/>
          <a:p>
            <a:pPr/>
            <a:r>
              <a:rPr lang="en-MY" sz="750" dirty="0">
                <a:solidFill>
                  <a:srgbClr val="808080"/>
                </a:solidFill>
              </a:rPr>
              <a:t>[Visual: Rajah 26 — Spesifikasi Papan Tanda</a:t>
            </a:r>
          </a:p>
          <a:p>
            <a:pPr/>
            <a:r>
              <a:rPr lang="en-MY" sz="750" dirty="0">
                <a:solidFill>
                  <a:srgbClr val="808080"/>
                </a:solidFill>
              </a:rPr>
              <a:t>Penunjuk Arah, modul ms 245. Aset</a:t>
            </a:r>
          </a:p>
          <a:p>
            <a:pPr/>
            <a:r>
              <a:rPr lang="en-MY" sz="750" dirty="0">
                <a:solidFill>
                  <a:srgbClr val="808080"/>
                </a:solidFill>
              </a:rPr>
              <a:t>K5PL06T03-B02-IMG-p245-x38. Tidak</a:t>
            </a:r>
          </a:p>
          <a:p>
            <a:pPr/>
            <a:r>
              <a:rPr lang="en-MY" sz="75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Papan Tanda Arah / Papan Tanda Interpretatif</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Grafik</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Cetakan UV langsung, cetakan digital pada vinil gred luar, atau ukiran laser. Mesti tahan</a:t>
            </a:r>
          </a:p>
          <a:p>
            <a:pPr/>
            <a:r>
              <a:rPr lang="en-MY" sz="1250" dirty="0">
                <a:solidFill>
                  <a:schemeClr val="tx1">
                    <a:lumMod val="85000"/>
                    <a:lumOff val="15000"/>
                  </a:schemeClr>
                </a:solidFill>
              </a:rPr>
              <a:t>pudar.</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Papan Tanda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SCR_PAPAN_TANDA_MAIN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SCR_PAPAN_TANDA_MAIN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K5-PL06-T03-B02-PAPAN-TANDA-ROW-01</a:t>
            </a:r>
          </a:p>
          <a:p>
            <a:r>
              <a:rPr lang="en-MY" sz="900" dirty="0">
                <a:solidFill>
                  <a:schemeClr val="tx1">
                    <a:lumMod val="85000"/>
                    <a:lumOff val="15000"/>
                  </a:schemeClr>
                </a:solidFill>
              </a:rPr>
              <a:t>    ms 244 / fizikal 263</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II_PAPAN_TANDA_CAT03  &lt;-  K5-PL06-T03-B02-PAPAN-TANDA-ROW-01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(SCR_PAPAN_TANDA_MAIN).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3/4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K5-PL06-T03-B02-PAPAN-TANDA-ROW-01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Papan Tanda</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dirty="0">
                <a:solidFill>
                  <a:srgbClr val="7F6000"/>
                </a:solidFill>
              </a:rPr>
              <a:t>Papan Tanda Arah / Papan Tanda Interpretatif</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Panel</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Struktur/Tiang</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Grafik</a:t>
            </a:r>
          </a:p>
        </p:txBody>
      </p:sp>
      <p:sp>
        <p:nvSpPr>
          <p:cNvPr id="45" name="Tick"/>
          <p:cNvSpPr/>
          <p:nvPr/>
        </p:nvSpPr>
        <p:spPr>
          <a:xfrm>
            <a:off x="8283687"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Rekaan</a:t>
            </a:r>
          </a:p>
        </p:txBody>
      </p:sp>
      <p:sp>
        <p:nvSpPr>
          <p:cNvPr id="47" name="Tick"/>
          <p:cNvSpPr/>
          <p:nvPr/>
        </p:nvSpPr>
        <p:spPr>
          <a:xfrm>
            <a:off x="11065749"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0" name="OverviewHead"/>
          <p:cNvSpPr txBox="1"/>
          <p:nvPr/>
        </p:nvSpPr>
        <p:spPr>
          <a:xfrm>
            <a:off x="723930" y="4974336"/>
            <a:ext cx="10744200" cy="201168"/>
          </a:xfrm>
          <a:prstGeom prst="rect">
            <a:avLst/>
          </a:prstGeom>
          <a:noFill/>
        </p:spPr>
        <p:txBody>
          <a:bodyPr wrap="square">
            <a:noAutofit/>
          </a:bodyPr>
          <a:lstStyle/>
          <a:p>
            <a:pPr/>
            <a:r>
              <a:rPr lang="en-MY" sz="850" b="1" dirty="0">
                <a:solidFill>
                  <a:srgbClr val="7F6000"/>
                </a:solidFill>
              </a:rPr>
              <a:t>ARAHAN VISUAL — OVERVIEW KOMPONEN (TIDAK DIBENAMKAN)</a:t>
            </a:r>
          </a:p>
        </p:txBody>
      </p:sp>
      <p:sp>
        <p:nvSpPr>
          <p:cNvPr id="301" name="OverviewCard"/>
          <p:cNvSpPr txBox="1"/>
          <p:nvPr/>
        </p:nvSpPr>
        <p:spPr>
          <a:xfrm>
            <a:off x="723930" y="5212080"/>
            <a:ext cx="2377440" cy="870509"/>
          </a:xfrm>
          <a:prstGeom prst="rect">
            <a:avLst/>
          </a:prstGeom>
          <a:solidFill>
            <a:srgbClr val="F7F7F7"/>
          </a:solidFill>
          <a:ln w="12700">
            <a:solidFill>
              <a:srgbClr val="BFBFBF"/>
            </a:solidFill>
          </a:ln>
        </p:spPr>
        <p:txBody>
          <a:bodyPr wrap="square">
            <a:noAutofit/>
          </a:bodyPr>
          <a:lstStyle/>
        </p:txBody>
      </p:sp>
      <p:sp>
        <p:nvSpPr>
          <p:cNvPr id="302" name="OverviewSubject"/>
          <p:cNvSpPr txBox="1"/>
          <p:nvPr/>
        </p:nvSpPr>
        <p:spPr>
          <a:xfrm>
            <a:off x="815370" y="5266944"/>
            <a:ext cx="2194560" cy="193853"/>
          </a:xfrm>
          <a:prstGeom prst="rect">
            <a:avLst/>
          </a:prstGeom>
          <a:noFill/>
        </p:spPr>
        <p:txBody>
          <a:bodyPr wrap="square">
            <a:noAutofit/>
          </a:bodyPr>
          <a:lstStyle/>
          <a:p>
            <a:pPr/>
            <a:r>
              <a:rPr lang="en-MY" sz="900" b="1" dirty="0">
                <a:solidFill>
                  <a:schemeClr val="tx1">
                    <a:lumMod val="85000"/>
                    <a:lumOff val="15000"/>
                  </a:schemeClr>
                </a:solidFill>
              </a:rPr>
              <a:t>Papan Tanda Informasi</a:t>
            </a:r>
          </a:p>
        </p:txBody>
      </p:sp>
      <p:sp>
        <p:nvSpPr>
          <p:cNvPr id="303" name="OverviewDir"/>
          <p:cNvSpPr txBox="1"/>
          <p:nvPr/>
        </p:nvSpPr>
        <p:spPr>
          <a:xfrm>
            <a:off x="815370" y="5497373"/>
            <a:ext cx="2194560" cy="512064"/>
          </a:xfrm>
          <a:prstGeom prst="rect">
            <a:avLst/>
          </a:prstGeom>
          <a:noFill/>
        </p:spPr>
        <p:txBody>
          <a:bodyPr wrap="square">
            <a:noAutofit/>
          </a:bodyPr>
          <a:lstStyle/>
          <a:p>
            <a:pPr/>
            <a:r>
              <a:rPr lang="en-MY" sz="750" dirty="0">
                <a:solidFill>
                  <a:srgbClr val="808080"/>
                </a:solidFill>
              </a:rPr>
              <a:t>[Visual: Rajah 25 — Lukisan Spesifikasi</a:t>
            </a:r>
          </a:p>
          <a:p>
            <a:pPr/>
            <a:r>
              <a:rPr lang="en-MY" sz="750" dirty="0">
                <a:solidFill>
                  <a:srgbClr val="808080"/>
                </a:solidFill>
              </a:rPr>
              <a:t>Papan Tanda Informasi, modul ms 245. Aset</a:t>
            </a:r>
          </a:p>
          <a:p>
            <a:pPr/>
            <a:r>
              <a:rPr lang="en-MY" sz="750" dirty="0">
                <a:solidFill>
                  <a:srgbClr val="808080"/>
                </a:solidFill>
              </a:rPr>
              <a:t>K5PL06T03-B02-IMG-p245-x37. Tidak</a:t>
            </a:r>
          </a:p>
          <a:p>
            <a:pPr/>
            <a:r>
              <a:rPr lang="en-MY" sz="750" dirty="0">
                <a:solidFill>
                  <a:srgbClr val="808080"/>
                </a:solidFill>
              </a:rPr>
              <a:t>dibenamkan.]</a:t>
            </a:r>
          </a:p>
        </p:txBody>
      </p:sp>
      <p:sp>
        <p:nvSpPr>
          <p:cNvPr id="304" name="OverviewCard"/>
          <p:cNvSpPr txBox="1"/>
          <p:nvPr/>
        </p:nvSpPr>
        <p:spPr>
          <a:xfrm>
            <a:off x="3284250" y="5212080"/>
            <a:ext cx="2377440" cy="870509"/>
          </a:xfrm>
          <a:prstGeom prst="rect">
            <a:avLst/>
          </a:prstGeom>
          <a:solidFill>
            <a:srgbClr val="F7F7F7"/>
          </a:solidFill>
          <a:ln w="12700">
            <a:solidFill>
              <a:srgbClr val="BFBFBF"/>
            </a:solidFill>
          </a:ln>
        </p:spPr>
        <p:txBody>
          <a:bodyPr wrap="square">
            <a:noAutofit/>
          </a:bodyPr>
          <a:lstStyle/>
        </p:txBody>
      </p:sp>
      <p:sp>
        <p:nvSpPr>
          <p:cNvPr id="305" name="OverviewSubject"/>
          <p:cNvSpPr txBox="1"/>
          <p:nvPr/>
        </p:nvSpPr>
        <p:spPr>
          <a:xfrm>
            <a:off x="3375690" y="5266944"/>
            <a:ext cx="2194560" cy="193853"/>
          </a:xfrm>
          <a:prstGeom prst="rect">
            <a:avLst/>
          </a:prstGeom>
          <a:noFill/>
        </p:spPr>
        <p:txBody>
          <a:bodyPr wrap="square">
            <a:noAutofit/>
          </a:bodyPr>
          <a:lstStyle/>
          <a:p>
            <a:pPr/>
            <a:r>
              <a:rPr lang="en-MY" sz="900" b="1" dirty="0">
                <a:solidFill>
                  <a:schemeClr val="tx1">
                    <a:lumMod val="85000"/>
                    <a:lumOff val="15000"/>
                  </a:schemeClr>
                </a:solidFill>
              </a:rPr>
              <a:t>Papan Tanda Penunjuk Arah</a:t>
            </a:r>
          </a:p>
        </p:txBody>
      </p:sp>
      <p:sp>
        <p:nvSpPr>
          <p:cNvPr id="306" name="OverviewDir"/>
          <p:cNvSpPr txBox="1"/>
          <p:nvPr/>
        </p:nvSpPr>
        <p:spPr>
          <a:xfrm>
            <a:off x="3375690" y="5497373"/>
            <a:ext cx="2194560" cy="512064"/>
          </a:xfrm>
          <a:prstGeom prst="rect">
            <a:avLst/>
          </a:prstGeom>
          <a:noFill/>
        </p:spPr>
        <p:txBody>
          <a:bodyPr wrap="square">
            <a:noAutofit/>
          </a:bodyPr>
          <a:lstStyle/>
          <a:p>
            <a:pPr/>
            <a:r>
              <a:rPr lang="en-MY" sz="750" dirty="0">
                <a:solidFill>
                  <a:srgbClr val="808080"/>
                </a:solidFill>
              </a:rPr>
              <a:t>[Visual: Rajah 26 — Spesifikasi Papan Tanda</a:t>
            </a:r>
          </a:p>
          <a:p>
            <a:pPr/>
            <a:r>
              <a:rPr lang="en-MY" sz="750" dirty="0">
                <a:solidFill>
                  <a:srgbClr val="808080"/>
                </a:solidFill>
              </a:rPr>
              <a:t>Penunjuk Arah, modul ms 245. Aset</a:t>
            </a:r>
          </a:p>
          <a:p>
            <a:pPr/>
            <a:r>
              <a:rPr lang="en-MY" sz="750" dirty="0">
                <a:solidFill>
                  <a:srgbClr val="808080"/>
                </a:solidFill>
              </a:rPr>
              <a:t>K5PL06T03-B02-IMG-p245-x38. Tidak</a:t>
            </a:r>
          </a:p>
          <a:p>
            <a:pPr/>
            <a:r>
              <a:rPr lang="en-MY" sz="75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Papan Tanda Arah / Papan Tanda Interpretatif</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Rekaan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Font jelas, saiz teks sesuai jarak pandang, kontras warna tinggi.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Papan Tanda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SCR_PAPAN_TANDA_MAIN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SCR_PAPAN_TANDA_MAIN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K5-PL06-T03-B02-PAPAN-TANDA-ROW-01</a:t>
            </a:r>
          </a:p>
          <a:p>
            <a:r>
              <a:rPr lang="en-MY" sz="900" dirty="0">
                <a:solidFill>
                  <a:schemeClr val="tx1">
                    <a:lumMod val="85000"/>
                    <a:lumOff val="15000"/>
                  </a:schemeClr>
                </a:solidFill>
              </a:rPr>
              <a:t>    ms 244 / fizikal 263</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II_PAPAN_TANDA_CAT04  &lt;-  K5-PL06-T03-B02-PAPAN-TANDA-ROW-01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(SCR_PAPAN_TANDA_MAIN).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4/4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K5-PL06-T03-B02-PAPAN-TANDA-ROW-01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Papan Tanda</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Papan Tanda</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dirty="0">
                <a:solidFill>
                  <a:srgbClr val="7F6000"/>
                </a:solidFill>
              </a:rPr>
              <a:t>Papan Tanda Arah / Papan Tanda Interpretatif</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Panel</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Struktur/Tiang</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Grafik</a:t>
            </a:r>
          </a:p>
        </p:txBody>
      </p:sp>
      <p:sp>
        <p:nvSpPr>
          <p:cNvPr id="45" name="Tick"/>
          <p:cNvSpPr/>
          <p:nvPr/>
        </p:nvSpPr>
        <p:spPr>
          <a:xfrm>
            <a:off x="8283687"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Rekaan</a:t>
            </a:r>
          </a:p>
        </p:txBody>
      </p:sp>
      <p:sp>
        <p:nvSpPr>
          <p:cNvPr id="47" name="Tick"/>
          <p:cNvSpPr/>
          <p:nvPr/>
        </p:nvSpPr>
        <p:spPr>
          <a:xfrm>
            <a:off x="11065749"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0" name="OverviewHead"/>
          <p:cNvSpPr txBox="1"/>
          <p:nvPr/>
        </p:nvSpPr>
        <p:spPr>
          <a:xfrm>
            <a:off x="723930" y="4974336"/>
            <a:ext cx="10744200" cy="201168"/>
          </a:xfrm>
          <a:prstGeom prst="rect">
            <a:avLst/>
          </a:prstGeom>
          <a:noFill/>
        </p:spPr>
        <p:txBody>
          <a:bodyPr wrap="square">
            <a:noAutofit/>
          </a:bodyPr>
          <a:lstStyle/>
          <a:p>
            <a:pPr/>
            <a:r>
              <a:rPr lang="en-MY" sz="850" b="1" dirty="0">
                <a:solidFill>
                  <a:srgbClr val="7F6000"/>
                </a:solidFill>
              </a:rPr>
              <a:t>ARAHAN VISUAL — OVERVIEW KOMPONEN (TIDAK DIBENAMKAN)</a:t>
            </a:r>
          </a:p>
        </p:txBody>
      </p:sp>
      <p:sp>
        <p:nvSpPr>
          <p:cNvPr id="301" name="OverviewCard"/>
          <p:cNvSpPr txBox="1"/>
          <p:nvPr/>
        </p:nvSpPr>
        <p:spPr>
          <a:xfrm>
            <a:off x="723930" y="5212080"/>
            <a:ext cx="2377440" cy="870509"/>
          </a:xfrm>
          <a:prstGeom prst="rect">
            <a:avLst/>
          </a:prstGeom>
          <a:solidFill>
            <a:srgbClr val="F7F7F7"/>
          </a:solidFill>
          <a:ln w="12700">
            <a:solidFill>
              <a:srgbClr val="BFBFBF"/>
            </a:solidFill>
          </a:ln>
        </p:spPr>
        <p:txBody>
          <a:bodyPr wrap="square">
            <a:noAutofit/>
          </a:bodyPr>
          <a:lstStyle/>
        </p:txBody>
      </p:sp>
      <p:sp>
        <p:nvSpPr>
          <p:cNvPr id="302" name="OverviewSubject"/>
          <p:cNvSpPr txBox="1"/>
          <p:nvPr/>
        </p:nvSpPr>
        <p:spPr>
          <a:xfrm>
            <a:off x="815370" y="5266944"/>
            <a:ext cx="2194560" cy="193853"/>
          </a:xfrm>
          <a:prstGeom prst="rect">
            <a:avLst/>
          </a:prstGeom>
          <a:noFill/>
        </p:spPr>
        <p:txBody>
          <a:bodyPr wrap="square">
            <a:noAutofit/>
          </a:bodyPr>
          <a:lstStyle/>
          <a:p>
            <a:pPr/>
            <a:r>
              <a:rPr lang="en-MY" sz="900" b="1" dirty="0">
                <a:solidFill>
                  <a:schemeClr val="tx1">
                    <a:lumMod val="85000"/>
                    <a:lumOff val="15000"/>
                  </a:schemeClr>
                </a:solidFill>
              </a:rPr>
              <a:t>Papan Tanda Informasi</a:t>
            </a:r>
          </a:p>
        </p:txBody>
      </p:sp>
      <p:sp>
        <p:nvSpPr>
          <p:cNvPr id="303" name="OverviewDir"/>
          <p:cNvSpPr txBox="1"/>
          <p:nvPr/>
        </p:nvSpPr>
        <p:spPr>
          <a:xfrm>
            <a:off x="815370" y="5497373"/>
            <a:ext cx="2194560" cy="512064"/>
          </a:xfrm>
          <a:prstGeom prst="rect">
            <a:avLst/>
          </a:prstGeom>
          <a:noFill/>
        </p:spPr>
        <p:txBody>
          <a:bodyPr wrap="square">
            <a:noAutofit/>
          </a:bodyPr>
          <a:lstStyle/>
          <a:p>
            <a:pPr/>
            <a:r>
              <a:rPr lang="en-MY" sz="750" dirty="0">
                <a:solidFill>
                  <a:srgbClr val="808080"/>
                </a:solidFill>
              </a:rPr>
              <a:t>[Visual: Rajah 25 — Lukisan Spesifikasi</a:t>
            </a:r>
          </a:p>
          <a:p>
            <a:pPr/>
            <a:r>
              <a:rPr lang="en-MY" sz="750" dirty="0">
                <a:solidFill>
                  <a:srgbClr val="808080"/>
                </a:solidFill>
              </a:rPr>
              <a:t>Papan Tanda Informasi, modul ms 245. Aset</a:t>
            </a:r>
          </a:p>
          <a:p>
            <a:pPr/>
            <a:r>
              <a:rPr lang="en-MY" sz="750" dirty="0">
                <a:solidFill>
                  <a:srgbClr val="808080"/>
                </a:solidFill>
              </a:rPr>
              <a:t>K5PL06T03-B02-IMG-p245-x37. Tidak</a:t>
            </a:r>
          </a:p>
          <a:p>
            <a:pPr/>
            <a:r>
              <a:rPr lang="en-MY" sz="750" dirty="0">
                <a:solidFill>
                  <a:srgbClr val="808080"/>
                </a:solidFill>
              </a:rPr>
              <a:t>dibenamkan.]</a:t>
            </a:r>
          </a:p>
        </p:txBody>
      </p:sp>
      <p:sp>
        <p:nvSpPr>
          <p:cNvPr id="304" name="OverviewCard"/>
          <p:cNvSpPr txBox="1"/>
          <p:nvPr/>
        </p:nvSpPr>
        <p:spPr>
          <a:xfrm>
            <a:off x="3284250" y="5212080"/>
            <a:ext cx="2377440" cy="870509"/>
          </a:xfrm>
          <a:prstGeom prst="rect">
            <a:avLst/>
          </a:prstGeom>
          <a:solidFill>
            <a:srgbClr val="F7F7F7"/>
          </a:solidFill>
          <a:ln w="12700">
            <a:solidFill>
              <a:srgbClr val="BFBFBF"/>
            </a:solidFill>
          </a:ln>
        </p:spPr>
        <p:txBody>
          <a:bodyPr wrap="square">
            <a:noAutofit/>
          </a:bodyPr>
          <a:lstStyle/>
        </p:txBody>
      </p:sp>
      <p:sp>
        <p:nvSpPr>
          <p:cNvPr id="305" name="OverviewSubject"/>
          <p:cNvSpPr txBox="1"/>
          <p:nvPr/>
        </p:nvSpPr>
        <p:spPr>
          <a:xfrm>
            <a:off x="3375690" y="5266944"/>
            <a:ext cx="2194560" cy="193853"/>
          </a:xfrm>
          <a:prstGeom prst="rect">
            <a:avLst/>
          </a:prstGeom>
          <a:noFill/>
        </p:spPr>
        <p:txBody>
          <a:bodyPr wrap="square">
            <a:noAutofit/>
          </a:bodyPr>
          <a:lstStyle/>
          <a:p>
            <a:pPr/>
            <a:r>
              <a:rPr lang="en-MY" sz="900" b="1" dirty="0">
                <a:solidFill>
                  <a:schemeClr val="tx1">
                    <a:lumMod val="85000"/>
                    <a:lumOff val="15000"/>
                  </a:schemeClr>
                </a:solidFill>
              </a:rPr>
              <a:t>Papan Tanda Penunjuk Arah</a:t>
            </a:r>
          </a:p>
        </p:txBody>
      </p:sp>
      <p:sp>
        <p:nvSpPr>
          <p:cNvPr id="306" name="OverviewDir"/>
          <p:cNvSpPr txBox="1"/>
          <p:nvPr/>
        </p:nvSpPr>
        <p:spPr>
          <a:xfrm>
            <a:off x="3375690" y="5497373"/>
            <a:ext cx="2194560" cy="512064"/>
          </a:xfrm>
          <a:prstGeom prst="rect">
            <a:avLst/>
          </a:prstGeom>
          <a:noFill/>
        </p:spPr>
        <p:txBody>
          <a:bodyPr wrap="square">
            <a:noAutofit/>
          </a:bodyPr>
          <a:lstStyle/>
          <a:p>
            <a:pPr/>
            <a:r>
              <a:rPr lang="en-MY" sz="750" dirty="0">
                <a:solidFill>
                  <a:srgbClr val="808080"/>
                </a:solidFill>
              </a:rPr>
              <a:t>[Visual: Rajah 26 — Spesifikasi Papan Tanda</a:t>
            </a:r>
          </a:p>
          <a:p>
            <a:pPr/>
            <a:r>
              <a:rPr lang="en-MY" sz="750" dirty="0">
                <a:solidFill>
                  <a:srgbClr val="808080"/>
                </a:solidFill>
              </a:rPr>
              <a:t>Penunjuk Arah, modul ms 245. Aset</a:t>
            </a:r>
          </a:p>
          <a:p>
            <a:pPr/>
            <a:r>
              <a:rPr lang="en-MY" sz="750" dirty="0">
                <a:solidFill>
                  <a:srgbClr val="808080"/>
                </a:solidFill>
              </a:rPr>
              <a:t>K5PL06T03-B02-IMG-p245-x38. Tidak</a:t>
            </a:r>
          </a:p>
          <a:p>
            <a:pPr/>
            <a:r>
              <a:rPr lang="en-MY" sz="750" dirty="0">
                <a:solidFill>
                  <a:srgbClr val="808080"/>
                </a:solidFill>
              </a:rPr>
              <a:t>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Papan Tanda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COMPONENT_SPEC_LIST_ALL_VIEWED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[enabled — component 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SCR_PAPAN_TANDA_MAIN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K5-PL06-T03-B02-PAPAN-TANDA-ROW-01</a:t>
            </a:r>
          </a:p>
          <a:p>
            <a:r>
              <a:rPr lang="en-MY" sz="900" dirty="0">
                <a:solidFill>
                  <a:schemeClr val="tx1">
                    <a:lumMod val="85000"/>
                    <a:lumOff val="15000"/>
                  </a:schemeClr>
                </a:solidFill>
              </a:rPr>
              <a:t>    ms 244 / fizikal 263</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II_PAPAN_TANDA_CAT01  &lt;-  K5-PL06-T03-B02-PAPAN-TANDA-ROW-01</a:t>
            </a:r>
          </a:p>
          <a:p>
            <a:r>
              <a:rPr lang="en-MY" sz="900" dirty="0">
                <a:solidFill>
                  <a:schemeClr val="tx1">
                    <a:lumMod val="85000"/>
                    <a:lumOff val="15000"/>
                  </a:schemeClr>
                </a:solidFill>
              </a:rPr>
              <a:t>  II_PAPAN_TANDA_CAT02  &lt;-  K5-PL06-T03-B02-PAPAN-TANDA-ROW-01</a:t>
            </a:r>
          </a:p>
          <a:p>
            <a:r>
              <a:rPr lang="en-MY" sz="900" dirty="0">
                <a:solidFill>
                  <a:schemeClr val="tx1">
                    <a:lumMod val="85000"/>
                    <a:lumOff val="15000"/>
                  </a:schemeClr>
                </a:solidFill>
              </a:rPr>
              <a:t>  II_PAPAN_TANDA_CAT03  &lt;-  K5-PL06-T03-B02-PAPAN-TANDA-ROW-01</a:t>
            </a:r>
          </a:p>
          <a:p>
            <a:r>
              <a:rPr lang="en-MY" sz="900" dirty="0">
                <a:solidFill>
                  <a:schemeClr val="tx1">
                    <a:lumMod val="85000"/>
                    <a:lumOff val="15000"/>
                  </a:schemeClr>
                </a:solidFill>
              </a:rPr>
              <a:t>  II_PAPAN_TANDA_CAT04  &lt;-  K5-PL06-T03-B02-PAPAN-TANDA-ROW-01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(None).</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4/4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K5-PL06-T03-B02-PAPAN-TANDA-ROW-01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Tong Sampah</a:t>
            </a:r>
          </a:p>
        </p:txBody>
      </p:sp>
      <p:sp>
        <p:nvSpPr>
          <p:cNvPr id="25" name="Instr"/>
          <p:cNvSpPr txBox="1"/>
          <p:nvPr/>
        </p:nvSpPr>
        <p:spPr>
          <a:xfrm>
            <a:off x="723930" y="1591056"/>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contoh untuk melihat perincian.</a:t>
            </a:r>
          </a:p>
        </p:txBody>
      </p:sp>
      <p:sp>
        <p:nvSpPr>
          <p:cNvPr id="40" name="ItemCard"/>
          <p:cNvSpPr txBox="1"/>
          <p:nvPr/>
        </p:nvSpPr>
        <p:spPr>
          <a:xfrm>
            <a:off x="723885" y="2157984"/>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Tong Sampah Logam</a:t>
            </a:r>
          </a:p>
        </p:txBody>
      </p:sp>
      <p:sp>
        <p:nvSpPr>
          <p:cNvPr id="41" name="ItemCard"/>
          <p:cNvSpPr txBox="1"/>
          <p:nvPr/>
        </p:nvSpPr>
        <p:spPr>
          <a:xfrm>
            <a:off x="4433301" y="2157984"/>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Tong Sampah Konkrit/Batu</a:t>
            </a:r>
          </a:p>
        </p:txBody>
      </p:sp>
      <p:sp>
        <p:nvSpPr>
          <p:cNvPr id="42" name="ItemCard"/>
          <p:cNvSpPr txBox="1"/>
          <p:nvPr/>
        </p:nvSpPr>
        <p:spPr>
          <a:xfrm>
            <a:off x="8142717" y="2157984"/>
            <a:ext cx="3325368"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Tong Sampah Plastik Kitar Semula (HDPE)</a:t>
            </a:r>
          </a:p>
        </p:txBody>
      </p:sp>
      <p:sp>
        <p:nvSpPr>
          <p:cNvPr id="30" name="VisualDir"/>
          <p:cNvSpPr txBox="1"/>
          <p:nvPr/>
        </p:nvSpPr>
        <p:spPr>
          <a:xfrm>
            <a:off x="723930" y="4443984"/>
            <a:ext cx="10744200" cy="365760"/>
          </a:xfrm>
          <a:prstGeom prst="rect">
            <a:avLst/>
          </a:prstGeom>
          <a:noFill/>
        </p:spPr>
        <p:txBody>
          <a:bodyPr wrap="square">
            <a:noAutofit/>
          </a:bodyPr>
          <a:lstStyle/>
          <a:p>
            <a:pPr/>
            <a:r>
              <a:rPr lang="en-MY" sz="1100" dirty="0">
                <a:solidFill>
                  <a:srgbClr val="808080"/>
                </a:solidFill>
              </a:rPr>
              <a:t>[Visual: Foto jadual spesifikasi tong sampah, modul ms 246–247. Tidak dibenamkan.]</a:t>
            </a:r>
          </a:p>
        </p:txBody>
      </p:sp>
      <p:sp>
        <p:nvSpPr>
          <p:cNvPr id="300" name="OverviewHead"/>
          <p:cNvSpPr txBox="1"/>
          <p:nvPr/>
        </p:nvSpPr>
        <p:spPr>
          <a:xfrm>
            <a:off x="723930" y="4974336"/>
            <a:ext cx="10744200" cy="201168"/>
          </a:xfrm>
          <a:prstGeom prst="rect">
            <a:avLst/>
          </a:prstGeom>
          <a:noFill/>
        </p:spPr>
        <p:txBody>
          <a:bodyPr wrap="square">
            <a:noAutofit/>
          </a:bodyPr>
          <a:lstStyle/>
          <a:p>
            <a:pPr/>
            <a:r>
              <a:rPr lang="en-MY" sz="850" b="1" dirty="0">
                <a:solidFill>
                  <a:srgbClr val="7F6000"/>
                </a:solidFill>
              </a:rPr>
              <a:t>ARAHAN VISUAL — OVERVIEW KOMPONEN (TIDAK DIBENAMKAN)</a:t>
            </a:r>
          </a:p>
        </p:txBody>
      </p:sp>
      <p:sp>
        <p:nvSpPr>
          <p:cNvPr id="301" name="OverviewCard"/>
          <p:cNvSpPr txBox="1"/>
          <p:nvPr/>
        </p:nvSpPr>
        <p:spPr>
          <a:xfrm>
            <a:off x="723930" y="5212080"/>
            <a:ext cx="2377440" cy="1123798"/>
          </a:xfrm>
          <a:prstGeom prst="rect">
            <a:avLst/>
          </a:prstGeom>
          <a:solidFill>
            <a:srgbClr val="F7F7F7"/>
          </a:solidFill>
          <a:ln w="12700">
            <a:solidFill>
              <a:srgbClr val="BFBFBF"/>
            </a:solidFill>
          </a:ln>
        </p:spPr>
        <p:txBody>
          <a:bodyPr wrap="square">
            <a:noAutofit/>
          </a:bodyPr>
          <a:lstStyle/>
        </p:txBody>
      </p:sp>
      <p:sp>
        <p:nvSpPr>
          <p:cNvPr id="302" name="OverviewSubject"/>
          <p:cNvSpPr txBox="1"/>
          <p:nvPr/>
        </p:nvSpPr>
        <p:spPr>
          <a:xfrm>
            <a:off x="815370" y="5266944"/>
            <a:ext cx="2194560" cy="332842"/>
          </a:xfrm>
          <a:prstGeom prst="rect">
            <a:avLst/>
          </a:prstGeom>
          <a:noFill/>
        </p:spPr>
        <p:txBody>
          <a:bodyPr wrap="square">
            <a:noAutofit/>
          </a:bodyPr>
          <a:lstStyle/>
          <a:p>
            <a:pPr/>
            <a:r>
              <a:rPr lang="en-MY" sz="900" b="1" dirty="0">
                <a:solidFill>
                  <a:schemeClr val="tx1">
                    <a:lumMod val="85000"/>
                    <a:lumOff val="15000"/>
                  </a:schemeClr>
                </a:solidFill>
              </a:rPr>
              <a:t>Tong Sampah Logam</a:t>
            </a:r>
          </a:p>
        </p:txBody>
      </p:sp>
      <p:sp>
        <p:nvSpPr>
          <p:cNvPr id="303" name="OverviewDir"/>
          <p:cNvSpPr txBox="1"/>
          <p:nvPr/>
        </p:nvSpPr>
        <p:spPr>
          <a:xfrm>
            <a:off x="815370" y="5636362"/>
            <a:ext cx="2194560" cy="626364"/>
          </a:xfrm>
          <a:prstGeom prst="rect">
            <a:avLst/>
          </a:prstGeom>
          <a:noFill/>
        </p:spPr>
        <p:txBody>
          <a:bodyPr wrap="square">
            <a:noAutofit/>
          </a:bodyPr>
          <a:lstStyle/>
          <a:p>
            <a:pPr/>
            <a:r>
              <a:rPr lang="en-MY" sz="750" dirty="0">
                <a:solidFill>
                  <a:srgbClr val="808080"/>
                </a:solidFill>
              </a:rPr>
              <a:t>[Visual: Foto jadual spesifikasi Tong Sampah</a:t>
            </a:r>
          </a:p>
          <a:p>
            <a:pPr/>
            <a:r>
              <a:rPr lang="en-MY" sz="750" dirty="0">
                <a:solidFill>
                  <a:srgbClr val="808080"/>
                </a:solidFill>
              </a:rPr>
              <a:t>Logam, modul ms 246. Aset</a:t>
            </a:r>
          </a:p>
          <a:p>
            <a:pPr/>
            <a:r>
              <a:rPr lang="en-MY" sz="750" dirty="0">
                <a:solidFill>
                  <a:srgbClr val="808080"/>
                </a:solidFill>
              </a:rPr>
              <a:t>K5PL06T03-B02-IMG-p246-x41. Tidak</a:t>
            </a:r>
          </a:p>
          <a:p>
            <a:pPr/>
            <a:r>
              <a:rPr lang="en-MY" sz="750" dirty="0">
                <a:solidFill>
                  <a:srgbClr val="808080"/>
                </a:solidFill>
              </a:rPr>
              <a:t>dibenamkan.]</a:t>
            </a:r>
          </a:p>
        </p:txBody>
      </p:sp>
      <p:sp>
        <p:nvSpPr>
          <p:cNvPr id="304" name="OverviewCard"/>
          <p:cNvSpPr txBox="1"/>
          <p:nvPr/>
        </p:nvSpPr>
        <p:spPr>
          <a:xfrm>
            <a:off x="3284250" y="5212080"/>
            <a:ext cx="2377440" cy="1123798"/>
          </a:xfrm>
          <a:prstGeom prst="rect">
            <a:avLst/>
          </a:prstGeom>
          <a:solidFill>
            <a:srgbClr val="F7F7F7"/>
          </a:solidFill>
          <a:ln w="12700">
            <a:solidFill>
              <a:srgbClr val="BFBFBF"/>
            </a:solidFill>
          </a:ln>
        </p:spPr>
        <p:txBody>
          <a:bodyPr wrap="square">
            <a:noAutofit/>
          </a:bodyPr>
          <a:lstStyle/>
        </p:txBody>
      </p:sp>
      <p:sp>
        <p:nvSpPr>
          <p:cNvPr id="305" name="OverviewSubject"/>
          <p:cNvSpPr txBox="1"/>
          <p:nvPr/>
        </p:nvSpPr>
        <p:spPr>
          <a:xfrm>
            <a:off x="3375690" y="5266944"/>
            <a:ext cx="2194560" cy="332842"/>
          </a:xfrm>
          <a:prstGeom prst="rect">
            <a:avLst/>
          </a:prstGeom>
          <a:noFill/>
        </p:spPr>
        <p:txBody>
          <a:bodyPr wrap="square">
            <a:noAutofit/>
          </a:bodyPr>
          <a:lstStyle/>
          <a:p>
            <a:pPr/>
            <a:r>
              <a:rPr lang="en-MY" sz="900" b="1" dirty="0">
                <a:solidFill>
                  <a:schemeClr val="tx1">
                    <a:lumMod val="85000"/>
                    <a:lumOff val="15000"/>
                  </a:schemeClr>
                </a:solidFill>
              </a:rPr>
              <a:t>Tong Sampah Konkrit/Batu</a:t>
            </a:r>
          </a:p>
        </p:txBody>
      </p:sp>
      <p:sp>
        <p:nvSpPr>
          <p:cNvPr id="306" name="OverviewDir"/>
          <p:cNvSpPr txBox="1"/>
          <p:nvPr/>
        </p:nvSpPr>
        <p:spPr>
          <a:xfrm>
            <a:off x="3375690" y="5636362"/>
            <a:ext cx="2194560" cy="626364"/>
          </a:xfrm>
          <a:prstGeom prst="rect">
            <a:avLst/>
          </a:prstGeom>
          <a:noFill/>
        </p:spPr>
        <p:txBody>
          <a:bodyPr wrap="square">
            <a:noAutofit/>
          </a:bodyPr>
          <a:lstStyle/>
          <a:p>
            <a:pPr/>
            <a:r>
              <a:rPr lang="en-MY" sz="750" dirty="0">
                <a:solidFill>
                  <a:srgbClr val="808080"/>
                </a:solidFill>
              </a:rPr>
              <a:t>[Visual: Foto jadual spesifikasi Tong Sampah</a:t>
            </a:r>
          </a:p>
          <a:p>
            <a:pPr/>
            <a:r>
              <a:rPr lang="en-MY" sz="750" dirty="0">
                <a:solidFill>
                  <a:srgbClr val="808080"/>
                </a:solidFill>
              </a:rPr>
              <a:t>Konkrit/Batu, modul ms 247. Aset</a:t>
            </a:r>
          </a:p>
          <a:p>
            <a:pPr/>
            <a:r>
              <a:rPr lang="en-MY" sz="750" dirty="0">
                <a:solidFill>
                  <a:srgbClr val="808080"/>
                </a:solidFill>
              </a:rPr>
              <a:t>K5PL06T03-B02-IMG-p247-x44. Tidak</a:t>
            </a:r>
          </a:p>
          <a:p>
            <a:pPr/>
            <a:r>
              <a:rPr lang="en-MY" sz="750" dirty="0">
                <a:solidFill>
                  <a:srgbClr val="808080"/>
                </a:solidFill>
              </a:rPr>
              <a:t>dibenamkan.]</a:t>
            </a:r>
          </a:p>
        </p:txBody>
      </p:sp>
      <p:sp>
        <p:nvSpPr>
          <p:cNvPr id="307" name="OverviewCard"/>
          <p:cNvSpPr txBox="1"/>
          <p:nvPr/>
        </p:nvSpPr>
        <p:spPr>
          <a:xfrm>
            <a:off x="5844570" y="5212080"/>
            <a:ext cx="2377440" cy="1123798"/>
          </a:xfrm>
          <a:prstGeom prst="rect">
            <a:avLst/>
          </a:prstGeom>
          <a:solidFill>
            <a:srgbClr val="F7F7F7"/>
          </a:solidFill>
          <a:ln w="12700">
            <a:solidFill>
              <a:srgbClr val="BFBFBF"/>
            </a:solidFill>
          </a:ln>
        </p:spPr>
        <p:txBody>
          <a:bodyPr wrap="square">
            <a:noAutofit/>
          </a:bodyPr>
          <a:lstStyle/>
        </p:txBody>
      </p:sp>
      <p:sp>
        <p:nvSpPr>
          <p:cNvPr id="308" name="OverviewSubject"/>
          <p:cNvSpPr txBox="1"/>
          <p:nvPr/>
        </p:nvSpPr>
        <p:spPr>
          <a:xfrm>
            <a:off x="5936010" y="5266944"/>
            <a:ext cx="2194560" cy="332842"/>
          </a:xfrm>
          <a:prstGeom prst="rect">
            <a:avLst/>
          </a:prstGeom>
          <a:noFill/>
        </p:spPr>
        <p:txBody>
          <a:bodyPr wrap="square">
            <a:noAutofit/>
          </a:bodyPr>
          <a:lstStyle/>
          <a:p>
            <a:pPr/>
            <a:r>
              <a:rPr lang="en-MY" sz="900" b="1" dirty="0">
                <a:solidFill>
                  <a:schemeClr val="tx1">
                    <a:lumMod val="85000"/>
                    <a:lumOff val="15000"/>
                  </a:schemeClr>
                </a:solidFill>
              </a:rPr>
              <a:t>Tong Sampah Plastik Kitar</a:t>
            </a:r>
          </a:p>
          <a:p>
            <a:pPr/>
            <a:r>
              <a:rPr lang="en-MY" sz="900" b="1" dirty="0">
                <a:solidFill>
                  <a:schemeClr val="tx1">
                    <a:lumMod val="85000"/>
                    <a:lumOff val="15000"/>
                  </a:schemeClr>
                </a:solidFill>
              </a:rPr>
              <a:t>Semula (HDPE)</a:t>
            </a:r>
          </a:p>
        </p:txBody>
      </p:sp>
      <p:sp>
        <p:nvSpPr>
          <p:cNvPr id="309" name="OverviewDir"/>
          <p:cNvSpPr txBox="1"/>
          <p:nvPr/>
        </p:nvSpPr>
        <p:spPr>
          <a:xfrm>
            <a:off x="5936010" y="5636362"/>
            <a:ext cx="2194560" cy="626364"/>
          </a:xfrm>
          <a:prstGeom prst="rect">
            <a:avLst/>
          </a:prstGeom>
          <a:noFill/>
        </p:spPr>
        <p:txBody>
          <a:bodyPr wrap="square">
            <a:noAutofit/>
          </a:bodyPr>
          <a:lstStyle/>
          <a:p>
            <a:pPr/>
            <a:r>
              <a:rPr lang="en-MY" sz="750" dirty="0">
                <a:solidFill>
                  <a:srgbClr val="808080"/>
                </a:solidFill>
              </a:rPr>
              <a:t>[Visual: Dua foto jadual spesifikasi Tong</a:t>
            </a:r>
          </a:p>
          <a:p>
            <a:pPr/>
            <a:r>
              <a:rPr lang="en-MY" sz="750" dirty="0">
                <a:solidFill>
                  <a:srgbClr val="808080"/>
                </a:solidFill>
              </a:rPr>
              <a:t>Sampah Plastik HDPE, modul ms 247. Aset</a:t>
            </a:r>
          </a:p>
          <a:p>
            <a:pPr/>
            <a:r>
              <a:rPr lang="en-MY" sz="750" dirty="0">
                <a:solidFill>
                  <a:srgbClr val="808080"/>
                </a:solidFill>
              </a:rPr>
              <a:t>K5PL06T03-B02-IMG-p247-x45 dan</a:t>
            </a:r>
          </a:p>
          <a:p>
            <a:pPr/>
            <a:r>
              <a:rPr lang="en-MY" sz="750" dirty="0">
                <a:solidFill>
                  <a:srgbClr val="808080"/>
                </a:solidFill>
              </a:rPr>
              <a:t>K5PL06T03-B02-IMG-p247-x46. Tidak</a:t>
            </a:r>
          </a:p>
          <a:p>
            <a:pPr/>
            <a:r>
              <a:rPr lang="en-MY" sz="750" dirty="0">
                <a:solidFill>
                  <a:srgbClr val="808080"/>
                </a:solidFill>
              </a:rPr>
              <a:t>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penerangan + senarai contoh</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COMPONENT_EXPLANATION_LIST_BASE</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overview + example list</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[component_complete[TONG_SAMPAH]]</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SCR_TONG_SAMPAH_MAIN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K5-PL06-T03-B02-TONG-SAMPAH-ROW-01</a:t>
            </a:r>
          </a:p>
          <a:p>
            <a:r>
              <a:rPr lang="en-MY" sz="900" dirty="0">
                <a:solidFill>
                  <a:schemeClr val="tx1">
                    <a:lumMod val="85000"/>
                    <a:lumOff val="15000"/>
                  </a:schemeClr>
                </a:solidFill>
              </a:rPr>
              <a:t>    ms 246 / fizikal 265</a:t>
            </a:r>
          </a:p>
          <a:p>
            <a:r>
              <a:rPr lang="en-MY" sz="900" dirty="0">
                <a:solidFill>
                  <a:schemeClr val="tx1">
                    <a:lumMod val="85000"/>
                    <a:lumOff val="15000"/>
                  </a:schemeClr>
                </a:solidFill>
              </a:rPr>
              <a:t>  K5-PL06-T03-B02-TONG-SAMPAH-ROW-02</a:t>
            </a:r>
          </a:p>
          <a:p>
            <a:r>
              <a:rPr lang="en-MY" sz="900" dirty="0">
                <a:solidFill>
                  <a:schemeClr val="tx1">
                    <a:lumMod val="85000"/>
                    <a:lumOff val="15000"/>
                  </a:schemeClr>
                </a:solidFill>
              </a:rPr>
              <a:t>    ms 246 / fizikal 265</a:t>
            </a:r>
          </a:p>
          <a:p>
            <a:r>
              <a:rPr lang="en-MY" sz="900" dirty="0">
                <a:solidFill>
                  <a:schemeClr val="tx1">
                    <a:lumMod val="85000"/>
                    <a:lumOff val="15000"/>
                  </a:schemeClr>
                </a:solidFill>
              </a:rPr>
              <a:t>  K5-PL06-T03-B02-TONG-SAMPAH-ROW-03</a:t>
            </a:r>
          </a:p>
          <a:p>
            <a:r>
              <a:rPr lang="en-MY" sz="900" dirty="0">
                <a:solidFill>
                  <a:schemeClr val="tx1">
                    <a:lumMod val="85000"/>
                    <a:lumOff val="15000"/>
                  </a:schemeClr>
                </a:solidFill>
              </a:rPr>
              <a:t>    ms 247 / fizikal 266</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II_TONG_SAMPAH_EX01  &lt;-  K5-PL06-T03-B02-TONG-SAMPAH-ROW-01</a:t>
            </a:r>
          </a:p>
          <a:p>
            <a:r>
              <a:rPr lang="en-MY" sz="900" dirty="0">
                <a:solidFill>
                  <a:schemeClr val="tx1">
                    <a:lumMod val="85000"/>
                    <a:lumOff val="15000"/>
                  </a:schemeClr>
                </a:solidFill>
              </a:rPr>
              <a:t>  II_TONG_SAMPAH_EX02  &lt;-  K5-PL06-T03-B02-TONG-SAMPAH-ROW-02</a:t>
            </a:r>
          </a:p>
          <a:p>
            <a:r>
              <a:rPr lang="en-MY" sz="900" dirty="0">
                <a:solidFill>
                  <a:schemeClr val="tx1">
                    <a:lumMod val="85000"/>
                    <a:lumOff val="15000"/>
                  </a:schemeClr>
                </a:solidFill>
              </a:rPr>
              <a:t>  II_TONG_SAMPAH_EX03  &lt;-  K5-PL06-T03-B02-TONG-SAMPAH-ROW-03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contoh = Bariah Level 1. Membuka skrin penuh, bukan popup.</a:t>
            </a:r>
          </a:p>
          <a:p>
            <a:r>
              <a:rPr lang="en-MY" sz="900" dirty="0">
                <a:solidFill>
                  <a:schemeClr val="tx1">
                    <a:lumMod val="85000"/>
                    <a:lumOff val="15000"/>
                  </a:schemeClr>
                </a:solidFill>
              </a:rPr>
              <a:t>  0/3 contoh dilihat.</a:t>
            </a:r>
          </a:p>
          <a:p>
            <a:r>
              <a:rPr lang="en-MY" sz="900" dirty="0">
                <a:solidFill>
                  <a:schemeClr val="tx1">
                    <a:lumMod val="85000"/>
                    <a:lumOff val="15000"/>
                  </a:schemeClr>
                </a:solidFill>
              </a:rPr>
              <a:t>  component_complete hanya benar apabila SEMUA contoh selesai.</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contoh untuk melihat perincian.</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COMPONENT_MAIN_SCREEN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SOURCE_ATTESTED_COMPONENT_VISUAL</a:t>
            </a:r>
          </a:p>
          <a:p>
            <a:r>
              <a:rPr lang="en-MY" sz="900" dirty="0">
                <a:solidFill>
                  <a:schemeClr val="tx1">
                    <a:lumMod val="85000"/>
                    <a:lumOff val="15000"/>
                  </a:schemeClr>
                </a:solidFill>
              </a:rPr>
              <a:t>  kuasa keperluan: BARIAH_DIRECT_SCREENSHOT</a:t>
            </a:r>
          </a:p>
          <a:p>
            <a:r>
              <a:rPr lang="en-MY" sz="900" dirty="0">
                <a:solidFill>
                  <a:schemeClr val="tx1">
                    <a:lumMod val="85000"/>
                    <a:lumOff val="15000"/>
                  </a:schemeClr>
                </a:solidFill>
              </a:rPr>
              <a:t>  rawatan: SOURCE_BOUND_OVERVIEW</a:t>
            </a:r>
          </a:p>
          <a:p>
            <a:r>
              <a:rPr lang="en-MY" sz="900" dirty="0">
                <a:solidFill>
                  <a:schemeClr val="tx1">
                    <a:lumMod val="85000"/>
                    <a:lumOff val="15000"/>
                  </a:schemeClr>
                </a:solidFill>
              </a:rPr>
              <a:t>  kuasa rawatan: BARIAH_DIRECT_SCREENSHOT</a:t>
            </a:r>
          </a:p>
          <a:p>
            <a:r>
              <a:rPr lang="en-MY" sz="900" dirty="0">
                <a:solidFill>
                  <a:schemeClr val="tx1">
                    <a:lumMod val="85000"/>
                    <a:lumOff val="15000"/>
                  </a:schemeClr>
                </a:solidFill>
              </a:rPr>
              <a:t>  sumber subjek: MODULE_SOURCE_ATTESTED 3</a:t>
            </a:r>
          </a:p>
          <a:p>
            <a:r>
              <a:rPr lang="en-MY" sz="900" dirty="0">
                <a:solidFill>
                  <a:schemeClr val="tx1">
                    <a:lumMod val="85000"/>
                    <a:lumOff val="15000"/>
                  </a:schemeClr>
                </a:solidFill>
              </a:rPr>
              <a:t>  bilangan subjek overview: 3</a:t>
            </a:r>
          </a:p>
          <a:p>
            <a:r>
              <a:rPr lang="en-MY" sz="900" dirty="0">
                <a:solidFill>
                  <a:schemeClr val="tx1">
                    <a:lumMod val="85000"/>
                    <a:lumOff val="15000"/>
                  </a:schemeClr>
                </a:solidFill>
              </a:rPr>
              <a:t>  status pemetaan: RESOLVED</a:t>
            </a:r>
          </a:p>
          <a:p>
            <a:r>
              <a:rPr lang="en-MY" sz="900" dirty="0">
                <a:solidFill>
                  <a:schemeClr val="tx1">
                    <a:lumMod val="85000"/>
                    <a:lumOff val="15000"/>
                  </a:schemeClr>
                </a:solidFill>
              </a:rPr>
              <a:t>  pemetaan instans: COMPLETE</a:t>
            </a:r>
          </a:p>
          <a:p>
            <a:r>
              <a:rPr lang="en-MY" sz="900" dirty="0">
                <a:solidFill>
                  <a:schemeClr val="tx1">
                    <a:lumMod val="85000"/>
                    <a:lumOff val="15000"/>
                  </a:schemeClr>
                </a:solidFill>
              </a:rPr>
              <a:t>  menunggu keputusan manusia: TIDAK</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Logam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Logam</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Tong sampah silinder atau segi empat tepat dengan penutup berayun atau bukaan di atas, sering</a:t>
            </a:r>
          </a:p>
          <a:p>
            <a:pPr/>
            <a:r>
              <a:rPr lang="en-MY" sz="1400" b="1" dirty="0">
                <a:solidFill>
                  <a:schemeClr val="tx1">
                    <a:lumMod val="85000"/>
                    <a:lumOff val="15000"/>
                  </a:schemeClr>
                </a:solidFill>
              </a:rPr>
              <a:t>dilihat di taman bandar.</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Tong Sampah Logam, modul ms 246. Aset K5PL06T03-B02-IMG-p246-x41.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Logam</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[example_complete[K5-PL06-T03-B02-TONG-SAMPAH-ROW-01]]</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SCR_TONG_SAMPAH_MAIN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SCR_TONG_SAMPAH_EX01_DETAIL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K5-PL06-T03-B02-TONG-SAMPAH-ROW-01</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K5PL06T03-B02-IMG-p246-x41</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II_TONG_SAMPAH_R01_SPEC01  &lt;-  K5-PL06-T03-B02-TONG-SAMPAH-ROW-01</a:t>
            </a:r>
          </a:p>
          <a:p>
            <a:r>
              <a:rPr lang="en-MY" sz="900" dirty="0">
                <a:solidFill>
                  <a:schemeClr val="tx1">
                    <a:lumMod val="85000"/>
                    <a:lumOff val="15000"/>
                  </a:schemeClr>
                </a:solidFill>
              </a:rPr>
              <a:t>  II_TONG_SAMPAH_R01_SPEC02  &lt;-  K5-PL06-T03-B02-TONG-SAMPAH-ROW-01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SCR_TONG_SAMPAH_MAIN (senarai contoh komponen).</a:t>
            </a:r>
          </a:p>
          <a:p>
            <a:r>
              <a:rPr lang="en-MY" sz="900" dirty="0">
                <a:solidFill>
                  <a:schemeClr val="tx1">
                    <a:lumMod val="85000"/>
                    <a:lumOff val="15000"/>
                  </a:schemeClr>
                </a:solidFill>
              </a:rPr>
              <a:t>  0/2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spesifikasi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Logam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Logam</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Tong sampah silinder atau segi empat tepat dengan penutup berayun atau bukaan di atas, sering</a:t>
            </a:r>
          </a:p>
          <a:p>
            <a:pPr/>
            <a:r>
              <a:rPr lang="en-MY" sz="1400" b="1" dirty="0">
                <a:solidFill>
                  <a:schemeClr val="tx1">
                    <a:lumMod val="85000"/>
                    <a:lumOff val="15000"/>
                  </a:schemeClr>
                </a:solidFill>
              </a:rPr>
              <a:t>dilihat di taman bandar.</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Tong Sampah Logam, modul ms 246. Aset K5PL06T03-B02-IMG-p246-x41.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Tong Sampah Logam</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Keluli lembut digalvani dan disalut serbuk, atau keluli tahan karat. Ketebalan dinding badan</a:t>
            </a:r>
          </a:p>
          <a:p>
            <a:pPr/>
            <a:r>
              <a:rPr lang="en-MY" sz="1250" dirty="0">
                <a:solidFill>
                  <a:schemeClr val="tx1">
                    <a:lumMod val="85000"/>
                    <a:lumOff val="15000"/>
                  </a:schemeClr>
                </a:solidFill>
              </a:rPr>
              <a:t>min. 1.2mm.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Logam</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SCR_TONG_SAMPAH_EX01_DETAIL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SCR_TONG_SAMPAH_EX01_DETAIL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K5-PL06-T03-B02-TONG-SAMPAH-ROW-01</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II_TONG_SAMPAH_R01_SPEC01  &lt;-  K5-PL06-T03-B02-TONG-SAMPAH-ROW-01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SCR_TONG_SAMPAH_EX01_DETAIL (senarai contoh komponen).</a:t>
            </a:r>
          </a:p>
          <a:p>
            <a:r>
              <a:rPr lang="en-MY" sz="900" dirty="0">
                <a:solidFill>
                  <a:schemeClr val="tx1">
                    <a:lumMod val="85000"/>
                    <a:lumOff val="15000"/>
                  </a:schemeClr>
                </a:solidFill>
              </a:rPr>
              <a:t>  1/2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Logam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Logam</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Tong sampah silinder atau segi empat tepat dengan penutup berayun atau bukaan di atas, sering</a:t>
            </a:r>
          </a:p>
          <a:p>
            <a:pPr/>
            <a:r>
              <a:rPr lang="en-MY" sz="1400" b="1" dirty="0">
                <a:solidFill>
                  <a:schemeClr val="tx1">
                    <a:lumMod val="85000"/>
                    <a:lumOff val="15000"/>
                  </a:schemeClr>
                </a:solidFill>
              </a:rPr>
              <a:t>dilihat di taman bandar.</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Tong Sampah Logam, modul ms 246. Aset K5PL06T03-B02-IMG-p246-x41. Tidak</a:t>
            </a:r>
          </a:p>
          <a:p>
            <a:pPr/>
            <a:r>
              <a:rPr lang="en-MY" sz="110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Tong Sampah Logam</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Ciri-ciri</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644652"/>
          </a:xfrm>
          <a:prstGeom prst="rect">
            <a:avLst/>
          </a:prstGeom>
          <a:noFill/>
        </p:spPr>
        <p:txBody>
          <a:bodyPr wrap="square">
            <a:noAutofit/>
          </a:bodyPr>
          <a:lstStyle/>
          <a:p>
            <a:pPr/>
            <a:r>
              <a:rPr lang="en-MY" sz="1250" dirty="0">
                <a:solidFill>
                  <a:schemeClr val="tx1">
                    <a:lumMod val="85000"/>
                    <a:lumOff val="15000"/>
                  </a:schemeClr>
                </a:solidFill>
              </a:rPr>
              <a:t>Penutup tahan cuaca dan tahan haiwan; pembukaan pembuangan ergonomik; tong dalam (liner)</a:t>
            </a:r>
          </a:p>
          <a:p>
            <a:pPr/>
            <a:r>
              <a:rPr lang="en-MY" sz="1250" dirty="0">
                <a:solidFill>
                  <a:schemeClr val="tx1">
                    <a:lumMod val="85000"/>
                    <a:lumOff val="15000"/>
                  </a:schemeClr>
                </a:solidFill>
              </a:rPr>
              <a:t>mudah</a:t>
            </a:r>
          </a:p>
          <a:p>
            <a:pPr/>
            <a:r>
              <a:rPr lang="en-MY" sz="1250" dirty="0">
                <a:solidFill>
                  <a:schemeClr val="tx1">
                    <a:lumMod val="85000"/>
                    <a:lumOff val="15000"/>
                  </a:schemeClr>
                </a:solidFill>
              </a:rPr>
              <a:t>dikeluarkan.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Logam</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SCR_TONG_SAMPAH_EX01_DETAIL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SCR_TONG_SAMPAH_EX01_DETAIL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K5-PL06-T03-B02-TONG-SAMPAH-ROW-01</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II_TONG_SAMPAH_R01_SPEC02  &lt;-  K5-PL06-T03-B02-TONG-SAMPAH-ROW-01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SCR_TONG_SAMPAH_EX01_DETAIL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Logam</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Logam</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Tong sampah silinder atau segi empat tepat dengan penutup berayun atau bukaan di atas, sering</a:t>
            </a:r>
          </a:p>
          <a:p>
            <a:pPr/>
            <a:r>
              <a:rPr lang="en-MY" sz="1400" b="1" dirty="0">
                <a:solidFill>
                  <a:schemeClr val="tx1">
                    <a:lumMod val="85000"/>
                    <a:lumOff val="15000"/>
                  </a:schemeClr>
                </a:solidFill>
              </a:rPr>
              <a:t>dilihat di taman bandar.</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Tong Sampah Logam, modul ms 246. Aset K5PL06T03-B02-IMG-p246-x41. Tidak</a:t>
            </a:r>
          </a:p>
          <a:p>
            <a:pPr/>
            <a:r>
              <a:rPr lang="en-MY" sz="1100" dirty="0">
                <a:solidFill>
                  <a:srgbClr val="808080"/>
                </a:solidFill>
              </a:rPr>
              <a:t>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Logam</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SCR_TONG_SAMPAH_MAIN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SCR_TONG_SAMPAH_EX01_DETAIL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K5-PL06-T03-B02-TONG-SAMPAH-ROW-01</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II_TONG_SAMPAH_R01_SPEC01  &lt;-  K5-PL06-T03-B02-TONG-SAMPAH-ROW-01</a:t>
            </a:r>
          </a:p>
          <a:p>
            <a:r>
              <a:rPr lang="en-MY" sz="900" dirty="0">
                <a:solidFill>
                  <a:schemeClr val="tx1">
                    <a:lumMod val="85000"/>
                    <a:lumOff val="15000"/>
                  </a:schemeClr>
                </a:solidFill>
              </a:rPr>
              <a:t>  II_TONG_SAMPAH_R01_SPEC02  &lt;-  K5-PL06-T03-B02-TONG-SAMPAH-ROW-01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SCR_TONG_SAMPAH_MAIN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berat dan kukuh yang disepadukan dengan reka bentuk landskap.</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Tong Sampah Konkrit/Batu, modul ms 247. Aset K5PL06T03-B02-IMG-p247-x44.</a:t>
            </a:r>
          </a:p>
          <a:p>
            <a:pPr/>
            <a:r>
              <a:rPr lang="en-MY" sz="1100" dirty="0">
                <a:solidFill>
                  <a:srgbClr val="808080"/>
                </a:solidFill>
              </a:rPr>
              <a:t>Tidak 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[example_complete[K5-PL06-T03-B02-TONG-SAMPAH-ROW-02]]</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SCR_TONG_SAMPAH_MAIN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SCR_TONG_SAMPAH_EX02_DETAIL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K5-PL06-T03-B02-TONG-SAMPAH-ROW-02</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K5PL06T03-B02-IMG-p247-x44</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II_TONG_SAMPAH_R02_SPEC01  &lt;-  K5-PL06-T03-B02-TONG-SAMPAH-ROW-02</a:t>
            </a:r>
          </a:p>
          <a:p>
            <a:r>
              <a:rPr lang="en-MY" sz="900" dirty="0">
                <a:solidFill>
                  <a:schemeClr val="tx1">
                    <a:lumMod val="85000"/>
                    <a:lumOff val="15000"/>
                  </a:schemeClr>
                </a:solidFill>
              </a:rPr>
              <a:t>  II_TONG_SAMPAH_R02_SPEC02  &lt;-  K5-PL06-T03-B02-TONG-SAMPAH-ROW-02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SCR_TONG_SAMPAH_MAIN (senarai contoh komponen).</a:t>
            </a:r>
          </a:p>
          <a:p>
            <a:r>
              <a:rPr lang="en-MY" sz="900" dirty="0">
                <a:solidFill>
                  <a:schemeClr val="tx1">
                    <a:lumMod val="85000"/>
                    <a:lumOff val="15000"/>
                  </a:schemeClr>
                </a:solidFill>
              </a:rPr>
              <a:t>  0/2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spesifikasi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berat dan kukuh yang disepadukan dengan reka bentuk landskap.</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Tong Sampah Konkrit/Batu, modul ms 247. Aset K5PL06T03-B02-IMG-p247-x44.</a:t>
            </a:r>
          </a:p>
          <a:p>
            <a:pPr/>
            <a:r>
              <a:rPr lang="en-MY" sz="1100" dirty="0">
                <a:solidFill>
                  <a:srgbClr val="808080"/>
                </a:solidFill>
              </a:rPr>
              <a:t>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Tong Sampah Konkrit/Batu</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Konkrit bertetulang atau batu asli/tiruan. Berat mencukupi bagi mengelak kecurian atau</a:t>
            </a:r>
          </a:p>
          <a:p>
            <a:pPr/>
            <a:r>
              <a:rPr lang="en-MY" sz="1250" dirty="0">
                <a:solidFill>
                  <a:schemeClr val="tx1">
                    <a:lumMod val="85000"/>
                    <a:lumOff val="15000"/>
                  </a:schemeClr>
                </a:solidFill>
              </a:rPr>
              <a:t>pergerakan tidak disengajakan.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SCR_TONG_SAMPAH_EX02_DETAIL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SCR_TONG_SAMPAH_EX02_DETAIL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K5-PL06-T03-B02-TONG-SAMPAH-ROW-02</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II_TONG_SAMPAH_R02_SPEC01  &lt;-  K5-PL06-T03-B02-TONG-SAMPAH-ROW-02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SCR_TONG_SAMPAH_EX02_DETAIL (senarai contoh komponen).</a:t>
            </a:r>
          </a:p>
          <a:p>
            <a:r>
              <a:rPr lang="en-MY" sz="900" dirty="0">
                <a:solidFill>
                  <a:schemeClr val="tx1">
                    <a:lumMod val="85000"/>
                    <a:lumOff val="15000"/>
                  </a:schemeClr>
                </a:solidFill>
              </a:rPr>
              <a:t>  1/2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berat dan kukuh yang disepadukan dengan reka bentuk landskap.</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Tong Sampah Konkrit/Batu, modul ms 247. Aset K5PL06T03-B02-IMG-p247-x44.</a:t>
            </a:r>
          </a:p>
          <a:p>
            <a:pPr/>
            <a:r>
              <a:rPr lang="en-MY" sz="1100" dirty="0">
                <a:solidFill>
                  <a:srgbClr val="808080"/>
                </a:solidFill>
              </a:rPr>
              <a:t>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Tong Sampah Konkrit/Batu</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Ciri-ciri</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Pembukaan sesuai untuk sampah, dengan atau tanpa tong dalam logam.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SCR_TONG_SAMPAH_EX02_DETAIL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SCR_TONG_SAMPAH_EX02_DETAIL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K5-PL06-T03-B02-TONG-SAMPAH-ROW-02</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II_TONG_SAMPAH_R02_SPEC02  &lt;-  K5-PL06-T03-B02-TONG-SAMPAH-ROW-02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SCR_TONG_SAMPAH_EX02_DETAIL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berat dan kukuh yang disepadukan dengan reka bentuk landskap.</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Foto jadual spesifikasi Tong Sampah Konkrit/Batu, modul ms 247. Aset K5PL06T03-B02-IMG-p247-x44.</a:t>
            </a:r>
          </a:p>
          <a:p>
            <a:pPr/>
            <a:r>
              <a:rPr lang="en-MY" sz="1100" dirty="0">
                <a:solidFill>
                  <a:srgbClr val="808080"/>
                </a:solidFill>
              </a:rPr>
              <a:t>Tidak 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SCR_TONG_SAMPAH_MAIN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SCR_TONG_SAMPAH_EX02_DETAIL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K5-PL06-T03-B02-TONG-SAMPAH-ROW-02</a:t>
            </a:r>
          </a:p>
          <a:p>
            <a:r>
              <a:rPr lang="en-MY" sz="900" dirty="0">
                <a:solidFill>
                  <a:schemeClr val="tx1">
                    <a:lumMod val="85000"/>
                    <a:lumOff val="15000"/>
                  </a:schemeClr>
                </a:solidFill>
              </a:rPr>
              <a:t>    ms 246 / fizikal 265</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II_TONG_SAMPAH_R02_SPEC01  &lt;-  K5-PL06-T03-B02-TONG-SAMPAH-ROW-02</a:t>
            </a:r>
          </a:p>
          <a:p>
            <a:r>
              <a:rPr lang="en-MY" sz="900" dirty="0">
                <a:solidFill>
                  <a:schemeClr val="tx1">
                    <a:lumMod val="85000"/>
                    <a:lumOff val="15000"/>
                  </a:schemeClr>
                </a:solidFill>
              </a:rPr>
              <a:t>  II_TONG_SAMPAH_R02_SPEC02  &lt;-  K5-PL06-T03-B02-TONG-SAMPAH-ROW-02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SCR_TONG_SAMPAH_MAIN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Plastik Kitar Semula (HDPE)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Plastik Kitar Semula (HDPE)</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berwarna-warni yang sering digunakan untuk pengasingan sisa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Dua foto jadual spesifikasi Tong Sampah Plastik HDPE, modul ms 247. Aset K5PL06T03-B02-IMG-p247-x45</a:t>
            </a:r>
          </a:p>
          <a:p>
            <a:pPr/>
            <a:r>
              <a:rPr lang="en-MY" sz="1100" dirty="0">
                <a:solidFill>
                  <a:srgbClr val="808080"/>
                </a:solidFill>
              </a:rPr>
              <a:t>dan K5PL06T03-B02-IMG-p247-x46. Tidak 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Plastik Kitar Semula (HDPE)</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[example_complete[K5-PL06-T03-B02-TONG-SAMPAH-ROW-03]]</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SCR_TONG_SAMPAH_MAIN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SCR_TONG_SAMPAH_EX03_DETAIL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K5-PL06-T03-B02-TONG-SAMPAH-ROW-03</a:t>
            </a:r>
          </a:p>
          <a:p>
            <a:r>
              <a:rPr lang="en-MY" sz="900" dirty="0">
                <a:solidFill>
                  <a:schemeClr val="tx1">
                    <a:lumMod val="85000"/>
                    <a:lumOff val="15000"/>
                  </a:schemeClr>
                </a:solidFill>
              </a:rPr>
              <a:t>    ms 247 / fizikal 266</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K5PL06T03-B02-IMG-p247-x45</a:t>
            </a:r>
          </a:p>
          <a:p>
            <a:r>
              <a:rPr lang="en-MY" sz="900" dirty="0">
                <a:solidFill>
                  <a:schemeClr val="tx1">
                    <a:lumMod val="85000"/>
                    <a:lumOff val="15000"/>
                  </a:schemeClr>
                </a:solidFill>
              </a:rPr>
              <a:t>  K5PL06T03-B02-IMG-p247-x46</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II_TONG_SAMPAH_R03_SPEC01  &lt;-  K5-PL06-T03-B02-TONG-SAMPAH-ROW-03</a:t>
            </a:r>
          </a:p>
          <a:p>
            <a:r>
              <a:rPr lang="en-MY" sz="900" dirty="0">
                <a:solidFill>
                  <a:schemeClr val="tx1">
                    <a:lumMod val="85000"/>
                    <a:lumOff val="15000"/>
                  </a:schemeClr>
                </a:solidFill>
              </a:rPr>
              <a:t>  II_TONG_SAMPAH_R03_SPEC02  &lt;-  K5-PL06-T03-B02-TONG-SAMPAH-ROW-03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SCR_TONG_SAMPAH_MAIN (senarai contoh komponen).</a:t>
            </a:r>
          </a:p>
          <a:p>
            <a:r>
              <a:rPr lang="en-MY" sz="900" dirty="0">
                <a:solidFill>
                  <a:schemeClr val="tx1">
                    <a:lumMod val="85000"/>
                    <a:lumOff val="15000"/>
                  </a:schemeClr>
                </a:solidFill>
              </a:rPr>
              <a:t>  0/2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K5-PL06-T03-B02-TONG-SAMPAH-ROW-03</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spesifikasi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Plastik Kitar Semula (HDPE)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Plastik Kitar Semula (HDPE)</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berwarna-warni yang sering digunakan untuk pengasingan sisa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Dua foto jadual spesifikasi Tong Sampah Plastik HDPE, modul ms 247. Aset K5PL06T03-B02-IMG-p247-x45</a:t>
            </a:r>
          </a:p>
          <a:p>
            <a:pPr/>
            <a:r>
              <a:rPr lang="en-MY" sz="1100" dirty="0">
                <a:solidFill>
                  <a:srgbClr val="808080"/>
                </a:solidFill>
              </a:rPr>
              <a:t>dan K5PL06T03-B02-IMG-p247-x46.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Tong Sampah Plastik Kitar Semula (HDPE)</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Plastik berketumpatan tinggi (HDPE) yang tahan UV, tidak reput dan mudah dibersihkan.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Plastik Kitar Semula (HDPE)</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SCR_TONG_SAMPAH_EX03_DETAIL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SCR_TONG_SAMPAH_EX03_DETAIL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K5-PL06-T03-B02-TONG-SAMPAH-ROW-03</a:t>
            </a:r>
          </a:p>
          <a:p>
            <a:r>
              <a:rPr lang="en-MY" sz="900" dirty="0">
                <a:solidFill>
                  <a:schemeClr val="tx1">
                    <a:lumMod val="85000"/>
                    <a:lumOff val="15000"/>
                  </a:schemeClr>
                </a:solidFill>
              </a:rPr>
              <a:t>    ms 247 / fizikal 266</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II_TONG_SAMPAH_R03_SPEC01  &lt;-  K5-PL06-T03-B02-TONG-SAMPAH-ROW-03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SCR_TONG_SAMPAH_EX03_DETAIL (senarai contoh komponen).</a:t>
            </a:r>
          </a:p>
          <a:p>
            <a:r>
              <a:rPr lang="en-MY" sz="900" dirty="0">
                <a:solidFill>
                  <a:schemeClr val="tx1">
                    <a:lumMod val="85000"/>
                    <a:lumOff val="15000"/>
                  </a:schemeClr>
                </a:solidFill>
              </a:rPr>
              <a:t>  1/2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K5-PL06-T03-B02-TONG-SAMPAH-ROW-03</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Plastik Kitar Semula (HDPE)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Plastik Kitar Semula (HDPE)</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berwarna-warni yang sering digunakan untuk pengasingan sisa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Dua foto jadual spesifikasi Tong Sampah Plastik HDPE, modul ms 247. Aset K5PL06T03-B02-IMG-p247-x45</a:t>
            </a:r>
          </a:p>
          <a:p>
            <a:pPr/>
            <a:r>
              <a:rPr lang="en-MY" sz="1100" dirty="0">
                <a:solidFill>
                  <a:srgbClr val="808080"/>
                </a:solidFill>
              </a:rPr>
              <a:t>dan K5PL06T03-B02-IMG-p247-x46.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Tong Sampah Plastik Kitar Semula (HDPE)</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Ciri-ciri</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Ringan, mudah dialihkan jika tidak dipasang tetap; pelbagai warna untuk pengasingan sisa.</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Plastik Kitar Semula (HDPE)</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SCR_TONG_SAMPAH_EX03_DETAIL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SCR_TONG_SAMPAH_EX03_DETAIL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K5-PL06-T03-B02-TONG-SAMPAH-ROW-03</a:t>
            </a:r>
          </a:p>
          <a:p>
            <a:r>
              <a:rPr lang="en-MY" sz="900" dirty="0">
                <a:solidFill>
                  <a:schemeClr val="tx1">
                    <a:lumMod val="85000"/>
                    <a:lumOff val="15000"/>
                  </a:schemeClr>
                </a:solidFill>
              </a:rPr>
              <a:t>    ms 247 / fizikal 266</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II_TONG_SAMPAH_R03_SPEC02  &lt;-  K5-PL06-T03-B02-TONG-SAMPAH-ROW-03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SCR_TONG_SAMPAH_EX03_DETAIL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K5-PL06-T03-B02-TONG-SAMPAH-ROW-03</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 Plastik Kitar Semula (HDPE)</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Tong Sampah</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Tong Sampah Plastik Kitar Semula (HDPE)</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Ciri-ciri</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365760"/>
          </a:xfrm>
          <a:prstGeom prst="rect">
            <a:avLst/>
          </a:prstGeom>
          <a:noFill/>
        </p:spPr>
        <p:txBody>
          <a:bodyPr wrap="square">
            <a:noAutofit/>
          </a:bodyPr>
          <a:lstStyle/>
          <a:p>
            <a:pPr/>
            <a:r>
              <a:rPr lang="en-MY" sz="1400" b="1" dirty="0">
                <a:solidFill>
                  <a:schemeClr val="tx1">
                    <a:lumMod val="85000"/>
                    <a:lumOff val="15000"/>
                  </a:schemeClr>
                </a:solidFill>
              </a:rPr>
              <a:t>Contoh: Tong sampah berwarna-warni yang sering digunakan untuk pengasingan sisa kitar semula.</a:t>
            </a:r>
          </a:p>
        </p:txBody>
      </p:sp>
      <p:sp>
        <p:nvSpPr>
          <p:cNvPr id="30" name="VisualDir"/>
          <p:cNvSpPr txBox="1"/>
          <p:nvPr/>
        </p:nvSpPr>
        <p:spPr>
          <a:xfrm>
            <a:off x="723930" y="3858768"/>
            <a:ext cx="10744200" cy="621792"/>
          </a:xfrm>
          <a:prstGeom prst="rect">
            <a:avLst/>
          </a:prstGeom>
          <a:noFill/>
        </p:spPr>
        <p:txBody>
          <a:bodyPr wrap="square">
            <a:noAutofit/>
          </a:bodyPr>
          <a:lstStyle/>
          <a:p>
            <a:pPr/>
            <a:r>
              <a:rPr lang="en-MY" sz="1100" dirty="0">
                <a:solidFill>
                  <a:srgbClr val="808080"/>
                </a:solidFill>
              </a:rPr>
              <a:t>[Visual: Dua foto jadual spesifikasi Tong Sampah Plastik HDPE, modul ms 247. Aset K5PL06T03-B02-IMG-p247-x45</a:t>
            </a:r>
          </a:p>
          <a:p>
            <a:pPr/>
            <a:r>
              <a:rPr lang="en-MY" sz="1100" dirty="0">
                <a:solidFill>
                  <a:srgbClr val="808080"/>
                </a:solidFill>
              </a:rPr>
              <a:t>dan K5PL06T03-B02-IMG-p247-x46. Tidak 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Tong Sampah Plastik Kitar Semula (HDPE)</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SCR_TONG_SAMPAH_MAIN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SCR_TONG_SAMPAH_EX03_DETAIL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K5-PL06-T03-B02-TONG-SAMPAH-ROW-03</a:t>
            </a:r>
          </a:p>
          <a:p>
            <a:r>
              <a:rPr lang="en-MY" sz="900" dirty="0">
                <a:solidFill>
                  <a:schemeClr val="tx1">
                    <a:lumMod val="85000"/>
                    <a:lumOff val="15000"/>
                  </a:schemeClr>
                </a:solidFill>
              </a:rPr>
              <a:t>    ms 247 / fizikal 266</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II_TONG_SAMPAH_R03_SPEC01  &lt;-  K5-PL06-T03-B02-TONG-SAMPAH-ROW-03</a:t>
            </a:r>
          </a:p>
          <a:p>
            <a:r>
              <a:rPr lang="en-MY" sz="900" dirty="0">
                <a:solidFill>
                  <a:schemeClr val="tx1">
                    <a:lumMod val="85000"/>
                    <a:lumOff val="15000"/>
                  </a:schemeClr>
                </a:solidFill>
              </a:rPr>
              <a:t>  II_TONG_SAMPAH_R03_SPEC02  &lt;-  K5-PL06-T03-B02-TONG-SAMPAH-ROW-03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SCR_TONG_SAMPAH_MAIN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K5-PL06-T03-B02-TONG-SAMPAH-ROW-03</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Tong Sampah</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dirty="0">
                <a:solidFill>
                  <a:schemeClr val="tx1">
                    <a:lumMod val="85000"/>
                    <a:lumOff val="15000"/>
                  </a:schemeClr>
                </a:solidFill>
              </a:rPr>
              <a:t>Tong Sampah</a:t>
            </a:r>
          </a:p>
        </p:txBody>
      </p:sp>
      <p:sp>
        <p:nvSpPr>
          <p:cNvPr id="25" name="Instr"/>
          <p:cNvSpPr txBox="1"/>
          <p:nvPr/>
        </p:nvSpPr>
        <p:spPr>
          <a:xfrm>
            <a:off x="723930" y="1591056"/>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contoh untuk melihat perincian.</a:t>
            </a:r>
          </a:p>
        </p:txBody>
      </p:sp>
      <p:sp>
        <p:nvSpPr>
          <p:cNvPr id="40" name="ItemCard"/>
          <p:cNvSpPr txBox="1"/>
          <p:nvPr/>
        </p:nvSpPr>
        <p:spPr>
          <a:xfrm>
            <a:off x="723885" y="2157984"/>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Tong Sampah Logam</a:t>
            </a:r>
          </a:p>
        </p:txBody>
      </p:sp>
      <p:sp>
        <p:nvSpPr>
          <p:cNvPr id="41" name="Tick"/>
          <p:cNvSpPr/>
          <p:nvPr/>
        </p:nvSpPr>
        <p:spPr>
          <a:xfrm>
            <a:off x="3646917"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57984"/>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Tong Sampah Konkrit/Batu</a:t>
            </a:r>
          </a:p>
        </p:txBody>
      </p:sp>
      <p:sp>
        <p:nvSpPr>
          <p:cNvPr id="43" name="Tick"/>
          <p:cNvSpPr/>
          <p:nvPr/>
        </p:nvSpPr>
        <p:spPr>
          <a:xfrm>
            <a:off x="7356333"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57984"/>
            <a:ext cx="3325368"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Tong Sampah Plastik Kitar Semula (HDPE)</a:t>
            </a:r>
          </a:p>
        </p:txBody>
      </p:sp>
      <p:sp>
        <p:nvSpPr>
          <p:cNvPr id="45" name="Tick"/>
          <p:cNvSpPr/>
          <p:nvPr/>
        </p:nvSpPr>
        <p:spPr>
          <a:xfrm>
            <a:off x="11065749"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0" name="OverviewHead"/>
          <p:cNvSpPr txBox="1"/>
          <p:nvPr/>
        </p:nvSpPr>
        <p:spPr>
          <a:xfrm>
            <a:off x="723930" y="4974336"/>
            <a:ext cx="10744200" cy="201168"/>
          </a:xfrm>
          <a:prstGeom prst="rect">
            <a:avLst/>
          </a:prstGeom>
          <a:noFill/>
        </p:spPr>
        <p:txBody>
          <a:bodyPr wrap="square">
            <a:noAutofit/>
          </a:bodyPr>
          <a:lstStyle/>
          <a:p>
            <a:pPr/>
            <a:r>
              <a:rPr lang="en-MY" sz="850" b="1" dirty="0">
                <a:solidFill>
                  <a:srgbClr val="7F6000"/>
                </a:solidFill>
              </a:rPr>
              <a:t>ARAHAN VISUAL — OVERVIEW KOMPONEN (TIDAK DIBENAMKAN)</a:t>
            </a:r>
          </a:p>
        </p:txBody>
      </p:sp>
      <p:sp>
        <p:nvSpPr>
          <p:cNvPr id="301" name="OverviewCard"/>
          <p:cNvSpPr txBox="1"/>
          <p:nvPr/>
        </p:nvSpPr>
        <p:spPr>
          <a:xfrm>
            <a:off x="723930" y="5212080"/>
            <a:ext cx="2377440" cy="1123798"/>
          </a:xfrm>
          <a:prstGeom prst="rect">
            <a:avLst/>
          </a:prstGeom>
          <a:solidFill>
            <a:srgbClr val="F7F7F7"/>
          </a:solidFill>
          <a:ln w="12700">
            <a:solidFill>
              <a:srgbClr val="BFBFBF"/>
            </a:solidFill>
          </a:ln>
        </p:spPr>
        <p:txBody>
          <a:bodyPr wrap="square">
            <a:noAutofit/>
          </a:bodyPr>
          <a:lstStyle/>
        </p:txBody>
      </p:sp>
      <p:sp>
        <p:nvSpPr>
          <p:cNvPr id="302" name="OverviewSubject"/>
          <p:cNvSpPr txBox="1"/>
          <p:nvPr/>
        </p:nvSpPr>
        <p:spPr>
          <a:xfrm>
            <a:off x="815370" y="5266944"/>
            <a:ext cx="2194560" cy="332842"/>
          </a:xfrm>
          <a:prstGeom prst="rect">
            <a:avLst/>
          </a:prstGeom>
          <a:noFill/>
        </p:spPr>
        <p:txBody>
          <a:bodyPr wrap="square">
            <a:noAutofit/>
          </a:bodyPr>
          <a:lstStyle/>
          <a:p>
            <a:pPr/>
            <a:r>
              <a:rPr lang="en-MY" sz="900" b="1" dirty="0">
                <a:solidFill>
                  <a:schemeClr val="tx1">
                    <a:lumMod val="85000"/>
                    <a:lumOff val="15000"/>
                  </a:schemeClr>
                </a:solidFill>
              </a:rPr>
              <a:t>Tong Sampah Logam</a:t>
            </a:r>
          </a:p>
        </p:txBody>
      </p:sp>
      <p:sp>
        <p:nvSpPr>
          <p:cNvPr id="303" name="OverviewDir"/>
          <p:cNvSpPr txBox="1"/>
          <p:nvPr/>
        </p:nvSpPr>
        <p:spPr>
          <a:xfrm>
            <a:off x="815370" y="5636362"/>
            <a:ext cx="2194560" cy="626364"/>
          </a:xfrm>
          <a:prstGeom prst="rect">
            <a:avLst/>
          </a:prstGeom>
          <a:noFill/>
        </p:spPr>
        <p:txBody>
          <a:bodyPr wrap="square">
            <a:noAutofit/>
          </a:bodyPr>
          <a:lstStyle/>
          <a:p>
            <a:pPr/>
            <a:r>
              <a:rPr lang="en-MY" sz="750" dirty="0">
                <a:solidFill>
                  <a:srgbClr val="808080"/>
                </a:solidFill>
              </a:rPr>
              <a:t>[Visual: Foto jadual spesifikasi Tong Sampah</a:t>
            </a:r>
          </a:p>
          <a:p>
            <a:pPr/>
            <a:r>
              <a:rPr lang="en-MY" sz="750" dirty="0">
                <a:solidFill>
                  <a:srgbClr val="808080"/>
                </a:solidFill>
              </a:rPr>
              <a:t>Logam, modul ms 246. Aset</a:t>
            </a:r>
          </a:p>
          <a:p>
            <a:pPr/>
            <a:r>
              <a:rPr lang="en-MY" sz="750" dirty="0">
                <a:solidFill>
                  <a:srgbClr val="808080"/>
                </a:solidFill>
              </a:rPr>
              <a:t>K5PL06T03-B02-IMG-p246-x41. Tidak</a:t>
            </a:r>
          </a:p>
          <a:p>
            <a:pPr/>
            <a:r>
              <a:rPr lang="en-MY" sz="750" dirty="0">
                <a:solidFill>
                  <a:srgbClr val="808080"/>
                </a:solidFill>
              </a:rPr>
              <a:t>dibenamkan.]</a:t>
            </a:r>
          </a:p>
        </p:txBody>
      </p:sp>
      <p:sp>
        <p:nvSpPr>
          <p:cNvPr id="304" name="OverviewCard"/>
          <p:cNvSpPr txBox="1"/>
          <p:nvPr/>
        </p:nvSpPr>
        <p:spPr>
          <a:xfrm>
            <a:off x="3284250" y="5212080"/>
            <a:ext cx="2377440" cy="1123798"/>
          </a:xfrm>
          <a:prstGeom prst="rect">
            <a:avLst/>
          </a:prstGeom>
          <a:solidFill>
            <a:srgbClr val="F7F7F7"/>
          </a:solidFill>
          <a:ln w="12700">
            <a:solidFill>
              <a:srgbClr val="BFBFBF"/>
            </a:solidFill>
          </a:ln>
        </p:spPr>
        <p:txBody>
          <a:bodyPr wrap="square">
            <a:noAutofit/>
          </a:bodyPr>
          <a:lstStyle/>
        </p:txBody>
      </p:sp>
      <p:sp>
        <p:nvSpPr>
          <p:cNvPr id="305" name="OverviewSubject"/>
          <p:cNvSpPr txBox="1"/>
          <p:nvPr/>
        </p:nvSpPr>
        <p:spPr>
          <a:xfrm>
            <a:off x="3375690" y="5266944"/>
            <a:ext cx="2194560" cy="332842"/>
          </a:xfrm>
          <a:prstGeom prst="rect">
            <a:avLst/>
          </a:prstGeom>
          <a:noFill/>
        </p:spPr>
        <p:txBody>
          <a:bodyPr wrap="square">
            <a:noAutofit/>
          </a:bodyPr>
          <a:lstStyle/>
          <a:p>
            <a:pPr/>
            <a:r>
              <a:rPr lang="en-MY" sz="900" b="1" dirty="0">
                <a:solidFill>
                  <a:schemeClr val="tx1">
                    <a:lumMod val="85000"/>
                    <a:lumOff val="15000"/>
                  </a:schemeClr>
                </a:solidFill>
              </a:rPr>
              <a:t>Tong Sampah Konkrit/Batu</a:t>
            </a:r>
          </a:p>
        </p:txBody>
      </p:sp>
      <p:sp>
        <p:nvSpPr>
          <p:cNvPr id="306" name="OverviewDir"/>
          <p:cNvSpPr txBox="1"/>
          <p:nvPr/>
        </p:nvSpPr>
        <p:spPr>
          <a:xfrm>
            <a:off x="3375690" y="5636362"/>
            <a:ext cx="2194560" cy="626364"/>
          </a:xfrm>
          <a:prstGeom prst="rect">
            <a:avLst/>
          </a:prstGeom>
          <a:noFill/>
        </p:spPr>
        <p:txBody>
          <a:bodyPr wrap="square">
            <a:noAutofit/>
          </a:bodyPr>
          <a:lstStyle/>
          <a:p>
            <a:pPr/>
            <a:r>
              <a:rPr lang="en-MY" sz="750" dirty="0">
                <a:solidFill>
                  <a:srgbClr val="808080"/>
                </a:solidFill>
              </a:rPr>
              <a:t>[Visual: Foto jadual spesifikasi Tong Sampah</a:t>
            </a:r>
          </a:p>
          <a:p>
            <a:pPr/>
            <a:r>
              <a:rPr lang="en-MY" sz="750" dirty="0">
                <a:solidFill>
                  <a:srgbClr val="808080"/>
                </a:solidFill>
              </a:rPr>
              <a:t>Konkrit/Batu, modul ms 247. Aset</a:t>
            </a:r>
          </a:p>
          <a:p>
            <a:pPr/>
            <a:r>
              <a:rPr lang="en-MY" sz="750" dirty="0">
                <a:solidFill>
                  <a:srgbClr val="808080"/>
                </a:solidFill>
              </a:rPr>
              <a:t>K5PL06T03-B02-IMG-p247-x44. Tidak</a:t>
            </a:r>
          </a:p>
          <a:p>
            <a:pPr/>
            <a:r>
              <a:rPr lang="en-MY" sz="750" dirty="0">
                <a:solidFill>
                  <a:srgbClr val="808080"/>
                </a:solidFill>
              </a:rPr>
              <a:t>dibenamkan.]</a:t>
            </a:r>
          </a:p>
        </p:txBody>
      </p:sp>
      <p:sp>
        <p:nvSpPr>
          <p:cNvPr id="307" name="OverviewCard"/>
          <p:cNvSpPr txBox="1"/>
          <p:nvPr/>
        </p:nvSpPr>
        <p:spPr>
          <a:xfrm>
            <a:off x="5844570" y="5212080"/>
            <a:ext cx="2377440" cy="1123798"/>
          </a:xfrm>
          <a:prstGeom prst="rect">
            <a:avLst/>
          </a:prstGeom>
          <a:solidFill>
            <a:srgbClr val="F7F7F7"/>
          </a:solidFill>
          <a:ln w="12700">
            <a:solidFill>
              <a:srgbClr val="BFBFBF"/>
            </a:solidFill>
          </a:ln>
        </p:spPr>
        <p:txBody>
          <a:bodyPr wrap="square">
            <a:noAutofit/>
          </a:bodyPr>
          <a:lstStyle/>
        </p:txBody>
      </p:sp>
      <p:sp>
        <p:nvSpPr>
          <p:cNvPr id="308" name="OverviewSubject"/>
          <p:cNvSpPr txBox="1"/>
          <p:nvPr/>
        </p:nvSpPr>
        <p:spPr>
          <a:xfrm>
            <a:off x="5936010" y="5266944"/>
            <a:ext cx="2194560" cy="332842"/>
          </a:xfrm>
          <a:prstGeom prst="rect">
            <a:avLst/>
          </a:prstGeom>
          <a:noFill/>
        </p:spPr>
        <p:txBody>
          <a:bodyPr wrap="square">
            <a:noAutofit/>
          </a:bodyPr>
          <a:lstStyle/>
          <a:p>
            <a:pPr/>
            <a:r>
              <a:rPr lang="en-MY" sz="900" b="1" dirty="0">
                <a:solidFill>
                  <a:schemeClr val="tx1">
                    <a:lumMod val="85000"/>
                    <a:lumOff val="15000"/>
                  </a:schemeClr>
                </a:solidFill>
              </a:rPr>
              <a:t>Tong Sampah Plastik Kitar</a:t>
            </a:r>
          </a:p>
          <a:p>
            <a:pPr/>
            <a:r>
              <a:rPr lang="en-MY" sz="900" b="1" dirty="0">
                <a:solidFill>
                  <a:schemeClr val="tx1">
                    <a:lumMod val="85000"/>
                    <a:lumOff val="15000"/>
                  </a:schemeClr>
                </a:solidFill>
              </a:rPr>
              <a:t>Semula (HDPE)</a:t>
            </a:r>
          </a:p>
        </p:txBody>
      </p:sp>
      <p:sp>
        <p:nvSpPr>
          <p:cNvPr id="309" name="OverviewDir"/>
          <p:cNvSpPr txBox="1"/>
          <p:nvPr/>
        </p:nvSpPr>
        <p:spPr>
          <a:xfrm>
            <a:off x="5936010" y="5636362"/>
            <a:ext cx="2194560" cy="626364"/>
          </a:xfrm>
          <a:prstGeom prst="rect">
            <a:avLst/>
          </a:prstGeom>
          <a:noFill/>
        </p:spPr>
        <p:txBody>
          <a:bodyPr wrap="square">
            <a:noAutofit/>
          </a:bodyPr>
          <a:lstStyle/>
          <a:p>
            <a:pPr/>
            <a:r>
              <a:rPr lang="en-MY" sz="750" dirty="0">
                <a:solidFill>
                  <a:srgbClr val="808080"/>
                </a:solidFill>
              </a:rPr>
              <a:t>[Visual: Dua foto jadual spesifikasi Tong</a:t>
            </a:r>
          </a:p>
          <a:p>
            <a:pPr/>
            <a:r>
              <a:rPr lang="en-MY" sz="750" dirty="0">
                <a:solidFill>
                  <a:srgbClr val="808080"/>
                </a:solidFill>
              </a:rPr>
              <a:t>Sampah Plastik HDPE, modul ms 247. Aset</a:t>
            </a:r>
          </a:p>
          <a:p>
            <a:pPr/>
            <a:r>
              <a:rPr lang="en-MY" sz="750" dirty="0">
                <a:solidFill>
                  <a:srgbClr val="808080"/>
                </a:solidFill>
              </a:rPr>
              <a:t>K5PL06T03-B02-IMG-p247-x45 dan</a:t>
            </a:r>
          </a:p>
          <a:p>
            <a:pPr/>
            <a:r>
              <a:rPr lang="en-MY" sz="750" dirty="0">
                <a:solidFill>
                  <a:srgbClr val="808080"/>
                </a:solidFill>
              </a:rPr>
              <a:t>K5PL06T03-B02-IMG-p247-x46. Tidak</a:t>
            </a:r>
          </a:p>
          <a:p>
            <a:pPr/>
            <a:r>
              <a:rPr lang="en-MY" sz="750" dirty="0">
                <a:solidFill>
                  <a:srgbClr val="808080"/>
                </a:solidFill>
              </a:rPr>
              <a:t>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Tong Sampah — penerangan + senarai contoh</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COMPONENT_EXPLANATION_LIST_ALL_VIEWED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[enabled — component 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SCR_TONG_SAMPAH_MAIN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K5-PL06-T03-B02-TONG-SAMPAH-ROW-01</a:t>
            </a:r>
          </a:p>
          <a:p>
            <a:r>
              <a:rPr lang="en-MY" sz="900" dirty="0">
                <a:solidFill>
                  <a:schemeClr val="tx1">
                    <a:lumMod val="85000"/>
                    <a:lumOff val="15000"/>
                  </a:schemeClr>
                </a:solidFill>
              </a:rPr>
              <a:t>    ms 246 / fizikal 265</a:t>
            </a:r>
          </a:p>
          <a:p>
            <a:r>
              <a:rPr lang="en-MY" sz="900" dirty="0">
                <a:solidFill>
                  <a:schemeClr val="tx1">
                    <a:lumMod val="85000"/>
                    <a:lumOff val="15000"/>
                  </a:schemeClr>
                </a:solidFill>
              </a:rPr>
              <a:t>  K5-PL06-T03-B02-TONG-SAMPAH-ROW-02</a:t>
            </a:r>
          </a:p>
          <a:p>
            <a:r>
              <a:rPr lang="en-MY" sz="900" dirty="0">
                <a:solidFill>
                  <a:schemeClr val="tx1">
                    <a:lumMod val="85000"/>
                    <a:lumOff val="15000"/>
                  </a:schemeClr>
                </a:solidFill>
              </a:rPr>
              <a:t>    ms 246 / fizikal 265</a:t>
            </a:r>
          </a:p>
          <a:p>
            <a:r>
              <a:rPr lang="en-MY" sz="900" dirty="0">
                <a:solidFill>
                  <a:schemeClr val="tx1">
                    <a:lumMod val="85000"/>
                    <a:lumOff val="15000"/>
                  </a:schemeClr>
                </a:solidFill>
              </a:rPr>
              <a:t>  K5-PL06-T03-B02-TONG-SAMPAH-ROW-03</a:t>
            </a:r>
          </a:p>
          <a:p>
            <a:r>
              <a:rPr lang="en-MY" sz="900" dirty="0">
                <a:solidFill>
                  <a:schemeClr val="tx1">
                    <a:lumMod val="85000"/>
                    <a:lumOff val="15000"/>
                  </a:schemeClr>
                </a:solidFill>
              </a:rPr>
              <a:t>    ms 247 / fizikal 266</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II_TONG_SAMPAH_EX01  &lt;-  K5-PL06-T03-B02-TONG-SAMPAH-ROW-01</a:t>
            </a:r>
          </a:p>
          <a:p>
            <a:r>
              <a:rPr lang="en-MY" sz="900" dirty="0">
                <a:solidFill>
                  <a:schemeClr val="tx1">
                    <a:lumMod val="85000"/>
                    <a:lumOff val="15000"/>
                  </a:schemeClr>
                </a:solidFill>
              </a:rPr>
              <a:t>  II_TONG_SAMPAH_EX02  &lt;-  K5-PL06-T03-B02-TONG-SAMPAH-ROW-02</a:t>
            </a:r>
          </a:p>
          <a:p>
            <a:r>
              <a:rPr lang="en-MY" sz="900" dirty="0">
                <a:solidFill>
                  <a:schemeClr val="tx1">
                    <a:lumMod val="85000"/>
                    <a:lumOff val="15000"/>
                  </a:schemeClr>
                </a:solidFill>
              </a:rPr>
              <a:t>  II_TONG_SAMPAH_EX03  &lt;-  K5-PL06-T03-B02-TONG-SAMPAH-ROW-03</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contoh = Bariah Level 1. Membuka skrin penuh, bukan popup.</a:t>
            </a:r>
          </a:p>
          <a:p>
            <a:r>
              <a:rPr lang="en-MY" sz="900" dirty="0">
                <a:solidFill>
                  <a:schemeClr val="tx1">
                    <a:lumMod val="85000"/>
                    <a:lumOff val="15000"/>
                  </a:schemeClr>
                </a:solidFill>
              </a:rPr>
              <a:t>  3/3 contoh dilihat.</a:t>
            </a:r>
          </a:p>
          <a:p>
            <a:r>
              <a:rPr lang="en-MY" sz="900" dirty="0">
                <a:solidFill>
                  <a:schemeClr val="tx1">
                    <a:lumMod val="85000"/>
                    <a:lumOff val="15000"/>
                  </a:schemeClr>
                </a:solidFill>
              </a:rPr>
              <a:t>  component_complete hanya benar apabila SEMUA contoh selesai.</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Drinking Fountain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Drinking Fountain</a:t>
            </a:r>
          </a:p>
        </p:txBody>
      </p:sp>
      <p:sp>
        <p:nvSpPr>
          <p:cNvPr id="25" name="Instr"/>
          <p:cNvSpPr txBox="1"/>
          <p:nvPr/>
        </p:nvSpPr>
        <p:spPr>
          <a:xfrm>
            <a:off x="723930" y="1591056"/>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contoh untuk melihat perincian.</a:t>
            </a:r>
          </a:p>
        </p:txBody>
      </p:sp>
      <p:sp>
        <p:nvSpPr>
          <p:cNvPr id="40" name="ItemCard"/>
          <p:cNvSpPr txBox="1"/>
          <p:nvPr/>
        </p:nvSpPr>
        <p:spPr>
          <a:xfrm>
            <a:off x="723885" y="2157984"/>
            <a:ext cx="5180076"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Pancutan Air Minum Keluli Tahan Karat</a:t>
            </a:r>
          </a:p>
        </p:txBody>
      </p:sp>
      <p:sp>
        <p:nvSpPr>
          <p:cNvPr id="41" name="ItemCard"/>
          <p:cNvSpPr txBox="1"/>
          <p:nvPr/>
        </p:nvSpPr>
        <p:spPr>
          <a:xfrm>
            <a:off x="6288009" y="2157984"/>
            <a:ext cx="5180076"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Pancutan Air Minum Konkrit/Batu</a:t>
            </a:r>
          </a:p>
        </p:txBody>
      </p:sp>
      <p:sp>
        <p:nvSpPr>
          <p:cNvPr id="30" name="VisualDir"/>
          <p:cNvSpPr txBox="1"/>
          <p:nvPr/>
        </p:nvSpPr>
        <p:spPr>
          <a:xfrm>
            <a:off x="723930" y="4443984"/>
            <a:ext cx="10744200" cy="365760"/>
          </a:xfrm>
          <a:prstGeom prst="rect">
            <a:avLst/>
          </a:prstGeom>
          <a:noFill/>
        </p:spPr>
        <p:txBody>
          <a:bodyPr wrap="square">
            <a:noAutofit/>
          </a:bodyPr>
          <a:lstStyle/>
          <a:p>
            <a:pPr/>
            <a:r>
              <a:rPr lang="en-MY" sz="1100" dirty="0">
                <a:solidFill>
                  <a:srgbClr val="808080"/>
                </a:solidFill>
              </a:rPr>
              <a:t>[Visual: Foto jadual spesifikasi drinking fountain, modul ms 248–249. Tidak dibenamkan.]</a:t>
            </a:r>
          </a:p>
        </p:txBody>
      </p:sp>
      <p:sp>
        <p:nvSpPr>
          <p:cNvPr id="300" name="OverviewHead"/>
          <p:cNvSpPr txBox="1"/>
          <p:nvPr/>
        </p:nvSpPr>
        <p:spPr>
          <a:xfrm>
            <a:off x="723930" y="4974336"/>
            <a:ext cx="10744200" cy="201168"/>
          </a:xfrm>
          <a:prstGeom prst="rect">
            <a:avLst/>
          </a:prstGeom>
          <a:noFill/>
        </p:spPr>
        <p:txBody>
          <a:bodyPr wrap="square">
            <a:noAutofit/>
          </a:bodyPr>
          <a:lstStyle/>
          <a:p>
            <a:pPr/>
            <a:r>
              <a:rPr lang="en-MY" sz="850" b="1" dirty="0">
                <a:solidFill>
                  <a:srgbClr val="7F6000"/>
                </a:solidFill>
              </a:rPr>
              <a:t>ARAHAN VISUAL — OVERVIEW KOMPONEN (TIDAK DIBENAMKAN)</a:t>
            </a:r>
          </a:p>
        </p:txBody>
      </p:sp>
      <p:sp>
        <p:nvSpPr>
          <p:cNvPr id="301" name="OverviewCard"/>
          <p:cNvSpPr txBox="1"/>
          <p:nvPr/>
        </p:nvSpPr>
        <p:spPr>
          <a:xfrm>
            <a:off x="723930" y="5212080"/>
            <a:ext cx="2377440" cy="1009498"/>
          </a:xfrm>
          <a:prstGeom prst="rect">
            <a:avLst/>
          </a:prstGeom>
          <a:solidFill>
            <a:srgbClr val="F7F7F7"/>
          </a:solidFill>
          <a:ln w="12700">
            <a:solidFill>
              <a:srgbClr val="BFBFBF"/>
            </a:solidFill>
          </a:ln>
        </p:spPr>
        <p:txBody>
          <a:bodyPr wrap="square">
            <a:noAutofit/>
          </a:bodyPr>
          <a:lstStyle/>
        </p:txBody>
      </p:sp>
      <p:sp>
        <p:nvSpPr>
          <p:cNvPr id="302" name="OverviewSubject"/>
          <p:cNvSpPr txBox="1"/>
          <p:nvPr/>
        </p:nvSpPr>
        <p:spPr>
          <a:xfrm>
            <a:off x="815370" y="5266944"/>
            <a:ext cx="2194560" cy="332842"/>
          </a:xfrm>
          <a:prstGeom prst="rect">
            <a:avLst/>
          </a:prstGeom>
          <a:noFill/>
        </p:spPr>
        <p:txBody>
          <a:bodyPr wrap="square">
            <a:noAutofit/>
          </a:bodyPr>
          <a:lstStyle/>
          <a:p>
            <a:pPr/>
            <a:r>
              <a:rPr lang="en-MY" sz="900" b="1" dirty="0">
                <a:solidFill>
                  <a:schemeClr val="tx1">
                    <a:lumMod val="85000"/>
                    <a:lumOff val="15000"/>
                  </a:schemeClr>
                </a:solidFill>
              </a:rPr>
              <a:t>Pancutan Air Minum Keluli</a:t>
            </a:r>
          </a:p>
          <a:p>
            <a:pPr/>
            <a:r>
              <a:rPr lang="en-MY" sz="900" b="1" dirty="0">
                <a:solidFill>
                  <a:schemeClr val="tx1">
                    <a:lumMod val="85000"/>
                    <a:lumOff val="15000"/>
                  </a:schemeClr>
                </a:solidFill>
              </a:rPr>
              <a:t>Tahan Karat</a:t>
            </a:r>
          </a:p>
        </p:txBody>
      </p:sp>
      <p:sp>
        <p:nvSpPr>
          <p:cNvPr id="303" name="OverviewDir"/>
          <p:cNvSpPr txBox="1"/>
          <p:nvPr/>
        </p:nvSpPr>
        <p:spPr>
          <a:xfrm>
            <a:off x="815370" y="5636362"/>
            <a:ext cx="2194560" cy="512064"/>
          </a:xfrm>
          <a:prstGeom prst="rect">
            <a:avLst/>
          </a:prstGeom>
          <a:noFill/>
        </p:spPr>
        <p:txBody>
          <a:bodyPr wrap="square">
            <a:noAutofit/>
          </a:bodyPr>
          <a:lstStyle/>
          <a:p>
            <a:pPr/>
            <a:r>
              <a:rPr lang="en-MY" sz="750" dirty="0">
                <a:solidFill>
                  <a:srgbClr val="808080"/>
                </a:solidFill>
              </a:rPr>
              <a:t>[Visual: Foto jadual spesifikasi Pancutan</a:t>
            </a:r>
          </a:p>
          <a:p>
            <a:pPr/>
            <a:r>
              <a:rPr lang="en-MY" sz="750" dirty="0">
                <a:solidFill>
                  <a:srgbClr val="808080"/>
                </a:solidFill>
              </a:rPr>
              <a:t>Air Minum Keluli Tahan Karat, modul ms 248.</a:t>
            </a:r>
          </a:p>
          <a:p>
            <a:pPr/>
            <a:r>
              <a:rPr lang="en-MY" sz="750" dirty="0">
                <a:solidFill>
                  <a:srgbClr val="808080"/>
                </a:solidFill>
              </a:rPr>
              <a:t>Aset K5PL06T03-B02-IMG-p248-x49. Tidak</a:t>
            </a:r>
          </a:p>
          <a:p>
            <a:pPr/>
            <a:r>
              <a:rPr lang="en-MY" sz="750" dirty="0">
                <a:solidFill>
                  <a:srgbClr val="808080"/>
                </a:solidFill>
              </a:rPr>
              <a:t>dibenamkan.]</a:t>
            </a:r>
          </a:p>
        </p:txBody>
      </p:sp>
      <p:sp>
        <p:nvSpPr>
          <p:cNvPr id="304" name="OverviewCard"/>
          <p:cNvSpPr txBox="1"/>
          <p:nvPr/>
        </p:nvSpPr>
        <p:spPr>
          <a:xfrm>
            <a:off x="3284250" y="5212080"/>
            <a:ext cx="2377440" cy="1009498"/>
          </a:xfrm>
          <a:prstGeom prst="rect">
            <a:avLst/>
          </a:prstGeom>
          <a:solidFill>
            <a:srgbClr val="F7F7F7"/>
          </a:solidFill>
          <a:ln w="12700">
            <a:solidFill>
              <a:srgbClr val="BFBFBF"/>
            </a:solidFill>
          </a:ln>
        </p:spPr>
        <p:txBody>
          <a:bodyPr wrap="square">
            <a:noAutofit/>
          </a:bodyPr>
          <a:lstStyle/>
        </p:txBody>
      </p:sp>
      <p:sp>
        <p:nvSpPr>
          <p:cNvPr id="305" name="OverviewSubject"/>
          <p:cNvSpPr txBox="1"/>
          <p:nvPr/>
        </p:nvSpPr>
        <p:spPr>
          <a:xfrm>
            <a:off x="3375690" y="5266944"/>
            <a:ext cx="2194560" cy="332842"/>
          </a:xfrm>
          <a:prstGeom prst="rect">
            <a:avLst/>
          </a:prstGeom>
          <a:noFill/>
        </p:spPr>
        <p:txBody>
          <a:bodyPr wrap="square">
            <a:noAutofit/>
          </a:bodyPr>
          <a:lstStyle/>
          <a:p>
            <a:pPr/>
            <a:r>
              <a:rPr lang="en-MY" sz="900" b="1" dirty="0">
                <a:solidFill>
                  <a:schemeClr val="tx1">
                    <a:lumMod val="85000"/>
                    <a:lumOff val="15000"/>
                  </a:schemeClr>
                </a:solidFill>
              </a:rPr>
              <a:t>Pancutan Air Minum</a:t>
            </a:r>
          </a:p>
          <a:p>
            <a:pPr/>
            <a:r>
              <a:rPr lang="en-MY" sz="900" b="1" dirty="0">
                <a:solidFill>
                  <a:schemeClr val="tx1">
                    <a:lumMod val="85000"/>
                    <a:lumOff val="15000"/>
                  </a:schemeClr>
                </a:solidFill>
              </a:rPr>
              <a:t>Konkrit/Batu</a:t>
            </a:r>
          </a:p>
        </p:txBody>
      </p:sp>
      <p:sp>
        <p:nvSpPr>
          <p:cNvPr id="306" name="OverviewDir"/>
          <p:cNvSpPr txBox="1"/>
          <p:nvPr/>
        </p:nvSpPr>
        <p:spPr>
          <a:xfrm>
            <a:off x="3375690" y="5636362"/>
            <a:ext cx="2194560" cy="512064"/>
          </a:xfrm>
          <a:prstGeom prst="rect">
            <a:avLst/>
          </a:prstGeom>
          <a:noFill/>
        </p:spPr>
        <p:txBody>
          <a:bodyPr wrap="square">
            <a:noAutofit/>
          </a:bodyPr>
          <a:lstStyle/>
          <a:p>
            <a:pPr/>
            <a:r>
              <a:rPr lang="en-MY" sz="750" dirty="0">
                <a:solidFill>
                  <a:srgbClr val="808080"/>
                </a:solidFill>
              </a:rPr>
              <a:t>[Visual: Foto jadual spesifikasi Pancutan</a:t>
            </a:r>
          </a:p>
          <a:p>
            <a:pPr/>
            <a:r>
              <a:rPr lang="en-MY" sz="750" dirty="0">
                <a:solidFill>
                  <a:srgbClr val="808080"/>
                </a:solidFill>
              </a:rPr>
              <a:t>Air Minum Konkrit/Batu, modul ms 249. Aset</a:t>
            </a:r>
          </a:p>
          <a:p>
            <a:pPr/>
            <a:r>
              <a:rPr lang="en-MY" sz="750" dirty="0">
                <a:solidFill>
                  <a:srgbClr val="808080"/>
                </a:solidFill>
              </a:rPr>
              <a:t>K5PL06T03-B02-IMG-p249-x56. Tidak</a:t>
            </a:r>
          </a:p>
          <a:p>
            <a:pPr/>
            <a:r>
              <a:rPr lang="en-MY" sz="750" dirty="0">
                <a:solidFill>
                  <a:srgbClr val="808080"/>
                </a:solidFill>
              </a:rPr>
              <a:t>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penerangan + senarai contoh</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COMPONENT_EXPLANATION_LIST_BASE</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overview + example list</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[component_complete[DRINKING_FOUNTAIN]]</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SCR_DRINKING_FOUNTAIN_MAIN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dirty="0">
                <a:solidFill>
                  <a:schemeClr val="tx1">
                    <a:lumMod val="85000"/>
                    <a:lumOff val="15000"/>
                  </a:schemeClr>
                </a:solidFill>
              </a:rPr>
              <a:t>  K5-PL06-T03-B02-DRINKING-FOUNTAIN-ROW-02</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II_DRINKING_FOUNTAIN_EX01  &lt;-  K5-PL06-T03-B02-DRINKING-FOUNTAIN-ROW-01</a:t>
            </a:r>
          </a:p>
          <a:p>
            <a:r>
              <a:rPr lang="en-MY" sz="900" dirty="0">
                <a:solidFill>
                  <a:schemeClr val="tx1">
                    <a:lumMod val="85000"/>
                    <a:lumOff val="15000"/>
                  </a:schemeClr>
                </a:solidFill>
              </a:rPr>
              <a:t>  II_DRINKING_FOUNTAIN_EX02  &lt;-  K5-PL06-T03-B02-DRINKING-FOUNTAIN-ROW-02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contoh = Bariah Level 1. Membuka skrin penuh, bukan popup.</a:t>
            </a:r>
          </a:p>
          <a:p>
            <a:r>
              <a:rPr lang="en-MY" sz="900" dirty="0">
                <a:solidFill>
                  <a:schemeClr val="tx1">
                    <a:lumMod val="85000"/>
                    <a:lumOff val="15000"/>
                  </a:schemeClr>
                </a:solidFill>
              </a:rPr>
              <a:t>  0/2 contoh dilihat.</a:t>
            </a:r>
          </a:p>
          <a:p>
            <a:r>
              <a:rPr lang="en-MY" sz="900" dirty="0">
                <a:solidFill>
                  <a:schemeClr val="tx1">
                    <a:lumMod val="85000"/>
                    <a:lumOff val="15000"/>
                  </a:schemeClr>
                </a:solidFill>
              </a:rPr>
              <a:t>  component_complete hanya benar apabila SEMUA contoh selesai.</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contoh untuk melihat perincian.</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COMPONENT_MAIN_SCREEN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SOURCE_ATTESTED_COMPONENT_VISUAL</a:t>
            </a:r>
          </a:p>
          <a:p>
            <a:r>
              <a:rPr lang="en-MY" sz="900" dirty="0">
                <a:solidFill>
                  <a:schemeClr val="tx1">
                    <a:lumMod val="85000"/>
                    <a:lumOff val="15000"/>
                  </a:schemeClr>
                </a:solidFill>
              </a:rPr>
              <a:t>  kuasa keperluan: BARIAH_DIRECT_SCREENSHOT</a:t>
            </a:r>
          </a:p>
          <a:p>
            <a:r>
              <a:rPr lang="en-MY" sz="900" dirty="0">
                <a:solidFill>
                  <a:schemeClr val="tx1">
                    <a:lumMod val="85000"/>
                    <a:lumOff val="15000"/>
                  </a:schemeClr>
                </a:solidFill>
              </a:rPr>
              <a:t>  rawatan: SOURCE_BOUND_OVERVIEW</a:t>
            </a:r>
          </a:p>
          <a:p>
            <a:r>
              <a:rPr lang="en-MY" sz="900" dirty="0">
                <a:solidFill>
                  <a:schemeClr val="tx1">
                    <a:lumMod val="85000"/>
                    <a:lumOff val="15000"/>
                  </a:schemeClr>
                </a:solidFill>
              </a:rPr>
              <a:t>  kuasa rawatan: BARIAH_DIRECT_SCREENSHOT</a:t>
            </a:r>
          </a:p>
          <a:p>
            <a:r>
              <a:rPr lang="en-MY" sz="900" dirty="0">
                <a:solidFill>
                  <a:schemeClr val="tx1">
                    <a:lumMod val="85000"/>
                    <a:lumOff val="15000"/>
                  </a:schemeClr>
                </a:solidFill>
              </a:rPr>
              <a:t>  sumber subjek: MODULE_SOURCE_ATTESTED 2</a:t>
            </a:r>
          </a:p>
          <a:p>
            <a:r>
              <a:rPr lang="en-MY" sz="900" dirty="0">
                <a:solidFill>
                  <a:schemeClr val="tx1">
                    <a:lumMod val="85000"/>
                    <a:lumOff val="15000"/>
                  </a:schemeClr>
                </a:solidFill>
              </a:rPr>
              <a:t>  bilangan subjek overview: 2</a:t>
            </a:r>
          </a:p>
          <a:p>
            <a:r>
              <a:rPr lang="en-MY" sz="900" dirty="0">
                <a:solidFill>
                  <a:schemeClr val="tx1">
                    <a:lumMod val="85000"/>
                    <a:lumOff val="15000"/>
                  </a:schemeClr>
                </a:solidFill>
              </a:rPr>
              <a:t>  status pemetaan: RESOLVED</a:t>
            </a:r>
          </a:p>
          <a:p>
            <a:r>
              <a:rPr lang="en-MY" sz="900" dirty="0">
                <a:solidFill>
                  <a:schemeClr val="tx1">
                    <a:lumMod val="85000"/>
                    <a:lumOff val="15000"/>
                  </a:schemeClr>
                </a:solidFill>
              </a:rPr>
              <a:t>  pemetaan instans: COMPLETE</a:t>
            </a:r>
          </a:p>
          <a:p>
            <a:r>
              <a:rPr lang="en-MY" sz="900" dirty="0">
                <a:solidFill>
                  <a:schemeClr val="tx1">
                    <a:lumMod val="85000"/>
                    <a:lumOff val="15000"/>
                  </a:schemeClr>
                </a:solidFill>
              </a:rPr>
              <a:t>  menunggu keputusan manusia: TIDAK</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4433301" y="2103120"/>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Injap</a:t>
            </a:r>
          </a:p>
        </p:txBody>
      </p:sp>
      <p:sp>
        <p:nvSpPr>
          <p:cNvPr id="42" name="ItemCard"/>
          <p:cNvSpPr txBox="1"/>
          <p:nvPr/>
        </p:nvSpPr>
        <p:spPr>
          <a:xfrm>
            <a:off x="8142717" y="2103120"/>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3" name="ItemCard"/>
          <p:cNvSpPr txBox="1"/>
          <p:nvPr/>
        </p:nvSpPr>
        <p:spPr>
          <a:xfrm>
            <a:off x="723885"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4" name="ItemCard"/>
          <p:cNvSpPr txBox="1"/>
          <p:nvPr/>
        </p:nvSpPr>
        <p:spPr>
          <a:xfrm>
            <a:off x="4433301"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5" name="ItemCard"/>
          <p:cNvSpPr txBox="1"/>
          <p:nvPr/>
        </p:nvSpPr>
        <p:spPr>
          <a:xfrm>
            <a:off x="8142717"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[example_complete[K5-PL06-T03-B02-DRINKING-FOUNTAIN-ROW-01]]</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SCR_DRINKING_FOUNTAIN_MAIN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K5PL06T03-B02-IMG-p248-x49</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II_DRINKING_FOUNTAIN_R01_SPEC01  &lt;-  K5-PL06-T03-B02-DRINKING-FOUNTAIN-ROW-01</a:t>
            </a:r>
          </a:p>
          <a:p>
            <a:r>
              <a:rPr lang="en-MY" sz="900" dirty="0">
                <a:solidFill>
                  <a:schemeClr val="tx1">
                    <a:lumMod val="85000"/>
                    <a:lumOff val="15000"/>
                  </a:schemeClr>
                </a:solidFill>
              </a:rPr>
              <a:t>  II_DRINKING_FOUNTAIN_R01_SPEC02  &lt;-  K5-PL06-T03-B02-DRINKING-FOUNTAIN-ROW-01</a:t>
            </a:r>
          </a:p>
          <a:p>
            <a:r>
              <a:rPr lang="en-MY" sz="900" dirty="0">
                <a:solidFill>
                  <a:schemeClr val="tx1">
                    <a:lumMod val="85000"/>
                    <a:lumOff val="15000"/>
                  </a:schemeClr>
                </a:solidFill>
              </a:rPr>
              <a:t>  II_DRINKING_FOUNTAIN_R01_SPEC03  &lt;-  K5-PL06-T03-B02-DRINKING-FOUNTAIN-ROW-01</a:t>
            </a:r>
          </a:p>
          <a:p>
            <a:r>
              <a:rPr lang="en-MY" sz="900" dirty="0">
                <a:solidFill>
                  <a:schemeClr val="tx1">
                    <a:lumMod val="85000"/>
                    <a:lumOff val="15000"/>
                  </a:schemeClr>
                </a:solidFill>
              </a:rPr>
              <a:t>  II_DRINKING_FOUNTAIN_R01_SPEC04  &lt;-  K5-PL06-T03-B02-DRINKING-FOUNTAIN-ROW-01</a:t>
            </a:r>
          </a:p>
          <a:p>
            <a:r>
              <a:rPr lang="en-MY" sz="900" dirty="0">
                <a:solidFill>
                  <a:schemeClr val="tx1">
                    <a:lumMod val="85000"/>
                    <a:lumOff val="15000"/>
                  </a:schemeClr>
                </a:solidFill>
              </a:rPr>
              <a:t>  II_DRINKING_FOUNTAIN_R01_SPEC05  &lt;-  K5-PL06-T03-B02-DRINKING-FOUNTAIN-ROW-01</a:t>
            </a:r>
          </a:p>
          <a:p>
            <a:r>
              <a:rPr lang="en-MY" sz="900" dirty="0">
                <a:solidFill>
                  <a:schemeClr val="tx1">
                    <a:lumMod val="85000"/>
                    <a:lumOff val="15000"/>
                  </a:schemeClr>
                </a:solidFill>
              </a:rPr>
              <a:t>  II_DRINKING_FOUNTAIN_R01_SPEC06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SCR_DRINKING_FOUNTAIN_MAIN (senarai contoh komponen).</a:t>
            </a:r>
          </a:p>
          <a:p>
            <a:r>
              <a:rPr lang="en-MY" sz="900" dirty="0">
                <a:solidFill>
                  <a:schemeClr val="tx1">
                    <a:lumMod val="85000"/>
                    <a:lumOff val="15000"/>
                  </a:schemeClr>
                </a:solidFill>
              </a:rPr>
              <a:t>  0/6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spesifikasi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364691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03120"/>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Injap</a:t>
            </a:r>
          </a:p>
        </p:txBody>
      </p:sp>
      <p:sp>
        <p:nvSpPr>
          <p:cNvPr id="43" name="ItemCard"/>
          <p:cNvSpPr txBox="1"/>
          <p:nvPr/>
        </p:nvSpPr>
        <p:spPr>
          <a:xfrm>
            <a:off x="8142717" y="2103120"/>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4" name="ItemCard"/>
          <p:cNvSpPr txBox="1"/>
          <p:nvPr/>
        </p:nvSpPr>
        <p:spPr>
          <a:xfrm>
            <a:off x="723885"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5" name="ItemCard"/>
          <p:cNvSpPr txBox="1"/>
          <p:nvPr/>
        </p:nvSpPr>
        <p:spPr>
          <a:xfrm>
            <a:off x="4433301"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6" name="ItemCard"/>
          <p:cNvSpPr txBox="1"/>
          <p:nvPr/>
        </p:nvSpPr>
        <p:spPr>
          <a:xfrm>
            <a:off x="8142717"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Pancutan Air Minum Keluli Tahan Karat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644652"/>
          </a:xfrm>
          <a:prstGeom prst="rect">
            <a:avLst/>
          </a:prstGeom>
          <a:noFill/>
        </p:spPr>
        <p:txBody>
          <a:bodyPr wrap="square">
            <a:noAutofit/>
          </a:bodyPr>
          <a:lstStyle/>
          <a:p>
            <a:pPr/>
            <a:r>
              <a:rPr lang="en-MY" sz="1250" dirty="0">
                <a:solidFill>
                  <a:schemeClr val="tx1">
                    <a:lumMod val="85000"/>
                    <a:lumOff val="15000"/>
                  </a:schemeClr>
                </a:solidFill>
              </a:rPr>
              <a:t>Keluli tahan karat Gred 304 atau 316 (316 lebih tahan kakisan untuk persekitaran pantai).</a:t>
            </a:r>
          </a:p>
          <a:p>
            <a:pPr/>
            <a:r>
              <a:rPr lang="en-MY" sz="1250" dirty="0">
                <a:solidFill>
                  <a:schemeClr val="tx1">
                    <a:lumMod val="85000"/>
                    <a:lumOff val="15000"/>
                  </a:schemeClr>
                </a:solidFill>
              </a:rPr>
              <a:t>Tebal</a:t>
            </a:r>
          </a:p>
          <a:p>
            <a:pPr/>
            <a:r>
              <a:rPr lang="en-MY" sz="1250" dirty="0">
                <a:solidFill>
                  <a:schemeClr val="tx1">
                    <a:lumMod val="85000"/>
                    <a:lumOff val="15000"/>
                  </a:schemeClr>
                </a:solidFill>
              </a:rPr>
              <a:t>min. 1.5mm.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II_DRINKING_FOUNTAIN_R01_SPEC01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SCR_DRINKING_FOUNTAIN_EX01_DETAIL (senarai contoh komponen).</a:t>
            </a:r>
          </a:p>
          <a:p>
            <a:r>
              <a:rPr lang="en-MY" sz="900" dirty="0">
                <a:solidFill>
                  <a:schemeClr val="tx1">
                    <a:lumMod val="85000"/>
                    <a:lumOff val="15000"/>
                  </a:schemeClr>
                </a:solidFill>
              </a:rPr>
              <a:t>  1/6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364691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Injap</a:t>
            </a:r>
          </a:p>
        </p:txBody>
      </p:sp>
      <p:sp>
        <p:nvSpPr>
          <p:cNvPr id="43" name="Tick"/>
          <p:cNvSpPr/>
          <p:nvPr/>
        </p:nvSpPr>
        <p:spPr>
          <a:xfrm>
            <a:off x="735633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03120"/>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5" name="ItemCard"/>
          <p:cNvSpPr txBox="1"/>
          <p:nvPr/>
        </p:nvSpPr>
        <p:spPr>
          <a:xfrm>
            <a:off x="723885"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6" name="ItemCard"/>
          <p:cNvSpPr txBox="1"/>
          <p:nvPr/>
        </p:nvSpPr>
        <p:spPr>
          <a:xfrm>
            <a:off x="4433301"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7" name="ItemCard"/>
          <p:cNvSpPr txBox="1"/>
          <p:nvPr/>
        </p:nvSpPr>
        <p:spPr>
          <a:xfrm>
            <a:off x="8142717"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Pancutan Air Minum Keluli Tahan Karat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Injap</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Injap tekan tahan lasak dan tahan vandalisme; mekanisme membersihkan diri satu kelebihan.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II_DRINKING_FOUNTAIN_R01_SPEC02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SCR_DRINKING_FOUNTAIN_EX01_DETAIL (senarai contoh komponen).</a:t>
            </a:r>
          </a:p>
          <a:p>
            <a:r>
              <a:rPr lang="en-MY" sz="900" dirty="0">
                <a:solidFill>
                  <a:schemeClr val="tx1">
                    <a:lumMod val="85000"/>
                    <a:lumOff val="15000"/>
                  </a:schemeClr>
                </a:solidFill>
              </a:rPr>
              <a:t>  2/6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364691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Injap</a:t>
            </a:r>
          </a:p>
        </p:txBody>
      </p:sp>
      <p:sp>
        <p:nvSpPr>
          <p:cNvPr id="43" name="Tick"/>
          <p:cNvSpPr/>
          <p:nvPr/>
        </p:nvSpPr>
        <p:spPr>
          <a:xfrm>
            <a:off x="735633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5"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723885"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7" name="ItemCard"/>
          <p:cNvSpPr txBox="1"/>
          <p:nvPr/>
        </p:nvSpPr>
        <p:spPr>
          <a:xfrm>
            <a:off x="4433301"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8" name="ItemCard"/>
          <p:cNvSpPr txBox="1"/>
          <p:nvPr/>
        </p:nvSpPr>
        <p:spPr>
          <a:xfrm>
            <a:off x="8142717"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Pancutan Air Minum Keluli Tahan Karat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Kepala pancutan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Aliran stabil dan bersih, dilindungi daripada sentuhan mulut pengguna.</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II_DRINKING_FOUNTAIN_R01_SPEC03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SCR_DRINKING_FOUNTAIN_EX01_DETAIL (senarai contoh komponen).</a:t>
            </a:r>
          </a:p>
          <a:p>
            <a:r>
              <a:rPr lang="en-MY" sz="900" dirty="0">
                <a:solidFill>
                  <a:schemeClr val="tx1">
                    <a:lumMod val="85000"/>
                    <a:lumOff val="15000"/>
                  </a:schemeClr>
                </a:solidFill>
              </a:rPr>
              <a:t>  3/6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364691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Injap</a:t>
            </a:r>
          </a:p>
        </p:txBody>
      </p:sp>
      <p:sp>
        <p:nvSpPr>
          <p:cNvPr id="43" name="Tick"/>
          <p:cNvSpPr/>
          <p:nvPr/>
        </p:nvSpPr>
        <p:spPr>
          <a:xfrm>
            <a:off x="735633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5"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723885"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7" name="Tick"/>
          <p:cNvSpPr/>
          <p:nvPr/>
        </p:nvSpPr>
        <p:spPr>
          <a:xfrm>
            <a:off x="3646917"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4433301"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9" name="ItemCard"/>
          <p:cNvSpPr txBox="1"/>
          <p:nvPr/>
        </p:nvSpPr>
        <p:spPr>
          <a:xfrm>
            <a:off x="8142717"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Pancutan Air Minum Keluli Tahan Karat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Penapisan (pilihan)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Penapis karbon atau sedimen.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II_DRINKING_FOUNTAIN_R01_SPEC04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SCR_DRINKING_FOUNTAIN_EX01_DETAIL (senarai contoh komponen).</a:t>
            </a:r>
          </a:p>
          <a:p>
            <a:r>
              <a:rPr lang="en-MY" sz="900" dirty="0">
                <a:solidFill>
                  <a:schemeClr val="tx1">
                    <a:lumMod val="85000"/>
                    <a:lumOff val="15000"/>
                  </a:schemeClr>
                </a:solidFill>
              </a:rPr>
              <a:t>  4/6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364691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Injap</a:t>
            </a:r>
          </a:p>
        </p:txBody>
      </p:sp>
      <p:sp>
        <p:nvSpPr>
          <p:cNvPr id="43" name="Tick"/>
          <p:cNvSpPr/>
          <p:nvPr/>
        </p:nvSpPr>
        <p:spPr>
          <a:xfrm>
            <a:off x="735633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5"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723885"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7" name="Tick"/>
          <p:cNvSpPr/>
          <p:nvPr/>
        </p:nvSpPr>
        <p:spPr>
          <a:xfrm>
            <a:off x="3646917"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4433301"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9" name="Tick"/>
          <p:cNvSpPr/>
          <p:nvPr/>
        </p:nvSpPr>
        <p:spPr>
          <a:xfrm>
            <a:off x="7356333"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0" name="ItemCard"/>
          <p:cNvSpPr txBox="1"/>
          <p:nvPr/>
        </p:nvSpPr>
        <p:spPr>
          <a:xfrm>
            <a:off x="8142717" y="3346704"/>
            <a:ext cx="3325368"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Pancutan Air Minum Keluli Tahan Karat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Perpaipan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Air bersih (PVC atau HDPE) dan saliran air buangan yang cekap; injap tutup untuk</a:t>
            </a:r>
          </a:p>
          <a:p>
            <a:pPr/>
            <a:r>
              <a:rPr lang="en-MY" sz="1250" dirty="0">
                <a:solidFill>
                  <a:schemeClr val="tx1">
                    <a:lumMod val="85000"/>
                    <a:lumOff val="15000"/>
                  </a:schemeClr>
                </a:solidFill>
              </a:rPr>
              <a:t>penyelenggaraan.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II_DRINKING_FOUNTAIN_R01_SPEC05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SCR_DRINKING_FOUNTAIN_EX01_DETAIL (senarai contoh komponen).</a:t>
            </a:r>
          </a:p>
          <a:p>
            <a:r>
              <a:rPr lang="en-MY" sz="900" dirty="0">
                <a:solidFill>
                  <a:schemeClr val="tx1">
                    <a:lumMod val="85000"/>
                    <a:lumOff val="15000"/>
                  </a:schemeClr>
                </a:solidFill>
              </a:rPr>
              <a:t>  5/6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364691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Injap</a:t>
            </a:r>
          </a:p>
        </p:txBody>
      </p:sp>
      <p:sp>
        <p:nvSpPr>
          <p:cNvPr id="43" name="Tick"/>
          <p:cNvSpPr/>
          <p:nvPr/>
        </p:nvSpPr>
        <p:spPr>
          <a:xfrm>
            <a:off x="735633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5"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723885"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7" name="Tick"/>
          <p:cNvSpPr/>
          <p:nvPr/>
        </p:nvSpPr>
        <p:spPr>
          <a:xfrm>
            <a:off x="3646917"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4433301"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9" name="Tick"/>
          <p:cNvSpPr/>
          <p:nvPr/>
        </p:nvSpPr>
        <p:spPr>
          <a:xfrm>
            <a:off x="7356333"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0" name="ItemCard"/>
          <p:cNvSpPr txBox="1"/>
          <p:nvPr/>
        </p:nvSpPr>
        <p:spPr>
          <a:xfrm>
            <a:off x="8142717"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51" name="Tick"/>
          <p:cNvSpPr/>
          <p:nvPr/>
        </p:nvSpPr>
        <p:spPr>
          <a:xfrm>
            <a:off x="11065749"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Pancutan Air Minum Keluli Tahan Karat</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Aksesibiliti</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Mengikut piawaian reka bentuk universal.</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SCR_DRINKING_FOUNTAIN_EX01_DETAIL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II_DRINKING_FOUNTAIN_R01_SPEC06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SCR_DRINKING_FOUNTAIN_EX01_DETAIL (senarai contoh komponen).</a:t>
            </a:r>
          </a:p>
          <a:p>
            <a:r>
              <a:rPr lang="en-MY" sz="900" dirty="0">
                <a:solidFill>
                  <a:schemeClr val="tx1">
                    <a:lumMod val="85000"/>
                    <a:lumOff val="15000"/>
                  </a:schemeClr>
                </a:solidFill>
              </a:rPr>
              <a:t>  6/6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Keluli Tahan Karat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Keluli Tahan Karat</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3646917"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4433301"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Injap</a:t>
            </a:r>
          </a:p>
        </p:txBody>
      </p:sp>
      <p:sp>
        <p:nvSpPr>
          <p:cNvPr id="43" name="Tick"/>
          <p:cNvSpPr/>
          <p:nvPr/>
        </p:nvSpPr>
        <p:spPr>
          <a:xfrm>
            <a:off x="7356333"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8142717" y="2103120"/>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Kepala pancutan</a:t>
            </a:r>
          </a:p>
        </p:txBody>
      </p:sp>
      <p:sp>
        <p:nvSpPr>
          <p:cNvPr id="45"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723885"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Penapisan (pilihan)</a:t>
            </a:r>
          </a:p>
        </p:txBody>
      </p:sp>
      <p:sp>
        <p:nvSpPr>
          <p:cNvPr id="47" name="Tick"/>
          <p:cNvSpPr/>
          <p:nvPr/>
        </p:nvSpPr>
        <p:spPr>
          <a:xfrm>
            <a:off x="3646917"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8" name="ItemCard"/>
          <p:cNvSpPr txBox="1"/>
          <p:nvPr/>
        </p:nvSpPr>
        <p:spPr>
          <a:xfrm>
            <a:off x="4433301"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Perpaipan</a:t>
            </a:r>
          </a:p>
        </p:txBody>
      </p:sp>
      <p:sp>
        <p:nvSpPr>
          <p:cNvPr id="49" name="Tick"/>
          <p:cNvSpPr/>
          <p:nvPr/>
        </p:nvSpPr>
        <p:spPr>
          <a:xfrm>
            <a:off x="7356333"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50" name="ItemCard"/>
          <p:cNvSpPr txBox="1"/>
          <p:nvPr/>
        </p:nvSpPr>
        <p:spPr>
          <a:xfrm>
            <a:off x="8142717" y="3346704"/>
            <a:ext cx="3325368"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Aksesibiliti</a:t>
            </a:r>
          </a:p>
        </p:txBody>
      </p:sp>
      <p:sp>
        <p:nvSpPr>
          <p:cNvPr id="51" name="Tick"/>
          <p:cNvSpPr/>
          <p:nvPr/>
        </p:nvSpPr>
        <p:spPr>
          <a:xfrm>
            <a:off x="11065749" y="342900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4626864"/>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pancutan air moden dan bersih, biasa ditemui di taman bandar utama seperti KLCC Park atau</a:t>
            </a:r>
          </a:p>
          <a:p>
            <a:pPr/>
            <a:r>
              <a:rPr lang="en-MY" sz="1400" b="1" dirty="0">
                <a:solidFill>
                  <a:schemeClr val="tx1">
                    <a:lumMod val="85000"/>
                    <a:lumOff val="15000"/>
                  </a:schemeClr>
                </a:solidFill>
              </a:rPr>
              <a:t>Taman Botani Perdana, Kuala Lumpur.</a:t>
            </a:r>
          </a:p>
        </p:txBody>
      </p:sp>
      <p:sp>
        <p:nvSpPr>
          <p:cNvPr id="30" name="VisualDir"/>
          <p:cNvSpPr txBox="1"/>
          <p:nvPr/>
        </p:nvSpPr>
        <p:spPr>
          <a:xfrm>
            <a:off x="723930" y="5376672"/>
            <a:ext cx="10744200" cy="621792"/>
          </a:xfrm>
          <a:prstGeom prst="rect">
            <a:avLst/>
          </a:prstGeom>
          <a:noFill/>
        </p:spPr>
        <p:txBody>
          <a:bodyPr wrap="square">
            <a:noAutofit/>
          </a:bodyPr>
          <a:lstStyle/>
          <a:p>
            <a:pPr/>
            <a:r>
              <a:rPr lang="en-MY" sz="1100" dirty="0">
                <a:solidFill>
                  <a:srgbClr val="808080"/>
                </a:solidFill>
              </a:rPr>
              <a:t>[Visual: Foto jadual spesifikasi Pancutan Air Minum Keluli Tahan Karat, modul ms 248. Aset</a:t>
            </a:r>
          </a:p>
          <a:p>
            <a:pPr/>
            <a:r>
              <a:rPr lang="en-MY" sz="1100" dirty="0">
                <a:solidFill>
                  <a:srgbClr val="808080"/>
                </a:solidFill>
              </a:rPr>
              <a:t>K5PL06T03-B02-IMG-p248-x49. Tidak 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Keluli Tahan Karat</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SCR_DRINKING_FOUNTAIN_MAIN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SCR_DRINKING_FOUNTAIN_EX01_DETAIL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II_DRINKING_FOUNTAIN_R01_SPEC01  &lt;-  K5-PL06-T03-B02-DRINKING-FOUNTAIN-ROW-01</a:t>
            </a:r>
          </a:p>
          <a:p>
            <a:r>
              <a:rPr lang="en-MY" sz="900" dirty="0">
                <a:solidFill>
                  <a:schemeClr val="tx1">
                    <a:lumMod val="85000"/>
                    <a:lumOff val="15000"/>
                  </a:schemeClr>
                </a:solidFill>
              </a:rPr>
              <a:t>  II_DRINKING_FOUNTAIN_R01_SPEC02  &lt;-  K5-PL06-T03-B02-DRINKING-FOUNTAIN-ROW-01</a:t>
            </a:r>
          </a:p>
          <a:p>
            <a:r>
              <a:rPr lang="en-MY" sz="900" dirty="0">
                <a:solidFill>
                  <a:schemeClr val="tx1">
                    <a:lumMod val="85000"/>
                    <a:lumOff val="15000"/>
                  </a:schemeClr>
                </a:solidFill>
              </a:rPr>
              <a:t>  II_DRINKING_FOUNTAIN_R01_SPEC03  &lt;-  K5-PL06-T03-B02-DRINKING-FOUNTAIN-ROW-01</a:t>
            </a:r>
          </a:p>
          <a:p>
            <a:r>
              <a:rPr lang="en-MY" sz="900" dirty="0">
                <a:solidFill>
                  <a:schemeClr val="tx1">
                    <a:lumMod val="85000"/>
                    <a:lumOff val="15000"/>
                  </a:schemeClr>
                </a:solidFill>
              </a:rPr>
              <a:t>  II_DRINKING_FOUNTAIN_R01_SPEC04  &lt;-  K5-PL06-T03-B02-DRINKING-FOUNTAIN-ROW-01</a:t>
            </a:r>
          </a:p>
          <a:p>
            <a:r>
              <a:rPr lang="en-MY" sz="900" dirty="0">
                <a:solidFill>
                  <a:schemeClr val="tx1">
                    <a:lumMod val="85000"/>
                    <a:lumOff val="15000"/>
                  </a:schemeClr>
                </a:solidFill>
              </a:rPr>
              <a:t>  II_DRINKING_FOUNTAIN_R01_SPEC05  &lt;-  K5-PL06-T03-B02-DRINKING-FOUNTAIN-ROW-01</a:t>
            </a:r>
          </a:p>
          <a:p>
            <a:r>
              <a:rPr lang="en-MY" sz="900" dirty="0">
                <a:solidFill>
                  <a:schemeClr val="tx1">
                    <a:lumMod val="85000"/>
                    <a:lumOff val="15000"/>
                  </a:schemeClr>
                </a:solidFill>
              </a:rPr>
              <a:t>  II_DRINKING_FOUNTAIN_R01_SPEC06  &lt;-  K5-PL06-T03-B02-DRINKING-FOUNTAIN-ROW-01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SCR_DRINKING_FOUNTAIN_MAIN (senarai contoh komponen).</a:t>
            </a:r>
          </a:p>
          <a:p>
            <a:r>
              <a:rPr lang="en-MY" sz="900" dirty="0">
                <a:solidFill>
                  <a:schemeClr val="tx1">
                    <a:lumMod val="85000"/>
                    <a:lumOff val="15000"/>
                  </a:schemeClr>
                </a:solidFill>
              </a:rPr>
              <a:t>  6/6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6 item interaksi daripada SATU baris sumber: K5-PL06-T03-B02-DRINKING-FOUNTAIN-ROW-01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Piawaian kesihatan</a:t>
            </a:r>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yang lebih berat dan kukuh, disepadukan dengan reka bentuk taman yang lebih semula jadi</a:t>
            </a:r>
          </a:p>
          <a:p>
            <a:pPr/>
            <a:r>
              <a:rPr lang="en-MY" sz="1400" b="1" dirty="0">
                <a:solidFill>
                  <a:schemeClr val="tx1">
                    <a:lumMod val="85000"/>
                    <a:lumOff val="15000"/>
                  </a:schemeClr>
                </a:solidFill>
              </a:rPr>
              <a:t>atau tradisional.</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Pancutan Air Minum Konkrit/Batu, modul ms 249. Aset</a:t>
            </a:r>
          </a:p>
          <a:p>
            <a:pPr/>
            <a:r>
              <a:rPr lang="en-MY" sz="1100" dirty="0">
                <a:solidFill>
                  <a:srgbClr val="808080"/>
                </a:solidFill>
              </a:rPr>
              <a:t>K5PL06T03-B02-IMG-p249-x56. Tidak dibenamkan.]</a:t>
            </a:r>
          </a:p>
        </p:txBody>
      </p:sp>
      <p:sp>
        <p:nvSpPr>
          <p:cNvPr id="95" name="Btn"/>
          <p:cNvSpPr txBox="1"/>
          <p:nvPr/>
        </p:nvSpPr>
        <p:spPr>
          <a:xfrm>
            <a:off x="5295885" y="6419088"/>
            <a:ext cx="1600200" cy="347472"/>
          </a:xfrm>
          <a:prstGeom prst="rect">
            <a:avLst/>
          </a:prstGeom>
          <a:solidFill>
            <a:srgbClr val="D9D9D9"/>
          </a:solidFill>
          <a:ln w="12700">
            <a:solidFill>
              <a:srgbClr val="BFBFBF"/>
            </a:solidFill>
          </a:ln>
        </p:spPr>
        <p:txBody>
          <a:bodyPr wrap="square" anchor="ctr">
            <a:noAutofit/>
          </a:bodyPr>
          <a:lstStyle/>
          <a:p>
            <a:pPr algn="ctr"/>
            <a:r>
              <a:rPr lang="en-MY" sz="1600" b="1" dirty="0">
                <a:solidFill>
                  <a:srgbClr val="808080"/>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EXAMPLE_DETAIL_BASE</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detail, Level 1</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[example_complete[K5-PL06-T03-B02-DRINKING-FOUNTAIN-ROW-02]]</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SCR_DRINKING_FOUNTAIN_MAIN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SCR_DRINKING_FOUNTAIN_EX02_DETAIL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K5-PL06-T03-B02-DRINKING-FOUNTAIN-ROW-02</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K5PL06T03-B02-IMG-p249-x56</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II_DRINKING_FOUNTAIN_R02_SPEC01  &lt;-  K5-PL06-T03-B02-DRINKING-FOUNTAIN-ROW-02</a:t>
            </a:r>
          </a:p>
          <a:p>
            <a:r>
              <a:rPr lang="en-MY" sz="900" dirty="0">
                <a:solidFill>
                  <a:schemeClr val="tx1">
                    <a:lumMod val="85000"/>
                    <a:lumOff val="15000"/>
                  </a:schemeClr>
                </a:solidFill>
              </a:rPr>
              <a:t>  II_DRINKING_FOUNTAIN_R02_SPEC02  &lt;-  K5-PL06-T03-B02-DRINKING-FOUNTAIN-ROW-02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SCR_DRINKING_FOUNTAIN_MAIN (senarai contoh komponen).</a:t>
            </a:r>
          </a:p>
          <a:p>
            <a:r>
              <a:rPr lang="en-MY" sz="900" dirty="0">
                <a:solidFill>
                  <a:schemeClr val="tx1">
                    <a:lumMod val="85000"/>
                    <a:lumOff val="15000"/>
                  </a:schemeClr>
                </a:solidFill>
              </a:rPr>
              <a:t>  0/2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K5-PL06-T03-B02-DRINKING-FOUNTAIN-ROW-02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spesifikasi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EXAMPLE_SCREEN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SOURCE_ASSET_FIGURE</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F2F2F2"/>
          </a:solidFill>
          <a:ln w="12700">
            <a:solidFill>
              <a:srgbClr val="404040"/>
            </a:solidFill>
          </a:ln>
        </p:spPr>
        <p:txBody>
          <a:bodyPr wrap="square" anchor="ctr">
            <a:noAutofit/>
          </a:bodyPr>
          <a:lstStyle/>
          <a:p>
            <a:pPr algn="ctr"/>
            <a:r>
              <a:rPr lang="en-MY" sz="1350" b="1" dirty="0">
                <a:solidFill>
                  <a:schemeClr val="tx1">
                    <a:lumMod val="85000"/>
                    <a:lumOff val="15000"/>
                  </a:schemeClr>
                </a:solidFill>
              </a:rPr>
              <a:t>Piawaian kesihatan</a:t>
            </a:r>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yang lebih berat dan kukuh, disepadukan dengan reka bentuk taman yang lebih semula jadi</a:t>
            </a:r>
          </a:p>
          <a:p>
            <a:pPr/>
            <a:r>
              <a:rPr lang="en-MY" sz="1400" b="1" dirty="0">
                <a:solidFill>
                  <a:schemeClr val="tx1">
                    <a:lumMod val="85000"/>
                    <a:lumOff val="15000"/>
                  </a:schemeClr>
                </a:solidFill>
              </a:rPr>
              <a:t>atau tradisional.</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Pancutan Air Minum Konkrit/Batu, modul ms 249. Aset</a:t>
            </a:r>
          </a:p>
          <a:p>
            <a:pPr/>
            <a:r>
              <a:rPr lang="en-MY" sz="1100" dirty="0">
                <a:solidFill>
                  <a:srgbClr val="808080"/>
                </a:solidFill>
              </a:rPr>
              <a:t>K5PL06T03-B02-IMG-p249-x56.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Pancutan Air Minum Konkrit/Batu</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Struktur asas konkrit bertetulang atau batu asli/tiruan. Bahagian pancutan (faucet/basin)</a:t>
            </a:r>
          </a:p>
          <a:p>
            <a:pPr/>
            <a:r>
              <a:rPr lang="en-MY" sz="1250" dirty="0">
                <a:solidFill>
                  <a:schemeClr val="tx1">
                    <a:lumMod val="85000"/>
                    <a:lumOff val="15000"/>
                  </a:schemeClr>
                </a:solidFill>
              </a:rPr>
              <a:t>biasanya kekal keluli tahan karat untuk kebersihan.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SCR_DRINKING_FOUNTAIN_EX02_DETAIL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K5-PL06-T03-B02-DRINKING-FOUNTAIN-ROW-02</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II_DRINKING_FOUNTAIN_R02_SPEC01  &lt;-  K5-PL06-T03-B02-DRINKING-FOUNTAIN-ROW-02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SCR_DRINKING_FOUNTAIN_EX02_DETAIL (senarai contoh komponen).</a:t>
            </a:r>
          </a:p>
          <a:p>
            <a:r>
              <a:rPr lang="en-MY" sz="900" dirty="0">
                <a:solidFill>
                  <a:schemeClr val="tx1">
                    <a:lumMod val="85000"/>
                    <a:lumOff val="15000"/>
                  </a:schemeClr>
                </a:solidFill>
              </a:rPr>
              <a:t>  1/2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K5-PL06-T03-B02-DRINKING-FOUNTAIN-ROW-02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Piawaian kesihatan</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yang lebih berat dan kukuh, disepadukan dengan reka bentuk taman yang lebih semula jadi</a:t>
            </a:r>
          </a:p>
          <a:p>
            <a:pPr/>
            <a:r>
              <a:rPr lang="en-MY" sz="1400" b="1" dirty="0">
                <a:solidFill>
                  <a:schemeClr val="tx1">
                    <a:lumMod val="85000"/>
                    <a:lumOff val="15000"/>
                  </a:schemeClr>
                </a:solidFill>
              </a:rPr>
              <a:t>atau tradisional.</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Pancutan Air Minum Konkrit/Batu, modul ms 249. Aset</a:t>
            </a:r>
          </a:p>
          <a:p>
            <a:pPr/>
            <a:r>
              <a:rPr lang="en-MY" sz="1100" dirty="0">
                <a:solidFill>
                  <a:srgbClr val="808080"/>
                </a:solidFill>
              </a:rPr>
              <a:t>K5PL06T03-B02-IMG-p249-x56. Tidak 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dirty="0">
                <a:solidFill>
                  <a:srgbClr val="7F6000"/>
                </a:solidFill>
              </a:rPr>
              <a:t>Pancutan Air Minum Konkrit/Batu</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Piawaian kesihatan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Mesti mematuhi piawaian kualiti air minuman Kementerian Kesihatan Malaysia atau badan</a:t>
            </a:r>
          </a:p>
          <a:p>
            <a:pPr/>
            <a:r>
              <a:rPr lang="en-MY" sz="1250" dirty="0">
                <a:solidFill>
                  <a:schemeClr val="tx1">
                    <a:lumMod val="85000"/>
                    <a:lumOff val="15000"/>
                  </a:schemeClr>
                </a:solidFill>
              </a:rPr>
              <a:t>berkaitan.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SPECIFICATION_POPUP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popup, Level 2</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SCR_DRINKING_FOUNTAIN_EX02_DETAIL</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2 · lapisan skrin 3</a:t>
            </a:r>
          </a:p>
          <a:p>
            <a:r>
              <a:rPr lang="en-MY" sz="900" dirty="0">
                <a:solidFill>
                  <a:schemeClr val="tx1">
                    <a:lumMod val="85000"/>
                    <a:lumOff val="15000"/>
                  </a:schemeClr>
                </a:solidFill>
              </a:rPr>
              <a:t>INDUK: SCR_DRINKING_FOUNTAIN_EX02_DETAIL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K5-PL06-T03-B02-DRINKING-FOUNTAIN-ROW-02</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II_DRINKING_FOUNTAIN_R02_SPEC02  &lt;-  K5-PL06-T03-B02-DRINKING-FOUNTAIN-ROW-02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SCR_DRINKING_FOUNTAIN_EX02_DETAIL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K5-PL06-T03-B02-DRINKING-FOUNTAIN-ROW-02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Pancutan Air Minum Konkrit/Batu</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i="1" dirty="0"/>
              <a:t>Drinking Fountain</a:t>
            </a:r>
          </a:p>
        </p:txBody>
      </p:sp>
      <p:sp>
        <p:nvSpPr>
          <p:cNvPr id="20" name="ExHead"/>
          <p:cNvSpPr txBox="1"/>
          <p:nvPr/>
        </p:nvSpPr>
        <p:spPr>
          <a:xfrm>
            <a:off x="723930" y="1115568"/>
            <a:ext cx="10744200" cy="402336"/>
          </a:xfrm>
          <a:prstGeom prst="rect">
            <a:avLst/>
          </a:prstGeom>
          <a:noFill/>
        </p:spPr>
        <p:txBody>
          <a:bodyPr wrap="square">
            <a:noAutofit/>
          </a:bodyPr>
          <a:lstStyle/>
          <a:p>
            <a:pPr/>
            <a:r>
              <a:rPr lang="en-MY" sz="2200" b="1" dirty="0">
                <a:solidFill>
                  <a:schemeClr val="tx1">
                    <a:lumMod val="85000"/>
                    <a:lumOff val="15000"/>
                  </a:schemeClr>
                </a:solidFill>
              </a:rPr>
              <a:t>Pancutan Air Minum Konkrit/Batu</a:t>
            </a:r>
          </a:p>
        </p:txBody>
      </p:sp>
      <p:sp>
        <p:nvSpPr>
          <p:cNvPr id="25" name="Instr"/>
          <p:cNvSpPr txBox="1"/>
          <p:nvPr/>
        </p:nvSpPr>
        <p:spPr>
          <a:xfrm>
            <a:off x="723930" y="1609344"/>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spesifikasi untuk penjelasan lanjut.</a:t>
            </a:r>
          </a:p>
        </p:txBody>
      </p:sp>
      <p:sp>
        <p:nvSpPr>
          <p:cNvPr id="40" name="ItemCard"/>
          <p:cNvSpPr txBox="1"/>
          <p:nvPr/>
        </p:nvSpPr>
        <p:spPr>
          <a:xfrm>
            <a:off x="723885"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Bahan</a:t>
            </a:r>
          </a:p>
        </p:txBody>
      </p:sp>
      <p:sp>
        <p:nvSpPr>
          <p:cNvPr id="41" name="Tick"/>
          <p:cNvSpPr/>
          <p:nvPr/>
        </p:nvSpPr>
        <p:spPr>
          <a:xfrm>
            <a:off x="5501625"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03120"/>
            <a:ext cx="5180076" cy="969264"/>
          </a:xfrm>
          <a:prstGeom prst="rect">
            <a:avLst/>
          </a:prstGeom>
          <a:solidFill>
            <a:srgbClr val="E8F5E9"/>
          </a:solidFill>
          <a:ln w="28575">
            <a:solidFill>
              <a:srgbClr val="2E7D32"/>
            </a:solidFill>
          </a:ln>
        </p:spPr>
        <p:txBody>
          <a:bodyPr wrap="square" anchor="ctr">
            <a:noAutofit/>
          </a:bodyPr>
          <a:lstStyle/>
          <a:p>
            <a:pPr algn="ctr"/>
            <a:r>
              <a:rPr lang="en-MY" sz="1350" b="1" dirty="0">
                <a:solidFill>
                  <a:schemeClr val="tx1">
                    <a:lumMod val="85000"/>
                    <a:lumOff val="15000"/>
                  </a:schemeClr>
                </a:solidFill>
              </a:rPr>
              <a:t>Piawaian kesihatan</a:t>
            </a:r>
          </a:p>
        </p:txBody>
      </p:sp>
      <p:sp>
        <p:nvSpPr>
          <p:cNvPr id="43" name="Tick"/>
          <p:cNvSpPr/>
          <p:nvPr/>
        </p:nvSpPr>
        <p:spPr>
          <a:xfrm>
            <a:off x="11065749" y="2185416"/>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70" name="ExContoh"/>
          <p:cNvSpPr txBox="1"/>
          <p:nvPr/>
        </p:nvSpPr>
        <p:spPr>
          <a:xfrm>
            <a:off x="723930" y="3383280"/>
            <a:ext cx="10744200" cy="640080"/>
          </a:xfrm>
          <a:prstGeom prst="rect">
            <a:avLst/>
          </a:prstGeom>
          <a:noFill/>
        </p:spPr>
        <p:txBody>
          <a:bodyPr wrap="square">
            <a:noAutofit/>
          </a:bodyPr>
          <a:lstStyle/>
          <a:p>
            <a:pPr/>
            <a:r>
              <a:rPr lang="en-MY" sz="1400" b="1" dirty="0">
                <a:solidFill>
                  <a:schemeClr val="tx1">
                    <a:lumMod val="85000"/>
                    <a:lumOff val="15000"/>
                  </a:schemeClr>
                </a:solidFill>
              </a:rPr>
              <a:t>Contoh: Unit yang lebih berat dan kukuh, disepadukan dengan reka bentuk taman yang lebih semula jadi</a:t>
            </a:r>
          </a:p>
          <a:p>
            <a:pPr/>
            <a:r>
              <a:rPr lang="en-MY" sz="1400" b="1" dirty="0">
                <a:solidFill>
                  <a:schemeClr val="tx1">
                    <a:lumMod val="85000"/>
                    <a:lumOff val="15000"/>
                  </a:schemeClr>
                </a:solidFill>
              </a:rPr>
              <a:t>atau tradisional.</a:t>
            </a:r>
          </a:p>
        </p:txBody>
      </p:sp>
      <p:sp>
        <p:nvSpPr>
          <p:cNvPr id="30" name="VisualDir"/>
          <p:cNvSpPr txBox="1"/>
          <p:nvPr/>
        </p:nvSpPr>
        <p:spPr>
          <a:xfrm>
            <a:off x="723930" y="4133088"/>
            <a:ext cx="10744200" cy="621792"/>
          </a:xfrm>
          <a:prstGeom prst="rect">
            <a:avLst/>
          </a:prstGeom>
          <a:noFill/>
        </p:spPr>
        <p:txBody>
          <a:bodyPr wrap="square">
            <a:noAutofit/>
          </a:bodyPr>
          <a:lstStyle/>
          <a:p>
            <a:pPr/>
            <a:r>
              <a:rPr lang="en-MY" sz="1100" dirty="0">
                <a:solidFill>
                  <a:srgbClr val="808080"/>
                </a:solidFill>
              </a:rPr>
              <a:t>[Visual: Foto jadual spesifikasi Pancutan Air Minum Konkrit/Batu, modul ms 249. Aset</a:t>
            </a:r>
          </a:p>
          <a:p>
            <a:pPr/>
            <a:r>
              <a:rPr lang="en-MY" sz="1100" dirty="0">
                <a:solidFill>
                  <a:srgbClr val="808080"/>
                </a:solidFill>
              </a:rPr>
              <a:t>K5PL06T03-B02-IMG-p249-x56. Tidak dibenamkan.]</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Pancutan Air Minum Konkrit/Batu</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EXAMPLE_DETAIL_ALL_VIEWED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example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[enabled — all specification items viewed]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SCR_DRINKING_FOUNTAIN_MAIN</a:t>
            </a:r>
          </a:p>
          <a:p>
            <a:r>
              <a:rPr lang="en-MY" sz="900" dirty="0">
                <a:solidFill>
                  <a:schemeClr val="tx1">
                    <a:lumMod val="85000"/>
                    <a:lumOff val="15000"/>
                  </a:schemeClr>
                </a:solidFill>
              </a:rPr>
              <a:t>SKOP SELESAI: EXAMPLE</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SCR_DRINKING_FOUNTAIN_EX02_DETAIL</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K5-PL06-T03-B02-DRINKING-FOUNTAIN-ROW-02</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II_DRINKING_FOUNTAIN_R02_SPEC01  &lt;-  K5-PL06-T03-B02-DRINKING-FOUNTAIN-ROW-02</a:t>
            </a:r>
          </a:p>
          <a:p>
            <a:r>
              <a:rPr lang="en-MY" sz="900" dirty="0">
                <a:solidFill>
                  <a:schemeClr val="tx1">
                    <a:lumMod val="85000"/>
                    <a:lumOff val="15000"/>
                  </a:schemeClr>
                </a:solidFill>
              </a:rPr>
              <a:t>  II_DRINKING_FOUNTAIN_R02_SPEC02  &lt;-  K5-PL06-T03-B02-DRINKING-FOUNTAIN-ROW-02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Skrin penuh ini ialah hasil Level 1 (klik contoh).</a:t>
            </a:r>
          </a:p>
          <a:p>
            <a:r>
              <a:rPr lang="en-MY" sz="900" dirty="0">
                <a:solidFill>
                  <a:schemeClr val="tx1">
                    <a:lumMod val="85000"/>
                    <a:lumOff val="15000"/>
                  </a:schemeClr>
                </a:solidFill>
              </a:rPr>
              <a:t>  Klik spesifikasi = Bariah Level 2. Membuka popup (STATE).</a:t>
            </a:r>
          </a:p>
          <a:p>
            <a:r>
              <a:rPr lang="en-MY" sz="900" dirty="0">
                <a:solidFill>
                  <a:schemeClr val="tx1">
                    <a:lumMod val="85000"/>
                    <a:lumOff val="15000"/>
                  </a:schemeClr>
                </a:solidFill>
              </a:rPr>
              <a:t>  Ikon tutup kembali ke skrin contoh penuh yang SAMA.</a:t>
            </a:r>
          </a:p>
          <a:p>
            <a:r>
              <a:rPr lang="en-MY" sz="900" dirty="0">
                <a:solidFill>
                  <a:schemeClr val="tx1">
                    <a:lumMod val="85000"/>
                    <a:lumOff val="15000"/>
                  </a:schemeClr>
                </a:solidFill>
              </a:rPr>
              <a:t>  Kembali -&gt; SCR_DRINKING_FOUNTAIN_MAIN (senarai contoh komponen).</a:t>
            </a:r>
          </a:p>
          <a:p>
            <a:r>
              <a:rPr lang="en-MY" sz="900" dirty="0">
                <a:solidFill>
                  <a:schemeClr val="tx1">
                    <a:lumMod val="85000"/>
                    <a:lumOff val="15000"/>
                  </a:schemeClr>
                </a:solidFill>
              </a:rPr>
              <a:t>  2/2 spesifikasi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2 item interaksi daripada SATU baris sumber: K5-PL06-T03-B02-DRINKING-FOUNTAIN-ROW-02</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Drinking Fountain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Drinking Fountain</a:t>
            </a:r>
          </a:p>
        </p:txBody>
      </p:sp>
      <p:sp>
        <p:nvSpPr>
          <p:cNvPr id="25" name="Instr"/>
          <p:cNvSpPr txBox="1"/>
          <p:nvPr/>
        </p:nvSpPr>
        <p:spPr>
          <a:xfrm>
            <a:off x="723930" y="1591056"/>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contoh untuk melihat perincian.</a:t>
            </a:r>
          </a:p>
        </p:txBody>
      </p:sp>
      <p:sp>
        <p:nvSpPr>
          <p:cNvPr id="40" name="ItemCard"/>
          <p:cNvSpPr txBox="1"/>
          <p:nvPr/>
        </p:nvSpPr>
        <p:spPr>
          <a:xfrm>
            <a:off x="723885" y="2157984"/>
            <a:ext cx="5180076"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Pancutan Air Minum Keluli Tahan Karat</a:t>
            </a:r>
          </a:p>
        </p:txBody>
      </p:sp>
      <p:sp>
        <p:nvSpPr>
          <p:cNvPr id="41" name="Tick"/>
          <p:cNvSpPr/>
          <p:nvPr/>
        </p:nvSpPr>
        <p:spPr>
          <a:xfrm>
            <a:off x="5501625"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6288009" y="2157984"/>
            <a:ext cx="5180076"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Pancutan Air Minum Konkrit/Batu</a:t>
            </a:r>
          </a:p>
        </p:txBody>
      </p:sp>
      <p:sp>
        <p:nvSpPr>
          <p:cNvPr id="43" name="Tick"/>
          <p:cNvSpPr/>
          <p:nvPr/>
        </p:nvSpPr>
        <p:spPr>
          <a:xfrm>
            <a:off x="11065749" y="2240280"/>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0" name="OverviewHead"/>
          <p:cNvSpPr txBox="1"/>
          <p:nvPr/>
        </p:nvSpPr>
        <p:spPr>
          <a:xfrm>
            <a:off x="723930" y="4974336"/>
            <a:ext cx="10744200" cy="201168"/>
          </a:xfrm>
          <a:prstGeom prst="rect">
            <a:avLst/>
          </a:prstGeom>
          <a:noFill/>
        </p:spPr>
        <p:txBody>
          <a:bodyPr wrap="square">
            <a:noAutofit/>
          </a:bodyPr>
          <a:lstStyle/>
          <a:p>
            <a:pPr/>
            <a:r>
              <a:rPr lang="en-MY" sz="850" b="1" dirty="0">
                <a:solidFill>
                  <a:srgbClr val="7F6000"/>
                </a:solidFill>
              </a:rPr>
              <a:t>ARAHAN VISUAL — OVERVIEW KOMPONEN (TIDAK DIBENAMKAN)</a:t>
            </a:r>
          </a:p>
        </p:txBody>
      </p:sp>
      <p:sp>
        <p:nvSpPr>
          <p:cNvPr id="301" name="OverviewCard"/>
          <p:cNvSpPr txBox="1"/>
          <p:nvPr/>
        </p:nvSpPr>
        <p:spPr>
          <a:xfrm>
            <a:off x="723930" y="5212080"/>
            <a:ext cx="2377440" cy="1009498"/>
          </a:xfrm>
          <a:prstGeom prst="rect">
            <a:avLst/>
          </a:prstGeom>
          <a:solidFill>
            <a:srgbClr val="F7F7F7"/>
          </a:solidFill>
          <a:ln w="12700">
            <a:solidFill>
              <a:srgbClr val="BFBFBF"/>
            </a:solidFill>
          </a:ln>
        </p:spPr>
        <p:txBody>
          <a:bodyPr wrap="square">
            <a:noAutofit/>
          </a:bodyPr>
          <a:lstStyle/>
        </p:txBody>
      </p:sp>
      <p:sp>
        <p:nvSpPr>
          <p:cNvPr id="302" name="OverviewSubject"/>
          <p:cNvSpPr txBox="1"/>
          <p:nvPr/>
        </p:nvSpPr>
        <p:spPr>
          <a:xfrm>
            <a:off x="815370" y="5266944"/>
            <a:ext cx="2194560" cy="332842"/>
          </a:xfrm>
          <a:prstGeom prst="rect">
            <a:avLst/>
          </a:prstGeom>
          <a:noFill/>
        </p:spPr>
        <p:txBody>
          <a:bodyPr wrap="square">
            <a:noAutofit/>
          </a:bodyPr>
          <a:lstStyle/>
          <a:p>
            <a:pPr/>
            <a:r>
              <a:rPr lang="en-MY" sz="900" b="1" dirty="0">
                <a:solidFill>
                  <a:schemeClr val="tx1">
                    <a:lumMod val="85000"/>
                    <a:lumOff val="15000"/>
                  </a:schemeClr>
                </a:solidFill>
              </a:rPr>
              <a:t>Pancutan Air Minum Keluli</a:t>
            </a:r>
          </a:p>
          <a:p>
            <a:pPr/>
            <a:r>
              <a:rPr lang="en-MY" sz="900" b="1" dirty="0">
                <a:solidFill>
                  <a:schemeClr val="tx1">
                    <a:lumMod val="85000"/>
                    <a:lumOff val="15000"/>
                  </a:schemeClr>
                </a:solidFill>
              </a:rPr>
              <a:t>Tahan Karat</a:t>
            </a:r>
          </a:p>
        </p:txBody>
      </p:sp>
      <p:sp>
        <p:nvSpPr>
          <p:cNvPr id="303" name="OverviewDir"/>
          <p:cNvSpPr txBox="1"/>
          <p:nvPr/>
        </p:nvSpPr>
        <p:spPr>
          <a:xfrm>
            <a:off x="815370" y="5636362"/>
            <a:ext cx="2194560" cy="512064"/>
          </a:xfrm>
          <a:prstGeom prst="rect">
            <a:avLst/>
          </a:prstGeom>
          <a:noFill/>
        </p:spPr>
        <p:txBody>
          <a:bodyPr wrap="square">
            <a:noAutofit/>
          </a:bodyPr>
          <a:lstStyle/>
          <a:p>
            <a:pPr/>
            <a:r>
              <a:rPr lang="en-MY" sz="750" dirty="0">
                <a:solidFill>
                  <a:srgbClr val="808080"/>
                </a:solidFill>
              </a:rPr>
              <a:t>[Visual: Foto jadual spesifikasi Pancutan</a:t>
            </a:r>
          </a:p>
          <a:p>
            <a:pPr/>
            <a:r>
              <a:rPr lang="en-MY" sz="750" dirty="0">
                <a:solidFill>
                  <a:srgbClr val="808080"/>
                </a:solidFill>
              </a:rPr>
              <a:t>Air Minum Keluli Tahan Karat, modul ms 248.</a:t>
            </a:r>
          </a:p>
          <a:p>
            <a:pPr/>
            <a:r>
              <a:rPr lang="en-MY" sz="750" dirty="0">
                <a:solidFill>
                  <a:srgbClr val="808080"/>
                </a:solidFill>
              </a:rPr>
              <a:t>Aset K5PL06T03-B02-IMG-p248-x49. Tidak</a:t>
            </a:r>
          </a:p>
          <a:p>
            <a:pPr/>
            <a:r>
              <a:rPr lang="en-MY" sz="750" dirty="0">
                <a:solidFill>
                  <a:srgbClr val="808080"/>
                </a:solidFill>
              </a:rPr>
              <a:t>dibenamkan.]</a:t>
            </a:r>
          </a:p>
        </p:txBody>
      </p:sp>
      <p:sp>
        <p:nvSpPr>
          <p:cNvPr id="304" name="OverviewCard"/>
          <p:cNvSpPr txBox="1"/>
          <p:nvPr/>
        </p:nvSpPr>
        <p:spPr>
          <a:xfrm>
            <a:off x="3284250" y="5212080"/>
            <a:ext cx="2377440" cy="1009498"/>
          </a:xfrm>
          <a:prstGeom prst="rect">
            <a:avLst/>
          </a:prstGeom>
          <a:solidFill>
            <a:srgbClr val="F7F7F7"/>
          </a:solidFill>
          <a:ln w="12700">
            <a:solidFill>
              <a:srgbClr val="BFBFBF"/>
            </a:solidFill>
          </a:ln>
        </p:spPr>
        <p:txBody>
          <a:bodyPr wrap="square">
            <a:noAutofit/>
          </a:bodyPr>
          <a:lstStyle/>
        </p:txBody>
      </p:sp>
      <p:sp>
        <p:nvSpPr>
          <p:cNvPr id="305" name="OverviewSubject"/>
          <p:cNvSpPr txBox="1"/>
          <p:nvPr/>
        </p:nvSpPr>
        <p:spPr>
          <a:xfrm>
            <a:off x="3375690" y="5266944"/>
            <a:ext cx="2194560" cy="332842"/>
          </a:xfrm>
          <a:prstGeom prst="rect">
            <a:avLst/>
          </a:prstGeom>
          <a:noFill/>
        </p:spPr>
        <p:txBody>
          <a:bodyPr wrap="square">
            <a:noAutofit/>
          </a:bodyPr>
          <a:lstStyle/>
          <a:p>
            <a:pPr/>
            <a:r>
              <a:rPr lang="en-MY" sz="900" b="1" dirty="0">
                <a:solidFill>
                  <a:schemeClr val="tx1">
                    <a:lumMod val="85000"/>
                    <a:lumOff val="15000"/>
                  </a:schemeClr>
                </a:solidFill>
              </a:rPr>
              <a:t>Pancutan Air Minum</a:t>
            </a:r>
          </a:p>
          <a:p>
            <a:pPr/>
            <a:r>
              <a:rPr lang="en-MY" sz="900" b="1" dirty="0">
                <a:solidFill>
                  <a:schemeClr val="tx1">
                    <a:lumMod val="85000"/>
                    <a:lumOff val="15000"/>
                  </a:schemeClr>
                </a:solidFill>
              </a:rPr>
              <a:t>Konkrit/Batu</a:t>
            </a:r>
          </a:p>
        </p:txBody>
      </p:sp>
      <p:sp>
        <p:nvSpPr>
          <p:cNvPr id="306" name="OverviewDir"/>
          <p:cNvSpPr txBox="1"/>
          <p:nvPr/>
        </p:nvSpPr>
        <p:spPr>
          <a:xfrm>
            <a:off x="3375690" y="5636362"/>
            <a:ext cx="2194560" cy="512064"/>
          </a:xfrm>
          <a:prstGeom prst="rect">
            <a:avLst/>
          </a:prstGeom>
          <a:noFill/>
        </p:spPr>
        <p:txBody>
          <a:bodyPr wrap="square">
            <a:noAutofit/>
          </a:bodyPr>
          <a:lstStyle/>
          <a:p>
            <a:pPr/>
            <a:r>
              <a:rPr lang="en-MY" sz="750" dirty="0">
                <a:solidFill>
                  <a:srgbClr val="808080"/>
                </a:solidFill>
              </a:rPr>
              <a:t>[Visual: Foto jadual spesifikasi Pancutan</a:t>
            </a:r>
          </a:p>
          <a:p>
            <a:pPr/>
            <a:r>
              <a:rPr lang="en-MY" sz="750" dirty="0">
                <a:solidFill>
                  <a:srgbClr val="808080"/>
                </a:solidFill>
              </a:rPr>
              <a:t>Air Minum Konkrit/Batu, modul ms 249. Aset</a:t>
            </a:r>
          </a:p>
          <a:p>
            <a:pPr/>
            <a:r>
              <a:rPr lang="en-MY" sz="750" dirty="0">
                <a:solidFill>
                  <a:srgbClr val="808080"/>
                </a:solidFill>
              </a:rPr>
              <a:t>K5PL06T03-B02-IMG-p249-x56. Tidak</a:t>
            </a:r>
          </a:p>
          <a:p>
            <a:pPr/>
            <a:r>
              <a:rPr lang="en-MY" sz="750" dirty="0">
                <a:solidFill>
                  <a:srgbClr val="808080"/>
                </a:solidFill>
              </a:rPr>
              <a:t>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Drinking Fountain — penerangan + senarai contoh</a:t>
            </a:r>
          </a:p>
          <a:p>
            <a:r>
              <a:rPr lang="en-MY" sz="900" dirty="0">
                <a:solidFill>
                  <a:schemeClr val="tx1">
                    <a:lumMod val="85000"/>
                    <a:lumOff val="15000"/>
                  </a:schemeClr>
                </a:solidFill>
              </a:rPr>
              <a:t>KELUARGA PELAKSANAAN: FAMILY_P1</a:t>
            </a:r>
          </a:p>
          <a:p>
            <a:r>
              <a:rPr lang="en-MY" sz="900" dirty="0">
                <a:solidFill>
                  <a:schemeClr val="tx1">
                    <a:lumMod val="85000"/>
                    <a:lumOff val="15000"/>
                  </a:schemeClr>
                </a:solidFill>
              </a:rPr>
              <a:t>PERANAN HALAMAN SEMAKAN: COMPONENT_EXPLANATION_LIST_ALL_VIEWED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[enabled — component 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SCR_DRINKING_FOUNTAIN_MAIN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K5-PL06-T03-B02-DRINKING-FOUNTAIN-ROW-01</a:t>
            </a:r>
          </a:p>
          <a:p>
            <a:r>
              <a:rPr lang="en-MY" sz="900" dirty="0">
                <a:solidFill>
                  <a:schemeClr val="tx1">
                    <a:lumMod val="85000"/>
                    <a:lumOff val="15000"/>
                  </a:schemeClr>
                </a:solidFill>
              </a:rPr>
              <a:t>    ms 248 / fizikal 267</a:t>
            </a:r>
          </a:p>
          <a:p>
            <a:r>
              <a:rPr lang="en-MY" sz="900" dirty="0">
                <a:solidFill>
                  <a:schemeClr val="tx1">
                    <a:lumMod val="85000"/>
                    <a:lumOff val="15000"/>
                  </a:schemeClr>
                </a:solidFill>
              </a:rPr>
              <a:t>  K5-PL06-T03-B02-DRINKING-FOUNTAIN-ROW-02</a:t>
            </a:r>
          </a:p>
          <a:p>
            <a:r>
              <a:rPr lang="en-MY" sz="900" dirty="0">
                <a:solidFill>
                  <a:schemeClr val="tx1">
                    <a:lumMod val="85000"/>
                    <a:lumOff val="15000"/>
                  </a:schemeClr>
                </a:solidFill>
              </a:rPr>
              <a:t>    ms 248 / fizikal 267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II_DRINKING_FOUNTAIN_EX01  &lt;-  K5-PL06-T03-B02-DRINKING-FOUNTAIN-ROW-01</a:t>
            </a:r>
          </a:p>
          <a:p>
            <a:r>
              <a:rPr lang="en-MY" sz="900" dirty="0">
                <a:solidFill>
                  <a:schemeClr val="tx1">
                    <a:lumMod val="85000"/>
                    <a:lumOff val="15000"/>
                  </a:schemeClr>
                </a:solidFill>
              </a:rPr>
              <a:t>  II_DRINKING_FOUNTAIN_EX02  &lt;-  K5-PL06-T03-B02-DRINKING-FOUNTAIN-ROW-02</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contoh = Bariah Level 1. Membuka skrin penuh, bukan popup.</a:t>
            </a:r>
          </a:p>
          <a:p>
            <a:r>
              <a:rPr lang="en-MY" sz="900" dirty="0">
                <a:solidFill>
                  <a:schemeClr val="tx1">
                    <a:lumMod val="85000"/>
                    <a:lumOff val="15000"/>
                  </a:schemeClr>
                </a:solidFill>
              </a:rPr>
              <a:t>  2/2 contoh dilihat.</a:t>
            </a:r>
          </a:p>
          <a:p>
            <a:r>
              <a:rPr lang="en-MY" sz="900" dirty="0">
                <a:solidFill>
                  <a:schemeClr val="tx1">
                    <a:lumMod val="85000"/>
                    <a:lumOff val="15000"/>
                  </a:schemeClr>
                </a:solidFill>
              </a:rPr>
              <a:t>  component_complete hanya benar apabila SEMUA contoh selesai.</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BBQ Pit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BBQ Pit</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i="1" dirty="0">
                <a:solidFill>
                  <a:srgbClr val="7F6000"/>
                </a:solidFill>
              </a:rPr>
              <a:t>BBQ Pit</a:t>
            </a:r>
            <a:r>
              <a:rPr lang="en-MY" sz="1400" b="1" dirty="0">
                <a:solidFill>
                  <a:srgbClr val="7F6000"/>
                </a:solidFill>
              </a:rPr>
              <a:t> Struktur Kekal</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Bahan Pembinaan</a:t>
            </a:r>
          </a:p>
        </p:txBody>
      </p:sp>
      <p:sp>
        <p:nvSpPr>
          <p:cNvPr id="41" name="ItemCard"/>
          <p:cNvSpPr txBox="1"/>
          <p:nvPr/>
        </p:nvSpPr>
        <p:spPr>
          <a:xfrm>
            <a:off x="3505947"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Dimensi</a:t>
            </a:r>
          </a:p>
        </p:txBody>
      </p:sp>
      <p:sp>
        <p:nvSpPr>
          <p:cNvPr id="42" name="ItemCard"/>
          <p:cNvSpPr txBox="1"/>
          <p:nvPr/>
        </p:nvSpPr>
        <p:spPr>
          <a:xfrm>
            <a:off x="6288009"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Gril</a:t>
            </a:r>
          </a:p>
        </p:txBody>
      </p:sp>
      <p:sp>
        <p:nvSpPr>
          <p:cNvPr id="43"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Keselamatan</a:t>
            </a:r>
          </a:p>
        </p:txBody>
      </p:sp>
      <p:sp>
        <p:nvSpPr>
          <p:cNvPr id="30" name="VisualDir"/>
          <p:cNvSpPr txBox="1"/>
          <p:nvPr/>
        </p:nvSpPr>
        <p:spPr>
          <a:xfrm>
            <a:off x="723930" y="4443984"/>
            <a:ext cx="10744200" cy="365760"/>
          </a:xfrm>
          <a:prstGeom prst="rect">
            <a:avLst/>
          </a:prstGeom>
          <a:noFill/>
        </p:spPr>
        <p:txBody>
          <a:bodyPr wrap="square">
            <a:noAutofit/>
          </a:bodyPr>
          <a:lstStyle/>
          <a:p>
            <a:pPr/>
            <a:r>
              <a:rPr lang="en-MY" sz="1100" dirty="0">
                <a:solidFill>
                  <a:srgbClr val="808080"/>
                </a:solidFill>
              </a:rPr>
              <a:t>[Visual: Foto jadual spesifikasi BBQ Pit, modul ms 249. Tidak dibenamkan.]</a:t>
            </a:r>
          </a:p>
        </p:txBody>
      </p:sp>
      <p:sp>
        <p:nvSpPr>
          <p:cNvPr id="300" name="OverviewHead"/>
          <p:cNvSpPr txBox="1"/>
          <p:nvPr/>
        </p:nvSpPr>
        <p:spPr>
          <a:xfrm>
            <a:off x="723930" y="4974336"/>
            <a:ext cx="10744200" cy="201168"/>
          </a:xfrm>
          <a:prstGeom prst="rect">
            <a:avLst/>
          </a:prstGeom>
          <a:noFill/>
        </p:spPr>
        <p:txBody>
          <a:bodyPr wrap="square">
            <a:noAutofit/>
          </a:bodyPr>
          <a:lstStyle/>
          <a:p>
            <a:pPr/>
            <a:r>
              <a:rPr lang="en-MY" sz="850" b="1" dirty="0">
                <a:solidFill>
                  <a:srgbClr val="7F6000"/>
                </a:solidFill>
              </a:rPr>
              <a:t>ARAHAN VISUAL — OVERVIEW KOMPONEN (TIDAK DIBENAMKAN)</a:t>
            </a:r>
          </a:p>
        </p:txBody>
      </p:sp>
      <p:sp>
        <p:nvSpPr>
          <p:cNvPr id="301" name="OverviewCard"/>
          <p:cNvSpPr txBox="1"/>
          <p:nvPr/>
        </p:nvSpPr>
        <p:spPr>
          <a:xfrm>
            <a:off x="723930" y="5212080"/>
            <a:ext cx="2377440" cy="870509"/>
          </a:xfrm>
          <a:prstGeom prst="rect">
            <a:avLst/>
          </a:prstGeom>
          <a:solidFill>
            <a:srgbClr val="F7F7F7"/>
          </a:solidFill>
          <a:ln w="12700">
            <a:solidFill>
              <a:srgbClr val="BFBFBF"/>
            </a:solidFill>
          </a:ln>
        </p:spPr>
        <p:txBody>
          <a:bodyPr wrap="square">
            <a:noAutofit/>
          </a:bodyPr>
          <a:lstStyle/>
        </p:txBody>
      </p:sp>
      <p:sp>
        <p:nvSpPr>
          <p:cNvPr id="302" name="OverviewSubject"/>
          <p:cNvSpPr txBox="1"/>
          <p:nvPr/>
        </p:nvSpPr>
        <p:spPr>
          <a:xfrm>
            <a:off x="815370" y="5266944"/>
            <a:ext cx="2194560" cy="193853"/>
          </a:xfrm>
          <a:prstGeom prst="rect">
            <a:avLst/>
          </a:prstGeom>
          <a:noFill/>
        </p:spPr>
        <p:txBody>
          <a:bodyPr wrap="square">
            <a:noAutofit/>
          </a:bodyPr>
          <a:lstStyle/>
          <a:p>
            <a:pPr/>
            <a:r>
              <a:rPr lang="en-MY" sz="900" b="1" i="1" dirty="0">
                <a:solidFill>
                  <a:schemeClr val="tx1">
                    <a:lumMod val="85000"/>
                    <a:lumOff val="15000"/>
                  </a:schemeClr>
                </a:solidFill>
              </a:rPr>
              <a:t>BBQ Pit</a:t>
            </a:r>
            <a:r>
              <a:rPr lang="en-MY" sz="900" b="1" dirty="0">
                <a:solidFill>
                  <a:schemeClr val="tx1">
                    <a:lumMod val="85000"/>
                    <a:lumOff val="15000"/>
                  </a:schemeClr>
                </a:solidFill>
              </a:rPr>
              <a:t> Struktur Kekal</a:t>
            </a:r>
          </a:p>
        </p:txBody>
      </p:sp>
      <p:sp>
        <p:nvSpPr>
          <p:cNvPr id="303" name="OverviewDir"/>
          <p:cNvSpPr txBox="1"/>
          <p:nvPr/>
        </p:nvSpPr>
        <p:spPr>
          <a:xfrm>
            <a:off x="815370" y="5497373"/>
            <a:ext cx="2194560" cy="512064"/>
          </a:xfrm>
          <a:prstGeom prst="rect">
            <a:avLst/>
          </a:prstGeom>
          <a:noFill/>
        </p:spPr>
        <p:txBody>
          <a:bodyPr wrap="square">
            <a:noAutofit/>
          </a:bodyPr>
          <a:lstStyle/>
          <a:p>
            <a:pPr/>
            <a:r>
              <a:rPr lang="en-MY" sz="750" dirty="0">
                <a:solidFill>
                  <a:srgbClr val="808080"/>
                </a:solidFill>
              </a:rPr>
              <a:t>[Visual: Foto jadual spesifikasi BBQ Pit</a:t>
            </a:r>
          </a:p>
          <a:p>
            <a:pPr/>
            <a:r>
              <a:rPr lang="en-MY" sz="750" dirty="0">
                <a:solidFill>
                  <a:srgbClr val="808080"/>
                </a:solidFill>
              </a:rPr>
              <a:t>Struktur Kekal, modul ms 249. Aset</a:t>
            </a:r>
          </a:p>
          <a:p>
            <a:pPr/>
            <a:r>
              <a:rPr lang="en-MY" sz="750" dirty="0">
                <a:solidFill>
                  <a:srgbClr val="808080"/>
                </a:solidFill>
              </a:rPr>
              <a:t>K5PL06T03-B02-IMG-p249-x57. Tidak</a:t>
            </a:r>
          </a:p>
          <a:p>
            <a:pPr/>
            <a:r>
              <a:rPr lang="en-MY" sz="750" dirty="0">
                <a:solidFill>
                  <a:srgbClr val="808080"/>
                </a:solidFill>
              </a:rPr>
              <a:t>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BBQ Pit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COMPONENT_SPEC_LIST_BASE</a:t>
            </a:r>
          </a:p>
          <a:p>
            <a:r>
              <a:rPr lang="en-MY" sz="900" dirty="0">
                <a:solidFill>
                  <a:schemeClr val="tx1">
                    <a:lumMod val="85000"/>
                    <a:lumOff val="15000"/>
                  </a:schemeClr>
                </a:solidFill>
              </a:rPr>
              <a:t/>
            </a:r>
          </a:p>
          <a:p>
            <a:r>
              <a:rPr lang="en-MY" sz="900" dirty="0">
                <a:solidFill>
                  <a:schemeClr val="tx1">
                    <a:lumMod val="85000"/>
                    <a:lumOff val="15000"/>
                  </a:schemeClr>
                </a:solidFill>
              </a:rPr>
              <a:t>BUKTI: explanation + specification-category list</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[component_complete[BBQ_PIT]]</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SCR_BBQ_PIT_MAIN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K5-PL06-T03-B02-BBQ-PIT-ROW-01</a:t>
            </a:r>
          </a:p>
          <a:p>
            <a:r>
              <a:rPr lang="en-MY" sz="900" dirty="0">
                <a:solidFill>
                  <a:schemeClr val="tx1">
                    <a:lumMod val="85000"/>
                    <a:lumOff val="15000"/>
                  </a:schemeClr>
                </a:solidFill>
              </a:rPr>
              <a:t>    ms 249 / fizikal 268</a:t>
            </a:r>
          </a:p>
          <a:p>
            <a:r>
              <a:rPr lang="en-MY" sz="900" b="1" dirty="0">
                <a:solidFill>
                  <a:schemeClr val="tx1">
                    <a:lumMod val="85000"/>
                    <a:lumOff val="15000"/>
                  </a:schemeClr>
                </a:solidFill>
              </a:rPr>
              <a:t>ASET SUMBER (tidak dibenamkan):</a:t>
            </a:r>
          </a:p>
          <a:p>
            <a:r>
              <a:rPr lang="en-MY" sz="900" dirty="0">
                <a:solidFill>
                  <a:schemeClr val="tx1">
                    <a:lumMod val="85000"/>
                    <a:lumOff val="15000"/>
                  </a:schemeClr>
                </a:solidFill>
              </a:rPr>
              <a:t>  K5PL06T03-B02-IMG-p249-x57</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II_BBQ_PIT_CAT01  &lt;-  K5-PL06-T03-B02-BBQ-PIT-ROW-01</a:t>
            </a:r>
          </a:p>
          <a:p>
            <a:r>
              <a:rPr lang="en-MY" sz="900" dirty="0">
                <a:solidFill>
                  <a:schemeClr val="tx1">
                    <a:lumMod val="85000"/>
                    <a:lumOff val="15000"/>
                  </a:schemeClr>
                </a:solidFill>
              </a:rPr>
              <a:t>  II_BBQ_PIT_CAT02  &lt;-  K5-PL06-T03-B02-BBQ-PIT-ROW-01</a:t>
            </a:r>
          </a:p>
          <a:p>
            <a:r>
              <a:rPr lang="en-MY" sz="900" dirty="0">
                <a:solidFill>
                  <a:schemeClr val="tx1">
                    <a:lumMod val="85000"/>
                    <a:lumOff val="15000"/>
                  </a:schemeClr>
                </a:solidFill>
              </a:rPr>
              <a:t>  II_BBQ_PIT_CAT03  &lt;-  K5-PL06-T03-B02-BBQ-PIT-ROW-01</a:t>
            </a:r>
          </a:p>
          <a:p>
            <a:r>
              <a:rPr lang="en-MY" sz="900" dirty="0">
                <a:solidFill>
                  <a:schemeClr val="tx1">
                    <a:lumMod val="85000"/>
                    <a:lumOff val="15000"/>
                  </a:schemeClr>
                </a:solidFill>
              </a:rPr>
              <a:t>  II_BBQ_PIT_CAT04  &lt;-  K5-PL06-T03-B02-BBQ-PIT-ROW-01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(None).</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0/4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K5-PL06-T03-B02-BBQ-PIT-ROW-01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pada setiap kategori untuk penjelasan lanjut.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COMPONENT_MAIN_SCREEN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REQUIRED</a:t>
            </a:r>
          </a:p>
          <a:p>
            <a:r>
              <a:rPr lang="en-MY" sz="900" dirty="0">
                <a:solidFill>
                  <a:schemeClr val="tx1">
                    <a:lumMod val="85000"/>
                    <a:lumOff val="15000"/>
                  </a:schemeClr>
                </a:solidFill>
              </a:rPr>
              <a:t>  status: RESOLVED</a:t>
            </a:r>
          </a:p>
          <a:p>
            <a:r>
              <a:rPr lang="en-MY" sz="900" dirty="0">
                <a:solidFill>
                  <a:schemeClr val="tx1">
                    <a:lumMod val="85000"/>
                    <a:lumOff val="15000"/>
                  </a:schemeClr>
                </a:solidFill>
              </a:rPr>
              <a:t>  kuasa: SOURCE_ATTESTED_COMPONENT_VISUAL</a:t>
            </a:r>
          </a:p>
          <a:p>
            <a:r>
              <a:rPr lang="en-MY" sz="900" dirty="0">
                <a:solidFill>
                  <a:schemeClr val="tx1">
                    <a:lumMod val="85000"/>
                    <a:lumOff val="15000"/>
                  </a:schemeClr>
                </a:solidFill>
              </a:rPr>
              <a:t>  kuasa keperluan: BARIAH_DIRECT_SCREENSHOT</a:t>
            </a:r>
          </a:p>
          <a:p>
            <a:r>
              <a:rPr lang="en-MY" sz="900" dirty="0">
                <a:solidFill>
                  <a:schemeClr val="tx1">
                    <a:lumMod val="85000"/>
                    <a:lumOff val="15000"/>
                  </a:schemeClr>
                </a:solidFill>
              </a:rPr>
              <a:t>  rawatan: SOURCE_BOUND_OVERVIEW</a:t>
            </a:r>
          </a:p>
          <a:p>
            <a:r>
              <a:rPr lang="en-MY" sz="900" dirty="0">
                <a:solidFill>
                  <a:schemeClr val="tx1">
                    <a:lumMod val="85000"/>
                    <a:lumOff val="15000"/>
                  </a:schemeClr>
                </a:solidFill>
              </a:rPr>
              <a:t>  kuasa rawatan: BARIAH_DIRECT_SCREENSHOT</a:t>
            </a:r>
          </a:p>
          <a:p>
            <a:r>
              <a:rPr lang="en-MY" sz="900" dirty="0">
                <a:solidFill>
                  <a:schemeClr val="tx1">
                    <a:lumMod val="85000"/>
                    <a:lumOff val="15000"/>
                  </a:schemeClr>
                </a:solidFill>
              </a:rPr>
              <a:t>  sumber subjek: MODULE_SOURCE_ATTESTED 1</a:t>
            </a:r>
          </a:p>
          <a:p>
            <a:r>
              <a:rPr lang="en-MY" sz="900" dirty="0">
                <a:solidFill>
                  <a:schemeClr val="tx1">
                    <a:lumMod val="85000"/>
                    <a:lumOff val="15000"/>
                  </a:schemeClr>
                </a:solidFill>
              </a:rPr>
              <a:t>  bilangan subjek overview: 1</a:t>
            </a:r>
          </a:p>
          <a:p>
            <a:r>
              <a:rPr lang="en-MY" sz="900" dirty="0">
                <a:solidFill>
                  <a:schemeClr val="tx1">
                    <a:lumMod val="85000"/>
                    <a:lumOff val="15000"/>
                  </a:schemeClr>
                </a:solidFill>
              </a:rPr>
              <a:t>  status pemetaan: RESOLVED</a:t>
            </a:r>
          </a:p>
          <a:p>
            <a:r>
              <a:rPr lang="en-MY" sz="900" dirty="0">
                <a:solidFill>
                  <a:schemeClr val="tx1">
                    <a:lumMod val="85000"/>
                    <a:lumOff val="15000"/>
                  </a:schemeClr>
                </a:solidFill>
              </a:rPr>
              <a:t>  pemetaan instans: COMPLETE</a:t>
            </a:r>
          </a:p>
          <a:p>
            <a:r>
              <a:rPr lang="en-MY" sz="900" dirty="0">
                <a:solidFill>
                  <a:schemeClr val="tx1">
                    <a:lumMod val="85000"/>
                    <a:lumOff val="15000"/>
                  </a:schemeClr>
                </a:solidFill>
              </a:rPr>
              <a:t>  menunggu keputusan manusia: TIDAK</a:t>
            </a:r>
          </a:p>
          <a:p>
            <a:r>
              <a:rPr lang="en-MY" sz="900" dirty="0">
                <a:solidFill>
                  <a:schemeClr val="tx1">
                    <a:lumMod val="85000"/>
                    <a:lumOff val="15000"/>
                  </a:schemeClr>
                </a:solidFill>
              </a:rPr>
              <a:t>STATUS KEPUTUSAN: B02-D-03</a:t>
            </a:r>
          </a:p>
          <a:p>
            <a:r>
              <a:rPr lang="en-MY" sz="900" dirty="0">
                <a:solidFill>
                  <a:schemeClr val="tx1">
                    <a:lumMod val="85000"/>
                    <a:lumOff val="15000"/>
                  </a:schemeClr>
                </a:solidFill>
              </a:rPr>
              <a:t>STATUS BELUM SELESAI: NONE</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BBQ Pit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BBQ Pit</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i="1" dirty="0">
                <a:solidFill>
                  <a:srgbClr val="7F6000"/>
                </a:solidFill>
              </a:rPr>
              <a:t>BBQ Pit</a:t>
            </a:r>
            <a:r>
              <a:rPr lang="en-MY" sz="1400" b="1" dirty="0">
                <a:solidFill>
                  <a:srgbClr val="7F6000"/>
                </a:solidFill>
              </a:rPr>
              <a:t> Struktur Kekal</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Pembinaan</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Dimensi</a:t>
            </a:r>
          </a:p>
        </p:txBody>
      </p:sp>
      <p:sp>
        <p:nvSpPr>
          <p:cNvPr id="43" name="ItemCard"/>
          <p:cNvSpPr txBox="1"/>
          <p:nvPr/>
        </p:nvSpPr>
        <p:spPr>
          <a:xfrm>
            <a:off x="6288009"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Gril</a:t>
            </a:r>
          </a:p>
        </p:txBody>
      </p:sp>
      <p:sp>
        <p:nvSpPr>
          <p:cNvPr id="44"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Keselamatan</a:t>
            </a:r>
          </a:p>
        </p:txBody>
      </p:sp>
      <p:sp>
        <p:nvSpPr>
          <p:cNvPr id="300" name="OverviewHead"/>
          <p:cNvSpPr txBox="1"/>
          <p:nvPr/>
        </p:nvSpPr>
        <p:spPr>
          <a:xfrm>
            <a:off x="723930" y="4974336"/>
            <a:ext cx="10744200" cy="201168"/>
          </a:xfrm>
          <a:prstGeom prst="rect">
            <a:avLst/>
          </a:prstGeom>
          <a:noFill/>
        </p:spPr>
        <p:txBody>
          <a:bodyPr wrap="square">
            <a:noAutofit/>
          </a:bodyPr>
          <a:lstStyle/>
          <a:p>
            <a:pPr/>
            <a:r>
              <a:rPr lang="en-MY" sz="850" b="1" dirty="0">
                <a:solidFill>
                  <a:srgbClr val="7F6000"/>
                </a:solidFill>
              </a:rPr>
              <a:t>ARAHAN VISUAL — OVERVIEW KOMPONEN (TIDAK DIBENAMKAN)</a:t>
            </a:r>
          </a:p>
        </p:txBody>
      </p:sp>
      <p:sp>
        <p:nvSpPr>
          <p:cNvPr id="301" name="OverviewCard"/>
          <p:cNvSpPr txBox="1"/>
          <p:nvPr/>
        </p:nvSpPr>
        <p:spPr>
          <a:xfrm>
            <a:off x="723930" y="5212080"/>
            <a:ext cx="2377440" cy="870509"/>
          </a:xfrm>
          <a:prstGeom prst="rect">
            <a:avLst/>
          </a:prstGeom>
          <a:solidFill>
            <a:srgbClr val="F7F7F7"/>
          </a:solidFill>
          <a:ln w="12700">
            <a:solidFill>
              <a:srgbClr val="BFBFBF"/>
            </a:solidFill>
          </a:ln>
        </p:spPr>
        <p:txBody>
          <a:bodyPr wrap="square">
            <a:noAutofit/>
          </a:bodyPr>
          <a:lstStyle/>
        </p:txBody>
      </p:sp>
      <p:sp>
        <p:nvSpPr>
          <p:cNvPr id="302" name="OverviewSubject"/>
          <p:cNvSpPr txBox="1"/>
          <p:nvPr/>
        </p:nvSpPr>
        <p:spPr>
          <a:xfrm>
            <a:off x="815370" y="5266944"/>
            <a:ext cx="2194560" cy="193853"/>
          </a:xfrm>
          <a:prstGeom prst="rect">
            <a:avLst/>
          </a:prstGeom>
          <a:noFill/>
        </p:spPr>
        <p:txBody>
          <a:bodyPr wrap="square">
            <a:noAutofit/>
          </a:bodyPr>
          <a:lstStyle/>
          <a:p>
            <a:pPr/>
            <a:r>
              <a:rPr lang="en-MY" sz="900" b="1" i="1" dirty="0">
                <a:solidFill>
                  <a:schemeClr val="tx1">
                    <a:lumMod val="85000"/>
                    <a:lumOff val="15000"/>
                  </a:schemeClr>
                </a:solidFill>
              </a:rPr>
              <a:t>BBQ Pit</a:t>
            </a:r>
            <a:r>
              <a:rPr lang="en-MY" sz="900" b="1" dirty="0">
                <a:solidFill>
                  <a:schemeClr val="tx1">
                    <a:lumMod val="85000"/>
                    <a:lumOff val="15000"/>
                  </a:schemeClr>
                </a:solidFill>
              </a:rPr>
              <a:t> Struktur Kekal</a:t>
            </a:r>
          </a:p>
        </p:txBody>
      </p:sp>
      <p:sp>
        <p:nvSpPr>
          <p:cNvPr id="303" name="OverviewDir"/>
          <p:cNvSpPr txBox="1"/>
          <p:nvPr/>
        </p:nvSpPr>
        <p:spPr>
          <a:xfrm>
            <a:off x="815370" y="5497373"/>
            <a:ext cx="2194560" cy="512064"/>
          </a:xfrm>
          <a:prstGeom prst="rect">
            <a:avLst/>
          </a:prstGeom>
          <a:noFill/>
        </p:spPr>
        <p:txBody>
          <a:bodyPr wrap="square">
            <a:noAutofit/>
          </a:bodyPr>
          <a:lstStyle/>
          <a:p>
            <a:pPr/>
            <a:r>
              <a:rPr lang="en-MY" sz="750" dirty="0">
                <a:solidFill>
                  <a:srgbClr val="808080"/>
                </a:solidFill>
              </a:rPr>
              <a:t>[Visual: Foto jadual spesifikasi BBQ Pit</a:t>
            </a:r>
          </a:p>
          <a:p>
            <a:pPr/>
            <a:r>
              <a:rPr lang="en-MY" sz="750" dirty="0">
                <a:solidFill>
                  <a:srgbClr val="808080"/>
                </a:solidFill>
              </a:rPr>
              <a:t>Struktur Kekal, modul ms 249. Aset</a:t>
            </a:r>
          </a:p>
          <a:p>
            <a:pPr/>
            <a:r>
              <a:rPr lang="en-MY" sz="750" dirty="0">
                <a:solidFill>
                  <a:srgbClr val="808080"/>
                </a:solidFill>
              </a:rPr>
              <a:t>K5PL06T03-B02-IMG-p249-x57. Tidak</a:t>
            </a:r>
          </a:p>
          <a:p>
            <a:pPr/>
            <a:r>
              <a:rPr lang="en-MY" sz="75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i="1" dirty="0">
                <a:solidFill>
                  <a:srgbClr val="7F6000"/>
                </a:solidFill>
              </a:rPr>
              <a:t>BBQ Pit</a:t>
            </a:r>
            <a:r>
              <a:rPr lang="en-MY" sz="1100" b="1" dirty="0">
                <a:solidFill>
                  <a:srgbClr val="7F6000"/>
                </a:solidFill>
              </a:rPr>
              <a:t> Struktur Kekal</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Bahan Pembinaan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1074420"/>
          </a:xfrm>
          <a:prstGeom prst="rect">
            <a:avLst/>
          </a:prstGeom>
          <a:noFill/>
        </p:spPr>
        <p:txBody>
          <a:bodyPr wrap="square">
            <a:noAutofit/>
          </a:bodyPr>
          <a:lstStyle/>
          <a:p>
            <a:pPr/>
            <a:r>
              <a:rPr lang="en-MY" sz="1250" dirty="0">
                <a:solidFill>
                  <a:schemeClr val="tx1">
                    <a:lumMod val="85000"/>
                    <a:lumOff val="15000"/>
                  </a:schemeClr>
                </a:solidFill>
              </a:rPr>
              <a:t>Dinding dalam ruang pembakaran daripada bata tahan api (firebrick) atau blok konkrit tahan</a:t>
            </a:r>
          </a:p>
          <a:p>
            <a:pPr/>
            <a:r>
              <a:rPr lang="en-MY" sz="1250" dirty="0">
                <a:solidFill>
                  <a:schemeClr val="tx1">
                    <a:lumMod val="85000"/>
                    <a:lumOff val="15000"/>
                  </a:schemeClr>
                </a:solidFill>
              </a:rPr>
              <a:t>suhu</a:t>
            </a:r>
          </a:p>
          <a:p>
            <a:pPr/>
            <a:r>
              <a:rPr lang="en-MY" sz="1250" dirty="0">
                <a:solidFill>
                  <a:schemeClr val="tx1">
                    <a:lumMod val="85000"/>
                    <a:lumOff val="15000"/>
                  </a:schemeClr>
                </a:solidFill>
              </a:rPr>
              <a:t>tinggi, dengan mortar tahan api; dinding luar bata biasa, blok konkrit atau batu; pelat</a:t>
            </a:r>
          </a:p>
          <a:p>
            <a:pPr/>
            <a:r>
              <a:rPr lang="en-MY" sz="1250" dirty="0">
                <a:solidFill>
                  <a:schemeClr val="tx1">
                    <a:lumMod val="85000"/>
                    <a:lumOff val="15000"/>
                  </a:schemeClr>
                </a:solidFill>
              </a:rPr>
              <a:t>kerja</a:t>
            </a:r>
          </a:p>
          <a:p>
            <a:pPr/>
            <a:r>
              <a:rPr lang="en-MY" sz="1250" dirty="0">
                <a:solidFill>
                  <a:schemeClr val="tx1">
                    <a:lumMod val="85000"/>
                    <a:lumOff val="15000"/>
                  </a:schemeClr>
                </a:solidFill>
              </a:rPr>
              <a:t>konkrit, jubin seramik tahan haba atau batu granit.</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BBQ Pit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SCR_BBQ_PIT_MAIN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SCR_BBQ_PIT_MAIN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K5-PL06-T03-B02-BBQ-PIT-ROW-01</a:t>
            </a:r>
          </a:p>
          <a:p>
            <a:r>
              <a:rPr lang="en-MY" sz="900" dirty="0">
                <a:solidFill>
                  <a:schemeClr val="tx1">
                    <a:lumMod val="85000"/>
                    <a:lumOff val="15000"/>
                  </a:schemeClr>
                </a:solidFill>
              </a:rPr>
              <a:t>    ms 249 / fizikal 268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II_BBQ_PIT_CAT01  &lt;-  K5-PL06-T03-B02-BBQ-PIT-ROW-01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(SCR_BBQ_PIT_MAIN).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1/4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K5-PL06-T03-B02-BBQ-PIT-ROW-01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BBQ Pit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BBQ Pit</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i="1" dirty="0">
                <a:solidFill>
                  <a:srgbClr val="7F6000"/>
                </a:solidFill>
              </a:rPr>
              <a:t>BBQ Pit</a:t>
            </a:r>
            <a:r>
              <a:rPr lang="en-MY" sz="1400" b="1" dirty="0">
                <a:solidFill>
                  <a:srgbClr val="7F6000"/>
                </a:solidFill>
              </a:rPr>
              <a:t> Struktur Kekal</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Pembinaan</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Dimensi</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Gril</a:t>
            </a:r>
          </a:p>
        </p:txBody>
      </p:sp>
      <p:sp>
        <p:nvSpPr>
          <p:cNvPr id="45"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Keselamatan</a:t>
            </a:r>
          </a:p>
        </p:txBody>
      </p:sp>
      <p:sp>
        <p:nvSpPr>
          <p:cNvPr id="300" name="OverviewHead"/>
          <p:cNvSpPr txBox="1"/>
          <p:nvPr/>
        </p:nvSpPr>
        <p:spPr>
          <a:xfrm>
            <a:off x="723930" y="4974336"/>
            <a:ext cx="10744200" cy="201168"/>
          </a:xfrm>
          <a:prstGeom prst="rect">
            <a:avLst/>
          </a:prstGeom>
          <a:noFill/>
        </p:spPr>
        <p:txBody>
          <a:bodyPr wrap="square">
            <a:noAutofit/>
          </a:bodyPr>
          <a:lstStyle/>
          <a:p>
            <a:pPr/>
            <a:r>
              <a:rPr lang="en-MY" sz="850" b="1" dirty="0">
                <a:solidFill>
                  <a:srgbClr val="7F6000"/>
                </a:solidFill>
              </a:rPr>
              <a:t>ARAHAN VISUAL — OVERVIEW KOMPONEN (TIDAK DIBENAMKAN)</a:t>
            </a:r>
          </a:p>
        </p:txBody>
      </p:sp>
      <p:sp>
        <p:nvSpPr>
          <p:cNvPr id="301" name="OverviewCard"/>
          <p:cNvSpPr txBox="1"/>
          <p:nvPr/>
        </p:nvSpPr>
        <p:spPr>
          <a:xfrm>
            <a:off x="723930" y="5212080"/>
            <a:ext cx="2377440" cy="870509"/>
          </a:xfrm>
          <a:prstGeom prst="rect">
            <a:avLst/>
          </a:prstGeom>
          <a:solidFill>
            <a:srgbClr val="F7F7F7"/>
          </a:solidFill>
          <a:ln w="12700">
            <a:solidFill>
              <a:srgbClr val="BFBFBF"/>
            </a:solidFill>
          </a:ln>
        </p:spPr>
        <p:txBody>
          <a:bodyPr wrap="square">
            <a:noAutofit/>
          </a:bodyPr>
          <a:lstStyle/>
        </p:txBody>
      </p:sp>
      <p:sp>
        <p:nvSpPr>
          <p:cNvPr id="302" name="OverviewSubject"/>
          <p:cNvSpPr txBox="1"/>
          <p:nvPr/>
        </p:nvSpPr>
        <p:spPr>
          <a:xfrm>
            <a:off x="815370" y="5266944"/>
            <a:ext cx="2194560" cy="193853"/>
          </a:xfrm>
          <a:prstGeom prst="rect">
            <a:avLst/>
          </a:prstGeom>
          <a:noFill/>
        </p:spPr>
        <p:txBody>
          <a:bodyPr wrap="square">
            <a:noAutofit/>
          </a:bodyPr>
          <a:lstStyle/>
          <a:p>
            <a:pPr/>
            <a:r>
              <a:rPr lang="en-MY" sz="900" b="1" i="1" dirty="0">
                <a:solidFill>
                  <a:schemeClr val="tx1">
                    <a:lumMod val="85000"/>
                    <a:lumOff val="15000"/>
                  </a:schemeClr>
                </a:solidFill>
              </a:rPr>
              <a:t>BBQ Pit</a:t>
            </a:r>
            <a:r>
              <a:rPr lang="en-MY" sz="900" b="1" dirty="0">
                <a:solidFill>
                  <a:schemeClr val="tx1">
                    <a:lumMod val="85000"/>
                    <a:lumOff val="15000"/>
                  </a:schemeClr>
                </a:solidFill>
              </a:rPr>
              <a:t> Struktur Kekal</a:t>
            </a:r>
          </a:p>
        </p:txBody>
      </p:sp>
      <p:sp>
        <p:nvSpPr>
          <p:cNvPr id="303" name="OverviewDir"/>
          <p:cNvSpPr txBox="1"/>
          <p:nvPr/>
        </p:nvSpPr>
        <p:spPr>
          <a:xfrm>
            <a:off x="815370" y="5497373"/>
            <a:ext cx="2194560" cy="512064"/>
          </a:xfrm>
          <a:prstGeom prst="rect">
            <a:avLst/>
          </a:prstGeom>
          <a:noFill/>
        </p:spPr>
        <p:txBody>
          <a:bodyPr wrap="square">
            <a:noAutofit/>
          </a:bodyPr>
          <a:lstStyle/>
          <a:p>
            <a:pPr/>
            <a:r>
              <a:rPr lang="en-MY" sz="750" dirty="0">
                <a:solidFill>
                  <a:srgbClr val="808080"/>
                </a:solidFill>
              </a:rPr>
              <a:t>[Visual: Foto jadual spesifikasi BBQ Pit</a:t>
            </a:r>
          </a:p>
          <a:p>
            <a:pPr/>
            <a:r>
              <a:rPr lang="en-MY" sz="750" dirty="0">
                <a:solidFill>
                  <a:srgbClr val="808080"/>
                </a:solidFill>
              </a:rPr>
              <a:t>Struktur Kekal, modul ms 249. Aset</a:t>
            </a:r>
          </a:p>
          <a:p>
            <a:pPr/>
            <a:r>
              <a:rPr lang="en-MY" sz="750" dirty="0">
                <a:solidFill>
                  <a:srgbClr val="808080"/>
                </a:solidFill>
              </a:rPr>
              <a:t>K5PL06T03-B02-IMG-p249-x57. Tidak</a:t>
            </a:r>
          </a:p>
          <a:p>
            <a:pPr/>
            <a:r>
              <a:rPr lang="en-MY" sz="75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i="1" dirty="0">
                <a:solidFill>
                  <a:srgbClr val="7F6000"/>
                </a:solidFill>
              </a:rPr>
              <a:t>BBQ Pit</a:t>
            </a:r>
            <a:r>
              <a:rPr lang="en-MY" sz="1100" b="1" dirty="0">
                <a:solidFill>
                  <a:srgbClr val="7F6000"/>
                </a:solidFill>
              </a:rPr>
              <a:t> Struktur Kekal</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Dimensi</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Ketinggian memanggang lazimnya 750–900mm dari aras tanah; saiz lubang api mengikut saiz</a:t>
            </a:r>
          </a:p>
          <a:p>
            <a:pPr/>
            <a:r>
              <a:rPr lang="en-MY" sz="1250" dirty="0">
                <a:solidFill>
                  <a:schemeClr val="tx1">
                    <a:lumMod val="85000"/>
                    <a:lumOff val="15000"/>
                  </a:schemeClr>
                </a:solidFill>
              </a:rPr>
              <a:t>gril.</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BBQ Pit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SCR_BBQ_PIT_MAIN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SCR_BBQ_PIT_MAIN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K5-PL06-T03-B02-BBQ-PIT-ROW-01</a:t>
            </a:r>
          </a:p>
          <a:p>
            <a:r>
              <a:rPr lang="en-MY" sz="900" dirty="0">
                <a:solidFill>
                  <a:schemeClr val="tx1">
                    <a:lumMod val="85000"/>
                    <a:lumOff val="15000"/>
                  </a:schemeClr>
                </a:solidFill>
              </a:rPr>
              <a:t>    ms 249 / fizikal 268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II_BBQ_PIT_CAT02  &lt;-  K5-PL06-T03-B02-BBQ-PIT-ROW-01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(SCR_BBQ_PIT_MAIN).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2/4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K5-PL06-T03-B02-BBQ-PIT-ROW-01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BBQ Pit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BBQ Pit</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i="1" dirty="0">
                <a:solidFill>
                  <a:srgbClr val="7F6000"/>
                </a:solidFill>
              </a:rPr>
              <a:t>BBQ Pit</a:t>
            </a:r>
            <a:r>
              <a:rPr lang="en-MY" sz="1400" b="1" dirty="0">
                <a:solidFill>
                  <a:srgbClr val="7F6000"/>
                </a:solidFill>
              </a:rPr>
              <a:t> Struktur Kekal</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Pembinaan</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Dimensi</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Gril</a:t>
            </a:r>
          </a:p>
        </p:txBody>
      </p:sp>
      <p:sp>
        <p:nvSpPr>
          <p:cNvPr id="45" name="Tick"/>
          <p:cNvSpPr/>
          <p:nvPr/>
        </p:nvSpPr>
        <p:spPr>
          <a:xfrm>
            <a:off x="8283687"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450592"/>
            <a:ext cx="2398014" cy="1481328"/>
          </a:xfrm>
          <a:prstGeom prst="rect">
            <a:avLst/>
          </a:prstGeom>
          <a:solidFill>
            <a:srgbClr val="F2F2F2"/>
          </a:solidFill>
          <a:ln w="12700">
            <a:solidFill>
              <a:srgbClr val="404040"/>
            </a:solidFill>
          </a:ln>
        </p:spPr>
        <p:txBody>
          <a:bodyPr wrap="square" anchor="ctr">
            <a:noAutofit/>
          </a:bodyPr>
          <a:lstStyle/>
          <a:p>
            <a:pPr algn="ctr"/>
            <a:r>
              <a:rPr lang="en-MY" sz="1500" b="1" dirty="0">
                <a:solidFill>
                  <a:schemeClr val="tx1">
                    <a:lumMod val="85000"/>
                    <a:lumOff val="15000"/>
                  </a:schemeClr>
                </a:solidFill>
              </a:rPr>
              <a:t>Keselamatan</a:t>
            </a:r>
          </a:p>
        </p:txBody>
      </p:sp>
      <p:sp>
        <p:nvSpPr>
          <p:cNvPr id="300" name="OverviewHead"/>
          <p:cNvSpPr txBox="1"/>
          <p:nvPr/>
        </p:nvSpPr>
        <p:spPr>
          <a:xfrm>
            <a:off x="723930" y="4974336"/>
            <a:ext cx="10744200" cy="201168"/>
          </a:xfrm>
          <a:prstGeom prst="rect">
            <a:avLst/>
          </a:prstGeom>
          <a:noFill/>
        </p:spPr>
        <p:txBody>
          <a:bodyPr wrap="square">
            <a:noAutofit/>
          </a:bodyPr>
          <a:lstStyle/>
          <a:p>
            <a:pPr/>
            <a:r>
              <a:rPr lang="en-MY" sz="850" b="1" dirty="0">
                <a:solidFill>
                  <a:srgbClr val="7F6000"/>
                </a:solidFill>
              </a:rPr>
              <a:t>ARAHAN VISUAL — OVERVIEW KOMPONEN (TIDAK DIBENAMKAN)</a:t>
            </a:r>
          </a:p>
        </p:txBody>
      </p:sp>
      <p:sp>
        <p:nvSpPr>
          <p:cNvPr id="301" name="OverviewCard"/>
          <p:cNvSpPr txBox="1"/>
          <p:nvPr/>
        </p:nvSpPr>
        <p:spPr>
          <a:xfrm>
            <a:off x="723930" y="5212080"/>
            <a:ext cx="2377440" cy="870509"/>
          </a:xfrm>
          <a:prstGeom prst="rect">
            <a:avLst/>
          </a:prstGeom>
          <a:solidFill>
            <a:srgbClr val="F7F7F7"/>
          </a:solidFill>
          <a:ln w="12700">
            <a:solidFill>
              <a:srgbClr val="BFBFBF"/>
            </a:solidFill>
          </a:ln>
        </p:spPr>
        <p:txBody>
          <a:bodyPr wrap="square">
            <a:noAutofit/>
          </a:bodyPr>
          <a:lstStyle/>
        </p:txBody>
      </p:sp>
      <p:sp>
        <p:nvSpPr>
          <p:cNvPr id="302" name="OverviewSubject"/>
          <p:cNvSpPr txBox="1"/>
          <p:nvPr/>
        </p:nvSpPr>
        <p:spPr>
          <a:xfrm>
            <a:off x="815370" y="5266944"/>
            <a:ext cx="2194560" cy="193853"/>
          </a:xfrm>
          <a:prstGeom prst="rect">
            <a:avLst/>
          </a:prstGeom>
          <a:noFill/>
        </p:spPr>
        <p:txBody>
          <a:bodyPr wrap="square">
            <a:noAutofit/>
          </a:bodyPr>
          <a:lstStyle/>
          <a:p>
            <a:pPr/>
            <a:r>
              <a:rPr lang="en-MY" sz="900" b="1" i="1" dirty="0">
                <a:solidFill>
                  <a:schemeClr val="tx1">
                    <a:lumMod val="85000"/>
                    <a:lumOff val="15000"/>
                  </a:schemeClr>
                </a:solidFill>
              </a:rPr>
              <a:t>BBQ Pit</a:t>
            </a:r>
            <a:r>
              <a:rPr lang="en-MY" sz="900" b="1" dirty="0">
                <a:solidFill>
                  <a:schemeClr val="tx1">
                    <a:lumMod val="85000"/>
                    <a:lumOff val="15000"/>
                  </a:schemeClr>
                </a:solidFill>
              </a:rPr>
              <a:t> Struktur Kekal</a:t>
            </a:r>
          </a:p>
        </p:txBody>
      </p:sp>
      <p:sp>
        <p:nvSpPr>
          <p:cNvPr id="303" name="OverviewDir"/>
          <p:cNvSpPr txBox="1"/>
          <p:nvPr/>
        </p:nvSpPr>
        <p:spPr>
          <a:xfrm>
            <a:off x="815370" y="5497373"/>
            <a:ext cx="2194560" cy="512064"/>
          </a:xfrm>
          <a:prstGeom prst="rect">
            <a:avLst/>
          </a:prstGeom>
          <a:noFill/>
        </p:spPr>
        <p:txBody>
          <a:bodyPr wrap="square">
            <a:noAutofit/>
          </a:bodyPr>
          <a:lstStyle/>
          <a:p>
            <a:pPr/>
            <a:r>
              <a:rPr lang="en-MY" sz="750" dirty="0">
                <a:solidFill>
                  <a:srgbClr val="808080"/>
                </a:solidFill>
              </a:rPr>
              <a:t>[Visual: Foto jadual spesifikasi BBQ Pit</a:t>
            </a:r>
          </a:p>
          <a:p>
            <a:pPr/>
            <a:r>
              <a:rPr lang="en-MY" sz="750" dirty="0">
                <a:solidFill>
                  <a:srgbClr val="808080"/>
                </a:solidFill>
              </a:rPr>
              <a:t>Struktur Kekal, modul ms 249. Aset</a:t>
            </a:r>
          </a:p>
          <a:p>
            <a:pPr/>
            <a:r>
              <a:rPr lang="en-MY" sz="750" dirty="0">
                <a:solidFill>
                  <a:srgbClr val="808080"/>
                </a:solidFill>
              </a:rPr>
              <a:t>K5PL06T03-B02-IMG-p249-x57. Tidak</a:t>
            </a:r>
          </a:p>
          <a:p>
            <a:pPr/>
            <a:r>
              <a:rPr lang="en-MY" sz="75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i="1" dirty="0">
                <a:solidFill>
                  <a:srgbClr val="7F6000"/>
                </a:solidFill>
              </a:rPr>
              <a:t>BBQ Pit</a:t>
            </a:r>
            <a:r>
              <a:rPr lang="en-MY" sz="1100" b="1" dirty="0">
                <a:solidFill>
                  <a:srgbClr val="7F6000"/>
                </a:solidFill>
              </a:rPr>
              <a:t> Struktur Kekal</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Gril</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219456"/>
          </a:xfrm>
          <a:prstGeom prst="rect">
            <a:avLst/>
          </a:prstGeom>
          <a:noFill/>
        </p:spPr>
        <p:txBody>
          <a:bodyPr wrap="square">
            <a:noAutofit/>
          </a:bodyPr>
          <a:lstStyle/>
          <a:p>
            <a:pPr/>
            <a:r>
              <a:rPr lang="en-MY" sz="1250" dirty="0">
                <a:solidFill>
                  <a:schemeClr val="tx1">
                    <a:lumMod val="85000"/>
                    <a:lumOff val="15000"/>
                  </a:schemeClr>
                </a:solidFill>
              </a:rPr>
              <a:t>Keluli tahan karat gred makanan atau besi tuang; tebal palang min. 6mm.</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BBQ Pit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SCR_BBQ_PIT_MAIN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SCR_BBQ_PIT_MAIN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K5-PL06-T03-B02-BBQ-PIT-ROW-01</a:t>
            </a:r>
          </a:p>
          <a:p>
            <a:r>
              <a:rPr lang="en-MY" sz="900" dirty="0">
                <a:solidFill>
                  <a:schemeClr val="tx1">
                    <a:lumMod val="85000"/>
                    <a:lumOff val="15000"/>
                  </a:schemeClr>
                </a:solidFill>
              </a:rPr>
              <a:t>    ms 249 / fizikal 268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II_BBQ_PIT_CAT03  &lt;-  K5-PL06-T03-B02-BBQ-PIT-ROW-01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(SCR_BBQ_PIT_MAIN).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3/4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K5-PL06-T03-B02-BBQ-PIT-ROW-01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BBQ Pit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BBQ Pit</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i="1" dirty="0">
                <a:solidFill>
                  <a:srgbClr val="7F6000"/>
                </a:solidFill>
              </a:rPr>
              <a:t>BBQ Pit</a:t>
            </a:r>
            <a:r>
              <a:rPr lang="en-MY" sz="1400" b="1" dirty="0">
                <a:solidFill>
                  <a:srgbClr val="7F6000"/>
                </a:solidFill>
              </a:rPr>
              <a:t> Struktur Kekal</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Pembinaan</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Dimensi</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Gril</a:t>
            </a:r>
          </a:p>
        </p:txBody>
      </p:sp>
      <p:sp>
        <p:nvSpPr>
          <p:cNvPr id="45" name="Tick"/>
          <p:cNvSpPr/>
          <p:nvPr/>
        </p:nvSpPr>
        <p:spPr>
          <a:xfrm>
            <a:off x="8283687"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Keselamatan</a:t>
            </a:r>
          </a:p>
        </p:txBody>
      </p:sp>
      <p:sp>
        <p:nvSpPr>
          <p:cNvPr id="47" name="Tick"/>
          <p:cNvSpPr/>
          <p:nvPr/>
        </p:nvSpPr>
        <p:spPr>
          <a:xfrm>
            <a:off x="11065749"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0" name="OverviewHead"/>
          <p:cNvSpPr txBox="1"/>
          <p:nvPr/>
        </p:nvSpPr>
        <p:spPr>
          <a:xfrm>
            <a:off x="723930" y="4974336"/>
            <a:ext cx="10744200" cy="201168"/>
          </a:xfrm>
          <a:prstGeom prst="rect">
            <a:avLst/>
          </a:prstGeom>
          <a:noFill/>
        </p:spPr>
        <p:txBody>
          <a:bodyPr wrap="square">
            <a:noAutofit/>
          </a:bodyPr>
          <a:lstStyle/>
          <a:p>
            <a:pPr/>
            <a:r>
              <a:rPr lang="en-MY" sz="850" b="1" dirty="0">
                <a:solidFill>
                  <a:srgbClr val="7F6000"/>
                </a:solidFill>
              </a:rPr>
              <a:t>ARAHAN VISUAL — OVERVIEW KOMPONEN (TIDAK DIBENAMKAN)</a:t>
            </a:r>
          </a:p>
        </p:txBody>
      </p:sp>
      <p:sp>
        <p:nvSpPr>
          <p:cNvPr id="301" name="OverviewCard"/>
          <p:cNvSpPr txBox="1"/>
          <p:nvPr/>
        </p:nvSpPr>
        <p:spPr>
          <a:xfrm>
            <a:off x="723930" y="5212080"/>
            <a:ext cx="2377440" cy="870509"/>
          </a:xfrm>
          <a:prstGeom prst="rect">
            <a:avLst/>
          </a:prstGeom>
          <a:solidFill>
            <a:srgbClr val="F7F7F7"/>
          </a:solidFill>
          <a:ln w="12700">
            <a:solidFill>
              <a:srgbClr val="BFBFBF"/>
            </a:solidFill>
          </a:ln>
        </p:spPr>
        <p:txBody>
          <a:bodyPr wrap="square">
            <a:noAutofit/>
          </a:bodyPr>
          <a:lstStyle/>
        </p:txBody>
      </p:sp>
      <p:sp>
        <p:nvSpPr>
          <p:cNvPr id="302" name="OverviewSubject"/>
          <p:cNvSpPr txBox="1"/>
          <p:nvPr/>
        </p:nvSpPr>
        <p:spPr>
          <a:xfrm>
            <a:off x="815370" y="5266944"/>
            <a:ext cx="2194560" cy="193853"/>
          </a:xfrm>
          <a:prstGeom prst="rect">
            <a:avLst/>
          </a:prstGeom>
          <a:noFill/>
        </p:spPr>
        <p:txBody>
          <a:bodyPr wrap="square">
            <a:noAutofit/>
          </a:bodyPr>
          <a:lstStyle/>
          <a:p>
            <a:pPr/>
            <a:r>
              <a:rPr lang="en-MY" sz="900" b="1" i="1" dirty="0">
                <a:solidFill>
                  <a:schemeClr val="tx1">
                    <a:lumMod val="85000"/>
                    <a:lumOff val="15000"/>
                  </a:schemeClr>
                </a:solidFill>
              </a:rPr>
              <a:t>BBQ Pit</a:t>
            </a:r>
            <a:r>
              <a:rPr lang="en-MY" sz="900" b="1" dirty="0">
                <a:solidFill>
                  <a:schemeClr val="tx1">
                    <a:lumMod val="85000"/>
                    <a:lumOff val="15000"/>
                  </a:schemeClr>
                </a:solidFill>
              </a:rPr>
              <a:t> Struktur Kekal</a:t>
            </a:r>
          </a:p>
        </p:txBody>
      </p:sp>
      <p:sp>
        <p:nvSpPr>
          <p:cNvPr id="303" name="OverviewDir"/>
          <p:cNvSpPr txBox="1"/>
          <p:nvPr/>
        </p:nvSpPr>
        <p:spPr>
          <a:xfrm>
            <a:off x="815370" y="5497373"/>
            <a:ext cx="2194560" cy="512064"/>
          </a:xfrm>
          <a:prstGeom prst="rect">
            <a:avLst/>
          </a:prstGeom>
          <a:noFill/>
        </p:spPr>
        <p:txBody>
          <a:bodyPr wrap="square">
            <a:noAutofit/>
          </a:bodyPr>
          <a:lstStyle/>
          <a:p>
            <a:pPr/>
            <a:r>
              <a:rPr lang="en-MY" sz="750" dirty="0">
                <a:solidFill>
                  <a:srgbClr val="808080"/>
                </a:solidFill>
              </a:rPr>
              <a:t>[Visual: Foto jadual spesifikasi BBQ Pit</a:t>
            </a:r>
          </a:p>
          <a:p>
            <a:pPr/>
            <a:r>
              <a:rPr lang="en-MY" sz="750" dirty="0">
                <a:solidFill>
                  <a:srgbClr val="808080"/>
                </a:solidFill>
              </a:rPr>
              <a:t>Struktur Kekal, modul ms 249. Aset</a:t>
            </a:r>
          </a:p>
          <a:p>
            <a:pPr/>
            <a:r>
              <a:rPr lang="en-MY" sz="750" dirty="0">
                <a:solidFill>
                  <a:srgbClr val="808080"/>
                </a:solidFill>
              </a:rPr>
              <a:t>K5PL06T03-B02-IMG-p249-x57. Tidak</a:t>
            </a:r>
          </a:p>
          <a:p>
            <a:pPr/>
            <a:r>
              <a:rPr lang="en-MY" sz="750" dirty="0">
                <a:solidFill>
                  <a:srgbClr val="808080"/>
                </a:solidFill>
              </a:rPr>
              <a:t>dibenamkan.]</a:t>
            </a:r>
          </a:p>
        </p:txBody>
      </p:sp>
      <p:sp>
        <p:nvSpPr>
          <p:cNvPr id="200" name="PopupPanel"/>
          <p:cNvSpPr txBox="1"/>
          <p:nvPr/>
        </p:nvSpPr>
        <p:spPr>
          <a:xfrm>
            <a:off x="1234440" y="1481328"/>
            <a:ext cx="9723090" cy="2788920"/>
          </a:xfrm>
          <a:prstGeom prst="rect">
            <a:avLst/>
          </a:prstGeom>
          <a:solidFill>
            <a:srgbClr val="FFFFFF"/>
          </a:solidFill>
          <a:ln w="28575">
            <a:solidFill>
              <a:srgbClr val="1F4E79"/>
            </a:solidFill>
          </a:ln>
        </p:spPr>
        <p:txBody>
          <a:bodyPr wrap="square">
            <a:noAutofit/>
          </a:bodyPr>
          <a:lstStyle/>
        </p:txBody>
      </p:sp>
      <p:sp>
        <p:nvSpPr>
          <p:cNvPr id="202" name="PopupKicker"/>
          <p:cNvSpPr txBox="1"/>
          <p:nvPr/>
        </p:nvSpPr>
        <p:spPr>
          <a:xfrm>
            <a:off x="1490472" y="1627632"/>
            <a:ext cx="8019288" cy="201168"/>
          </a:xfrm>
          <a:prstGeom prst="rect">
            <a:avLst/>
          </a:prstGeom>
          <a:noFill/>
        </p:spPr>
        <p:txBody>
          <a:bodyPr wrap="square">
            <a:noAutofit/>
          </a:bodyPr>
          <a:lstStyle/>
          <a:p>
            <a:pPr/>
            <a:r>
              <a:rPr lang="en-MY" sz="1100" b="1" i="1" dirty="0">
                <a:solidFill>
                  <a:srgbClr val="7F6000"/>
                </a:solidFill>
              </a:rPr>
              <a:t>BBQ Pit</a:t>
            </a:r>
            <a:r>
              <a:rPr lang="en-MY" sz="1100" b="1" dirty="0">
                <a:solidFill>
                  <a:srgbClr val="7F6000"/>
                </a:solidFill>
              </a:rPr>
              <a:t> Struktur Kekal</a:t>
            </a:r>
          </a:p>
        </p:txBody>
      </p:sp>
      <p:sp>
        <p:nvSpPr>
          <p:cNvPr id="201" name="PopupTitle"/>
          <p:cNvSpPr txBox="1"/>
          <p:nvPr/>
        </p:nvSpPr>
        <p:spPr>
          <a:xfrm>
            <a:off x="1490472" y="1847088"/>
            <a:ext cx="8019288" cy="365760"/>
          </a:xfrm>
          <a:prstGeom prst="rect">
            <a:avLst/>
          </a:prstGeom>
          <a:noFill/>
        </p:spPr>
        <p:txBody>
          <a:bodyPr wrap="square">
            <a:noAutofit/>
          </a:bodyPr>
          <a:lstStyle/>
          <a:p>
            <a:pPr/>
            <a:r>
              <a:rPr lang="en-MY" sz="2000" b="1" dirty="0">
                <a:solidFill>
                  <a:schemeClr val="tx1">
                    <a:lumMod val="85000"/>
                    <a:lumOff val="15000"/>
                  </a:schemeClr>
                </a:solidFill>
              </a:rPr>
              <a:t>Keselamatan</a:t>
            </a:r>
          </a:p>
        </p:txBody>
      </p:sp>
      <p:sp>
        <p:nvSpPr>
          <p:cNvPr id="260" name="CloseIcon"/>
          <p:cNvSpPr/>
          <p:nvPr/>
        </p:nvSpPr>
        <p:spPr>
          <a:xfrm>
            <a:off x="10317450" y="1645920"/>
            <a:ext cx="384048" cy="384048"/>
          </a:xfrm>
          <a:prstGeom prst="ellipse">
            <a:avLst/>
          </a:prstGeom>
          <a:solidFill>
            <a:srgbClr val="1F4E79"/>
          </a:solidFill>
          <a:ln>
            <a:noFill/>
          </a:ln>
        </p:spPr>
        <p:txBody>
          <a:bodyPr/>
          <a:lstStyle/>
          <a:p>
            <a:endParaRPr lang="en-MY"/>
          </a:p>
        </p:txBody>
      </p:sp>
      <p:sp>
        <p:nvSpPr>
          <p:cNvPr id="261" name="CloseGlyph"/>
          <p:cNvSpPr/>
          <p:nvPr/>
        </p:nvSpPr>
        <p:spPr>
          <a:xfrm>
            <a:off x="10421142" y="1749613"/>
            <a:ext cx="176662" cy="176662"/>
          </a:xfrm>
          <a:custGeom>
            <a:avLst/>
            <a:gdLst/>
            <a:ahLst/>
            <a:cxnLst/>
            <a:rect l="0" t="0" r="r" b="b"/>
            <a:pathLst>
              <a:path w="100" h="100">
                <a:moveTo>
                  <a:pt x="25" y="0"/>
                </a:moveTo>
                <a:lnTo>
                  <a:pt x="50" y="25"/>
                </a:lnTo>
                <a:lnTo>
                  <a:pt x="75" y="0"/>
                </a:lnTo>
                <a:lnTo>
                  <a:pt x="100" y="25"/>
                </a:lnTo>
                <a:lnTo>
                  <a:pt x="75" y="50"/>
                </a:lnTo>
                <a:lnTo>
                  <a:pt x="100" y="75"/>
                </a:lnTo>
                <a:lnTo>
                  <a:pt x="75" y="100"/>
                </a:lnTo>
                <a:lnTo>
                  <a:pt x="50" y="75"/>
                </a:lnTo>
                <a:lnTo>
                  <a:pt x="25" y="100"/>
                </a:lnTo>
                <a:lnTo>
                  <a:pt x="0" y="75"/>
                </a:lnTo>
                <a:lnTo>
                  <a:pt x="25" y="50"/>
                </a:lnTo>
                <a:lnTo>
                  <a:pt x="0" y="25"/>
                </a:lnTo>
                <a:close/>
              </a:path>
            </a:pathLst>
          </a:custGeom>
          <a:solidFill>
            <a:srgbClr val="FFFFFF"/>
          </a:solidFill>
          <a:ln>
            <a:noFill/>
          </a:ln>
        </p:spPr>
        <p:txBody>
          <a:bodyPr/>
          <a:lstStyle/>
          <a:p>
            <a:endParaRPr lang="en-MY"/>
          </a:p>
        </p:txBody>
      </p:sp>
      <p:sp>
        <p:nvSpPr>
          <p:cNvPr id="211" name="FBody"/>
          <p:cNvSpPr txBox="1"/>
          <p:nvPr/>
        </p:nvSpPr>
        <p:spPr>
          <a:xfrm>
            <a:off x="1490472" y="2432304"/>
            <a:ext cx="9208008" cy="429768"/>
          </a:xfrm>
          <a:prstGeom prst="rect">
            <a:avLst/>
          </a:prstGeom>
          <a:noFill/>
        </p:spPr>
        <p:txBody>
          <a:bodyPr wrap="square">
            <a:noAutofit/>
          </a:bodyPr>
          <a:lstStyle/>
          <a:p>
            <a:pPr/>
            <a:r>
              <a:rPr lang="en-MY" sz="1250" dirty="0">
                <a:solidFill>
                  <a:schemeClr val="tx1">
                    <a:lumMod val="85000"/>
                    <a:lumOff val="15000"/>
                  </a:schemeClr>
                </a:solidFill>
              </a:rPr>
              <a:t>Pengudaraan di bawah ruang pembakaran; saliran air hujan; cerobong asap (pilihan); ruang</a:t>
            </a:r>
          </a:p>
          <a:p>
            <a:pPr/>
            <a:r>
              <a:rPr lang="en-MY" sz="1250" dirty="0">
                <a:solidFill>
                  <a:schemeClr val="tx1">
                    <a:lumMod val="85000"/>
                    <a:lumOff val="15000"/>
                  </a:schemeClr>
                </a:solidFill>
              </a:rPr>
              <a:t>persediaan bersebelahan; jarak selamat dari bahan mudah terbakar.</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BBQ Pit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SPECIFICATION_CATEGORY_POPUP</a:t>
            </a:r>
          </a:p>
          <a:p>
            <a:r>
              <a:rPr lang="en-MY" sz="900" dirty="0">
                <a:solidFill>
                  <a:schemeClr val="tx1">
                    <a:lumMod val="85000"/>
                    <a:lumOff val="15000"/>
                  </a:schemeClr>
                </a:solidFill>
              </a:rPr>
              <a:t/>
            </a:r>
          </a:p>
          <a:p>
            <a:r>
              <a:rPr lang="en-MY" sz="900" dirty="0">
                <a:solidFill>
                  <a:schemeClr val="tx1">
                    <a:lumMod val="85000"/>
                    <a:lumOff val="15000"/>
                  </a:schemeClr>
                </a:solidFill>
              </a:rPr>
              <a:t>BUKTI: specification category popup</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CLOSE_ICON</a:t>
            </a:r>
          </a:p>
          <a:p>
            <a:r>
              <a:rPr lang="en-MY" sz="900" dirty="0">
                <a:solidFill>
                  <a:schemeClr val="tx1">
                    <a:lumMod val="85000"/>
                    <a:lumOff val="15000"/>
                  </a:schemeClr>
                </a:solidFill>
              </a:rPr>
              <a:t>  return_target = SCR_BBQ_PIT_MAIN</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1 · lapisan skrin 2</a:t>
            </a:r>
          </a:p>
          <a:p>
            <a:r>
              <a:rPr lang="en-MY" sz="900" dirty="0">
                <a:solidFill>
                  <a:schemeClr val="tx1">
                    <a:lumMod val="85000"/>
                    <a:lumOff val="15000"/>
                  </a:schemeClr>
                </a:solidFill>
              </a:rPr>
              <a:t>INDUK: SCR_BBQ_PIT_MAIN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K5-PL06-T03-B02-BBQ-PIT-ROW-01</a:t>
            </a:r>
          </a:p>
          <a:p>
            <a:r>
              <a:rPr lang="en-MY" sz="900" dirty="0">
                <a:solidFill>
                  <a:schemeClr val="tx1">
                    <a:lumMod val="85000"/>
                    <a:lumOff val="15000"/>
                  </a:schemeClr>
                </a:solidFill>
              </a:rPr>
              <a:t>    ms 249 / fizikal 268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II_BBQ_PIT_CAT04  &lt;-  K5-PL06-T03-B02-BBQ-PIT-ROW-01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(SCR_BBQ_PIT_MAIN).</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4/4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K5-PL06-T03-B02-BBQ-PIT-ROW-01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SPECIFICATION_POPUP</a:t>
            </a:r>
          </a:p>
          <a:p>
            <a:r>
              <a:rPr lang="en-MY" sz="900" dirty="0">
                <a:solidFill>
                  <a:schemeClr val="tx1">
                    <a:lumMod val="85000"/>
                    <a:lumOff val="15000"/>
                  </a:schemeClr>
                </a:solidFill>
              </a:rPr>
              <a:t>  subjenis popup: SPECIFICATION_POPUP</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NOT_REQUIRED_BY_BARIAH_RULING</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B02-D-05</a:t>
            </a:r>
          </a:p>
          <a:p>
            <a:r>
              <a:rPr lang="en-MY" sz="900" dirty="0">
                <a:solidFill>
                  <a:schemeClr val="tx1">
                    <a:lumMod val="85000"/>
                    <a:lumOff val="15000"/>
                  </a:schemeClr>
                </a:solidFill>
              </a:rPr>
              <a:t>STATUS BELUM SELESAI: NONE</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i="1" dirty="0"/>
              <a:t>BBQ Pit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Perabot Taman</a:t>
            </a:r>
          </a:p>
        </p:txBody>
      </p:sp>
      <p:sp>
        <p:nvSpPr>
          <p:cNvPr id="20" name="Head"/>
          <p:cNvSpPr txBox="1"/>
          <p:nvPr/>
        </p:nvSpPr>
        <p:spPr>
          <a:xfrm>
            <a:off x="723930" y="1115568"/>
            <a:ext cx="10744200" cy="402336"/>
          </a:xfrm>
          <a:prstGeom prst="rect">
            <a:avLst/>
          </a:prstGeom>
          <a:noFill/>
        </p:spPr>
        <p:txBody>
          <a:bodyPr wrap="square">
            <a:noAutofit/>
          </a:bodyPr>
          <a:lstStyle/>
          <a:p>
            <a:pPr/>
            <a:r>
              <a:rPr lang="en-MY" sz="2000" b="1" i="1" dirty="0">
                <a:solidFill>
                  <a:schemeClr val="tx1">
                    <a:lumMod val="85000"/>
                    <a:lumOff val="15000"/>
                  </a:schemeClr>
                </a:solidFill>
              </a:rPr>
              <a:t>BBQ Pit</a:t>
            </a:r>
          </a:p>
        </p:txBody>
      </p:sp>
      <p:sp>
        <p:nvSpPr>
          <p:cNvPr id="21" name="Sub"/>
          <p:cNvSpPr txBox="1"/>
          <p:nvPr/>
        </p:nvSpPr>
        <p:spPr>
          <a:xfrm>
            <a:off x="723930" y="1572768"/>
            <a:ext cx="10744200" cy="329184"/>
          </a:xfrm>
          <a:prstGeom prst="rect">
            <a:avLst/>
          </a:prstGeom>
          <a:noFill/>
        </p:spPr>
        <p:txBody>
          <a:bodyPr wrap="square">
            <a:noAutofit/>
          </a:bodyPr>
          <a:lstStyle/>
          <a:p>
            <a:pPr/>
            <a:r>
              <a:rPr lang="en-MY" sz="1400" b="1" i="1" dirty="0">
                <a:solidFill>
                  <a:srgbClr val="7F6000"/>
                </a:solidFill>
              </a:rPr>
              <a:t>BBQ Pit</a:t>
            </a:r>
            <a:r>
              <a:rPr lang="en-MY" sz="1400" b="1" dirty="0">
                <a:solidFill>
                  <a:srgbClr val="7F6000"/>
                </a:solidFill>
              </a:rPr>
              <a:t> Struktur Kekal</a:t>
            </a:r>
          </a:p>
        </p:txBody>
      </p:sp>
      <p:sp>
        <p:nvSpPr>
          <p:cNvPr id="25" name="Instr"/>
          <p:cNvSpPr txBox="1"/>
          <p:nvPr/>
        </p:nvSpPr>
        <p:spPr>
          <a:xfrm>
            <a:off x="723930" y="1920240"/>
            <a:ext cx="10744200" cy="365760"/>
          </a:xfrm>
          <a:prstGeom prst="rect">
            <a:avLst/>
          </a:prstGeom>
          <a:noFill/>
        </p:spPr>
        <p:txBody>
          <a:bodyPr wrap="square">
            <a:noAutofit/>
          </a:bodyPr>
          <a:lstStyle/>
          <a:p>
            <a:pPr algn="ctr"/>
            <a:r>
              <a:rPr lang="en-MY" sz="1500" dirty="0">
                <a:solidFill>
                  <a:schemeClr val="tx1">
                    <a:lumMod val="85000"/>
                    <a:lumOff val="15000"/>
                  </a:schemeClr>
                </a:solidFill>
              </a:rPr>
              <a:t>Klik pada setiap kategori untuk penjelasan lanjut.</a:t>
            </a:r>
          </a:p>
        </p:txBody>
      </p:sp>
      <p:sp>
        <p:nvSpPr>
          <p:cNvPr id="40" name="ItemCard"/>
          <p:cNvSpPr txBox="1"/>
          <p:nvPr/>
        </p:nvSpPr>
        <p:spPr>
          <a:xfrm>
            <a:off x="723885"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Bahan Pembinaan</a:t>
            </a:r>
          </a:p>
        </p:txBody>
      </p:sp>
      <p:sp>
        <p:nvSpPr>
          <p:cNvPr id="41" name="Tick"/>
          <p:cNvSpPr/>
          <p:nvPr/>
        </p:nvSpPr>
        <p:spPr>
          <a:xfrm>
            <a:off x="2719563"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2" name="ItemCard"/>
          <p:cNvSpPr txBox="1"/>
          <p:nvPr/>
        </p:nvSpPr>
        <p:spPr>
          <a:xfrm>
            <a:off x="3505947"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Dimensi</a:t>
            </a:r>
          </a:p>
        </p:txBody>
      </p:sp>
      <p:sp>
        <p:nvSpPr>
          <p:cNvPr id="43" name="Tick"/>
          <p:cNvSpPr/>
          <p:nvPr/>
        </p:nvSpPr>
        <p:spPr>
          <a:xfrm>
            <a:off x="5501625"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4" name="ItemCard"/>
          <p:cNvSpPr txBox="1"/>
          <p:nvPr/>
        </p:nvSpPr>
        <p:spPr>
          <a:xfrm>
            <a:off x="6288009"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Gril</a:t>
            </a:r>
          </a:p>
        </p:txBody>
      </p:sp>
      <p:sp>
        <p:nvSpPr>
          <p:cNvPr id="45" name="Tick"/>
          <p:cNvSpPr/>
          <p:nvPr/>
        </p:nvSpPr>
        <p:spPr>
          <a:xfrm>
            <a:off x="8283687"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46" name="ItemCard"/>
          <p:cNvSpPr txBox="1"/>
          <p:nvPr/>
        </p:nvSpPr>
        <p:spPr>
          <a:xfrm>
            <a:off x="9070071" y="2450592"/>
            <a:ext cx="2398014" cy="1481328"/>
          </a:xfrm>
          <a:prstGeom prst="rect">
            <a:avLst/>
          </a:prstGeom>
          <a:solidFill>
            <a:srgbClr val="E8F5E9"/>
          </a:solidFill>
          <a:ln w="28575">
            <a:solidFill>
              <a:srgbClr val="2E7D32"/>
            </a:solidFill>
          </a:ln>
        </p:spPr>
        <p:txBody>
          <a:bodyPr wrap="square" anchor="ctr">
            <a:noAutofit/>
          </a:bodyPr>
          <a:lstStyle/>
          <a:p>
            <a:pPr algn="ctr"/>
            <a:r>
              <a:rPr lang="en-MY" sz="1500" b="1" dirty="0">
                <a:solidFill>
                  <a:schemeClr val="tx1">
                    <a:lumMod val="85000"/>
                    <a:lumOff val="15000"/>
                  </a:schemeClr>
                </a:solidFill>
              </a:rPr>
              <a:t>Keselamatan</a:t>
            </a:r>
          </a:p>
        </p:txBody>
      </p:sp>
      <p:sp>
        <p:nvSpPr>
          <p:cNvPr id="47" name="Tick"/>
          <p:cNvSpPr/>
          <p:nvPr/>
        </p:nvSpPr>
        <p:spPr>
          <a:xfrm>
            <a:off x="11065749" y="2532888"/>
            <a:ext cx="292608" cy="292608"/>
          </a:xfrm>
          <a:custGeom>
            <a:avLst/>
            <a:gdLst/>
            <a:ahLst/>
            <a:cxnLst/>
            <a:rect l="0" t="0" r="r" b="b"/>
            <a:pathLst>
              <a:path w="960" h="960">
                <a:moveTo>
                  <a:pt x="861" y="158"/>
                </a:moveTo>
                <a:lnTo>
                  <a:pt x="349" y="642"/>
                </a:lnTo>
                <a:lnTo>
                  <a:pt x="103" y="390"/>
                </a:lnTo>
                <a:lnTo>
                  <a:pt x="18" y="471"/>
                </a:lnTo>
                <a:lnTo>
                  <a:pt x="345" y="807"/>
                </a:lnTo>
                <a:lnTo>
                  <a:pt x="431" y="727"/>
                </a:lnTo>
                <a:lnTo>
                  <a:pt x="942" y="242"/>
                </a:lnTo>
                <a:close/>
              </a:path>
            </a:pathLst>
          </a:custGeom>
          <a:solidFill>
            <a:srgbClr val="2E7D32"/>
          </a:solidFill>
          <a:ln>
            <a:noFill/>
          </a:ln>
        </p:spPr>
        <p:txBody>
          <a:bodyPr/>
          <a:lstStyle/>
          <a:p>
            <a:endParaRPr lang="en-MY"/>
          </a:p>
        </p:txBody>
      </p:sp>
      <p:sp>
        <p:nvSpPr>
          <p:cNvPr id="300" name="OverviewHead"/>
          <p:cNvSpPr txBox="1"/>
          <p:nvPr/>
        </p:nvSpPr>
        <p:spPr>
          <a:xfrm>
            <a:off x="723930" y="4974336"/>
            <a:ext cx="10744200" cy="201168"/>
          </a:xfrm>
          <a:prstGeom prst="rect">
            <a:avLst/>
          </a:prstGeom>
          <a:noFill/>
        </p:spPr>
        <p:txBody>
          <a:bodyPr wrap="square">
            <a:noAutofit/>
          </a:bodyPr>
          <a:lstStyle/>
          <a:p>
            <a:pPr/>
            <a:r>
              <a:rPr lang="en-MY" sz="850" b="1" dirty="0">
                <a:solidFill>
                  <a:srgbClr val="7F6000"/>
                </a:solidFill>
              </a:rPr>
              <a:t>ARAHAN VISUAL — OVERVIEW KOMPONEN (TIDAK DIBENAMKAN)</a:t>
            </a:r>
          </a:p>
        </p:txBody>
      </p:sp>
      <p:sp>
        <p:nvSpPr>
          <p:cNvPr id="301" name="OverviewCard"/>
          <p:cNvSpPr txBox="1"/>
          <p:nvPr/>
        </p:nvSpPr>
        <p:spPr>
          <a:xfrm>
            <a:off x="723930" y="5212080"/>
            <a:ext cx="2377440" cy="870509"/>
          </a:xfrm>
          <a:prstGeom prst="rect">
            <a:avLst/>
          </a:prstGeom>
          <a:solidFill>
            <a:srgbClr val="F7F7F7"/>
          </a:solidFill>
          <a:ln w="12700">
            <a:solidFill>
              <a:srgbClr val="BFBFBF"/>
            </a:solidFill>
          </a:ln>
        </p:spPr>
        <p:txBody>
          <a:bodyPr wrap="square">
            <a:noAutofit/>
          </a:bodyPr>
          <a:lstStyle/>
        </p:txBody>
      </p:sp>
      <p:sp>
        <p:nvSpPr>
          <p:cNvPr id="302" name="OverviewSubject"/>
          <p:cNvSpPr txBox="1"/>
          <p:nvPr/>
        </p:nvSpPr>
        <p:spPr>
          <a:xfrm>
            <a:off x="815370" y="5266944"/>
            <a:ext cx="2194560" cy="193853"/>
          </a:xfrm>
          <a:prstGeom prst="rect">
            <a:avLst/>
          </a:prstGeom>
          <a:noFill/>
        </p:spPr>
        <p:txBody>
          <a:bodyPr wrap="square">
            <a:noAutofit/>
          </a:bodyPr>
          <a:lstStyle/>
          <a:p>
            <a:pPr/>
            <a:r>
              <a:rPr lang="en-MY" sz="900" b="1" i="1" dirty="0">
                <a:solidFill>
                  <a:schemeClr val="tx1">
                    <a:lumMod val="85000"/>
                    <a:lumOff val="15000"/>
                  </a:schemeClr>
                </a:solidFill>
              </a:rPr>
              <a:t>BBQ Pit</a:t>
            </a:r>
            <a:r>
              <a:rPr lang="en-MY" sz="900" b="1" dirty="0">
                <a:solidFill>
                  <a:schemeClr val="tx1">
                    <a:lumMod val="85000"/>
                    <a:lumOff val="15000"/>
                  </a:schemeClr>
                </a:solidFill>
              </a:rPr>
              <a:t> Struktur Kekal</a:t>
            </a:r>
          </a:p>
        </p:txBody>
      </p:sp>
      <p:sp>
        <p:nvSpPr>
          <p:cNvPr id="303" name="OverviewDir"/>
          <p:cNvSpPr txBox="1"/>
          <p:nvPr/>
        </p:nvSpPr>
        <p:spPr>
          <a:xfrm>
            <a:off x="815370" y="5497373"/>
            <a:ext cx="2194560" cy="512064"/>
          </a:xfrm>
          <a:prstGeom prst="rect">
            <a:avLst/>
          </a:prstGeom>
          <a:noFill/>
        </p:spPr>
        <p:txBody>
          <a:bodyPr wrap="square">
            <a:noAutofit/>
          </a:bodyPr>
          <a:lstStyle/>
          <a:p>
            <a:pPr/>
            <a:r>
              <a:rPr lang="en-MY" sz="750" dirty="0">
                <a:solidFill>
                  <a:srgbClr val="808080"/>
                </a:solidFill>
              </a:rPr>
              <a:t>[Visual: Foto jadual spesifikasi BBQ Pit</a:t>
            </a:r>
          </a:p>
          <a:p>
            <a:pPr/>
            <a:r>
              <a:rPr lang="en-MY" sz="750" dirty="0">
                <a:solidFill>
                  <a:srgbClr val="808080"/>
                </a:solidFill>
              </a:rPr>
              <a:t>Struktur Kekal, modul ms 249. Aset</a:t>
            </a:r>
          </a:p>
          <a:p>
            <a:pPr/>
            <a:r>
              <a:rPr lang="en-MY" sz="750" dirty="0">
                <a:solidFill>
                  <a:srgbClr val="808080"/>
                </a:solidFill>
              </a:rPr>
              <a:t>K5PL06T03-B02-IMG-p249-x57. Tidak</a:t>
            </a:r>
          </a:p>
          <a:p>
            <a:pPr/>
            <a:r>
              <a:rPr lang="en-MY" sz="750" dirty="0">
                <a:solidFill>
                  <a:srgbClr val="808080"/>
                </a:solidFill>
              </a:rPr>
              <a:t>dibenamkan.]</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BBQ Pit — penerangan + senarai spesifikasi</a:t>
            </a:r>
          </a:p>
          <a:p>
            <a:r>
              <a:rPr lang="en-MY" sz="900" dirty="0">
                <a:solidFill>
                  <a:schemeClr val="tx1">
                    <a:lumMod val="85000"/>
                    <a:lumOff val="15000"/>
                  </a:schemeClr>
                </a:solidFill>
              </a:rPr>
              <a:t>KELUARGA PELAKSANAAN: FAMILY_P2</a:t>
            </a:r>
          </a:p>
          <a:p>
            <a:r>
              <a:rPr lang="en-MY" sz="900" dirty="0">
                <a:solidFill>
                  <a:schemeClr val="tx1">
                    <a:lumMod val="85000"/>
                    <a:lumOff val="15000"/>
                  </a:schemeClr>
                </a:solidFill>
              </a:rPr>
              <a:t>PERANAN HALAMAN SEMAKAN: COMPONENT_SPEC_LIST_ALL_VIEWED</a:t>
            </a:r>
          </a:p>
          <a:p>
            <a:r>
              <a:rPr lang="en-MY" sz="900" dirty="0">
                <a:solidFill>
                  <a:schemeClr val="tx1">
                    <a:lumMod val="85000"/>
                    <a:lumOff val="15000"/>
                  </a:schemeClr>
                </a:solidFill>
              </a:rPr>
              <a:t/>
            </a:r>
          </a:p>
          <a:p>
            <a:r>
              <a:rPr lang="en-MY" sz="900" dirty="0">
                <a:solidFill>
                  <a:schemeClr val="tx1">
                    <a:lumMod val="85000"/>
                    <a:lumOff val="15000"/>
                  </a:schemeClr>
                </a:solidFill>
              </a:rPr>
              <a:t>BUKTI: component complete</a:t>
            </a:r>
          </a:p>
          <a:p>
            <a:r>
              <a:rPr lang="en-MY" sz="900" dirty="0">
                <a:solidFill>
                  <a:schemeClr val="tx1">
                    <a:lumMod val="85000"/>
                    <a:lumOff val="15000"/>
                  </a:schemeClr>
                </a:solidFill>
              </a:rPr>
              <a:t>POLISI NOTA: SILENT_STATE_NOTES  (SILENT)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[enabled — component 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COMPONENT</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1</a:t>
            </a:r>
          </a:p>
          <a:p>
            <a:r>
              <a:rPr lang="en-MY" sz="900" dirty="0">
                <a:solidFill>
                  <a:schemeClr val="tx1">
                    <a:lumMod val="85000"/>
                    <a:lumOff val="15000"/>
                  </a:schemeClr>
                </a:solidFill>
              </a:rPr>
              <a:t>INDUK: SCR_BBQ_PIT_MAIN</a:t>
            </a:r>
          </a:p>
          <a:p>
            <a:r>
              <a:rPr lang="en-MY" sz="900" b="1" dirty="0">
                <a:solidFill>
                  <a:schemeClr val="tx1">
                    <a:lumMod val="85000"/>
                    <a:lumOff val="15000"/>
                  </a:schemeClr>
                </a:solidFill>
              </a:rPr>
              <a:t>SUMBER:</a:t>
            </a:r>
          </a:p>
          <a:p>
            <a:r>
              <a:rPr lang="en-MY" sz="900" dirty="0">
                <a:solidFill>
                  <a:schemeClr val="tx1">
                    <a:lumMod val="85000"/>
                    <a:lumOff val="15000"/>
                  </a:schemeClr>
                </a:solidFill>
              </a:rPr>
              <a:t>  K5-PL06-T03-B02-BBQ-PIT-ROW-01</a:t>
            </a:r>
          </a:p>
          <a:p>
            <a:r>
              <a:rPr lang="en-MY" sz="900" dirty="0">
                <a:solidFill>
                  <a:schemeClr val="tx1">
                    <a:lumMod val="85000"/>
                    <a:lumOff val="15000"/>
                  </a:schemeClr>
                </a:solidFill>
              </a:rPr>
              <a:t>    ms 249 / fizikal 268</a:t>
            </a:r>
          </a:p>
          <a:p>
            <a:r>
              <a:rPr lang="en-MY" sz="900" b="1" dirty="0">
                <a:solidFill>
                  <a:schemeClr val="tx1">
                    <a:lumMod val="85000"/>
                    <a:lumOff val="15000"/>
                  </a:schemeClr>
                </a:solidFill>
              </a:rPr>
              <a:t>ITEM INTERAKSI:</a:t>
            </a:r>
          </a:p>
          <a:p>
            <a:r>
              <a:rPr lang="en-MY" sz="900" dirty="0">
                <a:solidFill>
                  <a:schemeClr val="tx1">
                    <a:lumMod val="85000"/>
                    <a:lumOff val="15000"/>
                  </a:schemeClr>
                </a:solidFill>
              </a:rPr>
              <a:t>  II_BBQ_PIT_CAT01  &lt;-  K5-PL06-T03-B02-BBQ-PIT-ROW-01</a:t>
            </a:r>
          </a:p>
          <a:p>
            <a:r>
              <a:rPr lang="en-MY" sz="900" dirty="0">
                <a:solidFill>
                  <a:schemeClr val="tx1">
                    <a:lumMod val="85000"/>
                    <a:lumOff val="15000"/>
                  </a:schemeClr>
                </a:solidFill>
              </a:rPr>
              <a:t>  II_BBQ_PIT_CAT02  &lt;-  K5-PL06-T03-B02-BBQ-PIT-ROW-01</a:t>
            </a:r>
          </a:p>
          <a:p>
            <a:r>
              <a:rPr lang="en-MY" sz="900" dirty="0">
                <a:solidFill>
                  <a:schemeClr val="tx1">
                    <a:lumMod val="85000"/>
                    <a:lumOff val="15000"/>
                  </a:schemeClr>
                </a:solidFill>
              </a:rPr>
              <a:t>  II_BBQ_PIT_CAT03  &lt;-  K5-PL06-T03-B02-BBQ-PIT-ROW-01</a:t>
            </a:r>
          </a:p>
          <a:p>
            <a:r>
              <a:rPr lang="en-MY" sz="900" dirty="0">
                <a:solidFill>
                  <a:schemeClr val="tx1">
                    <a:lumMod val="85000"/>
                    <a:lumOff val="15000"/>
                  </a:schemeClr>
                </a:solidFill>
              </a:rPr>
              <a:t>  II_BBQ_PIT_CAT04  &lt;-  K5-PL06-T03-B02-BBQ-PIT-ROW-01</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Klik kategori spesifikasi = Level 1. Membuka popup (STATE).</a:t>
            </a:r>
          </a:p>
          <a:p>
            <a:r>
              <a:rPr lang="en-MY" sz="900" dirty="0">
                <a:solidFill>
                  <a:schemeClr val="tx1">
                    <a:lumMod val="85000"/>
                    <a:lumOff val="15000"/>
                  </a:schemeClr>
                </a:solidFill>
              </a:rPr>
              <a:t>  Ikon tutup kembali ke senarai spesifikasi (None).</a:t>
            </a:r>
          </a:p>
          <a:p>
            <a:r>
              <a:rPr lang="en-MY" sz="900" dirty="0">
                <a:solidFill>
                  <a:schemeClr val="tx1">
                    <a:lumMod val="85000"/>
                    <a:lumOff val="15000"/>
                  </a:schemeClr>
                </a:solidFill>
              </a:rPr>
              <a:t>  TIADA skrin Contoh satu item untuk komponen ini.</a:t>
            </a:r>
          </a:p>
          <a:p>
            <a:r>
              <a:rPr lang="en-MY" sz="900" dirty="0">
                <a:solidFill>
                  <a:schemeClr val="tx1">
                    <a:lumMod val="85000"/>
                    <a:lumOff val="15000"/>
                  </a:schemeClr>
                </a:solidFill>
              </a:rPr>
              <a:t>  4/4 kategori dilihat.</a:t>
            </a:r>
          </a:p>
          <a:p>
            <a:r>
              <a:rPr lang="en-MY" sz="900" b="1" dirty="0">
                <a:solidFill>
                  <a:schemeClr val="tx1">
                    <a:lumMod val="85000"/>
                    <a:lumOff val="15000"/>
                  </a:schemeClr>
                </a:solidFill>
              </a:rPr>
              <a:t>IDENTITI SUMBER:</a:t>
            </a:r>
          </a:p>
          <a:p>
            <a:r>
              <a:rPr lang="en-MY" sz="900" dirty="0">
                <a:solidFill>
                  <a:schemeClr val="tx1">
                    <a:lumMod val="85000"/>
                    <a:lumOff val="15000"/>
                  </a:schemeClr>
                </a:solidFill>
              </a:rPr>
              <a:t>  4 kategori interaksi daripada SATU baris sumber: K5-PL06-T03-B02-BBQ-PIT-ROW-01</a:t>
            </a:r>
          </a:p>
          <a:p>
            <a:r>
              <a:rPr lang="en-MY" sz="900" dirty="0">
                <a:solidFill>
                  <a:schemeClr val="tx1">
                    <a:lumMod val="85000"/>
                    <a:lumOff val="15000"/>
                  </a:schemeClr>
                </a:solidFill>
              </a:rPr>
              <a:t>  Tiada baris sumber baharu dicipta.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COMPLETION_STATE</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B02-D-03, B02-D-07</a:t>
            </a:r>
          </a:p>
          <a:p>
            <a:r>
              <a:rPr lang="en-MY" sz="900" dirty="0">
                <a:solidFill>
                  <a:schemeClr val="tx1">
                    <a:lumMod val="85000"/>
                    <a:lumOff val="15000"/>
                  </a:schemeClr>
                </a:solidFill>
              </a:rPr>
              <a:t>STATUS BELUM SELESAI: NONE</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Rumusan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Rumusan</a:t>
            </a:r>
          </a:p>
        </p:txBody>
      </p:sp>
      <p:sp>
        <p:nvSpPr>
          <p:cNvPr id="30" name="VisualDir"/>
          <p:cNvSpPr txBox="1"/>
          <p:nvPr/>
        </p:nvSpPr>
        <p:spPr>
          <a:xfrm>
            <a:off x="723930" y="1188720"/>
            <a:ext cx="10744200" cy="877824"/>
          </a:xfrm>
          <a:prstGeom prst="rect">
            <a:avLst/>
          </a:prstGeom>
          <a:noFill/>
        </p:spPr>
        <p:txBody>
          <a:bodyPr wrap="square">
            <a:noAutofit/>
          </a:bodyPr>
          <a:lstStyle/>
          <a:p>
            <a:pPr/>
            <a:r>
              <a:rPr lang="en-MY" sz="1100" dirty="0">
                <a:solidFill>
                  <a:srgbClr val="808080"/>
                </a:solidFill>
              </a:rPr>
              <a:t>ARAHAN VISUAL</a:t>
            </a:r>
          </a:p>
          <a:p>
            <a:pPr/>
            <a:r>
              <a:rPr lang="en-MY" sz="1100" dirty="0">
                <a:solidFill>
                  <a:srgbClr val="808080"/>
                </a:solidFill>
              </a:rPr>
              <a:t>[Visual: Papan rumusan — dua kumpulan komponen bersebelahan,</a:t>
            </a:r>
          </a:p>
          <a:p>
            <a:pPr/>
            <a:r>
              <a:rPr lang="en-MY" sz="1100" dirty="0">
                <a:solidFill>
                  <a:srgbClr val="808080"/>
                </a:solidFill>
              </a:rPr>
              <a:t>empat dan lima item. Tidak dibenamkan.]</a:t>
            </a:r>
          </a:p>
        </p:txBody>
      </p:sp>
      <p:sp>
        <p:nvSpPr>
          <p:cNvPr id="40" name="RumLine"/>
          <p:cNvSpPr txBox="1"/>
          <p:nvPr/>
        </p:nvSpPr>
        <p:spPr>
          <a:xfrm>
            <a:off x="723930" y="2011680"/>
            <a:ext cx="10744200" cy="640080"/>
          </a:xfrm>
          <a:prstGeom prst="rect">
            <a:avLst/>
          </a:prstGeom>
          <a:noFill/>
        </p:spPr>
        <p:txBody>
          <a:bodyPr wrap="square">
            <a:noAutofit/>
          </a:bodyPr>
          <a:lstStyle/>
          <a:p>
            <a:pPr/>
            <a:r>
              <a:rPr lang="en-MY" sz="1450" dirty="0">
                <a:solidFill>
                  <a:schemeClr val="tx1">
                    <a:lumMod val="85000"/>
                    <a:lumOff val="15000"/>
                  </a:schemeClr>
                </a:solidFill>
              </a:rPr>
              <a:t>Mengenal pasti struktur dan elemen landskap - kerja pembinaan, penyeliaan dan penyelenggaraan</a:t>
            </a:r>
          </a:p>
          <a:p>
            <a:pPr/>
            <a:r>
              <a:rPr lang="en-MY" sz="1450" dirty="0">
                <a:solidFill>
                  <a:schemeClr val="tx1">
                    <a:lumMod val="85000"/>
                    <a:lumOff val="15000"/>
                  </a:schemeClr>
                </a:solidFill>
              </a:rPr>
              <a:t>dirancang dengan tepat</a:t>
            </a:r>
          </a:p>
        </p:txBody>
      </p:sp>
      <p:sp>
        <p:nvSpPr>
          <p:cNvPr id="41" name="RumLine"/>
          <p:cNvSpPr txBox="1"/>
          <p:nvPr/>
        </p:nvSpPr>
        <p:spPr>
          <a:xfrm>
            <a:off x="723930" y="2889504"/>
            <a:ext cx="10744200" cy="365760"/>
          </a:xfrm>
          <a:prstGeom prst="rect">
            <a:avLst/>
          </a:prstGeom>
          <a:noFill/>
        </p:spPr>
        <p:txBody>
          <a:bodyPr wrap="square">
            <a:noAutofit/>
          </a:bodyPr>
          <a:lstStyle/>
          <a:p>
            <a:pPr/>
            <a:r>
              <a:rPr lang="en-MY" sz="1450" dirty="0">
                <a:solidFill>
                  <a:schemeClr val="tx1">
                    <a:lumMod val="85000"/>
                    <a:lumOff val="15000"/>
                  </a:schemeClr>
                </a:solidFill>
              </a:rPr>
              <a:t>Struktur Taman - Struktur Persisir Air, Struktur Teduhan, Kemudahan Awam, </a:t>
            </a:r>
            <a:r>
              <a:rPr lang="en-MY" sz="1450" i="1" dirty="0">
                <a:solidFill>
                  <a:schemeClr val="tx1">
                    <a:lumMod val="85000"/>
                    <a:lumOff val="15000"/>
                  </a:schemeClr>
                </a:solidFill>
              </a:rPr>
              <a:t>Water Feature</a:t>
            </a:r>
          </a:p>
        </p:txBody>
      </p:sp>
      <p:sp>
        <p:nvSpPr>
          <p:cNvPr id="42" name="RumLine"/>
          <p:cNvSpPr txBox="1"/>
          <p:nvPr/>
        </p:nvSpPr>
        <p:spPr>
          <a:xfrm>
            <a:off x="723930" y="3493008"/>
            <a:ext cx="10744200" cy="365760"/>
          </a:xfrm>
          <a:prstGeom prst="rect">
            <a:avLst/>
          </a:prstGeom>
          <a:noFill/>
        </p:spPr>
        <p:txBody>
          <a:bodyPr wrap="square">
            <a:noAutofit/>
          </a:bodyPr>
          <a:lstStyle/>
          <a:p>
            <a:pPr/>
            <a:r>
              <a:rPr lang="en-MY" sz="1450" dirty="0">
                <a:solidFill>
                  <a:schemeClr val="tx1">
                    <a:lumMod val="85000"/>
                    <a:lumOff val="15000"/>
                  </a:schemeClr>
                </a:solidFill>
              </a:rPr>
              <a:t>Perabot Taman - Kerusi Taman, Papan Tanda, Tong Sampah, </a:t>
            </a:r>
            <a:r>
              <a:rPr lang="en-MY" sz="1450" i="1" dirty="0">
                <a:solidFill>
                  <a:schemeClr val="tx1">
                    <a:lumMod val="85000"/>
                    <a:lumOff val="15000"/>
                  </a:schemeClr>
                </a:solidFill>
              </a:rPr>
              <a:t>Drinking Fountain</a:t>
            </a:r>
            <a:r>
              <a:rPr lang="en-MY" sz="1450" dirty="0">
                <a:solidFill>
                  <a:schemeClr val="tx1">
                    <a:lumMod val="85000"/>
                    <a:lumOff val="15000"/>
                  </a:schemeClr>
                </a:solidFill>
              </a:rPr>
              <a:t> dan </a:t>
            </a:r>
            <a:r>
              <a:rPr lang="en-MY" sz="1450" i="1" dirty="0">
                <a:solidFill>
                  <a:schemeClr val="tx1">
                    <a:lumMod val="85000"/>
                    <a:lumOff val="15000"/>
                  </a:schemeClr>
                </a:solidFill>
              </a:rPr>
              <a:t>BBQ Pit</a:t>
            </a:r>
          </a:p>
        </p:txBody>
      </p:sp>
      <p:sp>
        <p:nvSpPr>
          <p:cNvPr id="43" name="RumLine"/>
          <p:cNvSpPr txBox="1"/>
          <p:nvPr/>
        </p:nvSpPr>
        <p:spPr>
          <a:xfrm>
            <a:off x="723930" y="4096512"/>
            <a:ext cx="10744200" cy="640080"/>
          </a:xfrm>
          <a:prstGeom prst="rect">
            <a:avLst/>
          </a:prstGeom>
          <a:noFill/>
        </p:spPr>
        <p:txBody>
          <a:bodyPr wrap="square">
            <a:noAutofit/>
          </a:bodyPr>
          <a:lstStyle/>
          <a:p>
            <a:pPr/>
            <a:r>
              <a:rPr lang="en-MY" sz="1450" dirty="0">
                <a:solidFill>
                  <a:schemeClr val="tx1">
                    <a:lumMod val="85000"/>
                    <a:lumOff val="15000"/>
                  </a:schemeClr>
                </a:solidFill>
              </a:rPr>
              <a:t>Kontraktor dapat merancang, melaksana dan menyelenggara setiap komponen landskap mengikut</a:t>
            </a:r>
          </a:p>
          <a:p>
            <a:pPr/>
            <a:r>
              <a:rPr lang="en-MY" sz="1450" dirty="0">
                <a:solidFill>
                  <a:schemeClr val="tx1">
                    <a:lumMod val="85000"/>
                    <a:lumOff val="15000"/>
                  </a:schemeClr>
                </a:solidFill>
              </a:rPr>
              <a:t>fungsinya di tapak</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Rumusan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FRAME_SUMMARY_BASE</a:t>
            </a:r>
          </a:p>
          <a:p>
            <a:r>
              <a:rPr lang="en-MY" sz="900" dirty="0">
                <a:solidFill>
                  <a:schemeClr val="tx1">
                    <a:lumMod val="85000"/>
                    <a:lumOff val="15000"/>
                  </a:schemeClr>
                </a:solidFill>
              </a:rPr>
              <a:t/>
            </a:r>
          </a:p>
          <a:p>
            <a:r>
              <a:rPr lang="en-MY" sz="900" dirty="0">
                <a:solidFill>
                  <a:schemeClr val="tx1">
                    <a:lumMod val="85000"/>
                    <a:lumOff val="15000"/>
                  </a:schemeClr>
                </a:solidFill>
              </a:rPr>
              <a:t>BUKTI: frame screen</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[vo_complete]</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SCR_RUMUSAN</a:t>
            </a:r>
          </a:p>
          <a:p>
            <a:r>
              <a:rPr lang="en-MY" sz="900" b="1" dirty="0">
                <a:solidFill>
                  <a:schemeClr val="tx1">
                    <a:lumMod val="85000"/>
                    <a:lumOff val="15000"/>
                  </a:schemeClr>
                </a:solidFill>
              </a:rPr>
              <a:t>INTERAKSI:</a:t>
            </a:r>
          </a:p>
          <a:p>
            <a:r>
              <a:rPr lang="en-MY" sz="900" dirty="0">
                <a:solidFill>
                  <a:schemeClr val="tx1">
                    <a:lumMod val="85000"/>
                    <a:lumOff val="15000"/>
                  </a:schemeClr>
                </a:solidFill>
              </a:rPr>
              <a:t>  Tiada. Rumusan aras Bahagian.</a:t>
            </a:r>
          </a:p>
          <a:p>
            <a:r>
              <a:rPr lang="en-MY" sz="900" b="1" dirty="0">
                <a:solidFill>
                  <a:schemeClr val="tx1">
                    <a:lumMod val="85000"/>
                    <a:lumOff val="15000"/>
                  </a:schemeClr>
                </a:solidFill>
              </a:rPr>
              <a:t>LABEL DILARANG DIPAPARKAN:</a:t>
            </a:r>
          </a:p>
          <a:p>
            <a:r>
              <a:rPr lang="en-MY" sz="900" dirty="0">
                <a:solidFill>
                  <a:schemeClr val="tx1">
                    <a:lumMod val="85000"/>
                    <a:lumOff val="15000"/>
                  </a:schemeClr>
                </a:solidFill>
              </a:rPr>
              <a:t>  Kepentingan, Isi Utama, Apa Yang Dipelajari, Manfaat</a:t>
            </a:r>
          </a:p>
          <a:p>
            <a:r>
              <a:rPr lang="en-MY" sz="900" b="1" dirty="0">
                <a:solidFill>
                  <a:schemeClr val="tx1">
                    <a:lumMod val="85000"/>
                    <a:lumOff val="15000"/>
                  </a:schemeClr>
                </a:solidFill>
              </a:rPr>
              <a:t>NOTA PRODUKSI:</a:t>
            </a:r>
          </a:p>
          <a:p>
            <a:r>
              <a:rPr lang="en-MY" sz="900" dirty="0">
                <a:solidFill>
                  <a:schemeClr val="tx1">
                    <a:lumMod val="85000"/>
                    <a:lumOff val="15000"/>
                  </a:schemeClr>
                </a:solidFill>
              </a:rPr>
              <a:t>  VO omits the redundant opening label "Komponen Landskap — Struktur Taman dan Perabot Taman."</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FRAME_SCREEN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B02-D-09</a:t>
            </a:r>
          </a:p>
          <a:p>
            <a:r>
              <a:rPr lang="en-MY" sz="900" dirty="0">
                <a:solidFill>
                  <a:schemeClr val="tx1">
                    <a:lumMod val="85000"/>
                    <a:lumOff val="15000"/>
                  </a:schemeClr>
                </a:solidFill>
              </a:rPr>
              <a:t>STATUS BELUM SELESAI: NONE</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Kuiz</a:t>
            </a:r>
          </a:p>
        </p:txBody>
      </p:sp>
      <p:sp>
        <p:nvSpPr>
          <p:cNvPr id="20" name="Strap"/>
          <p:cNvSpPr txBox="1"/>
          <p:nvPr/>
        </p:nvSpPr>
        <p:spPr>
          <a:xfrm>
            <a:off x="723930" y="1152144"/>
            <a:ext cx="10744200" cy="329184"/>
          </a:xfrm>
          <a:prstGeom prst="rect">
            <a:avLst/>
          </a:prstGeom>
          <a:noFill/>
        </p:spPr>
        <p:txBody>
          <a:bodyPr wrap="square">
            <a:noAutofit/>
          </a:bodyPr>
          <a:lstStyle/>
          <a:p>
            <a:pPr/>
            <a:r>
              <a:rPr lang="en-MY" sz="1300" dirty="0">
                <a:solidFill>
                  <a:srgbClr val="7F6000"/>
                </a:solidFill>
              </a:rPr>
              <a:t>5 soalan — 4 MCQ + 1 Multiple Response   ·   Lulus: 3/5 = 60%</a:t>
            </a:r>
          </a:p>
        </p:txBody>
      </p:sp>
      <p:sp>
        <p:nvSpPr>
          <p:cNvPr id="30" name="Purpose"/>
          <p:cNvSpPr txBox="1"/>
          <p:nvPr/>
        </p:nvSpPr>
        <p:spPr>
          <a:xfrm>
            <a:off x="723930" y="1700784"/>
            <a:ext cx="10744200" cy="658368"/>
          </a:xfrm>
          <a:prstGeom prst="rect">
            <a:avLst/>
          </a:prstGeom>
          <a:noFill/>
        </p:spPr>
        <p:txBody>
          <a:bodyPr wrap="square">
            <a:noAutofit/>
          </a:bodyPr>
          <a:lstStyle/>
          <a:p>
            <a:pPr/>
            <a:r>
              <a:rPr lang="en-MY" sz="1500" dirty="0">
                <a:solidFill>
                  <a:schemeClr val="tx1">
                    <a:lumMod val="85000"/>
                    <a:lumOff val="15000"/>
                  </a:schemeClr>
                </a:solidFill>
              </a:rPr>
              <a:t>Tujuan kuiz ini adalah untuk menguji kefahaman semata-mata dan bukan sebahagian daripada</a:t>
            </a:r>
          </a:p>
          <a:p>
            <a:pPr/>
            <a:r>
              <a:rPr lang="en-MY" sz="1500" dirty="0">
                <a:solidFill>
                  <a:schemeClr val="tx1">
                    <a:lumMod val="85000"/>
                    <a:lumOff val="15000"/>
                  </a:schemeClr>
                </a:solidFill>
              </a:rPr>
              <a:t>peperiksaan akhir kursus.</a:t>
            </a:r>
          </a:p>
        </p:txBody>
      </p:sp>
      <p:sp>
        <p:nvSpPr>
          <p:cNvPr id="31" name="Purpose"/>
          <p:cNvSpPr txBox="1"/>
          <p:nvPr/>
        </p:nvSpPr>
        <p:spPr>
          <a:xfrm>
            <a:off x="723930" y="2505456"/>
            <a:ext cx="10744200" cy="365760"/>
          </a:xfrm>
          <a:prstGeom prst="rect">
            <a:avLst/>
          </a:prstGeom>
          <a:noFill/>
        </p:spPr>
        <p:txBody>
          <a:bodyPr wrap="square">
            <a:noAutofit/>
          </a:bodyPr>
          <a:lstStyle/>
          <a:p>
            <a:pPr/>
            <a:r>
              <a:rPr lang="en-MY" sz="1500" dirty="0">
                <a:solidFill>
                  <a:schemeClr val="tx1">
                    <a:lumMod val="85000"/>
                    <a:lumOff val="15000"/>
                  </a:schemeClr>
                </a:solidFill>
              </a:rPr>
              <a:t>Markah tidak akan dinilai sebagai gred peperiksaan akhir kursus.</a:t>
            </a:r>
          </a:p>
        </p:txBody>
      </p:sp>
      <p:sp>
        <p:nvSpPr>
          <p:cNvPr id="40" name="Instr"/>
          <p:cNvSpPr txBox="1"/>
          <p:nvPr/>
        </p:nvSpPr>
        <p:spPr>
          <a:xfrm>
            <a:off x="723930" y="3200400"/>
            <a:ext cx="10744200" cy="365760"/>
          </a:xfrm>
          <a:prstGeom prst="rect">
            <a:avLst/>
          </a:prstGeom>
          <a:noFill/>
        </p:spPr>
        <p:txBody>
          <a:bodyPr wrap="square">
            <a:noAutofit/>
          </a:bodyPr>
          <a:lstStyle/>
          <a:p>
            <a:pPr/>
            <a:r>
              <a:rPr lang="en-MY" sz="1600" dirty="0">
                <a:solidFill>
                  <a:schemeClr val="tx1">
                    <a:lumMod val="85000"/>
                    <a:lumOff val="15000"/>
                  </a:schemeClr>
                </a:solidFill>
              </a:rPr>
              <a:t>Jawab semua soalan dengan pilihan jawapan yang betul.</a:t>
            </a:r>
          </a:p>
        </p:txBody>
      </p:sp>
      <p:sp>
        <p:nvSpPr>
          <p:cNvPr id="41" name="Instr"/>
          <p:cNvSpPr txBox="1"/>
          <p:nvPr/>
        </p:nvSpPr>
        <p:spPr>
          <a:xfrm>
            <a:off x="723930" y="3602736"/>
            <a:ext cx="10744200" cy="365760"/>
          </a:xfrm>
          <a:prstGeom prst="rect">
            <a:avLst/>
          </a:prstGeom>
          <a:noFill/>
        </p:spPr>
        <p:txBody>
          <a:bodyPr wrap="square">
            <a:noAutofit/>
          </a:bodyPr>
          <a:lstStyle/>
          <a:p>
            <a:pPr/>
            <a:r>
              <a:rPr lang="en-MY" sz="1600" b="1" dirty="0">
                <a:solidFill>
                  <a:schemeClr val="tx1">
                    <a:lumMod val="85000"/>
                    <a:lumOff val="15000"/>
                  </a:schemeClr>
                </a:solidFill>
              </a:rPr>
              <a:t>Klik Mula Kuiz untuk memulakan kuiz.</a:t>
            </a:r>
          </a:p>
        </p:txBody>
      </p:sp>
      <p:sp>
        <p:nvSpPr>
          <p:cNvPr id="50" name="Ctl"/>
          <p:cNvSpPr txBox="1"/>
          <p:nvPr/>
        </p:nvSpPr>
        <p:spPr>
          <a:xfrm>
            <a:off x="723930" y="5120640"/>
            <a:ext cx="2743200" cy="329184"/>
          </a:xfrm>
          <a:prstGeom prst="rect">
            <a:avLst/>
          </a:prstGeom>
          <a:noFill/>
        </p:spPr>
        <p:txBody>
          <a:bodyPr wrap="square">
            <a:noAutofit/>
          </a:bodyPr>
          <a:lstStyle/>
          <a:p>
            <a:pPr/>
            <a:r>
              <a:rPr lang="en-MY" sz="1300" dirty="0">
                <a:solidFill>
                  <a:srgbClr val="808080"/>
                </a:solidFill>
              </a:rPr>
              <a:t>Semak Jawapan</a:t>
            </a:r>
          </a:p>
        </p:txBody>
      </p:sp>
      <p:sp>
        <p:nvSpPr>
          <p:cNvPr id="51" name="Ctl"/>
          <p:cNvSpPr txBox="1"/>
          <p:nvPr/>
        </p:nvSpPr>
        <p:spPr>
          <a:xfrm>
            <a:off x="3650010" y="5120640"/>
            <a:ext cx="2743200" cy="329184"/>
          </a:xfrm>
          <a:prstGeom prst="rect">
            <a:avLst/>
          </a:prstGeom>
          <a:noFill/>
        </p:spPr>
        <p:txBody>
          <a:bodyPr wrap="square">
            <a:noAutofit/>
          </a:bodyPr>
          <a:lstStyle/>
          <a:p>
            <a:pPr/>
            <a:r>
              <a:rPr lang="en-MY" sz="1300" dirty="0">
                <a:solidFill>
                  <a:srgbClr val="808080"/>
                </a:solidFill>
              </a:rPr>
              <a:t>Ulang Kuiz</a:t>
            </a:r>
          </a:p>
        </p:txBody>
      </p:sp>
      <p:sp>
        <p:nvSpPr>
          <p:cNvPr id="96" name="Btn"/>
          <p:cNvSpPr txBox="1"/>
          <p:nvPr/>
        </p:nvSpPr>
        <p:spPr>
          <a:xfrm>
            <a:off x="4998705" y="6419088"/>
            <a:ext cx="219456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MULA KUIZ</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QUIZ_INTRO</a:t>
            </a:r>
          </a:p>
          <a:p>
            <a:r>
              <a:rPr lang="en-MY" sz="900" dirty="0">
                <a:solidFill>
                  <a:schemeClr val="tx1">
                    <a:lumMod val="85000"/>
                    <a:lumOff val="15000"/>
                  </a:schemeClr>
                </a:solidFill>
              </a:rPr>
              <a:t/>
            </a:r>
          </a:p>
          <a:p>
            <a:r>
              <a:rPr lang="en-MY" sz="900" dirty="0">
                <a:solidFill>
                  <a:schemeClr val="tx1">
                    <a:lumMod val="85000"/>
                    <a:lumOff val="15000"/>
                  </a:schemeClr>
                </a:solidFill>
              </a:rPr>
              <a:t>BUKTI: quiz entry</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MULA_KUIZ_BUTTON  [always_enabled]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QUIZ</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KUIZ:</a:t>
            </a:r>
          </a:p>
          <a:p>
            <a:r>
              <a:rPr lang="en-MY" sz="900" dirty="0">
                <a:solidFill>
                  <a:schemeClr val="tx1">
                    <a:lumMod val="85000"/>
                    <a:lumOff val="15000"/>
                  </a:schemeClr>
                </a:solidFill>
              </a:rPr>
              <a:t>  5 soalan — 4 MCQ + 1 Multiple Response</a:t>
            </a:r>
          </a:p>
          <a:p>
            <a:r>
              <a:rPr lang="en-MY" sz="900" dirty="0">
                <a:solidFill>
                  <a:schemeClr val="tx1">
                    <a:lumMod val="85000"/>
                    <a:lumOff val="15000"/>
                  </a:schemeClr>
                </a:solidFill>
              </a:rPr>
              <a:t>  Lulus: 3/5 = 60%   Menyekat kemajuan: TIDAK</a:t>
            </a:r>
          </a:p>
          <a:p>
            <a:r>
              <a:rPr lang="en-MY" sz="900" dirty="0">
                <a:solidFill>
                  <a:schemeClr val="tx1">
                    <a:lumMod val="85000"/>
                    <a:lumOff val="15000"/>
                  </a:schemeClr>
                </a:solidFill>
              </a:rPr>
              <a:t>  Cuba semula: voluntary — Ulang Kuiz</a:t>
            </a:r>
          </a:p>
          <a:p>
            <a:r>
              <a:rPr lang="en-MY" sz="900" dirty="0">
                <a:solidFill>
                  <a:schemeClr val="tx1">
                    <a:lumMod val="85000"/>
                    <a:lumOff val="15000"/>
                  </a:schemeClr>
                </a:solidFill>
              </a:rPr>
              <a:t>  Semakan pengetahuan sahaja, bukan gred peperiksaan akhir kursus.</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Klik Mula Kuiz untuk memulakan kuiz.</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QUIZ_INTRO</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B02-D-11</a:t>
            </a:r>
          </a:p>
          <a:p>
            <a:r>
              <a:rPr lang="en-MY" sz="900" dirty="0">
                <a:solidFill>
                  <a:schemeClr val="tx1">
                    <a:lumMod val="85000"/>
                    <a:lumOff val="15000"/>
                  </a:schemeClr>
                </a:solidFill>
              </a:rPr>
              <a:t>STATUS BELUM SELESAI: NONE</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 — Soalan 1</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Soalan 1</a:t>
            </a:r>
          </a:p>
        </p:txBody>
      </p:sp>
      <p:sp>
        <p:nvSpPr>
          <p:cNvPr id="20" name="Kind"/>
          <p:cNvSpPr txBox="1"/>
          <p:nvPr/>
        </p:nvSpPr>
        <p:spPr>
          <a:xfrm>
            <a:off x="723930" y="1152144"/>
            <a:ext cx="10744200" cy="292608"/>
          </a:xfrm>
          <a:prstGeom prst="rect">
            <a:avLst/>
          </a:prstGeom>
          <a:noFill/>
        </p:spPr>
        <p:txBody>
          <a:bodyPr wrap="square">
            <a:noAutofit/>
          </a:bodyPr>
          <a:lstStyle/>
          <a:p>
            <a:pPr/>
            <a:r>
              <a:rPr lang="en-MY" sz="1150" dirty="0">
                <a:solidFill>
                  <a:srgbClr val="808080"/>
                </a:solidFill>
              </a:rPr>
              <a:t>MCQ   ·   sumber: modul ms 238 (3.3.1)</a:t>
            </a:r>
          </a:p>
        </p:txBody>
      </p:sp>
      <p:sp>
        <p:nvSpPr>
          <p:cNvPr id="22" name="Stem"/>
          <p:cNvSpPr txBox="1"/>
          <p:nvPr/>
        </p:nvSpPr>
        <p:spPr>
          <a:xfrm>
            <a:off x="723930" y="1481328"/>
            <a:ext cx="10744200" cy="713232"/>
          </a:xfrm>
          <a:prstGeom prst="rect">
            <a:avLst/>
          </a:prstGeom>
          <a:noFill/>
        </p:spPr>
        <p:txBody>
          <a:bodyPr wrap="square">
            <a:noAutofit/>
          </a:bodyPr>
          <a:lstStyle/>
          <a:p>
            <a:pPr/>
            <a:r>
              <a:rPr lang="en-MY" sz="1600" b="1" dirty="0">
                <a:solidFill>
                  <a:schemeClr val="tx1">
                    <a:lumMod val="85000"/>
                    <a:lumOff val="15000"/>
                  </a:schemeClr>
                </a:solidFill>
              </a:rPr>
              <a:t>Struktur persisir air dibina di tepi badan air seperti tasik, sungai atau pantai. Apakah</a:t>
            </a:r>
          </a:p>
          <a:p>
            <a:pPr/>
            <a:r>
              <a:rPr lang="en-MY" sz="1600" b="1" dirty="0">
                <a:solidFill>
                  <a:schemeClr val="tx1">
                    <a:lumMod val="85000"/>
                    <a:lumOff val="15000"/>
                  </a:schemeClr>
                </a:solidFill>
              </a:rPr>
              <a:t>keperluan pembinaan yang paling kritikal bagi struktur ini?</a:t>
            </a:r>
          </a:p>
        </p:txBody>
      </p:sp>
      <p:sp>
        <p:nvSpPr>
          <p:cNvPr id="23" name="Instr"/>
          <p:cNvSpPr txBox="1"/>
          <p:nvPr/>
        </p:nvSpPr>
        <p:spPr>
          <a:xfrm>
            <a:off x="723930" y="2249424"/>
            <a:ext cx="10744200" cy="310896"/>
          </a:xfrm>
          <a:prstGeom prst="rect">
            <a:avLst/>
          </a:prstGeom>
          <a:noFill/>
        </p:spPr>
        <p:txBody>
          <a:bodyPr wrap="square">
            <a:noAutofit/>
          </a:bodyPr>
          <a:lstStyle/>
          <a:p>
            <a:pPr/>
            <a:r>
              <a:rPr lang="en-MY" sz="1400" b="1" dirty="0">
                <a:solidFill>
                  <a:schemeClr val="tx1">
                    <a:lumMod val="85000"/>
                    <a:lumOff val="15000"/>
                  </a:schemeClr>
                </a:solidFill>
              </a:rPr>
              <a:t>Pilih satu jawapan.</a:t>
            </a:r>
          </a:p>
        </p:txBody>
      </p:sp>
      <p:sp>
        <p:nvSpPr>
          <p:cNvPr id="40" name="Opt"/>
          <p:cNvSpPr txBox="1"/>
          <p:nvPr/>
        </p:nvSpPr>
        <p:spPr>
          <a:xfrm>
            <a:off x="998250" y="2651760"/>
            <a:ext cx="10195560" cy="347472"/>
          </a:xfrm>
          <a:prstGeom prst="rect">
            <a:avLst/>
          </a:prstGeom>
          <a:noFill/>
        </p:spPr>
        <p:txBody>
          <a:bodyPr wrap="square">
            <a:noAutofit/>
          </a:bodyPr>
          <a:lstStyle/>
          <a:p>
            <a:pPr/>
            <a:r>
              <a:rPr lang="en-MY" sz="1450" dirty="0">
                <a:solidFill>
                  <a:schemeClr val="tx1">
                    <a:lumMod val="85000"/>
                    <a:lumOff val="15000"/>
                  </a:schemeClr>
                </a:solidFill>
              </a:rPr>
              <a:t>A.  Warna permukaan yang menarik</a:t>
            </a:r>
          </a:p>
        </p:txBody>
      </p:sp>
      <p:sp>
        <p:nvSpPr>
          <p:cNvPr id="41" name="Opt"/>
          <p:cNvSpPr txBox="1"/>
          <p:nvPr/>
        </p:nvSpPr>
        <p:spPr>
          <a:xfrm>
            <a:off x="998250" y="3035808"/>
            <a:ext cx="10195560" cy="347472"/>
          </a:xfrm>
          <a:prstGeom prst="rect">
            <a:avLst/>
          </a:prstGeom>
          <a:noFill/>
        </p:spPr>
        <p:txBody>
          <a:bodyPr wrap="square">
            <a:noAutofit/>
          </a:bodyPr>
          <a:lstStyle/>
          <a:p>
            <a:pPr/>
            <a:r>
              <a:rPr lang="en-MY" sz="1450" dirty="0">
                <a:solidFill>
                  <a:schemeClr val="tx1">
                    <a:lumMod val="85000"/>
                    <a:lumOff val="15000"/>
                  </a:schemeClr>
                </a:solidFill>
              </a:rPr>
              <a:t>B.  Asas yang stabil dan rata dengan saliran permukaan yang berkesan</a:t>
            </a:r>
          </a:p>
        </p:txBody>
      </p:sp>
      <p:sp>
        <p:nvSpPr>
          <p:cNvPr id="42" name="Opt"/>
          <p:cNvSpPr txBox="1"/>
          <p:nvPr/>
        </p:nvSpPr>
        <p:spPr>
          <a:xfrm>
            <a:off x="998250" y="3419856"/>
            <a:ext cx="10195560" cy="347472"/>
          </a:xfrm>
          <a:prstGeom prst="rect">
            <a:avLst/>
          </a:prstGeom>
          <a:noFill/>
        </p:spPr>
        <p:txBody>
          <a:bodyPr wrap="square">
            <a:noAutofit/>
          </a:bodyPr>
          <a:lstStyle/>
          <a:p>
            <a:pPr/>
            <a:r>
              <a:rPr lang="en-MY" sz="1450" dirty="0">
                <a:solidFill>
                  <a:schemeClr val="tx1">
                    <a:lumMod val="85000"/>
                    <a:lumOff val="15000"/>
                  </a:schemeClr>
                </a:solidFill>
              </a:rPr>
              <a:t>C.  Ketinggian struktur melebihi dua meter</a:t>
            </a:r>
          </a:p>
        </p:txBody>
      </p:sp>
      <p:sp>
        <p:nvSpPr>
          <p:cNvPr id="43" name="Opt"/>
          <p:cNvSpPr txBox="1"/>
          <p:nvPr/>
        </p:nvSpPr>
        <p:spPr>
          <a:xfrm>
            <a:off x="998250" y="3803904"/>
            <a:ext cx="10195560" cy="347472"/>
          </a:xfrm>
          <a:prstGeom prst="rect">
            <a:avLst/>
          </a:prstGeom>
          <a:noFill/>
        </p:spPr>
        <p:txBody>
          <a:bodyPr wrap="square">
            <a:noAutofit/>
          </a:bodyPr>
          <a:lstStyle/>
          <a:p>
            <a:pPr/>
            <a:r>
              <a:rPr lang="en-MY" sz="1450" dirty="0">
                <a:solidFill>
                  <a:schemeClr val="tx1">
                    <a:lumMod val="85000"/>
                    <a:lumOff val="15000"/>
                  </a:schemeClr>
                </a:solidFill>
              </a:rPr>
              <a:t>D.  Penggunaan bahan import</a:t>
            </a:r>
          </a:p>
        </p:txBody>
      </p:sp>
      <p:sp>
        <p:nvSpPr>
          <p:cNvPr id="70" name="AnswerKeyBox"/>
          <p:cNvSpPr txBox="1"/>
          <p:nvPr/>
        </p:nvSpPr>
        <p:spPr>
          <a:xfrm>
            <a:off x="723930" y="4334256"/>
            <a:ext cx="10744200" cy="822960"/>
          </a:xfrm>
          <a:prstGeom prst="rect">
            <a:avLst/>
          </a:prstGeom>
          <a:solidFill>
            <a:srgbClr val="FFF7E6"/>
          </a:solidFill>
          <a:ln w="12700">
            <a:solidFill>
              <a:srgbClr val="7F6000"/>
            </a:solidFill>
          </a:ln>
        </p:spPr>
        <p:txBody>
          <a:bodyPr wrap="square">
            <a:noAutofit/>
          </a:bodyPr>
          <a:lstStyle/>
        </p:txBody>
      </p:sp>
      <p:sp>
        <p:nvSpPr>
          <p:cNvPr id="71" name="AnswerKeyHead"/>
          <p:cNvSpPr txBox="1"/>
          <p:nvPr/>
        </p:nvSpPr>
        <p:spPr>
          <a:xfrm>
            <a:off x="906810" y="4389120"/>
            <a:ext cx="10378440" cy="219456"/>
          </a:xfrm>
          <a:prstGeom prst="rect">
            <a:avLst/>
          </a:prstGeom>
          <a:noFill/>
        </p:spPr>
        <p:txBody>
          <a:bodyPr wrap="square">
            <a:noAutofit/>
          </a:bodyPr>
          <a:lstStyle/>
          <a:p>
            <a:pPr/>
            <a:r>
              <a:rPr lang="en-MY" sz="850" b="1" dirty="0">
                <a:solidFill>
                  <a:srgbClr val="7F6000"/>
                </a:solidFill>
              </a:rPr>
              <a:t>SEMAKAN CIDB — MAKLUMAT PENYEMAK, BUKAN PAPARAN PELAJAR</a:t>
            </a:r>
          </a:p>
        </p:txBody>
      </p:sp>
      <p:sp>
        <p:nvSpPr>
          <p:cNvPr id="72" name="AnswerKeyBody"/>
          <p:cNvSpPr txBox="1"/>
          <p:nvPr/>
        </p:nvSpPr>
        <p:spPr>
          <a:xfrm>
            <a:off x="906810" y="4626864"/>
            <a:ext cx="10378440" cy="512064"/>
          </a:xfrm>
          <a:prstGeom prst="rect">
            <a:avLst/>
          </a:prstGeom>
          <a:noFill/>
        </p:spPr>
        <p:txBody>
          <a:bodyPr wrap="square">
            <a:noAutofit/>
          </a:bodyPr>
          <a:lstStyle/>
          <a:p>
            <a:pPr/>
            <a:r>
              <a:rPr lang="en-MY" sz="1250" b="1" dirty="0">
                <a:solidFill>
                  <a:schemeClr val="tx1">
                    <a:lumMod val="85000"/>
                    <a:lumOff val="15000"/>
                  </a:schemeClr>
                </a:solidFill>
              </a:rPr>
              <a:t>Jawapan: B</a:t>
            </a:r>
          </a:p>
          <a:p>
            <a:pPr/>
            <a:r>
              <a:rPr lang="en-MY" sz="1250" b="1" dirty="0">
                <a:solidFill>
                  <a:schemeClr val="tx1">
                    <a:lumMod val="85000"/>
                    <a:lumOff val="15000"/>
                  </a:schemeClr>
                </a:solidFill>
              </a:rPr>
              <a:t>Asas yang stabil dan rata dengan saliran permukaan yang berkesan</a:t>
            </a:r>
          </a:p>
        </p:txBody>
      </p:sp>
      <p:sp>
        <p:nvSpPr>
          <p:cNvPr id="75" name="FbC"/>
          <p:cNvSpPr txBox="1"/>
          <p:nvPr/>
        </p:nvSpPr>
        <p:spPr>
          <a:xfrm>
            <a:off x="723930" y="5303520"/>
            <a:ext cx="5120640" cy="274320"/>
          </a:xfrm>
          <a:prstGeom prst="rect">
            <a:avLst/>
          </a:prstGeom>
          <a:noFill/>
        </p:spPr>
        <p:txBody>
          <a:bodyPr wrap="square">
            <a:noAutofit/>
          </a:bodyPr>
          <a:lstStyle/>
          <a:p>
            <a:pPr/>
            <a:r>
              <a:rPr lang="en-MY" sz="1250" dirty="0">
                <a:solidFill>
                  <a:srgbClr val="2E7D32"/>
                </a:solidFill>
              </a:rPr>
              <a:t>Pilihan jawapan tepat.</a:t>
            </a:r>
          </a:p>
        </p:txBody>
      </p:sp>
      <p:sp>
        <p:nvSpPr>
          <p:cNvPr id="76" name="FbW"/>
          <p:cNvSpPr txBox="1"/>
          <p:nvPr/>
        </p:nvSpPr>
        <p:spPr>
          <a:xfrm>
            <a:off x="6210330" y="5303520"/>
            <a:ext cx="5120640" cy="274320"/>
          </a:xfrm>
          <a:prstGeom prst="rect">
            <a:avLst/>
          </a:prstGeom>
          <a:noFill/>
        </p:spPr>
        <p:txBody>
          <a:bodyPr wrap="square">
            <a:noAutofit/>
          </a:bodyPr>
          <a:lstStyle/>
          <a:p>
            <a:pPr/>
            <a:r>
              <a:rPr lang="en-MY" sz="1250" dirty="0">
                <a:solidFill>
                  <a:srgbClr val="C0392B"/>
                </a:solidFill>
              </a:rPr>
              <a:t>Pilihan jawapan tidak tepat.</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QUIZ_QUESTION_1</a:t>
            </a:r>
          </a:p>
          <a:p>
            <a:r>
              <a:rPr lang="en-MY" sz="900" dirty="0">
                <a:solidFill>
                  <a:schemeClr val="tx1">
                    <a:lumMod val="85000"/>
                    <a:lumOff val="15000"/>
                  </a:schemeClr>
                </a:solidFill>
              </a:rPr>
              <a:t/>
            </a:r>
          </a:p>
          <a:p>
            <a:r>
              <a:rPr lang="en-MY" sz="900" dirty="0">
                <a:solidFill>
                  <a:schemeClr val="tx1">
                    <a:lumMod val="85000"/>
                    <a:lumOff val="15000"/>
                  </a:schemeClr>
                </a:solidFill>
              </a:rPr>
              <a:t>BUKTI: quiz question with both immediate-feedback variants</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[answer_submitted]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MAKLUM BALAS SERTA-MERTA:</a:t>
            </a:r>
          </a:p>
          <a:p>
            <a:r>
              <a:rPr lang="en-MY" sz="900" dirty="0">
                <a:solidFill>
                  <a:schemeClr val="tx1">
                    <a:lumMod val="85000"/>
                    <a:lumOff val="15000"/>
                  </a:schemeClr>
                </a:solidFill>
              </a:rPr>
              <a:t>  betul: teks "Pilihan jawapan tepat." · SFX SFX_CORRECT · TIADA VO</a:t>
            </a:r>
          </a:p>
          <a:p>
            <a:r>
              <a:rPr lang="en-MY" sz="900" dirty="0">
                <a:solidFill>
                  <a:schemeClr val="tx1">
                    <a:lumMod val="85000"/>
                    <a:lumOff val="15000"/>
                  </a:schemeClr>
                </a:solidFill>
              </a:rPr>
              <a:t>  salah: teks "Pilihan jawapan tidak tepat." · SFX SFX_WRONG · TIADA VO</a:t>
            </a:r>
          </a:p>
          <a:p>
            <a:r>
              <a:rPr lang="en-MY" sz="900" dirty="0">
                <a:solidFill>
                  <a:schemeClr val="tx1">
                    <a:lumMod val="85000"/>
                    <a:lumOff val="15000"/>
                  </a:schemeClr>
                </a:solidFill>
              </a:rPr>
              <a:t>  maklum balas dipaparkan selepas penghantaran sahaja; tidak dituturkan.</a:t>
            </a:r>
          </a:p>
          <a:p>
            <a:r>
              <a:rPr lang="en-MY" sz="900" b="1" dirty="0">
                <a:solidFill>
                  <a:schemeClr val="tx1">
                    <a:lumMod val="85000"/>
                    <a:lumOff val="15000"/>
                  </a:schemeClr>
                </a:solidFill>
              </a:rPr>
              <a:t>KUNCI JAWAPAN (blok semakan CIDB pada halaman semakan):</a:t>
            </a:r>
          </a:p>
          <a:p>
            <a:r>
              <a:rPr lang="en-MY" sz="900" dirty="0">
                <a:solidFill>
                  <a:schemeClr val="tx1">
                    <a:lumMod val="85000"/>
                    <a:lumOff val="15000"/>
                  </a:schemeClr>
                </a:solidFill>
              </a:rPr>
              <a:t>  B</a:t>
            </a:r>
          </a:p>
          <a:p>
            <a:r>
              <a:rPr lang="en-MY" sz="900" dirty="0">
                <a:solidFill>
                  <a:schemeClr val="tx1">
                    <a:lumMod val="85000"/>
                    <a:lumOff val="15000"/>
                  </a:schemeClr>
                </a:solidFill>
              </a:rPr>
              <a:t>  Dijana daripada data jawapan berstruktur yang sama dengan logik kuiz.</a:t>
            </a:r>
          </a:p>
          <a:p>
            <a:r>
              <a:rPr lang="en-MY" sz="900" dirty="0">
                <a:solidFill>
                  <a:schemeClr val="tx1">
                    <a:lumMod val="85000"/>
                    <a:lumOff val="15000"/>
                  </a:schemeClr>
                </a:solidFill>
              </a:rPr>
              <a:t>  BUKAN kandungan masa jalan pra-hantar; tidak dibaca dalam VO.</a:t>
            </a:r>
          </a:p>
          <a:p>
            <a:r>
              <a:rPr lang="en-MY" sz="900" b="1" dirty="0">
                <a:solidFill>
                  <a:schemeClr val="tx1">
                    <a:lumMod val="85000"/>
                    <a:lumOff val="15000"/>
                  </a:schemeClr>
                </a:solidFill>
              </a:rPr>
              <a:t>RASIONAL TERPERINCI (metadata sahaja):</a:t>
            </a:r>
          </a:p>
          <a:p>
            <a:r>
              <a:rPr lang="en-MY" sz="900" dirty="0">
                <a:solidFill>
                  <a:schemeClr val="tx1">
                    <a:lumMod val="85000"/>
                    <a:lumOff val="15000"/>
                  </a:schemeClr>
                </a:solidFill>
              </a:rPr>
              <a:t>  Modul ms 238 menyatakan asas yang sangat stabil dan rata dengan</a:t>
            </a:r>
          </a:p>
          <a:p>
            <a:r>
              <a:rPr lang="en-MY" sz="900" dirty="0">
                <a:solidFill>
                  <a:schemeClr val="tx1">
                    <a:lumMod val="85000"/>
                    <a:lumOff val="15000"/>
                  </a:schemeClr>
                </a:solidFill>
              </a:rPr>
              <a:t>  sistem saliran permukaan yang berkesan untuk mengelakkan genangan</a:t>
            </a:r>
          </a:p>
          <a:p>
            <a:r>
              <a:rPr lang="en-MY" sz="900" dirty="0">
                <a:solidFill>
                  <a:schemeClr val="tx1">
                    <a:lumMod val="85000"/>
                    <a:lumOff val="15000"/>
                  </a:schemeClr>
                </a:solidFill>
              </a:rPr>
              <a:t>  air.</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Pilih satu jawapan.</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QUIZ_QUESTION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B02-D-11, B02-D-12, B02-D-13</a:t>
            </a:r>
          </a:p>
          <a:p>
            <a:r>
              <a:rPr lang="en-MY" sz="900" dirty="0">
                <a:solidFill>
                  <a:schemeClr val="tx1">
                    <a:lumMod val="85000"/>
                    <a:lumOff val="15000"/>
                  </a:schemeClr>
                </a:solidFill>
              </a:rPr>
              <a:t>STATUS BELUM SELESAI: NONE</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 — Soalan 2</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Soalan 2</a:t>
            </a:r>
          </a:p>
        </p:txBody>
      </p:sp>
      <p:sp>
        <p:nvSpPr>
          <p:cNvPr id="20" name="Kind"/>
          <p:cNvSpPr txBox="1"/>
          <p:nvPr/>
        </p:nvSpPr>
        <p:spPr>
          <a:xfrm>
            <a:off x="723930" y="1152144"/>
            <a:ext cx="10744200" cy="292608"/>
          </a:xfrm>
          <a:prstGeom prst="rect">
            <a:avLst/>
          </a:prstGeom>
          <a:noFill/>
        </p:spPr>
        <p:txBody>
          <a:bodyPr wrap="square">
            <a:noAutofit/>
          </a:bodyPr>
          <a:lstStyle/>
          <a:p>
            <a:pPr/>
            <a:r>
              <a:rPr lang="en-MY" sz="1150" dirty="0">
                <a:solidFill>
                  <a:srgbClr val="808080"/>
                </a:solidFill>
              </a:rPr>
              <a:t>MCQ   ·   sumber: modul ms 239 (3.3.2)</a:t>
            </a:r>
          </a:p>
        </p:txBody>
      </p:sp>
      <p:sp>
        <p:nvSpPr>
          <p:cNvPr id="22" name="Stem"/>
          <p:cNvSpPr txBox="1"/>
          <p:nvPr/>
        </p:nvSpPr>
        <p:spPr>
          <a:xfrm>
            <a:off x="723930" y="1481328"/>
            <a:ext cx="10744200" cy="713232"/>
          </a:xfrm>
          <a:prstGeom prst="rect">
            <a:avLst/>
          </a:prstGeom>
          <a:noFill/>
        </p:spPr>
        <p:txBody>
          <a:bodyPr wrap="square">
            <a:noAutofit/>
          </a:bodyPr>
          <a:lstStyle/>
          <a:p>
            <a:pPr/>
            <a:r>
              <a:rPr lang="en-MY" sz="1600" b="1" dirty="0">
                <a:solidFill>
                  <a:schemeClr val="tx1">
                    <a:lumMod val="85000"/>
                    <a:lumOff val="15000"/>
                  </a:schemeClr>
                </a:solidFill>
              </a:rPr>
              <a:t>Manakah antara berikut merupakan struktur teduhan tradisional Melayu yang digunakan sebagai</a:t>
            </a:r>
          </a:p>
          <a:p>
            <a:pPr/>
            <a:r>
              <a:rPr lang="en-MY" sz="1600" b="1" dirty="0">
                <a:solidFill>
                  <a:schemeClr val="tx1">
                    <a:lumMod val="85000"/>
                    <a:lumOff val="15000"/>
                  </a:schemeClr>
                </a:solidFill>
              </a:rPr>
              <a:t>tempat berehat?</a:t>
            </a:r>
          </a:p>
        </p:txBody>
      </p:sp>
      <p:sp>
        <p:nvSpPr>
          <p:cNvPr id="23" name="Instr"/>
          <p:cNvSpPr txBox="1"/>
          <p:nvPr/>
        </p:nvSpPr>
        <p:spPr>
          <a:xfrm>
            <a:off x="723930" y="2249424"/>
            <a:ext cx="10744200" cy="310896"/>
          </a:xfrm>
          <a:prstGeom prst="rect">
            <a:avLst/>
          </a:prstGeom>
          <a:noFill/>
        </p:spPr>
        <p:txBody>
          <a:bodyPr wrap="square">
            <a:noAutofit/>
          </a:bodyPr>
          <a:lstStyle/>
          <a:p>
            <a:pPr/>
            <a:r>
              <a:rPr lang="en-MY" sz="1400" b="1" dirty="0">
                <a:solidFill>
                  <a:schemeClr val="tx1">
                    <a:lumMod val="85000"/>
                    <a:lumOff val="15000"/>
                  </a:schemeClr>
                </a:solidFill>
              </a:rPr>
              <a:t>Pilih satu jawapan.</a:t>
            </a:r>
          </a:p>
        </p:txBody>
      </p:sp>
      <p:sp>
        <p:nvSpPr>
          <p:cNvPr id="40" name="Opt"/>
          <p:cNvSpPr txBox="1"/>
          <p:nvPr/>
        </p:nvSpPr>
        <p:spPr>
          <a:xfrm>
            <a:off x="998250" y="2651760"/>
            <a:ext cx="10195560" cy="347472"/>
          </a:xfrm>
          <a:prstGeom prst="rect">
            <a:avLst/>
          </a:prstGeom>
          <a:noFill/>
        </p:spPr>
        <p:txBody>
          <a:bodyPr wrap="square">
            <a:noAutofit/>
          </a:bodyPr>
          <a:lstStyle/>
          <a:p>
            <a:pPr/>
            <a:r>
              <a:rPr lang="en-MY" sz="1450" dirty="0">
                <a:solidFill>
                  <a:schemeClr val="tx1">
                    <a:lumMod val="85000"/>
                    <a:lumOff val="15000"/>
                  </a:schemeClr>
                </a:solidFill>
              </a:rPr>
              <a:t>A.  Pergola</a:t>
            </a:r>
          </a:p>
        </p:txBody>
      </p:sp>
      <p:sp>
        <p:nvSpPr>
          <p:cNvPr id="41" name="Opt"/>
          <p:cNvSpPr txBox="1"/>
          <p:nvPr/>
        </p:nvSpPr>
        <p:spPr>
          <a:xfrm>
            <a:off x="998250" y="3035808"/>
            <a:ext cx="10195560" cy="347472"/>
          </a:xfrm>
          <a:prstGeom prst="rect">
            <a:avLst/>
          </a:prstGeom>
          <a:noFill/>
        </p:spPr>
        <p:txBody>
          <a:bodyPr wrap="square">
            <a:noAutofit/>
          </a:bodyPr>
          <a:lstStyle/>
          <a:p>
            <a:pPr/>
            <a:r>
              <a:rPr lang="en-MY" sz="1450" dirty="0">
                <a:solidFill>
                  <a:schemeClr val="tx1">
                    <a:lumMod val="85000"/>
                    <a:lumOff val="15000"/>
                  </a:schemeClr>
                </a:solidFill>
              </a:rPr>
              <a:t>B.  Canopy</a:t>
            </a:r>
          </a:p>
        </p:txBody>
      </p:sp>
      <p:sp>
        <p:nvSpPr>
          <p:cNvPr id="42" name="Opt"/>
          <p:cNvSpPr txBox="1"/>
          <p:nvPr/>
        </p:nvSpPr>
        <p:spPr>
          <a:xfrm>
            <a:off x="998250" y="3419856"/>
            <a:ext cx="10195560" cy="347472"/>
          </a:xfrm>
          <a:prstGeom prst="rect">
            <a:avLst/>
          </a:prstGeom>
          <a:noFill/>
        </p:spPr>
        <p:txBody>
          <a:bodyPr wrap="square">
            <a:noAutofit/>
          </a:bodyPr>
          <a:lstStyle/>
          <a:p>
            <a:pPr/>
            <a:r>
              <a:rPr lang="en-MY" sz="1450" dirty="0">
                <a:solidFill>
                  <a:schemeClr val="tx1">
                    <a:lumMod val="85000"/>
                    <a:lumOff val="15000"/>
                  </a:schemeClr>
                </a:solidFill>
              </a:rPr>
              <a:t>C.  Wakaf</a:t>
            </a:r>
          </a:p>
        </p:txBody>
      </p:sp>
      <p:sp>
        <p:nvSpPr>
          <p:cNvPr id="43" name="Opt"/>
          <p:cNvSpPr txBox="1"/>
          <p:nvPr/>
        </p:nvSpPr>
        <p:spPr>
          <a:xfrm>
            <a:off x="998250" y="3803904"/>
            <a:ext cx="10195560" cy="347472"/>
          </a:xfrm>
          <a:prstGeom prst="rect">
            <a:avLst/>
          </a:prstGeom>
          <a:noFill/>
        </p:spPr>
        <p:txBody>
          <a:bodyPr wrap="square">
            <a:noAutofit/>
          </a:bodyPr>
          <a:lstStyle/>
          <a:p>
            <a:pPr/>
            <a:r>
              <a:rPr lang="en-MY" sz="1450" dirty="0">
                <a:solidFill>
                  <a:schemeClr val="tx1">
                    <a:lumMod val="85000"/>
                    <a:lumOff val="15000"/>
                  </a:schemeClr>
                </a:solidFill>
              </a:rPr>
              <a:t>D.  Gazebo</a:t>
            </a:r>
          </a:p>
        </p:txBody>
      </p:sp>
      <p:sp>
        <p:nvSpPr>
          <p:cNvPr id="70" name="AnswerKeyBox"/>
          <p:cNvSpPr txBox="1"/>
          <p:nvPr/>
        </p:nvSpPr>
        <p:spPr>
          <a:xfrm>
            <a:off x="723930" y="4334256"/>
            <a:ext cx="10744200" cy="822960"/>
          </a:xfrm>
          <a:prstGeom prst="rect">
            <a:avLst/>
          </a:prstGeom>
          <a:solidFill>
            <a:srgbClr val="FFF7E6"/>
          </a:solidFill>
          <a:ln w="12700">
            <a:solidFill>
              <a:srgbClr val="7F6000"/>
            </a:solidFill>
          </a:ln>
        </p:spPr>
        <p:txBody>
          <a:bodyPr wrap="square">
            <a:noAutofit/>
          </a:bodyPr>
          <a:lstStyle/>
        </p:txBody>
      </p:sp>
      <p:sp>
        <p:nvSpPr>
          <p:cNvPr id="71" name="AnswerKeyHead"/>
          <p:cNvSpPr txBox="1"/>
          <p:nvPr/>
        </p:nvSpPr>
        <p:spPr>
          <a:xfrm>
            <a:off x="906810" y="4389120"/>
            <a:ext cx="10378440" cy="219456"/>
          </a:xfrm>
          <a:prstGeom prst="rect">
            <a:avLst/>
          </a:prstGeom>
          <a:noFill/>
        </p:spPr>
        <p:txBody>
          <a:bodyPr wrap="square">
            <a:noAutofit/>
          </a:bodyPr>
          <a:lstStyle/>
          <a:p>
            <a:pPr/>
            <a:r>
              <a:rPr lang="en-MY" sz="850" b="1" dirty="0">
                <a:solidFill>
                  <a:srgbClr val="7F6000"/>
                </a:solidFill>
              </a:rPr>
              <a:t>SEMAKAN CIDB — MAKLUMAT PENYEMAK, BUKAN PAPARAN PELAJAR</a:t>
            </a:r>
          </a:p>
        </p:txBody>
      </p:sp>
      <p:sp>
        <p:nvSpPr>
          <p:cNvPr id="72" name="AnswerKeyBody"/>
          <p:cNvSpPr txBox="1"/>
          <p:nvPr/>
        </p:nvSpPr>
        <p:spPr>
          <a:xfrm>
            <a:off x="906810" y="4626864"/>
            <a:ext cx="10378440" cy="512064"/>
          </a:xfrm>
          <a:prstGeom prst="rect">
            <a:avLst/>
          </a:prstGeom>
          <a:noFill/>
        </p:spPr>
        <p:txBody>
          <a:bodyPr wrap="square">
            <a:noAutofit/>
          </a:bodyPr>
          <a:lstStyle/>
          <a:p>
            <a:pPr/>
            <a:r>
              <a:rPr lang="en-MY" sz="1250" b="1" dirty="0">
                <a:solidFill>
                  <a:schemeClr val="tx1">
                    <a:lumMod val="85000"/>
                    <a:lumOff val="15000"/>
                  </a:schemeClr>
                </a:solidFill>
              </a:rPr>
              <a:t>Jawapan: C</a:t>
            </a:r>
          </a:p>
          <a:p>
            <a:pPr/>
            <a:r>
              <a:rPr lang="en-MY" sz="1250" b="1" dirty="0">
                <a:solidFill>
                  <a:schemeClr val="tx1">
                    <a:lumMod val="85000"/>
                    <a:lumOff val="15000"/>
                  </a:schemeClr>
                </a:solidFill>
              </a:rPr>
              <a:t>Wakaf</a:t>
            </a:r>
          </a:p>
        </p:txBody>
      </p:sp>
      <p:sp>
        <p:nvSpPr>
          <p:cNvPr id="75" name="FbC"/>
          <p:cNvSpPr txBox="1"/>
          <p:nvPr/>
        </p:nvSpPr>
        <p:spPr>
          <a:xfrm>
            <a:off x="723930" y="5303520"/>
            <a:ext cx="5120640" cy="274320"/>
          </a:xfrm>
          <a:prstGeom prst="rect">
            <a:avLst/>
          </a:prstGeom>
          <a:noFill/>
        </p:spPr>
        <p:txBody>
          <a:bodyPr wrap="square">
            <a:noAutofit/>
          </a:bodyPr>
          <a:lstStyle/>
          <a:p>
            <a:pPr/>
            <a:r>
              <a:rPr lang="en-MY" sz="1250" dirty="0">
                <a:solidFill>
                  <a:srgbClr val="2E7D32"/>
                </a:solidFill>
              </a:rPr>
              <a:t>Pilihan jawapan tepat.</a:t>
            </a:r>
          </a:p>
        </p:txBody>
      </p:sp>
      <p:sp>
        <p:nvSpPr>
          <p:cNvPr id="76" name="FbW"/>
          <p:cNvSpPr txBox="1"/>
          <p:nvPr/>
        </p:nvSpPr>
        <p:spPr>
          <a:xfrm>
            <a:off x="6210330" y="5303520"/>
            <a:ext cx="5120640" cy="274320"/>
          </a:xfrm>
          <a:prstGeom prst="rect">
            <a:avLst/>
          </a:prstGeom>
          <a:noFill/>
        </p:spPr>
        <p:txBody>
          <a:bodyPr wrap="square">
            <a:noAutofit/>
          </a:bodyPr>
          <a:lstStyle/>
          <a:p>
            <a:pPr/>
            <a:r>
              <a:rPr lang="en-MY" sz="1250" dirty="0">
                <a:solidFill>
                  <a:srgbClr val="C0392B"/>
                </a:solidFill>
              </a:rPr>
              <a:t>Pilihan jawapan tidak tepat.</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QUIZ_QUESTION_2</a:t>
            </a:r>
          </a:p>
          <a:p>
            <a:r>
              <a:rPr lang="en-MY" sz="900" dirty="0">
                <a:solidFill>
                  <a:schemeClr val="tx1">
                    <a:lumMod val="85000"/>
                    <a:lumOff val="15000"/>
                  </a:schemeClr>
                </a:solidFill>
              </a:rPr>
              <a:t/>
            </a:r>
          </a:p>
          <a:p>
            <a:r>
              <a:rPr lang="en-MY" sz="900" dirty="0">
                <a:solidFill>
                  <a:schemeClr val="tx1">
                    <a:lumMod val="85000"/>
                    <a:lumOff val="15000"/>
                  </a:schemeClr>
                </a:solidFill>
              </a:rPr>
              <a:t>BUKTI: quiz question with both immediate-feedback variants</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[answer_submitted]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MAKLUM BALAS SERTA-MERTA:</a:t>
            </a:r>
          </a:p>
          <a:p>
            <a:r>
              <a:rPr lang="en-MY" sz="900" dirty="0">
                <a:solidFill>
                  <a:schemeClr val="tx1">
                    <a:lumMod val="85000"/>
                    <a:lumOff val="15000"/>
                  </a:schemeClr>
                </a:solidFill>
              </a:rPr>
              <a:t>  betul: teks "Pilihan jawapan tepat." · SFX SFX_CORRECT · TIADA VO</a:t>
            </a:r>
          </a:p>
          <a:p>
            <a:r>
              <a:rPr lang="en-MY" sz="900" dirty="0">
                <a:solidFill>
                  <a:schemeClr val="tx1">
                    <a:lumMod val="85000"/>
                    <a:lumOff val="15000"/>
                  </a:schemeClr>
                </a:solidFill>
              </a:rPr>
              <a:t>  salah: teks "Pilihan jawapan tidak tepat." · SFX SFX_WRONG · TIADA VO</a:t>
            </a:r>
          </a:p>
          <a:p>
            <a:r>
              <a:rPr lang="en-MY" sz="900" dirty="0">
                <a:solidFill>
                  <a:schemeClr val="tx1">
                    <a:lumMod val="85000"/>
                    <a:lumOff val="15000"/>
                  </a:schemeClr>
                </a:solidFill>
              </a:rPr>
              <a:t>  maklum balas dipaparkan selepas penghantaran sahaja; tidak dituturkan.</a:t>
            </a:r>
          </a:p>
          <a:p>
            <a:r>
              <a:rPr lang="en-MY" sz="900" b="1" dirty="0">
                <a:solidFill>
                  <a:schemeClr val="tx1">
                    <a:lumMod val="85000"/>
                    <a:lumOff val="15000"/>
                  </a:schemeClr>
                </a:solidFill>
              </a:rPr>
              <a:t>KUNCI JAWAPAN (blok semakan CIDB pada halaman semakan):</a:t>
            </a:r>
          </a:p>
          <a:p>
            <a:r>
              <a:rPr lang="en-MY" sz="900" dirty="0">
                <a:solidFill>
                  <a:schemeClr val="tx1">
                    <a:lumMod val="85000"/>
                    <a:lumOff val="15000"/>
                  </a:schemeClr>
                </a:solidFill>
              </a:rPr>
              <a:t>  C</a:t>
            </a:r>
          </a:p>
          <a:p>
            <a:r>
              <a:rPr lang="en-MY" sz="900" dirty="0">
                <a:solidFill>
                  <a:schemeClr val="tx1">
                    <a:lumMod val="85000"/>
                    <a:lumOff val="15000"/>
                  </a:schemeClr>
                </a:solidFill>
              </a:rPr>
              <a:t>  Dijana daripada data jawapan berstruktur yang sama dengan logik kuiz.</a:t>
            </a:r>
          </a:p>
          <a:p>
            <a:r>
              <a:rPr lang="en-MY" sz="900" dirty="0">
                <a:solidFill>
                  <a:schemeClr val="tx1">
                    <a:lumMod val="85000"/>
                    <a:lumOff val="15000"/>
                  </a:schemeClr>
                </a:solidFill>
              </a:rPr>
              <a:t>  BUKAN kandungan masa jalan pra-hantar; tidak dibaca dalam VO.</a:t>
            </a:r>
          </a:p>
          <a:p>
            <a:r>
              <a:rPr lang="en-MY" sz="900" b="1" dirty="0">
                <a:solidFill>
                  <a:schemeClr val="tx1">
                    <a:lumMod val="85000"/>
                    <a:lumOff val="15000"/>
                  </a:schemeClr>
                </a:solidFill>
              </a:rPr>
              <a:t>RASIONAL TERPERINCI (metadata sahaja):</a:t>
            </a:r>
          </a:p>
          <a:p>
            <a:r>
              <a:rPr lang="en-MY" sz="900" dirty="0">
                <a:solidFill>
                  <a:schemeClr val="tx1">
                    <a:lumMod val="85000"/>
                    <a:lumOff val="15000"/>
                  </a:schemeClr>
                </a:solidFill>
              </a:rPr>
              <a:t>  Modul ms 239 menyenaraikan Wakaf sebagai struktur teduhan</a:t>
            </a:r>
          </a:p>
          <a:p>
            <a:r>
              <a:rPr lang="en-MY" sz="900" dirty="0">
                <a:solidFill>
                  <a:schemeClr val="tx1">
                    <a:lumMod val="85000"/>
                    <a:lumOff val="15000"/>
                  </a:schemeClr>
                </a:solidFill>
              </a:rPr>
              <a:t>  tradisional Melayu. Pergola, Canopy dan Gazebo turut disenaraikan</a:t>
            </a:r>
          </a:p>
          <a:p>
            <a:r>
              <a:rPr lang="en-MY" sz="900" dirty="0">
                <a:solidFill>
                  <a:schemeClr val="tx1">
                    <a:lumMod val="85000"/>
                    <a:lumOff val="15000"/>
                  </a:schemeClr>
                </a:solidFill>
              </a:rPr>
              <a:t>  sebagai struktur teduhan, tetapi bukan sebagai bentuk tradisional</a:t>
            </a:r>
          </a:p>
          <a:p>
            <a:r>
              <a:rPr lang="en-MY" sz="900" dirty="0">
                <a:solidFill>
                  <a:schemeClr val="tx1">
                    <a:lumMod val="85000"/>
                    <a:lumOff val="15000"/>
                  </a:schemeClr>
                </a:solidFill>
              </a:rPr>
              <a:t>  Melayu.</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Pilih satu jawapan.</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QUIZ_QUESTION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B02-D-11, B02-D-12, B02-D-13</a:t>
            </a:r>
          </a:p>
          <a:p>
            <a:r>
              <a:rPr lang="en-MY" sz="900" dirty="0">
                <a:solidFill>
                  <a:schemeClr val="tx1">
                    <a:lumMod val="85000"/>
                    <a:lumOff val="15000"/>
                  </a:schemeClr>
                </a:solidFill>
              </a:rPr>
              <a:t>STATUS BELUM SELESAI: NONE</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 — Soalan 3</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Soalan 3</a:t>
            </a:r>
          </a:p>
        </p:txBody>
      </p:sp>
      <p:sp>
        <p:nvSpPr>
          <p:cNvPr id="20" name="Kind"/>
          <p:cNvSpPr txBox="1"/>
          <p:nvPr/>
        </p:nvSpPr>
        <p:spPr>
          <a:xfrm>
            <a:off x="723930" y="1152144"/>
            <a:ext cx="10744200" cy="292608"/>
          </a:xfrm>
          <a:prstGeom prst="rect">
            <a:avLst/>
          </a:prstGeom>
          <a:noFill/>
        </p:spPr>
        <p:txBody>
          <a:bodyPr wrap="square">
            <a:noAutofit/>
          </a:bodyPr>
          <a:lstStyle/>
          <a:p>
            <a:pPr/>
            <a:r>
              <a:rPr lang="en-MY" sz="1150" dirty="0">
                <a:solidFill>
                  <a:srgbClr val="808080"/>
                </a:solidFill>
              </a:rPr>
              <a:t>MCQ   ·   sumber: modul ms 240 (3.3.3)</a:t>
            </a:r>
          </a:p>
        </p:txBody>
      </p:sp>
      <p:sp>
        <p:nvSpPr>
          <p:cNvPr id="22" name="Stem"/>
          <p:cNvSpPr txBox="1"/>
          <p:nvPr/>
        </p:nvSpPr>
        <p:spPr>
          <a:xfrm>
            <a:off x="723930" y="1481328"/>
            <a:ext cx="10744200" cy="713232"/>
          </a:xfrm>
          <a:prstGeom prst="rect">
            <a:avLst/>
          </a:prstGeom>
          <a:noFill/>
        </p:spPr>
        <p:txBody>
          <a:bodyPr wrap="square">
            <a:noAutofit/>
          </a:bodyPr>
          <a:lstStyle/>
          <a:p>
            <a:pPr/>
            <a:r>
              <a:rPr lang="en-MY" sz="1600" b="1" dirty="0">
                <a:solidFill>
                  <a:schemeClr val="tx1">
                    <a:lumMod val="85000"/>
                    <a:lumOff val="15000"/>
                  </a:schemeClr>
                </a:solidFill>
              </a:rPr>
              <a:t>Apakah pertimbangan utama dalam pemilihan bahan bagi kemudahan awam seperti tandas dan surau</a:t>
            </a:r>
          </a:p>
          <a:p>
            <a:pPr/>
            <a:r>
              <a:rPr lang="en-MY" sz="1600" b="1" dirty="0">
                <a:solidFill>
                  <a:schemeClr val="tx1">
                    <a:lumMod val="85000"/>
                    <a:lumOff val="15000"/>
                  </a:schemeClr>
                </a:solidFill>
              </a:rPr>
              <a:t>di taman?</a:t>
            </a:r>
          </a:p>
        </p:txBody>
      </p:sp>
      <p:sp>
        <p:nvSpPr>
          <p:cNvPr id="23" name="Instr"/>
          <p:cNvSpPr txBox="1"/>
          <p:nvPr/>
        </p:nvSpPr>
        <p:spPr>
          <a:xfrm>
            <a:off x="723930" y="2249424"/>
            <a:ext cx="10744200" cy="310896"/>
          </a:xfrm>
          <a:prstGeom prst="rect">
            <a:avLst/>
          </a:prstGeom>
          <a:noFill/>
        </p:spPr>
        <p:txBody>
          <a:bodyPr wrap="square">
            <a:noAutofit/>
          </a:bodyPr>
          <a:lstStyle/>
          <a:p>
            <a:pPr/>
            <a:r>
              <a:rPr lang="en-MY" sz="1400" b="1" dirty="0">
                <a:solidFill>
                  <a:schemeClr val="tx1">
                    <a:lumMod val="85000"/>
                    <a:lumOff val="15000"/>
                  </a:schemeClr>
                </a:solidFill>
              </a:rPr>
              <a:t>Pilih satu jawapan.</a:t>
            </a:r>
          </a:p>
        </p:txBody>
      </p:sp>
      <p:sp>
        <p:nvSpPr>
          <p:cNvPr id="40" name="Opt"/>
          <p:cNvSpPr txBox="1"/>
          <p:nvPr/>
        </p:nvSpPr>
        <p:spPr>
          <a:xfrm>
            <a:off x="998250" y="2651760"/>
            <a:ext cx="10195560" cy="347472"/>
          </a:xfrm>
          <a:prstGeom prst="rect">
            <a:avLst/>
          </a:prstGeom>
          <a:noFill/>
        </p:spPr>
        <p:txBody>
          <a:bodyPr wrap="square">
            <a:noAutofit/>
          </a:bodyPr>
          <a:lstStyle/>
          <a:p>
            <a:pPr/>
            <a:r>
              <a:rPr lang="en-MY" sz="1450" dirty="0">
                <a:solidFill>
                  <a:schemeClr val="tx1">
                    <a:lumMod val="85000"/>
                    <a:lumOff val="15000"/>
                  </a:schemeClr>
                </a:solidFill>
              </a:rPr>
              <a:t>A.  Bahan yang tahan vandalisme dan cuaca</a:t>
            </a:r>
          </a:p>
        </p:txBody>
      </p:sp>
      <p:sp>
        <p:nvSpPr>
          <p:cNvPr id="41" name="Opt"/>
          <p:cNvSpPr txBox="1"/>
          <p:nvPr/>
        </p:nvSpPr>
        <p:spPr>
          <a:xfrm>
            <a:off x="998250" y="3035808"/>
            <a:ext cx="10195560" cy="347472"/>
          </a:xfrm>
          <a:prstGeom prst="rect">
            <a:avLst/>
          </a:prstGeom>
          <a:noFill/>
        </p:spPr>
        <p:txBody>
          <a:bodyPr wrap="square">
            <a:noAutofit/>
          </a:bodyPr>
          <a:lstStyle/>
          <a:p>
            <a:pPr/>
            <a:r>
              <a:rPr lang="en-MY" sz="1450" dirty="0">
                <a:solidFill>
                  <a:schemeClr val="tx1">
                    <a:lumMod val="85000"/>
                    <a:lumOff val="15000"/>
                  </a:schemeClr>
                </a:solidFill>
              </a:rPr>
              <a:t>B.  Bahan yang paling murah di pasaran</a:t>
            </a:r>
          </a:p>
        </p:txBody>
      </p:sp>
      <p:sp>
        <p:nvSpPr>
          <p:cNvPr id="42" name="Opt"/>
          <p:cNvSpPr txBox="1"/>
          <p:nvPr/>
        </p:nvSpPr>
        <p:spPr>
          <a:xfrm>
            <a:off x="998250" y="3419856"/>
            <a:ext cx="10195560" cy="347472"/>
          </a:xfrm>
          <a:prstGeom prst="rect">
            <a:avLst/>
          </a:prstGeom>
          <a:noFill/>
        </p:spPr>
        <p:txBody>
          <a:bodyPr wrap="square">
            <a:noAutofit/>
          </a:bodyPr>
          <a:lstStyle/>
          <a:p>
            <a:pPr/>
            <a:r>
              <a:rPr lang="en-MY" sz="1450" dirty="0">
                <a:solidFill>
                  <a:schemeClr val="tx1">
                    <a:lumMod val="85000"/>
                    <a:lumOff val="15000"/>
                  </a:schemeClr>
                </a:solidFill>
              </a:rPr>
              <a:t>C.  Bahan yang perlu dicat semula setiap bulan</a:t>
            </a:r>
          </a:p>
        </p:txBody>
      </p:sp>
      <p:sp>
        <p:nvSpPr>
          <p:cNvPr id="43" name="Opt"/>
          <p:cNvSpPr txBox="1"/>
          <p:nvPr/>
        </p:nvSpPr>
        <p:spPr>
          <a:xfrm>
            <a:off x="998250" y="3803904"/>
            <a:ext cx="10195560" cy="347472"/>
          </a:xfrm>
          <a:prstGeom prst="rect">
            <a:avLst/>
          </a:prstGeom>
          <a:noFill/>
        </p:spPr>
        <p:txBody>
          <a:bodyPr wrap="square">
            <a:noAutofit/>
          </a:bodyPr>
          <a:lstStyle/>
          <a:p>
            <a:pPr/>
            <a:r>
              <a:rPr lang="en-MY" sz="1450" dirty="0">
                <a:solidFill>
                  <a:schemeClr val="tx1">
                    <a:lumMod val="85000"/>
                    <a:lumOff val="15000"/>
                  </a:schemeClr>
                </a:solidFill>
              </a:rPr>
              <a:t>D.  Bahan yang seragam dengan perabot taman</a:t>
            </a:r>
          </a:p>
        </p:txBody>
      </p:sp>
      <p:sp>
        <p:nvSpPr>
          <p:cNvPr id="70" name="AnswerKeyBox"/>
          <p:cNvSpPr txBox="1"/>
          <p:nvPr/>
        </p:nvSpPr>
        <p:spPr>
          <a:xfrm>
            <a:off x="723930" y="4334256"/>
            <a:ext cx="10744200" cy="822960"/>
          </a:xfrm>
          <a:prstGeom prst="rect">
            <a:avLst/>
          </a:prstGeom>
          <a:solidFill>
            <a:srgbClr val="FFF7E6"/>
          </a:solidFill>
          <a:ln w="12700">
            <a:solidFill>
              <a:srgbClr val="7F6000"/>
            </a:solidFill>
          </a:ln>
        </p:spPr>
        <p:txBody>
          <a:bodyPr wrap="square">
            <a:noAutofit/>
          </a:bodyPr>
          <a:lstStyle/>
        </p:txBody>
      </p:sp>
      <p:sp>
        <p:nvSpPr>
          <p:cNvPr id="71" name="AnswerKeyHead"/>
          <p:cNvSpPr txBox="1"/>
          <p:nvPr/>
        </p:nvSpPr>
        <p:spPr>
          <a:xfrm>
            <a:off x="906810" y="4389120"/>
            <a:ext cx="10378440" cy="219456"/>
          </a:xfrm>
          <a:prstGeom prst="rect">
            <a:avLst/>
          </a:prstGeom>
          <a:noFill/>
        </p:spPr>
        <p:txBody>
          <a:bodyPr wrap="square">
            <a:noAutofit/>
          </a:bodyPr>
          <a:lstStyle/>
          <a:p>
            <a:pPr/>
            <a:r>
              <a:rPr lang="en-MY" sz="850" b="1" dirty="0">
                <a:solidFill>
                  <a:srgbClr val="7F6000"/>
                </a:solidFill>
              </a:rPr>
              <a:t>SEMAKAN CIDB — MAKLUMAT PENYEMAK, BUKAN PAPARAN PELAJAR</a:t>
            </a:r>
          </a:p>
        </p:txBody>
      </p:sp>
      <p:sp>
        <p:nvSpPr>
          <p:cNvPr id="72" name="AnswerKeyBody"/>
          <p:cNvSpPr txBox="1"/>
          <p:nvPr/>
        </p:nvSpPr>
        <p:spPr>
          <a:xfrm>
            <a:off x="906810" y="4626864"/>
            <a:ext cx="10378440" cy="512064"/>
          </a:xfrm>
          <a:prstGeom prst="rect">
            <a:avLst/>
          </a:prstGeom>
          <a:noFill/>
        </p:spPr>
        <p:txBody>
          <a:bodyPr wrap="square">
            <a:noAutofit/>
          </a:bodyPr>
          <a:lstStyle/>
          <a:p>
            <a:pPr/>
            <a:r>
              <a:rPr lang="en-MY" sz="1250" b="1" dirty="0">
                <a:solidFill>
                  <a:schemeClr val="tx1">
                    <a:lumMod val="85000"/>
                    <a:lumOff val="15000"/>
                  </a:schemeClr>
                </a:solidFill>
              </a:rPr>
              <a:t>Jawapan: A</a:t>
            </a:r>
          </a:p>
          <a:p>
            <a:pPr/>
            <a:r>
              <a:rPr lang="en-MY" sz="1250" b="1" dirty="0">
                <a:solidFill>
                  <a:schemeClr val="tx1">
                    <a:lumMod val="85000"/>
                    <a:lumOff val="15000"/>
                  </a:schemeClr>
                </a:solidFill>
              </a:rPr>
              <a:t>Bahan yang tahan vandalisme dan cuaca</a:t>
            </a:r>
          </a:p>
        </p:txBody>
      </p:sp>
      <p:sp>
        <p:nvSpPr>
          <p:cNvPr id="75" name="FbC"/>
          <p:cNvSpPr txBox="1"/>
          <p:nvPr/>
        </p:nvSpPr>
        <p:spPr>
          <a:xfrm>
            <a:off x="723930" y="5303520"/>
            <a:ext cx="5120640" cy="274320"/>
          </a:xfrm>
          <a:prstGeom prst="rect">
            <a:avLst/>
          </a:prstGeom>
          <a:noFill/>
        </p:spPr>
        <p:txBody>
          <a:bodyPr wrap="square">
            <a:noAutofit/>
          </a:bodyPr>
          <a:lstStyle/>
          <a:p>
            <a:pPr/>
            <a:r>
              <a:rPr lang="en-MY" sz="1250" dirty="0">
                <a:solidFill>
                  <a:srgbClr val="2E7D32"/>
                </a:solidFill>
              </a:rPr>
              <a:t>Pilihan jawapan tepat.</a:t>
            </a:r>
          </a:p>
        </p:txBody>
      </p:sp>
      <p:sp>
        <p:nvSpPr>
          <p:cNvPr id="76" name="FbW"/>
          <p:cNvSpPr txBox="1"/>
          <p:nvPr/>
        </p:nvSpPr>
        <p:spPr>
          <a:xfrm>
            <a:off x="6210330" y="5303520"/>
            <a:ext cx="5120640" cy="274320"/>
          </a:xfrm>
          <a:prstGeom prst="rect">
            <a:avLst/>
          </a:prstGeom>
          <a:noFill/>
        </p:spPr>
        <p:txBody>
          <a:bodyPr wrap="square">
            <a:noAutofit/>
          </a:bodyPr>
          <a:lstStyle/>
          <a:p>
            <a:pPr/>
            <a:r>
              <a:rPr lang="en-MY" sz="1250" dirty="0">
                <a:solidFill>
                  <a:srgbClr val="C0392B"/>
                </a:solidFill>
              </a:rPr>
              <a:t>Pilihan jawapan tidak tepat.</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QUIZ_QUESTION_3</a:t>
            </a:r>
          </a:p>
          <a:p>
            <a:r>
              <a:rPr lang="en-MY" sz="900" dirty="0">
                <a:solidFill>
                  <a:schemeClr val="tx1">
                    <a:lumMod val="85000"/>
                    <a:lumOff val="15000"/>
                  </a:schemeClr>
                </a:solidFill>
              </a:rPr>
              <a:t/>
            </a:r>
          </a:p>
          <a:p>
            <a:r>
              <a:rPr lang="en-MY" sz="900" dirty="0">
                <a:solidFill>
                  <a:schemeClr val="tx1">
                    <a:lumMod val="85000"/>
                    <a:lumOff val="15000"/>
                  </a:schemeClr>
                </a:solidFill>
              </a:rPr>
              <a:t>BUKTI: quiz question with both immediate-feedback variants</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[answer_submitted]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MAKLUM BALAS SERTA-MERTA:</a:t>
            </a:r>
          </a:p>
          <a:p>
            <a:r>
              <a:rPr lang="en-MY" sz="900" dirty="0">
                <a:solidFill>
                  <a:schemeClr val="tx1">
                    <a:lumMod val="85000"/>
                    <a:lumOff val="15000"/>
                  </a:schemeClr>
                </a:solidFill>
              </a:rPr>
              <a:t>  betul: teks "Pilihan jawapan tepat." · SFX SFX_CORRECT · TIADA VO</a:t>
            </a:r>
          </a:p>
          <a:p>
            <a:r>
              <a:rPr lang="en-MY" sz="900" dirty="0">
                <a:solidFill>
                  <a:schemeClr val="tx1">
                    <a:lumMod val="85000"/>
                    <a:lumOff val="15000"/>
                  </a:schemeClr>
                </a:solidFill>
              </a:rPr>
              <a:t>  salah: teks "Pilihan jawapan tidak tepat." · SFX SFX_WRONG · TIADA VO</a:t>
            </a:r>
          </a:p>
          <a:p>
            <a:r>
              <a:rPr lang="en-MY" sz="900" dirty="0">
                <a:solidFill>
                  <a:schemeClr val="tx1">
                    <a:lumMod val="85000"/>
                    <a:lumOff val="15000"/>
                  </a:schemeClr>
                </a:solidFill>
              </a:rPr>
              <a:t>  maklum balas dipaparkan selepas penghantaran sahaja; tidak dituturkan.</a:t>
            </a:r>
          </a:p>
          <a:p>
            <a:r>
              <a:rPr lang="en-MY" sz="900" b="1" dirty="0">
                <a:solidFill>
                  <a:schemeClr val="tx1">
                    <a:lumMod val="85000"/>
                    <a:lumOff val="15000"/>
                  </a:schemeClr>
                </a:solidFill>
              </a:rPr>
              <a:t>KUNCI JAWAPAN (blok semakan CIDB pada halaman semakan):</a:t>
            </a:r>
          </a:p>
          <a:p>
            <a:r>
              <a:rPr lang="en-MY" sz="900" dirty="0">
                <a:solidFill>
                  <a:schemeClr val="tx1">
                    <a:lumMod val="85000"/>
                    <a:lumOff val="15000"/>
                  </a:schemeClr>
                </a:solidFill>
              </a:rPr>
              <a:t>  A</a:t>
            </a:r>
          </a:p>
          <a:p>
            <a:r>
              <a:rPr lang="en-MY" sz="900" dirty="0">
                <a:solidFill>
                  <a:schemeClr val="tx1">
                    <a:lumMod val="85000"/>
                    <a:lumOff val="15000"/>
                  </a:schemeClr>
                </a:solidFill>
              </a:rPr>
              <a:t>  Dijana daripada data jawapan berstruktur yang sama dengan logik kuiz.</a:t>
            </a:r>
          </a:p>
          <a:p>
            <a:r>
              <a:rPr lang="en-MY" sz="900" dirty="0">
                <a:solidFill>
                  <a:schemeClr val="tx1">
                    <a:lumMod val="85000"/>
                    <a:lumOff val="15000"/>
                  </a:schemeClr>
                </a:solidFill>
              </a:rPr>
              <a:t>  BUKAN kandungan masa jalan pra-hantar; tidak dibaca dalam VO.</a:t>
            </a:r>
          </a:p>
          <a:p>
            <a:r>
              <a:rPr lang="en-MY" sz="900" b="1" dirty="0">
                <a:solidFill>
                  <a:schemeClr val="tx1">
                    <a:lumMod val="85000"/>
                    <a:lumOff val="15000"/>
                  </a:schemeClr>
                </a:solidFill>
              </a:rPr>
              <a:t>RASIONAL TERPERINCI (metadata sahaja):</a:t>
            </a:r>
          </a:p>
          <a:p>
            <a:r>
              <a:rPr lang="en-MY" sz="900" dirty="0">
                <a:solidFill>
                  <a:schemeClr val="tx1">
                    <a:lumMod val="85000"/>
                    <a:lumOff val="15000"/>
                  </a:schemeClr>
                </a:solidFill>
              </a:rPr>
              <a:t>  Modul ms 240 menetapkan ketahanan terhadap vandalisme dan cuaca</a:t>
            </a:r>
          </a:p>
          <a:p>
            <a:r>
              <a:rPr lang="en-MY" sz="900" dirty="0">
                <a:solidFill>
                  <a:schemeClr val="tx1">
                    <a:lumMod val="85000"/>
                    <a:lumOff val="15000"/>
                  </a:schemeClr>
                </a:solidFill>
              </a:rPr>
              <a:t>  sebagai pertimbangan utama bagi kemudahan awam.</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Pilih satu jawapan.</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QUIZ_QUESTION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B02-D-11, B02-D-12, B02-D-13</a:t>
            </a:r>
          </a:p>
          <a:p>
            <a:r>
              <a:rPr lang="en-MY" sz="900" dirty="0">
                <a:solidFill>
                  <a:schemeClr val="tx1">
                    <a:lumMod val="85000"/>
                    <a:lumOff val="15000"/>
                  </a:schemeClr>
                </a:solidFill>
              </a:rPr>
              <a:t>STATUS BELUM SELESAI: NONE</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 — Soalan 4</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Soalan 4</a:t>
            </a:r>
          </a:p>
        </p:txBody>
      </p:sp>
      <p:sp>
        <p:nvSpPr>
          <p:cNvPr id="20" name="Kind"/>
          <p:cNvSpPr txBox="1"/>
          <p:nvPr/>
        </p:nvSpPr>
        <p:spPr>
          <a:xfrm>
            <a:off x="723930" y="1152144"/>
            <a:ext cx="10744200" cy="292608"/>
          </a:xfrm>
          <a:prstGeom prst="rect">
            <a:avLst/>
          </a:prstGeom>
          <a:noFill/>
        </p:spPr>
        <p:txBody>
          <a:bodyPr wrap="square">
            <a:noAutofit/>
          </a:bodyPr>
          <a:lstStyle/>
          <a:p>
            <a:pPr/>
            <a:r>
              <a:rPr lang="en-MY" sz="1150" dirty="0">
                <a:solidFill>
                  <a:srgbClr val="808080"/>
                </a:solidFill>
              </a:rPr>
              <a:t>MCQ   ·   sumber: modul ms 241 (3.3.4)</a:t>
            </a:r>
          </a:p>
        </p:txBody>
      </p:sp>
      <p:sp>
        <p:nvSpPr>
          <p:cNvPr id="22" name="Stem"/>
          <p:cNvSpPr txBox="1"/>
          <p:nvPr/>
        </p:nvSpPr>
        <p:spPr>
          <a:xfrm>
            <a:off x="723930" y="1481328"/>
            <a:ext cx="10744200" cy="402336"/>
          </a:xfrm>
          <a:prstGeom prst="rect">
            <a:avLst/>
          </a:prstGeom>
          <a:noFill/>
        </p:spPr>
        <p:txBody>
          <a:bodyPr wrap="square">
            <a:noAutofit/>
          </a:bodyPr>
          <a:lstStyle/>
          <a:p>
            <a:pPr/>
            <a:r>
              <a:rPr lang="en-MY" sz="1600" b="1" dirty="0">
                <a:solidFill>
                  <a:schemeClr val="tx1">
                    <a:lumMod val="85000"/>
                    <a:lumOff val="15000"/>
                  </a:schemeClr>
                </a:solidFill>
              </a:rPr>
              <a:t>Dalam pembinaan water feature, apakah aspek kawalan kualiti air yang dinyatakan dalam modul?</a:t>
            </a:r>
          </a:p>
        </p:txBody>
      </p:sp>
      <p:sp>
        <p:nvSpPr>
          <p:cNvPr id="23" name="Instr"/>
          <p:cNvSpPr txBox="1"/>
          <p:nvPr/>
        </p:nvSpPr>
        <p:spPr>
          <a:xfrm>
            <a:off x="723930" y="1938528"/>
            <a:ext cx="10744200" cy="310896"/>
          </a:xfrm>
          <a:prstGeom prst="rect">
            <a:avLst/>
          </a:prstGeom>
          <a:noFill/>
        </p:spPr>
        <p:txBody>
          <a:bodyPr wrap="square">
            <a:noAutofit/>
          </a:bodyPr>
          <a:lstStyle/>
          <a:p>
            <a:pPr/>
            <a:r>
              <a:rPr lang="en-MY" sz="1400" b="1" dirty="0">
                <a:solidFill>
                  <a:schemeClr val="tx1">
                    <a:lumMod val="85000"/>
                    <a:lumOff val="15000"/>
                  </a:schemeClr>
                </a:solidFill>
              </a:rPr>
              <a:t>Pilih satu jawapan.</a:t>
            </a:r>
          </a:p>
        </p:txBody>
      </p:sp>
      <p:sp>
        <p:nvSpPr>
          <p:cNvPr id="40" name="Opt"/>
          <p:cNvSpPr txBox="1"/>
          <p:nvPr/>
        </p:nvSpPr>
        <p:spPr>
          <a:xfrm>
            <a:off x="998250" y="2340864"/>
            <a:ext cx="10195560" cy="347472"/>
          </a:xfrm>
          <a:prstGeom prst="rect">
            <a:avLst/>
          </a:prstGeom>
          <a:noFill/>
        </p:spPr>
        <p:txBody>
          <a:bodyPr wrap="square">
            <a:noAutofit/>
          </a:bodyPr>
          <a:lstStyle/>
          <a:p>
            <a:pPr/>
            <a:r>
              <a:rPr lang="en-MY" sz="1450" dirty="0">
                <a:solidFill>
                  <a:schemeClr val="tx1">
                    <a:lumMod val="85000"/>
                    <a:lumOff val="15000"/>
                  </a:schemeClr>
                </a:solidFill>
              </a:rPr>
              <a:t>A.  Penambahan garam</a:t>
            </a:r>
          </a:p>
        </p:txBody>
      </p:sp>
      <p:sp>
        <p:nvSpPr>
          <p:cNvPr id="41" name="Opt"/>
          <p:cNvSpPr txBox="1"/>
          <p:nvPr/>
        </p:nvSpPr>
        <p:spPr>
          <a:xfrm>
            <a:off x="998250" y="2724912"/>
            <a:ext cx="10195560" cy="347472"/>
          </a:xfrm>
          <a:prstGeom prst="rect">
            <a:avLst/>
          </a:prstGeom>
          <a:noFill/>
        </p:spPr>
        <p:txBody>
          <a:bodyPr wrap="square">
            <a:noAutofit/>
          </a:bodyPr>
          <a:lstStyle/>
          <a:p>
            <a:pPr/>
            <a:r>
              <a:rPr lang="en-MY" sz="1450" dirty="0">
                <a:solidFill>
                  <a:schemeClr val="tx1">
                    <a:lumMod val="85000"/>
                    <a:lumOff val="15000"/>
                  </a:schemeClr>
                </a:solidFill>
              </a:rPr>
              <a:t>B.  Pencegahan alga</a:t>
            </a:r>
          </a:p>
        </p:txBody>
      </p:sp>
      <p:sp>
        <p:nvSpPr>
          <p:cNvPr id="42" name="Opt"/>
          <p:cNvSpPr txBox="1"/>
          <p:nvPr/>
        </p:nvSpPr>
        <p:spPr>
          <a:xfrm>
            <a:off x="998250" y="3108960"/>
            <a:ext cx="10195560" cy="347472"/>
          </a:xfrm>
          <a:prstGeom prst="rect">
            <a:avLst/>
          </a:prstGeom>
          <a:noFill/>
        </p:spPr>
        <p:txBody>
          <a:bodyPr wrap="square">
            <a:noAutofit/>
          </a:bodyPr>
          <a:lstStyle/>
          <a:p>
            <a:pPr/>
            <a:r>
              <a:rPr lang="en-MY" sz="1450" dirty="0">
                <a:solidFill>
                  <a:schemeClr val="tx1">
                    <a:lumMod val="85000"/>
                    <a:lumOff val="15000"/>
                  </a:schemeClr>
                </a:solidFill>
              </a:rPr>
              <a:t>C.  Pemanasan air</a:t>
            </a:r>
          </a:p>
        </p:txBody>
      </p:sp>
      <p:sp>
        <p:nvSpPr>
          <p:cNvPr id="43" name="Opt"/>
          <p:cNvSpPr txBox="1"/>
          <p:nvPr/>
        </p:nvSpPr>
        <p:spPr>
          <a:xfrm>
            <a:off x="998250" y="3493008"/>
            <a:ext cx="10195560" cy="347472"/>
          </a:xfrm>
          <a:prstGeom prst="rect">
            <a:avLst/>
          </a:prstGeom>
          <a:noFill/>
        </p:spPr>
        <p:txBody>
          <a:bodyPr wrap="square">
            <a:noAutofit/>
          </a:bodyPr>
          <a:lstStyle/>
          <a:p>
            <a:pPr/>
            <a:r>
              <a:rPr lang="en-MY" sz="1450" dirty="0">
                <a:solidFill>
                  <a:schemeClr val="tx1">
                    <a:lumMod val="85000"/>
                    <a:lumOff val="15000"/>
                  </a:schemeClr>
                </a:solidFill>
              </a:rPr>
              <a:t>D.  Pewarnaan air</a:t>
            </a:r>
          </a:p>
        </p:txBody>
      </p:sp>
      <p:sp>
        <p:nvSpPr>
          <p:cNvPr id="70" name="AnswerKeyBox"/>
          <p:cNvSpPr txBox="1"/>
          <p:nvPr/>
        </p:nvSpPr>
        <p:spPr>
          <a:xfrm>
            <a:off x="723930" y="4023360"/>
            <a:ext cx="10744200" cy="822960"/>
          </a:xfrm>
          <a:prstGeom prst="rect">
            <a:avLst/>
          </a:prstGeom>
          <a:solidFill>
            <a:srgbClr val="FFF7E6"/>
          </a:solidFill>
          <a:ln w="12700">
            <a:solidFill>
              <a:srgbClr val="7F6000"/>
            </a:solidFill>
          </a:ln>
        </p:spPr>
        <p:txBody>
          <a:bodyPr wrap="square">
            <a:noAutofit/>
          </a:bodyPr>
          <a:lstStyle/>
        </p:txBody>
      </p:sp>
      <p:sp>
        <p:nvSpPr>
          <p:cNvPr id="71" name="AnswerKeyHead"/>
          <p:cNvSpPr txBox="1"/>
          <p:nvPr/>
        </p:nvSpPr>
        <p:spPr>
          <a:xfrm>
            <a:off x="906810" y="4078224"/>
            <a:ext cx="10378440" cy="219456"/>
          </a:xfrm>
          <a:prstGeom prst="rect">
            <a:avLst/>
          </a:prstGeom>
          <a:noFill/>
        </p:spPr>
        <p:txBody>
          <a:bodyPr wrap="square">
            <a:noAutofit/>
          </a:bodyPr>
          <a:lstStyle/>
          <a:p>
            <a:pPr/>
            <a:r>
              <a:rPr lang="en-MY" sz="850" b="1" dirty="0">
                <a:solidFill>
                  <a:srgbClr val="7F6000"/>
                </a:solidFill>
              </a:rPr>
              <a:t>SEMAKAN CIDB — MAKLUMAT PENYEMAK, BUKAN PAPARAN PELAJAR</a:t>
            </a:r>
          </a:p>
        </p:txBody>
      </p:sp>
      <p:sp>
        <p:nvSpPr>
          <p:cNvPr id="72" name="AnswerKeyBody"/>
          <p:cNvSpPr txBox="1"/>
          <p:nvPr/>
        </p:nvSpPr>
        <p:spPr>
          <a:xfrm>
            <a:off x="906810" y="4315968"/>
            <a:ext cx="10378440" cy="512064"/>
          </a:xfrm>
          <a:prstGeom prst="rect">
            <a:avLst/>
          </a:prstGeom>
          <a:noFill/>
        </p:spPr>
        <p:txBody>
          <a:bodyPr wrap="square">
            <a:noAutofit/>
          </a:bodyPr>
          <a:lstStyle/>
          <a:p>
            <a:pPr/>
            <a:r>
              <a:rPr lang="en-MY" sz="1250" b="1" dirty="0">
                <a:solidFill>
                  <a:schemeClr val="tx1">
                    <a:lumMod val="85000"/>
                    <a:lumOff val="15000"/>
                  </a:schemeClr>
                </a:solidFill>
              </a:rPr>
              <a:t>Jawapan: B</a:t>
            </a:r>
          </a:p>
          <a:p>
            <a:pPr/>
            <a:r>
              <a:rPr lang="en-MY" sz="1250" b="1" dirty="0">
                <a:solidFill>
                  <a:schemeClr val="tx1">
                    <a:lumMod val="85000"/>
                    <a:lumOff val="15000"/>
                  </a:schemeClr>
                </a:solidFill>
              </a:rPr>
              <a:t>Pencegahan alga</a:t>
            </a:r>
          </a:p>
        </p:txBody>
      </p:sp>
      <p:sp>
        <p:nvSpPr>
          <p:cNvPr id="75" name="FbC"/>
          <p:cNvSpPr txBox="1"/>
          <p:nvPr/>
        </p:nvSpPr>
        <p:spPr>
          <a:xfrm>
            <a:off x="723930" y="4992624"/>
            <a:ext cx="5120640" cy="274320"/>
          </a:xfrm>
          <a:prstGeom prst="rect">
            <a:avLst/>
          </a:prstGeom>
          <a:noFill/>
        </p:spPr>
        <p:txBody>
          <a:bodyPr wrap="square">
            <a:noAutofit/>
          </a:bodyPr>
          <a:lstStyle/>
          <a:p>
            <a:pPr/>
            <a:r>
              <a:rPr lang="en-MY" sz="1250" dirty="0">
                <a:solidFill>
                  <a:srgbClr val="2E7D32"/>
                </a:solidFill>
              </a:rPr>
              <a:t>Pilihan jawapan tepat.</a:t>
            </a:r>
          </a:p>
        </p:txBody>
      </p:sp>
      <p:sp>
        <p:nvSpPr>
          <p:cNvPr id="76" name="FbW"/>
          <p:cNvSpPr txBox="1"/>
          <p:nvPr/>
        </p:nvSpPr>
        <p:spPr>
          <a:xfrm>
            <a:off x="6210330" y="4992624"/>
            <a:ext cx="5120640" cy="274320"/>
          </a:xfrm>
          <a:prstGeom prst="rect">
            <a:avLst/>
          </a:prstGeom>
          <a:noFill/>
        </p:spPr>
        <p:txBody>
          <a:bodyPr wrap="square">
            <a:noAutofit/>
          </a:bodyPr>
          <a:lstStyle/>
          <a:p>
            <a:pPr/>
            <a:r>
              <a:rPr lang="en-MY" sz="1250" dirty="0">
                <a:solidFill>
                  <a:srgbClr val="C0392B"/>
                </a:solidFill>
              </a:rPr>
              <a:t>Pilihan jawapan tidak tepat.</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QUIZ_QUESTION_4</a:t>
            </a:r>
          </a:p>
          <a:p>
            <a:r>
              <a:rPr lang="en-MY" sz="900" dirty="0">
                <a:solidFill>
                  <a:schemeClr val="tx1">
                    <a:lumMod val="85000"/>
                    <a:lumOff val="15000"/>
                  </a:schemeClr>
                </a:solidFill>
              </a:rPr>
              <a:t/>
            </a:r>
          </a:p>
          <a:p>
            <a:r>
              <a:rPr lang="en-MY" sz="900" dirty="0">
                <a:solidFill>
                  <a:schemeClr val="tx1">
                    <a:lumMod val="85000"/>
                    <a:lumOff val="15000"/>
                  </a:schemeClr>
                </a:solidFill>
              </a:rPr>
              <a:t>BUKTI: quiz question with both immediate-feedback variants</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[answer_submitted]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MAKLUM BALAS SERTA-MERTA:</a:t>
            </a:r>
          </a:p>
          <a:p>
            <a:r>
              <a:rPr lang="en-MY" sz="900" dirty="0">
                <a:solidFill>
                  <a:schemeClr val="tx1">
                    <a:lumMod val="85000"/>
                    <a:lumOff val="15000"/>
                  </a:schemeClr>
                </a:solidFill>
              </a:rPr>
              <a:t>  betul: teks "Pilihan jawapan tepat." · SFX SFX_CORRECT · TIADA VO</a:t>
            </a:r>
          </a:p>
          <a:p>
            <a:r>
              <a:rPr lang="en-MY" sz="900" dirty="0">
                <a:solidFill>
                  <a:schemeClr val="tx1">
                    <a:lumMod val="85000"/>
                    <a:lumOff val="15000"/>
                  </a:schemeClr>
                </a:solidFill>
              </a:rPr>
              <a:t>  salah: teks "Pilihan jawapan tidak tepat." · SFX SFX_WRONG · TIADA VO</a:t>
            </a:r>
          </a:p>
          <a:p>
            <a:r>
              <a:rPr lang="en-MY" sz="900" dirty="0">
                <a:solidFill>
                  <a:schemeClr val="tx1">
                    <a:lumMod val="85000"/>
                    <a:lumOff val="15000"/>
                  </a:schemeClr>
                </a:solidFill>
              </a:rPr>
              <a:t>  maklum balas dipaparkan selepas penghantaran sahaja; tidak dituturkan.</a:t>
            </a:r>
          </a:p>
          <a:p>
            <a:r>
              <a:rPr lang="en-MY" sz="900" b="1" dirty="0">
                <a:solidFill>
                  <a:schemeClr val="tx1">
                    <a:lumMod val="85000"/>
                    <a:lumOff val="15000"/>
                  </a:schemeClr>
                </a:solidFill>
              </a:rPr>
              <a:t>KUNCI JAWAPAN (blok semakan CIDB pada halaman semakan):</a:t>
            </a:r>
          </a:p>
          <a:p>
            <a:r>
              <a:rPr lang="en-MY" sz="900" dirty="0">
                <a:solidFill>
                  <a:schemeClr val="tx1">
                    <a:lumMod val="85000"/>
                    <a:lumOff val="15000"/>
                  </a:schemeClr>
                </a:solidFill>
              </a:rPr>
              <a:t>  B</a:t>
            </a:r>
          </a:p>
          <a:p>
            <a:r>
              <a:rPr lang="en-MY" sz="900" dirty="0">
                <a:solidFill>
                  <a:schemeClr val="tx1">
                    <a:lumMod val="85000"/>
                    <a:lumOff val="15000"/>
                  </a:schemeClr>
                </a:solidFill>
              </a:rPr>
              <a:t>  Dijana daripada data jawapan berstruktur yang sama dengan logik kuiz.</a:t>
            </a:r>
          </a:p>
          <a:p>
            <a:r>
              <a:rPr lang="en-MY" sz="900" dirty="0">
                <a:solidFill>
                  <a:schemeClr val="tx1">
                    <a:lumMod val="85000"/>
                    <a:lumOff val="15000"/>
                  </a:schemeClr>
                </a:solidFill>
              </a:rPr>
              <a:t>  BUKAN kandungan masa jalan pra-hantar; tidak dibaca dalam VO.</a:t>
            </a:r>
          </a:p>
          <a:p>
            <a:r>
              <a:rPr lang="en-MY" sz="900" b="1" dirty="0">
                <a:solidFill>
                  <a:schemeClr val="tx1">
                    <a:lumMod val="85000"/>
                    <a:lumOff val="15000"/>
                  </a:schemeClr>
                </a:solidFill>
              </a:rPr>
              <a:t>RASIONAL TERPERINCI (metadata sahaja):</a:t>
            </a:r>
          </a:p>
          <a:p>
            <a:r>
              <a:rPr lang="en-MY" sz="900" dirty="0">
                <a:solidFill>
                  <a:schemeClr val="tx1">
                    <a:lumMod val="85000"/>
                    <a:lumOff val="15000"/>
                  </a:schemeClr>
                </a:solidFill>
              </a:rPr>
              <a:t>  Modul ms 241 menyatakan pencegahan alga sebagai aspek kawalan</a:t>
            </a:r>
          </a:p>
          <a:p>
            <a:r>
              <a:rPr lang="en-MY" sz="900" dirty="0">
                <a:solidFill>
                  <a:schemeClr val="tx1">
                    <a:lumMod val="85000"/>
                    <a:lumOff val="15000"/>
                  </a:schemeClr>
                </a:solidFill>
              </a:rPr>
              <a:t>  kualiti air bagi water feature.</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Pilih satu jawapan.</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QUIZ_QUESTION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B02-D-11, B02-D-12, B02-D-13</a:t>
            </a:r>
          </a:p>
          <a:p>
            <a:r>
              <a:rPr lang="en-MY" sz="900" dirty="0">
                <a:solidFill>
                  <a:schemeClr val="tx1">
                    <a:lumMod val="85000"/>
                    <a:lumOff val="15000"/>
                  </a:schemeClr>
                </a:solidFill>
              </a:rPr>
              <a:t>STATUS BELUM SELESAI: NONE</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 — Soalan 5</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Soalan 5</a:t>
            </a:r>
          </a:p>
        </p:txBody>
      </p:sp>
      <p:sp>
        <p:nvSpPr>
          <p:cNvPr id="20" name="Kind"/>
          <p:cNvSpPr txBox="1"/>
          <p:nvPr/>
        </p:nvSpPr>
        <p:spPr>
          <a:xfrm>
            <a:off x="723930" y="1152144"/>
            <a:ext cx="10744200" cy="292608"/>
          </a:xfrm>
          <a:prstGeom prst="rect">
            <a:avLst/>
          </a:prstGeom>
          <a:noFill/>
        </p:spPr>
        <p:txBody>
          <a:bodyPr wrap="square">
            <a:noAutofit/>
          </a:bodyPr>
          <a:lstStyle/>
          <a:p>
            <a:pPr/>
            <a:r>
              <a:rPr lang="en-MY" sz="1150" i="1" dirty="0">
                <a:solidFill>
                  <a:srgbClr val="808080"/>
                </a:solidFill>
              </a:rPr>
              <a:t>Multiple Response</a:t>
            </a:r>
            <a:r>
              <a:rPr lang="en-MY" sz="1150" dirty="0">
                <a:solidFill>
                  <a:srgbClr val="808080"/>
                </a:solidFill>
              </a:rPr>
              <a:t>   ·   sumber: modul ms 242-249 (3.4.1-3.4.3)</a:t>
            </a:r>
          </a:p>
        </p:txBody>
      </p:sp>
      <p:sp>
        <p:nvSpPr>
          <p:cNvPr id="22" name="Stem"/>
          <p:cNvSpPr txBox="1"/>
          <p:nvPr/>
        </p:nvSpPr>
        <p:spPr>
          <a:xfrm>
            <a:off x="723930" y="1481328"/>
            <a:ext cx="10744200" cy="402336"/>
          </a:xfrm>
          <a:prstGeom prst="rect">
            <a:avLst/>
          </a:prstGeom>
          <a:noFill/>
        </p:spPr>
        <p:txBody>
          <a:bodyPr wrap="square">
            <a:noAutofit/>
          </a:bodyPr>
          <a:lstStyle/>
          <a:p>
            <a:pPr/>
            <a:r>
              <a:rPr lang="en-MY" sz="1600" b="1" dirty="0">
                <a:solidFill>
                  <a:schemeClr val="tx1">
                    <a:lumMod val="85000"/>
                    <a:lumOff val="15000"/>
                  </a:schemeClr>
                </a:solidFill>
              </a:rPr>
              <a:t>Pilih SEMUA perabot yang tergolong dalam Perabot Taman.</a:t>
            </a:r>
          </a:p>
        </p:txBody>
      </p:sp>
      <p:sp>
        <p:nvSpPr>
          <p:cNvPr id="23" name="Instr"/>
          <p:cNvSpPr txBox="1"/>
          <p:nvPr/>
        </p:nvSpPr>
        <p:spPr>
          <a:xfrm>
            <a:off x="723930" y="1938528"/>
            <a:ext cx="10744200" cy="310896"/>
          </a:xfrm>
          <a:prstGeom prst="rect">
            <a:avLst/>
          </a:prstGeom>
          <a:noFill/>
        </p:spPr>
        <p:txBody>
          <a:bodyPr wrap="square">
            <a:noAutofit/>
          </a:bodyPr>
          <a:lstStyle/>
          <a:p>
            <a:pPr/>
            <a:r>
              <a:rPr lang="en-MY" sz="1400" b="1" dirty="0">
                <a:solidFill>
                  <a:schemeClr val="tx1">
                    <a:lumMod val="85000"/>
                    <a:lumOff val="15000"/>
                  </a:schemeClr>
                </a:solidFill>
              </a:rPr>
              <a:t>Pilih semua jawapan yang tepat.</a:t>
            </a:r>
          </a:p>
        </p:txBody>
      </p:sp>
      <p:sp>
        <p:nvSpPr>
          <p:cNvPr id="40" name="Opt"/>
          <p:cNvSpPr txBox="1"/>
          <p:nvPr/>
        </p:nvSpPr>
        <p:spPr>
          <a:xfrm>
            <a:off x="998250" y="2340864"/>
            <a:ext cx="10195560" cy="228600"/>
          </a:xfrm>
          <a:prstGeom prst="rect">
            <a:avLst/>
          </a:prstGeom>
          <a:noFill/>
        </p:spPr>
        <p:txBody>
          <a:bodyPr wrap="square">
            <a:noAutofit/>
          </a:bodyPr>
          <a:lstStyle/>
          <a:p>
            <a:pPr/>
            <a:r>
              <a:rPr lang="en-MY" sz="1150" dirty="0">
                <a:solidFill>
                  <a:schemeClr val="tx1">
                    <a:lumMod val="85000"/>
                    <a:lumOff val="15000"/>
                  </a:schemeClr>
                </a:solidFill>
              </a:rPr>
              <a:t>Kerusi Taman</a:t>
            </a:r>
          </a:p>
        </p:txBody>
      </p:sp>
      <p:sp>
        <p:nvSpPr>
          <p:cNvPr id="41" name="Opt"/>
          <p:cNvSpPr txBox="1"/>
          <p:nvPr/>
        </p:nvSpPr>
        <p:spPr>
          <a:xfrm>
            <a:off x="998250" y="2606040"/>
            <a:ext cx="10195560" cy="228600"/>
          </a:xfrm>
          <a:prstGeom prst="rect">
            <a:avLst/>
          </a:prstGeom>
          <a:noFill/>
        </p:spPr>
        <p:txBody>
          <a:bodyPr wrap="square">
            <a:noAutofit/>
          </a:bodyPr>
          <a:lstStyle/>
          <a:p>
            <a:pPr/>
            <a:r>
              <a:rPr lang="en-MY" sz="1150" dirty="0">
                <a:solidFill>
                  <a:schemeClr val="tx1">
                    <a:lumMod val="85000"/>
                    <a:lumOff val="15000"/>
                  </a:schemeClr>
                </a:solidFill>
              </a:rPr>
              <a:t>Papan Tanda</a:t>
            </a:r>
          </a:p>
        </p:txBody>
      </p:sp>
      <p:sp>
        <p:nvSpPr>
          <p:cNvPr id="42" name="Opt"/>
          <p:cNvSpPr txBox="1"/>
          <p:nvPr/>
        </p:nvSpPr>
        <p:spPr>
          <a:xfrm>
            <a:off x="998250" y="2871216"/>
            <a:ext cx="10195560" cy="228600"/>
          </a:xfrm>
          <a:prstGeom prst="rect">
            <a:avLst/>
          </a:prstGeom>
          <a:noFill/>
        </p:spPr>
        <p:txBody>
          <a:bodyPr wrap="square">
            <a:noAutofit/>
          </a:bodyPr>
          <a:lstStyle/>
          <a:p>
            <a:pPr/>
            <a:r>
              <a:rPr lang="en-MY" sz="1150" i="1" dirty="0">
                <a:solidFill>
                  <a:schemeClr val="tx1">
                    <a:lumMod val="85000"/>
                    <a:lumOff val="15000"/>
                  </a:schemeClr>
                </a:solidFill>
              </a:rPr>
              <a:t>Boardwalk</a:t>
            </a:r>
          </a:p>
        </p:txBody>
      </p:sp>
      <p:sp>
        <p:nvSpPr>
          <p:cNvPr id="43" name="Opt"/>
          <p:cNvSpPr txBox="1"/>
          <p:nvPr/>
        </p:nvSpPr>
        <p:spPr>
          <a:xfrm>
            <a:off x="998250" y="3136392"/>
            <a:ext cx="10195560" cy="228600"/>
          </a:xfrm>
          <a:prstGeom prst="rect">
            <a:avLst/>
          </a:prstGeom>
          <a:noFill/>
        </p:spPr>
        <p:txBody>
          <a:bodyPr wrap="square">
            <a:noAutofit/>
          </a:bodyPr>
          <a:lstStyle/>
          <a:p>
            <a:pPr/>
            <a:r>
              <a:rPr lang="en-MY" sz="1150" dirty="0">
                <a:solidFill>
                  <a:schemeClr val="tx1">
                    <a:lumMod val="85000"/>
                    <a:lumOff val="15000"/>
                  </a:schemeClr>
                </a:solidFill>
              </a:rPr>
              <a:t>Tong Sampah</a:t>
            </a:r>
          </a:p>
        </p:txBody>
      </p:sp>
      <p:sp>
        <p:nvSpPr>
          <p:cNvPr id="44" name="Opt"/>
          <p:cNvSpPr txBox="1"/>
          <p:nvPr/>
        </p:nvSpPr>
        <p:spPr>
          <a:xfrm>
            <a:off x="998250" y="3401568"/>
            <a:ext cx="10195560" cy="228600"/>
          </a:xfrm>
          <a:prstGeom prst="rect">
            <a:avLst/>
          </a:prstGeom>
          <a:noFill/>
        </p:spPr>
        <p:txBody>
          <a:bodyPr wrap="square">
            <a:noAutofit/>
          </a:bodyPr>
          <a:lstStyle/>
          <a:p>
            <a:pPr/>
            <a:r>
              <a:rPr lang="en-MY" sz="1150" i="1" dirty="0">
                <a:solidFill>
                  <a:schemeClr val="tx1">
                    <a:lumMod val="85000"/>
                    <a:lumOff val="15000"/>
                  </a:schemeClr>
                </a:solidFill>
              </a:rPr>
              <a:t>Drinking Fountain</a:t>
            </a:r>
          </a:p>
        </p:txBody>
      </p:sp>
      <p:sp>
        <p:nvSpPr>
          <p:cNvPr id="45" name="Opt"/>
          <p:cNvSpPr txBox="1"/>
          <p:nvPr/>
        </p:nvSpPr>
        <p:spPr>
          <a:xfrm>
            <a:off x="998250" y="3666744"/>
            <a:ext cx="10195560" cy="228600"/>
          </a:xfrm>
          <a:prstGeom prst="rect">
            <a:avLst/>
          </a:prstGeom>
          <a:noFill/>
        </p:spPr>
        <p:txBody>
          <a:bodyPr wrap="square">
            <a:noAutofit/>
          </a:bodyPr>
          <a:lstStyle/>
          <a:p>
            <a:pPr/>
            <a:r>
              <a:rPr lang="en-MY" sz="1150" i="1" dirty="0">
                <a:solidFill>
                  <a:schemeClr val="tx1">
                    <a:lumMod val="85000"/>
                    <a:lumOff val="15000"/>
                  </a:schemeClr>
                </a:solidFill>
              </a:rPr>
              <a:t>BBQ Pit</a:t>
            </a:r>
          </a:p>
        </p:txBody>
      </p:sp>
      <p:sp>
        <p:nvSpPr>
          <p:cNvPr id="46" name="Opt"/>
          <p:cNvSpPr txBox="1"/>
          <p:nvPr/>
        </p:nvSpPr>
        <p:spPr>
          <a:xfrm>
            <a:off x="998250" y="3931920"/>
            <a:ext cx="10195560" cy="228600"/>
          </a:xfrm>
          <a:prstGeom prst="rect">
            <a:avLst/>
          </a:prstGeom>
          <a:noFill/>
        </p:spPr>
        <p:txBody>
          <a:bodyPr wrap="square">
            <a:noAutofit/>
          </a:bodyPr>
          <a:lstStyle/>
          <a:p>
            <a:pPr/>
            <a:r>
              <a:rPr lang="en-MY" sz="1150" dirty="0">
                <a:solidFill>
                  <a:schemeClr val="tx1">
                    <a:lumMod val="85000"/>
                    <a:lumOff val="15000"/>
                  </a:schemeClr>
                </a:solidFill>
              </a:rPr>
              <a:t>Gazebo</a:t>
            </a:r>
          </a:p>
        </p:txBody>
      </p:sp>
      <p:sp>
        <p:nvSpPr>
          <p:cNvPr id="70" name="AnswerKeyBox"/>
          <p:cNvSpPr txBox="1"/>
          <p:nvPr/>
        </p:nvSpPr>
        <p:spPr>
          <a:xfrm>
            <a:off x="723930" y="4343400"/>
            <a:ext cx="10744200" cy="1408176"/>
          </a:xfrm>
          <a:prstGeom prst="rect">
            <a:avLst/>
          </a:prstGeom>
          <a:solidFill>
            <a:srgbClr val="FFF7E6"/>
          </a:solidFill>
          <a:ln w="12700">
            <a:solidFill>
              <a:srgbClr val="7F6000"/>
            </a:solidFill>
          </a:ln>
        </p:spPr>
        <p:txBody>
          <a:bodyPr wrap="square">
            <a:noAutofit/>
          </a:bodyPr>
          <a:lstStyle/>
        </p:txBody>
      </p:sp>
      <p:sp>
        <p:nvSpPr>
          <p:cNvPr id="71" name="AnswerKeyHead"/>
          <p:cNvSpPr txBox="1"/>
          <p:nvPr/>
        </p:nvSpPr>
        <p:spPr>
          <a:xfrm>
            <a:off x="906810" y="4398264"/>
            <a:ext cx="10378440" cy="219456"/>
          </a:xfrm>
          <a:prstGeom prst="rect">
            <a:avLst/>
          </a:prstGeom>
          <a:noFill/>
        </p:spPr>
        <p:txBody>
          <a:bodyPr wrap="square">
            <a:noAutofit/>
          </a:bodyPr>
          <a:lstStyle/>
          <a:p>
            <a:pPr/>
            <a:r>
              <a:rPr lang="en-MY" sz="850" b="1" dirty="0">
                <a:solidFill>
                  <a:srgbClr val="7F6000"/>
                </a:solidFill>
              </a:rPr>
              <a:t>SEMAKAN CIDB — MAKLUMAT PENYEMAK, BUKAN PAPARAN PELAJAR</a:t>
            </a:r>
          </a:p>
        </p:txBody>
      </p:sp>
      <p:sp>
        <p:nvSpPr>
          <p:cNvPr id="72" name="AnswerKeyBody"/>
          <p:cNvSpPr txBox="1"/>
          <p:nvPr/>
        </p:nvSpPr>
        <p:spPr>
          <a:xfrm>
            <a:off x="906810" y="4636008"/>
            <a:ext cx="10378440" cy="1097280"/>
          </a:xfrm>
          <a:prstGeom prst="rect">
            <a:avLst/>
          </a:prstGeom>
          <a:noFill/>
        </p:spPr>
        <p:txBody>
          <a:bodyPr wrap="square">
            <a:noAutofit/>
          </a:bodyPr>
          <a:lstStyle/>
          <a:p>
            <a:pPr/>
            <a:r>
              <a:rPr lang="en-MY" sz="950" b="1" dirty="0">
                <a:solidFill>
                  <a:schemeClr val="tx1">
                    <a:lumMod val="85000"/>
                    <a:lumOff val="15000"/>
                  </a:schemeClr>
                </a:solidFill>
              </a:rPr>
              <a:t>Jawapan betul:</a:t>
            </a:r>
          </a:p>
          <a:p>
            <a:pPr/>
            <a:r>
              <a:rPr lang="en-MY" sz="950" b="1" dirty="0">
                <a:solidFill>
                  <a:schemeClr val="tx1">
                    <a:lumMod val="85000"/>
                    <a:lumOff val="15000"/>
                  </a:schemeClr>
                </a:solidFill>
              </a:rPr>
              <a:t>•  Kerusi Taman</a:t>
            </a:r>
          </a:p>
          <a:p>
            <a:pPr/>
            <a:r>
              <a:rPr lang="en-MY" sz="950" b="1" dirty="0">
                <a:solidFill>
                  <a:schemeClr val="tx1">
                    <a:lumMod val="85000"/>
                    <a:lumOff val="15000"/>
                  </a:schemeClr>
                </a:solidFill>
              </a:rPr>
              <a:t>•  Papan Tanda</a:t>
            </a:r>
          </a:p>
          <a:p>
            <a:pPr/>
            <a:r>
              <a:rPr lang="en-MY" sz="950" b="1" dirty="0">
                <a:solidFill>
                  <a:schemeClr val="tx1">
                    <a:lumMod val="85000"/>
                    <a:lumOff val="15000"/>
                  </a:schemeClr>
                </a:solidFill>
              </a:rPr>
              <a:t>•  Tong Sampah</a:t>
            </a:r>
          </a:p>
          <a:p>
            <a:pPr/>
            <a:r>
              <a:rPr lang="en-MY" sz="950" b="1" dirty="0">
                <a:solidFill>
                  <a:schemeClr val="tx1">
                    <a:lumMod val="85000"/>
                    <a:lumOff val="15000"/>
                  </a:schemeClr>
                </a:solidFill>
              </a:rPr>
              <a:t>•  </a:t>
            </a:r>
            <a:r>
              <a:rPr lang="en-MY" sz="950" b="1" i="1" dirty="0">
                <a:solidFill>
                  <a:schemeClr val="tx1">
                    <a:lumMod val="85000"/>
                    <a:lumOff val="15000"/>
                  </a:schemeClr>
                </a:solidFill>
              </a:rPr>
              <a:t>Drinking Fountain</a:t>
            </a:r>
          </a:p>
          <a:p>
            <a:pPr/>
            <a:r>
              <a:rPr lang="en-MY" sz="950" b="1" dirty="0">
                <a:solidFill>
                  <a:schemeClr val="tx1">
                    <a:lumMod val="85000"/>
                    <a:lumOff val="15000"/>
                  </a:schemeClr>
                </a:solidFill>
              </a:rPr>
              <a:t>•  </a:t>
            </a:r>
            <a:r>
              <a:rPr lang="en-MY" sz="950" b="1" i="1" dirty="0">
                <a:solidFill>
                  <a:schemeClr val="tx1">
                    <a:lumMod val="85000"/>
                    <a:lumOff val="15000"/>
                  </a:schemeClr>
                </a:solidFill>
              </a:rPr>
              <a:t>BBQ Pit</a:t>
            </a:r>
          </a:p>
        </p:txBody>
      </p:sp>
      <p:sp>
        <p:nvSpPr>
          <p:cNvPr id="75" name="FbC"/>
          <p:cNvSpPr txBox="1"/>
          <p:nvPr/>
        </p:nvSpPr>
        <p:spPr>
          <a:xfrm>
            <a:off x="723930" y="5897880"/>
            <a:ext cx="5120640" cy="274320"/>
          </a:xfrm>
          <a:prstGeom prst="rect">
            <a:avLst/>
          </a:prstGeom>
          <a:noFill/>
        </p:spPr>
        <p:txBody>
          <a:bodyPr wrap="square">
            <a:noAutofit/>
          </a:bodyPr>
          <a:lstStyle/>
          <a:p>
            <a:pPr/>
            <a:r>
              <a:rPr lang="en-MY" sz="1250" dirty="0">
                <a:solidFill>
                  <a:srgbClr val="2E7D32"/>
                </a:solidFill>
              </a:rPr>
              <a:t>Pilihan jawapan tepat.</a:t>
            </a:r>
          </a:p>
        </p:txBody>
      </p:sp>
      <p:sp>
        <p:nvSpPr>
          <p:cNvPr id="76" name="FbW"/>
          <p:cNvSpPr txBox="1"/>
          <p:nvPr/>
        </p:nvSpPr>
        <p:spPr>
          <a:xfrm>
            <a:off x="6210330" y="5897880"/>
            <a:ext cx="5120640" cy="274320"/>
          </a:xfrm>
          <a:prstGeom prst="rect">
            <a:avLst/>
          </a:prstGeom>
          <a:noFill/>
        </p:spPr>
        <p:txBody>
          <a:bodyPr wrap="square">
            <a:noAutofit/>
          </a:bodyPr>
          <a:lstStyle/>
          <a:p>
            <a:pPr/>
            <a:r>
              <a:rPr lang="en-MY" sz="1250" dirty="0">
                <a:solidFill>
                  <a:srgbClr val="C0392B"/>
                </a:solidFill>
              </a:rPr>
              <a:t>Pilihan jawapan tidak tepat.</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QUIZ_QUESTION_5</a:t>
            </a:r>
          </a:p>
          <a:p>
            <a:r>
              <a:rPr lang="en-MY" sz="900" dirty="0">
                <a:solidFill>
                  <a:schemeClr val="tx1">
                    <a:lumMod val="85000"/>
                    <a:lumOff val="15000"/>
                  </a:schemeClr>
                </a:solidFill>
              </a:rPr>
              <a:t/>
            </a:r>
          </a:p>
          <a:p>
            <a:r>
              <a:rPr lang="en-MY" sz="900" dirty="0">
                <a:solidFill>
                  <a:schemeClr val="tx1">
                    <a:lumMod val="85000"/>
                    <a:lumOff val="15000"/>
                  </a:schemeClr>
                </a:solidFill>
              </a:rPr>
              <a:t>BUKTI: quiz question with both immediate-feedback variants</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[answer_submitted]</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ITEM</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MAKLUM BALAS SERTA-MERTA:</a:t>
            </a:r>
          </a:p>
          <a:p>
            <a:r>
              <a:rPr lang="en-MY" sz="900" dirty="0">
                <a:solidFill>
                  <a:schemeClr val="tx1">
                    <a:lumMod val="85000"/>
                    <a:lumOff val="15000"/>
                  </a:schemeClr>
                </a:solidFill>
              </a:rPr>
              <a:t>  betul: teks "Pilihan jawapan tepat." · SFX SFX_CORRECT · TIADA VO</a:t>
            </a:r>
          </a:p>
          <a:p>
            <a:r>
              <a:rPr lang="en-MY" sz="900" dirty="0">
                <a:solidFill>
                  <a:schemeClr val="tx1">
                    <a:lumMod val="85000"/>
                    <a:lumOff val="15000"/>
                  </a:schemeClr>
                </a:solidFill>
              </a:rPr>
              <a:t>  salah: teks "Pilihan jawapan tidak tepat." · SFX SFX_WRONG · TIADA VO</a:t>
            </a:r>
          </a:p>
          <a:p>
            <a:r>
              <a:rPr lang="en-MY" sz="900" dirty="0">
                <a:solidFill>
                  <a:schemeClr val="tx1">
                    <a:lumMod val="85000"/>
                    <a:lumOff val="15000"/>
                  </a:schemeClr>
                </a:solidFill>
              </a:rPr>
              <a:t>  maklum balas dipaparkan selepas penghantaran sahaja; tidak dituturkan.</a:t>
            </a:r>
          </a:p>
          <a:p>
            <a:r>
              <a:rPr lang="en-MY" sz="900" b="1" dirty="0">
                <a:solidFill>
                  <a:schemeClr val="tx1">
                    <a:lumMod val="85000"/>
                    <a:lumOff val="15000"/>
                  </a:schemeClr>
                </a:solidFill>
              </a:rPr>
              <a:t>KUNCI JAWAPAN (blok semakan CIDB pada halaman semakan):</a:t>
            </a:r>
          </a:p>
          <a:p>
            <a:r>
              <a:rPr lang="en-MY" sz="900" dirty="0">
                <a:solidFill>
                  <a:schemeClr val="tx1">
                    <a:lumMod val="85000"/>
                    <a:lumOff val="15000"/>
                  </a:schemeClr>
                </a:solidFill>
              </a:rPr>
              <a:t>  Kerusi Taman, Papan Tanda, Tong Sampah, Drinking Fountain, BBQ Pit</a:t>
            </a:r>
          </a:p>
          <a:p>
            <a:r>
              <a:rPr lang="en-MY" sz="900" dirty="0">
                <a:solidFill>
                  <a:schemeClr val="tx1">
                    <a:lumMod val="85000"/>
                    <a:lumOff val="15000"/>
                  </a:schemeClr>
                </a:solidFill>
              </a:rPr>
              <a:t>  Dijana daripada data jawapan berstruktur yang sama dengan logik kuiz.</a:t>
            </a:r>
          </a:p>
          <a:p>
            <a:r>
              <a:rPr lang="en-MY" sz="900" dirty="0">
                <a:solidFill>
                  <a:schemeClr val="tx1">
                    <a:lumMod val="85000"/>
                    <a:lumOff val="15000"/>
                  </a:schemeClr>
                </a:solidFill>
              </a:rPr>
              <a:t>  BUKAN kandungan masa jalan pra-hantar; tidak dibaca dalam VO.</a:t>
            </a:r>
          </a:p>
          <a:p>
            <a:r>
              <a:rPr lang="en-MY" sz="900" b="1" dirty="0">
                <a:solidFill>
                  <a:schemeClr val="tx1">
                    <a:lumMod val="85000"/>
                    <a:lumOff val="15000"/>
                  </a:schemeClr>
                </a:solidFill>
              </a:rPr>
              <a:t>RASIONAL TERPERINCI (metadata sahaja):</a:t>
            </a:r>
          </a:p>
          <a:p>
            <a:r>
              <a:rPr lang="en-MY" sz="900" dirty="0">
                <a:solidFill>
                  <a:schemeClr val="tx1">
                    <a:lumMod val="85000"/>
                    <a:lumOff val="15000"/>
                  </a:schemeClr>
                </a:solidFill>
              </a:rPr>
              <a:t>  Boardwalk ialah struktur persisir air dan Gazebo ialah struktur</a:t>
            </a:r>
          </a:p>
          <a:p>
            <a:r>
              <a:rPr lang="en-MY" sz="900" dirty="0">
                <a:solidFill>
                  <a:schemeClr val="tx1">
                    <a:lumMod val="85000"/>
                    <a:lumOff val="15000"/>
                  </a:schemeClr>
                </a:solidFill>
              </a:rPr>
              <a:t>  teduhan; kedua-duanya tergolong dalam Struktur Taman, bukan</a:t>
            </a:r>
          </a:p>
          <a:p>
            <a:r>
              <a:rPr lang="en-MY" sz="900" dirty="0">
                <a:solidFill>
                  <a:schemeClr val="tx1">
                    <a:lumMod val="85000"/>
                    <a:lumOff val="15000"/>
                  </a:schemeClr>
                </a:solidFill>
              </a:rPr>
              <a:t>  Perabot Taman.</a:t>
            </a:r>
          </a:p>
          <a:p>
            <a:r>
              <a:rPr lang="en-MY" sz="900" b="1" dirty="0">
                <a:solidFill>
                  <a:schemeClr val="tx1">
                    <a:lumMod val="85000"/>
                    <a:lumOff val="15000"/>
                  </a:schemeClr>
                </a:solidFill>
              </a:rPr>
              <a:t>LABEL PILIHAN:</a:t>
            </a:r>
          </a:p>
          <a:p>
            <a:r>
              <a:rPr lang="en-MY" sz="900" dirty="0">
                <a:solidFill>
                  <a:schemeClr val="tx1">
                    <a:lumMod val="85000"/>
                    <a:lumOff val="15000"/>
                  </a:schemeClr>
                </a:solidFill>
              </a:rPr>
              <a:t>  TIADA label A/B/C pada pilihan pelajar.</a:t>
            </a:r>
          </a:p>
          <a:p>
            <a:r>
              <a:rPr lang="en-MY" sz="900" b="1" dirty="0">
                <a:solidFill>
                  <a:schemeClr val="tx1">
                    <a:lumMod val="85000"/>
                    <a:lumOff val="15000"/>
                  </a:schemeClr>
                </a:solidFill>
              </a:rPr>
              <a:t>ARAHAN INTERAKSI (kanvas = VO):</a:t>
            </a:r>
          </a:p>
          <a:p>
            <a:r>
              <a:rPr lang="en-MY" sz="900" dirty="0">
                <a:solidFill>
                  <a:schemeClr val="tx1">
                    <a:lumMod val="85000"/>
                    <a:lumOff val="15000"/>
                  </a:schemeClr>
                </a:solidFill>
              </a:rPr>
              <a:t>  Pilih semua jawapan yang tepat.</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QUIZ_QUESTION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B02-D-11, B02-D-12, B02-D-13</a:t>
            </a:r>
          </a:p>
          <a:p>
            <a:r>
              <a:rPr lang="en-MY" sz="900" dirty="0">
                <a:solidFill>
                  <a:schemeClr val="tx1">
                    <a:lumMod val="85000"/>
                    <a:lumOff val="15000"/>
                  </a:schemeClr>
                </a:solidFill>
              </a:rPr>
              <a:t>STATUS BELUM SELESAI: U-05</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Kuiz — Keputusan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Kuiz — Keputusan</a:t>
            </a:r>
          </a:p>
        </p:txBody>
      </p:sp>
      <p:sp>
        <p:nvSpPr>
          <p:cNvPr id="20" name="Score"/>
          <p:cNvSpPr txBox="1"/>
          <p:nvPr/>
        </p:nvSpPr>
        <p:spPr>
          <a:xfrm>
            <a:off x="723930" y="1463040"/>
            <a:ext cx="10744200" cy="731520"/>
          </a:xfrm>
          <a:prstGeom prst="rect">
            <a:avLst/>
          </a:prstGeom>
          <a:noFill/>
        </p:spPr>
        <p:txBody>
          <a:bodyPr wrap="square">
            <a:noAutofit/>
          </a:bodyPr>
          <a:lstStyle/>
          <a:p>
            <a:pPr/>
            <a:r>
              <a:rPr lang="en-MY" sz="2800" b="1" dirty="0">
                <a:solidFill>
                  <a:schemeClr val="tx1">
                    <a:lumMod val="85000"/>
                    <a:lumOff val="15000"/>
                  </a:schemeClr>
                </a:solidFill>
              </a:rPr>
              <a:t>Markah: 4 / 5</a:t>
            </a:r>
          </a:p>
        </p:txBody>
      </p:sp>
      <p:sp>
        <p:nvSpPr>
          <p:cNvPr id="21" name="Verdict"/>
          <p:cNvSpPr txBox="1"/>
          <p:nvPr/>
        </p:nvSpPr>
        <p:spPr>
          <a:xfrm>
            <a:off x="723930" y="2286000"/>
            <a:ext cx="10744200" cy="457200"/>
          </a:xfrm>
          <a:prstGeom prst="rect">
            <a:avLst/>
          </a:prstGeom>
          <a:noFill/>
        </p:spPr>
        <p:txBody>
          <a:bodyPr wrap="square">
            <a:noAutofit/>
          </a:bodyPr>
          <a:lstStyle/>
          <a:p>
            <a:pPr/>
            <a:r>
              <a:rPr lang="en-MY" sz="2200" b="1" dirty="0">
                <a:solidFill>
                  <a:srgbClr val="2E7D32"/>
                </a:solidFill>
              </a:rPr>
              <a:t>Lulus</a:t>
            </a:r>
          </a:p>
        </p:txBody>
      </p:sp>
      <p:sp>
        <p:nvSpPr>
          <p:cNvPr id="22" name="Pass"/>
          <p:cNvSpPr txBox="1"/>
          <p:nvPr/>
        </p:nvSpPr>
        <p:spPr>
          <a:xfrm>
            <a:off x="723930" y="2834640"/>
            <a:ext cx="10744200" cy="329184"/>
          </a:xfrm>
          <a:prstGeom prst="rect">
            <a:avLst/>
          </a:prstGeom>
          <a:noFill/>
        </p:spPr>
        <p:txBody>
          <a:bodyPr wrap="square">
            <a:noAutofit/>
          </a:bodyPr>
          <a:lstStyle/>
          <a:p>
            <a:pPr/>
            <a:r>
              <a:rPr lang="en-MY" sz="1300" dirty="0">
                <a:solidFill>
                  <a:srgbClr val="808080"/>
                </a:solidFill>
              </a:rPr>
              <a:t>Lulus: 3/5 = 60%</a:t>
            </a:r>
          </a:p>
        </p:txBody>
      </p:sp>
      <p:sp>
        <p:nvSpPr>
          <p:cNvPr id="60" name="Btn"/>
          <p:cNvSpPr txBox="1"/>
          <p:nvPr/>
        </p:nvSpPr>
        <p:spPr>
          <a:xfrm>
            <a:off x="723930" y="3749040"/>
            <a:ext cx="2103120" cy="420624"/>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Semak Jawapan</a:t>
            </a:r>
          </a:p>
        </p:txBody>
      </p:sp>
      <p:sp>
        <p:nvSpPr>
          <p:cNvPr id="61" name="Btn"/>
          <p:cNvSpPr txBox="1"/>
          <p:nvPr/>
        </p:nvSpPr>
        <p:spPr>
          <a:xfrm>
            <a:off x="3101370" y="3749040"/>
            <a:ext cx="2103120" cy="420624"/>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Ulang Kuiz</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QUIZ_RESULT</a:t>
            </a:r>
          </a:p>
          <a:p>
            <a:r>
              <a:rPr lang="en-MY" sz="900" dirty="0">
                <a:solidFill>
                  <a:schemeClr val="tx1">
                    <a:lumMod val="85000"/>
                    <a:lumOff val="15000"/>
                  </a:schemeClr>
                </a:solidFill>
              </a:rPr>
              <a:t/>
            </a:r>
          </a:p>
          <a:p>
            <a:r>
              <a:rPr lang="en-MY" sz="900" dirty="0">
                <a:solidFill>
                  <a:schemeClr val="tx1">
                    <a:lumMod val="85000"/>
                    <a:lumOff val="15000"/>
                  </a:schemeClr>
                </a:solidFill>
              </a:rPr>
              <a:t>BUKTI: quiz result</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[always_enabled — score does not gate progression]</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QUIZ</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KEPUTUSAN:</a:t>
            </a:r>
          </a:p>
          <a:p>
            <a:r>
              <a:rPr lang="en-MY" sz="900" dirty="0">
                <a:solidFill>
                  <a:schemeClr val="tx1">
                    <a:lumMod val="85000"/>
                    <a:lumOff val="15000"/>
                  </a:schemeClr>
                </a:solidFill>
              </a:rPr>
              <a:t>  Markah dipaparkan. Keputusan: Lulus / Tidak Lulus. Lulus: 3/5 = 60%.</a:t>
            </a:r>
          </a:p>
          <a:p>
            <a:r>
              <a:rPr lang="en-MY" sz="900" dirty="0">
                <a:solidFill>
                  <a:schemeClr val="tx1">
                    <a:lumMod val="85000"/>
                    <a:lumOff val="15000"/>
                  </a:schemeClr>
                </a:solidFill>
              </a:rPr>
              <a:t>  Kawalan: Semak Jawapan, Ulang Kuiz. Cuba semula: sukarela.</a:t>
            </a:r>
          </a:p>
          <a:p>
            <a:r>
              <a:rPr lang="en-MY" sz="900" dirty="0">
                <a:solidFill>
                  <a:schemeClr val="tx1">
                    <a:lumMod val="85000"/>
                    <a:lumOff val="15000"/>
                  </a:schemeClr>
                </a:solidFill>
              </a:rPr>
              <a:t>  Markah di bawah 60% TIDAK menyekat kemajuan yang lebih luas.</a:t>
            </a:r>
          </a:p>
          <a:p>
            <a:r>
              <a:rPr lang="en-MY" sz="900" b="1" dirty="0">
                <a:solidFill>
                  <a:schemeClr val="tx1">
                    <a:lumMod val="85000"/>
                    <a:lumOff val="15000"/>
                  </a:schemeClr>
                </a:solidFill>
              </a:rPr>
              <a:t>RASIONAL TERPERINCI:</a:t>
            </a:r>
          </a:p>
          <a:p>
            <a:r>
              <a:rPr lang="en-MY" sz="900" dirty="0">
                <a:solidFill>
                  <a:schemeClr val="tx1">
                    <a:lumMod val="85000"/>
                    <a:lumOff val="15000"/>
                  </a:schemeClr>
                </a:solidFill>
              </a:rPr>
              <a:t>  Kekal sebagai metadata produksi sahaja sehingga Bariah mengesahkan</a:t>
            </a:r>
          </a:p>
          <a:p>
            <a:r>
              <a:rPr lang="en-MY" sz="900" dirty="0">
                <a:solidFill>
                  <a:schemeClr val="tx1">
                    <a:lumMod val="85000"/>
                    <a:lumOff val="15000"/>
                  </a:schemeClr>
                </a:solidFill>
              </a:rPr>
              <a:t>  penempatan akhirnya (U-05).</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QUIZ_RESULT</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B02-D-11</a:t>
            </a:r>
          </a:p>
          <a:p>
            <a:r>
              <a:rPr lang="en-MY" sz="900" dirty="0">
                <a:solidFill>
                  <a:schemeClr val="tx1">
                    <a:lumMod val="85000"/>
                    <a:lumOff val="15000"/>
                  </a:schemeClr>
                </a:solidFill>
              </a:rPr>
              <a:t>STATUS BELUM SELESAI: NONE</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Semak Jawapan</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Semak Jawapan</a:t>
            </a:r>
          </a:p>
        </p:txBody>
      </p:sp>
      <p:sp>
        <p:nvSpPr>
          <p:cNvPr id="20" name="Intro"/>
          <p:cNvSpPr txBox="1"/>
          <p:nvPr/>
        </p:nvSpPr>
        <p:spPr>
          <a:xfrm>
            <a:off x="723930" y="1188720"/>
            <a:ext cx="10744200" cy="365760"/>
          </a:xfrm>
          <a:prstGeom prst="rect">
            <a:avLst/>
          </a:prstGeom>
          <a:noFill/>
        </p:spPr>
        <p:txBody>
          <a:bodyPr wrap="square">
            <a:noAutofit/>
          </a:bodyPr>
          <a:lstStyle/>
          <a:p>
            <a:pPr/>
            <a:r>
              <a:rPr lang="en-MY" sz="1600" b="1" dirty="0">
                <a:solidFill>
                  <a:schemeClr val="tx1">
                    <a:lumMod val="85000"/>
                    <a:lumOff val="15000"/>
                  </a:schemeClr>
                </a:solidFill>
              </a:rPr>
              <a:t>Semakan jawapan bagi kelima-lima soalan.</a:t>
            </a:r>
          </a:p>
        </p:txBody>
      </p:sp>
      <p:sp>
        <p:nvSpPr>
          <p:cNvPr id="42" name="RvQ"/>
          <p:cNvSpPr txBox="1"/>
          <p:nvPr/>
        </p:nvSpPr>
        <p:spPr>
          <a:xfrm>
            <a:off x="723930" y="1755648"/>
            <a:ext cx="10744200" cy="566928"/>
          </a:xfrm>
          <a:prstGeom prst="rect">
            <a:avLst/>
          </a:prstGeom>
          <a:noFill/>
        </p:spPr>
        <p:txBody>
          <a:bodyPr wrap="square">
            <a:noAutofit/>
          </a:bodyPr>
          <a:lstStyle/>
          <a:p>
            <a:pPr/>
            <a:r>
              <a:rPr lang="en-MY" sz="1250" dirty="0">
                <a:solidFill>
                  <a:schemeClr val="tx1">
                    <a:lumMod val="85000"/>
                    <a:lumOff val="15000"/>
                  </a:schemeClr>
                </a:solidFill>
              </a:rPr>
              <a:t>Soalan 1: Struktur persisir air dibina di tepi badan air seperti tasik, sungai atau pantai. Apakah</a:t>
            </a:r>
          </a:p>
          <a:p>
            <a:pPr/>
            <a:r>
              <a:rPr lang="en-MY" sz="1250" dirty="0">
                <a:solidFill>
                  <a:schemeClr val="tx1">
                    <a:lumMod val="85000"/>
                    <a:lumOff val="15000"/>
                  </a:schemeClr>
                </a:solidFill>
              </a:rPr>
              <a:t>keperluan pembinaan yang paling kritikal bagi struktur ini?</a:t>
            </a:r>
          </a:p>
        </p:txBody>
      </p:sp>
      <p:sp>
        <p:nvSpPr>
          <p:cNvPr id="43" name="RvA"/>
          <p:cNvSpPr txBox="1"/>
          <p:nvPr/>
        </p:nvSpPr>
        <p:spPr>
          <a:xfrm>
            <a:off x="998250" y="2304288"/>
            <a:ext cx="10195560" cy="274320"/>
          </a:xfrm>
          <a:prstGeom prst="rect">
            <a:avLst/>
          </a:prstGeom>
          <a:noFill/>
        </p:spPr>
        <p:txBody>
          <a:bodyPr wrap="square">
            <a:noAutofit/>
          </a:bodyPr>
          <a:lstStyle/>
          <a:p>
            <a:pPr/>
            <a:r>
              <a:rPr lang="en-MY" sz="1250" b="1" dirty="0">
                <a:solidFill>
                  <a:srgbClr val="2E7D32"/>
                </a:solidFill>
              </a:rPr>
              <a:t>Jawapan: B</a:t>
            </a:r>
          </a:p>
        </p:txBody>
      </p:sp>
      <p:sp>
        <p:nvSpPr>
          <p:cNvPr id="44" name="RvQ"/>
          <p:cNvSpPr txBox="1"/>
          <p:nvPr/>
        </p:nvSpPr>
        <p:spPr>
          <a:xfrm>
            <a:off x="723930" y="2688336"/>
            <a:ext cx="10744200" cy="566928"/>
          </a:xfrm>
          <a:prstGeom prst="rect">
            <a:avLst/>
          </a:prstGeom>
          <a:noFill/>
        </p:spPr>
        <p:txBody>
          <a:bodyPr wrap="square">
            <a:noAutofit/>
          </a:bodyPr>
          <a:lstStyle/>
          <a:p>
            <a:pPr/>
            <a:r>
              <a:rPr lang="en-MY" sz="1250" dirty="0">
                <a:solidFill>
                  <a:schemeClr val="tx1">
                    <a:lumMod val="85000"/>
                    <a:lumOff val="15000"/>
                  </a:schemeClr>
                </a:solidFill>
              </a:rPr>
              <a:t>Soalan 2: Manakah antara berikut merupakan struktur teduhan tradisional Melayu yang digunakan sebagai</a:t>
            </a:r>
          </a:p>
          <a:p>
            <a:pPr/>
            <a:r>
              <a:rPr lang="en-MY" sz="1250" dirty="0">
                <a:solidFill>
                  <a:schemeClr val="tx1">
                    <a:lumMod val="85000"/>
                    <a:lumOff val="15000"/>
                  </a:schemeClr>
                </a:solidFill>
              </a:rPr>
              <a:t>tempat berehat?</a:t>
            </a:r>
          </a:p>
        </p:txBody>
      </p:sp>
      <p:sp>
        <p:nvSpPr>
          <p:cNvPr id="45" name="RvA"/>
          <p:cNvSpPr txBox="1"/>
          <p:nvPr/>
        </p:nvSpPr>
        <p:spPr>
          <a:xfrm>
            <a:off x="998250" y="3236976"/>
            <a:ext cx="10195560" cy="274320"/>
          </a:xfrm>
          <a:prstGeom prst="rect">
            <a:avLst/>
          </a:prstGeom>
          <a:noFill/>
        </p:spPr>
        <p:txBody>
          <a:bodyPr wrap="square">
            <a:noAutofit/>
          </a:bodyPr>
          <a:lstStyle/>
          <a:p>
            <a:pPr/>
            <a:r>
              <a:rPr lang="en-MY" sz="1250" b="1" dirty="0">
                <a:solidFill>
                  <a:srgbClr val="2E7D32"/>
                </a:solidFill>
              </a:rPr>
              <a:t>Jawapan: C</a:t>
            </a:r>
          </a:p>
        </p:txBody>
      </p:sp>
      <p:sp>
        <p:nvSpPr>
          <p:cNvPr id="46" name="RvQ"/>
          <p:cNvSpPr txBox="1"/>
          <p:nvPr/>
        </p:nvSpPr>
        <p:spPr>
          <a:xfrm>
            <a:off x="723930" y="3621024"/>
            <a:ext cx="10744200" cy="566928"/>
          </a:xfrm>
          <a:prstGeom prst="rect">
            <a:avLst/>
          </a:prstGeom>
          <a:noFill/>
        </p:spPr>
        <p:txBody>
          <a:bodyPr wrap="square">
            <a:noAutofit/>
          </a:bodyPr>
          <a:lstStyle/>
          <a:p>
            <a:pPr/>
            <a:r>
              <a:rPr lang="en-MY" sz="1250" dirty="0">
                <a:solidFill>
                  <a:schemeClr val="tx1">
                    <a:lumMod val="85000"/>
                    <a:lumOff val="15000"/>
                  </a:schemeClr>
                </a:solidFill>
              </a:rPr>
              <a:t>Soalan 3: Apakah pertimbangan utama dalam pemilihan bahan bagi kemudahan awam seperti tandas dan surau</a:t>
            </a:r>
          </a:p>
          <a:p>
            <a:pPr/>
            <a:r>
              <a:rPr lang="en-MY" sz="1250" dirty="0">
                <a:solidFill>
                  <a:schemeClr val="tx1">
                    <a:lumMod val="85000"/>
                    <a:lumOff val="15000"/>
                  </a:schemeClr>
                </a:solidFill>
              </a:rPr>
              <a:t>di taman?</a:t>
            </a:r>
          </a:p>
        </p:txBody>
      </p:sp>
      <p:sp>
        <p:nvSpPr>
          <p:cNvPr id="47" name="RvA"/>
          <p:cNvSpPr txBox="1"/>
          <p:nvPr/>
        </p:nvSpPr>
        <p:spPr>
          <a:xfrm>
            <a:off x="998250" y="4169664"/>
            <a:ext cx="10195560" cy="274320"/>
          </a:xfrm>
          <a:prstGeom prst="rect">
            <a:avLst/>
          </a:prstGeom>
          <a:noFill/>
        </p:spPr>
        <p:txBody>
          <a:bodyPr wrap="square">
            <a:noAutofit/>
          </a:bodyPr>
          <a:lstStyle/>
          <a:p>
            <a:pPr/>
            <a:r>
              <a:rPr lang="en-MY" sz="1250" b="1" dirty="0">
                <a:solidFill>
                  <a:srgbClr val="2E7D32"/>
                </a:solidFill>
              </a:rPr>
              <a:t>Jawapan: A</a:t>
            </a:r>
          </a:p>
        </p:txBody>
      </p:sp>
      <p:sp>
        <p:nvSpPr>
          <p:cNvPr id="48" name="RvQ"/>
          <p:cNvSpPr txBox="1"/>
          <p:nvPr/>
        </p:nvSpPr>
        <p:spPr>
          <a:xfrm>
            <a:off x="723930" y="4553712"/>
            <a:ext cx="10744200" cy="310896"/>
          </a:xfrm>
          <a:prstGeom prst="rect">
            <a:avLst/>
          </a:prstGeom>
          <a:noFill/>
        </p:spPr>
        <p:txBody>
          <a:bodyPr wrap="square">
            <a:noAutofit/>
          </a:bodyPr>
          <a:lstStyle/>
          <a:p>
            <a:pPr/>
            <a:r>
              <a:rPr lang="en-MY" sz="1250" dirty="0">
                <a:solidFill>
                  <a:schemeClr val="tx1">
                    <a:lumMod val="85000"/>
                    <a:lumOff val="15000"/>
                  </a:schemeClr>
                </a:solidFill>
              </a:rPr>
              <a:t>Soalan 4: Dalam pembinaan water feature, apakah aspek kawalan kualiti air yang dinyatakan dalam modul?</a:t>
            </a:r>
          </a:p>
        </p:txBody>
      </p:sp>
      <p:sp>
        <p:nvSpPr>
          <p:cNvPr id="49" name="RvA"/>
          <p:cNvSpPr txBox="1"/>
          <p:nvPr/>
        </p:nvSpPr>
        <p:spPr>
          <a:xfrm>
            <a:off x="998250" y="4846320"/>
            <a:ext cx="10195560" cy="274320"/>
          </a:xfrm>
          <a:prstGeom prst="rect">
            <a:avLst/>
          </a:prstGeom>
          <a:noFill/>
        </p:spPr>
        <p:txBody>
          <a:bodyPr wrap="square">
            <a:noAutofit/>
          </a:bodyPr>
          <a:lstStyle/>
          <a:p>
            <a:pPr/>
            <a:r>
              <a:rPr lang="en-MY" sz="1250" b="1" dirty="0">
                <a:solidFill>
                  <a:srgbClr val="2E7D32"/>
                </a:solidFill>
              </a:rPr>
              <a:t>Jawapan: B</a:t>
            </a:r>
          </a:p>
        </p:txBody>
      </p:sp>
      <p:sp>
        <p:nvSpPr>
          <p:cNvPr id="50" name="RvQ"/>
          <p:cNvSpPr txBox="1"/>
          <p:nvPr/>
        </p:nvSpPr>
        <p:spPr>
          <a:xfrm>
            <a:off x="723930" y="5230368"/>
            <a:ext cx="10744200" cy="310896"/>
          </a:xfrm>
          <a:prstGeom prst="rect">
            <a:avLst/>
          </a:prstGeom>
          <a:noFill/>
        </p:spPr>
        <p:txBody>
          <a:bodyPr wrap="square">
            <a:noAutofit/>
          </a:bodyPr>
          <a:lstStyle/>
          <a:p>
            <a:pPr/>
            <a:r>
              <a:rPr lang="en-MY" sz="1250" dirty="0">
                <a:solidFill>
                  <a:schemeClr val="tx1">
                    <a:lumMod val="85000"/>
                    <a:lumOff val="15000"/>
                  </a:schemeClr>
                </a:solidFill>
              </a:rPr>
              <a:t>Soalan 5: Pilih SEMUA perabot yang tergolong dalam Perabot Taman.</a:t>
            </a:r>
          </a:p>
        </p:txBody>
      </p:sp>
      <p:sp>
        <p:nvSpPr>
          <p:cNvPr id="51" name="RvA"/>
          <p:cNvSpPr txBox="1"/>
          <p:nvPr/>
        </p:nvSpPr>
        <p:spPr>
          <a:xfrm>
            <a:off x="998250" y="5522976"/>
            <a:ext cx="10195560" cy="274320"/>
          </a:xfrm>
          <a:prstGeom prst="rect">
            <a:avLst/>
          </a:prstGeom>
          <a:noFill/>
        </p:spPr>
        <p:txBody>
          <a:bodyPr wrap="square">
            <a:noAutofit/>
          </a:bodyPr>
          <a:lstStyle/>
          <a:p>
            <a:pPr/>
            <a:r>
              <a:rPr lang="en-MY" sz="1250" b="1" dirty="0">
                <a:solidFill>
                  <a:srgbClr val="2E7D32"/>
                </a:solidFill>
              </a:rPr>
              <a:t>Jawapan: Kerusi Taman, Papan Tanda, Tong Sampah, </a:t>
            </a:r>
            <a:r>
              <a:rPr lang="en-MY" sz="1250" b="1" i="1" dirty="0">
                <a:solidFill>
                  <a:srgbClr val="2E7D32"/>
                </a:solidFill>
              </a:rPr>
              <a:t>Drinking Fountain</a:t>
            </a:r>
            <a:r>
              <a:rPr lang="en-MY" sz="1250" b="1" dirty="0">
                <a:solidFill>
                  <a:srgbClr val="2E7D32"/>
                </a:solidFill>
              </a:rPr>
              <a:t>, </a:t>
            </a:r>
            <a:r>
              <a:rPr lang="en-MY" sz="1250" b="1" i="1" dirty="0">
                <a:solidFill>
                  <a:srgbClr val="2E7D32"/>
                </a:solidFill>
              </a:rPr>
              <a:t>BBQ Pit</a:t>
            </a:r>
          </a:p>
        </p:txBody>
      </p:sp>
      <p:sp>
        <p:nvSpPr>
          <p:cNvPr id="60" name="Btn"/>
          <p:cNvSpPr txBox="1"/>
          <p:nvPr/>
        </p:nvSpPr>
        <p:spPr>
          <a:xfrm>
            <a:off x="723930" y="5888736"/>
            <a:ext cx="2103120" cy="420624"/>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Ulang Kuiz</a:t>
            </a:r>
          </a:p>
        </p:txBody>
      </p:sp>
      <p:sp>
        <p:nvSpPr>
          <p:cNvPr id="95" name="Btn"/>
          <p:cNvSpPr txBox="1"/>
          <p:nvPr/>
        </p:nvSpPr>
        <p:spPr>
          <a:xfrm>
            <a:off x="5295885" y="6419088"/>
            <a:ext cx="1600200" cy="347472"/>
          </a:xfrm>
          <a:prstGeom prst="rect">
            <a:avLst/>
          </a:prstGeom>
          <a:solidFill>
            <a:srgbClr val="1F4E79"/>
          </a:solidFill>
          <a:ln w="12700">
            <a:solidFill>
              <a:srgbClr val="1F4E79"/>
            </a:solidFill>
          </a:ln>
        </p:spPr>
        <p:txBody>
          <a:bodyPr wrap="square" anchor="ctr">
            <a:noAutofit/>
          </a:bodyPr>
          <a:lstStyle/>
          <a:p>
            <a:pPr algn="ctr"/>
            <a:r>
              <a:rPr lang="en-MY" sz="1600" b="1" dirty="0">
                <a:solidFill>
                  <a:srgbClr val="FFFFFF"/>
                </a:solidFill>
              </a:rPr>
              <a:t>Kembali</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Kuiz — semakan pengetahuan</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QUIZ_REVIEW</a:t>
            </a:r>
          </a:p>
          <a:p>
            <a:r>
              <a:rPr lang="en-MY" sz="900" dirty="0">
                <a:solidFill>
                  <a:schemeClr val="tx1">
                    <a:lumMod val="85000"/>
                    <a:lumOff val="15000"/>
                  </a:schemeClr>
                </a:solidFill>
              </a:rPr>
              <a:t/>
            </a:r>
          </a:p>
          <a:p>
            <a:r>
              <a:rPr lang="en-MY" sz="900" dirty="0">
                <a:solidFill>
                  <a:schemeClr val="tx1">
                    <a:lumMod val="85000"/>
                    <a:lumOff val="15000"/>
                  </a:schemeClr>
                </a:solidFill>
              </a:rPr>
              <a:t>BUKTI: Semak Jawapan / Ulang Kuiz</a:t>
            </a:r>
          </a:p>
          <a:p>
            <a:r>
              <a:rPr lang="en-MY" sz="900" dirty="0">
                <a:solidFill>
                  <a:schemeClr val="tx1">
                    <a:lumMod val="85000"/>
                    <a:lumOff val="15000"/>
                  </a:schemeClr>
                </a:solidFill>
              </a:rPr>
              <a:t>POLISI NOTA: QUIZ_NOTES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NO_CONTROL  [none]</a:t>
            </a:r>
          </a:p>
          <a:p>
            <a:r>
              <a:rPr lang="en-MY" sz="900" dirty="0">
                <a:solidFill>
                  <a:schemeClr val="tx1">
                    <a:lumMod val="85000"/>
                    <a:lumOff val="15000"/>
                  </a:schemeClr>
                </a:solidFill>
              </a:rPr>
              <a:t>  back  = KEMBALI_BUTTON  [always_enabled]</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ST_KUIZ_RESULT</a:t>
            </a:r>
          </a:p>
          <a:p>
            <a:r>
              <a:rPr lang="en-MY" sz="900" dirty="0">
                <a:solidFill>
                  <a:schemeClr val="tx1">
                    <a:lumMod val="85000"/>
                    <a:lumOff val="15000"/>
                  </a:schemeClr>
                </a:solidFill>
              </a:rPr>
              <a:t>SKOP SELESAI: QUIZ</a:t>
            </a:r>
          </a:p>
          <a:p>
            <a:r>
              <a:rPr lang="en-MY" sz="900" dirty="0">
                <a:solidFill>
                  <a:schemeClr val="tx1">
                    <a:lumMod val="85000"/>
                    <a:lumOff val="15000"/>
                  </a:schemeClr>
                </a:solidFill>
              </a:rPr>
              <a:t>PERSISTEN: PERSIST_ON_REVISIT_AND_LMS_RESUME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SCR_KUIZ</a:t>
            </a:r>
          </a:p>
          <a:p>
            <a:r>
              <a:rPr lang="en-MY" sz="900" b="1" dirty="0">
                <a:solidFill>
                  <a:schemeClr val="tx1">
                    <a:lumMod val="85000"/>
                    <a:lumOff val="15000"/>
                  </a:schemeClr>
                </a:solidFill>
              </a:rPr>
              <a:t>SEMAK JAWAPAN:</a:t>
            </a:r>
          </a:p>
          <a:p>
            <a:r>
              <a:rPr lang="en-MY" sz="900" dirty="0">
                <a:solidFill>
                  <a:schemeClr val="tx1">
                    <a:lumMod val="85000"/>
                    <a:lumOff val="15000"/>
                  </a:schemeClr>
                </a:solidFill>
              </a:rPr>
              <a:t>  Jawapan betul dipaparkan bagi kelima-lima soalan.</a:t>
            </a:r>
          </a:p>
          <a:p>
            <a:r>
              <a:rPr lang="en-MY" sz="900" dirty="0">
                <a:solidFill>
                  <a:schemeClr val="tx1">
                    <a:lumMod val="85000"/>
                    <a:lumOff val="15000"/>
                  </a:schemeClr>
                </a:solidFill>
              </a:rPr>
              <a:t>  Cuba semula bersifat sukarela.</a:t>
            </a:r>
          </a:p>
          <a:p>
            <a:r>
              <a:rPr lang="en-MY" sz="900" b="1" dirty="0">
                <a:solidFill>
                  <a:schemeClr val="tx1">
                    <a:lumMod val="85000"/>
                    <a:lumOff val="15000"/>
                  </a:schemeClr>
                </a:solidFill>
              </a:rPr>
              <a:t>RASIONAL TERPERINCI:</a:t>
            </a:r>
          </a:p>
          <a:p>
            <a:r>
              <a:rPr lang="en-MY" sz="900" dirty="0">
                <a:solidFill>
                  <a:schemeClr val="tx1">
                    <a:lumMod val="85000"/>
                    <a:lumOff val="15000"/>
                  </a:schemeClr>
                </a:solidFill>
              </a:rPr>
              <a:t>  Rasional terperinci bagi setiap soalan kekal sebagai metadata produksi sehingga penempatan akhirnya disahkan.</a:t>
            </a:r>
          </a:p>
          <a:p>
            <a:r>
              <a:rPr lang="en-MY" sz="900" dirty="0">
                <a:solidFill>
                  <a:schemeClr val="tx1">
                    <a:lumMod val="85000"/>
                    <a:lumOff val="15000"/>
                  </a:schemeClr>
                </a:solidFill>
              </a:rPr>
              <a:t>  status: U-05 — whether the detailed rationale is exposed here is PENDING_BARIAH_CONFIRMATION; for v0.4 it stays metadata-only</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QUIZ_REVIEW</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B02-D-11, B02-D-23</a:t>
            </a:r>
          </a:p>
          <a:p>
            <a:r>
              <a:rPr lang="en-MY" sz="900" dirty="0">
                <a:solidFill>
                  <a:schemeClr val="tx1">
                    <a:lumMod val="85000"/>
                    <a:lumOff val="15000"/>
                  </a:schemeClr>
                </a:solidFill>
              </a:rPr>
              <a:t>STATUS BELUM SELESAI: U-05 — whether the detailed rationale is exposed here is PENDING_BARIAH_CONFIRMATION; for v0.4 it stays metadata-only</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77078"/>
            <a:ext cx="12191970" cy="523220"/>
          </a:xfrm>
        </p:spPr>
        <p:txBody>
          <a:bodyPr>
            <a:noAutofit/>
          </a:bodyPr>
          <a:lstStyle/>
          <a:p>
            <a:r>
              <a:rPr lang="en-MY" sz="2400" b="1" dirty="0"/>
              <a:t>Tamat</a:t>
            </a:r>
          </a:p>
        </p:txBody>
      </p:sp>
      <p:sp>
        <p:nvSpPr>
          <p:cNvPr id="6" name="TextBox 5"/>
          <p:cNvSpPr txBox="1"/>
          <p:nvPr/>
        </p:nvSpPr>
        <p:spPr>
          <a:xfrm>
            <a:off x="617952" y="384048"/>
            <a:ext cx="10979658" cy="592440"/>
          </a:xfrm>
          <a:prstGeom prst="rect">
            <a:avLst/>
          </a:prstGeom>
          <a:noFill/>
        </p:spPr>
        <p:txBody>
          <a:bodyPr wrap="square" rtlCol="0">
            <a:noAutofit/>
          </a:bodyPr>
          <a:lstStyle/>
          <a:p>
            <a:pPr>
              <a:lnSpc>
                <a:spcPts val="3600"/>
              </a:lnSpc>
            </a:pPr>
            <a:r>
              <a:rPr lang="en-MY" sz="3600" b="1" dirty="0"/>
              <a:t>Tamat</a:t>
            </a:r>
          </a:p>
        </p:txBody>
      </p:sp>
      <p:sp>
        <p:nvSpPr>
          <p:cNvPr id="20" name="TamatLine"/>
          <p:cNvSpPr txBox="1"/>
          <p:nvPr/>
        </p:nvSpPr>
        <p:spPr>
          <a:xfrm>
            <a:off x="723930" y="1243584"/>
            <a:ext cx="10744200" cy="420624"/>
          </a:xfrm>
          <a:prstGeom prst="rect">
            <a:avLst/>
          </a:prstGeom>
          <a:noFill/>
        </p:spPr>
        <p:txBody>
          <a:bodyPr wrap="square">
            <a:noAutofit/>
          </a:bodyPr>
          <a:lstStyle/>
          <a:p>
            <a:pPr/>
            <a:r>
              <a:rPr lang="en-MY" sz="1500" b="1" dirty="0">
                <a:solidFill>
                  <a:srgbClr val="7F6000"/>
                </a:solidFill>
              </a:rPr>
              <a:t>KURSUS KERJA BANGUNAN –</a:t>
            </a:r>
          </a:p>
        </p:txBody>
      </p:sp>
      <p:sp>
        <p:nvSpPr>
          <p:cNvPr id="21" name="TamatLine"/>
          <p:cNvSpPr txBox="1"/>
          <p:nvPr/>
        </p:nvSpPr>
        <p:spPr>
          <a:xfrm>
            <a:off x="723930" y="1645920"/>
            <a:ext cx="10744200" cy="420624"/>
          </a:xfrm>
          <a:prstGeom prst="rect">
            <a:avLst/>
          </a:prstGeom>
          <a:noFill/>
        </p:spPr>
        <p:txBody>
          <a:bodyPr wrap="square">
            <a:noAutofit/>
          </a:bodyPr>
          <a:lstStyle/>
          <a:p>
            <a:pPr/>
            <a:r>
              <a:rPr lang="en-MY" sz="1500" b="1" dirty="0">
                <a:solidFill>
                  <a:srgbClr val="7F6000"/>
                </a:solidFill>
              </a:rPr>
              <a:t>PEMBINAAN LANDSKAP LUAR</a:t>
            </a:r>
          </a:p>
        </p:txBody>
      </p:sp>
      <p:sp>
        <p:nvSpPr>
          <p:cNvPr id="24" name="TamatLine"/>
          <p:cNvSpPr txBox="1"/>
          <p:nvPr/>
        </p:nvSpPr>
        <p:spPr>
          <a:xfrm>
            <a:off x="723930" y="2322576"/>
            <a:ext cx="10744200" cy="420624"/>
          </a:xfrm>
          <a:prstGeom prst="rect">
            <a:avLst/>
          </a:prstGeom>
          <a:noFill/>
        </p:spPr>
        <p:txBody>
          <a:bodyPr wrap="square">
            <a:noAutofit/>
          </a:bodyPr>
          <a:lstStyle/>
          <a:p>
            <a:pPr/>
            <a:r>
              <a:rPr lang="en-MY" sz="1500" b="1" dirty="0">
                <a:solidFill>
                  <a:srgbClr val="7F6000"/>
                </a:solidFill>
              </a:rPr>
              <a:t>PL06:</a:t>
            </a:r>
          </a:p>
        </p:txBody>
      </p:sp>
      <p:sp>
        <p:nvSpPr>
          <p:cNvPr id="25" name="TamatLine"/>
          <p:cNvSpPr txBox="1"/>
          <p:nvPr/>
        </p:nvSpPr>
        <p:spPr>
          <a:xfrm>
            <a:off x="723930" y="2724912"/>
            <a:ext cx="10744200" cy="420624"/>
          </a:xfrm>
          <a:prstGeom prst="rect">
            <a:avLst/>
          </a:prstGeom>
          <a:noFill/>
        </p:spPr>
        <p:txBody>
          <a:bodyPr wrap="square">
            <a:noAutofit/>
          </a:bodyPr>
          <a:lstStyle/>
          <a:p>
            <a:pPr/>
            <a:r>
              <a:rPr lang="en-MY" sz="1500" b="1" dirty="0">
                <a:solidFill>
                  <a:srgbClr val="7F6000"/>
                </a:solidFill>
              </a:rPr>
              <a:t>PENGURUSAN OPERASI PEMBINAAN LANDSKAP</a:t>
            </a:r>
          </a:p>
        </p:txBody>
      </p:sp>
      <p:sp>
        <p:nvSpPr>
          <p:cNvPr id="28" name="TamatLine"/>
          <p:cNvSpPr txBox="1"/>
          <p:nvPr/>
        </p:nvSpPr>
        <p:spPr>
          <a:xfrm>
            <a:off x="723930" y="3401568"/>
            <a:ext cx="10744200" cy="420624"/>
          </a:xfrm>
          <a:prstGeom prst="rect">
            <a:avLst/>
          </a:prstGeom>
          <a:noFill/>
        </p:spPr>
        <p:txBody>
          <a:bodyPr wrap="square">
            <a:noAutofit/>
          </a:bodyPr>
          <a:lstStyle/>
          <a:p>
            <a:pPr/>
            <a:r>
              <a:rPr lang="en-MY" sz="2000" b="1" dirty="0">
                <a:solidFill>
                  <a:schemeClr val="tx1">
                    <a:lumMod val="85000"/>
                    <a:lumOff val="15000"/>
                  </a:schemeClr>
                </a:solidFill>
              </a:rPr>
              <a:t>Tamat Topik 3 Bahagian 2:</a:t>
            </a:r>
          </a:p>
        </p:txBody>
      </p:sp>
      <p:sp>
        <p:nvSpPr>
          <p:cNvPr id="29" name="TamatLine"/>
          <p:cNvSpPr txBox="1"/>
          <p:nvPr/>
        </p:nvSpPr>
        <p:spPr>
          <a:xfrm>
            <a:off x="723930" y="3803904"/>
            <a:ext cx="10744200" cy="420624"/>
          </a:xfrm>
          <a:prstGeom prst="rect">
            <a:avLst/>
          </a:prstGeom>
          <a:noFill/>
        </p:spPr>
        <p:txBody>
          <a:bodyPr wrap="square">
            <a:noAutofit/>
          </a:bodyPr>
          <a:lstStyle/>
          <a:p>
            <a:pPr/>
            <a:r>
              <a:rPr lang="en-MY" sz="2000" b="1" dirty="0">
                <a:solidFill>
                  <a:schemeClr val="tx1">
                    <a:lumMod val="85000"/>
                    <a:lumOff val="15000"/>
                  </a:schemeClr>
                </a:solidFill>
              </a:rPr>
              <a:t>Komponen Landskap</a:t>
            </a:r>
          </a:p>
        </p:txBody>
      </p:sp>
      <p:sp>
        <p:nvSpPr>
          <p:cNvPr id="60" name="TamatInstr"/>
          <p:cNvSpPr txBox="1"/>
          <p:nvPr/>
        </p:nvSpPr>
        <p:spPr>
          <a:xfrm>
            <a:off x="723930" y="4754880"/>
            <a:ext cx="10744200" cy="420624"/>
          </a:xfrm>
          <a:prstGeom prst="rect">
            <a:avLst/>
          </a:prstGeom>
          <a:noFill/>
        </p:spPr>
        <p:txBody>
          <a:bodyPr wrap="square">
            <a:noAutofit/>
          </a:bodyPr>
          <a:lstStyle/>
          <a:p>
            <a:pPr/>
            <a:r>
              <a:rPr lang="en-MY" sz="1700" b="1" dirty="0">
                <a:solidFill>
                  <a:schemeClr val="tx1">
                    <a:lumMod val="85000"/>
                    <a:lumOff val="15000"/>
                  </a:schemeClr>
                </a:solidFill>
              </a:rPr>
              <a:t>Teruskan pembelajaran ke bahagian seterusnya.</a:t>
            </a:r>
          </a:p>
        </p:txBody>
      </p:sp>
      <p:sp>
        <p:nvSpPr>
          <p:cNvPr id="9" name="ProdPanel"/>
          <p:cNvSpPr/>
          <p:nvPr/>
        </p:nvSpPr>
        <p:spPr>
          <a:xfrm>
            <a:off x="-6309360" y="0"/>
            <a:ext cx="6035040" cy="6858000"/>
          </a:xfrm>
          <a:prstGeom prst="rect">
            <a:avLst/>
          </a:prstGeom>
          <a:solidFill>
            <a:srgbClr val="FFF2CC"/>
          </a:solidFill>
          <a:ln>
            <a:noFill/>
          </a:ln>
        </p:spPr>
        <p:txBody>
          <a:bodyPr rtlCol="0" anchor="t"/>
          <a:lstStyle/>
          <a:p>
            <a:r>
              <a:rPr lang="en-MY" sz="900" b="1" dirty="0">
                <a:solidFill>
                  <a:schemeClr val="tx1">
                    <a:lumMod val="85000"/>
                    <a:lumOff val="15000"/>
                  </a:schemeClr>
                </a:solidFill>
              </a:rPr>
              <a:t>K5 PL06 T03 B02 — PAPAN CERITA v0.4.4.1</a:t>
            </a:r>
          </a:p>
          <a:p>
            <a:r>
              <a:rPr lang="en-MY" sz="900" dirty="0">
                <a:solidFill>
                  <a:schemeClr val="tx1">
                    <a:lumMod val="85000"/>
                    <a:lumOff val="15000"/>
                  </a:schemeClr>
                </a:solidFill>
              </a:rPr>
              <a:t>REVIEW_CANDIDATE · FINAL_BARIAH_DECISIONS_IMPLEMENTED</a:t>
            </a:r>
          </a:p>
          <a:p>
            <a:r>
              <a:rPr lang="en-MY" sz="900" dirty="0">
                <a:solidFill>
                  <a:schemeClr val="tx1">
                    <a:lumMod val="85000"/>
                    <a:lumOff val="15000"/>
                  </a:schemeClr>
                </a:solidFill>
              </a:rPr>
              <a:t>INSTANCE_MAPPING_COMPLETE · READY_FOR_MICROSOFT_POWERPOINT_SMOKE</a:t>
            </a:r>
          </a:p>
          <a:p>
            <a:r>
              <a:rPr lang="en-MY" sz="900" dirty="0">
                <a:solidFill>
                  <a:schemeClr val="tx1">
                    <a:lumMod val="85000"/>
                    <a:lumOff val="15000"/>
                  </a:schemeClr>
                </a:solidFill>
              </a:rPr>
              <a:t>NOT_FOR_MMD_BUILD</a:t>
            </a:r>
          </a:p>
          <a:p>
            <a:r>
              <a:rPr lang="en-MY" sz="900" dirty="0">
                <a:solidFill>
                  <a:schemeClr val="tx1">
                    <a:lumMod val="85000"/>
                    <a:lumOff val="15000"/>
                  </a:schemeClr>
                </a:solidFill>
              </a:rPr>
              <a:t>NOT_CANONICALLY_FROZEN · MULTIMEDIA_NOT_PRODUCED</a:t>
            </a:r>
          </a:p>
          <a:p>
            <a:r>
              <a:rPr lang="en-MY" sz="900" dirty="0">
                <a:solidFill>
                  <a:schemeClr val="tx1">
                    <a:lumMod val="85000"/>
                    <a:lumOff val="15000"/>
                  </a:schemeClr>
                </a:solidFill>
              </a:rPr>
              <a:t>Tiada imej, audio, video atau animasi dibenamkan.</a:t>
            </a:r>
          </a:p>
          <a:p>
            <a:r>
              <a:rPr lang="en-MY" sz="900" dirty="0">
                <a:solidFill>
                  <a:schemeClr val="tx1">
                    <a:lumMod val="85000"/>
                    <a:lumOff val="15000"/>
                  </a:schemeClr>
                </a:solidFill>
              </a:rPr>
              <a:t/>
            </a:r>
          </a:p>
          <a:p>
            <a:r>
              <a:rPr lang="en-MY" sz="900" dirty="0">
                <a:solidFill>
                  <a:schemeClr val="tx1">
                    <a:lumMod val="85000"/>
                    <a:lumOff val="15000"/>
                  </a:schemeClr>
                </a:solidFill>
              </a:rPr>
              <a:t>FUNGSI SKRIN: Tamat Topik 3 Bahagian 2</a:t>
            </a:r>
          </a:p>
          <a:p>
            <a:r>
              <a:rPr lang="en-MY" sz="900" dirty="0">
                <a:solidFill>
                  <a:schemeClr val="tx1">
                    <a:lumMod val="85000"/>
                    <a:lumOff val="15000"/>
                  </a:schemeClr>
                </a:solidFill>
              </a:rPr>
              <a:t>KELUARGA PELAKSANAAN: FRAME</a:t>
            </a:r>
          </a:p>
          <a:p>
            <a:r>
              <a:rPr lang="en-MY" sz="900" dirty="0">
                <a:solidFill>
                  <a:schemeClr val="tx1">
                    <a:lumMod val="85000"/>
                    <a:lumOff val="15000"/>
                  </a:schemeClr>
                </a:solidFill>
              </a:rPr>
              <a:t>PERANAN HALAMAN SEMAKAN: FRAME_END_BASE</a:t>
            </a:r>
          </a:p>
          <a:p>
            <a:r>
              <a:rPr lang="en-MY" sz="900" dirty="0">
                <a:solidFill>
                  <a:schemeClr val="tx1">
                    <a:lumMod val="85000"/>
                    <a:lumOff val="15000"/>
                  </a:schemeClr>
                </a:solidFill>
              </a:rPr>
              <a:t/>
            </a:r>
          </a:p>
          <a:p>
            <a:r>
              <a:rPr lang="en-MY" sz="900" dirty="0">
                <a:solidFill>
                  <a:schemeClr val="tx1">
                    <a:lumMod val="85000"/>
                    <a:lumOff val="15000"/>
                  </a:schemeClr>
                </a:solidFill>
              </a:rPr>
              <a:t>BUKTI: frame screen</a:t>
            </a:r>
          </a:p>
          <a:p>
            <a:r>
              <a:rPr lang="en-MY" sz="900" dirty="0">
                <a:solidFill>
                  <a:schemeClr val="tx1">
                    <a:lumMod val="85000"/>
                    <a:lumOff val="15000"/>
                  </a:schemeClr>
                </a:solidFill>
              </a:rPr>
              <a:t>POLISI NOTA: CONTENT_VO_NOTES  (NON_SPOKEN_CONTEXT_HEADERS_PLUS_TRANSCRIPT)</a:t>
            </a:r>
          </a:p>
          <a:p>
            <a:r>
              <a:rPr lang="en-MY" sz="900" dirty="0">
                <a:solidFill>
                  <a:schemeClr val="tx1">
                    <a:lumMod val="85000"/>
                    <a:lumOff val="15000"/>
                  </a:schemeClr>
                </a:solidFill>
              </a:rPr>
              <a:t>  konteks dituturkan: TIDAK</a:t>
            </a:r>
          </a:p>
          <a:p>
            <a:r>
              <a:rPr lang="en-MY" sz="900" b="1" dirty="0">
                <a:solidFill>
                  <a:schemeClr val="tx1">
                    <a:lumMod val="85000"/>
                    <a:lumOff val="15000"/>
                  </a:schemeClr>
                </a:solidFill>
              </a:rPr>
              <a:t>KAWALAN:</a:t>
            </a:r>
          </a:p>
          <a:p>
            <a:r>
              <a:rPr lang="en-MY" sz="900" dirty="0">
                <a:solidFill>
                  <a:schemeClr val="tx1">
                    <a:lumMod val="85000"/>
                    <a:lumOff val="15000"/>
                  </a:schemeClr>
                </a:solidFill>
              </a:rPr>
              <a:t>  next  = LMS_SHELL_NEXT  [PENDING_FIRDAUS_OR_LMS_CONFIRMATION — no claim made about the shell control]</a:t>
            </a:r>
          </a:p>
          <a:p>
            <a:r>
              <a:rPr lang="en-MY" sz="900" dirty="0">
                <a:solidFill>
                  <a:schemeClr val="tx1">
                    <a:lumMod val="85000"/>
                    <a:lumOff val="15000"/>
                  </a:schemeClr>
                </a:solidFill>
              </a:rPr>
              <a:t>  back  = NO_CONTROL  [none]</a:t>
            </a:r>
          </a:p>
          <a:p>
            <a:r>
              <a:rPr lang="en-MY" sz="900" dirty="0">
                <a:solidFill>
                  <a:schemeClr val="tx1">
                    <a:lumMod val="85000"/>
                    <a:lumOff val="15000"/>
                  </a:schemeClr>
                </a:solidFill>
              </a:rPr>
              <a:t>  close = NO_CONTROL</a:t>
            </a:r>
          </a:p>
          <a:p>
            <a:r>
              <a:rPr lang="en-MY" sz="900" dirty="0">
                <a:solidFill>
                  <a:schemeClr val="tx1">
                    <a:lumMod val="85000"/>
                    <a:lumOff val="15000"/>
                  </a:schemeClr>
                </a:solidFill>
              </a:rPr>
              <a:t>  return_target = —</a:t>
            </a:r>
          </a:p>
          <a:p>
            <a:r>
              <a:rPr lang="en-MY" sz="900" dirty="0">
                <a:solidFill>
                  <a:schemeClr val="tx1">
                    <a:lumMod val="85000"/>
                    <a:lumOff val="15000"/>
                  </a:schemeClr>
                </a:solidFill>
              </a:rPr>
              <a:t>SKOP SELESAI: NONE</a:t>
            </a:r>
          </a:p>
          <a:p>
            <a:r>
              <a:rPr lang="en-MY" sz="900" dirty="0">
                <a:solidFill>
                  <a:schemeClr val="tx1">
                    <a:lumMod val="85000"/>
                    <a:lumOff val="15000"/>
                  </a:schemeClr>
                </a:solidFill>
              </a:rPr>
              <a:t>PERSISTEN: NOT_APPLICABLE</a:t>
            </a:r>
          </a:p>
          <a:p>
            <a:r>
              <a:rPr lang="en-MY" sz="900" dirty="0">
                <a:solidFill>
                  <a:schemeClr val="tx1">
                    <a:lumMod val="85000"/>
                    <a:lumOff val="15000"/>
                  </a:schemeClr>
                </a:solidFill>
              </a:rPr>
              <a:t>LEVEL: pilihan interaksi 0 · lapisan skrin 0</a:t>
            </a:r>
          </a:p>
          <a:p>
            <a:r>
              <a:rPr lang="en-MY" sz="900" dirty="0">
                <a:solidFill>
                  <a:schemeClr val="tx1">
                    <a:lumMod val="85000"/>
                    <a:lumOff val="15000"/>
                  </a:schemeClr>
                </a:solidFill>
              </a:rPr>
              <a:t>INDUK: SCR_TAMAT</a:t>
            </a:r>
          </a:p>
          <a:p>
            <a:r>
              <a:rPr lang="en-MY" sz="900" b="1" dirty="0">
                <a:solidFill>
                  <a:schemeClr val="tx1">
                    <a:lumMod val="85000"/>
                    <a:lumOff val="15000"/>
                  </a:schemeClr>
                </a:solidFill>
              </a:rPr>
              <a:t>KELUAR / NAVIGASI:</a:t>
            </a:r>
          </a:p>
          <a:p>
            <a:r>
              <a:rPr lang="en-MY" sz="900" dirty="0">
                <a:solidFill>
                  <a:schemeClr val="tx1">
                    <a:lumMod val="85000"/>
                    <a:lumOff val="15000"/>
                  </a:schemeClr>
                </a:solidFill>
              </a:rPr>
              <a:t>  salinan Tamat: CONFIRMED_BARIAH</a:t>
            </a:r>
          </a:p>
          <a:p>
            <a:r>
              <a:rPr lang="en-MY" sz="900" dirty="0">
                <a:solidFill>
                  <a:schemeClr val="tx1">
                    <a:lumMod val="85000"/>
                    <a:lumOff val="15000"/>
                  </a:schemeClr>
                </a:solidFill>
              </a:rPr>
              <a:t>  destinasi logik: NEXT_BAHAGIAN</a:t>
            </a:r>
          </a:p>
          <a:p>
            <a:r>
              <a:rPr lang="en-MY" sz="900" dirty="0">
                <a:solidFill>
                  <a:schemeClr val="tx1">
                    <a:lumMod val="85000"/>
                    <a:lumOff val="15000"/>
                  </a:schemeClr>
                </a:solidFill>
              </a:rPr>
              <a:t>  kelakuan navigasi fizikal: PENDING_FIRDAUS_OR_LMS_CONFIRMATION</a:t>
            </a:r>
          </a:p>
          <a:p>
            <a:r>
              <a:rPr lang="en-MY" sz="900" dirty="0">
                <a:solidFill>
                  <a:schemeClr val="tx1">
                    <a:lumMod val="85000"/>
                    <a:lumOff val="15000"/>
                  </a:schemeClr>
                </a:solidFill>
              </a:rPr>
              <a:t>  MEKANISME NAVIGASI (FIRDAUS / PEMILIK LMS):</a:t>
            </a:r>
          </a:p>
          <a:p>
            <a:r>
              <a:rPr lang="en-MY" sz="900" dirty="0">
                <a:solidFill>
                  <a:schemeClr val="tx1">
                    <a:lumMod val="85000"/>
                    <a:lumOff val="15000"/>
                  </a:schemeClr>
                </a:solidFill>
              </a:rPr>
              <a:t>    tindakan pelajar: menutup lesson/content window</a:t>
            </a:r>
          </a:p>
          <a:p>
            <a:r>
              <a:rPr lang="en-MY" sz="900" dirty="0">
                <a:solidFill>
                  <a:schemeClr val="tx1">
                    <a:lumMod val="85000"/>
                    <a:lumOff val="15000"/>
                  </a:schemeClr>
                </a:solidFill>
              </a:rPr>
              <a:t>    hasil navigasi: kembali ke course menu</a:t>
            </a:r>
          </a:p>
          <a:p>
            <a:r>
              <a:rPr lang="en-MY" sz="900" dirty="0">
                <a:solidFill>
                  <a:schemeClr val="tx1">
                    <a:lumMod val="85000"/>
                    <a:lumOff val="15000"/>
                  </a:schemeClr>
                </a:solidFill>
              </a:rPr>
              <a:t>    langkah seterusnya: pelajar memilih bahagian pembelajaran seterusnya</a:t>
            </a:r>
          </a:p>
          <a:p>
            <a:r>
              <a:rPr lang="en-MY" sz="900" dirty="0">
                <a:solidFill>
                  <a:schemeClr val="tx1">
                    <a:lumMod val="85000"/>
                    <a:lumOff val="15000"/>
                  </a:schemeClr>
                </a:solidFill>
              </a:rPr>
              <a:t>    laluan seterusnya automatik: TIDAK TERBUKTI</a:t>
            </a:r>
          </a:p>
          <a:p>
            <a:r>
              <a:rPr lang="en-MY" sz="900" dirty="0">
                <a:solidFill>
                  <a:schemeClr val="tx1">
                    <a:lumMod val="85000"/>
                    <a:lumOff val="15000"/>
                  </a:schemeClr>
                </a:solidFill>
              </a:rPr>
              <a:t>    LMS shell Next: TIDAK TERBUKTI</a:t>
            </a:r>
          </a:p>
          <a:p>
            <a:r>
              <a:rPr lang="en-MY" sz="900" dirty="0">
                <a:solidFill>
                  <a:schemeClr val="tx1">
                    <a:lumMod val="85000"/>
                    <a:lumOff val="15000"/>
                  </a:schemeClr>
                </a:solidFill>
              </a:rPr>
              <a:t>  Tiada dakwaan dibuat tentang keadaan Seterusnya shell LMS.</a:t>
            </a:r>
          </a:p>
          <a:p>
            <a:r>
              <a:rPr lang="en-MY" sz="900" dirty="0">
                <a:solidFill>
                  <a:schemeClr val="tx1">
                    <a:lumMod val="85000"/>
                    <a:lumOff val="15000"/>
                  </a:schemeClr>
                </a:solidFill>
              </a:rPr>
              <a:t>  Tiada butang navigasi kanvas tersuai dicipta.</a:t>
            </a:r>
          </a:p>
          <a:p>
            <a:r>
              <a:rPr lang="en-MY" sz="900" dirty="0">
                <a:solidFill>
                  <a:schemeClr val="tx1">
                    <a:lumMod val="85000"/>
                    <a:lumOff val="15000"/>
                  </a:schemeClr>
                </a:solidFill>
              </a:rPr>
              <a:t>  Segitiga merah dalam contoh Bariah dianggap ISYARAT VISUAL,</a:t>
            </a:r>
          </a:p>
          <a:p>
            <a:r>
              <a:rPr lang="en-MY" sz="900" dirty="0">
                <a:solidFill>
                  <a:schemeClr val="tx1">
                    <a:lumMod val="85000"/>
                    <a:lumOff val="15000"/>
                  </a:schemeClr>
                </a:solidFill>
              </a:rPr>
              <a:t>  bukan butang interaktif, sehingga ada bukti sebaliknya.</a:t>
            </a:r>
          </a:p>
          <a:p>
            <a:r>
              <a:rPr lang="en-MY" sz="900" b="1" dirty="0">
                <a:solidFill>
                  <a:schemeClr val="tx1">
                    <a:lumMod val="85000"/>
                    <a:lumOff val="15000"/>
                  </a:schemeClr>
                </a:solidFill>
              </a:rPr>
              <a:t>VISUAL:</a:t>
            </a:r>
          </a:p>
          <a:p>
            <a:r>
              <a:rPr lang="en-MY" sz="900" dirty="0">
                <a:solidFill>
                  <a:schemeClr val="tx1">
                    <a:lumMod val="85000"/>
                    <a:lumOff val="15000"/>
                  </a:schemeClr>
                </a:solidFill>
              </a:rPr>
              <a:t>  subjenis skrin: FRAME_SCREEN</a:t>
            </a:r>
          </a:p>
          <a:p>
            <a:r>
              <a:rPr lang="en-MY" sz="900" dirty="0">
                <a:solidFill>
                  <a:schemeClr val="tx1">
                    <a:lumMod val="85000"/>
                    <a:lumOff val="15000"/>
                  </a:schemeClr>
                </a:solidFill>
              </a:rPr>
              <a:t>  subjenis popup: —</a:t>
            </a:r>
          </a:p>
          <a:p>
            <a:r>
              <a:rPr lang="en-MY" sz="900" dirty="0">
                <a:solidFill>
                  <a:schemeClr val="tx1">
                    <a:lumMod val="85000"/>
                    <a:lumOff val="15000"/>
                  </a:schemeClr>
                </a:solidFill>
              </a:rPr>
              <a:t>  keperluan visual: NOT_REQUIRED</a:t>
            </a:r>
          </a:p>
          <a:p>
            <a:r>
              <a:rPr lang="en-MY" sz="900" dirty="0">
                <a:solidFill>
                  <a:schemeClr val="tx1">
                    <a:lumMod val="85000"/>
                    <a:lumOff val="15000"/>
                  </a:schemeClr>
                </a:solidFill>
              </a:rPr>
              <a:t>  status: NOT_REQUIRED</a:t>
            </a:r>
          </a:p>
          <a:p>
            <a:r>
              <a:rPr lang="en-MY" sz="900" dirty="0">
                <a:solidFill>
                  <a:schemeClr val="tx1">
                    <a:lumMod val="85000"/>
                    <a:lumOff val="15000"/>
                  </a:schemeClr>
                </a:solidFill>
              </a:rPr>
              <a:t>  kuasa: —</a:t>
            </a:r>
          </a:p>
          <a:p>
            <a:r>
              <a:rPr lang="en-MY" sz="900" dirty="0">
                <a:solidFill>
                  <a:schemeClr val="tx1">
                    <a:lumMod val="85000"/>
                    <a:lumOff val="15000"/>
                  </a:schemeClr>
                </a:solidFill>
              </a:rPr>
              <a:t>STATUS KEPUTUSAN: B02-D-14, B02-D-15</a:t>
            </a:r>
          </a:p>
          <a:p>
            <a:r>
              <a:rPr lang="en-MY" sz="900" dirty="0">
                <a:solidFill>
                  <a:schemeClr val="tx1">
                    <a:lumMod val="85000"/>
                    <a:lumOff val="15000"/>
                  </a:schemeClr>
                </a:solidFill>
              </a:rPr>
              <a:t>STATUS BELUM SELESAI: U-03 — Tamat COPY is CONFIRMED_BARIAH; the physical LMS navigation mechanism is PENDING_FIRDAUS_OR_LMS_CONFIRMATION</a:t>
            </a:r>
          </a:p>
        </p:txBody>
      </p:sp>
    </p:spTree>
  </p:cSld>
  <p:clrMapOvr>
    <a:masterClrMapping/>
  </p:clrMapOvr>
</p:sld>
</file>

<file path=ppt/theme/theme1.xml><?xml version="1.0" encoding="utf-8"?>
<a:theme xmlns:a="http://schemas.openxmlformats.org/drawingml/2006/main" name="Office Theme">
  <a:themeElements>
    <a:clrScheme name="Custom 505">
      <a:dk1>
        <a:srgbClr val="000000"/>
      </a:dk1>
      <a:lt1>
        <a:srgbClr val="FFFFFF"/>
      </a:lt1>
      <a:dk2>
        <a:srgbClr val="3F403F"/>
      </a:dk2>
      <a:lt2>
        <a:srgbClr val="FFFFFF"/>
      </a:lt2>
      <a:accent1>
        <a:srgbClr val="17B164"/>
      </a:accent1>
      <a:accent2>
        <a:srgbClr val="003E3B"/>
      </a:accent2>
      <a:accent3>
        <a:srgbClr val="181818"/>
      </a:accent3>
      <a:accent4>
        <a:srgbClr val="13764B"/>
      </a:accent4>
      <a:accent5>
        <a:srgbClr val="21C190"/>
      </a:accent5>
      <a:accent6>
        <a:srgbClr val="83EAB1"/>
      </a:accent6>
      <a:hlink>
        <a:srgbClr val="1EE27F"/>
      </a:hlink>
      <a:folHlink>
        <a:srgbClr val="1EE27F"/>
      </a:folHlink>
    </a:clrScheme>
    <a:fontScheme name="CIDB">
      <a:majorFont>
        <a:latin typeface="Raleway"/>
        <a:ea typeface=""/>
        <a:cs typeface=""/>
      </a:majorFont>
      <a:minorFont>
        <a:latin typeface="Ebri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Application>CAIR compiler</Application>
  <PresentationFormat>Widescreen</PresentationFormat>
  <Slides>19</Slides>
  <Notes>19</Notes>
  <HiddenSlides>0</HiddenSlides>
  <MMClips>0</MMClips>
  <ScaleCrop>false</ScaleCrop>
  <LinksUpToDate>false</LinksUpToDate>
  <SharedDoc>false</SharedDoc>
  <HyperlinksChanged>false</HyperlinksChanged>
  <HeadingPairs>
    <vt:vector size="4" baseType="variant">
      <vt:variant>
        <vt:lpstr>Theme</vt:lpstr>
      </vt:variant>
      <vt:variant>
        <vt:i4>1</vt:i4>
      </vt:variant>
      <vt:variant>
        <vt:lpstr>Slide Titles</vt:lpstr>
      </vt:variant>
      <vt:variant>
        <vt:i4>19</vt:i4>
      </vt:variant>
    </vt:vector>
  </HeadingPairs>
  <TitlesOfParts>
    <vt:vector size="20" baseType="lpstr">
      <vt:lpstr>Theme</vt:lpstr>
      <vt:lpstr>S01 TAJUK</vt:lpstr>
      <vt:lpstr>S02 DIALOG</vt:lpstr>
      <vt:lpstr>S03 OVERVIEW</vt:lpstr>
      <vt:lpstr>S04 CR_BASE</vt:lpstr>
      <vt:lpstr>S05 FULL</vt:lpstr>
      <vt:lpstr>S06 FULL</vt:lpstr>
      <vt:lpstr>S07 FULL</vt:lpstr>
      <vt:lpstr>S08 FULL</vt:lpstr>
      <vt:lpstr>S09 TICK</vt:lpstr>
      <vt:lpstr>S10 CR_BASE</vt:lpstr>
      <vt:lpstr>S11 FULL</vt:lpstr>
      <vt:lpstr>S12 FULL</vt:lpstr>
      <vt:lpstr>S13 FULL</vt:lpstr>
      <vt:lpstr>S14 FULL</vt:lpstr>
      <vt:lpstr>S15 FULL</vt:lpstr>
      <vt:lpstr>S16 TICK</vt:lpstr>
      <vt:lpstr>S17 RUMUSAN</vt:lpstr>
      <vt:lpstr>S18 KUIZ</vt:lpstr>
      <vt:lpstr>S19 TAMAT</vt:lpstr>
    </vt:vector>
  </TitlesOfPart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Contoh Treatment — 4 slaid — bukan storyboard penuh</dc:title>
  <dc:creator>SMEC courseware.my</dc:creator>
  <cp:lastModifiedBy>CAIR compiler</cp:lastModifiedBy>
  <cp:revision>1</cp:revision>
  <dcterms:created xsi:type="dcterms:W3CDTF">2021-11-01T02:42:52Z</dcterms:created>
  <dcterms:modified xsi:type="dcterms:W3CDTF">2026-07-25T19:09:29Z</dcterms:modified>
  <dc:subject>Treatment probe. Not a storyboard. Output-only, disposable.</dc:subject>
  <dc:description>Hand-built from 4 slides of the Tier-1 storyboard specification. Not regenerable, not a baseline, must never be promoted.</dc:description>
  <cp:keywords>storyboard; K5; source-bound</cp:keywords>
  <cp:category>Storyboard Specification</cp:category>
</cp:coreProperties>
</file>