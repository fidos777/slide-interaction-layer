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3.svg" ContentType="image/svg+xml"/>
  <Override PartName="/ppt/notesMasters/notesMaster1.xml" ContentType="application/vnd.openxmlformats-officedocument.presentationml.notesMaster+xml"/>
  <Override PartName="/ppt/notesSlides/notesSlide12.xml" ContentType="application/vnd.openxmlformats-officedocument.presentationml.notesSlide+xml"/>
  <Override PartName="/ppt/notesSlides/notesSlide16.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2.xml" ContentType="application/vnd.openxmlformats-officedocument.presentationml.slide+xml"/>
  <Override PartName="/ppt/slides/slide17.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9401" r:id="rId101"/>
    <p:sldId id="9402" r:id="rId102"/>
    <p:sldId id="9403" r:id="rId103"/>
    <p:sldId id="9404" r:id="rId104"/>
    <p:sldId id="9405" r:id="rId105"/>
    <p:sldId id="9406" r:id="rId106"/>
    <p:sldId id="9407" r:id="rId107"/>
    <p:sldId id="9408" r:id="rId108"/>
    <p:sldId id="9409" r:id="rId109"/>
    <p:sldId id="9410" r:id="rId110"/>
    <p:sldId id="9411" r:id="rId111"/>
    <p:sldId id="9412" r:id="rId112"/>
    <p:sldId id="9413" r:id="rId113"/>
    <p:sldId id="9414" r:id="rId114"/>
    <p:sldId id="9415" r:id="rId115"/>
    <p:sldId id="9416" r:id="rId116"/>
    <p:sldId id="9417" r:id="rId117"/>
    <p:sldId id="9418" r:id="rId118"/>
    <p:sldId id="9419" r:id="rId119"/>
    <p:sldId id="9420" r:id="rId120"/>
    <p:sldId id="9421" r:id="rId121"/>
    <p:sldId id="9422" r:id="rId122"/>
    <p:sldId id="9423" r:id="rId123"/>
    <p:sldId id="9424" r:id="rId124"/>
    <p:sldId id="9425" r:id="rId125"/>
    <p:sldId id="9426" r:id="rId126"/>
    <p:sldId id="9427" r:id="rId127"/>
    <p:sldId id="9428" r:id="rId128"/>
    <p:sldId id="9429" r:id="rId129"/>
    <p:sldId id="9430" r:id="rId130"/>
    <p:sldId id="9431" r:id="rId131"/>
    <p:sldId id="9432" r:id="rId132"/>
    <p:sldId id="9433" r:id="rId133"/>
    <p:sldId id="9434" r:id="rId134"/>
    <p:sldId id="9435" r:id="rId135"/>
    <p:sldId id="9436" r:id="rId136"/>
    <p:sldId id="9437" r:id="rId137"/>
    <p:sldId id="9438" r:id="rId138"/>
    <p:sldId id="9439" r:id="rId139"/>
    <p:sldId id="9440" r:id="rId140"/>
    <p:sldId id="9441" r:id="rId141"/>
    <p:sldId id="9442" r:id="rId142"/>
    <p:sldId id="9443" r:id="rId143"/>
    <p:sldId id="9444" r:id="rId144"/>
    <p:sldId id="9445" r:id="rId145"/>
    <p:sldId id="9446" r:id="rId146"/>
    <p:sldId id="9447" r:id="rId147"/>
    <p:sldId id="9448" r:id="rId148"/>
    <p:sldId id="9449" r:id="rId149"/>
    <p:sldId id="9450" r:id="rId150"/>
    <p:sldId id="9451" r:id="rId151"/>
    <p:sldId id="9452" r:id="rId152"/>
    <p:sldId id="9453" r:id="rId153"/>
    <p:sldId id="9454" r:id="rId154"/>
    <p:sldId id="9455" r:id="rId155"/>
    <p:sldId id="9456" r:id="rId156"/>
    <p:sldId id="9457" r:id="rId157"/>
    <p:sldId id="9458" r:id="rId158"/>
    <p:sldId id="9459" r:id="rId159"/>
    <p:sldId id="9460" r:id="rId160"/>
    <p:sldId id="9461" r:id="rId161"/>
    <p:sldId id="9462" r:id="rId162"/>
    <p:sldId id="9463" r:id="rId163"/>
    <p:sldId id="9464" r:id="rId164"/>
    <p:sldId id="9465" r:id="rId165"/>
    <p:sldId id="9466" r:id="rId166"/>
    <p:sldId id="9467" r:id="rId167"/>
    <p:sldId id="9468" r:id="rId168"/>
    <p:sldId id="9469" r:id="rId169"/>
    <p:sldId id="9470" r:id="rId170"/>
    <p:sldId id="9471" r:id="rId171"/>
    <p:sldId id="9472" r:id="rId172"/>
    <p:sldId id="9473" r:id="rId173"/>
    <p:sldId id="9474" r:id="rId174"/>
    <p:sldId id="9475" r:id="rId175"/>
    <p:sldId id="9476" r:id="rId176"/>
    <p:sldId id="9477" r:id="rId177"/>
    <p:sldId id="9478" r:id="rId178"/>
    <p:sldId id="9479" r:id="rId179"/>
    <p:sldId id="9480" r:id="rId180"/>
    <p:sldId id="9481" r:id="rId181"/>
    <p:sldId id="9482" r:id="rId182"/>
    <p:sldId id="9483" r:id="rId183"/>
    <p:sldId id="9484" r:id="rId184"/>
    <p:sldId id="9485" r:id="rId185"/>
    <p:sldId id="9486" r:id="rId186"/>
    <p:sldId id="9487" r:id="rId187"/>
    <p:sldId id="9488" r:id="rId188"/>
    <p:sldId id="9489" r:id="rId189"/>
    <p:sldId id="9490" r:id="rId190"/>
    <p:sldId id="9491" r:id="rId191"/>
    <p:sldId id="9492" r:id="rId192"/>
    <p:sldId id="9493" r:id="rId193"/>
    <p:sldId id="9494" r:id="rId194"/>
    <p:sldId id="9495" r:id="rId195"/>
    <p:sldId id="9496" r:id="rId196"/>
    <p:sldId id="9497" r:id="rId197"/>
    <p:sldId id="9498" r:id="rId198"/>
    <p:sldId id="9499" r:id="rId199"/>
    <p:sldId id="9500" r:id="rId20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26"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9F9E"/>
    <a:srgbClr val="DFE0D1"/>
    <a:srgbClr val="AC8300"/>
    <a:srgbClr val="F6D4CF"/>
    <a:srgbClr val="D8928B"/>
    <a:srgbClr val="98768E"/>
    <a:srgbClr val="D3B8C5"/>
    <a:srgbClr val="4E7189"/>
    <a:srgbClr val="385F77"/>
    <a:srgbClr val="244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91" autoAdjust="0"/>
    <p:restoredTop sz="35546" autoAdjust="0"/>
  </p:normalViewPr>
  <p:slideViewPr>
    <p:cSldViewPr snapToGrid="0" snapToObjects="1">
      <p:cViewPr>
        <p:scale>
          <a:sx n="50" d="100"/>
          <a:sy n="50" d="100"/>
        </p:scale>
        <p:origin x="1930" y="264"/>
      </p:cViewPr>
      <p:guideLst>
        <p:guide orient="horz" pos="1026"/>
        <p:guide pos="3840"/>
      </p:guideLst>
    </p:cSldViewPr>
  </p:slideViewPr>
  <p:outlineViewPr>
    <p:cViewPr>
      <p:scale>
        <a:sx n="33" d="100"/>
        <a:sy n="33" d="100"/>
      </p:scale>
      <p:origin x="0" y="0"/>
    </p:cViewPr>
  </p:outlineViewPr>
  <p:notesTextViewPr>
    <p:cViewPr>
      <p:scale>
        <a:sx n="75" d="100"/>
        <a:sy n="75" d="100"/>
      </p:scale>
      <p:origin x="0" y="0"/>
    </p:cViewPr>
  </p:notesTextViewPr>
  <p:sorterViewPr>
    <p:cViewPr>
      <p:scale>
        <a:sx n="70" d="100"/>
        <a:sy n="70" d="100"/>
      </p:scale>
      <p:origin x="0" y="-6198"/>
    </p:cViewPr>
  </p:sorterViewPr>
  <p:notesViewPr>
    <p:cSldViewPr snapToGrid="0" snapToObjects="1">
      <p:cViewPr varScale="1">
        <p:scale>
          <a:sx n="50" d="100"/>
          <a:sy n="50" d="100"/>
        </p:scale>
        <p:origin x="2016" y="6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 Id="rId117" Type="http://schemas.openxmlformats.org/officeDocument/2006/relationships/slide" Target="slides/slide17.xml"/><Relationship Id="rId118" Type="http://schemas.openxmlformats.org/officeDocument/2006/relationships/slide" Target="slides/slide18.xml"/><Relationship Id="rId119" Type="http://schemas.openxmlformats.org/officeDocument/2006/relationships/slide" Target="slides/slide19.xml"/><Relationship Id="rId120" Type="http://schemas.openxmlformats.org/officeDocument/2006/relationships/slide" Target="slides/slide20.xml"/><Relationship Id="rId121" Type="http://schemas.openxmlformats.org/officeDocument/2006/relationships/slide" Target="slides/slide21.xml"/><Relationship Id="rId122" Type="http://schemas.openxmlformats.org/officeDocument/2006/relationships/slide" Target="slides/slide22.xml"/><Relationship Id="rId123" Type="http://schemas.openxmlformats.org/officeDocument/2006/relationships/slide" Target="slides/slide23.xml"/><Relationship Id="rId124" Type="http://schemas.openxmlformats.org/officeDocument/2006/relationships/slide" Target="slides/slide24.xml"/><Relationship Id="rId125" Type="http://schemas.openxmlformats.org/officeDocument/2006/relationships/slide" Target="slides/slide25.xml"/><Relationship Id="rId126" Type="http://schemas.openxmlformats.org/officeDocument/2006/relationships/slide" Target="slides/slide26.xml"/><Relationship Id="rId127" Type="http://schemas.openxmlformats.org/officeDocument/2006/relationships/slide" Target="slides/slide27.xml"/><Relationship Id="rId128" Type="http://schemas.openxmlformats.org/officeDocument/2006/relationships/slide" Target="slides/slide28.xml"/><Relationship Id="rId129" Type="http://schemas.openxmlformats.org/officeDocument/2006/relationships/slide" Target="slides/slide29.xml"/><Relationship Id="rId130" Type="http://schemas.openxmlformats.org/officeDocument/2006/relationships/slide" Target="slides/slide30.xml"/><Relationship Id="rId131" Type="http://schemas.openxmlformats.org/officeDocument/2006/relationships/slide" Target="slides/slide31.xml"/><Relationship Id="rId132" Type="http://schemas.openxmlformats.org/officeDocument/2006/relationships/slide" Target="slides/slide32.xml"/><Relationship Id="rId133" Type="http://schemas.openxmlformats.org/officeDocument/2006/relationships/slide" Target="slides/slide33.xml"/><Relationship Id="rId134" Type="http://schemas.openxmlformats.org/officeDocument/2006/relationships/slide" Target="slides/slide34.xml"/><Relationship Id="rId135" Type="http://schemas.openxmlformats.org/officeDocument/2006/relationships/slide" Target="slides/slide35.xml"/><Relationship Id="rId136" Type="http://schemas.openxmlformats.org/officeDocument/2006/relationships/slide" Target="slides/slide36.xml"/><Relationship Id="rId137" Type="http://schemas.openxmlformats.org/officeDocument/2006/relationships/slide" Target="slides/slide37.xml"/><Relationship Id="rId138" Type="http://schemas.openxmlformats.org/officeDocument/2006/relationships/slide" Target="slides/slide38.xml"/><Relationship Id="rId139" Type="http://schemas.openxmlformats.org/officeDocument/2006/relationships/slide" Target="slides/slide39.xml"/><Relationship Id="rId140" Type="http://schemas.openxmlformats.org/officeDocument/2006/relationships/slide" Target="slides/slide40.xml"/><Relationship Id="rId141" Type="http://schemas.openxmlformats.org/officeDocument/2006/relationships/slide" Target="slides/slide41.xml"/><Relationship Id="rId142" Type="http://schemas.openxmlformats.org/officeDocument/2006/relationships/slide" Target="slides/slide42.xml"/><Relationship Id="rId143" Type="http://schemas.openxmlformats.org/officeDocument/2006/relationships/slide" Target="slides/slide43.xml"/><Relationship Id="rId144" Type="http://schemas.openxmlformats.org/officeDocument/2006/relationships/slide" Target="slides/slide44.xml"/><Relationship Id="rId145" Type="http://schemas.openxmlformats.org/officeDocument/2006/relationships/slide" Target="slides/slide45.xml"/><Relationship Id="rId146" Type="http://schemas.openxmlformats.org/officeDocument/2006/relationships/slide" Target="slides/slide46.xml"/><Relationship Id="rId147" Type="http://schemas.openxmlformats.org/officeDocument/2006/relationships/slide" Target="slides/slide47.xml"/><Relationship Id="rId148" Type="http://schemas.openxmlformats.org/officeDocument/2006/relationships/slide" Target="slides/slide48.xml"/><Relationship Id="rId149" Type="http://schemas.openxmlformats.org/officeDocument/2006/relationships/slide" Target="slides/slide49.xml"/><Relationship Id="rId150" Type="http://schemas.openxmlformats.org/officeDocument/2006/relationships/slide" Target="slides/slide50.xml"/><Relationship Id="rId151" Type="http://schemas.openxmlformats.org/officeDocument/2006/relationships/slide" Target="slides/slide51.xml"/><Relationship Id="rId152" Type="http://schemas.openxmlformats.org/officeDocument/2006/relationships/slide" Target="slides/slide52.xml"/><Relationship Id="rId153" Type="http://schemas.openxmlformats.org/officeDocument/2006/relationships/slide" Target="slides/slide53.xml"/><Relationship Id="rId154" Type="http://schemas.openxmlformats.org/officeDocument/2006/relationships/slide" Target="slides/slide54.xml"/><Relationship Id="rId155" Type="http://schemas.openxmlformats.org/officeDocument/2006/relationships/slide" Target="slides/slide55.xml"/><Relationship Id="rId156" Type="http://schemas.openxmlformats.org/officeDocument/2006/relationships/slide" Target="slides/slide56.xml"/><Relationship Id="rId157" Type="http://schemas.openxmlformats.org/officeDocument/2006/relationships/slide" Target="slides/slide57.xml"/><Relationship Id="rId158" Type="http://schemas.openxmlformats.org/officeDocument/2006/relationships/slide" Target="slides/slide58.xml"/><Relationship Id="rId159" Type="http://schemas.openxmlformats.org/officeDocument/2006/relationships/slide" Target="slides/slide59.xml"/><Relationship Id="rId160" Type="http://schemas.openxmlformats.org/officeDocument/2006/relationships/slide" Target="slides/slide60.xml"/><Relationship Id="rId161" Type="http://schemas.openxmlformats.org/officeDocument/2006/relationships/slide" Target="slides/slide61.xml"/><Relationship Id="rId162" Type="http://schemas.openxmlformats.org/officeDocument/2006/relationships/slide" Target="slides/slide62.xml"/><Relationship Id="rId163" Type="http://schemas.openxmlformats.org/officeDocument/2006/relationships/slide" Target="slides/slide63.xml"/><Relationship Id="rId164" Type="http://schemas.openxmlformats.org/officeDocument/2006/relationships/slide" Target="slides/slide64.xml"/><Relationship Id="rId165" Type="http://schemas.openxmlformats.org/officeDocument/2006/relationships/slide" Target="slides/slide65.xml"/><Relationship Id="rId166" Type="http://schemas.openxmlformats.org/officeDocument/2006/relationships/slide" Target="slides/slide66.xml"/><Relationship Id="rId167" Type="http://schemas.openxmlformats.org/officeDocument/2006/relationships/slide" Target="slides/slide67.xml"/><Relationship Id="rId168" Type="http://schemas.openxmlformats.org/officeDocument/2006/relationships/slide" Target="slides/slide68.xml"/><Relationship Id="rId169" Type="http://schemas.openxmlformats.org/officeDocument/2006/relationships/slide" Target="slides/slide69.xml"/><Relationship Id="rId170" Type="http://schemas.openxmlformats.org/officeDocument/2006/relationships/slide" Target="slides/slide70.xml"/><Relationship Id="rId171" Type="http://schemas.openxmlformats.org/officeDocument/2006/relationships/slide" Target="slides/slide71.xml"/><Relationship Id="rId172" Type="http://schemas.openxmlformats.org/officeDocument/2006/relationships/slide" Target="slides/slide72.xml"/><Relationship Id="rId173" Type="http://schemas.openxmlformats.org/officeDocument/2006/relationships/slide" Target="slides/slide73.xml"/><Relationship Id="rId174" Type="http://schemas.openxmlformats.org/officeDocument/2006/relationships/slide" Target="slides/slide74.xml"/><Relationship Id="rId175" Type="http://schemas.openxmlformats.org/officeDocument/2006/relationships/slide" Target="slides/slide75.xml"/><Relationship Id="rId176" Type="http://schemas.openxmlformats.org/officeDocument/2006/relationships/slide" Target="slides/slide76.xml"/><Relationship Id="rId177" Type="http://schemas.openxmlformats.org/officeDocument/2006/relationships/slide" Target="slides/slide77.xml"/><Relationship Id="rId178" Type="http://schemas.openxmlformats.org/officeDocument/2006/relationships/slide" Target="slides/slide78.xml"/><Relationship Id="rId179" Type="http://schemas.openxmlformats.org/officeDocument/2006/relationships/slide" Target="slides/slide79.xml"/><Relationship Id="rId180" Type="http://schemas.openxmlformats.org/officeDocument/2006/relationships/slide" Target="slides/slide80.xml"/><Relationship Id="rId181" Type="http://schemas.openxmlformats.org/officeDocument/2006/relationships/slide" Target="slides/slide81.xml"/><Relationship Id="rId182" Type="http://schemas.openxmlformats.org/officeDocument/2006/relationships/slide" Target="slides/slide82.xml"/><Relationship Id="rId183" Type="http://schemas.openxmlformats.org/officeDocument/2006/relationships/slide" Target="slides/slide83.xml"/><Relationship Id="rId184" Type="http://schemas.openxmlformats.org/officeDocument/2006/relationships/slide" Target="slides/slide84.xml"/><Relationship Id="rId185" Type="http://schemas.openxmlformats.org/officeDocument/2006/relationships/slide" Target="slides/slide85.xml"/><Relationship Id="rId186" Type="http://schemas.openxmlformats.org/officeDocument/2006/relationships/slide" Target="slides/slide86.xml"/><Relationship Id="rId187" Type="http://schemas.openxmlformats.org/officeDocument/2006/relationships/slide" Target="slides/slide87.xml"/><Relationship Id="rId188" Type="http://schemas.openxmlformats.org/officeDocument/2006/relationships/slide" Target="slides/slide88.xml"/><Relationship Id="rId189" Type="http://schemas.openxmlformats.org/officeDocument/2006/relationships/slide" Target="slides/slide89.xml"/><Relationship Id="rId190" Type="http://schemas.openxmlformats.org/officeDocument/2006/relationships/slide" Target="slides/slide90.xml"/><Relationship Id="rId191" Type="http://schemas.openxmlformats.org/officeDocument/2006/relationships/slide" Target="slides/slide91.xml"/><Relationship Id="rId192" Type="http://schemas.openxmlformats.org/officeDocument/2006/relationships/slide" Target="slides/slide92.xml"/><Relationship Id="rId193" Type="http://schemas.openxmlformats.org/officeDocument/2006/relationships/slide" Target="slides/slide93.xml"/><Relationship Id="rId194" Type="http://schemas.openxmlformats.org/officeDocument/2006/relationships/slide" Target="slides/slide94.xml"/><Relationship Id="rId195" Type="http://schemas.openxmlformats.org/officeDocument/2006/relationships/slide" Target="slides/slide95.xml"/><Relationship Id="rId196" Type="http://schemas.openxmlformats.org/officeDocument/2006/relationships/slide" Target="slides/slide96.xml"/><Relationship Id="rId197" Type="http://schemas.openxmlformats.org/officeDocument/2006/relationships/slide" Target="slides/slide97.xml"/><Relationship Id="rId198" Type="http://schemas.openxmlformats.org/officeDocument/2006/relationships/slide" Target="slides/slide98.xml"/><Relationship Id="rId199" Type="http://schemas.openxmlformats.org/officeDocument/2006/relationships/slide" Target="slides/slide99.xml"/><Relationship Id="rId200" Type="http://schemas.openxmlformats.org/officeDocument/2006/relationships/slide" Target="slides/slide100.xml"/><Relationship Id="rId2" Type="http://schemas.openxmlformats.org/officeDocument/2006/relationships/notesMaster" Target="notesMasters/notes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CCA8EA-268C-9240-A93C-AAC79D8999C8}" type="datetimeFigureOut">
              <a:rPr lang="en-US" smtClean="0"/>
              <a:t>7/26/2026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5C05A5-7321-AF4F-BADD-6247ABA70E9B}" type="slidenum">
              <a:rPr lang="en-US" smtClean="0"/>
              <a:t>‹#›</a:t>
            </a:fld>
            <a:endParaRPr lang="en-US"/>
          </a:p>
        </p:txBody>
      </p:sp>
    </p:spTree>
    <p:extLst>
      <p:ext uri="{BB962C8B-B14F-4D97-AF65-F5344CB8AC3E}">
        <p14:creationId xmlns:p14="http://schemas.microsoft.com/office/powerpoint/2010/main" val="2579992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Pakej Latihan 06: Pengurusan Operasi Pembinaan Landskap.</a:t>
            </a:r>
          </a:p>
          <a:p>
            <a:r>
              <a:rPr lang="en-MY" dirty="0"/>
              <a:t>Topik 3 Bahagian 2: Komponen Landskap.</a:t>
            </a:r>
          </a:p>
          <a:p>
            <a:r>
              <a:rPr lang="en-MY" dirty="0"/>
              <a:t>Dalam bahagian ini, anda akan mempelajari tentang komponen landskap.</a:t>
            </a:r>
          </a:p>
          <a:p>
            <a:r>
              <a:rPr lang="en-MY" dirty="0"/>
              <a:t>Klik Mula untuk meneruskan.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Pengenalan — senario tapak</a:t>
            </a:r>
          </a:p>
          <a:p>
            <a:endParaRPr lang="en-MY" dirty="0"/>
          </a:p>
          <a:p>
            <a:r>
              <a:rPr lang="en-MY" dirty="0"/>
              <a:t>SPOKEN TRANSCRIPT</a:t>
            </a:r>
          </a:p>
          <a:p>
            <a:endParaRPr lang="en-MY" dirty="0"/>
          </a:p>
          <a:p>
            <a:r>
              <a:rPr lang="en-MY" dirty="0"/>
              <a:t>Alya: Encik Rahman, lepas kerja tanaman, seterusnya struktur taman dan perabot taman. Saya nak sahkan skop sebelum susun jadual.</a:t>
            </a:r>
          </a:p>
          <a:p>
            <a:r>
              <a:rPr lang="en-MY" dirty="0"/>
              <a:t>Encik Rahman: Apa yang kamu faham setakat ini?</a:t>
            </a:r>
          </a:p>
          <a:p>
            <a:r>
              <a:rPr lang="en-MY" dirty="0"/>
              <a:t>Alya: Untuk struktur taman, binaan tetap macam gazebo, dek kayu, boardwalk. Perabot taman pula, kelengkapan macam kerusi, papan tanda, tong sampah. Semuanya ada fungsi, reka bentuk dan spesifikasi bahan tersendiri.</a:t>
            </a:r>
          </a:p>
          <a:p>
            <a:r>
              <a:rPr lang="en-MY" dirty="0"/>
              <a:t>Encik Rahman: Betul. Sebab itulah spesifikasi setiap komponen perlu disemak dahulu sebelum jadual kerja disusun.</a:t>
            </a:r>
          </a:p>
          <a:p>
            <a:r>
              <a:rPr lang="en-MY" dirty="0"/>
              <a:t>Alya: Faham. Saya semak spesifikasi setiap item sebelum mula kerja.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Pengenalan — gambaran keseluruhan</a:t>
            </a:r>
          </a:p>
          <a:p>
            <a:endParaRPr lang="en-MY" dirty="0"/>
          </a:p>
          <a:p>
            <a:r>
              <a:rPr lang="en-MY" dirty="0"/>
              <a:t>SPOKEN TRANSCRIPT</a:t>
            </a:r>
          </a:p>
          <a:p>
            <a:endParaRPr lang="en-MY" dirty="0"/>
          </a:p>
          <a:p>
            <a:r>
              <a:rPr lang="en-MY" dirty="0"/>
              <a:t>Hilmi: Seperti yang dilihat di halaman sebelum ini, adalah penting untuk anda memahami tentang struktur taman dan perabot taman yang menjadi sebahagian daripada kerja pembinaan landskap luar. Anda akan mempelajari tentang struktur taman, termasuk struktur persisir air, struktur teduhan, kemudahan awam, dan water feature, serta perabot taman, termasuk kerusi taman, papan tanda, tong sampah, drinking fountain, dan BBQ pit.</a:t>
            </a:r>
          </a:p>
          <a:p>
            <a:r>
              <a:rPr lang="en-MY" dirty="0"/>
              <a:t>Jika anda ditugaskan memasang kerusi taman di tepi tasik, apakah jenis bahan yang anda akan pilih, dan mengapa?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a:t>
            </a:r>
          </a:p>
          <a:p>
            <a:endParaRPr lang="en-MY" dirty="0"/>
          </a:p>
          <a:p>
            <a:r>
              <a:rPr lang="en-MY" dirty="0"/>
              <a:t>SPOKEN TRANSCRIPT</a:t>
            </a:r>
          </a:p>
          <a:p>
            <a:endParaRPr lang="en-MY" dirty="0"/>
          </a:p>
          <a:p>
            <a:r>
              <a:rPr lang="en-MY" dirty="0"/>
              <a:t>Struktur taman membina fungsi dan estetika landskap merangkumi pelbagai jenis binaan yang mengintegrasikan reka bentuk seni bina dengan landskap semula jadi. Setiap struktur mempunyai tujuan tersendiri, sama ada untuk akses, rekreasi, perlindungan, atau sebagai elemen visual utama. Terdapat empat jenis struktur taman: Struktur Persisir Air, Struktur Teduhan, Kemudahan Awam, dan </a:t>
            </a:r>
            <a:r>
              <a:rPr lang="en-MY" i="1" dirty="0"/>
              <a:t>Water Feature</a:t>
            </a:r>
            <a:r>
              <a:rPr lang="en-MY" dirty="0"/>
              <a:t>.</a:t>
            </a:r>
          </a:p>
          <a:p>
            <a:r>
              <a:rPr lang="en-MY" dirty="0"/>
              <a:t>Klik pada setiap struktur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endParaRPr lang="en-MY" dirty="0"/>
          </a:p>
          <a:p>
            <a:r>
              <a:rPr lang="en-MY" dirty="0"/>
              <a:t>SPOKEN TRANSCRIPT</a:t>
            </a:r>
          </a:p>
          <a:p>
            <a:endParaRPr lang="en-MY" dirty="0"/>
          </a:p>
          <a:p>
            <a:r>
              <a:rPr lang="en-MY" dirty="0"/>
              <a:t>Struktur persisir air direka untuk meningkatkan akses dan pengalaman pengguna di tepi badan air seperti tasik, sungai, atau pantai. Ia memerlukan kepakaran dalam pembinaan di persekitaran yang lembap dan berpotensi hakisan. Pembinaannya memerlukan asas yang sangat stabil dan rata, dengan sistem saliran permukaan yang berkesan untuk mengelakkan genangan air. Pemilihan bahan permukaan bergantung pada fungsi utama ruang tersebut. Mari lihat contoh bagi Struktur Persisir Air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 arahan interaksi</a:t>
            </a:r>
          </a:p>
          <a:p>
            <a:endParaRPr lang="en-MY" dirty="0"/>
          </a:p>
          <a:p>
            <a:r>
              <a:rPr lang="en-MY" dirty="0"/>
              <a:t>SPOKEN TRANSCRIPT</a:t>
            </a:r>
          </a:p>
          <a:p>
            <a:endParaRPr lang="en-MY" dirty="0"/>
          </a:p>
          <a:p>
            <a:r>
              <a:rPr lang="en-MY" dirty="0"/>
              <a:t>Klik pada setiap contoh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a:t>
            </a:r>
            <a:r>
              <a:rPr lang="en-MY" i="1" dirty="0"/>
              <a:t>Promenade</a:t>
            </a:r>
          </a:p>
          <a:p>
            <a:endParaRPr lang="en-MY" dirty="0"/>
          </a:p>
          <a:p>
            <a:r>
              <a:rPr lang="en-MY" dirty="0"/>
              <a:t>SPOKEN TRANSCRIPT</a:t>
            </a:r>
          </a:p>
          <a:p>
            <a:endParaRPr lang="en-MY" dirty="0"/>
          </a:p>
          <a:p>
            <a:r>
              <a:rPr lang="en-MY" i="1" dirty="0"/>
              <a:t>Promenade</a:t>
            </a:r>
            <a:r>
              <a:rPr lang="en-MY" dirty="0"/>
              <a:t> ialah laluan lebar di sepanjang pinggir air, selesa untuk berjalan dan bersantai. Contohnya </a:t>
            </a:r>
            <a:r>
              <a:rPr lang="en-MY" i="1" dirty="0"/>
              <a:t>Promenade</a:t>
            </a:r>
            <a:r>
              <a:rPr lang="en-MY" dirty="0"/>
              <a:t> Tasik Titiwangsa di Kuala Lumpur.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Jeti</a:t>
            </a:r>
          </a:p>
          <a:p>
            <a:endParaRPr lang="en-MY" dirty="0"/>
          </a:p>
          <a:p>
            <a:r>
              <a:rPr lang="en-MY" dirty="0"/>
              <a:t>SPOKEN TRANSCRIPT</a:t>
            </a:r>
          </a:p>
          <a:p>
            <a:endParaRPr lang="en-MY" dirty="0"/>
          </a:p>
          <a:p>
            <a:r>
              <a:rPr lang="en-MY" dirty="0"/>
              <a:t>Jeti ialah platform atau pelantar panjang untuk akses ke air, dan sering digunakan untuk bot. Contohnya Jeti Lumut di Perak.</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Dek Kayu</a:t>
            </a:r>
          </a:p>
          <a:p>
            <a:endParaRPr lang="en-MY" dirty="0"/>
          </a:p>
          <a:p>
            <a:r>
              <a:rPr lang="en-MY" dirty="0"/>
              <a:t>SPOKEN TRANSCRIPT</a:t>
            </a:r>
          </a:p>
          <a:p>
            <a:endParaRPr lang="en-MY" dirty="0"/>
          </a:p>
          <a:p>
            <a:r>
              <a:rPr lang="en-MY" dirty="0"/>
              <a:t>Dek kayu ialah ruang kayu terbuka di atas atau berhampiran air, untuk rehat dan menikmati pemandangan. Contohnya Wetland Park Putrajaya.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a:t>
            </a:r>
            <a:r>
              <a:rPr lang="en-MY" i="1" dirty="0"/>
              <a:t>Boardwalk</a:t>
            </a:r>
          </a:p>
          <a:p>
            <a:endParaRPr lang="en-MY" dirty="0"/>
          </a:p>
          <a:p>
            <a:r>
              <a:rPr lang="en-MY" dirty="0"/>
              <a:t>SPOKEN TRANSCRIPT</a:t>
            </a:r>
          </a:p>
          <a:p>
            <a:endParaRPr lang="en-MY" dirty="0"/>
          </a:p>
          <a:p>
            <a:r>
              <a:rPr lang="en-MY" i="1" dirty="0"/>
              <a:t>Boardwalk</a:t>
            </a:r>
            <a:r>
              <a:rPr lang="en-MY" dirty="0"/>
              <a:t> ialah laluan kayu di atas tanah berpaya atau basah. Ia mesra alam dan mengekalkan visual semula jadi. Contohnya </a:t>
            </a:r>
            <a:r>
              <a:rPr lang="en-MY" i="1" dirty="0"/>
              <a:t>Boardwalk</a:t>
            </a:r>
            <a:r>
              <a:rPr lang="en-MY" dirty="0"/>
              <a:t> Paya Indah Wetlands.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a:t>
            </a:r>
            <a:r>
              <a:rPr lang="en-MY" i="1" dirty="0"/>
              <a:t>Footbridge</a:t>
            </a:r>
          </a:p>
          <a:p>
            <a:endParaRPr lang="en-MY" dirty="0"/>
          </a:p>
          <a:p>
            <a:r>
              <a:rPr lang="en-MY" dirty="0"/>
              <a:t>SPOKEN TRANSCRIPT</a:t>
            </a:r>
          </a:p>
          <a:p>
            <a:endParaRPr lang="en-MY" dirty="0"/>
          </a:p>
          <a:p>
            <a:r>
              <a:rPr lang="en-MY" i="1" dirty="0"/>
              <a:t>Footbridge</a:t>
            </a:r>
            <a:r>
              <a:rPr lang="en-MY" dirty="0"/>
              <a:t> ialah jambatan kecil untuk laluan pejalan kaki melintasi aliran air atau longkang besar. Contohnya </a:t>
            </a:r>
            <a:r>
              <a:rPr lang="en-MY" i="1" dirty="0"/>
              <a:t>Footbridge</a:t>
            </a:r>
            <a:r>
              <a:rPr lang="en-MY" dirty="0"/>
              <a:t> Taman Botani Perdana.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endParaRPr lang="en-MY" dirty="0"/>
          </a:p>
          <a:p>
            <a:r>
              <a:rPr lang="en-MY" dirty="0"/>
              <a:t>SPOKEN TRANSCRIPT</a:t>
            </a:r>
          </a:p>
          <a:p>
            <a:endParaRPr lang="en-MY" dirty="0"/>
          </a:p>
          <a:p>
            <a:r>
              <a:rPr lang="en-MY" dirty="0"/>
              <a:t>Struktur teduhan direka untuk memberikan perlindungan daripada matahari dan hujan, dan mewujudkan ruang yang selesa untuk bersantai atau berinteraksi. Mari lihat contoh bagi Struktur Teduhan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 arahan interaksi</a:t>
            </a:r>
          </a:p>
          <a:p>
            <a:endParaRPr lang="en-MY" dirty="0"/>
          </a:p>
          <a:p>
            <a:r>
              <a:rPr lang="en-MY" dirty="0"/>
              <a:t>SPOKEN TRANSCRIPT</a:t>
            </a:r>
          </a:p>
          <a:p>
            <a:endParaRPr lang="en-MY" dirty="0"/>
          </a:p>
          <a:p>
            <a:r>
              <a:rPr lang="en-MY" dirty="0"/>
              <a:t>Klik pada setiap contoh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Gazebo</a:t>
            </a:r>
          </a:p>
          <a:p>
            <a:endParaRPr lang="en-MY" dirty="0"/>
          </a:p>
          <a:p>
            <a:r>
              <a:rPr lang="en-MY" dirty="0"/>
              <a:t>SPOKEN TRANSCRIPT</a:t>
            </a:r>
          </a:p>
          <a:p>
            <a:endParaRPr lang="en-MY" dirty="0"/>
          </a:p>
          <a:p>
            <a:r>
              <a:rPr lang="en-MY" dirty="0"/>
              <a:t>Gazebo ialah struktur berbumbung terbuka untuk bersantai atau menikmati pemandangan. Contohnya di Taman Tasik Shah Alam.</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Wakaf</a:t>
            </a:r>
          </a:p>
          <a:p>
            <a:endParaRPr lang="en-MY" dirty="0"/>
          </a:p>
          <a:p>
            <a:r>
              <a:rPr lang="en-MY" dirty="0"/>
              <a:t>SPOKEN TRANSCRIPT</a:t>
            </a:r>
          </a:p>
          <a:p>
            <a:endParaRPr lang="en-MY" dirty="0"/>
          </a:p>
          <a:p>
            <a:r>
              <a:rPr lang="en-MY" dirty="0"/>
              <a:t>Wakaf ialah struktur tradisional Melayu yang digunakan sebagai tempat berehat. Contohnya wakaf di Taman Desa, Kuala Lumpur.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Pergola</a:t>
            </a:r>
          </a:p>
          <a:p>
            <a:endParaRPr lang="en-MY" dirty="0"/>
          </a:p>
          <a:p>
            <a:r>
              <a:rPr lang="en-MY" dirty="0"/>
              <a:t>SPOKEN TRANSCRIPT</a:t>
            </a:r>
          </a:p>
          <a:p>
            <a:endParaRPr lang="en-MY" dirty="0"/>
          </a:p>
          <a:p>
            <a:r>
              <a:rPr lang="en-MY" dirty="0"/>
              <a:t>Pergola ialah rangka struktur terbuka yang biasanya ditumbuhi tanaman pemanjat seperti bougainvillea. Contohnya pergola di Laman Herba Putrajaya.</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Canopy</a:t>
            </a:r>
          </a:p>
          <a:p>
            <a:endParaRPr lang="en-MY" dirty="0"/>
          </a:p>
          <a:p>
            <a:r>
              <a:rPr lang="en-MY" dirty="0"/>
              <a:t>SPOKEN TRANSCRIPT</a:t>
            </a:r>
          </a:p>
          <a:p>
            <a:endParaRPr lang="en-MY" dirty="0"/>
          </a:p>
          <a:p>
            <a:r>
              <a:rPr lang="en-MY" dirty="0"/>
              <a:t>Canopy ialah struktur kain atau polikarbonat ringan untuk meneduhi kawasan aktiviti. Contohnya canopy rekreasi di Taman Jaya.</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Struktur Teduhan Moden</a:t>
            </a:r>
          </a:p>
          <a:p>
            <a:endParaRPr lang="en-MY" dirty="0"/>
          </a:p>
          <a:p>
            <a:r>
              <a:rPr lang="en-MY" dirty="0"/>
              <a:t>SPOKEN TRANSCRIPT</a:t>
            </a:r>
          </a:p>
          <a:p>
            <a:endParaRPr lang="en-MY" dirty="0"/>
          </a:p>
          <a:p>
            <a:r>
              <a:rPr lang="en-MY" dirty="0"/>
              <a:t>Struktur teduhan moden mempunyai reka bentuk kontemporari. Ia menggunakan bahan seperti keluli dan panel lutsinar atau berlubang untuk mencipta corak cahaya dan bayangan. Ia banyak digunakan di kawasan awam di Putrajaya.</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endParaRPr lang="en-MY" dirty="0"/>
          </a:p>
          <a:p>
            <a:r>
              <a:rPr lang="en-MY" dirty="0"/>
              <a:t>SPOKEN TRANSCRIPT</a:t>
            </a:r>
          </a:p>
          <a:p>
            <a:endParaRPr lang="en-MY" dirty="0"/>
          </a:p>
          <a:p>
            <a:r>
              <a:rPr lang="en-MY" dirty="0"/>
              <a:t>Kemudahan awam ialah bangunan atau struktur yang menyediakan perkhidmatan asas untuk keselesaan dan pendidikan pengguna taman. Ia memerlukan reka bentuk yang berfungsi, tahan lasak, dan mudah diselenggara. Aksesibiliti untuk orang kurang upaya adalah pertimbangan penting, dan bahan yang digunakan harus tahan vandalisme dan cuaca. Mari lihat contoh bagi Kemudahan Awam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r>
              <a:rPr lang="en-MY" dirty="0"/>
              <a:t>Contoh — arahan interaksi</a:t>
            </a:r>
          </a:p>
          <a:p>
            <a:endParaRPr lang="en-MY" dirty="0"/>
          </a:p>
          <a:p>
            <a:r>
              <a:rPr lang="en-MY" dirty="0"/>
              <a:t>SPOKEN TRANSCRIPT</a:t>
            </a:r>
          </a:p>
          <a:p>
            <a:endParaRPr lang="en-MY" dirty="0"/>
          </a:p>
          <a:p>
            <a:r>
              <a:rPr lang="en-MY" dirty="0"/>
              <a:t>Klik pada setiap contoh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r>
              <a:rPr lang="en-MY" dirty="0"/>
              <a:t>Contoh: Tandas Awam</a:t>
            </a:r>
          </a:p>
          <a:p>
            <a:endParaRPr lang="en-MY" dirty="0"/>
          </a:p>
          <a:p>
            <a:r>
              <a:rPr lang="en-MY" dirty="0"/>
              <a:t>SPOKEN TRANSCRIPT</a:t>
            </a:r>
          </a:p>
          <a:p>
            <a:endParaRPr lang="en-MY" dirty="0"/>
          </a:p>
          <a:p>
            <a:r>
              <a:rPr lang="en-MY" dirty="0"/>
              <a:t>Tandas awam ialah kemudahan sanitasi yang bersih dan boleh diakses. Pembinaannya perlu mematuhi piawaian kebersihan dan mempunyai sistem bekalan air serta saliran yang cekap.</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r>
              <a:rPr lang="en-MY" dirty="0"/>
              <a:t>Contoh: Surau</a:t>
            </a:r>
          </a:p>
          <a:p>
            <a:endParaRPr lang="en-MY" dirty="0"/>
          </a:p>
          <a:p>
            <a:r>
              <a:rPr lang="en-MY" dirty="0"/>
              <a:t>SPOKEN TRANSCRIPT</a:t>
            </a:r>
          </a:p>
          <a:p>
            <a:endParaRPr lang="en-MY" dirty="0"/>
          </a:p>
          <a:p>
            <a:r>
              <a:rPr lang="en-MY" dirty="0"/>
              <a:t>Surau ialah ruang ibadah yang disediakan untuk umat Islam menunaikan solat. Reka bentuknya biasanya ringkas tetapi memenuhi keperluan keagamaan.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r>
              <a:rPr lang="en-MY" dirty="0"/>
              <a:t>Contoh: Bangunan Interpretatif</a:t>
            </a:r>
          </a:p>
          <a:p>
            <a:endParaRPr lang="en-MY" dirty="0"/>
          </a:p>
          <a:p>
            <a:r>
              <a:rPr lang="en-MY" dirty="0"/>
              <a:t>SPOKEN TRANSCRIPT</a:t>
            </a:r>
          </a:p>
          <a:p>
            <a:endParaRPr lang="en-MY" dirty="0"/>
          </a:p>
          <a:p>
            <a:r>
              <a:rPr lang="en-MY" dirty="0"/>
              <a:t>Bangunan interpretatif ialah struktur yang menyediakan maklumat pendidikan tentang persekitaran — flora, fauna, sejarah dan geologi — melalui pameran, paparan, atau papan tanda.</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a:t>
            </a:r>
            <a:r>
              <a:rPr lang="en-MY" i="1" dirty="0"/>
              <a:t>Water Feature</a:t>
            </a:r>
          </a:p>
          <a:p>
            <a:endParaRPr lang="en-MY" dirty="0"/>
          </a:p>
          <a:p>
            <a:r>
              <a:rPr lang="en-MY" dirty="0"/>
              <a:t>SPOKEN TRANSCRIPT</a:t>
            </a:r>
          </a:p>
          <a:p>
            <a:endParaRPr lang="en-MY" dirty="0"/>
          </a:p>
          <a:p>
            <a:r>
              <a:rPr lang="en-MY" dirty="0"/>
              <a:t>Ciri air ialah elemen landskap yang menggunakan air untuk tujuan estetika, bunyi, atau sebagai titik tumpuan. Pembinaannya memerlukan sistem paip, pam air, penapisan, dan sistem saliran yang betul. Kawalan kualiti air, termasuk pencegahan alga, adalah penting. Aspek keselamatan seperti kedalaman dan permukaan yang tidak licin juga perlu diambil kira. Mari lihat contoh bagi </a:t>
            </a:r>
            <a:r>
              <a:rPr lang="en-MY" i="1" dirty="0"/>
              <a:t>Water Feature</a:t>
            </a:r>
            <a:r>
              <a:rPr lang="en-MY" dirty="0"/>
              <a:t>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a:t>
            </a:r>
            <a:r>
              <a:rPr lang="en-MY" i="1" dirty="0"/>
              <a:t>Water Feature</a:t>
            </a:r>
          </a:p>
          <a:p>
            <a:r>
              <a:rPr lang="en-MY" dirty="0"/>
              <a:t>Contoh — arahan interaksi</a:t>
            </a:r>
          </a:p>
          <a:p>
            <a:endParaRPr lang="en-MY" dirty="0"/>
          </a:p>
          <a:p>
            <a:r>
              <a:rPr lang="en-MY" dirty="0"/>
              <a:t>SPOKEN TRANSCRIPT</a:t>
            </a:r>
          </a:p>
          <a:p>
            <a:endParaRPr lang="en-MY" dirty="0"/>
          </a:p>
          <a:p>
            <a:r>
              <a:rPr lang="en-MY" dirty="0"/>
              <a:t>Klik pada setiap contoh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a:t>
            </a:r>
            <a:r>
              <a:rPr lang="en-MY" i="1" dirty="0"/>
              <a:t>Water Feature</a:t>
            </a:r>
          </a:p>
          <a:p>
            <a:r>
              <a:rPr lang="en-MY" dirty="0"/>
              <a:t>Contoh: Air Pancut (Fountain)</a:t>
            </a:r>
          </a:p>
          <a:p>
            <a:endParaRPr lang="en-MY" dirty="0"/>
          </a:p>
          <a:p>
            <a:r>
              <a:rPr lang="en-MY" dirty="0"/>
              <a:t>SPOKEN TRANSCRIPT</a:t>
            </a:r>
          </a:p>
          <a:p>
            <a:endParaRPr lang="en-MY" dirty="0"/>
          </a:p>
          <a:p>
            <a:r>
              <a:rPr lang="en-MY" dirty="0"/>
              <a:t>Air pancut ialah struktur yang mengeluarkan air dalam corak tertentu. Ia mewujudkan bunyi yang menenangkan dan pergerakan visual.</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a:t>
            </a:r>
            <a:r>
              <a:rPr lang="en-MY" i="1" dirty="0"/>
              <a:t>Water Feature</a:t>
            </a:r>
          </a:p>
          <a:p>
            <a:r>
              <a:rPr lang="en-MY" dirty="0"/>
              <a:t>Contoh: Kolam (Pond)</a:t>
            </a:r>
          </a:p>
          <a:p>
            <a:endParaRPr lang="en-MY" dirty="0"/>
          </a:p>
          <a:p>
            <a:r>
              <a:rPr lang="en-MY" dirty="0"/>
              <a:t>SPOKEN TRANSCRIPT</a:t>
            </a:r>
          </a:p>
          <a:p>
            <a:endParaRPr lang="en-MY" dirty="0"/>
          </a:p>
          <a:p>
            <a:r>
              <a:rPr lang="en-MY" dirty="0"/>
              <a:t>Kolam ialah kawasan air statik atau perlahan. Ia boleh menjadi kolam hiasan, kolam ikan, atau kolam refleksi.</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a:t>
            </a:r>
            <a:r>
              <a:rPr lang="en-MY" i="1" dirty="0"/>
              <a:t>Water Feature</a:t>
            </a:r>
          </a:p>
          <a:p>
            <a:r>
              <a:rPr lang="en-MY" dirty="0"/>
              <a:t>Contoh: Kolam Renang / Kolam Hiasan Besar (Pool)</a:t>
            </a:r>
          </a:p>
          <a:p>
            <a:endParaRPr lang="en-MY" dirty="0"/>
          </a:p>
          <a:p>
            <a:r>
              <a:rPr lang="en-MY" dirty="0"/>
              <a:t>SPOKEN TRANSCRIPT</a:t>
            </a:r>
          </a:p>
          <a:p>
            <a:endParaRPr lang="en-MY" dirty="0"/>
          </a:p>
          <a:p>
            <a:r>
              <a:rPr lang="en-MY" dirty="0"/>
              <a:t>Kolam renang atau kolam hiasan besar ialah kolam berskala lebih besar, sama ada untuk berenang atau sebagai kolam hiasan dengan ciri-ciri reka bentuk yang kompleks.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a:t>
            </a:r>
          </a:p>
          <a:p>
            <a:endParaRPr lang="en-MY" dirty="0"/>
          </a:p>
          <a:p>
            <a:r>
              <a:rPr lang="en-MY" dirty="0"/>
              <a:t>SPOKEN TRANSCRIPT</a:t>
            </a:r>
          </a:p>
          <a:p>
            <a:endParaRPr lang="en-MY" dirty="0"/>
          </a:p>
          <a:p>
            <a:r>
              <a:rPr lang="en-MY" dirty="0"/>
              <a:t>Perabot taman merujuk kepada elemen-elemen boleh alih atau kekal yang ditempatkan di ruang landskap untuk meningkatkan fungsi, keselesaan, dan estetika. Ini melibatkan pemahaman tentang bahan, ketahanan, ergonomik, dan kesesuaian reka bentuk dengan tema keseluruhan landskap. Terdapat lima jenis perabot taman: Kerusi Taman, Papan Tanda, Tong Sampah, </a:t>
            </a:r>
            <a:r>
              <a:rPr lang="en-MY" i="1" dirty="0"/>
              <a:t>Drinking Fountain</a:t>
            </a:r>
            <a:r>
              <a:rPr lang="en-MY" dirty="0"/>
              <a:t>, dan </a:t>
            </a:r>
            <a:r>
              <a:rPr lang="en-MY" i="1" dirty="0"/>
              <a:t>BBQ Pit</a:t>
            </a:r>
            <a:r>
              <a:rPr lang="en-MY" dirty="0"/>
              <a:t>.</a:t>
            </a:r>
          </a:p>
          <a:p>
            <a:r>
              <a:rPr lang="en-MY" dirty="0"/>
              <a:t>Mari lihat setiap contoh perabot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endParaRPr lang="en-MY" dirty="0"/>
          </a:p>
          <a:p>
            <a:r>
              <a:rPr lang="en-MY" dirty="0"/>
              <a:t>SPOKEN TRANSCRIPT</a:t>
            </a:r>
          </a:p>
          <a:p>
            <a:endParaRPr lang="en-MY" dirty="0"/>
          </a:p>
          <a:p>
            <a:r>
              <a:rPr lang="en-MY" dirty="0"/>
              <a:t>Kerusi taman menyediakan tempat duduk untuk pengguna berehat dan menikmati persekitaran. Ia merupakan elemen asas untuk keselesaan di mana-mana ruang awam atau peribadi. Pemilihan kerusi yang betul mengambil kira faktor seperti keselesaan, ketahanan terhadap cuaca, dan estetika yang sepadan dengan gaya landskap. Pemasangan mungkin melibatkan penetapan ke tanah untuk mengelakkan kecurian atau pergerakan.</a:t>
            </a:r>
          </a:p>
          <a:p>
            <a:r>
              <a:rPr lang="en-MY" dirty="0"/>
              <a:t>Klik pada setiap contoh untuk melihat perincian.</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Bahan</a:t>
            </a:r>
          </a:p>
          <a:p>
            <a:endParaRPr lang="en-MY" dirty="0"/>
          </a:p>
          <a:p>
            <a:r>
              <a:rPr lang="en-MY" dirty="0"/>
              <a:t>SPOKEN TRANSCRIPT</a:t>
            </a:r>
          </a:p>
          <a:p>
            <a:endParaRPr lang="en-MY" dirty="0"/>
          </a:p>
          <a:p>
            <a:r>
              <a:rPr lang="en-MY" dirty="0"/>
              <a:t>Bahan. Kayu padu gred perabot luar dengan ketahanan semula jadi tinggi terhadap serangga dan reput, atau kayu dirawat tekanan (pressure-treated).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Dimensi</a:t>
            </a:r>
          </a:p>
          <a:p>
            <a:endParaRPr lang="en-MY" dirty="0"/>
          </a:p>
          <a:p>
            <a:r>
              <a:rPr lang="en-MY" dirty="0"/>
              <a:t>SPOKEN TRANSCRIPT</a:t>
            </a:r>
          </a:p>
          <a:p>
            <a:endParaRPr lang="en-MY" dirty="0"/>
          </a:p>
          <a:p>
            <a:r>
              <a:rPr lang="en-MY" dirty="0"/>
              <a:t>Dimensi. Ketebalan minimum komponen utama 25mm–50mm.</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Penyambungan</a:t>
            </a:r>
          </a:p>
          <a:p>
            <a:endParaRPr lang="en-MY" dirty="0"/>
          </a:p>
          <a:p>
            <a:r>
              <a:rPr lang="en-MY" dirty="0"/>
              <a:t>SPOKEN TRANSCRIPT</a:t>
            </a:r>
          </a:p>
          <a:p>
            <a:endParaRPr lang="en-MY" dirty="0"/>
          </a:p>
          <a:p>
            <a:r>
              <a:rPr lang="en-MY" dirty="0"/>
              <a:t>Penyambungan. Skru tahan karat (stainless steel), bolt, atau tanggam kayu (mortise and tenon joints).</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Kemasan</a:t>
            </a:r>
          </a:p>
          <a:p>
            <a:endParaRPr lang="en-MY" dirty="0"/>
          </a:p>
          <a:p>
            <a:r>
              <a:rPr lang="en-MY" dirty="0"/>
              <a:t>SPOKEN TRANSCRIPT</a:t>
            </a:r>
          </a:p>
          <a:p>
            <a:endParaRPr lang="en-MY" dirty="0"/>
          </a:p>
          <a:p>
            <a:r>
              <a:rPr lang="en-MY" dirty="0"/>
              <a:t>Kemasan. Sealant luaran, minyak kayu, atau varnis tahan UV dan kelembapan.</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Konkrit</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Konkrit</a:t>
            </a:r>
          </a:p>
          <a:p>
            <a:r>
              <a:rPr lang="en-MY" dirty="0"/>
              <a:t>Spesifikasi: Bahan</a:t>
            </a:r>
          </a:p>
          <a:p>
            <a:endParaRPr lang="en-MY" dirty="0"/>
          </a:p>
          <a:p>
            <a:r>
              <a:rPr lang="en-MY" dirty="0"/>
              <a:t>SPOKEN TRANSCRIPT</a:t>
            </a:r>
          </a:p>
          <a:p>
            <a:endParaRPr lang="en-MY" dirty="0"/>
          </a:p>
          <a:p>
            <a:r>
              <a:rPr lang="en-MY" dirty="0"/>
              <a:t>Bahan. Konkrit bertetulang gentian (FRC) atau konkrit pratuang (precast concrete). Pembesaran (expansion joints) mungkin diperlukan bagi mengelak keretakan akibat perubahan suhu.</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Konkrit</a:t>
            </a:r>
          </a:p>
          <a:p>
            <a:r>
              <a:rPr lang="en-MY" dirty="0"/>
              <a:t>Spesifikasi: Kemasan</a:t>
            </a:r>
          </a:p>
          <a:p>
            <a:endParaRPr lang="en-MY" dirty="0"/>
          </a:p>
          <a:p>
            <a:r>
              <a:rPr lang="en-MY" dirty="0"/>
              <a:t>SPOKEN TRANSCRIPT</a:t>
            </a:r>
          </a:p>
          <a:p>
            <a:endParaRPr lang="en-MY" dirty="0"/>
          </a:p>
          <a:p>
            <a:r>
              <a:rPr lang="en-MY" dirty="0"/>
              <a:t>Kemasan. Boleh dibiarkan asli, digilap, dicat, atau bertekstur (exposed aggregate). Permukaan mesti licin, tanpa tepi tajam.</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Komposit</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Komposit</a:t>
            </a:r>
          </a:p>
          <a:p>
            <a:r>
              <a:rPr lang="en-MY" dirty="0"/>
              <a:t>Spesifikasi: Bahan</a:t>
            </a:r>
          </a:p>
          <a:p>
            <a:endParaRPr lang="en-MY" dirty="0"/>
          </a:p>
          <a:p>
            <a:r>
              <a:rPr lang="en-MY" dirty="0"/>
              <a:t>SPOKEN TRANSCRIPT</a:t>
            </a:r>
          </a:p>
          <a:p>
            <a:endParaRPr lang="en-MY" dirty="0"/>
          </a:p>
          <a:p>
            <a:r>
              <a:rPr lang="en-MY" dirty="0"/>
              <a:t>Bahan. Papan atau profil daripada campuran gentian kayu/selulosa dan plastik kitar semula. Tahan UV, kalis air, tidak reput, kalis serangga.</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Komposit</a:t>
            </a:r>
          </a:p>
          <a:p>
            <a:r>
              <a:rPr lang="en-MY" dirty="0"/>
              <a:t>Spesifikasi: Kemasan</a:t>
            </a:r>
          </a:p>
          <a:p>
            <a:endParaRPr lang="en-MY" dirty="0"/>
          </a:p>
          <a:p>
            <a:r>
              <a:rPr lang="en-MY" dirty="0"/>
              <a:t>SPOKEN TRANSCRIPT</a:t>
            </a:r>
          </a:p>
          <a:p>
            <a:endParaRPr lang="en-MY" dirty="0"/>
          </a:p>
          <a:p>
            <a:r>
              <a:rPr lang="en-MY" dirty="0"/>
              <a:t>Kemasan. Warna disepadukan dalam bahan; tidak memerlukan cat atau varnis. Tekstur permukaan mungkin meniru urat kayu.</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endParaRPr lang="en-MY" dirty="0"/>
          </a:p>
          <a:p>
            <a:r>
              <a:rPr lang="en-MY" dirty="0"/>
              <a:t>SPOKEN TRANSCRIPT</a:t>
            </a:r>
          </a:p>
          <a:p>
            <a:endParaRPr lang="en-MY" dirty="0"/>
          </a:p>
          <a:p>
            <a:r>
              <a:rPr lang="en-MY" dirty="0"/>
              <a:t>Klik pada setiap kategori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Bahan Panel</a:t>
            </a:r>
          </a:p>
          <a:p>
            <a:endParaRPr lang="en-MY" dirty="0"/>
          </a:p>
          <a:p>
            <a:r>
              <a:rPr lang="en-MY" dirty="0"/>
              <a:t>SPOKEN TRANSCRIPT</a:t>
            </a:r>
          </a:p>
          <a:p>
            <a:endParaRPr lang="en-MY" dirty="0"/>
          </a:p>
          <a:p>
            <a:r>
              <a:rPr lang="en-MY" dirty="0"/>
              <a:t>Bahan Panel. Aluminium Komposit (ACP) 3–4mm; HPL gred luar 6–10mm; Akrilik terstabil UV 5–10mm; Kayu dirawat tekanan/kayu keras min. 20mm.</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Bahan Struktur/Tiang</a:t>
            </a:r>
          </a:p>
          <a:p>
            <a:endParaRPr lang="en-MY" dirty="0"/>
          </a:p>
          <a:p>
            <a:r>
              <a:rPr lang="en-MY" dirty="0"/>
              <a:t>SPOKEN TRANSCRIPT</a:t>
            </a:r>
          </a:p>
          <a:p>
            <a:endParaRPr lang="en-MY" dirty="0"/>
          </a:p>
          <a:p>
            <a:r>
              <a:rPr lang="en-MY" dirty="0"/>
              <a:t>Bahan Struktur/Tiang. Keluli bersalut serbuk atau tahan karat, profil 50mm × 50mm ke atas; kayu keras min. 75mm × 75mm.</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Grafik</a:t>
            </a:r>
          </a:p>
          <a:p>
            <a:endParaRPr lang="en-MY" dirty="0"/>
          </a:p>
          <a:p>
            <a:r>
              <a:rPr lang="en-MY" dirty="0"/>
              <a:t>SPOKEN TRANSCRIPT</a:t>
            </a:r>
          </a:p>
          <a:p>
            <a:endParaRPr lang="en-MY" dirty="0"/>
          </a:p>
          <a:p>
            <a:r>
              <a:rPr lang="en-MY" dirty="0"/>
              <a:t>Grafik. Cetakan UV langsung, cetakan digital pada vinil gred luar, atau ukiran laser. Mesti tahan pudar.</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Rekaan</a:t>
            </a:r>
          </a:p>
          <a:p>
            <a:endParaRPr lang="en-MY" dirty="0"/>
          </a:p>
          <a:p>
            <a:r>
              <a:rPr lang="en-MY" dirty="0"/>
              <a:t>SPOKEN TRANSCRIPT</a:t>
            </a:r>
          </a:p>
          <a:p>
            <a:endParaRPr lang="en-MY" dirty="0"/>
          </a:p>
          <a:p>
            <a:r>
              <a:rPr lang="en-MY" dirty="0"/>
              <a:t>Rekaan. Font jelas, saiz teks sesuai jarak pandang, kontras warna tinggi.</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endParaRPr lang="en-MY" dirty="0"/>
          </a:p>
          <a:p>
            <a:r>
              <a:rPr lang="en-MY" dirty="0"/>
              <a:t>SPOKEN TRANSCRIPT</a:t>
            </a:r>
          </a:p>
          <a:p>
            <a:endParaRPr lang="en-MY" dirty="0"/>
          </a:p>
          <a:p>
            <a:r>
              <a:rPr lang="en-MY" dirty="0"/>
              <a:t>Tong sampah ialah kemudahan asas untuk pengurusan sisa dan menjaga kebersihan ruang landskap. Tong sampah harus mencukupi dari segi bilangan dan diletakkan di lokasi yang mudah diakses. Reka bentuknya perlu tahan lama, mudah dikosongkan, dan dapat menghalang haiwan daripada mengusik sampah. Sesetengah tong sampah direka untuk pengasingan sisa kitar semula.</a:t>
            </a:r>
          </a:p>
          <a:p>
            <a:r>
              <a:rPr lang="en-MY" dirty="0"/>
              <a:t>Klik pada setiap contoh untuk melihat perincian.</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Logam</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Logam</a:t>
            </a:r>
          </a:p>
          <a:p>
            <a:r>
              <a:rPr lang="en-MY" dirty="0"/>
              <a:t>Spesifikasi: Bahan</a:t>
            </a:r>
          </a:p>
          <a:p>
            <a:endParaRPr lang="en-MY" dirty="0"/>
          </a:p>
          <a:p>
            <a:r>
              <a:rPr lang="en-MY" dirty="0"/>
              <a:t>SPOKEN TRANSCRIPT</a:t>
            </a:r>
          </a:p>
          <a:p>
            <a:endParaRPr lang="en-MY" dirty="0"/>
          </a:p>
          <a:p>
            <a:r>
              <a:rPr lang="en-MY" dirty="0"/>
              <a:t>Bahan. Keluli lembut digalvani dan disalut serbuk, atau keluli tahan karat. Ketebalan dinding badan min. 1.2mm.</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Logam</a:t>
            </a:r>
          </a:p>
          <a:p>
            <a:r>
              <a:rPr lang="en-MY" dirty="0"/>
              <a:t>Spesifikasi: Ciri-ciri</a:t>
            </a:r>
          </a:p>
          <a:p>
            <a:endParaRPr lang="en-MY" dirty="0"/>
          </a:p>
          <a:p>
            <a:r>
              <a:rPr lang="en-MY" dirty="0"/>
              <a:t>SPOKEN TRANSCRIPT</a:t>
            </a:r>
          </a:p>
          <a:p>
            <a:endParaRPr lang="en-MY" dirty="0"/>
          </a:p>
          <a:p>
            <a:r>
              <a:rPr lang="en-MY" dirty="0"/>
              <a:t>Ciri-ciri. Penutup tahan cuaca dan tahan haiwan; pembukaan pembuangan ergonomik; tong dalam (liner) mudah dikeluarkan.</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Konkrit/Batu</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Konkrit/Batu</a:t>
            </a:r>
          </a:p>
          <a:p>
            <a:r>
              <a:rPr lang="en-MY" dirty="0"/>
              <a:t>Spesifikasi: Bahan</a:t>
            </a:r>
          </a:p>
          <a:p>
            <a:endParaRPr lang="en-MY" dirty="0"/>
          </a:p>
          <a:p>
            <a:r>
              <a:rPr lang="en-MY" dirty="0"/>
              <a:t>SPOKEN TRANSCRIPT</a:t>
            </a:r>
          </a:p>
          <a:p>
            <a:endParaRPr lang="en-MY" dirty="0"/>
          </a:p>
          <a:p>
            <a:r>
              <a:rPr lang="en-MY" dirty="0"/>
              <a:t>Bahan. Konkrit bertetulang atau batu asli/tiruan. Berat mencukupi bagi mengelak kecurian atau pergerakan tidak disengajakan.</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Konkrit/Batu</a:t>
            </a:r>
          </a:p>
          <a:p>
            <a:r>
              <a:rPr lang="en-MY" dirty="0"/>
              <a:t>Spesifikasi: Ciri-ciri</a:t>
            </a:r>
          </a:p>
          <a:p>
            <a:endParaRPr lang="en-MY" dirty="0"/>
          </a:p>
          <a:p>
            <a:r>
              <a:rPr lang="en-MY" dirty="0"/>
              <a:t>SPOKEN TRANSCRIPT</a:t>
            </a:r>
          </a:p>
          <a:p>
            <a:endParaRPr lang="en-MY" dirty="0"/>
          </a:p>
          <a:p>
            <a:r>
              <a:rPr lang="en-MY" dirty="0"/>
              <a:t>Ciri-ciri. Pembukaan sesuai untuk sampah, dengan atau tanpa tong dalam logam.</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Plastik Kitar Semula (HDPE)</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Plastik Kitar Semula (HDPE)</a:t>
            </a:r>
          </a:p>
          <a:p>
            <a:r>
              <a:rPr lang="en-MY" dirty="0"/>
              <a:t>Spesifikasi: Bahan</a:t>
            </a:r>
          </a:p>
          <a:p>
            <a:endParaRPr lang="en-MY" dirty="0"/>
          </a:p>
          <a:p>
            <a:r>
              <a:rPr lang="en-MY" dirty="0"/>
              <a:t>SPOKEN TRANSCRIPT</a:t>
            </a:r>
          </a:p>
          <a:p>
            <a:endParaRPr lang="en-MY" dirty="0"/>
          </a:p>
          <a:p>
            <a:r>
              <a:rPr lang="en-MY" dirty="0"/>
              <a:t>Bahan. Plastik berketumpatan tinggi (HDPE) yang tahan UV, tidak reput dan mudah dibersihkan.</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Plastik Kitar Semula (HDPE)</a:t>
            </a:r>
          </a:p>
          <a:p>
            <a:r>
              <a:rPr lang="en-MY" dirty="0"/>
              <a:t>Spesifikasi: Ciri-ciri</a:t>
            </a:r>
          </a:p>
          <a:p>
            <a:endParaRPr lang="en-MY" dirty="0"/>
          </a:p>
          <a:p>
            <a:r>
              <a:rPr lang="en-MY" dirty="0"/>
              <a:t>SPOKEN TRANSCRIPT</a:t>
            </a:r>
          </a:p>
          <a:p>
            <a:endParaRPr lang="en-MY" dirty="0"/>
          </a:p>
          <a:p>
            <a:r>
              <a:rPr lang="en-MY" dirty="0"/>
              <a:t>Ciri-ciri. Ringan, mudah dialihkan jika tidak dipasang tetap; pelbagai warna untuk pengasingan sisa.</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endParaRPr lang="en-MY" dirty="0"/>
          </a:p>
          <a:p>
            <a:r>
              <a:rPr lang="en-MY" dirty="0"/>
              <a:t>SPOKEN TRANSCRIPT</a:t>
            </a:r>
          </a:p>
          <a:p>
            <a:endParaRPr lang="en-MY" dirty="0"/>
          </a:p>
          <a:p>
            <a:r>
              <a:rPr lang="en-MY" dirty="0"/>
              <a:t>Pancutan air minum menyediakan akses mudah kepada air bersih untuk pengguna taman. Ia harus dibina dengan bahan yang bersih dan tahan lasak, serta memerlukan sambungan paip air yang bersih dan sistem saliran yang berkesan untuk air buangan. Ketinggian yang berbeza mungkin diperlukan untuk kanak-kanak dan orang dewasa, serta akses untuk kerusi roda.</a:t>
            </a:r>
          </a:p>
          <a:p>
            <a:r>
              <a:rPr lang="en-MY" dirty="0"/>
              <a:t>Klik pada setiap contoh untuk melihat perincian.</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Bahan</a:t>
            </a:r>
          </a:p>
          <a:p>
            <a:endParaRPr lang="en-MY" dirty="0"/>
          </a:p>
          <a:p>
            <a:r>
              <a:rPr lang="en-MY" dirty="0"/>
              <a:t>SPOKEN TRANSCRIPT</a:t>
            </a:r>
          </a:p>
          <a:p>
            <a:endParaRPr lang="en-MY" dirty="0"/>
          </a:p>
          <a:p>
            <a:r>
              <a:rPr lang="en-MY" dirty="0"/>
              <a:t>Bahan. Keluli tahan karat Gred 304 atau 316 (316 lebih tahan kakisan untuk persekitaran pantai). Tebal min. 1.5mm.</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Injap</a:t>
            </a:r>
          </a:p>
          <a:p>
            <a:endParaRPr lang="en-MY" dirty="0"/>
          </a:p>
          <a:p>
            <a:r>
              <a:rPr lang="en-MY" dirty="0"/>
              <a:t>SPOKEN TRANSCRIPT</a:t>
            </a:r>
          </a:p>
          <a:p>
            <a:endParaRPr lang="en-MY" dirty="0"/>
          </a:p>
          <a:p>
            <a:r>
              <a:rPr lang="en-MY" dirty="0"/>
              <a:t>Injap. Injap tekan tahan lasak dan tahan vandalisme; mekanisme membersihkan diri satu kelebihan.</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Kepala pancutan</a:t>
            </a:r>
          </a:p>
          <a:p>
            <a:endParaRPr lang="en-MY" dirty="0"/>
          </a:p>
          <a:p>
            <a:r>
              <a:rPr lang="en-MY" dirty="0"/>
              <a:t>SPOKEN TRANSCRIPT</a:t>
            </a:r>
          </a:p>
          <a:p>
            <a:endParaRPr lang="en-MY" dirty="0"/>
          </a:p>
          <a:p>
            <a:r>
              <a:rPr lang="en-MY" dirty="0"/>
              <a:t>Kepala pancutan. Aliran stabil dan bersih, dilindungi daripada sentuhan mulut pengguna.</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Penapisan (pilihan)</a:t>
            </a:r>
          </a:p>
          <a:p>
            <a:endParaRPr lang="en-MY" dirty="0"/>
          </a:p>
          <a:p>
            <a:r>
              <a:rPr lang="en-MY" dirty="0"/>
              <a:t>SPOKEN TRANSCRIPT</a:t>
            </a:r>
          </a:p>
          <a:p>
            <a:endParaRPr lang="en-MY" dirty="0"/>
          </a:p>
          <a:p>
            <a:r>
              <a:rPr lang="en-MY" dirty="0"/>
              <a:t>Penapisan (pilihan). Penapis karbon atau sedimen.</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Perpaipan</a:t>
            </a:r>
          </a:p>
          <a:p>
            <a:endParaRPr lang="en-MY" dirty="0"/>
          </a:p>
          <a:p>
            <a:r>
              <a:rPr lang="en-MY" dirty="0"/>
              <a:t>SPOKEN TRANSCRIPT</a:t>
            </a:r>
          </a:p>
          <a:p>
            <a:endParaRPr lang="en-MY" dirty="0"/>
          </a:p>
          <a:p>
            <a:r>
              <a:rPr lang="en-MY" dirty="0"/>
              <a:t>Perpaipan. Air bersih (PVC atau HDPE) dan saliran air buangan yang cekap; injap tutup untuk penyelenggaraan.</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Aksesibiliti</a:t>
            </a:r>
          </a:p>
          <a:p>
            <a:endParaRPr lang="en-MY" dirty="0"/>
          </a:p>
          <a:p>
            <a:r>
              <a:rPr lang="en-MY" dirty="0"/>
              <a:t>SPOKEN TRANSCRIPT</a:t>
            </a:r>
          </a:p>
          <a:p>
            <a:endParaRPr lang="en-MY" dirty="0"/>
          </a:p>
          <a:p>
            <a:r>
              <a:rPr lang="en-MY" dirty="0"/>
              <a:t>Aksesibiliti. Mengikut piawaian reka bentuk universal.</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Konkrit/Batu</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Konkrit/Batu</a:t>
            </a:r>
          </a:p>
          <a:p>
            <a:r>
              <a:rPr lang="en-MY" dirty="0"/>
              <a:t>Spesifikasi: Bahan</a:t>
            </a:r>
          </a:p>
          <a:p>
            <a:endParaRPr lang="en-MY" dirty="0"/>
          </a:p>
          <a:p>
            <a:r>
              <a:rPr lang="en-MY" dirty="0"/>
              <a:t>SPOKEN TRANSCRIPT</a:t>
            </a:r>
          </a:p>
          <a:p>
            <a:endParaRPr lang="en-MY" dirty="0"/>
          </a:p>
          <a:p>
            <a:r>
              <a:rPr lang="en-MY" dirty="0"/>
              <a:t>Bahan. Struktur asas konkrit bertetulang atau batu asli/tiruan. Bahagian pancutan (faucet/basin) biasanya kekal keluli tahan karat untuk kebersihan.</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Konkrit/Batu</a:t>
            </a:r>
          </a:p>
          <a:p>
            <a:r>
              <a:rPr lang="en-MY" dirty="0"/>
              <a:t>Spesifikasi: Piawaian kesihatan</a:t>
            </a:r>
          </a:p>
          <a:p>
            <a:endParaRPr lang="en-MY" dirty="0"/>
          </a:p>
          <a:p>
            <a:r>
              <a:rPr lang="en-MY" dirty="0"/>
              <a:t>SPOKEN TRANSCRIPT</a:t>
            </a:r>
          </a:p>
          <a:p>
            <a:endParaRPr lang="en-MY" dirty="0"/>
          </a:p>
          <a:p>
            <a:r>
              <a:rPr lang="en-MY" dirty="0"/>
              <a:t>Piawaian kesihatan. Mesti mematuhi piawaian kualiti air minuman Kementerian Kesihatan Malaysia atau badan berkaitan.</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BBQ Pit</a:t>
            </a:r>
          </a:p>
          <a:p>
            <a:endParaRPr lang="en-MY" dirty="0"/>
          </a:p>
          <a:p>
            <a:r>
              <a:rPr lang="en-MY" dirty="0"/>
              <a:t>SPOKEN TRANSCRIPT</a:t>
            </a:r>
          </a:p>
          <a:p>
            <a:endParaRPr lang="en-MY" dirty="0"/>
          </a:p>
          <a:p>
            <a:r>
              <a:rPr lang="en-MY" dirty="0"/>
              <a:t>Klik pada setiap kategori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BBQ Pit</a:t>
            </a:r>
          </a:p>
          <a:p>
            <a:r>
              <a:rPr lang="en-MY" dirty="0"/>
              <a:t>Spesifikasi: Bahan Pembinaan</a:t>
            </a:r>
          </a:p>
          <a:p>
            <a:endParaRPr lang="en-MY" dirty="0"/>
          </a:p>
          <a:p>
            <a:r>
              <a:rPr lang="en-MY" dirty="0"/>
              <a:t>SPOKEN TRANSCRIPT</a:t>
            </a:r>
          </a:p>
          <a:p>
            <a:endParaRPr lang="en-MY" dirty="0"/>
          </a:p>
          <a:p>
            <a:r>
              <a:rPr lang="en-MY" dirty="0"/>
              <a:t>Bahan Pembinaan. Dinding dalam ruang pembakaran daripada bata tahan api (firebrick) atau blok konkrit tahan suhu tinggi, dengan mortar tahan api; dinding luar bata biasa, blok konkrit atau batu; pelat kerja konkrit, jubin seramik tahan haba atau batu granit.</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BBQ Pit</a:t>
            </a:r>
          </a:p>
          <a:p>
            <a:r>
              <a:rPr lang="en-MY" dirty="0"/>
              <a:t>Spesifikasi: Dimensi</a:t>
            </a:r>
          </a:p>
          <a:p>
            <a:endParaRPr lang="en-MY" dirty="0"/>
          </a:p>
          <a:p>
            <a:r>
              <a:rPr lang="en-MY" dirty="0"/>
              <a:t>SPOKEN TRANSCRIPT</a:t>
            </a:r>
          </a:p>
          <a:p>
            <a:endParaRPr lang="en-MY" dirty="0"/>
          </a:p>
          <a:p>
            <a:r>
              <a:rPr lang="en-MY" dirty="0"/>
              <a:t>Dimensi. Ketinggian memanggang lazimnya 750–900mm dari aras tanah; saiz lubang api mengikut saiz gril.</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BBQ Pit</a:t>
            </a:r>
          </a:p>
          <a:p>
            <a:r>
              <a:rPr lang="en-MY" dirty="0"/>
              <a:t>Spesifikasi: Gril</a:t>
            </a:r>
          </a:p>
          <a:p>
            <a:endParaRPr lang="en-MY" dirty="0"/>
          </a:p>
          <a:p>
            <a:r>
              <a:rPr lang="en-MY" dirty="0"/>
              <a:t>SPOKEN TRANSCRIPT</a:t>
            </a:r>
          </a:p>
          <a:p>
            <a:endParaRPr lang="en-MY" dirty="0"/>
          </a:p>
          <a:p>
            <a:r>
              <a:rPr lang="en-MY" dirty="0"/>
              <a:t>Gril. Keluli tahan karat gred makanan atau besi tuang; tebal palang min. 6mm.</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BBQ Pit</a:t>
            </a:r>
          </a:p>
          <a:p>
            <a:r>
              <a:rPr lang="en-MY" dirty="0"/>
              <a:t>Spesifikasi: Keselamatan</a:t>
            </a:r>
          </a:p>
          <a:p>
            <a:endParaRPr lang="en-MY" dirty="0"/>
          </a:p>
          <a:p>
            <a:r>
              <a:rPr lang="en-MY" dirty="0"/>
              <a:t>SPOKEN TRANSCRIPT</a:t>
            </a:r>
          </a:p>
          <a:p>
            <a:endParaRPr lang="en-MY" dirty="0"/>
          </a:p>
          <a:p>
            <a:r>
              <a:rPr lang="en-MY" dirty="0"/>
              <a:t>Keselamatan. Pengudaraan di bawah ruang pembakaran; saliran air hujan; cerobong asap (pilihan); ruang persediaan bersebelahan; jarak selamat dari bahan mudah terbakar.</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Rumusan</a:t>
            </a:r>
          </a:p>
          <a:p>
            <a:endParaRPr lang="en-MY" dirty="0"/>
          </a:p>
          <a:p>
            <a:r>
              <a:rPr lang="en-MY" dirty="0"/>
              <a:t>SPOKEN TRANSCRIPT</a:t>
            </a:r>
          </a:p>
          <a:p>
            <a:endParaRPr lang="en-MY" dirty="0"/>
          </a:p>
          <a:p>
            <a:r>
              <a:rPr lang="en-MY" dirty="0"/>
              <a:t>Mengenal pasti struktur dan elemen landskap membolehkan kerja pembinaan, penyeliaan dan penyelenggaraan dirancang dengan tepat. Struktur taman merangkumi Struktur Persisir Air, Struktur Teduhan, Kemudahan Awam dan </a:t>
            </a:r>
            <a:r>
              <a:rPr lang="en-MY" i="1" dirty="0"/>
              <a:t>Water Feature</a:t>
            </a:r>
            <a:r>
              <a:rPr lang="en-MY" dirty="0"/>
              <a:t>, manakala perabot taman merangkumi Kerusi Taman, Papan Tanda, Tong Sampah, </a:t>
            </a:r>
            <a:r>
              <a:rPr lang="en-MY" i="1" dirty="0"/>
              <a:t>Drinking Fountain</a:t>
            </a:r>
            <a:r>
              <a:rPr lang="en-MY" dirty="0"/>
              <a:t> dan </a:t>
            </a:r>
            <a:r>
              <a:rPr lang="en-MY" i="1" dirty="0"/>
              <a:t>BBQ Pit</a:t>
            </a:r>
            <a:r>
              <a:rPr lang="en-MY" dirty="0"/>
              <a:t>. Dengan memahami komponen-komponen ini, kontraktor dapat merancang, melaksana dan menyelenggara setiap komponen landskap mengikut fungsinya di tapak.</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endParaRPr lang="en-MY" dirty="0"/>
          </a:p>
          <a:p>
            <a:r>
              <a:rPr lang="en-MY" dirty="0"/>
              <a:t>SPOKEN TRANSCRIPT</a:t>
            </a:r>
          </a:p>
          <a:p>
            <a:endParaRPr lang="en-MY" dirty="0"/>
          </a:p>
          <a:p>
            <a:r>
              <a:rPr lang="en-MY" dirty="0"/>
              <a:t>Jawab semua soalan dengan pilihan jawapan yang betul.</a:t>
            </a:r>
          </a:p>
          <a:p>
            <a:r>
              <a:rPr lang="en-MY" dirty="0"/>
              <a:t>Klik Mula Kuiz untuk memulakan kuiz.</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1</a:t>
            </a:r>
          </a:p>
          <a:p>
            <a:endParaRPr lang="en-MY" dirty="0"/>
          </a:p>
          <a:p>
            <a:r>
              <a:rPr lang="en-MY" dirty="0"/>
              <a:t>SPOKEN TRANSCRIPT</a:t>
            </a:r>
          </a:p>
          <a:p>
            <a:endParaRPr lang="en-MY" dirty="0"/>
          </a:p>
          <a:p>
            <a:r>
              <a:rPr lang="en-MY" dirty="0"/>
              <a:t>Struktur persisir air dibina di tepi badan air seperti tasik, sungai atau pantai. Apakah keperluan pembinaan yang paling kritikal bagi struktur ini?</a:t>
            </a:r>
          </a:p>
          <a:p>
            <a:r>
              <a:rPr lang="en-MY" dirty="0"/>
              <a:t>A. Warna permukaan yang menarik</a:t>
            </a:r>
          </a:p>
          <a:p>
            <a:r>
              <a:rPr lang="en-MY" dirty="0"/>
              <a:t>B. Asas yang stabil dan rata dengan saliran permukaan yang berkesan</a:t>
            </a:r>
          </a:p>
          <a:p>
            <a:r>
              <a:rPr lang="en-MY" dirty="0"/>
              <a:t>C. Ketinggian struktur melebihi dua meter</a:t>
            </a:r>
          </a:p>
          <a:p>
            <a:r>
              <a:rPr lang="en-MY" dirty="0"/>
              <a:t>D. Penggunaan bahan import</a:t>
            </a:r>
          </a:p>
          <a:p>
            <a:r>
              <a:rPr lang="en-MY" dirty="0"/>
              <a:t>Maklum balas betul: Pilihan jawapan tepat.</a:t>
            </a:r>
          </a:p>
          <a:p>
            <a:r>
              <a:rPr lang="en-MY" dirty="0"/>
              <a:t>Maklum balas salah: Pilihan jawapan tidak tepat.</a:t>
            </a:r>
          </a:p>
          <a:p>
            <a:r>
              <a:rPr lang="en-MY" dirty="0"/>
              <a:t>Pilih satu jawapan.</a:t>
            </a:r>
          </a:p>
        </p:txBody>
      </p:sp>
      <p:sp>
        <p:nvSpPr>
          <p:cNvPr id="4" name="Slide Number Placeholder 3"/>
          <p:cNvSpPr>
            <a:spLocks noGrp="1"/>
          </p:cNvSpPr>
          <p:nvPr>
            <p:ph type="sldNum" sz="quarter" idx="5"/>
          </p:nvPr>
        </p:nvSpPr>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2</a:t>
            </a:r>
          </a:p>
          <a:p>
            <a:endParaRPr lang="en-MY" dirty="0"/>
          </a:p>
          <a:p>
            <a:r>
              <a:rPr lang="en-MY" dirty="0"/>
              <a:t>SPOKEN TRANSCRIPT</a:t>
            </a:r>
          </a:p>
          <a:p>
            <a:endParaRPr lang="en-MY" dirty="0"/>
          </a:p>
          <a:p>
            <a:r>
              <a:rPr lang="en-MY" dirty="0"/>
              <a:t>Manakah antara berikut merupakan struktur teduhan tradisional Melayu yang digunakan sebagai tempat berehat?</a:t>
            </a:r>
          </a:p>
          <a:p>
            <a:r>
              <a:rPr lang="en-MY" dirty="0"/>
              <a:t>A. Pergola</a:t>
            </a:r>
          </a:p>
          <a:p>
            <a:r>
              <a:rPr lang="en-MY" dirty="0"/>
              <a:t>B. Canopy</a:t>
            </a:r>
          </a:p>
          <a:p>
            <a:r>
              <a:rPr lang="en-MY" dirty="0"/>
              <a:t>C. Wakaf</a:t>
            </a:r>
          </a:p>
          <a:p>
            <a:r>
              <a:rPr lang="en-MY" dirty="0"/>
              <a:t>D. Gazebo</a:t>
            </a:r>
          </a:p>
          <a:p>
            <a:r>
              <a:rPr lang="en-MY" dirty="0"/>
              <a:t>Maklum balas betul: Pilihan jawapan tepat.</a:t>
            </a:r>
          </a:p>
          <a:p>
            <a:r>
              <a:rPr lang="en-MY" dirty="0"/>
              <a:t>Maklum balas salah: Pilihan jawapan tidak tepat.</a:t>
            </a:r>
          </a:p>
          <a:p>
            <a:r>
              <a:rPr lang="en-MY" dirty="0"/>
              <a:t>Pilih satu jawapan.</a:t>
            </a:r>
          </a:p>
        </p:txBody>
      </p:sp>
      <p:sp>
        <p:nvSpPr>
          <p:cNvPr id="4" name="Slide Number Placeholder 3"/>
          <p:cNvSpPr>
            <a:spLocks noGrp="1"/>
          </p:cNvSpPr>
          <p:nvPr>
            <p:ph type="sldNum" sz="quarter" idx="5"/>
          </p:nvPr>
        </p:nvSpPr>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3</a:t>
            </a:r>
          </a:p>
          <a:p>
            <a:endParaRPr lang="en-MY" dirty="0"/>
          </a:p>
          <a:p>
            <a:r>
              <a:rPr lang="en-MY" dirty="0"/>
              <a:t>SPOKEN TRANSCRIPT</a:t>
            </a:r>
          </a:p>
          <a:p>
            <a:endParaRPr lang="en-MY" dirty="0"/>
          </a:p>
          <a:p>
            <a:r>
              <a:rPr lang="en-MY" dirty="0"/>
              <a:t>Apakah pertimbangan utama dalam pemilihan bahan bagi kemudahan awam seperti tandas dan surau di taman?</a:t>
            </a:r>
          </a:p>
          <a:p>
            <a:r>
              <a:rPr lang="en-MY" dirty="0"/>
              <a:t>A. Bahan yang tahan vandalisme dan cuaca</a:t>
            </a:r>
          </a:p>
          <a:p>
            <a:r>
              <a:rPr lang="en-MY" dirty="0"/>
              <a:t>B. Bahan yang paling murah di pasaran</a:t>
            </a:r>
          </a:p>
          <a:p>
            <a:r>
              <a:rPr lang="en-MY" dirty="0"/>
              <a:t>C. Bahan yang perlu dicat semula setiap bulan</a:t>
            </a:r>
          </a:p>
          <a:p>
            <a:r>
              <a:rPr lang="en-MY" dirty="0"/>
              <a:t>D. Bahan yang seragam dengan perabot taman</a:t>
            </a:r>
          </a:p>
          <a:p>
            <a:r>
              <a:rPr lang="en-MY" dirty="0"/>
              <a:t>Maklum balas betul: Pilihan jawapan tepat.</a:t>
            </a:r>
          </a:p>
          <a:p>
            <a:r>
              <a:rPr lang="en-MY" dirty="0"/>
              <a:t>Maklum balas salah: Pilihan jawapan tidak tepat.</a:t>
            </a:r>
          </a:p>
          <a:p>
            <a:r>
              <a:rPr lang="en-MY" dirty="0"/>
              <a:t>Pilih satu jawapan.</a:t>
            </a:r>
          </a:p>
        </p:txBody>
      </p:sp>
      <p:sp>
        <p:nvSpPr>
          <p:cNvPr id="4" name="Slide Number Placeholder 3"/>
          <p:cNvSpPr>
            <a:spLocks noGrp="1"/>
          </p:cNvSpPr>
          <p:nvPr>
            <p:ph type="sldNum" sz="quarter" idx="5"/>
          </p:nvPr>
        </p:nvSpPr>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4</a:t>
            </a:r>
          </a:p>
          <a:p>
            <a:endParaRPr lang="en-MY" dirty="0"/>
          </a:p>
          <a:p>
            <a:r>
              <a:rPr lang="en-MY" dirty="0"/>
              <a:t>SPOKEN TRANSCRIPT</a:t>
            </a:r>
          </a:p>
          <a:p>
            <a:endParaRPr lang="en-MY" dirty="0"/>
          </a:p>
          <a:p>
            <a:r>
              <a:rPr lang="en-MY" dirty="0"/>
              <a:t>Dalam pembinaan water feature, apakah aspek kawalan kualiti air yang dinyatakan dalam modul?</a:t>
            </a:r>
          </a:p>
          <a:p>
            <a:r>
              <a:rPr lang="en-MY" dirty="0"/>
              <a:t>A. Penambahan garam</a:t>
            </a:r>
          </a:p>
          <a:p>
            <a:r>
              <a:rPr lang="en-MY" dirty="0"/>
              <a:t>B. Pencegahan alga</a:t>
            </a:r>
          </a:p>
          <a:p>
            <a:r>
              <a:rPr lang="en-MY" dirty="0"/>
              <a:t>C. Pemanasan air</a:t>
            </a:r>
          </a:p>
          <a:p>
            <a:r>
              <a:rPr lang="en-MY" dirty="0"/>
              <a:t>D. Pewarnaan air</a:t>
            </a:r>
          </a:p>
          <a:p>
            <a:r>
              <a:rPr lang="en-MY" dirty="0"/>
              <a:t>Maklum balas betul: Pilihan jawapan tepat.</a:t>
            </a:r>
          </a:p>
          <a:p>
            <a:r>
              <a:rPr lang="en-MY" dirty="0"/>
              <a:t>Maklum balas salah: Pilihan jawapan tidak tepat.</a:t>
            </a:r>
          </a:p>
          <a:p>
            <a:r>
              <a:rPr lang="en-MY" dirty="0"/>
              <a:t>Pilih satu jawapan.</a:t>
            </a:r>
          </a:p>
        </p:txBody>
      </p:sp>
      <p:sp>
        <p:nvSpPr>
          <p:cNvPr id="4" name="Slide Number Placeholder 3"/>
          <p:cNvSpPr>
            <a:spLocks noGrp="1"/>
          </p:cNvSpPr>
          <p:nvPr>
            <p:ph type="sldNum" sz="quarter" idx="5"/>
          </p:nvPr>
        </p:nvSpPr>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5</a:t>
            </a:r>
          </a:p>
          <a:p>
            <a:endParaRPr lang="en-MY" dirty="0"/>
          </a:p>
          <a:p>
            <a:r>
              <a:rPr lang="en-MY" dirty="0"/>
              <a:t>SPOKEN TRANSCRIPT</a:t>
            </a:r>
          </a:p>
          <a:p>
            <a:endParaRPr lang="en-MY" dirty="0"/>
          </a:p>
          <a:p>
            <a:r>
              <a:rPr lang="en-MY" dirty="0"/>
              <a:t>Pilih SEMUA perabot yang tergolong dalam Perabot Taman.</a:t>
            </a:r>
          </a:p>
          <a:p>
            <a:r>
              <a:rPr lang="en-MY" dirty="0"/>
              <a:t>Kerusi Taman</a:t>
            </a:r>
          </a:p>
          <a:p>
            <a:r>
              <a:rPr lang="en-MY" dirty="0"/>
              <a:t>Papan Tanda</a:t>
            </a:r>
          </a:p>
          <a:p>
            <a:r>
              <a:rPr lang="en-MY" i="1" dirty="0"/>
              <a:t>Boardwalk</a:t>
            </a:r>
          </a:p>
          <a:p>
            <a:r>
              <a:rPr lang="en-MY" dirty="0"/>
              <a:t>Tong Sampah</a:t>
            </a:r>
          </a:p>
          <a:p>
            <a:r>
              <a:rPr lang="en-MY" i="1" dirty="0"/>
              <a:t>Drinking Fountain</a:t>
            </a:r>
          </a:p>
          <a:p>
            <a:r>
              <a:rPr lang="en-MY" i="1" dirty="0"/>
              <a:t>BBQ Pit</a:t>
            </a:r>
          </a:p>
          <a:p>
            <a:r>
              <a:rPr lang="en-MY" dirty="0"/>
              <a:t>Gazebo</a:t>
            </a:r>
          </a:p>
          <a:p>
            <a:r>
              <a:rPr lang="en-MY" dirty="0"/>
              <a:t>Maklum balas betul: Pilihan jawapan tepat.</a:t>
            </a:r>
          </a:p>
          <a:p>
            <a:r>
              <a:rPr lang="en-MY" dirty="0"/>
              <a:t>Maklum balas salah: Pilihan jawapan tidak tepat.</a:t>
            </a:r>
          </a:p>
          <a:p>
            <a:r>
              <a:rPr lang="en-MY" dirty="0"/>
              <a:t>Pilih semua jawapan yang tepat.</a:t>
            </a:r>
          </a:p>
        </p:txBody>
      </p:sp>
      <p:sp>
        <p:nvSpPr>
          <p:cNvPr id="4" name="Slide Number Placeholder 3"/>
          <p:cNvSpPr>
            <a:spLocks noGrp="1"/>
          </p:cNvSpPr>
          <p:nvPr>
            <p:ph type="sldNum" sz="quarter" idx="5"/>
          </p:nvPr>
        </p:nvSpPr>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Keputusan</a:t>
            </a:r>
          </a:p>
          <a:p>
            <a:endParaRPr lang="en-MY" dirty="0"/>
          </a:p>
          <a:p>
            <a:r>
              <a:rPr lang="en-MY" dirty="0"/>
              <a:t>SPOKEN TRANSCRIPT</a:t>
            </a:r>
          </a:p>
          <a:p>
            <a:endParaRPr lang="en-MY" dirty="0"/>
          </a:p>
          <a:p>
            <a:r>
              <a:rPr lang="en-MY" dirty="0"/>
              <a:t>Anda telah melengkapkan kuiz semakan pengetahuan. Anda boleh menyemak jawapan atau mengulang kuiz ini.</a:t>
            </a:r>
          </a:p>
        </p:txBody>
      </p:sp>
      <p:sp>
        <p:nvSpPr>
          <p:cNvPr id="4" name="Slide Number Placeholder 3"/>
          <p:cNvSpPr>
            <a:spLocks noGrp="1"/>
          </p:cNvSpPr>
          <p:nvPr>
            <p:ph type="sldNum" sz="quarter" idx="5"/>
          </p:nvPr>
        </p:nvSpPr>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Semak Jawapan</a:t>
            </a:r>
          </a:p>
          <a:p>
            <a:endParaRPr lang="en-MY" dirty="0"/>
          </a:p>
          <a:p>
            <a:r>
              <a:rPr lang="en-MY" dirty="0"/>
              <a:t>SPOKEN TRANSCRIPT</a:t>
            </a:r>
          </a:p>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Tamat</a:t>
            </a:r>
          </a:p>
          <a:p>
            <a:endParaRPr lang="en-MY" dirty="0"/>
          </a:p>
          <a:p>
            <a:r>
              <a:rPr lang="en-MY" dirty="0"/>
              <a:t>SPOKEN TRANSCRIPT</a:t>
            </a:r>
          </a:p>
          <a:p>
            <a:endParaRPr lang="en-MY" dirty="0"/>
          </a:p>
          <a:p>
            <a:r>
              <a:rPr lang="en-MY" dirty="0"/>
              <a:t>Tamat Topik 3 Bahagian 2: Komponen Landskap.</a:t>
            </a:r>
          </a:p>
          <a:p>
            <a:r>
              <a:rPr lang="en-MY" dirty="0"/>
              <a:t>Teruskan pembelajaran ke bahagian seterusnya.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3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0357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3B2182B-4038-41C3-019B-38E13D6A2C11}"/>
              </a:ext>
            </a:extLst>
          </p:cNvPr>
          <p:cNvSpPr>
            <a:spLocks noGrp="1"/>
          </p:cNvSpPr>
          <p:nvPr>
            <p:ph type="pic" sz="quarter" idx="10"/>
          </p:nvPr>
        </p:nvSpPr>
        <p:spPr>
          <a:xfrm>
            <a:off x="4818997" y="591208"/>
            <a:ext cx="8787275" cy="5675584"/>
          </a:xfrm>
          <a:custGeom>
            <a:avLst/>
            <a:gdLst>
              <a:gd name="connsiteX0" fmla="*/ 0 w 8787275"/>
              <a:gd name="connsiteY0" fmla="*/ 0 h 5675584"/>
              <a:gd name="connsiteX1" fmla="*/ 8787275 w 8787275"/>
              <a:gd name="connsiteY1" fmla="*/ 0 h 5675584"/>
              <a:gd name="connsiteX2" fmla="*/ 8787275 w 8787275"/>
              <a:gd name="connsiteY2" fmla="*/ 5675584 h 5675584"/>
              <a:gd name="connsiteX3" fmla="*/ 0 w 8787275"/>
              <a:gd name="connsiteY3" fmla="*/ 5675584 h 5675584"/>
            </a:gdLst>
            <a:ahLst/>
            <a:cxnLst>
              <a:cxn ang="0">
                <a:pos x="connsiteX0" y="connsiteY0"/>
              </a:cxn>
              <a:cxn ang="0">
                <a:pos x="connsiteX1" y="connsiteY1"/>
              </a:cxn>
              <a:cxn ang="0">
                <a:pos x="connsiteX2" y="connsiteY2"/>
              </a:cxn>
              <a:cxn ang="0">
                <a:pos x="connsiteX3" y="connsiteY3"/>
              </a:cxn>
            </a:cxnLst>
            <a:rect l="l" t="t" r="r" b="b"/>
            <a:pathLst>
              <a:path w="8787275" h="5675584">
                <a:moveTo>
                  <a:pt x="0" y="0"/>
                </a:moveTo>
                <a:lnTo>
                  <a:pt x="8787275" y="0"/>
                </a:lnTo>
                <a:lnTo>
                  <a:pt x="8787275" y="5675584"/>
                </a:lnTo>
                <a:lnTo>
                  <a:pt x="0" y="5675584"/>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965708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35" presetClass="path" presetSubtype="0" repeatCount="indefinite" autoRev="1" fill="hold" grpId="1" nodeType="withEffect">
                                  <p:stCondLst>
                                    <p:cond delay="16500"/>
                                  </p:stCondLst>
                                  <p:childTnLst>
                                    <p:animMotion origin="layout" path="M 1.04167E-6 0 L -0.06172 0 " pathEditMode="relative" rAng="0" ptsTypes="AA">
                                      <p:cBhvr>
                                        <p:cTn id="10" dur="20000" fill="hold"/>
                                        <p:tgtEl>
                                          <p:spTgt spid="4"/>
                                        </p:tgtEl>
                                        <p:attrNameLst>
                                          <p:attrName>ppt_x</p:attrName>
                                          <p:attrName>ppt_y</p:attrName>
                                        </p:attrNameLst>
                                      </p:cBhvr>
                                      <p:rCtr x="-308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33088B3-81DD-FB17-13BE-90F7249765F2}"/>
              </a:ext>
            </a:extLst>
          </p:cNvPr>
          <p:cNvSpPr>
            <a:spLocks noGrp="1"/>
          </p:cNvSpPr>
          <p:nvPr>
            <p:ph type="pic" sz="quarter" idx="11"/>
          </p:nvPr>
        </p:nvSpPr>
        <p:spPr>
          <a:xfrm>
            <a:off x="3748903" y="3428997"/>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325C6063-1B18-34DC-B266-32D60EBB74E3}"/>
              </a:ext>
            </a:extLst>
          </p:cNvPr>
          <p:cNvSpPr>
            <a:spLocks noGrp="1"/>
          </p:cNvSpPr>
          <p:nvPr>
            <p:ph type="pic" sz="quarter" idx="10"/>
          </p:nvPr>
        </p:nvSpPr>
        <p:spPr>
          <a:xfrm>
            <a:off x="605120" y="-1"/>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15016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4" accel="50000" decel="5000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797700D-0768-84DB-CFE2-F86F2CE2011F}"/>
              </a:ext>
            </a:extLst>
          </p:cNvPr>
          <p:cNvSpPr>
            <a:spLocks noGrp="1"/>
          </p:cNvSpPr>
          <p:nvPr>
            <p:ph type="pic" sz="quarter" idx="11"/>
          </p:nvPr>
        </p:nvSpPr>
        <p:spPr>
          <a:xfrm>
            <a:off x="8666206" y="3429000"/>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4">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91546D6E-F5E7-12C9-9BA0-07418A64A194}"/>
              </a:ext>
            </a:extLst>
          </p:cNvPr>
          <p:cNvSpPr>
            <a:spLocks noGrp="1"/>
          </p:cNvSpPr>
          <p:nvPr>
            <p:ph type="pic" sz="quarter" idx="10"/>
          </p:nvPr>
        </p:nvSpPr>
        <p:spPr>
          <a:xfrm>
            <a:off x="8666206" y="868162"/>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99109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1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grpId="0" nodeType="withEffect">
                                  <p:stCondLst>
                                    <p:cond delay="175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1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6235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5"/>
        <p:cNvGrpSpPr/>
        <p:nvPr/>
      </p:nvGrpSpPr>
      <p:grpSpPr>
        <a:xfrm>
          <a:off x="0" y="0"/>
          <a:ext cx="0" cy="0"/>
          <a:chOff x="0" y="0"/>
          <a:chExt cx="0" cy="0"/>
        </a:xfrm>
      </p:grpSpPr>
      <p:sp>
        <p:nvSpPr>
          <p:cNvPr id="16" name="Google Shape;1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182" lvl="0" indent="-342886" algn="l">
              <a:lnSpc>
                <a:spcPct val="90000"/>
              </a:lnSpc>
              <a:spcBef>
                <a:spcPts val="1000"/>
              </a:spcBef>
              <a:spcAft>
                <a:spcPts val="0"/>
              </a:spcAft>
              <a:buClr>
                <a:schemeClr val="dk1"/>
              </a:buClr>
              <a:buSzPts val="1800"/>
              <a:buChar char="•"/>
              <a:defRPr/>
            </a:lvl1pPr>
            <a:lvl2pPr marL="914363" lvl="1" indent="-342886" algn="l">
              <a:lnSpc>
                <a:spcPct val="90000"/>
              </a:lnSpc>
              <a:spcBef>
                <a:spcPts val="500"/>
              </a:spcBef>
              <a:spcAft>
                <a:spcPts val="0"/>
              </a:spcAft>
              <a:buClr>
                <a:schemeClr val="dk1"/>
              </a:buClr>
              <a:buSzPts val="1800"/>
              <a:buChar char="•"/>
              <a:defRPr/>
            </a:lvl2pPr>
            <a:lvl3pPr marL="1371545" lvl="2" indent="-342886" algn="l">
              <a:lnSpc>
                <a:spcPct val="90000"/>
              </a:lnSpc>
              <a:spcBef>
                <a:spcPts val="500"/>
              </a:spcBef>
              <a:spcAft>
                <a:spcPts val="0"/>
              </a:spcAft>
              <a:buClr>
                <a:schemeClr val="dk1"/>
              </a:buClr>
              <a:buSzPts val="1800"/>
              <a:buChar char="•"/>
              <a:defRPr/>
            </a:lvl3pPr>
            <a:lvl4pPr marL="1828727" lvl="3" indent="-342886" algn="l">
              <a:lnSpc>
                <a:spcPct val="90000"/>
              </a:lnSpc>
              <a:spcBef>
                <a:spcPts val="500"/>
              </a:spcBef>
              <a:spcAft>
                <a:spcPts val="0"/>
              </a:spcAft>
              <a:buClr>
                <a:schemeClr val="dk1"/>
              </a:buClr>
              <a:buSzPts val="1800"/>
              <a:buChar char="•"/>
              <a:defRPr/>
            </a:lvl4pPr>
            <a:lvl5pPr marL="2285909" lvl="4" indent="-342886" algn="l">
              <a:lnSpc>
                <a:spcPct val="90000"/>
              </a:lnSpc>
              <a:spcBef>
                <a:spcPts val="500"/>
              </a:spcBef>
              <a:spcAft>
                <a:spcPts val="0"/>
              </a:spcAft>
              <a:buClr>
                <a:schemeClr val="dk1"/>
              </a:buClr>
              <a:buSzPts val="1800"/>
              <a:buChar char="•"/>
              <a:defRPr/>
            </a:lvl5pPr>
            <a:lvl6pPr marL="2743090" lvl="5" indent="-342886" algn="l">
              <a:lnSpc>
                <a:spcPct val="90000"/>
              </a:lnSpc>
              <a:spcBef>
                <a:spcPts val="500"/>
              </a:spcBef>
              <a:spcAft>
                <a:spcPts val="0"/>
              </a:spcAft>
              <a:buClr>
                <a:schemeClr val="dk1"/>
              </a:buClr>
              <a:buSzPts val="1800"/>
              <a:buChar char="•"/>
              <a:defRPr/>
            </a:lvl6pPr>
            <a:lvl7pPr marL="3200272" lvl="6" indent="-342886" algn="l">
              <a:lnSpc>
                <a:spcPct val="90000"/>
              </a:lnSpc>
              <a:spcBef>
                <a:spcPts val="500"/>
              </a:spcBef>
              <a:spcAft>
                <a:spcPts val="0"/>
              </a:spcAft>
              <a:buClr>
                <a:schemeClr val="dk1"/>
              </a:buClr>
              <a:buSzPts val="1800"/>
              <a:buChar char="•"/>
              <a:defRPr/>
            </a:lvl7pPr>
            <a:lvl8pPr marL="3657454" lvl="7" indent="-342886" algn="l">
              <a:lnSpc>
                <a:spcPct val="90000"/>
              </a:lnSpc>
              <a:spcBef>
                <a:spcPts val="500"/>
              </a:spcBef>
              <a:spcAft>
                <a:spcPts val="0"/>
              </a:spcAft>
              <a:buClr>
                <a:schemeClr val="dk1"/>
              </a:buClr>
              <a:buSzPts val="1800"/>
              <a:buChar char="•"/>
              <a:defRPr/>
            </a:lvl8pPr>
            <a:lvl9pPr marL="4114635" lvl="8" indent="-342886" algn="l">
              <a:lnSpc>
                <a:spcPct val="90000"/>
              </a:lnSpc>
              <a:spcBef>
                <a:spcPts val="500"/>
              </a:spcBef>
              <a:spcAft>
                <a:spcPts val="0"/>
              </a:spcAft>
              <a:buClr>
                <a:schemeClr val="dk1"/>
              </a:buClr>
              <a:buSzPts val="1800"/>
              <a:buChar char="•"/>
              <a:defRPr/>
            </a:lvl9pPr>
          </a:lstStyle>
          <a:p>
            <a:endParaRPr/>
          </a:p>
        </p:txBody>
      </p:sp>
      <p:sp>
        <p:nvSpPr>
          <p:cNvPr id="18" name="Google Shape;18;p2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MY" smtClean="0"/>
              <a:pPr/>
              <a:t>‹#›</a:t>
            </a:fld>
            <a:endParaRPr lang="en-MY"/>
          </a:p>
        </p:txBody>
      </p:sp>
    </p:spTree>
    <p:extLst>
      <p:ext uri="{BB962C8B-B14F-4D97-AF65-F5344CB8AC3E}">
        <p14:creationId xmlns:p14="http://schemas.microsoft.com/office/powerpoint/2010/main" val="114599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8F1E2742-D414-F4F1-C791-24DC8FA6BC89}"/>
              </a:ext>
            </a:extLst>
          </p:cNvPr>
          <p:cNvSpPr>
            <a:spLocks noGrp="1"/>
          </p:cNvSpPr>
          <p:nvPr>
            <p:ph type="title"/>
          </p:nvPr>
        </p:nvSpPr>
        <p:spPr>
          <a:xfrm>
            <a:off x="1" y="-622575"/>
            <a:ext cx="11125200" cy="463985"/>
          </a:xfrm>
          <a:prstGeom prst="rect">
            <a:avLst/>
          </a:prstGeom>
        </p:spPr>
        <p:txBody>
          <a:bodyPr vert="horz" lIns="0" tIns="0" rIns="0" bIns="0" rtlCol="0" anchor="ctr" anchorCtr="0">
            <a:noAutofit/>
          </a:bodyPr>
          <a:lstStyle>
            <a:lvl1pPr>
              <a:defRPr sz="16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4205416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19A2C1-868B-E048-BC42-05B15F482131}"/>
              </a:ext>
            </a:extLst>
          </p:cNvPr>
          <p:cNvSpPr>
            <a:spLocks noGrp="1"/>
          </p:cNvSpPr>
          <p:nvPr>
            <p:ph type="title"/>
          </p:nvPr>
        </p:nvSpPr>
        <p:spPr>
          <a:xfrm>
            <a:off x="533400" y="419099"/>
            <a:ext cx="11125200" cy="463985"/>
          </a:xfrm>
          <a:prstGeom prst="rect">
            <a:avLst/>
          </a:prstGeom>
        </p:spPr>
        <p:txBody>
          <a:bodyPr vert="horz" lIns="0" tIns="0" rIns="0" bIns="0" rtlCol="0" anchor="t">
            <a:no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E2E175A4-F8EA-2E4A-A9FC-8E6DA130CB25}"/>
              </a:ext>
            </a:extLst>
          </p:cNvPr>
          <p:cNvSpPr>
            <a:spLocks noGrp="1"/>
          </p:cNvSpPr>
          <p:nvPr>
            <p:ph type="body" idx="1"/>
          </p:nvPr>
        </p:nvSpPr>
        <p:spPr>
          <a:xfrm>
            <a:off x="533400" y="1460500"/>
            <a:ext cx="11125200" cy="4351338"/>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6FFFA472-F704-9D4A-AE43-BF8DA1CC6404}"/>
              </a:ext>
            </a:extLst>
          </p:cNvPr>
          <p:cNvSpPr>
            <a:spLocks noGrp="1"/>
          </p:cNvSpPr>
          <p:nvPr>
            <p:ph type="dt" sz="half" idx="2"/>
          </p:nvPr>
        </p:nvSpPr>
        <p:spPr>
          <a:xfrm>
            <a:off x="9896606" y="6445229"/>
            <a:ext cx="756781" cy="187367"/>
          </a:xfrm>
          <a:prstGeom prst="rect">
            <a:avLst/>
          </a:prstGeom>
        </p:spPr>
        <p:txBody>
          <a:bodyPr vert="horz" lIns="0" tIns="0" rIns="0" bIns="0" rtlCol="0" anchor="ctr"/>
          <a:lstStyle>
            <a:lvl1pPr algn="ctr">
              <a:defRPr sz="1000">
                <a:solidFill>
                  <a:schemeClr val="bg1">
                    <a:lumMod val="50000"/>
                  </a:schemeClr>
                </a:solidFill>
              </a:defRPr>
            </a:lvl1pPr>
          </a:lstStyle>
          <a:p>
            <a:fld id="{B2896C5E-20F6-5143-9F77-A8D16BC84A78}" type="datetimeFigureOut">
              <a:rPr lang="en-US" smtClean="0"/>
              <a:pPr/>
              <a:t>7/26/2026</a:t>
            </a:fld>
            <a:endParaRPr lang="en-US" dirty="0"/>
          </a:p>
        </p:txBody>
      </p:sp>
      <p:sp>
        <p:nvSpPr>
          <p:cNvPr id="5" name="Footer Placeholder 4">
            <a:extLst>
              <a:ext uri="{FF2B5EF4-FFF2-40B4-BE49-F238E27FC236}">
                <a16:creationId xmlns:a16="http://schemas.microsoft.com/office/drawing/2014/main" id="{F537EDD9-B49B-1342-9401-0E870BD269D0}"/>
              </a:ext>
            </a:extLst>
          </p:cNvPr>
          <p:cNvSpPr>
            <a:spLocks noGrp="1"/>
          </p:cNvSpPr>
          <p:nvPr>
            <p:ph type="ftr" sz="quarter" idx="3"/>
          </p:nvPr>
        </p:nvSpPr>
        <p:spPr>
          <a:xfrm>
            <a:off x="533399" y="6445229"/>
            <a:ext cx="9237947" cy="187367"/>
          </a:xfrm>
          <a:prstGeom prst="rect">
            <a:avLst/>
          </a:prstGeom>
        </p:spPr>
        <p:txBody>
          <a:bodyPr vert="horz" lIns="0" tIns="0" rIns="0" bIns="0" rtlCol="0" anchor="ctr"/>
          <a:lstStyle>
            <a:lvl1pPr algn="l">
              <a:defRPr sz="1000">
                <a:solidFill>
                  <a:schemeClr val="bg1">
                    <a:lumMod val="50000"/>
                  </a:schemeClr>
                </a:solidFill>
              </a:defRPr>
            </a:lvl1pPr>
          </a:lstStyle>
          <a:p>
            <a:endParaRPr lang="en-US"/>
          </a:p>
        </p:txBody>
      </p:sp>
      <p:sp>
        <p:nvSpPr>
          <p:cNvPr id="6" name="Slide Number Placeholder 5">
            <a:extLst>
              <a:ext uri="{FF2B5EF4-FFF2-40B4-BE49-F238E27FC236}">
                <a16:creationId xmlns:a16="http://schemas.microsoft.com/office/drawing/2014/main" id="{A80051E2-0E41-A34C-8D98-2FD15D190DD1}"/>
              </a:ext>
            </a:extLst>
          </p:cNvPr>
          <p:cNvSpPr>
            <a:spLocks noGrp="1"/>
          </p:cNvSpPr>
          <p:nvPr>
            <p:ph type="sldNum" sz="quarter" idx="4"/>
          </p:nvPr>
        </p:nvSpPr>
        <p:spPr>
          <a:xfrm>
            <a:off x="10778646" y="6445229"/>
            <a:ext cx="879953" cy="187367"/>
          </a:xfrm>
          <a:prstGeom prst="rect">
            <a:avLst/>
          </a:prstGeom>
        </p:spPr>
        <p:txBody>
          <a:bodyPr vert="horz" lIns="0" tIns="0" rIns="0" bIns="0" rtlCol="0" anchor="ctr"/>
          <a:lstStyle>
            <a:lvl1pPr algn="r">
              <a:defRPr sz="1000">
                <a:solidFill>
                  <a:schemeClr val="bg1">
                    <a:lumMod val="50000"/>
                  </a:schemeClr>
                </a:solidFill>
              </a:defRPr>
            </a:lvl1pPr>
          </a:lstStyle>
          <a:p>
            <a:fld id="{914EC2E2-0820-654D-85EB-EBA0A2E7E8B4}" type="slidenum">
              <a:rPr lang="en-US" smtClean="0"/>
              <a:pPr/>
              <a:t>‹#›</a:t>
            </a:fld>
            <a:endParaRPr lang="en-US"/>
          </a:p>
        </p:txBody>
      </p:sp>
    </p:spTree>
    <p:extLst>
      <p:ext uri="{BB962C8B-B14F-4D97-AF65-F5344CB8AC3E}">
        <p14:creationId xmlns:p14="http://schemas.microsoft.com/office/powerpoint/2010/main" val="3914225784"/>
      </p:ext>
    </p:extLst>
  </p:cSld>
  <p:clrMap bg1="lt1" tx1="dk1" bg2="lt2" tx2="dk2" accent1="accent1" accent2="accent2" accent3="accent3" accent4="accent4" accent5="accent5" accent6="accent6" hlink="hlink" folHlink="folHlink"/>
  <p:sldLayoutIdLst>
    <p:sldLayoutId id="2147483658" r:id="rId1"/>
    <p:sldLayoutId id="2147483660" r:id="rId2"/>
    <p:sldLayoutId id="2147483662" r:id="rId3"/>
    <p:sldLayoutId id="2147483663" r:id="rId4"/>
    <p:sldLayoutId id="2147483666" r:id="rId5"/>
    <p:sldLayoutId id="2147483687" r:id="rId6"/>
    <p:sldLayoutId id="2147483703" r:id="rId7"/>
  </p:sldLayoutIdLst>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456" userDrawn="1">
          <p15:clr>
            <a:srgbClr val="F26B43"/>
          </p15:clr>
        </p15:guide>
        <p15:guide id="3" pos="7224" userDrawn="1">
          <p15:clr>
            <a:srgbClr val="F26B43"/>
          </p15:clr>
        </p15:guide>
        <p15:guide id="4" orient="horz" pos="264" userDrawn="1">
          <p15:clr>
            <a:srgbClr val="F26B43"/>
          </p15:clr>
        </p15:guide>
        <p15:guide id="6" orient="horz" pos="405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Topik 3 Bahagian 2: Komponen Landskap</a:t>
            </a:r>
          </a:p>
        </p:txBody>
      </p:sp>
      <p:sp>
        <p:nvSpPr>
          <p:cNvPr id="6" name="TextBox 5"/>
          <p:cNvSpPr txBox="1"/>
          <p:nvPr/>
        </p:nvSpPr>
        <p:spPr>
          <a:xfrm>
            <a:off x="617952" y="384048"/>
            <a:ext cx="11338560" cy="592440"/>
          </a:xfrm>
          <a:prstGeom prst="rect">
            <a:avLst/>
          </a:prstGeom>
          <a:noFill/>
        </p:spPr>
        <p:txBody>
          <a:bodyPr wrap="square" rtlCol="0">
            <a:noAutofit/>
          </a:bodyPr>
          <a:lstStyle/>
          <a:p>
            <a:pPr>
              <a:lnSpc>
                <a:spcPts val="3600"/>
              </a:lnSpc>
            </a:pPr>
            <a:r>
              <a:rPr lang="en-MY" sz="3600" b="1" dirty="0"/>
              <a:t>Topik 3 Bahagian 2: Komponen Landskap</a:t>
            </a:r>
          </a:p>
        </p:txBody>
      </p:sp>
      <p:sp>
        <p:nvSpPr>
          <p:cNvPr id="20" name="Course"/>
          <p:cNvSpPr txBox="1"/>
          <p:nvPr/>
        </p:nvSpPr>
        <p:spPr>
          <a:xfrm>
            <a:off x="723930" y="1316736"/>
            <a:ext cx="10744200" cy="402336"/>
          </a:xfrm>
          <a:prstGeom prst="rect">
            <a:avLst/>
          </a:prstGeom>
          <a:noFill/>
        </p:spPr>
        <p:txBody>
          <a:bodyPr wrap="square">
            <a:noAutofit/>
          </a:bodyPr>
          <a:lstStyle/>
          <a:p>
            <a:pPr/>
            <a:r>
              <a:rPr lang="en-MY" sz="1600" b="1" dirty="0">
                <a:solidFill>
                  <a:srgbClr val="7F6000"/>
                </a:solidFill>
              </a:rPr>
              <a:t>KURSUS KERJA BANGUNAN – PEMBINAAN LANDSKAP LUAR</a:t>
            </a:r>
          </a:p>
        </p:txBody>
      </p:sp>
      <p:sp>
        <p:nvSpPr>
          <p:cNvPr id="21" name="PL"/>
          <p:cNvSpPr txBox="1"/>
          <p:nvPr/>
        </p:nvSpPr>
        <p:spPr>
          <a:xfrm>
            <a:off x="723930" y="1828800"/>
            <a:ext cx="10744200" cy="420624"/>
          </a:xfrm>
          <a:prstGeom prst="rect">
            <a:avLst/>
          </a:prstGeom>
          <a:noFill/>
        </p:spPr>
        <p:txBody>
          <a:bodyPr wrap="square">
            <a:noAutofit/>
          </a:bodyPr>
          <a:lstStyle/>
          <a:p>
            <a:pPr/>
            <a:r>
              <a:rPr lang="en-MY" sz="1900" b="1" dirty="0">
                <a:solidFill>
                  <a:schemeClr val="tx1">
                    <a:lumMod val="85000"/>
                    <a:lumOff val="15000"/>
                  </a:schemeClr>
                </a:solidFill>
              </a:rPr>
              <a:t>PL06: Pengurusan Operasi Pembinaan Landskap</a:t>
            </a:r>
          </a:p>
        </p:txBody>
      </p:sp>
      <p:sp>
        <p:nvSpPr>
          <p:cNvPr id="30" name="VisualDir"/>
          <p:cNvSpPr txBox="1"/>
          <p:nvPr/>
        </p:nvSpPr>
        <p:spPr>
          <a:xfrm>
            <a:off x="723930" y="2834640"/>
            <a:ext cx="10744200" cy="621792"/>
          </a:xfrm>
          <a:prstGeom prst="rect">
            <a:avLst/>
          </a:prstGeom>
          <a:noFill/>
        </p:spPr>
        <p:txBody>
          <a:bodyPr wrap="square">
            <a:noAutofit/>
          </a:bodyPr>
          <a:lstStyle/>
          <a:p>
            <a:pPr/>
            <a:r>
              <a:rPr lang="en-MY" sz="1100" dirty="0">
                <a:solidFill>
                  <a:srgbClr val="808080"/>
                </a:solidFill>
              </a:rPr>
              <a:t>[Visual: Imej pembuka bahagian — foto tapak landskap siap yang memaparkan struktur taman dan</a:t>
            </a:r>
          </a:p>
          <a:p>
            <a:pPr/>
            <a:r>
              <a:rPr lang="en-MY" sz="1100" dirty="0">
                <a:solidFill>
                  <a:srgbClr val="808080"/>
                </a:solidFill>
              </a:rPr>
              <a:t>perabot taman dalam satu bingkai. Tidak dibenamkan.]</a:t>
            </a:r>
          </a:p>
        </p:txBody>
      </p:sp>
      <p:sp>
        <p:nvSpPr>
          <p:cNvPr id="96"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MULA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Topik 3 Bahagian 2 — mula bahagian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TOPIC_SECTION_ENTRY_BASE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SPOKEN_ENTRY_TITLES_PLUS_ORIENTATION  (SPOKEN_ENTRY_TITLES_PLUS_ORIENTATION)</a:t>
            </a:r>
          </a:p>
          <a:p>
            <a:r>
              <a:rPr lang="en-MY" sz="900" dirty="0">
                <a:solidFill>
                  <a:schemeClr val="tx1">
                    <a:lumMod val="85000"/>
                    <a:lumOff val="15000"/>
                  </a:schemeClr>
                </a:solidFill>
              </a:rPr>
              <a:t>  konteks dituturkan: YA</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MULA_BUTTON  [always_enabled]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SCR_S01</a:t>
            </a:r>
          </a:p>
          <a:p>
            <a:r>
              <a:rPr lang="en-MY" sz="900" b="1" dirty="0">
                <a:solidFill>
                  <a:schemeClr val="tx1">
                    <a:lumMod val="85000"/>
                    <a:lumOff val="15000"/>
                  </a:schemeClr>
                </a:solidFill>
              </a:rPr>
              <a:t>KONTEKS HULU:</a:t>
            </a:r>
          </a:p>
          <a:p>
            <a:r>
              <a:rPr lang="en-MY" sz="900" dirty="0">
                <a:solidFill>
                  <a:schemeClr val="tx1">
                    <a:lumMod val="85000"/>
                    <a:lumOff val="15000"/>
                  </a:schemeClr>
                </a:solidFill>
              </a:rPr>
              <a:t>  COURSE_MONTAGE_COMPLETED, PL06_MONTAGE_COMPLETED</a:t>
            </a:r>
          </a:p>
          <a:p>
            <a:r>
              <a:rPr lang="en-MY" sz="900" dirty="0">
                <a:solidFill>
                  <a:schemeClr val="tx1">
                    <a:lumMod val="85000"/>
                    <a:lumOff val="15000"/>
                  </a:schemeClr>
                </a:solidFill>
              </a:rPr>
              <a:t>  Montaj Kursus dan Montaj PL06 telah menyampaikan pengenalan kursus,</a:t>
            </a:r>
          </a:p>
          <a:p>
            <a:r>
              <a:rPr lang="en-MY" sz="900" dirty="0">
                <a:solidFill>
                  <a:schemeClr val="tx1">
                    <a:lumMod val="85000"/>
                    <a:lumOff val="15000"/>
                  </a:schemeClr>
                </a:solidFill>
              </a:rPr>
              <a:t>  lapan Pakej Latihan, objektif PL06, tujuh topik PL06 dan Hilmi.</a:t>
            </a:r>
          </a:p>
          <a:p>
            <a:r>
              <a:rPr lang="en-MY" sz="900" dirty="0">
                <a:solidFill>
                  <a:schemeClr val="tx1">
                    <a:lumMod val="85000"/>
                    <a:lumOff val="15000"/>
                  </a:schemeClr>
                </a:solidFill>
              </a:rPr>
              <a:t>  Skrin ini BERMULA di aras bahagian dan TIDAK mengulanginya.</a:t>
            </a:r>
          </a:p>
          <a:p>
            <a:r>
              <a:rPr lang="en-MY" sz="900" b="1" dirty="0">
                <a:solidFill>
                  <a:schemeClr val="tx1">
                    <a:lumMod val="85000"/>
                    <a:lumOff val="15000"/>
                  </a:schemeClr>
                </a:solidFill>
              </a:rPr>
              <a:t>TRANSKRIP DITUTURKAN (slide 1 sahaja):</a:t>
            </a:r>
          </a:p>
          <a:p>
            <a:r>
              <a:rPr lang="en-MY" sz="900" dirty="0">
                <a:solidFill>
                  <a:schemeClr val="tx1">
                    <a:lumMod val="85000"/>
                    <a:lumOff val="15000"/>
                  </a:schemeClr>
                </a:solidFill>
              </a:rPr>
              <a:t>  1. PL06_TITLE</a:t>
            </a:r>
          </a:p>
          <a:p>
            <a:r>
              <a:rPr lang="en-MY" sz="900" dirty="0">
                <a:solidFill>
                  <a:schemeClr val="tx1">
                    <a:lumMod val="85000"/>
                    <a:lumOff val="15000"/>
                  </a:schemeClr>
                </a:solidFill>
              </a:rPr>
              <a:t>  2. TOPIC_BAHAGIAN_TITLE</a:t>
            </a:r>
          </a:p>
          <a:p>
            <a:r>
              <a:rPr lang="en-MY" sz="900" dirty="0">
                <a:solidFill>
                  <a:schemeClr val="tx1">
                    <a:lumMod val="85000"/>
                    <a:lumOff val="15000"/>
                  </a:schemeClr>
                </a:solidFill>
              </a:rPr>
              <a:t>  3. MINIMAL_ORIENTATION</a:t>
            </a:r>
          </a:p>
          <a:p>
            <a:r>
              <a:rPr lang="en-MY" sz="900" dirty="0">
                <a:solidFill>
                  <a:schemeClr val="tx1">
                    <a:lumMod val="85000"/>
                    <a:lumOff val="15000"/>
                  </a:schemeClr>
                </a:solidFill>
              </a:rPr>
              <a:t>  4. MULA_INSTRUCTION</a:t>
            </a:r>
          </a:p>
          <a:p>
            <a:r>
              <a:rPr lang="en-MY" sz="900" dirty="0">
                <a:solidFill>
                  <a:schemeClr val="tx1">
                    <a:lumMod val="85000"/>
                    <a:lumOff val="15000"/>
                  </a:schemeClr>
                </a:solidFill>
              </a:rPr>
              <a:t>  Tajuk kursus kekal visual sahaja — tidak dituturkan.</a:t>
            </a:r>
          </a:p>
          <a:p>
            <a:r>
              <a:rPr lang="en-MY" sz="900" b="1" dirty="0">
                <a:solidFill>
                  <a:schemeClr val="tx1">
                    <a:lumMod val="85000"/>
                    <a:lumOff val="15000"/>
                  </a:schemeClr>
                </a:solidFill>
              </a:rPr>
              <a:t>NOTA PRODUKSI:</a:t>
            </a:r>
          </a:p>
          <a:p>
            <a:r>
              <a:rPr lang="en-MY" sz="900" dirty="0">
                <a:solidFill>
                  <a:schemeClr val="tx1">
                    <a:lumMod val="85000"/>
                    <a:lumOff val="15000"/>
                  </a:schemeClr>
                </a:solidFill>
              </a:rPr>
              <a:t>  VO PL satu, bukan PL kosong satu, dan seterusnya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TOPIC_ENTRY_SCREEN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BARIAH_DIRECT</a:t>
            </a:r>
          </a:p>
          <a:p>
            <a:r>
              <a:rPr lang="en-MY" sz="900" dirty="0">
                <a:solidFill>
                  <a:schemeClr val="tx1">
                    <a:lumMod val="85000"/>
                    <a:lumOff val="15000"/>
                  </a:schemeClr>
                </a:solidFill>
              </a:rPr>
              <a:t>STATUS KEPUTUSAN: B02-D-06, B02-D-25, B02-D-26</a:t>
            </a:r>
          </a:p>
          <a:p>
            <a:r>
              <a:rPr lang="en-MY" sz="900" dirty="0">
                <a:solidFill>
                  <a:schemeClr val="tx1">
                    <a:lumMod val="85000"/>
                    <a:lumOff val="15000"/>
                  </a:schemeClr>
                </a:solidFill>
              </a:rPr>
              <a:t>STATUS BELUM SELESAI: NONE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Pengenalan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Pengenalan</a:t>
            </a:r>
          </a:p>
        </p:txBody>
      </p:sp>
      <p:sp>
        <p:nvSpPr>
          <p:cNvPr id="30" name="VisualDir"/>
          <p:cNvSpPr txBox="1"/>
          <p:nvPr/>
        </p:nvSpPr>
        <p:spPr>
          <a:xfrm>
            <a:off x="723930" y="1207008"/>
            <a:ext cx="10744200" cy="877824"/>
          </a:xfrm>
          <a:prstGeom prst="rect">
            <a:avLst/>
          </a:prstGeom>
          <a:noFill/>
        </p:spPr>
        <p:txBody>
          <a:bodyPr wrap="square">
            <a:noAutofit/>
          </a:bodyPr>
          <a:lstStyle/>
          <a:p>
            <a:pPr/>
            <a:r>
              <a:rPr lang="en-MY" sz="1100" dirty="0">
                <a:solidFill>
                  <a:srgbClr val="808080"/>
                </a:solidFill>
              </a:rPr>
              <a:t>ARAHAN VISUAL — SPESIFIKASI SAHAJA</a:t>
            </a:r>
          </a:p>
          <a:p>
            <a:pPr/>
            <a:r>
              <a:rPr lang="en-MY" sz="1100" dirty="0">
                <a:solidFill>
                  <a:srgbClr val="808080"/>
                </a:solidFill>
              </a:rPr>
              <a:t>[Visual: Latar tapak landskap dalam pembinaan. Dua watak berdiri di</a:t>
            </a:r>
          </a:p>
          <a:p>
            <a:pPr/>
            <a:r>
              <a:rPr lang="en-MY" sz="1100" dirty="0">
                <a:solidFill>
                  <a:srgbClr val="808080"/>
                </a:solidFill>
              </a:rPr>
              <a:t>kawasan yang sudah ditanam, struktur taman di latar belakang.]</a:t>
            </a:r>
          </a:p>
        </p:txBody>
      </p:sp>
      <p:sp>
        <p:nvSpPr>
          <p:cNvPr id="40" name="CastName"/>
          <p:cNvSpPr txBox="1"/>
          <p:nvPr/>
        </p:nvSpPr>
        <p:spPr>
          <a:xfrm>
            <a:off x="723930" y="2286000"/>
            <a:ext cx="4572000" cy="384048"/>
          </a:xfrm>
          <a:prstGeom prst="rect">
            <a:avLst/>
          </a:prstGeom>
          <a:noFill/>
        </p:spPr>
        <p:txBody>
          <a:bodyPr wrap="square">
            <a:noAutofit/>
          </a:bodyPr>
          <a:lstStyle/>
          <a:p>
            <a:pPr/>
            <a:r>
              <a:rPr lang="en-MY" sz="1900" b="1" dirty="0">
                <a:solidFill>
                  <a:schemeClr val="tx1">
                    <a:lumMod val="85000"/>
                    <a:lumOff val="15000"/>
                  </a:schemeClr>
                </a:solidFill>
              </a:rPr>
              <a:t>Alya</a:t>
            </a:r>
          </a:p>
        </p:txBody>
      </p:sp>
      <p:sp>
        <p:nvSpPr>
          <p:cNvPr id="41" name="CastRole"/>
          <p:cNvSpPr txBox="1"/>
          <p:nvPr/>
        </p:nvSpPr>
        <p:spPr>
          <a:xfrm>
            <a:off x="723930" y="2688336"/>
            <a:ext cx="5120640" cy="310896"/>
          </a:xfrm>
          <a:prstGeom prst="rect">
            <a:avLst/>
          </a:prstGeom>
          <a:noFill/>
        </p:spPr>
        <p:txBody>
          <a:bodyPr wrap="square">
            <a:noAutofit/>
          </a:bodyPr>
          <a:lstStyle/>
          <a:p>
            <a:pPr/>
            <a:r>
              <a:rPr lang="en-MY" sz="1300" dirty="0">
                <a:solidFill>
                  <a:srgbClr val="808080"/>
                </a:solidFill>
              </a:rPr>
              <a:t>Kontraktor Junior</a:t>
            </a:r>
          </a:p>
        </p:txBody>
      </p:sp>
      <p:sp>
        <p:nvSpPr>
          <p:cNvPr id="42" name="CastName"/>
          <p:cNvSpPr txBox="1"/>
          <p:nvPr/>
        </p:nvSpPr>
        <p:spPr>
          <a:xfrm>
            <a:off x="723930" y="3291840"/>
            <a:ext cx="4572000" cy="384048"/>
          </a:xfrm>
          <a:prstGeom prst="rect">
            <a:avLst/>
          </a:prstGeom>
          <a:noFill/>
        </p:spPr>
        <p:txBody>
          <a:bodyPr wrap="square">
            <a:noAutofit/>
          </a:bodyPr>
          <a:lstStyle/>
          <a:p>
            <a:pPr/>
            <a:r>
              <a:rPr lang="en-MY" sz="1900" b="1" dirty="0">
                <a:solidFill>
                  <a:schemeClr val="tx1">
                    <a:lumMod val="85000"/>
                    <a:lumOff val="15000"/>
                  </a:schemeClr>
                </a:solidFill>
              </a:rPr>
              <a:t>Encik Rahman</a:t>
            </a:r>
          </a:p>
        </p:txBody>
      </p:sp>
      <p:sp>
        <p:nvSpPr>
          <p:cNvPr id="43" name="CastRole"/>
          <p:cNvSpPr txBox="1"/>
          <p:nvPr/>
        </p:nvSpPr>
        <p:spPr>
          <a:xfrm>
            <a:off x="723930" y="3694176"/>
            <a:ext cx="5120640" cy="310896"/>
          </a:xfrm>
          <a:prstGeom prst="rect">
            <a:avLst/>
          </a:prstGeom>
          <a:noFill/>
        </p:spPr>
        <p:txBody>
          <a:bodyPr wrap="square">
            <a:noAutofit/>
          </a:bodyPr>
          <a:lstStyle/>
          <a:p>
            <a:pPr/>
            <a:r>
              <a:rPr lang="en-MY" sz="1300" dirty="0">
                <a:solidFill>
                  <a:srgbClr val="808080"/>
                </a:solidFill>
              </a:rPr>
              <a:t>Mentor / Kontraktor Senior</a:t>
            </a:r>
          </a:p>
        </p:txBody>
      </p:sp>
      <p:sp>
        <p:nvSpPr>
          <p:cNvPr id="60" name="Note"/>
          <p:cNvSpPr txBox="1"/>
          <p:nvPr/>
        </p:nvSpPr>
        <p:spPr>
          <a:xfrm>
            <a:off x="723930" y="4663440"/>
            <a:ext cx="10744200" cy="365760"/>
          </a:xfrm>
          <a:prstGeom prst="rect">
            <a:avLst/>
          </a:prstGeom>
          <a:noFill/>
        </p:spPr>
        <p:txBody>
          <a:bodyPr wrap="square">
            <a:noAutofit/>
          </a:bodyPr>
          <a:lstStyle/>
          <a:p>
            <a:pPr/>
            <a:r>
              <a:rPr lang="en-MY" sz="1300" dirty="0">
                <a:solidFill>
                  <a:srgbClr val="808080"/>
                </a:solidFill>
              </a:rPr>
              <a:t>Dialog penuh dimainkan sebagai video watak. Teks dialog berada dalam Notes.</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Pengenalan — senario tapak</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FRAME_SCENARIO_BASE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DIALOGUE_NOTES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[dialogue_video_complete]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SCR_S02</a:t>
            </a:r>
          </a:p>
          <a:p>
            <a:r>
              <a:rPr lang="en-MY" sz="900" b="1" dirty="0">
                <a:solidFill>
                  <a:schemeClr val="tx1">
                    <a:lumMod val="85000"/>
                    <a:lumOff val="15000"/>
                  </a:schemeClr>
                </a:solidFill>
              </a:rPr>
              <a:t>WATAK:</a:t>
            </a:r>
          </a:p>
          <a:p>
            <a:r>
              <a:rPr lang="en-MY" sz="900" dirty="0">
                <a:solidFill>
                  <a:schemeClr val="tx1">
                    <a:lumMod val="85000"/>
                    <a:lumOff val="15000"/>
                  </a:schemeClr>
                </a:solidFill>
              </a:rPr>
              <a:t>  Alya — Kontraktor Junior</a:t>
            </a:r>
          </a:p>
          <a:p>
            <a:r>
              <a:rPr lang="en-MY" sz="900" dirty="0">
                <a:solidFill>
                  <a:schemeClr val="tx1">
                    <a:lumMod val="85000"/>
                    <a:lumOff val="15000"/>
                  </a:schemeClr>
                </a:solidFill>
              </a:rPr>
              <a:t>    learner proxy — junior contractor who confirms her understanding of the work scope</a:t>
            </a:r>
          </a:p>
          <a:p>
            <a:r>
              <a:rPr lang="en-MY" sz="900" dirty="0">
                <a:solidFill>
                  <a:schemeClr val="tx1">
                    <a:lumMod val="85000"/>
                    <a:lumOff val="15000"/>
                  </a:schemeClr>
                </a:solidFill>
              </a:rPr>
              <a:t>  Encik Rahman — Mentor / Kontraktor Senior Berpengalaman Landskap</a:t>
            </a:r>
          </a:p>
          <a:p>
            <a:r>
              <a:rPr lang="en-MY" sz="900" dirty="0">
                <a:solidFill>
                  <a:schemeClr val="tx1">
                    <a:lumMod val="85000"/>
                    <a:lumOff val="15000"/>
                  </a:schemeClr>
                </a:solidFill>
              </a:rPr>
              <a:t>    Penyelia Tapak / mentor who validates and extends Alya’s understanding</a:t>
            </a:r>
          </a:p>
          <a:p>
            <a:r>
              <a:rPr lang="en-MY" sz="900" dirty="0">
                <a:solidFill>
                  <a:schemeClr val="tx1">
                    <a:lumMod val="85000"/>
                    <a:lumOff val="15000"/>
                  </a:schemeClr>
                </a:solidFill>
              </a:rPr>
              <a:t>  Label peranan generik (Pelatih / Penyelia Tapak) ialah metadata produksi</a:t>
            </a:r>
          </a:p>
          <a:p>
            <a:r>
              <a:rPr lang="en-MY" sz="900" dirty="0">
                <a:solidFill>
                  <a:schemeClr val="tx1">
                    <a:lumMod val="85000"/>
                    <a:lumOff val="15000"/>
                  </a:schemeClr>
                </a:solidFill>
              </a:rPr>
              <a:t>  sahaja dan BUKAN nama akhir yang dilihat pelajar.</a:t>
            </a:r>
          </a:p>
          <a:p>
            <a:r>
              <a:rPr lang="en-MY" sz="900" b="1" dirty="0">
                <a:solidFill>
                  <a:schemeClr val="tx1">
                    <a:lumMod val="85000"/>
                    <a:lumOff val="15000"/>
                  </a:schemeClr>
                </a:solidFill>
              </a:rPr>
              <a:t>KANDUNGAN DIKELUARKAN:</a:t>
            </a:r>
          </a:p>
          <a:p>
            <a:r>
              <a:rPr lang="en-MY" sz="900" dirty="0">
                <a:solidFill>
                  <a:schemeClr val="tx1">
                    <a:lumMod val="85000"/>
                    <a:lumOff val="15000"/>
                  </a:schemeClr>
                </a:solidFill>
              </a:rPr>
              <a:t>  "Dan jangan lupa, kedua-duanya kena ikut MS2680."</a:t>
            </a:r>
          </a:p>
          <a:p>
            <a:r>
              <a:rPr lang="en-MY" sz="900" dirty="0">
                <a:solidFill>
                  <a:schemeClr val="tx1">
                    <a:lumMod val="85000"/>
                    <a:lumOff val="15000"/>
                  </a:schemeClr>
                </a:solidFill>
              </a:rPr>
              <a:t>  sebab: MS2680 applicability to both groups is not yet verified against the authoritative source</a:t>
            </a:r>
          </a:p>
          <a:p>
            <a:r>
              <a:rPr lang="en-MY" sz="900" dirty="0">
                <a:solidFill>
                  <a:schemeClr val="tx1">
                    <a:lumMod val="85000"/>
                    <a:lumOff val="15000"/>
                  </a:schemeClr>
                </a:solidFill>
              </a:rPr>
              <a:t>  status: PENDING_SOURCE_VERIFICATION</a:t>
            </a:r>
          </a:p>
          <a:p>
            <a:r>
              <a:rPr lang="en-MY" sz="900" dirty="0">
                <a:solidFill>
                  <a:schemeClr val="tx1">
                    <a:lumMod val="85000"/>
                    <a:lumOff val="15000"/>
                  </a:schemeClr>
                </a:solidFill>
              </a:rPr>
              <a:t>  gantian: none — no substitute standards claim invented</a:t>
            </a:r>
          </a:p>
          <a:p>
            <a:r>
              <a:rPr lang="en-MY" sz="900" b="1" dirty="0">
                <a:solidFill>
                  <a:schemeClr val="tx1">
                    <a:lumMod val="85000"/>
                    <a:lumOff val="15000"/>
                  </a:schemeClr>
                </a:solidFill>
              </a:rPr>
              <a:t>KESINAMBUNGAN:</a:t>
            </a:r>
          </a:p>
          <a:p>
            <a:r>
              <a:rPr lang="en-MY" sz="900" dirty="0">
                <a:solidFill>
                  <a:schemeClr val="tx1">
                    <a:lumMod val="85000"/>
                    <a:lumOff val="15000"/>
                  </a:schemeClr>
                </a:solidFill>
              </a:rPr>
              <a:t>  Start of the B02 scenario, immediately after S01. The course and PL06 are NOT reintroduced — both montages and S01 have already established them.</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FRAME_SCREEN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B02-D-17, B02-D-18, B02-D-19, B02-D-25, B02-D-26</a:t>
            </a:r>
          </a:p>
          <a:p>
            <a:r>
              <a:rPr lang="en-MY" sz="900" dirty="0">
                <a:solidFill>
                  <a:schemeClr val="tx1">
                    <a:lumMod val="85000"/>
                    <a:lumOff val="15000"/>
                  </a:schemeClr>
                </a:solidFill>
              </a:rPr>
              <a:t>STATUS BELUM SELESAI: U-01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Pengenalan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Pengenalan</a:t>
            </a:r>
          </a:p>
        </p:txBody>
      </p:sp>
      <p:sp>
        <p:nvSpPr>
          <p:cNvPr id="30" name="VisualDir"/>
          <p:cNvSpPr txBox="1"/>
          <p:nvPr/>
        </p:nvSpPr>
        <p:spPr>
          <a:xfrm>
            <a:off x="723930" y="1188720"/>
            <a:ext cx="4846320" cy="877824"/>
          </a:xfrm>
          <a:prstGeom prst="rect">
            <a:avLst/>
          </a:prstGeom>
          <a:noFill/>
        </p:spPr>
        <p:txBody>
          <a:bodyPr wrap="square">
            <a:noAutofit/>
          </a:bodyPr>
          <a:lstStyle/>
          <a:p>
            <a:pPr/>
            <a:r>
              <a:rPr lang="en-MY" sz="1100" dirty="0">
                <a:solidFill>
                  <a:srgbClr val="808080"/>
                </a:solidFill>
              </a:rPr>
              <a:t>ARAHAN VISUAL</a:t>
            </a:r>
          </a:p>
          <a:p>
            <a:pPr/>
            <a:r>
              <a:rPr lang="en-MY" sz="1100" dirty="0">
                <a:solidFill>
                  <a:srgbClr val="808080"/>
                </a:solidFill>
              </a:rPr>
              <a:t>[Visual: Kad narator Hilmi — potret separuh badan,</a:t>
            </a:r>
          </a:p>
          <a:p>
            <a:pPr/>
            <a:r>
              <a:rPr lang="en-MY" sz="1100" dirty="0">
                <a:solidFill>
                  <a:srgbClr val="808080"/>
                </a:solidFill>
              </a:rPr>
              <a:t>pakaian kerja lapangan, latar tapak landskap kabur.]</a:t>
            </a:r>
          </a:p>
        </p:txBody>
      </p:sp>
      <p:sp>
        <p:nvSpPr>
          <p:cNvPr id="40" name="Narr"/>
          <p:cNvSpPr txBox="1"/>
          <p:nvPr/>
        </p:nvSpPr>
        <p:spPr>
          <a:xfrm>
            <a:off x="723930" y="2084832"/>
            <a:ext cx="4846320" cy="365760"/>
          </a:xfrm>
          <a:prstGeom prst="rect">
            <a:avLst/>
          </a:prstGeom>
          <a:noFill/>
        </p:spPr>
        <p:txBody>
          <a:bodyPr wrap="square">
            <a:noAutofit/>
          </a:bodyPr>
          <a:lstStyle/>
          <a:p>
            <a:pPr/>
            <a:r>
              <a:rPr lang="en-MY" sz="1800" b="1" dirty="0">
                <a:solidFill>
                  <a:schemeClr val="tx1">
                    <a:lumMod val="85000"/>
                    <a:lumOff val="15000"/>
                  </a:schemeClr>
                </a:solidFill>
              </a:rPr>
              <a:t>Hilmi</a:t>
            </a:r>
          </a:p>
        </p:txBody>
      </p:sp>
      <p:sp>
        <p:nvSpPr>
          <p:cNvPr id="41" name="NarrRole"/>
          <p:cNvSpPr txBox="1"/>
          <p:nvPr/>
        </p:nvSpPr>
        <p:spPr>
          <a:xfrm>
            <a:off x="723930" y="2468880"/>
            <a:ext cx="4846320" cy="292608"/>
          </a:xfrm>
          <a:prstGeom prst="rect">
            <a:avLst/>
          </a:prstGeom>
          <a:noFill/>
        </p:spPr>
        <p:txBody>
          <a:bodyPr wrap="square">
            <a:noAutofit/>
          </a:bodyPr>
          <a:lstStyle/>
          <a:p>
            <a:pPr/>
            <a:r>
              <a:rPr lang="en-MY" sz="1200" dirty="0">
                <a:solidFill>
                  <a:srgbClr val="808080"/>
                </a:solidFill>
              </a:rPr>
              <a:t>Narator kursus</a:t>
            </a:r>
          </a:p>
        </p:txBody>
      </p:sp>
      <p:sp>
        <p:nvSpPr>
          <p:cNvPr id="50" name="Grp"/>
          <p:cNvSpPr txBox="1"/>
          <p:nvPr/>
        </p:nvSpPr>
        <p:spPr>
          <a:xfrm>
            <a:off x="5989320" y="1207008"/>
            <a:ext cx="5486400" cy="731520"/>
          </a:xfrm>
          <a:prstGeom prst="rect">
            <a:avLst/>
          </a:prstGeom>
          <a:noFill/>
        </p:spPr>
        <p:txBody>
          <a:bodyPr wrap="square">
            <a:noAutofit/>
          </a:bodyPr>
          <a:lstStyle/>
          <a:p>
            <a:pPr/>
            <a:r>
              <a:rPr lang="en-MY" sz="1250" b="1" dirty="0">
                <a:solidFill>
                  <a:schemeClr val="tx1">
                    <a:lumMod val="85000"/>
                    <a:lumOff val="15000"/>
                  </a:schemeClr>
                </a:solidFill>
              </a:rPr>
              <a:t>Struktur Taman: Struktur Persisir Air, Struktur</a:t>
            </a:r>
          </a:p>
          <a:p>
            <a:pPr/>
            <a:r>
              <a:rPr lang="en-MY" sz="1250" b="1" dirty="0">
                <a:solidFill>
                  <a:schemeClr val="tx1">
                    <a:lumMod val="85000"/>
                    <a:lumOff val="15000"/>
                  </a:schemeClr>
                </a:solidFill>
              </a:rPr>
              <a:t>Teduhan, Kemudahan Awam, </a:t>
            </a:r>
            <a:r>
              <a:rPr lang="en-MY" sz="1250" b="1" i="1" dirty="0">
                <a:solidFill>
                  <a:schemeClr val="tx1">
                    <a:lumMod val="85000"/>
                    <a:lumOff val="15000"/>
                  </a:schemeClr>
                </a:solidFill>
              </a:rPr>
              <a:t>Water Feature</a:t>
            </a:r>
          </a:p>
        </p:txBody>
      </p:sp>
      <p:sp>
        <p:nvSpPr>
          <p:cNvPr id="51" name="Grp"/>
          <p:cNvSpPr txBox="1"/>
          <p:nvPr/>
        </p:nvSpPr>
        <p:spPr>
          <a:xfrm>
            <a:off x="5989320" y="1993392"/>
            <a:ext cx="5486400" cy="731520"/>
          </a:xfrm>
          <a:prstGeom prst="rect">
            <a:avLst/>
          </a:prstGeom>
          <a:noFill/>
        </p:spPr>
        <p:txBody>
          <a:bodyPr wrap="square">
            <a:noAutofit/>
          </a:bodyPr>
          <a:lstStyle/>
          <a:p>
            <a:pPr/>
            <a:r>
              <a:rPr lang="en-MY" sz="1250" b="1" dirty="0">
                <a:solidFill>
                  <a:schemeClr val="tx1">
                    <a:lumMod val="85000"/>
                    <a:lumOff val="15000"/>
                  </a:schemeClr>
                </a:solidFill>
              </a:rPr>
              <a:t>Perabot Taman: Kerusi Taman, Papan Tanda, Tong</a:t>
            </a:r>
          </a:p>
          <a:p>
            <a:pPr/>
            <a:r>
              <a:rPr lang="en-MY" sz="1250" b="1" dirty="0">
                <a:solidFill>
                  <a:schemeClr val="tx1">
                    <a:lumMod val="85000"/>
                    <a:lumOff val="15000"/>
                  </a:schemeClr>
                </a:solidFill>
              </a:rPr>
              <a:t>Sampah, </a:t>
            </a:r>
            <a:r>
              <a:rPr lang="en-MY" sz="1250" b="1" i="1" dirty="0">
                <a:solidFill>
                  <a:schemeClr val="tx1">
                    <a:lumMod val="85000"/>
                    <a:lumOff val="15000"/>
                  </a:schemeClr>
                </a:solidFill>
              </a:rPr>
              <a:t>Drinking Fountain</a:t>
            </a:r>
            <a:r>
              <a:rPr lang="en-MY" sz="1250" b="1" dirty="0">
                <a:solidFill>
                  <a:schemeClr val="tx1">
                    <a:lumMod val="85000"/>
                    <a:lumOff val="15000"/>
                  </a:schemeClr>
                </a:solidFill>
              </a:rPr>
              <a:t>, </a:t>
            </a:r>
            <a:r>
              <a:rPr lang="en-MY" sz="1250" b="1" i="1" dirty="0">
                <a:solidFill>
                  <a:schemeClr val="tx1">
                    <a:lumMod val="85000"/>
                    <a:lumOff val="15000"/>
                  </a:schemeClr>
                </a:solidFill>
              </a:rPr>
              <a:t>BBQ Pit</a:t>
            </a:r>
          </a:p>
        </p:txBody>
      </p:sp>
      <p:sp>
        <p:nvSpPr>
          <p:cNvPr id="60" name="VisualDir"/>
          <p:cNvSpPr txBox="1"/>
          <p:nvPr/>
        </p:nvSpPr>
        <p:spPr>
          <a:xfrm>
            <a:off x="5989320" y="2926080"/>
            <a:ext cx="5486400" cy="1645920"/>
          </a:xfrm>
          <a:prstGeom prst="rect">
            <a:avLst/>
          </a:prstGeom>
          <a:noFill/>
        </p:spPr>
        <p:txBody>
          <a:bodyPr wrap="square">
            <a:noAutofit/>
          </a:bodyPr>
          <a:lstStyle/>
          <a:p>
            <a:pPr/>
            <a:r>
              <a:rPr lang="en-MY" sz="1000" dirty="0">
                <a:solidFill>
                  <a:srgbClr val="808080"/>
                </a:solidFill>
              </a:rPr>
              <a:t>ARAHAN VISUAL — MIND MAP (SPESIFIKASI TEKS SAHAJA)</a:t>
            </a:r>
          </a:p>
          <a:p>
            <a:pPr/>
            <a:r>
              <a:rPr lang="en-MY" sz="1000" dirty="0">
                <a:solidFill>
                  <a:srgbClr val="808080"/>
                </a:solidFill>
              </a:rPr>
              <a:t>[Visual: Mind Map — nod pusat 'Komponen Landskap' bercabang kepada dua</a:t>
            </a:r>
          </a:p>
          <a:p>
            <a:pPr/>
            <a:r>
              <a:rPr lang="en-MY" sz="1000" dirty="0">
                <a:solidFill>
                  <a:srgbClr val="808080"/>
                </a:solidFill>
              </a:rPr>
              <a:t>kumpulan. Cabang 1 – Struktur Taman: Struktur Persisir Air, Struktur</a:t>
            </a:r>
          </a:p>
          <a:p>
            <a:pPr/>
            <a:r>
              <a:rPr lang="en-MY" sz="1000" dirty="0">
                <a:solidFill>
                  <a:srgbClr val="808080"/>
                </a:solidFill>
              </a:rPr>
              <a:t>Teduhan, Kemudahan Awam, Water Feature. Cabang 2 – Perabot Taman: Kerusi</a:t>
            </a:r>
          </a:p>
          <a:p>
            <a:pPr/>
            <a:r>
              <a:rPr lang="en-MY" sz="1000" dirty="0">
                <a:solidFill>
                  <a:srgbClr val="808080"/>
                </a:solidFill>
              </a:rPr>
              <a:t>Taman, Papan Tanda, Tong Sampah, Drinking Fountain, BBQ Pit. Spesifikasi</a:t>
            </a:r>
          </a:p>
          <a:p>
            <a:pPr/>
            <a:r>
              <a:rPr lang="en-MY" sz="1000" dirty="0">
                <a:solidFill>
                  <a:srgbClr val="808080"/>
                </a:solidFill>
              </a:rPr>
              <a:t>teks sahaja — aset Mind Map TIDAK dihasilkan pada peringkat ini.]</a:t>
            </a:r>
          </a:p>
        </p:txBody>
      </p:sp>
      <p:sp>
        <p:nvSpPr>
          <p:cNvPr id="70" name="Reflect"/>
          <p:cNvSpPr txBox="1"/>
          <p:nvPr/>
        </p:nvSpPr>
        <p:spPr>
          <a:xfrm>
            <a:off x="723930" y="4901184"/>
            <a:ext cx="10744200" cy="658368"/>
          </a:xfrm>
          <a:prstGeom prst="rect">
            <a:avLst/>
          </a:prstGeom>
          <a:noFill/>
        </p:spPr>
        <p:txBody>
          <a:bodyPr wrap="square">
            <a:noAutofit/>
          </a:bodyPr>
          <a:lstStyle/>
          <a:p>
            <a:pPr/>
            <a:r>
              <a:rPr lang="en-MY" sz="1500" b="1" dirty="0">
                <a:solidFill>
                  <a:srgbClr val="7F6000"/>
                </a:solidFill>
              </a:rPr>
              <a:t>Jika anda ditugaskan memasang kerusi taman di tepi tasik, apakah jenis bahan yang anda akan</a:t>
            </a:r>
          </a:p>
          <a:p>
            <a:pPr/>
            <a:r>
              <a:rPr lang="en-MY" sz="1500" b="1" dirty="0">
                <a:solidFill>
                  <a:srgbClr val="7F6000"/>
                </a:solidFill>
              </a:rPr>
              <a:t>pilih, dan mengapa?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Pengenalan — gambaran keseluruhan (Hilmi)</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FRAME_NARRATOR_BASE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SCR_S03</a:t>
            </a:r>
          </a:p>
          <a:p>
            <a:r>
              <a:rPr lang="en-MY" sz="900" b="1" dirty="0">
                <a:solidFill>
                  <a:schemeClr val="tx1">
                    <a:lumMod val="85000"/>
                    <a:lumOff val="15000"/>
                  </a:schemeClr>
                </a:solidFill>
              </a:rPr>
              <a:t>NARATOR:</a:t>
            </a:r>
          </a:p>
          <a:p>
            <a:r>
              <a:rPr lang="en-MY" sz="900" dirty="0">
                <a:solidFill>
                  <a:schemeClr val="tx1">
                    <a:lumMod val="85000"/>
                    <a:lumOff val="15000"/>
                  </a:schemeClr>
                </a:solidFill>
              </a:rPr>
              <a:t>  Hilmi — Narator kursus</a:t>
            </a:r>
          </a:p>
          <a:p>
            <a:r>
              <a:rPr lang="en-MY" sz="900" dirty="0">
                <a:solidFill>
                  <a:schemeClr val="tx1">
                    <a:lumMod val="85000"/>
                    <a:lumOff val="15000"/>
                  </a:schemeClr>
                </a:solidFill>
              </a:rPr>
              <a:t>  HILMI_REINTRODUCED_AS_NEW = false</a:t>
            </a:r>
          </a:p>
          <a:p>
            <a:r>
              <a:rPr lang="en-MY" sz="900" dirty="0">
                <a:solidFill>
                  <a:schemeClr val="tx1">
                    <a:lumMod val="85000"/>
                    <a:lumOff val="15000"/>
                  </a:schemeClr>
                </a:solidFill>
              </a:rPr>
              <a:t>  HILMI_CONTINUITY_FROM_COURSE_MONTAGE = true</a:t>
            </a:r>
          </a:p>
          <a:p>
            <a:r>
              <a:rPr lang="en-MY" sz="900" dirty="0">
                <a:solidFill>
                  <a:schemeClr val="tx1">
                    <a:lumMod val="85000"/>
                    <a:lumOff val="15000"/>
                  </a:schemeClr>
                </a:solidFill>
              </a:rPr>
              <a:t>  Hilmi continues the narration established by the Course Montage. He is not introduced as a new character. The "Hilmi:" label remains on S03 as storyboard speaker identification only.</a:t>
            </a:r>
          </a:p>
          <a:p>
            <a:r>
              <a:rPr lang="en-MY" sz="900" dirty="0">
                <a:solidFill>
                  <a:schemeClr val="tx1">
                    <a:lumMod val="85000"/>
                    <a:lumOff val="15000"/>
                  </a:schemeClr>
                </a:solidFill>
              </a:rPr>
              <a:t>  Pembukaan dilarang: Hai, saya Hilmi; Saya Hilmi, narator kursus ini; any first-time self-introduction</a:t>
            </a:r>
          </a:p>
          <a:p>
            <a:r>
              <a:rPr lang="en-MY" sz="900" dirty="0">
                <a:solidFill>
                  <a:schemeClr val="tx1">
                    <a:lumMod val="85000"/>
                    <a:lumOff val="15000"/>
                  </a:schemeClr>
                </a:solidFill>
              </a:rPr>
              <a:t>  The VO transitions out of the Alya–Encik Rahman scenario and into the learning overview — it does not restart the course.</a:t>
            </a:r>
          </a:p>
          <a:p>
            <a:r>
              <a:rPr lang="en-MY" sz="900" b="1" dirty="0">
                <a:solidFill>
                  <a:schemeClr val="tx1">
                    <a:lumMod val="85000"/>
                    <a:lumOff val="15000"/>
                  </a:schemeClr>
                </a:solidFill>
              </a:rPr>
              <a:t>NOTA PRODUKSI:</a:t>
            </a:r>
          </a:p>
          <a:p>
            <a:r>
              <a:rPr lang="en-MY" sz="900" dirty="0">
                <a:solidFill>
                  <a:schemeClr val="tx1">
                    <a:lumMod val="85000"/>
                    <a:lumOff val="15000"/>
                  </a:schemeClr>
                </a:solidFill>
              </a:rPr>
              <a:t>  "Hilmi:" speaker prefix appears on S03 only; it must not appear on any other screen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FRAME_SCREEN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B02-D-20, B02-D-25</a:t>
            </a:r>
          </a:p>
          <a:p>
            <a:r>
              <a:rPr lang="en-MY" sz="900" dirty="0">
                <a:solidFill>
                  <a:schemeClr val="tx1">
                    <a:lumMod val="85000"/>
                    <a:lumOff val="15000"/>
                  </a:schemeClr>
                </a:solidFill>
              </a:rPr>
              <a:t>STATUS BELUM SELESAI: NONE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5" name="Instr"/>
          <p:cNvSpPr txBox="1"/>
          <p:nvPr/>
        </p:nvSpPr>
        <p:spPr>
          <a:xfrm>
            <a:off x="723930" y="1051560"/>
            <a:ext cx="10744200" cy="365760"/>
          </a:xfrm>
          <a:prstGeom prst="rect">
            <a:avLst/>
          </a:prstGeom>
          <a:noFill/>
        </p:spPr>
        <p:txBody>
          <a:bodyPr wrap="square">
            <a:noAutofit/>
          </a:bodyPr>
          <a:lstStyle/>
          <a:p>
            <a:pPr algn="ctr"/>
            <a:r>
              <a:rPr lang="en-MY" sz="1600" dirty="0">
                <a:solidFill>
                  <a:schemeClr val="tx1">
                    <a:lumMod val="85000"/>
                    <a:lumOff val="15000"/>
                  </a:schemeClr>
                </a:solidFill>
              </a:rPr>
              <a:t>Klik pada setiap struktur untuk penjelasan lanjut.</a:t>
            </a:r>
          </a:p>
        </p:txBody>
      </p:sp>
      <p:sp>
        <p:nvSpPr>
          <p:cNvPr id="40" name="ItemCard"/>
          <p:cNvSpPr txBox="1"/>
          <p:nvPr/>
        </p:nvSpPr>
        <p:spPr>
          <a:xfrm>
            <a:off x="2174397" y="1508760"/>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dirty="0">
                <a:solidFill>
                  <a:schemeClr val="tx1">
                    <a:lumMod val="85000"/>
                    <a:lumOff val="15000"/>
                  </a:schemeClr>
                </a:solidFill>
              </a:rPr>
              <a:t>Struktur Persisir Air</a:t>
            </a:r>
          </a:p>
        </p:txBody>
      </p:sp>
      <p:sp>
        <p:nvSpPr>
          <p:cNvPr id="41" name="ItemCard"/>
          <p:cNvSpPr txBox="1"/>
          <p:nvPr/>
        </p:nvSpPr>
        <p:spPr>
          <a:xfrm>
            <a:off x="6419408" y="1508760"/>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dirty="0">
                <a:solidFill>
                  <a:schemeClr val="tx1">
                    <a:lumMod val="85000"/>
                    <a:lumOff val="15000"/>
                  </a:schemeClr>
                </a:solidFill>
              </a:rPr>
              <a:t>Struktur Teduhan</a:t>
            </a:r>
          </a:p>
        </p:txBody>
      </p:sp>
      <p:sp>
        <p:nvSpPr>
          <p:cNvPr id="42" name="ItemCard"/>
          <p:cNvSpPr txBox="1"/>
          <p:nvPr/>
        </p:nvSpPr>
        <p:spPr>
          <a:xfrm>
            <a:off x="2174397" y="4031224"/>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dirty="0">
                <a:solidFill>
                  <a:schemeClr val="tx1">
                    <a:lumMod val="85000"/>
                    <a:lumOff val="15000"/>
                  </a:schemeClr>
                </a:solidFill>
              </a:rPr>
              <a:t>Kemudahan Awam</a:t>
            </a:r>
          </a:p>
        </p:txBody>
      </p:sp>
      <p:sp>
        <p:nvSpPr>
          <p:cNvPr id="43" name="ItemCard"/>
          <p:cNvSpPr txBox="1"/>
          <p:nvPr/>
        </p:nvSpPr>
        <p:spPr>
          <a:xfrm>
            <a:off x="6419408" y="4031224"/>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i="1" dirty="0">
                <a:solidFill>
                  <a:schemeClr val="tx1">
                    <a:lumMod val="85000"/>
                    <a:lumOff val="15000"/>
                  </a:schemeClr>
                </a:solidFill>
              </a:rPr>
              <a:t>Water Feature</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Taman — papan kumpulan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GROUP_MASTER_BASE</a:t>
            </a:r>
          </a:p>
          <a:p>
            <a:r>
              <a:rPr lang="en-MY" sz="900" dirty="0">
                <a:solidFill>
                  <a:schemeClr val="tx1">
                    <a:lumMod val="85000"/>
                    <a:lumOff val="15000"/>
                  </a:schemeClr>
                </a:solidFill>
              </a:rPr>
              <a:t/>
            </a:r>
          </a:p>
          <a:p>
            <a:r>
              <a:rPr lang="en-MY" sz="900" dirty="0">
                <a:solidFill>
                  <a:schemeClr val="tx1">
                    <a:lumMod val="85000"/>
                    <a:lumOff val="15000"/>
                  </a:schemeClr>
                </a:solidFill>
              </a:rPr>
              <a:t>BUKTI: group master, no component visited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[group_complete[STRUKTUR_TAMAN]]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GROUP</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SCR_GM_STRUKTUR</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Empat kad komponen. Boleh diklik dalam sebarang susunan.</a:t>
            </a:r>
          </a:p>
          <a:p>
            <a:r>
              <a:rPr lang="en-MY" sz="900" dirty="0">
                <a:solidFill>
                  <a:schemeClr val="tx1">
                    <a:lumMod val="85000"/>
                    <a:lumOff val="15000"/>
                  </a:schemeClr>
                </a:solidFill>
              </a:rPr>
              <a:t>  Setiap komponen yang selesai menerima tik.</a:t>
            </a:r>
          </a:p>
          <a:p>
            <a:r>
              <a:rPr lang="en-MY" sz="900" dirty="0">
                <a:solidFill>
                  <a:schemeClr val="tx1">
                    <a:lumMod val="85000"/>
                    <a:lumOff val="15000"/>
                  </a:schemeClr>
                </a:solidFill>
              </a:rPr>
              <a:t>  Kemajuan kumpulan dikawal oleh Seterusnya shell LMS.</a:t>
            </a:r>
          </a:p>
          <a:p>
            <a:r>
              <a:rPr lang="en-MY" sz="900" dirty="0">
                <a:solidFill>
                  <a:schemeClr val="tx1">
                    <a:lumMod val="85000"/>
                    <a:lumOff val="15000"/>
                  </a:schemeClr>
                </a:solidFill>
              </a:rPr>
              <a:t>  TIADA butang Seterusnya tersuai dilukis pada kanvas pelajar.</a:t>
            </a:r>
          </a:p>
          <a:p>
            <a:r>
              <a:rPr lang="en-MY" sz="900" b="1" dirty="0">
                <a:solidFill>
                  <a:schemeClr val="tx1">
                    <a:lumMod val="85000"/>
                    <a:lumOff val="15000"/>
                  </a:schemeClr>
                </a:solidFill>
              </a:rPr>
              <a:t>SASARAN KEMBALI:</a:t>
            </a:r>
          </a:p>
          <a:p>
            <a:r>
              <a:rPr lang="en-MY" sz="900" dirty="0">
                <a:solidFill>
                  <a:schemeClr val="tx1">
                    <a:lumMod val="85000"/>
                    <a:lumOff val="15000"/>
                  </a:schemeClr>
                </a:solidFill>
              </a:rPr>
              <a:t>  Skrin contoh Family S kembali ke sini.</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struktur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GROUP_MASTER</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B02-D-04</a:t>
            </a:r>
          </a:p>
          <a:p>
            <a:r>
              <a:rPr lang="en-MY" sz="900" dirty="0">
                <a:solidFill>
                  <a:schemeClr val="tx1">
                    <a:lumMod val="85000"/>
                    <a:lumOff val="15000"/>
                  </a:schemeClr>
                </a:solidFill>
              </a:rPr>
              <a:t>STATUS BELUM SELESAI: NONE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0" name="Head"/>
          <p:cNvSpPr txBox="1"/>
          <p:nvPr/>
        </p:nvSpPr>
        <p:spPr>
          <a:xfrm>
            <a:off x="723930" y="1188720"/>
            <a:ext cx="10744200" cy="420624"/>
          </a:xfrm>
          <a:prstGeom prst="rect">
            <a:avLst/>
          </a:prstGeom>
          <a:noFill/>
        </p:spPr>
        <p:txBody>
          <a:bodyPr wrap="square">
            <a:noAutofit/>
          </a:bodyPr>
          <a:lstStyle/>
          <a:p>
            <a:pPr/>
            <a:r>
              <a:rPr lang="en-MY" sz="2000" b="1" dirty="0">
                <a:solidFill>
                  <a:schemeClr val="tx1">
                    <a:lumMod val="85000"/>
                    <a:lumOff val="15000"/>
                  </a:schemeClr>
                </a:solidFill>
              </a:rPr>
              <a:t>Struktur Persisir Air</a:t>
            </a:r>
          </a:p>
        </p:txBody>
      </p:sp>
      <p:sp>
        <p:nvSpPr>
          <p:cNvPr id="22" name="Body"/>
          <p:cNvSpPr txBox="1"/>
          <p:nvPr/>
        </p:nvSpPr>
        <p:spPr>
          <a:xfrm>
            <a:off x="723930" y="1755648"/>
            <a:ext cx="10744200" cy="310896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Meningkatkan akses dan pengalaman pengguna di tepi badan air</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Untuk tasik, sungai atau pantai</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Perlu kepakaran pembinaan di persekitaran lembap dan berpotensi hakisan</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Asas stabil dan rata, dengan saliran permukaan yang berkesan</a:t>
            </a:r>
          </a:p>
        </p:txBody>
      </p:sp>
      <p:sp>
        <p:nvSpPr>
          <p:cNvPr id="30" name="VisualDir"/>
          <p:cNvSpPr txBox="1"/>
          <p:nvPr/>
        </p:nvSpPr>
        <p:spPr>
          <a:xfrm>
            <a:off x="723930" y="5074920"/>
            <a:ext cx="10744200" cy="365760"/>
          </a:xfrm>
          <a:prstGeom prst="rect">
            <a:avLst/>
          </a:prstGeom>
          <a:noFill/>
        </p:spPr>
        <p:txBody>
          <a:bodyPr wrap="square">
            <a:noAutofit/>
          </a:bodyPr>
          <a:lstStyle/>
          <a:p>
            <a:pPr/>
            <a:r>
              <a:rPr lang="en-MY" sz="1100" dirty="0">
                <a:solidFill>
                  <a:srgbClr val="808080"/>
                </a:solidFill>
              </a:rPr>
              <a:t>[Visual: Pelbagai Struktur Persisir Air.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Persisir Air — penerangan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COMPONENT_MAIN_BASE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main explanation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SCR_STRUKTUR_PERSISIR_AIR_MAIN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Kemajuan melalui shell LMS.</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RESOLVED_BY_DIRECT_AUTHORITY</a:t>
            </a:r>
          </a:p>
          <a:p>
            <a:r>
              <a:rPr lang="en-MY" sz="900" dirty="0">
                <a:solidFill>
                  <a:schemeClr val="tx1">
                    <a:lumMod val="85000"/>
                    <a:lumOff val="15000"/>
                  </a:schemeClr>
                </a:solidFill>
              </a:rPr>
              <a:t>  kuasa: BARIAH_DIRECT</a:t>
            </a:r>
          </a:p>
          <a:p>
            <a:r>
              <a:rPr lang="en-MY" sz="900" dirty="0">
                <a:solidFill>
                  <a:schemeClr val="tx1">
                    <a:lumMod val="85000"/>
                    <a:lumOff val="15000"/>
                  </a:schemeClr>
                </a:solidFill>
              </a:rPr>
              <a:t>  KONFLIK BUKTI — PENDING_BARIAH_CONFIRMATION:</a:t>
            </a:r>
          </a:p>
          <a:p>
            <a:r>
              <a:rPr lang="en-MY" sz="900" dirty="0">
                <a:solidFill>
                  <a:schemeClr val="tx1">
                    <a:lumMod val="85000"/>
                    <a:lumOff val="15000"/>
                  </a:schemeClr>
                </a:solidFill>
              </a:rPr>
              <a:t>    dirender: [Visual: Pelbagai Struktur Persisir Air. Tidak dibenamkan.]</a:t>
            </a:r>
          </a:p>
          <a:p>
            <a:r>
              <a:rPr lang="en-MY" sz="900" dirty="0">
                <a:solidFill>
                  <a:schemeClr val="tx1">
                    <a:lumMod val="85000"/>
                    <a:lumOff val="15000"/>
                  </a:schemeClr>
                </a:solidFill>
              </a:rPr>
              <a:t>    alternatif beku: [Visual: Rajah 23 — Contoh Boardwalk dalam Taman Paya Bakau, modul ms 239. Tidak dibenamkan.]</a:t>
            </a:r>
          </a:p>
          <a:p>
            <a:r>
              <a:rPr lang="en-MY" sz="900" dirty="0">
                <a:solidFill>
                  <a:schemeClr val="tx1">
                    <a:lumMod val="85000"/>
                    <a:lumOff val="15000"/>
                  </a:schemeClr>
                </a:solidFill>
              </a:rPr>
              <a:t>    lokasi: annotated deck slide 10, Bariah's own corrected component-main exemplar</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ItemCard"/>
          <p:cNvSpPr txBox="1"/>
          <p:nvPr/>
        </p:nvSpPr>
        <p:spPr>
          <a:xfrm>
            <a:off x="4433301"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Jeti</a:t>
            </a:r>
          </a:p>
        </p:txBody>
      </p:sp>
      <p:sp>
        <p:nvSpPr>
          <p:cNvPr id="42"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3" name="ItemCard"/>
          <p:cNvSpPr txBox="1"/>
          <p:nvPr/>
        </p:nvSpPr>
        <p:spPr>
          <a:xfrm>
            <a:off x="2578593"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44"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selection, none viewed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[component_complete[STRUKTUR_PERSISIR_AIR]]</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K5-PL06-T03-B02-STRUKTUR-PERSISIR-AIR-ROW-01</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K5-PL06-T03-B02-STRUKTUR-PERSISIR-AIR-ROW-02</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K5-PL06-T03-B02-STRUKTUR-PERSISIR-AIR-ROW-03</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K5-PL06-T03-B02-STRUKTUR-PERSISIR-AIR-ROW-04</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K5-PL06-T03-B02-STRUKTUR-PERSISIR-AIR-ROW-05</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II_STRUKTUR_PERSISIR_AIR_EX01  &lt;-  K5-PL06-T03-B02-STRUKTUR-PERSISIR-AIR-ROW-01</a:t>
            </a:r>
          </a:p>
          <a:p>
            <a:r>
              <a:rPr lang="en-MY" sz="900" dirty="0">
                <a:solidFill>
                  <a:schemeClr val="tx1">
                    <a:lumMod val="85000"/>
                    <a:lumOff val="15000"/>
                  </a:schemeClr>
                </a:solidFill>
              </a:rPr>
              <a:t>  II_STRUKTUR_PERSISIR_AIR_EX02  &lt;-  K5-PL06-T03-B02-STRUKTUR-PERSISIR-AIR-ROW-02</a:t>
            </a:r>
          </a:p>
          <a:p>
            <a:r>
              <a:rPr lang="en-MY" sz="900" dirty="0">
                <a:solidFill>
                  <a:schemeClr val="tx1">
                    <a:lumMod val="85000"/>
                    <a:lumOff val="15000"/>
                  </a:schemeClr>
                </a:solidFill>
              </a:rPr>
              <a:t>  II_STRUKTUR_PERSISIR_AIR_EX03  &lt;-  K5-PL06-T03-B02-STRUKTUR-PERSISIR-AIR-ROW-03</a:t>
            </a:r>
          </a:p>
          <a:p>
            <a:r>
              <a:rPr lang="en-MY" sz="900" dirty="0">
                <a:solidFill>
                  <a:schemeClr val="tx1">
                    <a:lumMod val="85000"/>
                    <a:lumOff val="15000"/>
                  </a:schemeClr>
                </a:solidFill>
              </a:rPr>
              <a:t>  II_STRUKTUR_PERSISIR_AIR_EX04  &lt;-  K5-PL06-T03-B02-STRUKTUR-PERSISIR-AIR-ROW-04</a:t>
            </a:r>
          </a:p>
          <a:p>
            <a:r>
              <a:rPr lang="en-MY" sz="900" dirty="0">
                <a:solidFill>
                  <a:schemeClr val="tx1">
                    <a:lumMod val="85000"/>
                    <a:lumOff val="15000"/>
                  </a:schemeClr>
                </a:solidFill>
              </a:rPr>
              <a:t>  II_STRUKTUR_PERSISIR_AIR_EX05  &lt;-  K5-PL06-T03-B02-STRUKTUR-PERSISIR-AIR-ROW-05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0/5 contoh dilihat.</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EXAMPLE_SELECTION_SCREEN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frozen exemplar slide 12 shows none; transcript rule is qualified 'where an example visual is presented'</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4" name="ItemCard"/>
          <p:cNvSpPr txBox="1"/>
          <p:nvPr/>
        </p:nvSpPr>
        <p:spPr>
          <a:xfrm>
            <a:off x="2578593"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45"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Promenade Tasik Titiwangsa, KL]</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i="1" dirty="0">
                <a:solidFill>
                  <a:schemeClr val="tx1">
                    <a:lumMod val="85000"/>
                    <a:lumOff val="15000"/>
                  </a:schemeClr>
                </a:solidFill>
              </a:rPr>
              <a:t>Promenade</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Laluan lebar di sepanjang pinggir air, selesa untuk</a:t>
            </a:r>
          </a:p>
          <a:p>
            <a:pPr/>
            <a:r>
              <a:rPr lang="en-MY" sz="1250" dirty="0">
                <a:solidFill>
                  <a:schemeClr val="tx1">
                    <a:lumMod val="85000"/>
                    <a:lumOff val="15000"/>
                  </a:schemeClr>
                </a:solidFill>
              </a:rPr>
              <a:t>berjalan dan bersantai.</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i="1" dirty="0">
                <a:solidFill>
                  <a:schemeClr val="tx1">
                    <a:lumMod val="85000"/>
                    <a:lumOff val="15000"/>
                  </a:schemeClr>
                </a:solidFill>
              </a:rPr>
              <a:t>Promenade</a:t>
            </a:r>
            <a:r>
              <a:rPr lang="en-MY" sz="1250" dirty="0">
                <a:solidFill>
                  <a:schemeClr val="tx1">
                    <a:lumMod val="85000"/>
                    <a:lumOff val="15000"/>
                  </a:schemeClr>
                </a:solidFill>
              </a:rPr>
              <a:t> Tasik Titiwangsa, KL</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a:t>
            </a:r>
            <a:r>
              <a:rPr lang="en-MY" sz="1050" i="1" dirty="0">
                <a:solidFill>
                  <a:schemeClr val="tx1">
                    <a:lumMod val="85000"/>
                    <a:lumOff val="15000"/>
                  </a:schemeClr>
                </a:solidFill>
              </a:rPr>
              <a:t>Promenade</a:t>
            </a:r>
            <a:r>
              <a:rPr lang="en-MY" sz="1050" dirty="0">
                <a:solidFill>
                  <a:schemeClr val="tx1">
                    <a:lumMod val="85000"/>
                    <a:lumOff val="15000"/>
                  </a:schemeClr>
                </a:solidFill>
              </a:rPr>
              <a:t> Tasik Titiwangsa, KL]</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K5-PL06-T03-B02-STRUKTUR-PERSISIR-AIR-ROW-01</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II_STRUKTUR_PERSISIR_AIR_EX01  &lt;-  K5-PL06-T03-B02-STRUKTUR-PERSISIR-AIR-ROW-01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1/5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ItemCard"/>
          <p:cNvSpPr txBox="1"/>
          <p:nvPr/>
        </p:nvSpPr>
        <p:spPr>
          <a:xfrm>
            <a:off x="2578593"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46"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Jeti Lumut, Perak]</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Jeti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Platform atau pelantar panjang untuk akses ke air,</a:t>
            </a:r>
          </a:p>
          <a:p>
            <a:pPr/>
            <a:r>
              <a:rPr lang="en-MY" sz="1250" dirty="0">
                <a:solidFill>
                  <a:schemeClr val="tx1">
                    <a:lumMod val="85000"/>
                    <a:lumOff val="15000"/>
                  </a:schemeClr>
                </a:solidFill>
              </a:rPr>
              <a:t>sering digunakan untuk bot.</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dirty="0">
                <a:solidFill>
                  <a:schemeClr val="tx1">
                    <a:lumMod val="85000"/>
                    <a:lumOff val="15000"/>
                  </a:schemeClr>
                </a:solidFill>
              </a:rPr>
              <a:t>Jeti Lumut, Perak</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Jeti Lumut, Perak]</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K5-PL06-T03-B02-STRUKTUR-PERSISIR-AIR-ROW-02</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II_STRUKTUR_PERSISIR_AIR_EX02  &lt;-  K5-PL06-T03-B02-STRUKTUR-PERSISIR-AIR-ROW-02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2/5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78593"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47"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Wetland Park Putrajaya]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Dek Kayu</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Ruang kayu terbuka di atas atau berhampiran air untuk</a:t>
            </a:r>
          </a:p>
          <a:p>
            <a:pPr/>
            <a:r>
              <a:rPr lang="en-MY" sz="1250" dirty="0">
                <a:solidFill>
                  <a:schemeClr val="tx1">
                    <a:lumMod val="85000"/>
                    <a:lumOff val="15000"/>
                  </a:schemeClr>
                </a:solidFill>
              </a:rPr>
              <a:t>rehat &amp; pemandangan.</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dirty="0">
                <a:solidFill>
                  <a:schemeClr val="tx1">
                    <a:lumMod val="85000"/>
                    <a:lumOff val="15000"/>
                  </a:schemeClr>
                </a:solidFill>
              </a:rPr>
              <a:t>Wetland Park Putrajaya</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Wetland Park Putrajaya]</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K5-PL06-T03-B02-STRUKTUR-PERSISIR-AIR-ROW-03</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II_STRUKTUR_PERSISIR_AIR_EX03  &lt;-  K5-PL06-T03-B02-STRUKTUR-PERSISIR-AIR-ROW-03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78593"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47"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30" name="VisualDir"/>
          <p:cNvSpPr txBox="1"/>
          <p:nvPr/>
        </p:nvSpPr>
        <p:spPr>
          <a:xfrm>
            <a:off x="723930" y="5358384"/>
            <a:ext cx="10744200" cy="621792"/>
          </a:xfrm>
          <a:prstGeom prst="rect">
            <a:avLst/>
          </a:prstGeom>
          <a:noFill/>
        </p:spPr>
        <p:txBody>
          <a:bodyPr wrap="square">
            <a:noAutofit/>
          </a:bodyPr>
          <a:lstStyle/>
          <a:p>
            <a:pPr/>
            <a:r>
              <a:rPr lang="en-MY" sz="1100" dirty="0">
                <a:solidFill>
                  <a:srgbClr val="808080"/>
                </a:solidFill>
              </a:rPr>
              <a:t>[Visual: Rajah 23 — Contoh Boardwalk dalam Taman Paya Bakau, modul ms 239. Aset K5PL06T03-B02-IMG-p239-x20.</a:t>
            </a:r>
          </a:p>
          <a:p>
            <a:pPr/>
            <a:r>
              <a:rPr lang="en-MY" sz="1100" dirty="0">
                <a:solidFill>
                  <a:srgbClr val="808080"/>
                </a:solidFill>
              </a:rPr>
              <a:t>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i="1" dirty="0">
                <a:solidFill>
                  <a:schemeClr val="tx1">
                    <a:lumMod val="85000"/>
                    <a:lumOff val="15000"/>
                  </a:schemeClr>
                </a:solidFill>
              </a:rPr>
              <a:t>Boardwalk</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Laluan kayu di atas tanah berpaya/basah, mesra alam dan</a:t>
            </a:r>
          </a:p>
          <a:p>
            <a:pPr/>
            <a:r>
              <a:rPr lang="en-MY" sz="1250" dirty="0">
                <a:solidFill>
                  <a:schemeClr val="tx1">
                    <a:lumMod val="85000"/>
                    <a:lumOff val="15000"/>
                  </a:schemeClr>
                </a:solidFill>
              </a:rPr>
              <a:t>visual semula jadi.</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i="1" dirty="0">
                <a:solidFill>
                  <a:schemeClr val="tx1">
                    <a:lumMod val="85000"/>
                    <a:lumOff val="15000"/>
                  </a:schemeClr>
                </a:solidFill>
              </a:rPr>
              <a:t>Boardwalk</a:t>
            </a:r>
            <a:r>
              <a:rPr lang="en-MY" sz="1250" dirty="0">
                <a:solidFill>
                  <a:schemeClr val="tx1">
                    <a:lumMod val="85000"/>
                    <a:lumOff val="15000"/>
                  </a:schemeClr>
                </a:solidFill>
              </a:rPr>
              <a:t> Paya Indah Wetlands</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676656"/>
          </a:xfrm>
          <a:prstGeom prst="rect">
            <a:avLst/>
          </a:prstGeom>
          <a:noFill/>
        </p:spPr>
        <p:txBody>
          <a:bodyPr wrap="square">
            <a:noAutofit/>
          </a:bodyPr>
          <a:lstStyle/>
          <a:p>
            <a:pPr/>
            <a:r>
              <a:rPr lang="en-MY" sz="1050" dirty="0">
                <a:solidFill>
                  <a:schemeClr val="tx1">
                    <a:lumMod val="85000"/>
                    <a:lumOff val="15000"/>
                  </a:schemeClr>
                </a:solidFill>
              </a:rPr>
              <a:t>[Visual: Rajah 23 — Contoh </a:t>
            </a:r>
            <a:r>
              <a:rPr lang="en-MY" sz="1050" i="1" dirty="0">
                <a:solidFill>
                  <a:schemeClr val="tx1">
                    <a:lumMod val="85000"/>
                    <a:lumOff val="15000"/>
                  </a:schemeClr>
                </a:solidFill>
              </a:rPr>
              <a:t>Boardwalk</a:t>
            </a:r>
            <a:r>
              <a:rPr lang="en-MY" sz="1050" dirty="0">
                <a:solidFill>
                  <a:schemeClr val="tx1">
                    <a:lumMod val="85000"/>
                    <a:lumOff val="15000"/>
                  </a:schemeClr>
                </a:solidFill>
              </a:rPr>
              <a:t> dalam</a:t>
            </a:r>
          </a:p>
          <a:p>
            <a:pPr/>
            <a:r>
              <a:rPr lang="en-MY" sz="1050" dirty="0">
                <a:solidFill>
                  <a:schemeClr val="tx1">
                    <a:lumMod val="85000"/>
                    <a:lumOff val="15000"/>
                  </a:schemeClr>
                </a:solidFill>
              </a:rPr>
              <a:t>Taman Paya Bakau, modul ms 239. Aset</a:t>
            </a:r>
          </a:p>
          <a:p>
            <a:pPr/>
            <a:r>
              <a:rPr lang="en-MY" sz="1050" dirty="0">
                <a:solidFill>
                  <a:schemeClr val="tx1">
                    <a:lumMod val="85000"/>
                    <a:lumOff val="15000"/>
                  </a:schemeClr>
                </a:solidFill>
              </a:rPr>
              <a:t>K5PL06T03-B02-IMG-p239-x20. Tidak dibenamkan.]</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K5-PL06-T03-B02-STRUKTUR-PERSISIR-AIR-ROW-04</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K5PL06T03-B02-IMG-p239-x20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II_STRUKTUR_PERSISIR_AIR_EX04  &lt;-  K5-PL06-T03-B02-STRUKTUR-PERSISIR-AIR-ROW-04</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4/5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78593"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47"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288009"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49" name="Tick"/>
          <p:cNvSpPr/>
          <p:nvPr/>
        </p:nvSpPr>
        <p:spPr>
          <a:xfrm>
            <a:off x="9211041"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Footbridge Taman Botani Perdana]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i="1" dirty="0">
                <a:solidFill>
                  <a:schemeClr val="tx1">
                    <a:lumMod val="85000"/>
                    <a:lumOff val="15000"/>
                  </a:schemeClr>
                </a:solidFill>
              </a:rPr>
              <a:t>Footbridge</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Jambatan kecil untuk laluan pejalan kaki melintasi</a:t>
            </a:r>
          </a:p>
          <a:p>
            <a:pPr/>
            <a:r>
              <a:rPr lang="en-MY" sz="1250" dirty="0">
                <a:solidFill>
                  <a:schemeClr val="tx1">
                    <a:lumMod val="85000"/>
                    <a:lumOff val="15000"/>
                  </a:schemeClr>
                </a:solidFill>
              </a:rPr>
              <a:t>aliran air atau longkang besar.</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i="1" dirty="0">
                <a:solidFill>
                  <a:schemeClr val="tx1">
                    <a:lumMod val="85000"/>
                    <a:lumOff val="15000"/>
                  </a:schemeClr>
                </a:solidFill>
              </a:rPr>
              <a:t>Footbridge</a:t>
            </a:r>
            <a:r>
              <a:rPr lang="en-MY" sz="1250" dirty="0">
                <a:solidFill>
                  <a:schemeClr val="tx1">
                    <a:lumMod val="85000"/>
                    <a:lumOff val="15000"/>
                  </a:schemeClr>
                </a:solidFill>
              </a:rPr>
              <a:t> Taman Botani Perdana</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a:t>
            </a:r>
            <a:r>
              <a:rPr lang="en-MY" sz="1050" i="1" dirty="0">
                <a:solidFill>
                  <a:schemeClr val="tx1">
                    <a:lumMod val="85000"/>
                    <a:lumOff val="15000"/>
                  </a:schemeClr>
                </a:solidFill>
              </a:rPr>
              <a:t>Footbridge</a:t>
            </a:r>
            <a:r>
              <a:rPr lang="en-MY" sz="1050" dirty="0">
                <a:solidFill>
                  <a:schemeClr val="tx1">
                    <a:lumMod val="85000"/>
                    <a:lumOff val="15000"/>
                  </a:schemeClr>
                </a:solidFill>
              </a:rPr>
              <a:t> Taman Botani Perdana]</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K5-PL06-T03-B02-STRUKTUR-PERSISIR-AIR-ROW-05</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II_STRUKTUR_PERSISIR_AIR_EX05  &lt;-  K5-PL06-T03-B02-STRUKTUR-PERSISIR-AIR-ROW-05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5/5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78593"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47"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288009"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49" name="Tick"/>
          <p:cNvSpPr/>
          <p:nvPr/>
        </p:nvSpPr>
        <p:spPr>
          <a:xfrm>
            <a:off x="9211041"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all examples viewed, Kembali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examples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K5-PL06-T03-B02-STRUKTUR-PERSISIR-AIR-ROW-01</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K5-PL06-T03-B02-STRUKTUR-PERSISIR-AIR-ROW-02</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K5-PL06-T03-B02-STRUKTUR-PERSISIR-AIR-ROW-03</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K5-PL06-T03-B02-STRUKTUR-PERSISIR-AIR-ROW-04</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K5-PL06-T03-B02-STRUKTUR-PERSISIR-AIR-ROW-05</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II_STRUKTUR_PERSISIR_AIR_EX01  &lt;-  K5-PL06-T03-B02-STRUKTUR-PERSISIR-AIR-ROW-01</a:t>
            </a:r>
          </a:p>
          <a:p>
            <a:r>
              <a:rPr lang="en-MY" sz="900" dirty="0">
                <a:solidFill>
                  <a:schemeClr val="tx1">
                    <a:lumMod val="85000"/>
                    <a:lumOff val="15000"/>
                  </a:schemeClr>
                </a:solidFill>
              </a:rPr>
              <a:t>  II_STRUKTUR_PERSISIR_AIR_EX02  &lt;-  K5-PL06-T03-B02-STRUKTUR-PERSISIR-AIR-ROW-02</a:t>
            </a:r>
          </a:p>
          <a:p>
            <a:r>
              <a:rPr lang="en-MY" sz="900" dirty="0">
                <a:solidFill>
                  <a:schemeClr val="tx1">
                    <a:lumMod val="85000"/>
                    <a:lumOff val="15000"/>
                  </a:schemeClr>
                </a:solidFill>
              </a:rPr>
              <a:t>  II_STRUKTUR_PERSISIR_AIR_EX03  &lt;-  K5-PL06-T03-B02-STRUKTUR-PERSISIR-AIR-ROW-03</a:t>
            </a:r>
          </a:p>
          <a:p>
            <a:r>
              <a:rPr lang="en-MY" sz="900" dirty="0">
                <a:solidFill>
                  <a:schemeClr val="tx1">
                    <a:lumMod val="85000"/>
                    <a:lumOff val="15000"/>
                  </a:schemeClr>
                </a:solidFill>
              </a:rPr>
              <a:t>  II_STRUKTUR_PERSISIR_AIR_EX04  &lt;-  K5-PL06-T03-B02-STRUKTUR-PERSISIR-AIR-ROW-04</a:t>
            </a:r>
          </a:p>
          <a:p>
            <a:r>
              <a:rPr lang="en-MY" sz="900" dirty="0">
                <a:solidFill>
                  <a:schemeClr val="tx1">
                    <a:lumMod val="85000"/>
                    <a:lumOff val="15000"/>
                  </a:schemeClr>
                </a:solidFill>
              </a:rPr>
              <a:t>  II_STRUKTUR_PERSISIR_AIR_EX05  &lt;-  K5-PL06-T03-B02-STRUKTUR-PERSISIR-AIR-ROW-05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5/5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B02-D-07</a:t>
            </a:r>
          </a:p>
          <a:p>
            <a:r>
              <a:rPr lang="en-MY" sz="900" dirty="0">
                <a:solidFill>
                  <a:schemeClr val="tx1">
                    <a:lumMod val="85000"/>
                    <a:lumOff val="15000"/>
                  </a:schemeClr>
                </a:solidFill>
              </a:rPr>
              <a:t>STATUS BELUM SELESAI: NONE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0" name="Head"/>
          <p:cNvSpPr txBox="1"/>
          <p:nvPr/>
        </p:nvSpPr>
        <p:spPr>
          <a:xfrm>
            <a:off x="723930" y="1188720"/>
            <a:ext cx="10744200" cy="420624"/>
          </a:xfrm>
          <a:prstGeom prst="rect">
            <a:avLst/>
          </a:prstGeom>
          <a:noFill/>
        </p:spPr>
        <p:txBody>
          <a:bodyPr wrap="square">
            <a:noAutofit/>
          </a:bodyPr>
          <a:lstStyle/>
          <a:p>
            <a:pPr/>
            <a:r>
              <a:rPr lang="en-MY" sz="2000" b="1" dirty="0">
                <a:solidFill>
                  <a:schemeClr val="tx1">
                    <a:lumMod val="85000"/>
                    <a:lumOff val="15000"/>
                  </a:schemeClr>
                </a:solidFill>
              </a:rPr>
              <a:t>Struktur Teduhan</a:t>
            </a:r>
          </a:p>
        </p:txBody>
      </p:sp>
      <p:sp>
        <p:nvSpPr>
          <p:cNvPr id="22" name="Body"/>
          <p:cNvSpPr txBox="1"/>
          <p:nvPr/>
        </p:nvSpPr>
        <p:spPr>
          <a:xfrm>
            <a:off x="723930" y="1755648"/>
            <a:ext cx="10744200" cy="310896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Perlindungan daripada matahari dan hujan</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Mewujudkan ruang selesa untuk bersantai atau berinteraksi</a:t>
            </a:r>
          </a:p>
        </p:txBody>
      </p:sp>
      <p:sp>
        <p:nvSpPr>
          <p:cNvPr id="30" name="VisualDir"/>
          <p:cNvSpPr txBox="1"/>
          <p:nvPr/>
        </p:nvSpPr>
        <p:spPr>
          <a:xfrm>
            <a:off x="723930" y="5074920"/>
            <a:ext cx="10744200" cy="365760"/>
          </a:xfrm>
          <a:prstGeom prst="rect">
            <a:avLst/>
          </a:prstGeom>
          <a:noFill/>
        </p:spPr>
        <p:txBody>
          <a:bodyPr wrap="square">
            <a:noAutofit/>
          </a:bodyPr>
          <a:lstStyle/>
          <a:p>
            <a:pPr/>
            <a:r>
              <a:rPr lang="en-MY" sz="1100" dirty="0">
                <a:solidFill>
                  <a:srgbClr val="808080"/>
                </a:solidFill>
              </a:rPr>
              <a:t>[Visual: Rajah 24 — Contoh Pergola, modul ms 240.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Teduhan — penerangan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COMPONENT_MAIN_BASE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main explanation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SCR_STRUKTUR_TEDUHAN_MAIN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Kemajuan melalui shell LMS.</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ItemCard"/>
          <p:cNvSpPr txBox="1"/>
          <p:nvPr/>
        </p:nvSpPr>
        <p:spPr>
          <a:xfrm>
            <a:off x="4433301"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Wakaf</a:t>
            </a:r>
          </a:p>
        </p:txBody>
      </p:sp>
      <p:sp>
        <p:nvSpPr>
          <p:cNvPr id="42"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3" name="ItemCard"/>
          <p:cNvSpPr txBox="1"/>
          <p:nvPr/>
        </p:nvSpPr>
        <p:spPr>
          <a:xfrm>
            <a:off x="2578593"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4"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selection, none viewed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[component_complete[STRUKTUR_TEDUHAN]]</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K5-PL06-T03-B02-STRUKTUR-TEDUHAN-ROW-01</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K5-PL06-T03-B02-STRUKTUR-TEDUHAN-ROW-02</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K5-PL06-T03-B02-STRUKTUR-TEDUHAN-ROW-03</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K5-PL06-T03-B02-STRUKTUR-TEDUHAN-ROW-04</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K5-PL06-T03-B02-STRUKTUR-TEDUHAN-ROW-05</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II_STRUKTUR_TEDUHAN_EX01  &lt;-  K5-PL06-T03-B02-STRUKTUR-TEDUHAN-ROW-01</a:t>
            </a:r>
          </a:p>
          <a:p>
            <a:r>
              <a:rPr lang="en-MY" sz="900" dirty="0">
                <a:solidFill>
                  <a:schemeClr val="tx1">
                    <a:lumMod val="85000"/>
                    <a:lumOff val="15000"/>
                  </a:schemeClr>
                </a:solidFill>
              </a:rPr>
              <a:t>  II_STRUKTUR_TEDUHAN_EX02  &lt;-  K5-PL06-T03-B02-STRUKTUR-TEDUHAN-ROW-02</a:t>
            </a:r>
          </a:p>
          <a:p>
            <a:r>
              <a:rPr lang="en-MY" sz="900" dirty="0">
                <a:solidFill>
                  <a:schemeClr val="tx1">
                    <a:lumMod val="85000"/>
                    <a:lumOff val="15000"/>
                  </a:schemeClr>
                </a:solidFill>
              </a:rPr>
              <a:t>  II_STRUKTUR_TEDUHAN_EX03  &lt;-  K5-PL06-T03-B02-STRUKTUR-TEDUHAN-ROW-03</a:t>
            </a:r>
          </a:p>
          <a:p>
            <a:r>
              <a:rPr lang="en-MY" sz="900" dirty="0">
                <a:solidFill>
                  <a:schemeClr val="tx1">
                    <a:lumMod val="85000"/>
                    <a:lumOff val="15000"/>
                  </a:schemeClr>
                </a:solidFill>
              </a:rPr>
              <a:t>  II_STRUKTUR_TEDUHAN_EX04  &lt;-  K5-PL06-T03-B02-STRUKTUR-TEDUHAN-ROW-04</a:t>
            </a:r>
          </a:p>
          <a:p>
            <a:r>
              <a:rPr lang="en-MY" sz="900" dirty="0">
                <a:solidFill>
                  <a:schemeClr val="tx1">
                    <a:lumMod val="85000"/>
                    <a:lumOff val="15000"/>
                  </a:schemeClr>
                </a:solidFill>
              </a:rPr>
              <a:t>  II_STRUKTUR_TEDUHAN_EX05  &lt;-  K5-PL06-T03-B02-STRUKTUR-TEDUHAN-ROW-05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0/5 contoh dilihat.</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EXAMPLE_SELECTION_SCREEN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frozen exemplar slide 12 shows none; transcript rule is qualified 'where an example visual is presented'</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4" name="ItemCard"/>
          <p:cNvSpPr txBox="1"/>
          <p:nvPr/>
        </p:nvSpPr>
        <p:spPr>
          <a:xfrm>
            <a:off x="2578593"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5"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Taman Tasik Shah Alam]</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Gazebo</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Struktur berbumbung terbuka untuk bersantai atau</a:t>
            </a:r>
          </a:p>
          <a:p>
            <a:pPr/>
            <a:r>
              <a:rPr lang="en-MY" sz="1250" dirty="0">
                <a:solidFill>
                  <a:schemeClr val="tx1">
                    <a:lumMod val="85000"/>
                    <a:lumOff val="15000"/>
                  </a:schemeClr>
                </a:solidFill>
              </a:rPr>
              <a:t>menikmati pemandangan.</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dirty="0">
                <a:solidFill>
                  <a:schemeClr val="tx1">
                    <a:lumMod val="85000"/>
                    <a:lumOff val="15000"/>
                  </a:schemeClr>
                </a:solidFill>
              </a:rPr>
              <a:t>Taman Tasik Shah Alam</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Taman Tasik Shah Alam]</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K5-PL06-T03-B02-STRUKTUR-TEDUHAN-ROW-01</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II_STRUKTUR_TEDUHAN_EX01  &lt;-  K5-PL06-T03-B02-STRUKTUR-TEDUHAN-ROW-01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1/5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5" name="ItemCard"/>
          <p:cNvSpPr txBox="1"/>
          <p:nvPr/>
        </p:nvSpPr>
        <p:spPr>
          <a:xfrm>
            <a:off x="2578593"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6"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Wakaf di Taman Desa, KL]</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Wakaf</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Struktur tradisional Melayu yang digunakan sebagai</a:t>
            </a:r>
          </a:p>
          <a:p>
            <a:pPr/>
            <a:r>
              <a:rPr lang="en-MY" sz="1250" dirty="0">
                <a:solidFill>
                  <a:schemeClr val="tx1">
                    <a:lumMod val="85000"/>
                    <a:lumOff val="15000"/>
                  </a:schemeClr>
                </a:solidFill>
              </a:rPr>
              <a:t>tempat berehat.</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dirty="0">
                <a:solidFill>
                  <a:schemeClr val="tx1">
                    <a:lumMod val="85000"/>
                    <a:lumOff val="15000"/>
                  </a:schemeClr>
                </a:solidFill>
              </a:rPr>
              <a:t>Wakaf di Taman Desa, KL</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Wakaf di Taman Desa, KL]</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K5-PL06-T03-B02-STRUKTUR-TEDUHAN-ROW-02</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II_STRUKTUR_TEDUHAN_EX02  &lt;-  K5-PL06-T03-B02-STRUKTUR-TEDUHAN-ROW-02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2/5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78593"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7"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Rajah 24 — Contoh Pergola, modul ms 240. Aset K5PL06T03-B02-IMG-p240-x23.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Pergola</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Rangka struktur terbuka yang biasanya ditumbuhi tanaman</a:t>
            </a:r>
          </a:p>
          <a:p>
            <a:pPr/>
            <a:r>
              <a:rPr lang="en-MY" sz="1250" dirty="0">
                <a:solidFill>
                  <a:schemeClr val="tx1">
                    <a:lumMod val="85000"/>
                    <a:lumOff val="15000"/>
                  </a:schemeClr>
                </a:solidFill>
              </a:rPr>
              <a:t>pemanjat seperti bougainvillea.</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dirty="0">
                <a:solidFill>
                  <a:schemeClr val="tx1">
                    <a:lumMod val="85000"/>
                    <a:lumOff val="15000"/>
                  </a:schemeClr>
                </a:solidFill>
              </a:rPr>
              <a:t>Pergola di Laman Herba Putrajaya</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676656"/>
          </a:xfrm>
          <a:prstGeom prst="rect">
            <a:avLst/>
          </a:prstGeom>
          <a:noFill/>
        </p:spPr>
        <p:txBody>
          <a:bodyPr wrap="square">
            <a:noAutofit/>
          </a:bodyPr>
          <a:lstStyle/>
          <a:p>
            <a:pPr/>
            <a:r>
              <a:rPr lang="en-MY" sz="1050" dirty="0">
                <a:solidFill>
                  <a:schemeClr val="tx1">
                    <a:lumMod val="85000"/>
                    <a:lumOff val="15000"/>
                  </a:schemeClr>
                </a:solidFill>
              </a:rPr>
              <a:t>[Visual: Rajah 24 — Contoh Pergola, modul ms</a:t>
            </a:r>
          </a:p>
          <a:p>
            <a:pPr/>
            <a:r>
              <a:rPr lang="en-MY" sz="1050" dirty="0">
                <a:solidFill>
                  <a:schemeClr val="tx1">
                    <a:lumMod val="85000"/>
                    <a:lumOff val="15000"/>
                  </a:schemeClr>
                </a:solidFill>
              </a:rPr>
              <a:t>240. Aset K5PL06T03-B02-IMG-p240-x23. Tidak</a:t>
            </a:r>
          </a:p>
          <a:p>
            <a:pPr/>
            <a:r>
              <a:rPr lang="en-MY" sz="1050" dirty="0">
                <a:solidFill>
                  <a:schemeClr val="tx1">
                    <a:lumMod val="85000"/>
                    <a:lumOff val="15000"/>
                  </a:schemeClr>
                </a:solidFill>
              </a:rPr>
              <a:t>dibenamkan.]</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K5-PL06-T03-B02-STRUKTUR-TEDUHAN-ROW-03</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K5PL06T03-B02-IMG-p240-x23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II_STRUKTUR_TEDUHAN_EX03  &lt;-  K5-PL06-T03-B02-STRUKTUR-TEDUHAN-ROW-03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78593"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Canopy</a:t>
            </a:r>
          </a:p>
        </p:txBody>
      </p:sp>
      <p:sp>
        <p:nvSpPr>
          <p:cNvPr id="47"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Canopy rekreasi di Taman Jaya]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Canopy</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Struktur kain atau polikarbonat ringan untuk teduhan</a:t>
            </a:r>
          </a:p>
          <a:p>
            <a:pPr/>
            <a:r>
              <a:rPr lang="en-MY" sz="1250" dirty="0">
                <a:solidFill>
                  <a:schemeClr val="tx1">
                    <a:lumMod val="85000"/>
                    <a:lumOff val="15000"/>
                  </a:schemeClr>
                </a:solidFill>
              </a:rPr>
              <a:t>kawasan aktiviti</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dirty="0">
                <a:solidFill>
                  <a:schemeClr val="tx1">
                    <a:lumMod val="85000"/>
                    <a:lumOff val="15000"/>
                  </a:schemeClr>
                </a:solidFill>
              </a:rPr>
              <a:t>Canopy rekreasi di Taman Jaya</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Canopy rekreasi di Taman Jaya]</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K5-PL06-T03-B02-STRUKTUR-TEDUHAN-ROW-04</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II_STRUKTUR_TEDUHAN_EX04  &lt;-  K5-PL06-T03-B02-STRUKTUR-TEDUHAN-ROW-04</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4/5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78593"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Canopy</a:t>
            </a:r>
          </a:p>
        </p:txBody>
      </p:sp>
      <p:sp>
        <p:nvSpPr>
          <p:cNvPr id="47"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288009"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49" name="Tick"/>
          <p:cNvSpPr/>
          <p:nvPr/>
        </p:nvSpPr>
        <p:spPr>
          <a:xfrm>
            <a:off x="9211041"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Banyak kawasan awam di Putrajaya]</a:t>
            </a:r>
          </a:p>
        </p:txBody>
      </p:sp>
      <p:sp>
        <p:nvSpPr>
          <p:cNvPr id="200" name="PopupPanel"/>
          <p:cNvSpPr txBox="1"/>
          <p:nvPr/>
        </p:nvSpPr>
        <p:spPr>
          <a:xfrm>
            <a:off x="1234440" y="1481328"/>
            <a:ext cx="9723090" cy="2830068"/>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Struktur Teduhan Moden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859536"/>
          </a:xfrm>
          <a:prstGeom prst="rect">
            <a:avLst/>
          </a:prstGeom>
          <a:noFill/>
        </p:spPr>
        <p:txBody>
          <a:bodyPr wrap="square">
            <a:noAutofit/>
          </a:bodyPr>
          <a:lstStyle/>
          <a:p>
            <a:pPr/>
            <a:r>
              <a:rPr lang="en-MY" sz="1250" dirty="0">
                <a:solidFill>
                  <a:schemeClr val="tx1">
                    <a:lumMod val="85000"/>
                    <a:lumOff val="15000"/>
                  </a:schemeClr>
                </a:solidFill>
              </a:rPr>
              <a:t>Struktur teduhan dengan reka bentuk kontemporari,</a:t>
            </a:r>
          </a:p>
          <a:p>
            <a:pPr/>
            <a:r>
              <a:rPr lang="en-MY" sz="1250" dirty="0">
                <a:solidFill>
                  <a:schemeClr val="tx1">
                    <a:lumMod val="85000"/>
                    <a:lumOff val="15000"/>
                  </a:schemeClr>
                </a:solidFill>
              </a:rPr>
              <a:t>menggunakan bahan seperti keluli dan panel lutsinar</a:t>
            </a:r>
          </a:p>
          <a:p>
            <a:pPr/>
            <a:r>
              <a:rPr lang="en-MY" sz="1250" dirty="0">
                <a:solidFill>
                  <a:schemeClr val="tx1">
                    <a:lumMod val="85000"/>
                    <a:lumOff val="15000"/>
                  </a:schemeClr>
                </a:solidFill>
              </a:rPr>
              <a:t>atau berlubang untuk mencipta corak cahaya dan</a:t>
            </a:r>
          </a:p>
          <a:p>
            <a:pPr/>
            <a:r>
              <a:rPr lang="en-MY" sz="1250" dirty="0">
                <a:solidFill>
                  <a:schemeClr val="tx1">
                    <a:lumMod val="85000"/>
                    <a:lumOff val="15000"/>
                  </a:schemeClr>
                </a:solidFill>
              </a:rPr>
              <a:t>bayangan.</a:t>
            </a:r>
          </a:p>
        </p:txBody>
      </p:sp>
      <p:sp>
        <p:nvSpPr>
          <p:cNvPr id="212" name="FHead"/>
          <p:cNvSpPr txBox="1"/>
          <p:nvPr/>
        </p:nvSpPr>
        <p:spPr>
          <a:xfrm>
            <a:off x="1490472" y="3474720"/>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712464"/>
            <a:ext cx="5532120" cy="219456"/>
          </a:xfrm>
          <a:prstGeom prst="rect">
            <a:avLst/>
          </a:prstGeom>
          <a:noFill/>
        </p:spPr>
        <p:txBody>
          <a:bodyPr wrap="square">
            <a:noAutofit/>
          </a:bodyPr>
          <a:lstStyle/>
          <a:p>
            <a:pPr/>
            <a:r>
              <a:rPr lang="en-MY" sz="1250" dirty="0">
                <a:solidFill>
                  <a:schemeClr val="tx1">
                    <a:lumMod val="85000"/>
                    <a:lumOff val="15000"/>
                  </a:schemeClr>
                </a:solidFill>
              </a:rPr>
              <a:t>Banyak kawasan awam di Putrajaya</a:t>
            </a:r>
          </a:p>
        </p:txBody>
      </p:sp>
      <p:sp>
        <p:nvSpPr>
          <p:cNvPr id="230" name="VisualPanel"/>
          <p:cNvSpPr txBox="1"/>
          <p:nvPr/>
        </p:nvSpPr>
        <p:spPr>
          <a:xfrm>
            <a:off x="7287768" y="2157984"/>
            <a:ext cx="3401568" cy="1915668"/>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Banyak kawasan awam di Putrajaya]</a:t>
            </a:r>
          </a:p>
        </p:txBody>
      </p:sp>
      <p:sp>
        <p:nvSpPr>
          <p:cNvPr id="233" name="VisualPanelArea"/>
          <p:cNvSpPr txBox="1"/>
          <p:nvPr/>
        </p:nvSpPr>
        <p:spPr>
          <a:xfrm>
            <a:off x="7452360" y="3799332"/>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K5-PL06-T03-B02-STRUKTUR-TEDUHAN-ROW-05</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II_STRUKTUR_TEDUHAN_EX05  &lt;-  K5-PL06-T03-B02-STRUKTUR-TEDUHAN-ROW-05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5/5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78593"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Canopy</a:t>
            </a:r>
          </a:p>
        </p:txBody>
      </p:sp>
      <p:sp>
        <p:nvSpPr>
          <p:cNvPr id="47"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288009"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49" name="Tick"/>
          <p:cNvSpPr/>
          <p:nvPr/>
        </p:nvSpPr>
        <p:spPr>
          <a:xfrm>
            <a:off x="9211041"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all examples viewed, Kembali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examples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K5-PL06-T03-B02-STRUKTUR-TEDUHAN-ROW-01</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K5-PL06-T03-B02-STRUKTUR-TEDUHAN-ROW-02</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K5-PL06-T03-B02-STRUKTUR-TEDUHAN-ROW-03</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K5-PL06-T03-B02-STRUKTUR-TEDUHAN-ROW-04</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K5-PL06-T03-B02-STRUKTUR-TEDUHAN-ROW-05</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II_STRUKTUR_TEDUHAN_EX01  &lt;-  K5-PL06-T03-B02-STRUKTUR-TEDUHAN-ROW-01</a:t>
            </a:r>
          </a:p>
          <a:p>
            <a:r>
              <a:rPr lang="en-MY" sz="900" dirty="0">
                <a:solidFill>
                  <a:schemeClr val="tx1">
                    <a:lumMod val="85000"/>
                    <a:lumOff val="15000"/>
                  </a:schemeClr>
                </a:solidFill>
              </a:rPr>
              <a:t>  II_STRUKTUR_TEDUHAN_EX02  &lt;-  K5-PL06-T03-B02-STRUKTUR-TEDUHAN-ROW-02</a:t>
            </a:r>
          </a:p>
          <a:p>
            <a:r>
              <a:rPr lang="en-MY" sz="900" dirty="0">
                <a:solidFill>
                  <a:schemeClr val="tx1">
                    <a:lumMod val="85000"/>
                    <a:lumOff val="15000"/>
                  </a:schemeClr>
                </a:solidFill>
              </a:rPr>
              <a:t>  II_STRUKTUR_TEDUHAN_EX03  &lt;-  K5-PL06-T03-B02-STRUKTUR-TEDUHAN-ROW-03</a:t>
            </a:r>
          </a:p>
          <a:p>
            <a:r>
              <a:rPr lang="en-MY" sz="900" dirty="0">
                <a:solidFill>
                  <a:schemeClr val="tx1">
                    <a:lumMod val="85000"/>
                    <a:lumOff val="15000"/>
                  </a:schemeClr>
                </a:solidFill>
              </a:rPr>
              <a:t>  II_STRUKTUR_TEDUHAN_EX04  &lt;-  K5-PL06-T03-B02-STRUKTUR-TEDUHAN-ROW-04</a:t>
            </a:r>
          </a:p>
          <a:p>
            <a:r>
              <a:rPr lang="en-MY" sz="900" dirty="0">
                <a:solidFill>
                  <a:schemeClr val="tx1">
                    <a:lumMod val="85000"/>
                    <a:lumOff val="15000"/>
                  </a:schemeClr>
                </a:solidFill>
              </a:rPr>
              <a:t>  II_STRUKTUR_TEDUHAN_EX05  &lt;-  K5-PL06-T03-B02-STRUKTUR-TEDUHAN-ROW-05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5/5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B02-D-07</a:t>
            </a:r>
          </a:p>
          <a:p>
            <a:r>
              <a:rPr lang="en-MY" sz="900" dirty="0">
                <a:solidFill>
                  <a:schemeClr val="tx1">
                    <a:lumMod val="85000"/>
                    <a:lumOff val="15000"/>
                  </a:schemeClr>
                </a:solidFill>
              </a:rPr>
              <a:t>STATUS BELUM SELESAI: NONE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0" name="Head"/>
          <p:cNvSpPr txBox="1"/>
          <p:nvPr/>
        </p:nvSpPr>
        <p:spPr>
          <a:xfrm>
            <a:off x="723930" y="1188720"/>
            <a:ext cx="10744200" cy="420624"/>
          </a:xfrm>
          <a:prstGeom prst="rect">
            <a:avLst/>
          </a:prstGeom>
          <a:noFill/>
        </p:spPr>
        <p:txBody>
          <a:bodyPr wrap="square">
            <a:noAutofit/>
          </a:bodyPr>
          <a:lstStyle/>
          <a:p>
            <a:pPr/>
            <a:r>
              <a:rPr lang="en-MY" sz="2000" b="1" dirty="0">
                <a:solidFill>
                  <a:schemeClr val="tx1">
                    <a:lumMod val="85000"/>
                    <a:lumOff val="15000"/>
                  </a:schemeClr>
                </a:solidFill>
              </a:rPr>
              <a:t>Kemudahan Awam</a:t>
            </a:r>
          </a:p>
        </p:txBody>
      </p:sp>
      <p:sp>
        <p:nvSpPr>
          <p:cNvPr id="22" name="Body"/>
          <p:cNvSpPr txBox="1"/>
          <p:nvPr/>
        </p:nvSpPr>
        <p:spPr>
          <a:xfrm>
            <a:off x="723930" y="1755648"/>
            <a:ext cx="10744200" cy="310896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Perkhidmatan asas untuk keselesaan dan pendidikan pengguna taman</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Reka bentuk berfungsi, tahan lasak dan mudah diselenggara</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Aksesibiliti OKU satu pertimbangan penting</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Bahan tahan vandalisme dan cuaca</a:t>
            </a:r>
          </a:p>
        </p:txBody>
      </p:sp>
      <p:sp>
        <p:nvSpPr>
          <p:cNvPr id="30" name="VisualDir"/>
          <p:cNvSpPr txBox="1"/>
          <p:nvPr/>
        </p:nvSpPr>
        <p:spPr>
          <a:xfrm>
            <a:off x="723930" y="5074920"/>
            <a:ext cx="10744200" cy="621792"/>
          </a:xfrm>
          <a:prstGeom prst="rect">
            <a:avLst/>
          </a:prstGeom>
          <a:noFill/>
        </p:spPr>
        <p:txBody>
          <a:bodyPr wrap="square">
            <a:noAutofit/>
          </a:bodyPr>
          <a:lstStyle/>
          <a:p>
            <a:pPr/>
            <a:r>
              <a:rPr lang="en-MY" sz="1100" dirty="0">
                <a:solidFill>
                  <a:srgbClr val="808080"/>
                </a:solidFill>
              </a:rPr>
              <a:t>[Visual: TIADA IMEJ SUMBER — NO_DEDICATED_SOURCE_IMAGE. Cadangan rajah native: tiga sel berlabel Tandas Awam</a:t>
            </a:r>
          </a:p>
          <a:p>
            <a:pPr/>
            <a:r>
              <a:rPr lang="en-MY" sz="1100" dirty="0">
                <a:solidFill>
                  <a:srgbClr val="808080"/>
                </a:solidFill>
              </a:rPr>
              <a:t>| Surau | Bangunan Interpretatif. Tidak dilukis,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Kemudahan Awam — penerangan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COMPONENT_MAIN_BASE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main explanation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SCR_KEMUDAHAN_AWAM_MAIN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Kemajuan melalui shell LMS.</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ItemCard"/>
          <p:cNvSpPr txBox="1"/>
          <p:nvPr/>
        </p:nvSpPr>
        <p:spPr>
          <a:xfrm>
            <a:off x="4433301"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Surau</a:t>
            </a:r>
          </a:p>
        </p:txBody>
      </p:sp>
      <p:sp>
        <p:nvSpPr>
          <p:cNvPr id="42"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selection, none viewed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[component_complete[KEMUDAHAN_AWAM]]</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K5-PL06-T03-B02-KEMUDAHAN-AWAM-ROW-01</a:t>
            </a:r>
          </a:p>
          <a:p>
            <a:r>
              <a:rPr lang="en-MY" sz="900" dirty="0">
                <a:solidFill>
                  <a:schemeClr val="tx1">
                    <a:lumMod val="85000"/>
                    <a:lumOff val="15000"/>
                  </a:schemeClr>
                </a:solidFill>
              </a:rPr>
              <a:t>    ms 240 / fizikal 259</a:t>
            </a:r>
          </a:p>
          <a:p>
            <a:r>
              <a:rPr lang="en-MY" sz="900" dirty="0">
                <a:solidFill>
                  <a:schemeClr val="tx1">
                    <a:lumMod val="85000"/>
                    <a:lumOff val="15000"/>
                  </a:schemeClr>
                </a:solidFill>
              </a:rPr>
              <a:t>  K5-PL06-T03-B02-KEMUDAHAN-AWAM-ROW-02</a:t>
            </a:r>
          </a:p>
          <a:p>
            <a:r>
              <a:rPr lang="en-MY" sz="900" dirty="0">
                <a:solidFill>
                  <a:schemeClr val="tx1">
                    <a:lumMod val="85000"/>
                    <a:lumOff val="15000"/>
                  </a:schemeClr>
                </a:solidFill>
              </a:rPr>
              <a:t>    ms 240 / fizikal 259</a:t>
            </a:r>
          </a:p>
          <a:p>
            <a:r>
              <a:rPr lang="en-MY" sz="900" dirty="0">
                <a:solidFill>
                  <a:schemeClr val="tx1">
                    <a:lumMod val="85000"/>
                    <a:lumOff val="15000"/>
                  </a:schemeClr>
                </a:solidFill>
              </a:rPr>
              <a:t>  K5-PL06-T03-B02-KEMUDAHAN-AWAM-ROW-03</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II_KEMUDAHAN_AWAM_EX01  &lt;-  K5-PL06-T03-B02-KEMUDAHAN-AWAM-ROW-01</a:t>
            </a:r>
          </a:p>
          <a:p>
            <a:r>
              <a:rPr lang="en-MY" sz="900" dirty="0">
                <a:solidFill>
                  <a:schemeClr val="tx1">
                    <a:lumMod val="85000"/>
                    <a:lumOff val="15000"/>
                  </a:schemeClr>
                </a:solidFill>
              </a:rPr>
              <a:t>  II_KEMUDAHAN_AWAM_EX02  &lt;-  K5-PL06-T03-B02-KEMUDAHAN-AWAM-ROW-02</a:t>
            </a:r>
          </a:p>
          <a:p>
            <a:r>
              <a:rPr lang="en-MY" sz="900" dirty="0">
                <a:solidFill>
                  <a:schemeClr val="tx1">
                    <a:lumMod val="85000"/>
                    <a:lumOff val="15000"/>
                  </a:schemeClr>
                </a:solidFill>
              </a:rPr>
              <a:t>  II_KEMUDAHAN_AWAM_EX03  &lt;-  K5-PL06-T03-B02-KEMUDAHAN-AWAM-ROW-03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0/3 contoh dilihat.</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EXAMPLE_SELECTION_SCREEN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frozen exemplar slide 12 shows none; transcript rule is qualified 'where an example visual is presented'</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Surau</a:t>
            </a:r>
          </a:p>
        </p:txBody>
      </p:sp>
      <p:sp>
        <p:nvSpPr>
          <p:cNvPr id="43"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Tandas Awam]</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Tandas Awam</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644652"/>
          </a:xfrm>
          <a:prstGeom prst="rect">
            <a:avLst/>
          </a:prstGeom>
          <a:noFill/>
        </p:spPr>
        <p:txBody>
          <a:bodyPr wrap="square">
            <a:noAutofit/>
          </a:bodyPr>
          <a:lstStyle/>
          <a:p>
            <a:pPr/>
            <a:r>
              <a:rPr lang="en-MY" sz="1250" dirty="0">
                <a:solidFill>
                  <a:schemeClr val="tx1">
                    <a:lumMod val="85000"/>
                    <a:lumOff val="15000"/>
                  </a:schemeClr>
                </a:solidFill>
              </a:rPr>
              <a:t>Kemudahan sanitasi yang bersih dan boleh diakses.</a:t>
            </a:r>
          </a:p>
          <a:p>
            <a:pPr/>
            <a:r>
              <a:rPr lang="en-MY" sz="1250" dirty="0">
                <a:solidFill>
                  <a:schemeClr val="tx1">
                    <a:lumMod val="85000"/>
                    <a:lumOff val="15000"/>
                  </a:schemeClr>
                </a:solidFill>
              </a:rPr>
              <a:t>Pembinaannya perlu mematuhi piawaian kebersihan dan</a:t>
            </a:r>
          </a:p>
          <a:p>
            <a:pPr/>
            <a:r>
              <a:rPr lang="en-MY" sz="1250" dirty="0">
                <a:solidFill>
                  <a:schemeClr val="tx1">
                    <a:lumMod val="85000"/>
                    <a:lumOff val="15000"/>
                  </a:schemeClr>
                </a:solidFill>
              </a:rPr>
              <a:t>mempunyai sistem bekalan air serta saliran yang cekap.</a:t>
            </a:r>
          </a:p>
        </p:txBody>
      </p:sp>
      <p:sp>
        <p:nvSpPr>
          <p:cNvPr id="212" name="FHead"/>
          <p:cNvSpPr txBox="1"/>
          <p:nvPr/>
        </p:nvSpPr>
        <p:spPr>
          <a:xfrm>
            <a:off x="1490472" y="3259836"/>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497580"/>
            <a:ext cx="5532120" cy="219456"/>
          </a:xfrm>
          <a:prstGeom prst="rect">
            <a:avLst/>
          </a:prstGeom>
          <a:noFill/>
        </p:spPr>
        <p:txBody>
          <a:bodyPr wrap="square">
            <a:noAutofit/>
          </a:bodyPr>
          <a:lstStyle/>
          <a:p>
            <a:pPr/>
            <a:r>
              <a:rPr lang="en-MY" sz="1250" dirty="0">
                <a:solidFill>
                  <a:schemeClr val="tx1">
                    <a:lumMod val="85000"/>
                    <a:lumOff val="15000"/>
                  </a:schemeClr>
                </a:solidFill>
              </a:rPr>
              <a:t>Tandas Awam</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Tandas Awam]</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SCR_KEMUDAHAN_AWAM_EXAMPLES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K5-PL06-T03-B02-KEMUDAHAN-AWAM-ROW-01</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II_KEMUDAHAN_AWAM_EX01  &lt;-  K5-PL06-T03-B02-KEMUDAHAN-AWAM-ROW-01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1/3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Surau</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Surau]</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Surau</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644652"/>
          </a:xfrm>
          <a:prstGeom prst="rect">
            <a:avLst/>
          </a:prstGeom>
          <a:noFill/>
        </p:spPr>
        <p:txBody>
          <a:bodyPr wrap="square">
            <a:noAutofit/>
          </a:bodyPr>
          <a:lstStyle/>
          <a:p>
            <a:pPr/>
            <a:r>
              <a:rPr lang="en-MY" sz="1250" dirty="0">
                <a:solidFill>
                  <a:schemeClr val="tx1">
                    <a:lumMod val="85000"/>
                    <a:lumOff val="15000"/>
                  </a:schemeClr>
                </a:solidFill>
              </a:rPr>
              <a:t>Ruang ibadah yang disediakan untuk umat Islam</a:t>
            </a:r>
          </a:p>
          <a:p>
            <a:pPr/>
            <a:r>
              <a:rPr lang="en-MY" sz="1250" dirty="0">
                <a:solidFill>
                  <a:schemeClr val="tx1">
                    <a:lumMod val="85000"/>
                    <a:lumOff val="15000"/>
                  </a:schemeClr>
                </a:solidFill>
              </a:rPr>
              <a:t>menunaikan solat. Reka bentuk biasanya ringkas tetapi</a:t>
            </a:r>
          </a:p>
          <a:p>
            <a:pPr/>
            <a:r>
              <a:rPr lang="en-MY" sz="1250" dirty="0">
                <a:solidFill>
                  <a:schemeClr val="tx1">
                    <a:lumMod val="85000"/>
                    <a:lumOff val="15000"/>
                  </a:schemeClr>
                </a:solidFill>
              </a:rPr>
              <a:t>memenuhi keperluan keagamaan.</a:t>
            </a:r>
          </a:p>
        </p:txBody>
      </p:sp>
      <p:sp>
        <p:nvSpPr>
          <p:cNvPr id="212" name="FHead"/>
          <p:cNvSpPr txBox="1"/>
          <p:nvPr/>
        </p:nvSpPr>
        <p:spPr>
          <a:xfrm>
            <a:off x="1490472" y="3259836"/>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497580"/>
            <a:ext cx="5532120" cy="219456"/>
          </a:xfrm>
          <a:prstGeom prst="rect">
            <a:avLst/>
          </a:prstGeom>
          <a:noFill/>
        </p:spPr>
        <p:txBody>
          <a:bodyPr wrap="square">
            <a:noAutofit/>
          </a:bodyPr>
          <a:lstStyle/>
          <a:p>
            <a:pPr/>
            <a:r>
              <a:rPr lang="en-MY" sz="1250" dirty="0">
                <a:solidFill>
                  <a:schemeClr val="tx1">
                    <a:lumMod val="85000"/>
                    <a:lumOff val="15000"/>
                  </a:schemeClr>
                </a:solidFill>
              </a:rPr>
              <a:t>Surau</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Surau]</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SCR_KEMUDAHAN_AWAM_EXAMPLES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K5-PL06-T03-B02-KEMUDAHAN-AWAM-ROW-02</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II_KEMUDAHAN_AWAM_EX02  &lt;-  K5-PL06-T03-B02-KEMUDAHAN-AWAM-ROW-02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2/3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Surau</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Bangunan Interpretatif]</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Bangunan Interpretatif</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644652"/>
          </a:xfrm>
          <a:prstGeom prst="rect">
            <a:avLst/>
          </a:prstGeom>
          <a:noFill/>
        </p:spPr>
        <p:txBody>
          <a:bodyPr wrap="square">
            <a:noAutofit/>
          </a:bodyPr>
          <a:lstStyle/>
          <a:p>
            <a:pPr/>
            <a:r>
              <a:rPr lang="en-MY" sz="1250" dirty="0">
                <a:solidFill>
                  <a:schemeClr val="tx1">
                    <a:lumMod val="85000"/>
                    <a:lumOff val="15000"/>
                  </a:schemeClr>
                </a:solidFill>
              </a:rPr>
              <a:t>Struktur yang menyediakan maklumat pendidikan tentang</a:t>
            </a:r>
          </a:p>
          <a:p>
            <a:pPr/>
            <a:r>
              <a:rPr lang="en-MY" sz="1250" dirty="0">
                <a:solidFill>
                  <a:schemeClr val="tx1">
                    <a:lumMod val="85000"/>
                    <a:lumOff val="15000"/>
                  </a:schemeClr>
                </a:solidFill>
              </a:rPr>
              <a:t>persekitaran (flora, fauna, sejarah, geologi) melalui</a:t>
            </a:r>
          </a:p>
          <a:p>
            <a:pPr/>
            <a:r>
              <a:rPr lang="en-MY" sz="1250" dirty="0">
                <a:solidFill>
                  <a:schemeClr val="tx1">
                    <a:lumMod val="85000"/>
                    <a:lumOff val="15000"/>
                  </a:schemeClr>
                </a:solidFill>
              </a:rPr>
              <a:t>pameran, paparan, atau papan tanda.</a:t>
            </a:r>
          </a:p>
        </p:txBody>
      </p:sp>
      <p:sp>
        <p:nvSpPr>
          <p:cNvPr id="212" name="FHead"/>
          <p:cNvSpPr txBox="1"/>
          <p:nvPr/>
        </p:nvSpPr>
        <p:spPr>
          <a:xfrm>
            <a:off x="1490472" y="3259836"/>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497580"/>
            <a:ext cx="5532120" cy="219456"/>
          </a:xfrm>
          <a:prstGeom prst="rect">
            <a:avLst/>
          </a:prstGeom>
          <a:noFill/>
        </p:spPr>
        <p:txBody>
          <a:bodyPr wrap="square">
            <a:noAutofit/>
          </a:bodyPr>
          <a:lstStyle/>
          <a:p>
            <a:pPr/>
            <a:r>
              <a:rPr lang="en-MY" sz="1250" dirty="0">
                <a:solidFill>
                  <a:schemeClr val="tx1">
                    <a:lumMod val="85000"/>
                    <a:lumOff val="15000"/>
                  </a:schemeClr>
                </a:solidFill>
              </a:rPr>
              <a:t>Bangunan Interpretatif</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Bangunan Interpretatif]</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SCR_KEMUDAHAN_AWAM_EXAMPLES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K5-PL06-T03-B02-KEMUDAHAN-AWAM-ROW-03</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II_KEMUDAHAN_AWAM_EX03  &lt;-  K5-PL06-T03-B02-KEMUDAHAN-AWAM-ROW-03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Surau</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all examples viewed, Kembali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examples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K5-PL06-T03-B02-KEMUDAHAN-AWAM-ROW-01</a:t>
            </a:r>
          </a:p>
          <a:p>
            <a:r>
              <a:rPr lang="en-MY" sz="900" dirty="0">
                <a:solidFill>
                  <a:schemeClr val="tx1">
                    <a:lumMod val="85000"/>
                    <a:lumOff val="15000"/>
                  </a:schemeClr>
                </a:solidFill>
              </a:rPr>
              <a:t>    ms 240 / fizikal 259</a:t>
            </a:r>
          </a:p>
          <a:p>
            <a:r>
              <a:rPr lang="en-MY" sz="900" dirty="0">
                <a:solidFill>
                  <a:schemeClr val="tx1">
                    <a:lumMod val="85000"/>
                    <a:lumOff val="15000"/>
                  </a:schemeClr>
                </a:solidFill>
              </a:rPr>
              <a:t>  K5-PL06-T03-B02-KEMUDAHAN-AWAM-ROW-02</a:t>
            </a:r>
          </a:p>
          <a:p>
            <a:r>
              <a:rPr lang="en-MY" sz="900" dirty="0">
                <a:solidFill>
                  <a:schemeClr val="tx1">
                    <a:lumMod val="85000"/>
                    <a:lumOff val="15000"/>
                  </a:schemeClr>
                </a:solidFill>
              </a:rPr>
              <a:t>    ms 240 / fizikal 259</a:t>
            </a:r>
          </a:p>
          <a:p>
            <a:r>
              <a:rPr lang="en-MY" sz="900" dirty="0">
                <a:solidFill>
                  <a:schemeClr val="tx1">
                    <a:lumMod val="85000"/>
                    <a:lumOff val="15000"/>
                  </a:schemeClr>
                </a:solidFill>
              </a:rPr>
              <a:t>  K5-PL06-T03-B02-KEMUDAHAN-AWAM-ROW-03</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II_KEMUDAHAN_AWAM_EX01  &lt;-  K5-PL06-T03-B02-KEMUDAHAN-AWAM-ROW-01</a:t>
            </a:r>
          </a:p>
          <a:p>
            <a:r>
              <a:rPr lang="en-MY" sz="900" dirty="0">
                <a:solidFill>
                  <a:schemeClr val="tx1">
                    <a:lumMod val="85000"/>
                    <a:lumOff val="15000"/>
                  </a:schemeClr>
                </a:solidFill>
              </a:rPr>
              <a:t>  II_KEMUDAHAN_AWAM_EX02  &lt;-  K5-PL06-T03-B02-KEMUDAHAN-AWAM-ROW-02</a:t>
            </a:r>
          </a:p>
          <a:p>
            <a:r>
              <a:rPr lang="en-MY" sz="900" dirty="0">
                <a:solidFill>
                  <a:schemeClr val="tx1">
                    <a:lumMod val="85000"/>
                    <a:lumOff val="15000"/>
                  </a:schemeClr>
                </a:solidFill>
              </a:rPr>
              <a:t>  II_KEMUDAHAN_AWAM_EX03  &lt;-  K5-PL06-T03-B02-KEMUDAHAN-AWAM-ROW-03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B02-D-07</a:t>
            </a:r>
          </a:p>
          <a:p>
            <a:r>
              <a:rPr lang="en-MY" sz="900" dirty="0">
                <a:solidFill>
                  <a:schemeClr val="tx1">
                    <a:lumMod val="85000"/>
                    <a:lumOff val="15000"/>
                  </a:schemeClr>
                </a:solidFill>
              </a:rPr>
              <a:t>STATUS BELUM SELESAI: NONE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0" name="Head"/>
          <p:cNvSpPr txBox="1"/>
          <p:nvPr/>
        </p:nvSpPr>
        <p:spPr>
          <a:xfrm>
            <a:off x="723930" y="1188720"/>
            <a:ext cx="10744200" cy="420624"/>
          </a:xfrm>
          <a:prstGeom prst="rect">
            <a:avLst/>
          </a:prstGeom>
          <a:noFill/>
        </p:spPr>
        <p:txBody>
          <a:bodyPr wrap="square">
            <a:noAutofit/>
          </a:bodyPr>
          <a:lstStyle/>
          <a:p>
            <a:pPr/>
            <a:r>
              <a:rPr lang="en-MY" sz="2000" b="1" i="1" dirty="0">
                <a:solidFill>
                  <a:schemeClr val="tx1">
                    <a:lumMod val="85000"/>
                    <a:lumOff val="15000"/>
                  </a:schemeClr>
                </a:solidFill>
              </a:rPr>
              <a:t>Water Feature</a:t>
            </a:r>
          </a:p>
        </p:txBody>
      </p:sp>
      <p:sp>
        <p:nvSpPr>
          <p:cNvPr id="22" name="Body"/>
          <p:cNvSpPr txBox="1"/>
          <p:nvPr/>
        </p:nvSpPr>
        <p:spPr>
          <a:xfrm>
            <a:off x="723930" y="1755648"/>
            <a:ext cx="10744200" cy="310896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Elemen landskap yang menggunakan air untuk estetika, bunyi atau titik tumpuan</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Perlu sistem paip, pam air, penapisan dan saliran yang betul</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Kawalan kualiti air termasuk pencegahan alga</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Keselamatan: kedalaman dan permukaan yang tidak licin</a:t>
            </a:r>
          </a:p>
        </p:txBody>
      </p:sp>
      <p:sp>
        <p:nvSpPr>
          <p:cNvPr id="30" name="VisualDir"/>
          <p:cNvSpPr txBox="1"/>
          <p:nvPr/>
        </p:nvSpPr>
        <p:spPr>
          <a:xfrm>
            <a:off x="723930" y="5074920"/>
            <a:ext cx="10744200" cy="621792"/>
          </a:xfrm>
          <a:prstGeom prst="rect">
            <a:avLst/>
          </a:prstGeom>
          <a:noFill/>
        </p:spPr>
        <p:txBody>
          <a:bodyPr wrap="square">
            <a:noAutofit/>
          </a:bodyPr>
          <a:lstStyle/>
          <a:p>
            <a:pPr/>
            <a:r>
              <a:rPr lang="en-MY" sz="1100" dirty="0">
                <a:solidFill>
                  <a:srgbClr val="808080"/>
                </a:solidFill>
              </a:rPr>
              <a:t>[Visual: TIADA IMEJ SUMBER — NO_DEDICATED_SOURCE_IMAGE. Cadangan rajah native: keratan rentas dengan pam,</a:t>
            </a:r>
          </a:p>
          <a:p>
            <a:pPr/>
            <a:r>
              <a:rPr lang="en-MY" sz="1100" dirty="0">
                <a:solidFill>
                  <a:srgbClr val="808080"/>
                </a:solidFill>
              </a:rPr>
              <a:t>penapis, paip dan saliran berlabel. Tidak dilukis,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Water Feature — penerangan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COMPONENT_MAIN_BASE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main explanation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SCR_WATER_FEATURE_MAIN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Kemajuan melalui shell LMS.</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ItemCard"/>
          <p:cNvSpPr txBox="1"/>
          <p:nvPr/>
        </p:nvSpPr>
        <p:spPr>
          <a:xfrm>
            <a:off x="4433301"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2"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selection, none viewed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[component_complete[WATER_FEATURE]]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K5-PL06-T03-B02-WATER-FEATURE-ROW-01</a:t>
            </a:r>
          </a:p>
          <a:p>
            <a:r>
              <a:rPr lang="en-MY" sz="900" dirty="0">
                <a:solidFill>
                  <a:schemeClr val="tx1">
                    <a:lumMod val="85000"/>
                    <a:lumOff val="15000"/>
                  </a:schemeClr>
                </a:solidFill>
              </a:rPr>
              <a:t>    ms 241 / fizikal 260</a:t>
            </a:r>
          </a:p>
          <a:p>
            <a:r>
              <a:rPr lang="en-MY" sz="900" dirty="0">
                <a:solidFill>
                  <a:schemeClr val="tx1">
                    <a:lumMod val="85000"/>
                    <a:lumOff val="15000"/>
                  </a:schemeClr>
                </a:solidFill>
              </a:rPr>
              <a:t>  K5-PL06-T03-B02-WATER-FEATURE-ROW-02</a:t>
            </a:r>
          </a:p>
          <a:p>
            <a:r>
              <a:rPr lang="en-MY" sz="900" dirty="0">
                <a:solidFill>
                  <a:schemeClr val="tx1">
                    <a:lumMod val="85000"/>
                    <a:lumOff val="15000"/>
                  </a:schemeClr>
                </a:solidFill>
              </a:rPr>
              <a:t>    ms 241 / fizikal 260</a:t>
            </a:r>
          </a:p>
          <a:p>
            <a:r>
              <a:rPr lang="en-MY" sz="900" dirty="0">
                <a:solidFill>
                  <a:schemeClr val="tx1">
                    <a:lumMod val="85000"/>
                    <a:lumOff val="15000"/>
                  </a:schemeClr>
                </a:solidFill>
              </a:rPr>
              <a:t>  K5-PL06-T03-B02-WATER-FEATURE-ROW-03</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II_WATER_FEATURE_EX01  &lt;-  K5-PL06-T03-B02-WATER-FEATURE-ROW-01</a:t>
            </a:r>
          </a:p>
          <a:p>
            <a:r>
              <a:rPr lang="en-MY" sz="900" dirty="0">
                <a:solidFill>
                  <a:schemeClr val="tx1">
                    <a:lumMod val="85000"/>
                    <a:lumOff val="15000"/>
                  </a:schemeClr>
                </a:solidFill>
              </a:rPr>
              <a:t>  II_WATER_FEATURE_EX02  &lt;-  K5-PL06-T03-B02-WATER-FEATURE-ROW-02</a:t>
            </a:r>
          </a:p>
          <a:p>
            <a:r>
              <a:rPr lang="en-MY" sz="900" dirty="0">
                <a:solidFill>
                  <a:schemeClr val="tx1">
                    <a:lumMod val="85000"/>
                    <a:lumOff val="15000"/>
                  </a:schemeClr>
                </a:solidFill>
              </a:rPr>
              <a:t>  II_WATER_FEATURE_EX03  &lt;-  K5-PL06-T03-B02-WATER-FEATURE-ROW-03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0/3 contoh dilihat.</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EXAMPLE_SELECTION_SCREEN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frozen exemplar slide 12 shows none; transcript rule is qualified 'where an example visual is presented'</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3"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Air Pancut (Fountain)]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Air Pancut (Fountain)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644652"/>
          </a:xfrm>
          <a:prstGeom prst="rect">
            <a:avLst/>
          </a:prstGeom>
          <a:noFill/>
        </p:spPr>
        <p:txBody>
          <a:bodyPr wrap="square">
            <a:noAutofit/>
          </a:bodyPr>
          <a:lstStyle/>
          <a:p>
            <a:pPr/>
            <a:r>
              <a:rPr lang="en-MY" sz="1250" dirty="0">
                <a:solidFill>
                  <a:schemeClr val="tx1">
                    <a:lumMod val="85000"/>
                    <a:lumOff val="15000"/>
                  </a:schemeClr>
                </a:solidFill>
              </a:rPr>
              <a:t>Struktur yang mengeluarkan air dalam corak tertentu,</a:t>
            </a:r>
          </a:p>
          <a:p>
            <a:pPr/>
            <a:r>
              <a:rPr lang="en-MY" sz="1250" dirty="0">
                <a:solidFill>
                  <a:schemeClr val="tx1">
                    <a:lumMod val="85000"/>
                    <a:lumOff val="15000"/>
                  </a:schemeClr>
                </a:solidFill>
              </a:rPr>
              <a:t>mewujudkan bunyi yang menenangkan dan pergerakan</a:t>
            </a:r>
          </a:p>
          <a:p>
            <a:pPr/>
            <a:r>
              <a:rPr lang="en-MY" sz="1250" dirty="0">
                <a:solidFill>
                  <a:schemeClr val="tx1">
                    <a:lumMod val="85000"/>
                    <a:lumOff val="15000"/>
                  </a:schemeClr>
                </a:solidFill>
              </a:rPr>
              <a:t>visual.</a:t>
            </a:r>
          </a:p>
        </p:txBody>
      </p:sp>
      <p:sp>
        <p:nvSpPr>
          <p:cNvPr id="212" name="FHead"/>
          <p:cNvSpPr txBox="1"/>
          <p:nvPr/>
        </p:nvSpPr>
        <p:spPr>
          <a:xfrm>
            <a:off x="1490472" y="3259836"/>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497580"/>
            <a:ext cx="5532120" cy="219456"/>
          </a:xfrm>
          <a:prstGeom prst="rect">
            <a:avLst/>
          </a:prstGeom>
          <a:noFill/>
        </p:spPr>
        <p:txBody>
          <a:bodyPr wrap="square">
            <a:noAutofit/>
          </a:bodyPr>
          <a:lstStyle/>
          <a:p>
            <a:pPr/>
            <a:r>
              <a:rPr lang="en-MY" sz="1250" dirty="0">
                <a:solidFill>
                  <a:schemeClr val="tx1">
                    <a:lumMod val="85000"/>
                    <a:lumOff val="15000"/>
                  </a:schemeClr>
                </a:solidFill>
              </a:rPr>
              <a:t>Air Pancut (Fountain)</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Air Pancut (Fountain)]</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SCR_WATER_FEATURE_EXAMPLES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K5-PL06-T03-B02-WATER-FEATURE-ROW-01</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II_WATER_FEATURE_EX01  &lt;-  K5-PL06-T03-B02-WATER-FEATURE-ROW-01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1/3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Kolam (Pond)]</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Kolam (Pond)</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Kawasan air statik atau perlahan, boleh menjadi kolam</a:t>
            </a:r>
          </a:p>
          <a:p>
            <a:pPr/>
            <a:r>
              <a:rPr lang="en-MY" sz="1250" dirty="0">
                <a:solidFill>
                  <a:schemeClr val="tx1">
                    <a:lumMod val="85000"/>
                    <a:lumOff val="15000"/>
                  </a:schemeClr>
                </a:solidFill>
              </a:rPr>
              <a:t>hiasan, kolam ikan, atau kolam refleksi.</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dirty="0">
                <a:solidFill>
                  <a:schemeClr val="tx1">
                    <a:lumMod val="85000"/>
                    <a:lumOff val="15000"/>
                  </a:schemeClr>
                </a:solidFill>
              </a:rPr>
              <a:t>Kolam (Pond)</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Kolam (Pond)]</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SCR_WATER_FEATURE_EXAMPLES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K5-PL06-T03-B02-WATER-FEATURE-ROW-02</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II_WATER_FEATURE_EX02  &lt;-  K5-PL06-T03-B02-WATER-FEATURE-ROW-02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2/3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Kolam Renang/Kolam Hiasan Besar(Pool)]</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Kolam Renang / Kolam Hiasan Besar (Pool)</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644652"/>
          </a:xfrm>
          <a:prstGeom prst="rect">
            <a:avLst/>
          </a:prstGeom>
          <a:noFill/>
        </p:spPr>
        <p:txBody>
          <a:bodyPr wrap="square">
            <a:noAutofit/>
          </a:bodyPr>
          <a:lstStyle/>
          <a:p>
            <a:pPr/>
            <a:r>
              <a:rPr lang="en-MY" sz="1250" dirty="0">
                <a:solidFill>
                  <a:schemeClr val="tx1">
                    <a:lumMod val="85000"/>
                    <a:lumOff val="15000"/>
                  </a:schemeClr>
                </a:solidFill>
              </a:rPr>
              <a:t>Kolam berskala lebih besar, sama ada untuk berenang</a:t>
            </a:r>
          </a:p>
          <a:p>
            <a:pPr/>
            <a:r>
              <a:rPr lang="en-MY" sz="1250" dirty="0">
                <a:solidFill>
                  <a:schemeClr val="tx1">
                    <a:lumMod val="85000"/>
                    <a:lumOff val="15000"/>
                  </a:schemeClr>
                </a:solidFill>
              </a:rPr>
              <a:t>atau sebagai kolam hiasan dengan ciri-ciri reka bentuk</a:t>
            </a:r>
          </a:p>
          <a:p>
            <a:pPr/>
            <a:r>
              <a:rPr lang="en-MY" sz="1250" dirty="0">
                <a:solidFill>
                  <a:schemeClr val="tx1">
                    <a:lumMod val="85000"/>
                    <a:lumOff val="15000"/>
                  </a:schemeClr>
                </a:solidFill>
              </a:rPr>
              <a:t>yang kompleks.</a:t>
            </a:r>
          </a:p>
        </p:txBody>
      </p:sp>
      <p:sp>
        <p:nvSpPr>
          <p:cNvPr id="212" name="FHead"/>
          <p:cNvSpPr txBox="1"/>
          <p:nvPr/>
        </p:nvSpPr>
        <p:spPr>
          <a:xfrm>
            <a:off x="1490472" y="3259836"/>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497580"/>
            <a:ext cx="5532120" cy="219456"/>
          </a:xfrm>
          <a:prstGeom prst="rect">
            <a:avLst/>
          </a:prstGeom>
          <a:noFill/>
        </p:spPr>
        <p:txBody>
          <a:bodyPr wrap="square">
            <a:noAutofit/>
          </a:bodyPr>
          <a:lstStyle/>
          <a:p>
            <a:pPr/>
            <a:r>
              <a:rPr lang="en-MY" sz="1250" dirty="0">
                <a:solidFill>
                  <a:schemeClr val="tx1">
                    <a:lumMod val="85000"/>
                    <a:lumOff val="15000"/>
                  </a:schemeClr>
                </a:solidFill>
              </a:rPr>
              <a:t>Kolam Renang/Kolam Hiasan Besar(Pool)</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475488"/>
          </a:xfrm>
          <a:prstGeom prst="rect">
            <a:avLst/>
          </a:prstGeom>
          <a:noFill/>
        </p:spPr>
        <p:txBody>
          <a:bodyPr wrap="square">
            <a:noAutofit/>
          </a:bodyPr>
          <a:lstStyle/>
          <a:p>
            <a:pPr/>
            <a:r>
              <a:rPr lang="en-MY" sz="1050" dirty="0">
                <a:solidFill>
                  <a:schemeClr val="tx1">
                    <a:lumMod val="85000"/>
                    <a:lumOff val="15000"/>
                  </a:schemeClr>
                </a:solidFill>
              </a:rPr>
              <a:t>[Visual: Kolam Renang/Kolam Hiasan</a:t>
            </a:r>
          </a:p>
          <a:p>
            <a:pPr/>
            <a:r>
              <a:rPr lang="en-MY" sz="1050" dirty="0">
                <a:solidFill>
                  <a:schemeClr val="tx1">
                    <a:lumMod val="85000"/>
                    <a:lumOff val="15000"/>
                  </a:schemeClr>
                </a:solidFill>
              </a:rPr>
              <a:t>Besar(Pool)]</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SCR_WATER_FEATURE_EXAMPLES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K5-PL06-T03-B02-WATER-FEATURE-ROW-03</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II_WATER_FEATURE_EX03  &lt;-  K5-PL06-T03-B02-WATER-FEATURE-ROW-03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all examples viewed, Kembali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examples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K5-PL06-T03-B02-WATER-FEATURE-ROW-01</a:t>
            </a:r>
          </a:p>
          <a:p>
            <a:r>
              <a:rPr lang="en-MY" sz="900" dirty="0">
                <a:solidFill>
                  <a:schemeClr val="tx1">
                    <a:lumMod val="85000"/>
                    <a:lumOff val="15000"/>
                  </a:schemeClr>
                </a:solidFill>
              </a:rPr>
              <a:t>    ms 241 / fizikal 260</a:t>
            </a:r>
          </a:p>
          <a:p>
            <a:r>
              <a:rPr lang="en-MY" sz="900" dirty="0">
                <a:solidFill>
                  <a:schemeClr val="tx1">
                    <a:lumMod val="85000"/>
                    <a:lumOff val="15000"/>
                  </a:schemeClr>
                </a:solidFill>
              </a:rPr>
              <a:t>  K5-PL06-T03-B02-WATER-FEATURE-ROW-02</a:t>
            </a:r>
          </a:p>
          <a:p>
            <a:r>
              <a:rPr lang="en-MY" sz="900" dirty="0">
                <a:solidFill>
                  <a:schemeClr val="tx1">
                    <a:lumMod val="85000"/>
                    <a:lumOff val="15000"/>
                  </a:schemeClr>
                </a:solidFill>
              </a:rPr>
              <a:t>    ms 241 / fizikal 260</a:t>
            </a:r>
          </a:p>
          <a:p>
            <a:r>
              <a:rPr lang="en-MY" sz="900" dirty="0">
                <a:solidFill>
                  <a:schemeClr val="tx1">
                    <a:lumMod val="85000"/>
                    <a:lumOff val="15000"/>
                  </a:schemeClr>
                </a:solidFill>
              </a:rPr>
              <a:t>  K5-PL06-T03-B02-WATER-FEATURE-ROW-03</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II_WATER_FEATURE_EX01  &lt;-  K5-PL06-T03-B02-WATER-FEATURE-ROW-01</a:t>
            </a:r>
          </a:p>
          <a:p>
            <a:r>
              <a:rPr lang="en-MY" sz="900" dirty="0">
                <a:solidFill>
                  <a:schemeClr val="tx1">
                    <a:lumMod val="85000"/>
                    <a:lumOff val="15000"/>
                  </a:schemeClr>
                </a:solidFill>
              </a:rPr>
              <a:t>  II_WATER_FEATURE_EX02  &lt;-  K5-PL06-T03-B02-WATER-FEATURE-ROW-02</a:t>
            </a:r>
          </a:p>
          <a:p>
            <a:r>
              <a:rPr lang="en-MY" sz="900" dirty="0">
                <a:solidFill>
                  <a:schemeClr val="tx1">
                    <a:lumMod val="85000"/>
                    <a:lumOff val="15000"/>
                  </a:schemeClr>
                </a:solidFill>
              </a:rPr>
              <a:t>  II_WATER_FEATURE_EX03  &lt;-  K5-PL06-T03-B02-WATER-FEATURE-ROW-03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B02-D-07</a:t>
            </a:r>
          </a:p>
          <a:p>
            <a:r>
              <a:rPr lang="en-MY" sz="900" dirty="0">
                <a:solidFill>
                  <a:schemeClr val="tx1">
                    <a:lumMod val="85000"/>
                    <a:lumOff val="15000"/>
                  </a:schemeClr>
                </a:solidFill>
              </a:rPr>
              <a:t>STATUS BELUM SELESAI: NONE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5" name="Instr"/>
          <p:cNvSpPr txBox="1"/>
          <p:nvPr/>
        </p:nvSpPr>
        <p:spPr>
          <a:xfrm>
            <a:off x="723930" y="1051560"/>
            <a:ext cx="10744200" cy="365760"/>
          </a:xfrm>
          <a:prstGeom prst="rect">
            <a:avLst/>
          </a:prstGeom>
          <a:noFill/>
        </p:spPr>
        <p:txBody>
          <a:bodyPr wrap="square">
            <a:noAutofit/>
          </a:bodyPr>
          <a:lstStyle/>
          <a:p>
            <a:pPr algn="ctr"/>
            <a:r>
              <a:rPr lang="en-MY" sz="1600" dirty="0">
                <a:solidFill>
                  <a:schemeClr val="tx1">
                    <a:lumMod val="85000"/>
                    <a:lumOff val="15000"/>
                  </a:schemeClr>
                </a:solidFill>
              </a:rPr>
              <a:t>Klik pada setiap struktur untuk penjelasan lanjut.</a:t>
            </a:r>
          </a:p>
        </p:txBody>
      </p:sp>
      <p:sp>
        <p:nvSpPr>
          <p:cNvPr id="40" name="ItemCard"/>
          <p:cNvSpPr txBox="1"/>
          <p:nvPr/>
        </p:nvSpPr>
        <p:spPr>
          <a:xfrm>
            <a:off x="2174397" y="1508760"/>
            <a:ext cx="3598164" cy="1819747"/>
          </a:xfrm>
          <a:prstGeom prst="rect">
            <a:avLst/>
          </a:prstGeom>
          <a:solidFill>
            <a:srgbClr val="E8F5E9"/>
          </a:solidFill>
          <a:ln w="28575">
            <a:solidFill>
              <a:srgbClr val="2E7D32"/>
            </a:solidFill>
          </a:ln>
        </p:spPr>
        <p:txBody>
          <a:bodyPr wrap="square" anchor="ctr">
            <a:noAutofit/>
          </a:bodyPr>
          <a:lstStyle/>
          <a:p>
            <a:pPr algn="ctr"/>
            <a:r>
              <a:rPr lang="en-MY" sz="1600" b="1" dirty="0">
                <a:solidFill>
                  <a:schemeClr val="tx1">
                    <a:lumMod val="85000"/>
                    <a:lumOff val="15000"/>
                  </a:schemeClr>
                </a:solidFill>
              </a:rPr>
              <a:t>Struktur Persisir Air</a:t>
            </a:r>
          </a:p>
        </p:txBody>
      </p:sp>
      <p:sp>
        <p:nvSpPr>
          <p:cNvPr id="41" name="Tick"/>
          <p:cNvSpPr/>
          <p:nvPr/>
        </p:nvSpPr>
        <p:spPr>
          <a:xfrm>
            <a:off x="5297073" y="1618488"/>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419408" y="1508760"/>
            <a:ext cx="3598164" cy="1819747"/>
          </a:xfrm>
          <a:prstGeom prst="rect">
            <a:avLst/>
          </a:prstGeom>
          <a:solidFill>
            <a:srgbClr val="E8F5E9"/>
          </a:solidFill>
          <a:ln w="28575">
            <a:solidFill>
              <a:srgbClr val="2E7D32"/>
            </a:solidFill>
          </a:ln>
        </p:spPr>
        <p:txBody>
          <a:bodyPr wrap="square" anchor="ctr">
            <a:noAutofit/>
          </a:bodyPr>
          <a:lstStyle/>
          <a:p>
            <a:pPr algn="ctr"/>
            <a:r>
              <a:rPr lang="en-MY" sz="1600" b="1" dirty="0">
                <a:solidFill>
                  <a:schemeClr val="tx1">
                    <a:lumMod val="85000"/>
                    <a:lumOff val="15000"/>
                  </a:schemeClr>
                </a:solidFill>
              </a:rPr>
              <a:t>Struktur Teduhan</a:t>
            </a:r>
          </a:p>
        </p:txBody>
      </p:sp>
      <p:sp>
        <p:nvSpPr>
          <p:cNvPr id="43" name="Tick"/>
          <p:cNvSpPr/>
          <p:nvPr/>
        </p:nvSpPr>
        <p:spPr>
          <a:xfrm>
            <a:off x="9542084" y="1618488"/>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2174397" y="4031224"/>
            <a:ext cx="3598164" cy="1819747"/>
          </a:xfrm>
          <a:prstGeom prst="rect">
            <a:avLst/>
          </a:prstGeom>
          <a:solidFill>
            <a:srgbClr val="E8F5E9"/>
          </a:solidFill>
          <a:ln w="28575">
            <a:solidFill>
              <a:srgbClr val="2E7D32"/>
            </a:solidFill>
          </a:ln>
        </p:spPr>
        <p:txBody>
          <a:bodyPr wrap="square" anchor="ctr">
            <a:noAutofit/>
          </a:bodyPr>
          <a:lstStyle/>
          <a:p>
            <a:pPr algn="ctr"/>
            <a:r>
              <a:rPr lang="en-MY" sz="1600" b="1" dirty="0">
                <a:solidFill>
                  <a:schemeClr val="tx1">
                    <a:lumMod val="85000"/>
                    <a:lumOff val="15000"/>
                  </a:schemeClr>
                </a:solidFill>
              </a:rPr>
              <a:t>Kemudahan Awam</a:t>
            </a:r>
          </a:p>
        </p:txBody>
      </p:sp>
      <p:sp>
        <p:nvSpPr>
          <p:cNvPr id="45" name="Tick"/>
          <p:cNvSpPr/>
          <p:nvPr/>
        </p:nvSpPr>
        <p:spPr>
          <a:xfrm>
            <a:off x="5297073" y="4140952"/>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6419408" y="4031224"/>
            <a:ext cx="3598164" cy="1819747"/>
          </a:xfrm>
          <a:prstGeom prst="rect">
            <a:avLst/>
          </a:prstGeom>
          <a:solidFill>
            <a:srgbClr val="E8F5E9"/>
          </a:solidFill>
          <a:ln w="28575">
            <a:solidFill>
              <a:srgbClr val="2E7D32"/>
            </a:solidFill>
          </a:ln>
        </p:spPr>
        <p:txBody>
          <a:bodyPr wrap="square" anchor="ctr">
            <a:noAutofit/>
          </a:bodyPr>
          <a:lstStyle/>
          <a:p>
            <a:pPr algn="ctr"/>
            <a:r>
              <a:rPr lang="en-MY" sz="1600" b="1" i="1" dirty="0">
                <a:solidFill>
                  <a:schemeClr val="tx1">
                    <a:lumMod val="85000"/>
                    <a:lumOff val="15000"/>
                  </a:schemeClr>
                </a:solidFill>
              </a:rPr>
              <a:t>Water Feature</a:t>
            </a:r>
          </a:p>
        </p:txBody>
      </p:sp>
      <p:sp>
        <p:nvSpPr>
          <p:cNvPr id="47" name="Tick"/>
          <p:cNvSpPr/>
          <p:nvPr/>
        </p:nvSpPr>
        <p:spPr>
          <a:xfrm>
            <a:off x="9542084" y="4140952"/>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Taman — papan kumpulan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GROUP_MASTER_GROUP_COMPLETE</a:t>
            </a:r>
          </a:p>
          <a:p>
            <a:r>
              <a:rPr lang="en-MY" sz="900" dirty="0">
                <a:solidFill>
                  <a:schemeClr val="tx1">
                    <a:lumMod val="85000"/>
                    <a:lumOff val="15000"/>
                  </a:schemeClr>
                </a:solidFill>
              </a:rPr>
              <a:t/>
            </a:r>
          </a:p>
          <a:p>
            <a:r>
              <a:rPr lang="en-MY" sz="900" dirty="0">
                <a:solidFill>
                  <a:schemeClr val="tx1">
                    <a:lumMod val="85000"/>
                    <a:lumOff val="15000"/>
                  </a:schemeClr>
                </a:solidFill>
              </a:rPr>
              <a:t>BUKTI: group complete, shell Next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group_complete satisfied]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GROUP</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SCR_GM_STRUKTUR</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Empat kad komponen. Boleh diklik dalam sebarang susunan.</a:t>
            </a:r>
          </a:p>
          <a:p>
            <a:r>
              <a:rPr lang="en-MY" sz="900" dirty="0">
                <a:solidFill>
                  <a:schemeClr val="tx1">
                    <a:lumMod val="85000"/>
                    <a:lumOff val="15000"/>
                  </a:schemeClr>
                </a:solidFill>
              </a:rPr>
              <a:t>  Setiap komponen yang selesai menerima tik.</a:t>
            </a:r>
          </a:p>
          <a:p>
            <a:r>
              <a:rPr lang="en-MY" sz="900" dirty="0">
                <a:solidFill>
                  <a:schemeClr val="tx1">
                    <a:lumMod val="85000"/>
                    <a:lumOff val="15000"/>
                  </a:schemeClr>
                </a:solidFill>
              </a:rPr>
              <a:t>  Kemajuan kumpulan dikawal oleh Seterusnya shell LMS.</a:t>
            </a:r>
          </a:p>
          <a:p>
            <a:r>
              <a:rPr lang="en-MY" sz="900" dirty="0">
                <a:solidFill>
                  <a:schemeClr val="tx1">
                    <a:lumMod val="85000"/>
                    <a:lumOff val="15000"/>
                  </a:schemeClr>
                </a:solidFill>
              </a:rPr>
              <a:t>  TIADA butang Seterusnya tersuai dilukis pada kanvas pelajar.</a:t>
            </a:r>
          </a:p>
          <a:p>
            <a:r>
              <a:rPr lang="en-MY" sz="900" b="1" dirty="0">
                <a:solidFill>
                  <a:schemeClr val="tx1">
                    <a:lumMod val="85000"/>
                    <a:lumOff val="15000"/>
                  </a:schemeClr>
                </a:solidFill>
              </a:rPr>
              <a:t>SASARAN KEMBALI:</a:t>
            </a:r>
          </a:p>
          <a:p>
            <a:r>
              <a:rPr lang="en-MY" sz="900" dirty="0">
                <a:solidFill>
                  <a:schemeClr val="tx1">
                    <a:lumMod val="85000"/>
                    <a:lumOff val="15000"/>
                  </a:schemeClr>
                </a:solidFill>
              </a:rPr>
              <a:t>  Skrin contoh Family S kembali ke sini.</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B02-D-04, B02-D-07</a:t>
            </a:r>
          </a:p>
          <a:p>
            <a:r>
              <a:rPr lang="en-MY" sz="900" dirty="0">
                <a:solidFill>
                  <a:schemeClr val="tx1">
                    <a:lumMod val="85000"/>
                    <a:lumOff val="15000"/>
                  </a:schemeClr>
                </a:solidFill>
              </a:rPr>
              <a:t>STATUS BELUM SELESAI: NONE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2" name="Body"/>
          <p:cNvSpPr txBox="1"/>
          <p:nvPr/>
        </p:nvSpPr>
        <p:spPr>
          <a:xfrm>
            <a:off x="723930" y="1115568"/>
            <a:ext cx="10744200" cy="786384"/>
          </a:xfrm>
          <a:prstGeom prst="rect">
            <a:avLst/>
          </a:prstGeom>
          <a:noFill/>
        </p:spPr>
        <p:txBody>
          <a:bodyPr wrap="square">
            <a:noAutofit/>
          </a:bodyPr>
          <a:lstStyle/>
          <a:p>
            <a:pPr/>
            <a:r>
              <a:rPr lang="en-MY" sz="1200" dirty="0">
                <a:solidFill>
                  <a:schemeClr val="tx1">
                    <a:lumMod val="85000"/>
                    <a:lumOff val="15000"/>
                  </a:schemeClr>
                </a:solidFill>
              </a:rPr>
              <a:t>Perabot taman merujuk kepada elemen-elemen boleh alih atau kekal yang ditempatkan di ruang landskap untuk meningkatkan</a:t>
            </a:r>
          </a:p>
          <a:p>
            <a:pPr/>
            <a:r>
              <a:rPr lang="en-MY" sz="1200" dirty="0">
                <a:solidFill>
                  <a:schemeClr val="tx1">
                    <a:lumMod val="85000"/>
                    <a:lumOff val="15000"/>
                  </a:schemeClr>
                </a:solidFill>
              </a:rPr>
              <a:t>fungsi, keselesaan, dan estetika. Ini melibatkan pemahaman tentang bahan, ketahanan, ergonomik, dan kesesuaian reka</a:t>
            </a:r>
          </a:p>
          <a:p>
            <a:pPr/>
            <a:r>
              <a:rPr lang="en-MY" sz="1200" dirty="0">
                <a:solidFill>
                  <a:schemeClr val="tx1">
                    <a:lumMod val="85000"/>
                    <a:lumOff val="15000"/>
                  </a:schemeClr>
                </a:solidFill>
              </a:rPr>
              <a:t>bentuk dengan tema keseluruhan landskap. Terdapat lima jenis perabot taman: Kerusi Taman, Papan Tanda, Tong Sampah,</a:t>
            </a:r>
          </a:p>
        </p:txBody>
      </p:sp>
      <p:sp>
        <p:nvSpPr>
          <p:cNvPr id="80" name="ComponentCard"/>
          <p:cNvSpPr txBox="1"/>
          <p:nvPr/>
        </p:nvSpPr>
        <p:spPr>
          <a:xfrm>
            <a:off x="723885" y="1993392"/>
            <a:ext cx="3325368" cy="1847088"/>
          </a:xfrm>
          <a:prstGeom prst="rect">
            <a:avLst/>
          </a:prstGeom>
          <a:solidFill>
            <a:srgbClr val="F2F2F2"/>
          </a:solidFill>
          <a:ln w="12700">
            <a:solidFill>
              <a:srgbClr val="404040"/>
            </a:solidFill>
          </a:ln>
        </p:spPr>
        <p:txBody>
          <a:bodyPr wrap="square">
            <a:noAutofit/>
          </a:bodyPr>
          <a:lstStyle/>
        </p:txBody>
      </p:sp>
      <p:sp>
        <p:nvSpPr>
          <p:cNvPr id="81" name="ComponentVisual"/>
          <p:cNvSpPr txBox="1"/>
          <p:nvPr/>
        </p:nvSpPr>
        <p:spPr>
          <a:xfrm>
            <a:off x="851901" y="2121408"/>
            <a:ext cx="3069336" cy="969264"/>
          </a:xfrm>
          <a:prstGeom prst="rect">
            <a:avLst/>
          </a:prstGeom>
          <a:solidFill>
            <a:srgbClr val="FFFFFF"/>
          </a:solidFill>
          <a:ln w="9525">
            <a:solidFill>
              <a:srgbClr val="BFBFBF"/>
            </a:solidFill>
            <a:prstDash val="dash"/>
          </a:ln>
        </p:spPr>
        <p:txBody>
          <a:bodyPr wrap="square">
            <a:noAutofit/>
          </a:bodyPr>
          <a:lstStyle/>
        </p:txBody>
      </p:sp>
      <p:sp>
        <p:nvSpPr>
          <p:cNvPr id="82" name="ComponentVisualDir"/>
          <p:cNvSpPr txBox="1"/>
          <p:nvPr/>
        </p:nvSpPr>
        <p:spPr>
          <a:xfrm>
            <a:off x="925053" y="2212848"/>
            <a:ext cx="2923032" cy="804672"/>
          </a:xfrm>
          <a:prstGeom prst="rect">
            <a:avLst/>
          </a:prstGeom>
          <a:noFill/>
        </p:spPr>
        <p:txBody>
          <a:bodyPr wrap="square">
            <a:noAutofit/>
          </a:bodyPr>
          <a:lstStyle/>
          <a:p>
            <a:pPr/>
            <a:r>
              <a:rPr lang="en-MY" sz="750" dirty="0">
                <a:solidFill>
                  <a:srgbClr val="808080"/>
                </a:solidFill>
              </a:rPr>
              <a:t>ARAHAN VISUAL</a:t>
            </a:r>
          </a:p>
          <a:p>
            <a:pPr/>
            <a:r>
              <a:rPr lang="en-MY" sz="750" dirty="0">
                <a:solidFill>
                  <a:srgbClr val="808080"/>
                </a:solidFill>
              </a:rPr>
              <a:t>[Visual: Foto jadual</a:t>
            </a:r>
          </a:p>
          <a:p>
            <a:pPr/>
            <a:r>
              <a:rPr lang="en-MY" sz="750" dirty="0">
                <a:solidFill>
                  <a:srgbClr val="808080"/>
                </a:solidFill>
              </a:rPr>
              <a:t>spesifikasi Kerusi Kayu Keras,</a:t>
            </a:r>
          </a:p>
          <a:p>
            <a:pPr/>
            <a:r>
              <a:rPr lang="en-MY" sz="750" dirty="0">
                <a:solidFill>
                  <a:srgbClr val="808080"/>
                </a:solidFill>
              </a:rPr>
              <a:t>modul ms 242. Aset</a:t>
            </a:r>
          </a:p>
        </p:txBody>
      </p:sp>
      <p:sp>
        <p:nvSpPr>
          <p:cNvPr id="83" name="ComponentName"/>
          <p:cNvSpPr txBox="1"/>
          <p:nvPr/>
        </p:nvSpPr>
        <p:spPr>
          <a:xfrm>
            <a:off x="851901" y="3163824"/>
            <a:ext cx="3069336" cy="365760"/>
          </a:xfrm>
          <a:prstGeom prst="rect">
            <a:avLst/>
          </a:prstGeom>
          <a:noFill/>
        </p:spPr>
        <p:txBody>
          <a:bodyPr wrap="square">
            <a:noAutofit/>
          </a:bodyPr>
          <a:lstStyle/>
          <a:p>
            <a:pPr algn="ctr"/>
            <a:r>
              <a:rPr lang="en-MY" sz="1400" b="1" dirty="0">
                <a:solidFill>
                  <a:schemeClr val="tx1">
                    <a:lumMod val="85000"/>
                    <a:lumOff val="15000"/>
                  </a:schemeClr>
                </a:solidFill>
              </a:rPr>
              <a:t>Kerusi Taman</a:t>
            </a:r>
          </a:p>
        </p:txBody>
      </p:sp>
      <p:sp>
        <p:nvSpPr>
          <p:cNvPr id="84" name="ComponentCue"/>
          <p:cNvSpPr txBox="1"/>
          <p:nvPr/>
        </p:nvSpPr>
        <p:spPr>
          <a:xfrm>
            <a:off x="851901" y="3529584"/>
            <a:ext cx="3069336" cy="256032"/>
          </a:xfrm>
          <a:prstGeom prst="rect">
            <a:avLst/>
          </a:prstGeom>
          <a:noFill/>
        </p:spPr>
        <p:txBody>
          <a:bodyPr wrap="square">
            <a:noAutofit/>
          </a:bodyPr>
          <a:lstStyle/>
          <a:p>
            <a:pPr algn="ctr"/>
            <a:r>
              <a:rPr lang="en-MY" sz="900" dirty="0">
                <a:solidFill>
                  <a:srgbClr val="808080"/>
                </a:solidFill>
              </a:rPr>
              <a:t>Halaman seterusnya</a:t>
            </a:r>
          </a:p>
        </p:txBody>
      </p:sp>
      <p:sp>
        <p:nvSpPr>
          <p:cNvPr id="85" name="ComponentCard"/>
          <p:cNvSpPr txBox="1"/>
          <p:nvPr/>
        </p:nvSpPr>
        <p:spPr>
          <a:xfrm>
            <a:off x="4433301" y="1993392"/>
            <a:ext cx="3325368" cy="1847088"/>
          </a:xfrm>
          <a:prstGeom prst="rect">
            <a:avLst/>
          </a:prstGeom>
          <a:solidFill>
            <a:srgbClr val="F2F2F2"/>
          </a:solidFill>
          <a:ln w="12700">
            <a:solidFill>
              <a:srgbClr val="404040"/>
            </a:solidFill>
          </a:ln>
        </p:spPr>
        <p:txBody>
          <a:bodyPr wrap="square">
            <a:noAutofit/>
          </a:bodyPr>
          <a:lstStyle/>
        </p:txBody>
      </p:sp>
      <p:sp>
        <p:nvSpPr>
          <p:cNvPr id="86" name="ComponentVisual"/>
          <p:cNvSpPr txBox="1"/>
          <p:nvPr/>
        </p:nvSpPr>
        <p:spPr>
          <a:xfrm>
            <a:off x="4561317" y="2121408"/>
            <a:ext cx="3069336" cy="969264"/>
          </a:xfrm>
          <a:prstGeom prst="rect">
            <a:avLst/>
          </a:prstGeom>
          <a:solidFill>
            <a:srgbClr val="FFFFFF"/>
          </a:solidFill>
          <a:ln w="9525">
            <a:solidFill>
              <a:srgbClr val="BFBFBF"/>
            </a:solidFill>
            <a:prstDash val="dash"/>
          </a:ln>
        </p:spPr>
        <p:txBody>
          <a:bodyPr wrap="square">
            <a:noAutofit/>
          </a:bodyPr>
          <a:lstStyle/>
        </p:txBody>
      </p:sp>
      <p:sp>
        <p:nvSpPr>
          <p:cNvPr id="87" name="ComponentVisualDir"/>
          <p:cNvSpPr txBox="1"/>
          <p:nvPr/>
        </p:nvSpPr>
        <p:spPr>
          <a:xfrm>
            <a:off x="4634469" y="2212848"/>
            <a:ext cx="2923032" cy="804672"/>
          </a:xfrm>
          <a:prstGeom prst="rect">
            <a:avLst/>
          </a:prstGeom>
          <a:noFill/>
        </p:spPr>
        <p:txBody>
          <a:bodyPr wrap="square">
            <a:noAutofit/>
          </a:bodyPr>
          <a:lstStyle/>
          <a:p>
            <a:pPr/>
            <a:r>
              <a:rPr lang="en-MY" sz="750" dirty="0">
                <a:solidFill>
                  <a:srgbClr val="808080"/>
                </a:solidFill>
              </a:rPr>
              <a:t>ARAHAN VISUAL</a:t>
            </a:r>
          </a:p>
          <a:p>
            <a:pPr/>
            <a:r>
              <a:rPr lang="en-MY" sz="750" dirty="0">
                <a:solidFill>
                  <a:srgbClr val="808080"/>
                </a:solidFill>
              </a:rPr>
              <a:t>[Visual: Rajah 25 — Lukisan</a:t>
            </a:r>
          </a:p>
          <a:p>
            <a:pPr/>
            <a:r>
              <a:rPr lang="en-MY" sz="750" dirty="0">
                <a:solidFill>
                  <a:srgbClr val="808080"/>
                </a:solidFill>
              </a:rPr>
              <a:t>Spesifikasi Papan Tanda</a:t>
            </a:r>
          </a:p>
          <a:p>
            <a:pPr/>
            <a:r>
              <a:rPr lang="en-MY" sz="750" dirty="0">
                <a:solidFill>
                  <a:srgbClr val="808080"/>
                </a:solidFill>
              </a:rPr>
              <a:t>Informasi, dan Rajah 26 —</a:t>
            </a:r>
          </a:p>
        </p:txBody>
      </p:sp>
      <p:sp>
        <p:nvSpPr>
          <p:cNvPr id="88" name="ComponentName"/>
          <p:cNvSpPr txBox="1"/>
          <p:nvPr/>
        </p:nvSpPr>
        <p:spPr>
          <a:xfrm>
            <a:off x="4561317" y="3163824"/>
            <a:ext cx="3069336" cy="365760"/>
          </a:xfrm>
          <a:prstGeom prst="rect">
            <a:avLst/>
          </a:prstGeom>
          <a:noFill/>
        </p:spPr>
        <p:txBody>
          <a:bodyPr wrap="square">
            <a:noAutofit/>
          </a:bodyPr>
          <a:lstStyle/>
          <a:p>
            <a:pPr algn="ctr"/>
            <a:r>
              <a:rPr lang="en-MY" sz="1400" b="1" dirty="0">
                <a:solidFill>
                  <a:schemeClr val="tx1">
                    <a:lumMod val="85000"/>
                    <a:lumOff val="15000"/>
                  </a:schemeClr>
                </a:solidFill>
              </a:rPr>
              <a:t>Papan Tanda</a:t>
            </a:r>
          </a:p>
        </p:txBody>
      </p:sp>
      <p:sp>
        <p:nvSpPr>
          <p:cNvPr id="89" name="ComponentCue"/>
          <p:cNvSpPr txBox="1"/>
          <p:nvPr/>
        </p:nvSpPr>
        <p:spPr>
          <a:xfrm>
            <a:off x="4561317" y="3529584"/>
            <a:ext cx="3069336" cy="256032"/>
          </a:xfrm>
          <a:prstGeom prst="rect">
            <a:avLst/>
          </a:prstGeom>
          <a:noFill/>
        </p:spPr>
        <p:txBody>
          <a:bodyPr wrap="square">
            <a:noAutofit/>
          </a:bodyPr>
          <a:lstStyle/>
          <a:p>
            <a:pPr algn="ctr"/>
            <a:r>
              <a:rPr lang="en-MY" sz="900" dirty="0">
                <a:solidFill>
                  <a:srgbClr val="808080"/>
                </a:solidFill>
              </a:rPr>
              <a:t>Halaman seterusnya</a:t>
            </a:r>
          </a:p>
        </p:txBody>
      </p:sp>
      <p:sp>
        <p:nvSpPr>
          <p:cNvPr id="90" name="ComponentCard"/>
          <p:cNvSpPr txBox="1"/>
          <p:nvPr/>
        </p:nvSpPr>
        <p:spPr>
          <a:xfrm>
            <a:off x="8142717" y="1993392"/>
            <a:ext cx="3325368" cy="1847088"/>
          </a:xfrm>
          <a:prstGeom prst="rect">
            <a:avLst/>
          </a:prstGeom>
          <a:solidFill>
            <a:srgbClr val="F2F2F2"/>
          </a:solidFill>
          <a:ln w="12700">
            <a:solidFill>
              <a:srgbClr val="404040"/>
            </a:solidFill>
          </a:ln>
        </p:spPr>
        <p:txBody>
          <a:bodyPr wrap="square">
            <a:noAutofit/>
          </a:bodyPr>
          <a:lstStyle/>
        </p:txBody>
      </p:sp>
      <p:sp>
        <p:nvSpPr>
          <p:cNvPr id="91" name="ComponentVisual"/>
          <p:cNvSpPr txBox="1"/>
          <p:nvPr/>
        </p:nvSpPr>
        <p:spPr>
          <a:xfrm>
            <a:off x="8270733" y="2121408"/>
            <a:ext cx="3069336" cy="969264"/>
          </a:xfrm>
          <a:prstGeom prst="rect">
            <a:avLst/>
          </a:prstGeom>
          <a:solidFill>
            <a:srgbClr val="FFFFFF"/>
          </a:solidFill>
          <a:ln w="9525">
            <a:solidFill>
              <a:srgbClr val="BFBFBF"/>
            </a:solidFill>
            <a:prstDash val="dash"/>
          </a:ln>
        </p:spPr>
        <p:txBody>
          <a:bodyPr wrap="square">
            <a:noAutofit/>
          </a:bodyPr>
          <a:lstStyle/>
        </p:txBody>
      </p:sp>
      <p:sp>
        <p:nvSpPr>
          <p:cNvPr id="92" name="ComponentVisualDir"/>
          <p:cNvSpPr txBox="1"/>
          <p:nvPr/>
        </p:nvSpPr>
        <p:spPr>
          <a:xfrm>
            <a:off x="8343885" y="2212848"/>
            <a:ext cx="2923032" cy="804672"/>
          </a:xfrm>
          <a:prstGeom prst="rect">
            <a:avLst/>
          </a:prstGeom>
          <a:noFill/>
        </p:spPr>
        <p:txBody>
          <a:bodyPr wrap="square">
            <a:noAutofit/>
          </a:bodyPr>
          <a:lstStyle/>
          <a:p>
            <a:pPr/>
            <a:r>
              <a:rPr lang="en-MY" sz="750" dirty="0">
                <a:solidFill>
                  <a:srgbClr val="808080"/>
                </a:solidFill>
              </a:rPr>
              <a:t>ARAHAN VISUAL</a:t>
            </a:r>
          </a:p>
          <a:p>
            <a:pPr/>
            <a:r>
              <a:rPr lang="en-MY" sz="750" dirty="0">
                <a:solidFill>
                  <a:srgbClr val="808080"/>
                </a:solidFill>
              </a:rPr>
              <a:t>[Visual: Foto jadual</a:t>
            </a:r>
          </a:p>
          <a:p>
            <a:pPr/>
            <a:r>
              <a:rPr lang="en-MY" sz="750" dirty="0">
                <a:solidFill>
                  <a:srgbClr val="808080"/>
                </a:solidFill>
              </a:rPr>
              <a:t>spesifikasi Tong Sampah Logam,</a:t>
            </a:r>
          </a:p>
          <a:p>
            <a:pPr/>
            <a:r>
              <a:rPr lang="en-MY" sz="750" dirty="0">
                <a:solidFill>
                  <a:srgbClr val="808080"/>
                </a:solidFill>
              </a:rPr>
              <a:t>modul ms 246. Aset</a:t>
            </a:r>
          </a:p>
        </p:txBody>
      </p:sp>
      <p:sp>
        <p:nvSpPr>
          <p:cNvPr id="93" name="ComponentName"/>
          <p:cNvSpPr txBox="1"/>
          <p:nvPr/>
        </p:nvSpPr>
        <p:spPr>
          <a:xfrm>
            <a:off x="8270733" y="3163824"/>
            <a:ext cx="3069336" cy="365760"/>
          </a:xfrm>
          <a:prstGeom prst="rect">
            <a:avLst/>
          </a:prstGeom>
          <a:noFill/>
        </p:spPr>
        <p:txBody>
          <a:bodyPr wrap="square">
            <a:noAutofit/>
          </a:bodyPr>
          <a:lstStyle/>
          <a:p>
            <a:pPr algn="ctr"/>
            <a:r>
              <a:rPr lang="en-MY" sz="1400" b="1" dirty="0">
                <a:solidFill>
                  <a:schemeClr val="tx1">
                    <a:lumMod val="85000"/>
                    <a:lumOff val="15000"/>
                  </a:schemeClr>
                </a:solidFill>
              </a:rPr>
              <a:t>Tong Sampah</a:t>
            </a:r>
          </a:p>
        </p:txBody>
      </p:sp>
      <p:sp>
        <p:nvSpPr>
          <p:cNvPr id="94" name="ComponentCue"/>
          <p:cNvSpPr txBox="1"/>
          <p:nvPr/>
        </p:nvSpPr>
        <p:spPr>
          <a:xfrm>
            <a:off x="8270733" y="3529584"/>
            <a:ext cx="3069336" cy="256032"/>
          </a:xfrm>
          <a:prstGeom prst="rect">
            <a:avLst/>
          </a:prstGeom>
          <a:noFill/>
        </p:spPr>
        <p:txBody>
          <a:bodyPr wrap="square">
            <a:noAutofit/>
          </a:bodyPr>
          <a:lstStyle/>
          <a:p>
            <a:pPr algn="ctr"/>
            <a:r>
              <a:rPr lang="en-MY" sz="900" dirty="0">
                <a:solidFill>
                  <a:srgbClr val="808080"/>
                </a:solidFill>
              </a:rPr>
              <a:t>Halaman seterusnya</a:t>
            </a:r>
          </a:p>
        </p:txBody>
      </p:sp>
      <p:sp>
        <p:nvSpPr>
          <p:cNvPr id="95" name="ComponentCard"/>
          <p:cNvSpPr txBox="1"/>
          <p:nvPr/>
        </p:nvSpPr>
        <p:spPr>
          <a:xfrm>
            <a:off x="2578593" y="4114800"/>
            <a:ext cx="3325368" cy="1847088"/>
          </a:xfrm>
          <a:prstGeom prst="rect">
            <a:avLst/>
          </a:prstGeom>
          <a:solidFill>
            <a:srgbClr val="F2F2F2"/>
          </a:solidFill>
          <a:ln w="12700">
            <a:solidFill>
              <a:srgbClr val="404040"/>
            </a:solidFill>
          </a:ln>
        </p:spPr>
        <p:txBody>
          <a:bodyPr wrap="square">
            <a:noAutofit/>
          </a:bodyPr>
          <a:lstStyle/>
        </p:txBody>
      </p:sp>
      <p:sp>
        <p:nvSpPr>
          <p:cNvPr id="96" name="ComponentVisual"/>
          <p:cNvSpPr txBox="1"/>
          <p:nvPr/>
        </p:nvSpPr>
        <p:spPr>
          <a:xfrm>
            <a:off x="2706609" y="4242816"/>
            <a:ext cx="3069336" cy="969264"/>
          </a:xfrm>
          <a:prstGeom prst="rect">
            <a:avLst/>
          </a:prstGeom>
          <a:solidFill>
            <a:srgbClr val="FFFFFF"/>
          </a:solidFill>
          <a:ln w="9525">
            <a:solidFill>
              <a:srgbClr val="BFBFBF"/>
            </a:solidFill>
            <a:prstDash val="dash"/>
          </a:ln>
        </p:spPr>
        <p:txBody>
          <a:bodyPr wrap="square">
            <a:noAutofit/>
          </a:bodyPr>
          <a:lstStyle/>
        </p:txBody>
      </p:sp>
      <p:sp>
        <p:nvSpPr>
          <p:cNvPr id="97" name="ComponentVisualDir"/>
          <p:cNvSpPr txBox="1"/>
          <p:nvPr/>
        </p:nvSpPr>
        <p:spPr>
          <a:xfrm>
            <a:off x="2779761" y="4334256"/>
            <a:ext cx="2923032" cy="804672"/>
          </a:xfrm>
          <a:prstGeom prst="rect">
            <a:avLst/>
          </a:prstGeom>
          <a:noFill/>
        </p:spPr>
        <p:txBody>
          <a:bodyPr wrap="square">
            <a:noAutofit/>
          </a:bodyPr>
          <a:lstStyle/>
          <a:p>
            <a:pPr/>
            <a:r>
              <a:rPr lang="en-MY" sz="750" dirty="0">
                <a:solidFill>
                  <a:srgbClr val="808080"/>
                </a:solidFill>
              </a:rPr>
              <a:t>ARAHAN VISUAL</a:t>
            </a:r>
          </a:p>
          <a:p>
            <a:pPr/>
            <a:r>
              <a:rPr lang="en-MY" sz="750" dirty="0">
                <a:solidFill>
                  <a:srgbClr val="808080"/>
                </a:solidFill>
              </a:rPr>
              <a:t>[Visual: Foto jadual</a:t>
            </a:r>
          </a:p>
          <a:p>
            <a:pPr/>
            <a:r>
              <a:rPr lang="en-MY" sz="750" dirty="0">
                <a:solidFill>
                  <a:srgbClr val="808080"/>
                </a:solidFill>
              </a:rPr>
              <a:t>spesifikasi Pancutan Air Minum</a:t>
            </a:r>
          </a:p>
          <a:p>
            <a:pPr/>
            <a:r>
              <a:rPr lang="en-MY" sz="750" dirty="0">
                <a:solidFill>
                  <a:srgbClr val="808080"/>
                </a:solidFill>
              </a:rPr>
              <a:t>Keluli Tahan Karat, modul ms</a:t>
            </a:r>
          </a:p>
        </p:txBody>
      </p:sp>
      <p:sp>
        <p:nvSpPr>
          <p:cNvPr id="98" name="ComponentName"/>
          <p:cNvSpPr txBox="1"/>
          <p:nvPr/>
        </p:nvSpPr>
        <p:spPr>
          <a:xfrm>
            <a:off x="2706609" y="5285232"/>
            <a:ext cx="3069336" cy="365760"/>
          </a:xfrm>
          <a:prstGeom prst="rect">
            <a:avLst/>
          </a:prstGeom>
          <a:noFill/>
        </p:spPr>
        <p:txBody>
          <a:bodyPr wrap="square">
            <a:noAutofit/>
          </a:bodyPr>
          <a:lstStyle/>
          <a:p>
            <a:pPr algn="ctr"/>
            <a:r>
              <a:rPr lang="en-MY" sz="1400" b="1" i="1" dirty="0">
                <a:solidFill>
                  <a:schemeClr val="tx1">
                    <a:lumMod val="85000"/>
                    <a:lumOff val="15000"/>
                  </a:schemeClr>
                </a:solidFill>
              </a:rPr>
              <a:t>Drinking Fountain</a:t>
            </a:r>
          </a:p>
        </p:txBody>
      </p:sp>
      <p:sp>
        <p:nvSpPr>
          <p:cNvPr id="99" name="ComponentCue"/>
          <p:cNvSpPr txBox="1"/>
          <p:nvPr/>
        </p:nvSpPr>
        <p:spPr>
          <a:xfrm>
            <a:off x="2706609" y="5650992"/>
            <a:ext cx="3069336" cy="256032"/>
          </a:xfrm>
          <a:prstGeom prst="rect">
            <a:avLst/>
          </a:prstGeom>
          <a:noFill/>
        </p:spPr>
        <p:txBody>
          <a:bodyPr wrap="square">
            <a:noAutofit/>
          </a:bodyPr>
          <a:lstStyle/>
          <a:p>
            <a:pPr algn="ctr"/>
            <a:r>
              <a:rPr lang="en-MY" sz="900" dirty="0">
                <a:solidFill>
                  <a:srgbClr val="808080"/>
                </a:solidFill>
              </a:rPr>
              <a:t>Halaman seterusnya</a:t>
            </a:r>
          </a:p>
        </p:txBody>
      </p:sp>
      <p:sp>
        <p:nvSpPr>
          <p:cNvPr id="100" name="ComponentCard"/>
          <p:cNvSpPr txBox="1"/>
          <p:nvPr/>
        </p:nvSpPr>
        <p:spPr>
          <a:xfrm>
            <a:off x="6288009" y="4114800"/>
            <a:ext cx="3325368" cy="1847088"/>
          </a:xfrm>
          <a:prstGeom prst="rect">
            <a:avLst/>
          </a:prstGeom>
          <a:solidFill>
            <a:srgbClr val="F2F2F2"/>
          </a:solidFill>
          <a:ln w="12700">
            <a:solidFill>
              <a:srgbClr val="404040"/>
            </a:solidFill>
          </a:ln>
        </p:spPr>
        <p:txBody>
          <a:bodyPr wrap="square">
            <a:noAutofit/>
          </a:bodyPr>
          <a:lstStyle/>
        </p:txBody>
      </p:sp>
      <p:sp>
        <p:nvSpPr>
          <p:cNvPr id="101" name="ComponentVisual"/>
          <p:cNvSpPr txBox="1"/>
          <p:nvPr/>
        </p:nvSpPr>
        <p:spPr>
          <a:xfrm>
            <a:off x="6416025" y="4242816"/>
            <a:ext cx="3069336" cy="969264"/>
          </a:xfrm>
          <a:prstGeom prst="rect">
            <a:avLst/>
          </a:prstGeom>
          <a:solidFill>
            <a:srgbClr val="FFFFFF"/>
          </a:solidFill>
          <a:ln w="9525">
            <a:solidFill>
              <a:srgbClr val="BFBFBF"/>
            </a:solidFill>
            <a:prstDash val="dash"/>
          </a:ln>
        </p:spPr>
        <p:txBody>
          <a:bodyPr wrap="square">
            <a:noAutofit/>
          </a:bodyPr>
          <a:lstStyle/>
        </p:txBody>
      </p:sp>
      <p:sp>
        <p:nvSpPr>
          <p:cNvPr id="102" name="ComponentVisualDir"/>
          <p:cNvSpPr txBox="1"/>
          <p:nvPr/>
        </p:nvSpPr>
        <p:spPr>
          <a:xfrm>
            <a:off x="6489177" y="4334256"/>
            <a:ext cx="2923032" cy="804672"/>
          </a:xfrm>
          <a:prstGeom prst="rect">
            <a:avLst/>
          </a:prstGeom>
          <a:noFill/>
        </p:spPr>
        <p:txBody>
          <a:bodyPr wrap="square">
            <a:noAutofit/>
          </a:bodyPr>
          <a:lstStyle/>
          <a:p>
            <a:pPr/>
            <a:r>
              <a:rPr lang="en-MY" sz="750" dirty="0">
                <a:solidFill>
                  <a:srgbClr val="808080"/>
                </a:solidFill>
              </a:rPr>
              <a:t>ARAHAN VISUAL</a:t>
            </a:r>
          </a:p>
          <a:p>
            <a:pPr/>
            <a:r>
              <a:rPr lang="en-MY" sz="750" dirty="0">
                <a:solidFill>
                  <a:srgbClr val="808080"/>
                </a:solidFill>
              </a:rPr>
              <a:t>[Visual: Foto jadual</a:t>
            </a:r>
          </a:p>
          <a:p>
            <a:pPr/>
            <a:r>
              <a:rPr lang="en-MY" sz="750" dirty="0">
                <a:solidFill>
                  <a:srgbClr val="808080"/>
                </a:solidFill>
              </a:rPr>
              <a:t>spesifikasi </a:t>
            </a:r>
            <a:r>
              <a:rPr lang="en-MY" sz="750" i="1" dirty="0">
                <a:solidFill>
                  <a:srgbClr val="808080"/>
                </a:solidFill>
              </a:rPr>
              <a:t>BBQ Pit</a:t>
            </a:r>
            <a:r>
              <a:rPr lang="en-MY" sz="750" dirty="0">
                <a:solidFill>
                  <a:srgbClr val="808080"/>
                </a:solidFill>
              </a:rPr>
              <a:t> Struktur</a:t>
            </a:r>
          </a:p>
          <a:p>
            <a:pPr/>
            <a:r>
              <a:rPr lang="en-MY" sz="750" dirty="0">
                <a:solidFill>
                  <a:srgbClr val="808080"/>
                </a:solidFill>
              </a:rPr>
              <a:t>Kekal, modul ms 249. Aset</a:t>
            </a:r>
          </a:p>
        </p:txBody>
      </p:sp>
      <p:sp>
        <p:nvSpPr>
          <p:cNvPr id="103" name="ComponentName"/>
          <p:cNvSpPr txBox="1"/>
          <p:nvPr/>
        </p:nvSpPr>
        <p:spPr>
          <a:xfrm>
            <a:off x="6416025" y="5285232"/>
            <a:ext cx="3069336" cy="365760"/>
          </a:xfrm>
          <a:prstGeom prst="rect">
            <a:avLst/>
          </a:prstGeom>
          <a:noFill/>
        </p:spPr>
        <p:txBody>
          <a:bodyPr wrap="square">
            <a:noAutofit/>
          </a:bodyPr>
          <a:lstStyle/>
          <a:p>
            <a:pPr algn="ctr"/>
            <a:r>
              <a:rPr lang="en-MY" sz="1400" b="1" i="1" dirty="0">
                <a:solidFill>
                  <a:schemeClr val="tx1">
                    <a:lumMod val="85000"/>
                    <a:lumOff val="15000"/>
                  </a:schemeClr>
                </a:solidFill>
              </a:rPr>
              <a:t>BBQ Pit</a:t>
            </a:r>
          </a:p>
        </p:txBody>
      </p:sp>
      <p:sp>
        <p:nvSpPr>
          <p:cNvPr id="104" name="ComponentCue"/>
          <p:cNvSpPr txBox="1"/>
          <p:nvPr/>
        </p:nvSpPr>
        <p:spPr>
          <a:xfrm>
            <a:off x="6416025" y="5650992"/>
            <a:ext cx="3069336" cy="256032"/>
          </a:xfrm>
          <a:prstGeom prst="rect">
            <a:avLst/>
          </a:prstGeom>
          <a:noFill/>
        </p:spPr>
        <p:txBody>
          <a:bodyPr wrap="square">
            <a:noAutofit/>
          </a:bodyPr>
          <a:lstStyle/>
          <a:p>
            <a:pPr algn="ctr"/>
            <a:r>
              <a:rPr lang="en-MY" sz="900" dirty="0">
                <a:solidFill>
                  <a:srgbClr val="808080"/>
                </a:solidFill>
              </a:rPr>
              <a:t>Halaman seterusnya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Perabot Taman — gambaran keseluruhan</a:t>
            </a:r>
          </a:p>
          <a:p>
            <a:r>
              <a:rPr lang="en-MY" sz="900" dirty="0">
                <a:solidFill>
                  <a:schemeClr val="tx1">
                    <a:lumMod val="85000"/>
                    <a:lumOff val="15000"/>
                  </a:schemeClr>
                </a:solidFill>
              </a:rPr>
              <a:t>KELUARGA PELAKSANAAN: FAMILY_P1+FAMILY_P2</a:t>
            </a:r>
          </a:p>
          <a:p>
            <a:r>
              <a:rPr lang="en-MY" sz="900" dirty="0">
                <a:solidFill>
                  <a:schemeClr val="tx1">
                    <a:lumMod val="85000"/>
                    <a:lumOff val="15000"/>
                  </a:schemeClr>
                </a:solidFill>
              </a:rPr>
              <a:t>PERANAN HALAMAN SEMAKAN: GROUP_OVERVIEW_BASE</a:t>
            </a:r>
          </a:p>
          <a:p>
            <a:r>
              <a:rPr lang="en-MY" sz="900" dirty="0">
                <a:solidFill>
                  <a:schemeClr val="tx1">
                    <a:lumMod val="85000"/>
                    <a:lumOff val="15000"/>
                  </a:schemeClr>
                </a:solidFill>
              </a:rPr>
              <a:t/>
            </a:r>
          </a:p>
          <a:p>
            <a:r>
              <a:rPr lang="en-MY" sz="900" dirty="0">
                <a:solidFill>
                  <a:schemeClr val="tx1">
                    <a:lumMod val="85000"/>
                    <a:lumOff val="15000"/>
                  </a:schemeClr>
                </a:solidFill>
              </a:rPr>
              <a:t>BUKTI: gateway, no click level</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SCR_PERABOT_OVERVIEW</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klik dan TIADA aras interaksi. Ini gerbang penerangan visual.</a:t>
            </a:r>
          </a:p>
          <a:p>
            <a:r>
              <a:rPr lang="en-MY" sz="900" dirty="0">
                <a:solidFill>
                  <a:schemeClr val="tx1">
                    <a:lumMod val="85000"/>
                    <a:lumOff val="15000"/>
                  </a:schemeClr>
                </a:solidFill>
              </a:rPr>
              <a:t>  Pelajar memasuki setiap komponen melalui navigasi shell.</a:t>
            </a:r>
          </a:p>
          <a:p>
            <a:r>
              <a:rPr lang="en-MY" sz="900" b="1" dirty="0">
                <a:solidFill>
                  <a:schemeClr val="tx1">
                    <a:lumMod val="85000"/>
                    <a:lumOff val="15000"/>
                  </a:schemeClr>
                </a:solidFill>
              </a:rPr>
              <a:t>AGIHAN KELUARGA (metadata dalaman — tidak dipaparkan pada kanvas):</a:t>
            </a:r>
          </a:p>
          <a:p>
            <a:r>
              <a:rPr lang="en-MY" sz="900" dirty="0">
                <a:solidFill>
                  <a:schemeClr val="tx1">
                    <a:lumMod val="85000"/>
                    <a:lumOff val="15000"/>
                  </a:schemeClr>
                </a:solidFill>
              </a:rPr>
              <a:t>  Kerusi Taman -&gt; FAMILY_P1</a:t>
            </a:r>
          </a:p>
          <a:p>
            <a:r>
              <a:rPr lang="en-MY" sz="900" dirty="0">
                <a:solidFill>
                  <a:schemeClr val="tx1">
                    <a:lumMod val="85000"/>
                    <a:lumOff val="15000"/>
                  </a:schemeClr>
                </a:solidFill>
              </a:rPr>
              <a:t>  Papan Tanda -&gt; FAMILY_P2</a:t>
            </a:r>
          </a:p>
          <a:p>
            <a:r>
              <a:rPr lang="en-MY" sz="900" dirty="0">
                <a:solidFill>
                  <a:schemeClr val="tx1">
                    <a:lumMod val="85000"/>
                    <a:lumOff val="15000"/>
                  </a:schemeClr>
                </a:solidFill>
              </a:rPr>
              <a:t>  Tong Sampah -&gt; FAMILY_P1</a:t>
            </a:r>
          </a:p>
          <a:p>
            <a:r>
              <a:rPr lang="en-MY" sz="900" dirty="0">
                <a:solidFill>
                  <a:schemeClr val="tx1">
                    <a:lumMod val="85000"/>
                    <a:lumOff val="15000"/>
                  </a:schemeClr>
                </a:solidFill>
              </a:rPr>
              <a:t>  Drinking Fountain -&gt; FAMILY_P1</a:t>
            </a:r>
          </a:p>
          <a:p>
            <a:r>
              <a:rPr lang="en-MY" sz="900" dirty="0">
                <a:solidFill>
                  <a:schemeClr val="tx1">
                    <a:lumMod val="85000"/>
                    <a:lumOff val="15000"/>
                  </a:schemeClr>
                </a:solidFill>
              </a:rPr>
              <a:t>  BBQ Pit -&gt; FAMILY_P2</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GROUP_VISUAL_GATEWAY</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RESOLVED_PER_COMPONENT_CARD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B02-D-02</a:t>
            </a:r>
          </a:p>
          <a:p>
            <a:r>
              <a:rPr lang="en-MY" sz="900" dirty="0">
                <a:solidFill>
                  <a:schemeClr val="tx1">
                    <a:lumMod val="85000"/>
                    <a:lumOff val="15000"/>
                  </a:schemeClr>
                </a:solidFill>
              </a:rPr>
              <a:t>STATUS BELUM SELESAI: NONE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Kerusi Taman</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Kayu Keras</a:t>
            </a:r>
          </a:p>
        </p:txBody>
      </p:sp>
      <p:sp>
        <p:nvSpPr>
          <p:cNvPr id="41" name="ItemCard"/>
          <p:cNvSpPr txBox="1"/>
          <p:nvPr/>
        </p:nvSpPr>
        <p:spPr>
          <a:xfrm>
            <a:off x="4433301"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Konkrit</a:t>
            </a:r>
          </a:p>
        </p:txBody>
      </p:sp>
      <p:sp>
        <p:nvSpPr>
          <p:cNvPr id="42" name="ItemCard"/>
          <p:cNvSpPr txBox="1"/>
          <p:nvPr/>
        </p:nvSpPr>
        <p:spPr>
          <a:xfrm>
            <a:off x="8142717"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Komposit</a:t>
            </a:r>
          </a:p>
        </p:txBody>
      </p:sp>
      <p:sp>
        <p:nvSpPr>
          <p:cNvPr id="30" name="VisualDir"/>
          <p:cNvSpPr txBox="1"/>
          <p:nvPr/>
        </p:nvSpPr>
        <p:spPr>
          <a:xfrm>
            <a:off x="723930" y="5394960"/>
            <a:ext cx="10744200" cy="365760"/>
          </a:xfrm>
          <a:prstGeom prst="rect">
            <a:avLst/>
          </a:prstGeom>
          <a:noFill/>
        </p:spPr>
        <p:txBody>
          <a:bodyPr wrap="square">
            <a:noAutofit/>
          </a:bodyPr>
          <a:lstStyle/>
          <a:p>
            <a:pPr/>
            <a:r>
              <a:rPr lang="en-MY" sz="1100" dirty="0">
                <a:solidFill>
                  <a:srgbClr val="808080"/>
                </a:solidFill>
              </a:rPr>
              <a:t>[Visual: Foto jadual spesifikasi kerusi taman, modul ms 242–243.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overview + example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[component_complete[KERUSI_TAMAN]]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SCR_KERUSI_TAMAN_MAIN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II_KERUSI_TAMAN_EX01  &lt;-  K5-PL06-T03-B02-KERUSI-TAMAN-ROW-01</a:t>
            </a:r>
          </a:p>
          <a:p>
            <a:r>
              <a:rPr lang="en-MY" sz="900" dirty="0">
                <a:solidFill>
                  <a:schemeClr val="tx1">
                    <a:lumMod val="85000"/>
                    <a:lumOff val="15000"/>
                  </a:schemeClr>
                </a:solidFill>
              </a:rPr>
              <a:t>  II_KERUSI_TAMAN_EX02  &lt;-  K5-PL06-T03-B02-KERUSI-TAMAN-ROW-02</a:t>
            </a:r>
          </a:p>
          <a:p>
            <a:r>
              <a:rPr lang="en-MY" sz="900" dirty="0">
                <a:solidFill>
                  <a:schemeClr val="tx1">
                    <a:lumMod val="85000"/>
                    <a:lumOff val="15000"/>
                  </a:schemeClr>
                </a:solidFill>
              </a:rPr>
              <a:t>  II_KERUSI_TAMAN_EX03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0/3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melihat perincian.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3505947"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2" name="ItemCard"/>
          <p:cNvSpPr txBox="1"/>
          <p:nvPr/>
        </p:nvSpPr>
        <p:spPr>
          <a:xfrm>
            <a:off x="6288009"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3" name="ItemCard"/>
          <p:cNvSpPr txBox="1"/>
          <p:nvPr/>
        </p:nvSpPr>
        <p:spPr>
          <a:xfrm>
            <a:off x="9070071"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[example_complete[K5-PL06-T03-B02-KERUSI-TAMAN-ROW-01]]</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K5PL06T03-B02-IMG-p242-x28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II_KERUSI_TAMAN_R01_SPEC01  &lt;-  K5-PL06-T03-B02-KERUSI-TAMAN-ROW-01</a:t>
            </a:r>
          </a:p>
          <a:p>
            <a:r>
              <a:rPr lang="en-MY" sz="900" dirty="0">
                <a:solidFill>
                  <a:schemeClr val="tx1">
                    <a:lumMod val="85000"/>
                    <a:lumOff val="15000"/>
                  </a:schemeClr>
                </a:solidFill>
              </a:rPr>
              <a:t>  II_KERUSI_TAMAN_R01_SPEC02  &lt;-  K5-PL06-T03-B02-KERUSI-TAMAN-ROW-01</a:t>
            </a:r>
          </a:p>
          <a:p>
            <a:r>
              <a:rPr lang="en-MY" sz="900" dirty="0">
                <a:solidFill>
                  <a:schemeClr val="tx1">
                    <a:lumMod val="85000"/>
                    <a:lumOff val="15000"/>
                  </a:schemeClr>
                </a:solidFill>
              </a:rPr>
              <a:t>  II_KERUSI_TAMAN_R01_SPEC03  &lt;-  K5-PL06-T03-B02-KERUSI-TAMAN-ROW-01</a:t>
            </a:r>
          </a:p>
          <a:p>
            <a:r>
              <a:rPr lang="en-MY" sz="900" dirty="0">
                <a:solidFill>
                  <a:schemeClr val="tx1">
                    <a:lumMod val="85000"/>
                    <a:lumOff val="15000"/>
                  </a:schemeClr>
                </a:solidFill>
              </a:rPr>
              <a:t>  II_KERUSI_TAMAN_R01_SPEC04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0/4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ItemCard"/>
          <p:cNvSpPr txBox="1"/>
          <p:nvPr/>
        </p:nvSpPr>
        <p:spPr>
          <a:xfrm>
            <a:off x="6288009"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4" name="ItemCard"/>
          <p:cNvSpPr txBox="1"/>
          <p:nvPr/>
        </p:nvSpPr>
        <p:spPr>
          <a:xfrm>
            <a:off x="9070071"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Kayu padu gred perabot luar dengan ketahanan semula jadi tinggi terhadap serangga dan reput,</a:t>
            </a:r>
          </a:p>
          <a:p>
            <a:pPr/>
            <a:r>
              <a:rPr lang="en-MY" sz="1250" dirty="0">
                <a:solidFill>
                  <a:schemeClr val="tx1">
                    <a:lumMod val="85000"/>
                    <a:lumOff val="15000"/>
                  </a:schemeClr>
                </a:solidFill>
              </a:rPr>
              <a:t>atau kayu dirawat tekanan (pressure-treated).</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II_KERUSI_TAMAN_R01_SPEC01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1/4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5" name="ItemCard"/>
          <p:cNvSpPr txBox="1"/>
          <p:nvPr/>
        </p:nvSpPr>
        <p:spPr>
          <a:xfrm>
            <a:off x="9070071"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Dimensi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Ketebalan minimum komponen utama 25mm–50mm.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II_KERUSI_TAMAN_R01_SPEC02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2/4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5" name="Tick"/>
          <p:cNvSpPr/>
          <p:nvPr/>
        </p:nvSpPr>
        <p:spPr>
          <a:xfrm>
            <a:off x="828368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Penyambungan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Skru tahan karat (stainless steel), bolt, atau tanggam kayu (mortise and tenon joints).</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II_KERUSI_TAMAN_R01_SPEC03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3/4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5" name="Tick"/>
          <p:cNvSpPr/>
          <p:nvPr/>
        </p:nvSpPr>
        <p:spPr>
          <a:xfrm>
            <a:off x="828368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7"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Kemasan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Sealant luaran, minyak kayu, atau varnis tahan UV dan kelembapan.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II_KERUSI_TAMAN_R01_SPEC04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4/4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5" name="Tick"/>
          <p:cNvSpPr/>
          <p:nvPr/>
        </p:nvSpPr>
        <p:spPr>
          <a:xfrm>
            <a:off x="828368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7"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II_KERUSI_TAMAN_R01_SPEC01  &lt;-  K5-PL06-T03-B02-KERUSI-TAMAN-ROW-01</a:t>
            </a:r>
          </a:p>
          <a:p>
            <a:r>
              <a:rPr lang="en-MY" sz="900" dirty="0">
                <a:solidFill>
                  <a:schemeClr val="tx1">
                    <a:lumMod val="85000"/>
                    <a:lumOff val="15000"/>
                  </a:schemeClr>
                </a:solidFill>
              </a:rPr>
              <a:t>  II_KERUSI_TAMAN_R01_SPEC02  &lt;-  K5-PL06-T03-B02-KERUSI-TAMAN-ROW-01</a:t>
            </a:r>
          </a:p>
          <a:p>
            <a:r>
              <a:rPr lang="en-MY" sz="900" dirty="0">
                <a:solidFill>
                  <a:schemeClr val="tx1">
                    <a:lumMod val="85000"/>
                    <a:lumOff val="15000"/>
                  </a:schemeClr>
                </a:solidFill>
              </a:rPr>
              <a:t>  II_KERUSI_TAMAN_R01_SPEC03  &lt;-  K5-PL06-T03-B02-KERUSI-TAMAN-ROW-01</a:t>
            </a:r>
          </a:p>
          <a:p>
            <a:r>
              <a:rPr lang="en-MY" sz="900" dirty="0">
                <a:solidFill>
                  <a:schemeClr val="tx1">
                    <a:lumMod val="85000"/>
                    <a:lumOff val="15000"/>
                  </a:schemeClr>
                </a:solidFill>
              </a:rPr>
              <a:t>  II_KERUSI_TAMAN_R01_SPEC04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4/4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Konkrit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Konkrit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30" name="VisualDir"/>
          <p:cNvSpPr txBox="1"/>
          <p:nvPr/>
        </p:nvSpPr>
        <p:spPr>
          <a:xfrm>
            <a:off x="723930" y="3383280"/>
            <a:ext cx="10744200" cy="621792"/>
          </a:xfrm>
          <a:prstGeom prst="rect">
            <a:avLst/>
          </a:prstGeom>
          <a:noFill/>
        </p:spPr>
        <p:txBody>
          <a:bodyPr wrap="square">
            <a:noAutofit/>
          </a:bodyPr>
          <a:lstStyle/>
          <a:p>
            <a:pPr/>
            <a:r>
              <a:rPr lang="en-MY" sz="1100" dirty="0">
                <a:solidFill>
                  <a:srgbClr val="808080"/>
                </a:solidFill>
              </a:rPr>
              <a:t>[Visual: Foto jadual spesifikasi Kerusi Konkrit, modul ms 243. Aset K5PL06T03-B02-IMG-p243-x31.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Konkrit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[example_complete[K5-PL06-T03-B02-KERUSI-TAMAN-ROW-02]]</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K5PL06T03-B02-IMG-p243-x31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II_KERUSI_TAMAN_R02_SPEC01  &lt;-  K5-PL06-T03-B02-KERUSI-TAMAN-ROW-02</a:t>
            </a:r>
          </a:p>
          <a:p>
            <a:r>
              <a:rPr lang="en-MY" sz="900" dirty="0">
                <a:solidFill>
                  <a:schemeClr val="tx1">
                    <a:lumMod val="85000"/>
                    <a:lumOff val="15000"/>
                  </a:schemeClr>
                </a:solidFill>
              </a:rPr>
              <a:t>  II_KERUSI_TAMAN_R02_SPEC02  &lt;-  K5-PL06-T03-B02-KERUSI-TAMAN-ROW-02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Konkrit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Konkrit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30" name="VisualDir"/>
          <p:cNvSpPr txBox="1"/>
          <p:nvPr/>
        </p:nvSpPr>
        <p:spPr>
          <a:xfrm>
            <a:off x="723930" y="3383280"/>
            <a:ext cx="10744200" cy="621792"/>
          </a:xfrm>
          <a:prstGeom prst="rect">
            <a:avLst/>
          </a:prstGeom>
          <a:noFill/>
        </p:spPr>
        <p:txBody>
          <a:bodyPr wrap="square">
            <a:noAutofit/>
          </a:bodyPr>
          <a:lstStyle/>
          <a:p>
            <a:pPr/>
            <a:r>
              <a:rPr lang="en-MY" sz="1100" dirty="0">
                <a:solidFill>
                  <a:srgbClr val="808080"/>
                </a:solidFill>
              </a:rPr>
              <a:t>[Visual: Foto jadual spesifikasi Kerusi Konkrit, modul ms 243. Aset K5PL06T03-B02-IMG-p243-x31.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Konkrit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Konkrit bertetulang gentian (FRC) atau konkrit pratuang (precast concrete). Pembesaran</a:t>
            </a:r>
          </a:p>
          <a:p>
            <a:pPr/>
            <a:r>
              <a:rPr lang="en-MY" sz="1250" dirty="0">
                <a:solidFill>
                  <a:schemeClr val="tx1">
                    <a:lumMod val="85000"/>
                    <a:lumOff val="15000"/>
                  </a:schemeClr>
                </a:solidFill>
              </a:rPr>
              <a:t>(expansion joints) mungkin diperlukan bagi mengelak keretakan akibat perubahan suhu.</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Konkrit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II_KERUSI_TAMAN_R02_SPEC01  &lt;-  K5-PL06-T03-B02-KERUSI-TAMAN-ROW-02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SCR_KERUSI_TAMAN_EX02_DETAIL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Konkrit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Konkrit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3383280"/>
            <a:ext cx="10744200" cy="621792"/>
          </a:xfrm>
          <a:prstGeom prst="rect">
            <a:avLst/>
          </a:prstGeom>
          <a:noFill/>
        </p:spPr>
        <p:txBody>
          <a:bodyPr wrap="square">
            <a:noAutofit/>
          </a:bodyPr>
          <a:lstStyle/>
          <a:p>
            <a:pPr/>
            <a:r>
              <a:rPr lang="en-MY" sz="1100" dirty="0">
                <a:solidFill>
                  <a:srgbClr val="808080"/>
                </a:solidFill>
              </a:rPr>
              <a:t>[Visual: Foto jadual spesifikasi Kerusi Konkrit, modul ms 243. Aset K5PL06T03-B02-IMG-p243-x31.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Konkrit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Kemasan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Boleh dibiarkan asli, digilap, dicat, atau bertekstur (exposed aggregate). Permukaan mesti</a:t>
            </a:r>
          </a:p>
          <a:p>
            <a:pPr/>
            <a:r>
              <a:rPr lang="en-MY" sz="1250" dirty="0">
                <a:solidFill>
                  <a:schemeClr val="tx1">
                    <a:lumMod val="85000"/>
                    <a:lumOff val="15000"/>
                  </a:schemeClr>
                </a:solidFill>
              </a:rPr>
              <a:t>licin, tanpa tepi tajam.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Konkrit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II_KERUSI_TAMAN_R02_SPEC02  &lt;-  K5-PL06-T03-B02-KERUSI-TAMAN-ROW-02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SCR_KERUSI_TAMAN_EX02_DETAIL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Konkrit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Konkrit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3383280"/>
            <a:ext cx="10744200" cy="621792"/>
          </a:xfrm>
          <a:prstGeom prst="rect">
            <a:avLst/>
          </a:prstGeom>
          <a:noFill/>
        </p:spPr>
        <p:txBody>
          <a:bodyPr wrap="square">
            <a:noAutofit/>
          </a:bodyPr>
          <a:lstStyle/>
          <a:p>
            <a:pPr/>
            <a:r>
              <a:rPr lang="en-MY" sz="1100" dirty="0">
                <a:solidFill>
                  <a:srgbClr val="808080"/>
                </a:solidFill>
              </a:rPr>
              <a:t>[Visual: Foto jadual spesifikasi Kerusi Konkrit, modul ms 243. Aset K5PL06T03-B02-IMG-p243-x31.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Konkrit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II_KERUSI_TAMAN_R02_SPEC01  &lt;-  K5-PL06-T03-B02-KERUSI-TAMAN-ROW-02</a:t>
            </a:r>
          </a:p>
          <a:p>
            <a:r>
              <a:rPr lang="en-MY" sz="900" dirty="0">
                <a:solidFill>
                  <a:schemeClr val="tx1">
                    <a:lumMod val="85000"/>
                    <a:lumOff val="15000"/>
                  </a:schemeClr>
                </a:solidFill>
              </a:rPr>
              <a:t>  II_KERUSI_TAMAN_R02_SPEC02  &lt;-  K5-PL06-T03-B02-KERUSI-TAMAN-ROW-02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Komposit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Komposit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WPC - </a:t>
            </a:r>
            <a:r>
              <a:rPr lang="en-MY" sz="1400" b="1" i="1" dirty="0">
                <a:solidFill>
                  <a:schemeClr val="tx1">
                    <a:lumMod val="85000"/>
                    <a:lumOff val="15000"/>
                  </a:schemeClr>
                </a:solidFill>
              </a:rPr>
              <a:t>Wood-Plastic Composite</a:t>
            </a:r>
            <a:r>
              <a:rPr lang="en-MY" sz="1400" b="1" dirty="0">
                <a:solidFill>
                  <a:schemeClr val="tx1">
                    <a:lumMod val="85000"/>
                    <a:lumOff val="15000"/>
                  </a:schemeClr>
                </a:solidFill>
              </a:rPr>
              <a:t> / Plastik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Komposit, modul ms 243. Aset K5PL06T03-B02-IMG-p243-x32.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Komposit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[example_complete[K5-PL06-T03-B02-KERUSI-TAMAN-ROW-03]]</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K5PL06T03-B02-IMG-p243-x32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II_KERUSI_TAMAN_R03_SPEC01  &lt;-  K5-PL06-T03-B02-KERUSI-TAMAN-ROW-03</a:t>
            </a:r>
          </a:p>
          <a:p>
            <a:r>
              <a:rPr lang="en-MY" sz="900" dirty="0">
                <a:solidFill>
                  <a:schemeClr val="tx1">
                    <a:lumMod val="85000"/>
                    <a:lumOff val="15000"/>
                  </a:schemeClr>
                </a:solidFill>
              </a:rPr>
              <a:t>  II_KERUSI_TAMAN_R03_SPEC02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Komposit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Komposit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WPC - </a:t>
            </a:r>
            <a:r>
              <a:rPr lang="en-MY" sz="1400" b="1" i="1" dirty="0">
                <a:solidFill>
                  <a:schemeClr val="tx1">
                    <a:lumMod val="85000"/>
                    <a:lumOff val="15000"/>
                  </a:schemeClr>
                </a:solidFill>
              </a:rPr>
              <a:t>Wood-Plastic Composite</a:t>
            </a:r>
            <a:r>
              <a:rPr lang="en-MY" sz="1400" b="1" dirty="0">
                <a:solidFill>
                  <a:schemeClr val="tx1">
                    <a:lumMod val="85000"/>
                    <a:lumOff val="15000"/>
                  </a:schemeClr>
                </a:solidFill>
              </a:rPr>
              <a:t> / Plastik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Komposit, modul ms 243. Aset K5PL06T03-B02-IMG-p243-x32.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Komposit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644652"/>
          </a:xfrm>
          <a:prstGeom prst="rect">
            <a:avLst/>
          </a:prstGeom>
          <a:noFill/>
        </p:spPr>
        <p:txBody>
          <a:bodyPr wrap="square">
            <a:noAutofit/>
          </a:bodyPr>
          <a:lstStyle/>
          <a:p>
            <a:pPr/>
            <a:r>
              <a:rPr lang="en-MY" sz="1250" dirty="0">
                <a:solidFill>
                  <a:schemeClr val="tx1">
                    <a:lumMod val="85000"/>
                    <a:lumOff val="15000"/>
                  </a:schemeClr>
                </a:solidFill>
              </a:rPr>
              <a:t>Papan atau profil daripada campuran gentian kayu/selulosa dan plastik kitar semula. Tahan</a:t>
            </a:r>
          </a:p>
          <a:p>
            <a:pPr/>
            <a:r>
              <a:rPr lang="en-MY" sz="1250" dirty="0">
                <a:solidFill>
                  <a:schemeClr val="tx1">
                    <a:lumMod val="85000"/>
                    <a:lumOff val="15000"/>
                  </a:schemeClr>
                </a:solidFill>
              </a:rPr>
              <a:t>UV,</a:t>
            </a:r>
          </a:p>
          <a:p>
            <a:pPr/>
            <a:r>
              <a:rPr lang="en-MY" sz="1250" dirty="0">
                <a:solidFill>
                  <a:schemeClr val="tx1">
                    <a:lumMod val="85000"/>
                    <a:lumOff val="15000"/>
                  </a:schemeClr>
                </a:solidFill>
              </a:rPr>
              <a:t>kalis air, tidak reput, kalis serangga.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Komposit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SCR_KERUSI_TAMAN_EX03_DETAIL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II_KERUSI_TAMAN_R03_SPEC01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SCR_KERUSI_TAMAN_EX03_DETAIL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Komposit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Komposit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WPC - </a:t>
            </a:r>
            <a:r>
              <a:rPr lang="en-MY" sz="1400" b="1" i="1" dirty="0">
                <a:solidFill>
                  <a:schemeClr val="tx1">
                    <a:lumMod val="85000"/>
                    <a:lumOff val="15000"/>
                  </a:schemeClr>
                </a:solidFill>
              </a:rPr>
              <a:t>Wood-Plastic Composite</a:t>
            </a:r>
            <a:r>
              <a:rPr lang="en-MY" sz="1400" b="1" dirty="0">
                <a:solidFill>
                  <a:schemeClr val="tx1">
                    <a:lumMod val="85000"/>
                    <a:lumOff val="15000"/>
                  </a:schemeClr>
                </a:solidFill>
              </a:rPr>
              <a:t> / Plastik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Komposit, modul ms 243. Aset K5PL06T03-B02-IMG-p243-x32.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Komposit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Kemasan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Warna disepadukan dalam bahan; tidak memerlukan cat atau varnis. Tekstur permukaan mungkin</a:t>
            </a:r>
          </a:p>
          <a:p>
            <a:pPr/>
            <a:r>
              <a:rPr lang="en-MY" sz="1250" dirty="0">
                <a:solidFill>
                  <a:schemeClr val="tx1">
                    <a:lumMod val="85000"/>
                    <a:lumOff val="15000"/>
                  </a:schemeClr>
                </a:solidFill>
              </a:rPr>
              <a:t>meniru urat kayu.</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Komposit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SCR_KERUSI_TAMAN_EX03_DETAIL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II_KERUSI_TAMAN_R03_SPEC02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SCR_KERUSI_TAMAN_EX03_DETAIL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Komposit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Komposit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WPC - </a:t>
            </a:r>
            <a:r>
              <a:rPr lang="en-MY" sz="1400" b="1" i="1" dirty="0">
                <a:solidFill>
                  <a:schemeClr val="tx1">
                    <a:lumMod val="85000"/>
                    <a:lumOff val="15000"/>
                  </a:schemeClr>
                </a:solidFill>
              </a:rPr>
              <a:t>Wood-Plastic Composite</a:t>
            </a:r>
            <a:r>
              <a:rPr lang="en-MY" sz="1400" b="1" dirty="0">
                <a:solidFill>
                  <a:schemeClr val="tx1">
                    <a:lumMod val="85000"/>
                    <a:lumOff val="15000"/>
                  </a:schemeClr>
                </a:solidFill>
              </a:rPr>
              <a:t> / Plastik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Komposit, modul ms 243. Aset K5PL06T03-B02-IMG-p243-x32.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Komposit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II_KERUSI_TAMAN_R03_SPEC01  &lt;-  K5-PL06-T03-B02-KERUSI-TAMAN-ROW-03</a:t>
            </a:r>
          </a:p>
          <a:p>
            <a:r>
              <a:rPr lang="en-MY" sz="900" dirty="0">
                <a:solidFill>
                  <a:schemeClr val="tx1">
                    <a:lumMod val="85000"/>
                    <a:lumOff val="15000"/>
                  </a:schemeClr>
                </a:solidFill>
              </a:rPr>
              <a:t>  II_KERUSI_TAMAN_R03_SPEC02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Kerusi Taman</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Kayu Keras</a:t>
            </a:r>
          </a:p>
        </p:txBody>
      </p:sp>
      <p:sp>
        <p:nvSpPr>
          <p:cNvPr id="41" name="Tick"/>
          <p:cNvSpPr/>
          <p:nvPr/>
        </p:nvSpPr>
        <p:spPr>
          <a:xfrm>
            <a:off x="3646917"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Konkrit</a:t>
            </a:r>
          </a:p>
        </p:txBody>
      </p:sp>
      <p:sp>
        <p:nvSpPr>
          <p:cNvPr id="43" name="Tick"/>
          <p:cNvSpPr/>
          <p:nvPr/>
        </p:nvSpPr>
        <p:spPr>
          <a:xfrm>
            <a:off x="7356333"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Komposit</a:t>
            </a:r>
          </a:p>
        </p:txBody>
      </p:sp>
      <p:sp>
        <p:nvSpPr>
          <p:cNvPr id="45" name="Tick"/>
          <p:cNvSpPr/>
          <p:nvPr/>
        </p:nvSpPr>
        <p:spPr>
          <a:xfrm>
            <a:off x="11065749"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SCR_KERUSI_TAMAN_MAIN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II_KERUSI_TAMAN_EX01  &lt;-  K5-PL06-T03-B02-KERUSI-TAMAN-ROW-01</a:t>
            </a:r>
          </a:p>
          <a:p>
            <a:r>
              <a:rPr lang="en-MY" sz="900" dirty="0">
                <a:solidFill>
                  <a:schemeClr val="tx1">
                    <a:lumMod val="85000"/>
                    <a:lumOff val="15000"/>
                  </a:schemeClr>
                </a:solidFill>
              </a:rPr>
              <a:t>  II_KERUSI_TAMAN_EX02  &lt;-  K5-PL06-T03-B02-KERUSI-TAMAN-ROW-02</a:t>
            </a:r>
          </a:p>
          <a:p>
            <a:r>
              <a:rPr lang="en-MY" sz="900" dirty="0">
                <a:solidFill>
                  <a:schemeClr val="tx1">
                    <a:lumMod val="85000"/>
                    <a:lumOff val="15000"/>
                  </a:schemeClr>
                </a:solidFill>
              </a:rPr>
              <a:t>  II_KERUSI_TAMAN_EX03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3/3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ItemCard"/>
          <p:cNvSpPr txBox="1"/>
          <p:nvPr/>
        </p:nvSpPr>
        <p:spPr>
          <a:xfrm>
            <a:off x="3505947"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2"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Grafik</a:t>
            </a:r>
          </a:p>
        </p:txBody>
      </p:sp>
      <p:sp>
        <p:nvSpPr>
          <p:cNvPr id="43"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30" name="VisualDir"/>
          <p:cNvSpPr txBox="1"/>
          <p:nvPr/>
        </p:nvSpPr>
        <p:spPr>
          <a:xfrm>
            <a:off x="723930" y="5394960"/>
            <a:ext cx="10744200" cy="365760"/>
          </a:xfrm>
          <a:prstGeom prst="rect">
            <a:avLst/>
          </a:prstGeom>
          <a:noFill/>
        </p:spPr>
        <p:txBody>
          <a:bodyPr wrap="square">
            <a:noAutofit/>
          </a:bodyPr>
          <a:lstStyle/>
          <a:p>
            <a:pPr/>
            <a:r>
              <a:rPr lang="en-MY" sz="1100" dirty="0">
                <a:solidFill>
                  <a:srgbClr val="808080"/>
                </a:solidFill>
              </a:rPr>
              <a:t>[Visual: Rajah 25 dan Rajah 26, modul ms 245.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COMPONENT_SPEC_LIST_BASE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explanation + specification-category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[component_complete[PAPAN_TANDA]]</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K5PL06T03-B02-IMG-p245-x37</a:t>
            </a:r>
          </a:p>
          <a:p>
            <a:r>
              <a:rPr lang="en-MY" sz="900" dirty="0">
                <a:solidFill>
                  <a:schemeClr val="tx1">
                    <a:lumMod val="85000"/>
                    <a:lumOff val="15000"/>
                  </a:schemeClr>
                </a:solidFill>
              </a:rPr>
              <a:t>  K5PL06T03-B02-IMG-p245-x38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II_PAPAN_TANDA_CAT01  &lt;-  K5-PL06-T03-B02-PAPAN-TANDA-ROW-01</a:t>
            </a:r>
          </a:p>
          <a:p>
            <a:r>
              <a:rPr lang="en-MY" sz="900" dirty="0">
                <a:solidFill>
                  <a:schemeClr val="tx1">
                    <a:lumMod val="85000"/>
                    <a:lumOff val="15000"/>
                  </a:schemeClr>
                </a:solidFill>
              </a:rPr>
              <a:t>  II_PAPAN_TANDA_CAT02  &lt;-  K5-PL06-T03-B02-PAPAN-TANDA-ROW-01</a:t>
            </a:r>
          </a:p>
          <a:p>
            <a:r>
              <a:rPr lang="en-MY" sz="900" dirty="0">
                <a:solidFill>
                  <a:schemeClr val="tx1">
                    <a:lumMod val="85000"/>
                    <a:lumOff val="15000"/>
                  </a:schemeClr>
                </a:solidFill>
              </a:rPr>
              <a:t>  II_PAPAN_TANDA_CAT03  &lt;-  K5-PL06-T03-B02-PAPAN-TANDA-ROW-01</a:t>
            </a:r>
          </a:p>
          <a:p>
            <a:r>
              <a:rPr lang="en-MY" sz="900" dirty="0">
                <a:solidFill>
                  <a:schemeClr val="tx1">
                    <a:lumMod val="85000"/>
                    <a:lumOff val="15000"/>
                  </a:schemeClr>
                </a:solidFill>
              </a:rPr>
              <a:t>  II_PAPAN_TANDA_CAT04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(None).</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0/4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kategori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Grafik</a:t>
            </a:r>
          </a:p>
        </p:txBody>
      </p:sp>
      <p:sp>
        <p:nvSpPr>
          <p:cNvPr id="44"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 Panel</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644652"/>
          </a:xfrm>
          <a:prstGeom prst="rect">
            <a:avLst/>
          </a:prstGeom>
          <a:noFill/>
        </p:spPr>
        <p:txBody>
          <a:bodyPr wrap="square">
            <a:noAutofit/>
          </a:bodyPr>
          <a:lstStyle/>
          <a:p>
            <a:pPr/>
            <a:r>
              <a:rPr lang="en-MY" sz="1250" dirty="0">
                <a:solidFill>
                  <a:schemeClr val="tx1">
                    <a:lumMod val="85000"/>
                    <a:lumOff val="15000"/>
                  </a:schemeClr>
                </a:solidFill>
              </a:rPr>
              <a:t>Aluminium Komposit (ACP) 3–4mm; HPL gred luar 6–10mm; Akrilik terstabil UV 5–10mm; Kayu</a:t>
            </a:r>
          </a:p>
          <a:p>
            <a:pPr/>
            <a:r>
              <a:rPr lang="en-MY" sz="1250" dirty="0">
                <a:solidFill>
                  <a:schemeClr val="tx1">
                    <a:lumMod val="85000"/>
                    <a:lumOff val="15000"/>
                  </a:schemeClr>
                </a:solidFill>
              </a:rPr>
              <a:t>dirawat</a:t>
            </a:r>
          </a:p>
          <a:p>
            <a:pPr/>
            <a:r>
              <a:rPr lang="en-MY" sz="1250" dirty="0">
                <a:solidFill>
                  <a:schemeClr val="tx1">
                    <a:lumMod val="85000"/>
                    <a:lumOff val="15000"/>
                  </a:schemeClr>
                </a:solidFill>
              </a:rPr>
              <a:t>tekanan/kayu keras min. 20mm.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II_PAPAN_TANDA_CAT01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1/4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 Struktur/Tiang</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Keluli bersalut serbuk atau tahan karat, profil 50mm × 50mm ke atas; kayu keras min. 75mm ×</a:t>
            </a:r>
          </a:p>
          <a:p>
            <a:pPr/>
            <a:r>
              <a:rPr lang="en-MY" sz="1250" dirty="0">
                <a:solidFill>
                  <a:schemeClr val="tx1">
                    <a:lumMod val="85000"/>
                    <a:lumOff val="15000"/>
                  </a:schemeClr>
                </a:solidFill>
              </a:rPr>
              <a:t>75mm.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II_PAPAN_TANDA_CAT02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2/4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Grafik</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Cetakan UV langsung, cetakan digital pada vinil gred luar, atau ukiran laser. Mesti tahan</a:t>
            </a:r>
          </a:p>
          <a:p>
            <a:pPr/>
            <a:r>
              <a:rPr lang="en-MY" sz="1250" dirty="0">
                <a:solidFill>
                  <a:schemeClr val="tx1">
                    <a:lumMod val="85000"/>
                    <a:lumOff val="15000"/>
                  </a:schemeClr>
                </a:solidFill>
              </a:rPr>
              <a:t>pudar.</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II_PAPAN_TANDA_CAT03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3/4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Rekaan</a:t>
            </a:r>
          </a:p>
        </p:txBody>
      </p:sp>
      <p:sp>
        <p:nvSpPr>
          <p:cNvPr id="47" name="Tick"/>
          <p:cNvSpPr/>
          <p:nvPr/>
        </p:nvSpPr>
        <p:spPr>
          <a:xfrm>
            <a:off x="11065749"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Rekaan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Font jelas, saiz teks sesuai jarak pandang, kontras warna tinggi.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II_PAPAN_TANDA_CAT04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4/4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Rekaan</a:t>
            </a:r>
          </a:p>
        </p:txBody>
      </p:sp>
      <p:sp>
        <p:nvSpPr>
          <p:cNvPr id="47" name="Tick"/>
          <p:cNvSpPr/>
          <p:nvPr/>
        </p:nvSpPr>
        <p:spPr>
          <a:xfrm>
            <a:off x="11065749"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COMPONENT_SPEC_LIST_ALL_VIEWED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II_PAPAN_TANDA_CAT01  &lt;-  K5-PL06-T03-B02-PAPAN-TANDA-ROW-01</a:t>
            </a:r>
          </a:p>
          <a:p>
            <a:r>
              <a:rPr lang="en-MY" sz="900" dirty="0">
                <a:solidFill>
                  <a:schemeClr val="tx1">
                    <a:lumMod val="85000"/>
                    <a:lumOff val="15000"/>
                  </a:schemeClr>
                </a:solidFill>
              </a:rPr>
              <a:t>  II_PAPAN_TANDA_CAT02  &lt;-  K5-PL06-T03-B02-PAPAN-TANDA-ROW-01</a:t>
            </a:r>
          </a:p>
          <a:p>
            <a:r>
              <a:rPr lang="en-MY" sz="900" dirty="0">
                <a:solidFill>
                  <a:schemeClr val="tx1">
                    <a:lumMod val="85000"/>
                    <a:lumOff val="15000"/>
                  </a:schemeClr>
                </a:solidFill>
              </a:rPr>
              <a:t>  II_PAPAN_TANDA_CAT03  &lt;-  K5-PL06-T03-B02-PAPAN-TANDA-ROW-01</a:t>
            </a:r>
          </a:p>
          <a:p>
            <a:r>
              <a:rPr lang="en-MY" sz="900" dirty="0">
                <a:solidFill>
                  <a:schemeClr val="tx1">
                    <a:lumMod val="85000"/>
                    <a:lumOff val="15000"/>
                  </a:schemeClr>
                </a:solidFill>
              </a:rPr>
              <a:t>  II_PAPAN_TANDA_CAT04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(None).</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4/4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Tong Sampah</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Logam</a:t>
            </a:r>
          </a:p>
        </p:txBody>
      </p:sp>
      <p:sp>
        <p:nvSpPr>
          <p:cNvPr id="41" name="ItemCard"/>
          <p:cNvSpPr txBox="1"/>
          <p:nvPr/>
        </p:nvSpPr>
        <p:spPr>
          <a:xfrm>
            <a:off x="4433301"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Konkrit/Batu</a:t>
            </a:r>
          </a:p>
        </p:txBody>
      </p:sp>
      <p:sp>
        <p:nvSpPr>
          <p:cNvPr id="42" name="ItemCard"/>
          <p:cNvSpPr txBox="1"/>
          <p:nvPr/>
        </p:nvSpPr>
        <p:spPr>
          <a:xfrm>
            <a:off x="8142717"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Plastik Kitar Semula (HDPE)</a:t>
            </a:r>
          </a:p>
        </p:txBody>
      </p:sp>
      <p:sp>
        <p:nvSpPr>
          <p:cNvPr id="30" name="VisualDir"/>
          <p:cNvSpPr txBox="1"/>
          <p:nvPr/>
        </p:nvSpPr>
        <p:spPr>
          <a:xfrm>
            <a:off x="723930" y="5394960"/>
            <a:ext cx="10744200" cy="365760"/>
          </a:xfrm>
          <a:prstGeom prst="rect">
            <a:avLst/>
          </a:prstGeom>
          <a:noFill/>
        </p:spPr>
        <p:txBody>
          <a:bodyPr wrap="square">
            <a:noAutofit/>
          </a:bodyPr>
          <a:lstStyle/>
          <a:p>
            <a:pPr/>
            <a:r>
              <a:rPr lang="en-MY" sz="1100" dirty="0">
                <a:solidFill>
                  <a:srgbClr val="808080"/>
                </a:solidFill>
              </a:rPr>
              <a:t>[Visual: Foto jadual spesifikasi tong sampah, modul ms 246–247.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overview + example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[component_complete[TONG_SAMPAH]]</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SCR_TONG_SAMPAH_MAIN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II_TONG_SAMPAH_EX01  &lt;-  K5-PL06-T03-B02-TONG-SAMPAH-ROW-01</a:t>
            </a:r>
          </a:p>
          <a:p>
            <a:r>
              <a:rPr lang="en-MY" sz="900" dirty="0">
                <a:solidFill>
                  <a:schemeClr val="tx1">
                    <a:lumMod val="85000"/>
                    <a:lumOff val="15000"/>
                  </a:schemeClr>
                </a:solidFill>
              </a:rPr>
              <a:t>  II_TONG_SAMPAH_EX02  &lt;-  K5-PL06-T03-B02-TONG-SAMPAH-ROW-02</a:t>
            </a:r>
          </a:p>
          <a:p>
            <a:r>
              <a:rPr lang="en-MY" sz="900" dirty="0">
                <a:solidFill>
                  <a:schemeClr val="tx1">
                    <a:lumMod val="85000"/>
                    <a:lumOff val="15000"/>
                  </a:schemeClr>
                </a:solidFill>
              </a:rPr>
              <a:t>  II_TONG_SAMPAH_EX03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0/3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melihat perincian.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Logam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Logam</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Tong sampah silinder atau segi empat tepat dengan penutup berayun atau bukaan di atas, sering</a:t>
            </a:r>
          </a:p>
          <a:p>
            <a:pPr/>
            <a:r>
              <a:rPr lang="en-MY" sz="1400" b="1" dirty="0">
                <a:solidFill>
                  <a:schemeClr val="tx1">
                    <a:lumMod val="85000"/>
                    <a:lumOff val="15000"/>
                  </a:schemeClr>
                </a:solidFill>
              </a:rPr>
              <a:t>dilihat di taman bandar.</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Tong Sampah Logam, modul ms 246. Aset K5PL06T03-B02-IMG-p246-x41.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Logam</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[example_complete[K5-PL06-T03-B02-TONG-SAMPAH-ROW-01]]</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K5PL06T03-B02-IMG-p246-x41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II_TONG_SAMPAH_R01_SPEC01  &lt;-  K5-PL06-T03-B02-TONG-SAMPAH-ROW-01</a:t>
            </a:r>
          </a:p>
          <a:p>
            <a:r>
              <a:rPr lang="en-MY" sz="900" dirty="0">
                <a:solidFill>
                  <a:schemeClr val="tx1">
                    <a:lumMod val="85000"/>
                    <a:lumOff val="15000"/>
                  </a:schemeClr>
                </a:solidFill>
              </a:rPr>
              <a:t>  II_TONG_SAMPAH_R01_SPEC02  &lt;-  K5-PL06-T03-B02-TONG-SAMPAH-ROW-01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Logam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Logam</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Tong sampah silinder atau segi empat tepat dengan penutup berayun atau bukaan di atas, sering</a:t>
            </a:r>
          </a:p>
          <a:p>
            <a:pPr/>
            <a:r>
              <a:rPr lang="en-MY" sz="1400" b="1" dirty="0">
                <a:solidFill>
                  <a:schemeClr val="tx1">
                    <a:lumMod val="85000"/>
                    <a:lumOff val="15000"/>
                  </a:schemeClr>
                </a:solidFill>
              </a:rPr>
              <a:t>dilihat di taman bandar.</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Tong Sampah Logam, modul ms 246. Aset K5PL06T03-B02-IMG-p246-x41.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Logam</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Keluli lembut digalvani dan disalut serbuk, atau keluli tahan karat. Ketebalan dinding badan</a:t>
            </a:r>
          </a:p>
          <a:p>
            <a:pPr/>
            <a:r>
              <a:rPr lang="en-MY" sz="1250" dirty="0">
                <a:solidFill>
                  <a:schemeClr val="tx1">
                    <a:lumMod val="85000"/>
                    <a:lumOff val="15000"/>
                  </a:schemeClr>
                </a:solidFill>
              </a:rPr>
              <a:t>min. 1.2mm.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Logam</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II_TONG_SAMPAH_R01_SPEC01  &lt;-  K5-PL06-T03-B02-TONG-SAMPAH-ROW-01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SCR_TONG_SAMPAH_EX01_DETAIL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Logam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Logam</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Tong sampah silinder atau segi empat tepat dengan penutup berayun atau bukaan di atas, sering</a:t>
            </a:r>
          </a:p>
          <a:p>
            <a:pPr/>
            <a:r>
              <a:rPr lang="en-MY" sz="1400" b="1" dirty="0">
                <a:solidFill>
                  <a:schemeClr val="tx1">
                    <a:lumMod val="85000"/>
                    <a:lumOff val="15000"/>
                  </a:schemeClr>
                </a:solidFill>
              </a:rPr>
              <a:t>dilihat di taman bandar.</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Tong Sampah Logam, modul ms 246. Aset K5PL06T03-B02-IMG-p246-x41.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Logam</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Ciri-ciri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644652"/>
          </a:xfrm>
          <a:prstGeom prst="rect">
            <a:avLst/>
          </a:prstGeom>
          <a:noFill/>
        </p:spPr>
        <p:txBody>
          <a:bodyPr wrap="square">
            <a:noAutofit/>
          </a:bodyPr>
          <a:lstStyle/>
          <a:p>
            <a:pPr/>
            <a:r>
              <a:rPr lang="en-MY" sz="1250" dirty="0">
                <a:solidFill>
                  <a:schemeClr val="tx1">
                    <a:lumMod val="85000"/>
                    <a:lumOff val="15000"/>
                  </a:schemeClr>
                </a:solidFill>
              </a:rPr>
              <a:t>Penutup tahan cuaca dan tahan haiwan; pembukaan pembuangan ergonomik; tong dalam (liner)</a:t>
            </a:r>
          </a:p>
          <a:p>
            <a:pPr/>
            <a:r>
              <a:rPr lang="en-MY" sz="1250" dirty="0">
                <a:solidFill>
                  <a:schemeClr val="tx1">
                    <a:lumMod val="85000"/>
                    <a:lumOff val="15000"/>
                  </a:schemeClr>
                </a:solidFill>
              </a:rPr>
              <a:t>mudah</a:t>
            </a:r>
          </a:p>
          <a:p>
            <a:pPr/>
            <a:r>
              <a:rPr lang="en-MY" sz="1250" dirty="0">
                <a:solidFill>
                  <a:schemeClr val="tx1">
                    <a:lumMod val="85000"/>
                    <a:lumOff val="15000"/>
                  </a:schemeClr>
                </a:solidFill>
              </a:rPr>
              <a:t>dikeluarkan.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Logam</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II_TONG_SAMPAH_R01_SPEC02  &lt;-  K5-PL06-T03-B02-TONG-SAMPAH-ROW-01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SCR_TONG_SAMPAH_EX01_DETAIL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Logam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Logam</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Tong sampah silinder atau segi empat tepat dengan penutup berayun atau bukaan di atas, sering</a:t>
            </a:r>
          </a:p>
          <a:p>
            <a:pPr/>
            <a:r>
              <a:rPr lang="en-MY" sz="1400" b="1" dirty="0">
                <a:solidFill>
                  <a:schemeClr val="tx1">
                    <a:lumMod val="85000"/>
                    <a:lumOff val="15000"/>
                  </a:schemeClr>
                </a:solidFill>
              </a:rPr>
              <a:t>dilihat di taman bandar.</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Tong Sampah Logam, modul ms 246. Aset K5PL06T03-B02-IMG-p246-x41.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Logam</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II_TONG_SAMPAH_R01_SPEC01  &lt;-  K5-PL06-T03-B02-TONG-SAMPAH-ROW-01</a:t>
            </a:r>
          </a:p>
          <a:p>
            <a:r>
              <a:rPr lang="en-MY" sz="900" dirty="0">
                <a:solidFill>
                  <a:schemeClr val="tx1">
                    <a:lumMod val="85000"/>
                    <a:lumOff val="15000"/>
                  </a:schemeClr>
                </a:solidFill>
              </a:rPr>
              <a:t>  II_TONG_SAMPAH_R01_SPEC02  &lt;-  K5-PL06-T03-B02-TONG-SAMPAH-ROW-01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berat dan kukuh yang disepadukan dengan reka bentuk landskap.</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Tong Sampah Konkrit/Batu, modul ms 247. Aset K5PL06T03-B02-IMG-p247-x44.</a:t>
            </a:r>
          </a:p>
          <a:p>
            <a:pPr/>
            <a:r>
              <a:rPr lang="en-MY" sz="1100" dirty="0">
                <a:solidFill>
                  <a:srgbClr val="808080"/>
                </a:solidFill>
              </a:rPr>
              <a:t>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[example_complete[K5-PL06-T03-B02-TONG-SAMPAH-ROW-02]]</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K5PL06T03-B02-IMG-p247-x44</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II_TONG_SAMPAH_R02_SPEC01  &lt;-  K5-PL06-T03-B02-TONG-SAMPAH-ROW-02</a:t>
            </a:r>
          </a:p>
          <a:p>
            <a:r>
              <a:rPr lang="en-MY" sz="900" dirty="0">
                <a:solidFill>
                  <a:schemeClr val="tx1">
                    <a:lumMod val="85000"/>
                    <a:lumOff val="15000"/>
                  </a:schemeClr>
                </a:solidFill>
              </a:rPr>
              <a:t>  II_TONG_SAMPAH_R02_SPEC02  &lt;-  K5-PL06-T03-B02-TONG-SAMPAH-ROW-02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berat dan kukuh yang disepadukan dengan reka bentuk landskap.</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Tong Sampah Konkrit/Batu, modul ms 247. Aset K5PL06T03-B02-IMG-p247-x44.</a:t>
            </a:r>
          </a:p>
          <a:p>
            <a:pPr/>
            <a:r>
              <a:rPr lang="en-MY" sz="1100" dirty="0">
                <a:solidFill>
                  <a:srgbClr val="808080"/>
                </a:solidFill>
              </a:rPr>
              <a:t>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Konkrit/Batu</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Konkrit bertetulang atau batu asli/tiruan. Berat mencukupi bagi mengelak kecurian atau</a:t>
            </a:r>
          </a:p>
          <a:p>
            <a:pPr/>
            <a:r>
              <a:rPr lang="en-MY" sz="1250" dirty="0">
                <a:solidFill>
                  <a:schemeClr val="tx1">
                    <a:lumMod val="85000"/>
                    <a:lumOff val="15000"/>
                  </a:schemeClr>
                </a:solidFill>
              </a:rPr>
              <a:t>pergerakan tidak disengajakan.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II_TONG_SAMPAH_R02_SPEC01  &lt;-  K5-PL06-T03-B02-TONG-SAMPAH-ROW-02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SCR_TONG_SAMPAH_EX02_DETAIL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berat dan kukuh yang disepadukan dengan reka bentuk landskap.</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Tong Sampah Konkrit/Batu, modul ms 247. Aset K5PL06T03-B02-IMG-p247-x44.</a:t>
            </a:r>
          </a:p>
          <a:p>
            <a:pPr/>
            <a:r>
              <a:rPr lang="en-MY" sz="1100" dirty="0">
                <a:solidFill>
                  <a:srgbClr val="808080"/>
                </a:solidFill>
              </a:rPr>
              <a:t>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Konkrit/Batu</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Ciri-ciri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Pembukaan sesuai untuk sampah, dengan atau tanpa tong dalam logam.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II_TONG_SAMPAH_R02_SPEC02  &lt;-  K5-PL06-T03-B02-TONG-SAMPAH-ROW-02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SCR_TONG_SAMPAH_EX02_DETAIL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berat dan kukuh yang disepadukan dengan reka bentuk landskap.</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Tong Sampah Konkrit/Batu, modul ms 247. Aset K5PL06T03-B02-IMG-p247-x44.</a:t>
            </a:r>
          </a:p>
          <a:p>
            <a:pPr/>
            <a:r>
              <a:rPr lang="en-MY" sz="1100" dirty="0">
                <a:solidFill>
                  <a:srgbClr val="808080"/>
                </a:solidFill>
              </a:rPr>
              <a:t>Tidak 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II_TONG_SAMPAH_R02_SPEC01  &lt;-  K5-PL06-T03-B02-TONG-SAMPAH-ROW-02</a:t>
            </a:r>
          </a:p>
          <a:p>
            <a:r>
              <a:rPr lang="en-MY" sz="900" dirty="0">
                <a:solidFill>
                  <a:schemeClr val="tx1">
                    <a:lumMod val="85000"/>
                    <a:lumOff val="15000"/>
                  </a:schemeClr>
                </a:solidFill>
              </a:rPr>
              <a:t>  II_TONG_SAMPAH_R02_SPEC02  &lt;-  K5-PL06-T03-B02-TONG-SAMPAH-ROW-02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Plastik Kitar Semula (HDPE)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Plastik Kitar Semula (HDPE)</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berwarna-warni yang sering digunakan untuk pengasingan sisa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Dua foto jadual spesifikasi Tong Sampah Plastik HDPE, modul ms 247. Aset K5PL06T03-B02-IMG-p247-x45</a:t>
            </a:r>
          </a:p>
          <a:p>
            <a:pPr/>
            <a:r>
              <a:rPr lang="en-MY" sz="1100" dirty="0">
                <a:solidFill>
                  <a:srgbClr val="808080"/>
                </a:solidFill>
              </a:rPr>
              <a:t>dan K5PL06T03-B02-IMG-p247-x46. 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Plastik Kitar Semula (HDPE)</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[example_complete[K5-PL06-T03-B02-TONG-SAMPAH-ROW-03]]</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K5PL06T03-B02-IMG-p247-x45</a:t>
            </a:r>
          </a:p>
          <a:p>
            <a:r>
              <a:rPr lang="en-MY" sz="900" dirty="0">
                <a:solidFill>
                  <a:schemeClr val="tx1">
                    <a:lumMod val="85000"/>
                    <a:lumOff val="15000"/>
                  </a:schemeClr>
                </a:solidFill>
              </a:rPr>
              <a:t>  K5PL06T03-B02-IMG-p247-x46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II_TONG_SAMPAH_R03_SPEC01  &lt;-  K5-PL06-T03-B02-TONG-SAMPAH-ROW-03</a:t>
            </a:r>
          </a:p>
          <a:p>
            <a:r>
              <a:rPr lang="en-MY" sz="900" dirty="0">
                <a:solidFill>
                  <a:schemeClr val="tx1">
                    <a:lumMod val="85000"/>
                    <a:lumOff val="15000"/>
                  </a:schemeClr>
                </a:solidFill>
              </a:rPr>
              <a:t>  II_TONG_SAMPAH_R03_SPEC02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Plastik Kitar Semula (HDPE)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Plastik Kitar Semula (HDPE)</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berwarna-warni yang sering digunakan untuk pengasingan sisa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Dua foto jadual spesifikasi Tong Sampah Plastik HDPE, modul ms 247. Aset K5PL06T03-B02-IMG-p247-x45</a:t>
            </a:r>
          </a:p>
          <a:p>
            <a:pPr/>
            <a:r>
              <a:rPr lang="en-MY" sz="1100" dirty="0">
                <a:solidFill>
                  <a:srgbClr val="808080"/>
                </a:solidFill>
              </a:rPr>
              <a:t>dan K5PL06T03-B02-IMG-p247-x46.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Plastik Kitar Semula (HDPE)</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Plastik berketumpatan tinggi (HDPE) yang tahan UV, tidak reput dan mudah dibersihkan.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Plastik Kitar Semula (HDPE)</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SCR_TONG_SAMPAH_EX03_DETAIL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II_TONG_SAMPAH_R03_SPEC01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SCR_TONG_SAMPAH_EX03_DETAIL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Plastik Kitar Semula (HDPE)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Plastik Kitar Semula (HDPE)</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berwarna-warni yang sering digunakan untuk pengasingan sisa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Dua foto jadual spesifikasi Tong Sampah Plastik HDPE, modul ms 247. Aset K5PL06T03-B02-IMG-p247-x45</a:t>
            </a:r>
          </a:p>
          <a:p>
            <a:pPr/>
            <a:r>
              <a:rPr lang="en-MY" sz="1100" dirty="0">
                <a:solidFill>
                  <a:srgbClr val="808080"/>
                </a:solidFill>
              </a:rPr>
              <a:t>dan K5PL06T03-B02-IMG-p247-x46.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Plastik Kitar Semula (HDPE)</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Ciri-ciri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Ringan, mudah dialihkan jika tidak dipasang tetap; pelbagai warna untuk pengasingan sisa.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Plastik Kitar Semula (HDPE)</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SCR_TONG_SAMPAH_EX03_DETAIL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II_TONG_SAMPAH_R03_SPEC02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SCR_TONG_SAMPAH_EX03_DETAIL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Plastik Kitar Semula (HDPE)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Plastik Kitar Semula (HDPE)</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berwarna-warni yang sering digunakan untuk pengasingan sisa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Dua foto jadual spesifikasi Tong Sampah Plastik HDPE, modul ms 247. Aset K5PL06T03-B02-IMG-p247-x45</a:t>
            </a:r>
          </a:p>
          <a:p>
            <a:pPr/>
            <a:r>
              <a:rPr lang="en-MY" sz="1100" dirty="0">
                <a:solidFill>
                  <a:srgbClr val="808080"/>
                </a:solidFill>
              </a:rPr>
              <a:t>dan K5PL06T03-B02-IMG-p247-x46. Tidak 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Plastik Kitar Semula (HDPE)</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II_TONG_SAMPAH_R03_SPEC01  &lt;-  K5-PL06-T03-B02-TONG-SAMPAH-ROW-03</a:t>
            </a:r>
          </a:p>
          <a:p>
            <a:r>
              <a:rPr lang="en-MY" sz="900" dirty="0">
                <a:solidFill>
                  <a:schemeClr val="tx1">
                    <a:lumMod val="85000"/>
                    <a:lumOff val="15000"/>
                  </a:schemeClr>
                </a:solidFill>
              </a:rPr>
              <a:t>  II_TONG_SAMPAH_R03_SPEC02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Tong Sampah</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Logam</a:t>
            </a:r>
          </a:p>
        </p:txBody>
      </p:sp>
      <p:sp>
        <p:nvSpPr>
          <p:cNvPr id="41" name="Tick"/>
          <p:cNvSpPr/>
          <p:nvPr/>
        </p:nvSpPr>
        <p:spPr>
          <a:xfrm>
            <a:off x="3646917"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Konkrit/Batu</a:t>
            </a:r>
          </a:p>
        </p:txBody>
      </p:sp>
      <p:sp>
        <p:nvSpPr>
          <p:cNvPr id="43" name="Tick"/>
          <p:cNvSpPr/>
          <p:nvPr/>
        </p:nvSpPr>
        <p:spPr>
          <a:xfrm>
            <a:off x="7356333"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Plastik Kitar Semula (HDPE)</a:t>
            </a:r>
          </a:p>
        </p:txBody>
      </p:sp>
      <p:sp>
        <p:nvSpPr>
          <p:cNvPr id="45" name="Tick"/>
          <p:cNvSpPr/>
          <p:nvPr/>
        </p:nvSpPr>
        <p:spPr>
          <a:xfrm>
            <a:off x="11065749"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SCR_TONG_SAMPAH_MAIN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II_TONG_SAMPAH_EX01  &lt;-  K5-PL06-T03-B02-TONG-SAMPAH-ROW-01</a:t>
            </a:r>
          </a:p>
          <a:p>
            <a:r>
              <a:rPr lang="en-MY" sz="900" dirty="0">
                <a:solidFill>
                  <a:schemeClr val="tx1">
                    <a:lumMod val="85000"/>
                    <a:lumOff val="15000"/>
                  </a:schemeClr>
                </a:solidFill>
              </a:rPr>
              <a:t>  II_TONG_SAMPAH_EX02  &lt;-  K5-PL06-T03-B02-TONG-SAMPAH-ROW-02</a:t>
            </a:r>
          </a:p>
          <a:p>
            <a:r>
              <a:rPr lang="en-MY" sz="900" dirty="0">
                <a:solidFill>
                  <a:schemeClr val="tx1">
                    <a:lumMod val="85000"/>
                    <a:lumOff val="15000"/>
                  </a:schemeClr>
                </a:solidFill>
              </a:rPr>
              <a:t>  II_TONG_SAMPAH_EX03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3/3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Drinking Fountain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Drinking Fountain</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5180076"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Pancutan Air Minum Keluli Tahan Karat</a:t>
            </a:r>
          </a:p>
        </p:txBody>
      </p:sp>
      <p:sp>
        <p:nvSpPr>
          <p:cNvPr id="41" name="ItemCard"/>
          <p:cNvSpPr txBox="1"/>
          <p:nvPr/>
        </p:nvSpPr>
        <p:spPr>
          <a:xfrm>
            <a:off x="6288009" y="2157984"/>
            <a:ext cx="5180076"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Pancutan Air Minum Konkrit/Batu</a:t>
            </a:r>
          </a:p>
        </p:txBody>
      </p:sp>
      <p:sp>
        <p:nvSpPr>
          <p:cNvPr id="30" name="VisualDir"/>
          <p:cNvSpPr txBox="1"/>
          <p:nvPr/>
        </p:nvSpPr>
        <p:spPr>
          <a:xfrm>
            <a:off x="723930" y="5394960"/>
            <a:ext cx="10744200" cy="365760"/>
          </a:xfrm>
          <a:prstGeom prst="rect">
            <a:avLst/>
          </a:prstGeom>
          <a:noFill/>
        </p:spPr>
        <p:txBody>
          <a:bodyPr wrap="square">
            <a:noAutofit/>
          </a:bodyPr>
          <a:lstStyle/>
          <a:p>
            <a:pPr/>
            <a:r>
              <a:rPr lang="en-MY" sz="1100" dirty="0">
                <a:solidFill>
                  <a:srgbClr val="808080"/>
                </a:solidFill>
              </a:rPr>
              <a:t>[Visual: Foto jadual spesifikasi drinking fountain, modul ms 248–249.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overview + example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[component_complete[DRINKING_FOUNTAIN]]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SCR_DRINKING_FOUNTAIN_MAIN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II_DRINKING_FOUNTAIN_EX01  &lt;-  K5-PL06-T03-B02-DRINKING-FOUNTAIN-ROW-01</a:t>
            </a:r>
          </a:p>
          <a:p>
            <a:r>
              <a:rPr lang="en-MY" sz="900" dirty="0">
                <a:solidFill>
                  <a:schemeClr val="tx1">
                    <a:lumMod val="85000"/>
                    <a:lumOff val="15000"/>
                  </a:schemeClr>
                </a:solidFill>
              </a:rPr>
              <a:t>  II_DRINKING_FOUNTAIN_EX02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0/2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melihat perincian.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4433301"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Injap</a:t>
            </a:r>
          </a:p>
        </p:txBody>
      </p:sp>
      <p:sp>
        <p:nvSpPr>
          <p:cNvPr id="42" name="ItemCard"/>
          <p:cNvSpPr txBox="1"/>
          <p:nvPr/>
        </p:nvSpPr>
        <p:spPr>
          <a:xfrm>
            <a:off x="8142717"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3" name="ItemCard"/>
          <p:cNvSpPr txBox="1"/>
          <p:nvPr/>
        </p:nvSpPr>
        <p:spPr>
          <a:xfrm>
            <a:off x="723885"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4"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5"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[example_complete[K5-PL06-T03-B02-DRINKING-FOUNTAIN-ROW-01]]</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SCR_DRINKING_FOUNTAIN_MAIN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K5PL06T03-B02-IMG-p248-x49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II_DRINKING_FOUNTAIN_R01_SPEC01  &lt;-  K5-PL06-T03-B02-DRINKING-FOUNTAIN-ROW-01</a:t>
            </a:r>
          </a:p>
          <a:p>
            <a:r>
              <a:rPr lang="en-MY" sz="900" dirty="0">
                <a:solidFill>
                  <a:schemeClr val="tx1">
                    <a:lumMod val="85000"/>
                    <a:lumOff val="15000"/>
                  </a:schemeClr>
                </a:solidFill>
              </a:rPr>
              <a:t>  II_DRINKING_FOUNTAIN_R01_SPEC02  &lt;-  K5-PL06-T03-B02-DRINKING-FOUNTAIN-ROW-01</a:t>
            </a:r>
          </a:p>
          <a:p>
            <a:r>
              <a:rPr lang="en-MY" sz="900" dirty="0">
                <a:solidFill>
                  <a:schemeClr val="tx1">
                    <a:lumMod val="85000"/>
                    <a:lumOff val="15000"/>
                  </a:schemeClr>
                </a:solidFill>
              </a:rPr>
              <a:t>  II_DRINKING_FOUNTAIN_R01_SPEC03  &lt;-  K5-PL06-T03-B02-DRINKING-FOUNTAIN-ROW-01</a:t>
            </a:r>
          </a:p>
          <a:p>
            <a:r>
              <a:rPr lang="en-MY" sz="900" dirty="0">
                <a:solidFill>
                  <a:schemeClr val="tx1">
                    <a:lumMod val="85000"/>
                    <a:lumOff val="15000"/>
                  </a:schemeClr>
                </a:solidFill>
              </a:rPr>
              <a:t>  II_DRINKING_FOUNTAIN_R01_SPEC04  &lt;-  K5-PL06-T03-B02-DRINKING-FOUNTAIN-ROW-01</a:t>
            </a:r>
          </a:p>
          <a:p>
            <a:r>
              <a:rPr lang="en-MY" sz="900" dirty="0">
                <a:solidFill>
                  <a:schemeClr val="tx1">
                    <a:lumMod val="85000"/>
                    <a:lumOff val="15000"/>
                  </a:schemeClr>
                </a:solidFill>
              </a:rPr>
              <a:t>  II_DRINKING_FOUNTAIN_R01_SPEC05  &lt;-  K5-PL06-T03-B02-DRINKING-FOUNTAIN-ROW-01</a:t>
            </a:r>
          </a:p>
          <a:p>
            <a:r>
              <a:rPr lang="en-MY" sz="900" dirty="0">
                <a:solidFill>
                  <a:schemeClr val="tx1">
                    <a:lumMod val="85000"/>
                    <a:lumOff val="15000"/>
                  </a:schemeClr>
                </a:solidFill>
              </a:rPr>
              <a:t>  II_DRINKING_FOUNTAIN_R01_SPEC06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SCR_DRINKING_FOUNTAIN_MAIN (senarai contoh komponen).</a:t>
            </a:r>
          </a:p>
          <a:p>
            <a:r>
              <a:rPr lang="en-MY" sz="900" dirty="0">
                <a:solidFill>
                  <a:schemeClr val="tx1">
                    <a:lumMod val="85000"/>
                    <a:lumOff val="15000"/>
                  </a:schemeClr>
                </a:solidFill>
              </a:rPr>
              <a:t>  0/6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ItemCard"/>
          <p:cNvSpPr txBox="1"/>
          <p:nvPr/>
        </p:nvSpPr>
        <p:spPr>
          <a:xfrm>
            <a:off x="8142717"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4" name="ItemCard"/>
          <p:cNvSpPr txBox="1"/>
          <p:nvPr/>
        </p:nvSpPr>
        <p:spPr>
          <a:xfrm>
            <a:off x="723885"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5"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6"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644652"/>
          </a:xfrm>
          <a:prstGeom prst="rect">
            <a:avLst/>
          </a:prstGeom>
          <a:noFill/>
        </p:spPr>
        <p:txBody>
          <a:bodyPr wrap="square">
            <a:noAutofit/>
          </a:bodyPr>
          <a:lstStyle/>
          <a:p>
            <a:pPr/>
            <a:r>
              <a:rPr lang="en-MY" sz="1250" dirty="0">
                <a:solidFill>
                  <a:schemeClr val="tx1">
                    <a:lumMod val="85000"/>
                    <a:lumOff val="15000"/>
                  </a:schemeClr>
                </a:solidFill>
              </a:rPr>
              <a:t>Keluli tahan karat Gred 304 atau 316 (316 lebih tahan kakisan untuk persekitaran pantai).</a:t>
            </a:r>
          </a:p>
          <a:p>
            <a:pPr/>
            <a:r>
              <a:rPr lang="en-MY" sz="1250" dirty="0">
                <a:solidFill>
                  <a:schemeClr val="tx1">
                    <a:lumMod val="85000"/>
                    <a:lumOff val="15000"/>
                  </a:schemeClr>
                </a:solidFill>
              </a:rPr>
              <a:t>Tebal</a:t>
            </a:r>
          </a:p>
          <a:p>
            <a:pPr/>
            <a:r>
              <a:rPr lang="en-MY" sz="1250" dirty="0">
                <a:solidFill>
                  <a:schemeClr val="tx1">
                    <a:lumMod val="85000"/>
                    <a:lumOff val="15000"/>
                  </a:schemeClr>
                </a:solidFill>
              </a:rPr>
              <a:t>min. 1.5mm.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II_DRINKING_FOUNTAIN_R01_SPEC01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1/6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ItemCard"/>
          <p:cNvSpPr txBox="1"/>
          <p:nvPr/>
        </p:nvSpPr>
        <p:spPr>
          <a:xfrm>
            <a:off x="723885"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6"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7"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Injap</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Injap tekan tahan lasak dan tahan vandalisme; mekanisme membersihkan diri satu kelebihan.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II_DRINKING_FOUNTAIN_R01_SPEC02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2/6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8"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Kepala pancutan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Aliran stabil dan bersih, dilindungi daripada sentuhan mulut pengguna.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II_DRINKING_FOUNTAIN_R01_SPEC03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3/6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Tick"/>
          <p:cNvSpPr/>
          <p:nvPr/>
        </p:nvSpPr>
        <p:spPr>
          <a:xfrm>
            <a:off x="3646917"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9"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Penapisan (pilihan)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Penapis karbon atau sedimen.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II_DRINKING_FOUNTAIN_R01_SPEC04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4/6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Tick"/>
          <p:cNvSpPr/>
          <p:nvPr/>
        </p:nvSpPr>
        <p:spPr>
          <a:xfrm>
            <a:off x="3646917"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4433301"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9" name="Tick"/>
          <p:cNvSpPr/>
          <p:nvPr/>
        </p:nvSpPr>
        <p:spPr>
          <a:xfrm>
            <a:off x="7356333"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0"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Perpaipan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Air bersih (PVC atau HDPE) dan saliran air buangan yang cekap; injap tutup untuk</a:t>
            </a:r>
          </a:p>
          <a:p>
            <a:pPr/>
            <a:r>
              <a:rPr lang="en-MY" sz="1250" dirty="0">
                <a:solidFill>
                  <a:schemeClr val="tx1">
                    <a:lumMod val="85000"/>
                    <a:lumOff val="15000"/>
                  </a:schemeClr>
                </a:solidFill>
              </a:rPr>
              <a:t>penyelenggaraan.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II_DRINKING_FOUNTAIN_R01_SPEC05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5/6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Tick"/>
          <p:cNvSpPr/>
          <p:nvPr/>
        </p:nvSpPr>
        <p:spPr>
          <a:xfrm>
            <a:off x="3646917"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4433301"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9" name="Tick"/>
          <p:cNvSpPr/>
          <p:nvPr/>
        </p:nvSpPr>
        <p:spPr>
          <a:xfrm>
            <a:off x="7356333"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0" name="ItemCard"/>
          <p:cNvSpPr txBox="1"/>
          <p:nvPr/>
        </p:nvSpPr>
        <p:spPr>
          <a:xfrm>
            <a:off x="8142717"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51" name="Tick"/>
          <p:cNvSpPr/>
          <p:nvPr/>
        </p:nvSpPr>
        <p:spPr>
          <a:xfrm>
            <a:off x="11065749"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Aksesibiliti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Mengikut piawaian reka bentuk universal.</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II_DRINKING_FOUNTAIN_R01_SPEC06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6/6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Tick"/>
          <p:cNvSpPr/>
          <p:nvPr/>
        </p:nvSpPr>
        <p:spPr>
          <a:xfrm>
            <a:off x="3646917"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4433301"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9" name="Tick"/>
          <p:cNvSpPr/>
          <p:nvPr/>
        </p:nvSpPr>
        <p:spPr>
          <a:xfrm>
            <a:off x="7356333"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0" name="ItemCard"/>
          <p:cNvSpPr txBox="1"/>
          <p:nvPr/>
        </p:nvSpPr>
        <p:spPr>
          <a:xfrm>
            <a:off x="8142717"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51" name="Tick"/>
          <p:cNvSpPr/>
          <p:nvPr/>
        </p:nvSpPr>
        <p:spPr>
          <a:xfrm>
            <a:off x="11065749"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SCR_DRINKING_FOUNTAIN_MAIN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II_DRINKING_FOUNTAIN_R01_SPEC01  &lt;-  K5-PL06-T03-B02-DRINKING-FOUNTAIN-ROW-01</a:t>
            </a:r>
          </a:p>
          <a:p>
            <a:r>
              <a:rPr lang="en-MY" sz="900" dirty="0">
                <a:solidFill>
                  <a:schemeClr val="tx1">
                    <a:lumMod val="85000"/>
                    <a:lumOff val="15000"/>
                  </a:schemeClr>
                </a:solidFill>
              </a:rPr>
              <a:t>  II_DRINKING_FOUNTAIN_R01_SPEC02  &lt;-  K5-PL06-T03-B02-DRINKING-FOUNTAIN-ROW-01</a:t>
            </a:r>
          </a:p>
          <a:p>
            <a:r>
              <a:rPr lang="en-MY" sz="900" dirty="0">
                <a:solidFill>
                  <a:schemeClr val="tx1">
                    <a:lumMod val="85000"/>
                    <a:lumOff val="15000"/>
                  </a:schemeClr>
                </a:solidFill>
              </a:rPr>
              <a:t>  II_DRINKING_FOUNTAIN_R01_SPEC03  &lt;-  K5-PL06-T03-B02-DRINKING-FOUNTAIN-ROW-01</a:t>
            </a:r>
          </a:p>
          <a:p>
            <a:r>
              <a:rPr lang="en-MY" sz="900" dirty="0">
                <a:solidFill>
                  <a:schemeClr val="tx1">
                    <a:lumMod val="85000"/>
                    <a:lumOff val="15000"/>
                  </a:schemeClr>
                </a:solidFill>
              </a:rPr>
              <a:t>  II_DRINKING_FOUNTAIN_R01_SPEC04  &lt;-  K5-PL06-T03-B02-DRINKING-FOUNTAIN-ROW-01</a:t>
            </a:r>
          </a:p>
          <a:p>
            <a:r>
              <a:rPr lang="en-MY" sz="900" dirty="0">
                <a:solidFill>
                  <a:schemeClr val="tx1">
                    <a:lumMod val="85000"/>
                    <a:lumOff val="15000"/>
                  </a:schemeClr>
                </a:solidFill>
              </a:rPr>
              <a:t>  II_DRINKING_FOUNTAIN_R01_SPEC05  &lt;-  K5-PL06-T03-B02-DRINKING-FOUNTAIN-ROW-01</a:t>
            </a:r>
          </a:p>
          <a:p>
            <a:r>
              <a:rPr lang="en-MY" sz="900" dirty="0">
                <a:solidFill>
                  <a:schemeClr val="tx1">
                    <a:lumMod val="85000"/>
                    <a:lumOff val="15000"/>
                  </a:schemeClr>
                </a:solidFill>
              </a:rPr>
              <a:t>  II_DRINKING_FOUNTAIN_R01_SPEC06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SCR_DRINKING_FOUNTAIN_MAIN (senarai contoh komponen).</a:t>
            </a:r>
          </a:p>
          <a:p>
            <a:r>
              <a:rPr lang="en-MY" sz="900" dirty="0">
                <a:solidFill>
                  <a:schemeClr val="tx1">
                    <a:lumMod val="85000"/>
                    <a:lumOff val="15000"/>
                  </a:schemeClr>
                </a:solidFill>
              </a:rPr>
              <a:t>  6/6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Piawaian kesihatan</a:t>
            </a:r>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yang lebih berat dan kukuh, disepadukan dengan reka bentuk taman yang lebih semula jadi</a:t>
            </a:r>
          </a:p>
          <a:p>
            <a:pPr/>
            <a:r>
              <a:rPr lang="en-MY" sz="1400" b="1" dirty="0">
                <a:solidFill>
                  <a:schemeClr val="tx1">
                    <a:lumMod val="85000"/>
                    <a:lumOff val="15000"/>
                  </a:schemeClr>
                </a:solidFill>
              </a:rPr>
              <a:t>atau tradisional.</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Pancutan Air Minum Konkrit/Batu, modul ms 249. Aset</a:t>
            </a:r>
          </a:p>
          <a:p>
            <a:pPr/>
            <a:r>
              <a:rPr lang="en-MY" sz="1100" dirty="0">
                <a:solidFill>
                  <a:srgbClr val="808080"/>
                </a:solidFill>
              </a:rPr>
              <a:t>K5PL06T03-B02-IMG-p249-x56. 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[example_complete[K5-PL06-T03-B02-DRINKING-FOUNTAIN-ROW-02]]</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SCR_DRINKING_FOUNTAIN_MAIN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SCR_DRINKING_FOUNTAIN_EX02_DETAIL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K5PL06T03-B02-IMG-p249-x56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II_DRINKING_FOUNTAIN_R02_SPEC01  &lt;-  K5-PL06-T03-B02-DRINKING-FOUNTAIN-ROW-02</a:t>
            </a:r>
          </a:p>
          <a:p>
            <a:r>
              <a:rPr lang="en-MY" sz="900" dirty="0">
                <a:solidFill>
                  <a:schemeClr val="tx1">
                    <a:lumMod val="85000"/>
                    <a:lumOff val="15000"/>
                  </a:schemeClr>
                </a:solidFill>
              </a:rPr>
              <a:t>  II_DRINKING_FOUNTAIN_R02_SPEC02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K5-PL06-T03-B02-DRINKING-FOUNTAIN-ROW-02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Piawaian kesihatan</a:t>
            </a:r>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yang lebih berat dan kukuh, disepadukan dengan reka bentuk taman yang lebih semula jadi</a:t>
            </a:r>
          </a:p>
          <a:p>
            <a:pPr/>
            <a:r>
              <a:rPr lang="en-MY" sz="1400" b="1" dirty="0">
                <a:solidFill>
                  <a:schemeClr val="tx1">
                    <a:lumMod val="85000"/>
                    <a:lumOff val="15000"/>
                  </a:schemeClr>
                </a:solidFill>
              </a:rPr>
              <a:t>atau tradisional.</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Pancutan Air Minum Konkrit/Batu, modul ms 249. Aset</a:t>
            </a:r>
          </a:p>
          <a:p>
            <a:pPr/>
            <a:r>
              <a:rPr lang="en-MY" sz="1100" dirty="0">
                <a:solidFill>
                  <a:srgbClr val="808080"/>
                </a:solidFill>
              </a:rPr>
              <a:t>K5PL06T03-B02-IMG-p249-x56.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Konkrit/Batu</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Struktur asas konkrit bertetulang atau batu asli/tiruan. Bahagian pancutan (faucet/basin)</a:t>
            </a:r>
          </a:p>
          <a:p>
            <a:pPr/>
            <a:r>
              <a:rPr lang="en-MY" sz="1250" dirty="0">
                <a:solidFill>
                  <a:schemeClr val="tx1">
                    <a:lumMod val="85000"/>
                    <a:lumOff val="15000"/>
                  </a:schemeClr>
                </a:solidFill>
              </a:rPr>
              <a:t>biasanya kekal keluli tahan karat untuk kebersihan.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II_DRINKING_FOUNTAIN_R02_SPEC01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SCR_DRINKING_FOUNTAIN_EX02_DETAIL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K5-PL06-T03-B02-DRINKING-FOUNTAIN-ROW-02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Piawaian kesihatan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yang lebih berat dan kukuh, disepadukan dengan reka bentuk taman yang lebih semula jadi</a:t>
            </a:r>
          </a:p>
          <a:p>
            <a:pPr/>
            <a:r>
              <a:rPr lang="en-MY" sz="1400" b="1" dirty="0">
                <a:solidFill>
                  <a:schemeClr val="tx1">
                    <a:lumMod val="85000"/>
                    <a:lumOff val="15000"/>
                  </a:schemeClr>
                </a:solidFill>
              </a:rPr>
              <a:t>atau tradisional.</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Pancutan Air Minum Konkrit/Batu, modul ms 249. Aset</a:t>
            </a:r>
          </a:p>
          <a:p>
            <a:pPr/>
            <a:r>
              <a:rPr lang="en-MY" sz="1100" dirty="0">
                <a:solidFill>
                  <a:srgbClr val="808080"/>
                </a:solidFill>
              </a:rPr>
              <a:t>K5PL06T03-B02-IMG-p249-x56.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Konkrit/Batu</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Piawaian kesihatan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Mesti mematuhi piawaian kualiti air minuman Kementerian Kesihatan Malaysia atau badan</a:t>
            </a:r>
          </a:p>
          <a:p>
            <a:pPr/>
            <a:r>
              <a:rPr lang="en-MY" sz="1250" dirty="0">
                <a:solidFill>
                  <a:schemeClr val="tx1">
                    <a:lumMod val="85000"/>
                    <a:lumOff val="15000"/>
                  </a:schemeClr>
                </a:solidFill>
              </a:rPr>
              <a:t>berkaitan.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II_DRINKING_FOUNTAIN_R02_SPEC02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SCR_DRINKING_FOUNTAIN_EX02_DETAIL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K5-PL06-T03-B02-DRINKING-FOUNTAIN-ROW-02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Piawaian kesihatan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yang lebih berat dan kukuh, disepadukan dengan reka bentuk taman yang lebih semula jadi</a:t>
            </a:r>
          </a:p>
          <a:p>
            <a:pPr/>
            <a:r>
              <a:rPr lang="en-MY" sz="1400" b="1" dirty="0">
                <a:solidFill>
                  <a:schemeClr val="tx1">
                    <a:lumMod val="85000"/>
                    <a:lumOff val="15000"/>
                  </a:schemeClr>
                </a:solidFill>
              </a:rPr>
              <a:t>atau tradisional.</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Pancutan Air Minum Konkrit/Batu, modul ms 249. Aset</a:t>
            </a:r>
          </a:p>
          <a:p>
            <a:pPr/>
            <a:r>
              <a:rPr lang="en-MY" sz="1100" dirty="0">
                <a:solidFill>
                  <a:srgbClr val="808080"/>
                </a:solidFill>
              </a:rPr>
              <a:t>K5PL06T03-B02-IMG-p249-x56. Tidak 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SCR_DRINKING_FOUNTAIN_MAIN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SCR_DRINKING_FOUNTAIN_EX02_DETAIL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II_DRINKING_FOUNTAIN_R02_SPEC01  &lt;-  K5-PL06-T03-B02-DRINKING-FOUNTAIN-ROW-02</a:t>
            </a:r>
          </a:p>
          <a:p>
            <a:r>
              <a:rPr lang="en-MY" sz="900" dirty="0">
                <a:solidFill>
                  <a:schemeClr val="tx1">
                    <a:lumMod val="85000"/>
                    <a:lumOff val="15000"/>
                  </a:schemeClr>
                </a:solidFill>
              </a:rPr>
              <a:t>  II_DRINKING_FOUNTAIN_R02_SPEC02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K5-PL06-T03-B02-DRINKING-FOUNTAIN-ROW-02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Drinking Fountain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Drinking Fountain</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5180076"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Pancutan Air Minum Keluli Tahan Karat</a:t>
            </a:r>
          </a:p>
        </p:txBody>
      </p:sp>
      <p:sp>
        <p:nvSpPr>
          <p:cNvPr id="41" name="Tick"/>
          <p:cNvSpPr/>
          <p:nvPr/>
        </p:nvSpPr>
        <p:spPr>
          <a:xfrm>
            <a:off x="5501625"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57984"/>
            <a:ext cx="5180076"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Pancutan Air Minum Konkrit/Batu</a:t>
            </a:r>
          </a:p>
        </p:txBody>
      </p:sp>
      <p:sp>
        <p:nvSpPr>
          <p:cNvPr id="43" name="Tick"/>
          <p:cNvSpPr/>
          <p:nvPr/>
        </p:nvSpPr>
        <p:spPr>
          <a:xfrm>
            <a:off x="11065749"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SCR_DRINKING_FOUNTAIN_MAIN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II_DRINKING_FOUNTAIN_EX01  &lt;-  K5-PL06-T03-B02-DRINKING-FOUNTAIN-ROW-01</a:t>
            </a:r>
          </a:p>
          <a:p>
            <a:r>
              <a:rPr lang="en-MY" sz="900" dirty="0">
                <a:solidFill>
                  <a:schemeClr val="tx1">
                    <a:lumMod val="85000"/>
                    <a:lumOff val="15000"/>
                  </a:schemeClr>
                </a:solidFill>
              </a:rPr>
              <a:t>  II_DRINKING_FOUNTAIN_EX02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2/2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ItemCard"/>
          <p:cNvSpPr txBox="1"/>
          <p:nvPr/>
        </p:nvSpPr>
        <p:spPr>
          <a:xfrm>
            <a:off x="3505947"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2"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Gril</a:t>
            </a:r>
          </a:p>
        </p:txBody>
      </p:sp>
      <p:sp>
        <p:nvSpPr>
          <p:cNvPr id="43"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30" name="VisualDir"/>
          <p:cNvSpPr txBox="1"/>
          <p:nvPr/>
        </p:nvSpPr>
        <p:spPr>
          <a:xfrm>
            <a:off x="723930" y="5394960"/>
            <a:ext cx="10744200" cy="365760"/>
          </a:xfrm>
          <a:prstGeom prst="rect">
            <a:avLst/>
          </a:prstGeom>
          <a:noFill/>
        </p:spPr>
        <p:txBody>
          <a:bodyPr wrap="square">
            <a:noAutofit/>
          </a:bodyPr>
          <a:lstStyle/>
          <a:p>
            <a:pPr/>
            <a:r>
              <a:rPr lang="en-MY" sz="1100" dirty="0">
                <a:solidFill>
                  <a:srgbClr val="808080"/>
                </a:solidFill>
              </a:rPr>
              <a:t>[Visual: Foto jadual spesifikasi BBQ Pit, modul ms 249.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COMPONENT_SPEC_LIST_BASE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explanation + specification-category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[component_complete[BBQ_PIT]]</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K5PL06T03-B02-IMG-p249-x57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II_BBQ_PIT_CAT01  &lt;-  K5-PL06-T03-B02-BBQ-PIT-ROW-01</a:t>
            </a:r>
          </a:p>
          <a:p>
            <a:r>
              <a:rPr lang="en-MY" sz="900" dirty="0">
                <a:solidFill>
                  <a:schemeClr val="tx1">
                    <a:lumMod val="85000"/>
                    <a:lumOff val="15000"/>
                  </a:schemeClr>
                </a:solidFill>
              </a:rPr>
              <a:t>  II_BBQ_PIT_CAT02  &lt;-  K5-PL06-T03-B02-BBQ-PIT-ROW-01</a:t>
            </a:r>
          </a:p>
          <a:p>
            <a:r>
              <a:rPr lang="en-MY" sz="900" dirty="0">
                <a:solidFill>
                  <a:schemeClr val="tx1">
                    <a:lumMod val="85000"/>
                    <a:lumOff val="15000"/>
                  </a:schemeClr>
                </a:solidFill>
              </a:rPr>
              <a:t>  II_BBQ_PIT_CAT03  &lt;-  K5-PL06-T03-B02-BBQ-PIT-ROW-01</a:t>
            </a:r>
          </a:p>
          <a:p>
            <a:r>
              <a:rPr lang="en-MY" sz="900" dirty="0">
                <a:solidFill>
                  <a:schemeClr val="tx1">
                    <a:lumMod val="85000"/>
                    <a:lumOff val="15000"/>
                  </a:schemeClr>
                </a:solidFill>
              </a:rPr>
              <a:t>  II_BBQ_PIT_CAT04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(None).</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0/4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kategori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PENDING_HUMAN</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Gril</a:t>
            </a:r>
          </a:p>
        </p:txBody>
      </p:sp>
      <p:sp>
        <p:nvSpPr>
          <p:cNvPr id="44"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i="1" dirty="0">
                <a:solidFill>
                  <a:srgbClr val="7F6000"/>
                </a:solidFill>
              </a:rPr>
              <a:t>BBQ Pit</a:t>
            </a:r>
            <a:r>
              <a:rPr lang="en-MY" sz="1100" b="1" dirty="0">
                <a:solidFill>
                  <a:srgbClr val="7F6000"/>
                </a:solidFill>
              </a:rPr>
              <a:t> Struktur Kekal</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 Pembinaan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1074420"/>
          </a:xfrm>
          <a:prstGeom prst="rect">
            <a:avLst/>
          </a:prstGeom>
          <a:noFill/>
        </p:spPr>
        <p:txBody>
          <a:bodyPr wrap="square">
            <a:noAutofit/>
          </a:bodyPr>
          <a:lstStyle/>
          <a:p>
            <a:pPr/>
            <a:r>
              <a:rPr lang="en-MY" sz="1250" dirty="0">
                <a:solidFill>
                  <a:schemeClr val="tx1">
                    <a:lumMod val="85000"/>
                    <a:lumOff val="15000"/>
                  </a:schemeClr>
                </a:solidFill>
              </a:rPr>
              <a:t>Dinding dalam ruang pembakaran daripada bata tahan api (firebrick) atau blok konkrit tahan</a:t>
            </a:r>
          </a:p>
          <a:p>
            <a:pPr/>
            <a:r>
              <a:rPr lang="en-MY" sz="1250" dirty="0">
                <a:solidFill>
                  <a:schemeClr val="tx1">
                    <a:lumMod val="85000"/>
                    <a:lumOff val="15000"/>
                  </a:schemeClr>
                </a:solidFill>
              </a:rPr>
              <a:t>suhu</a:t>
            </a:r>
          </a:p>
          <a:p>
            <a:pPr/>
            <a:r>
              <a:rPr lang="en-MY" sz="1250" dirty="0">
                <a:solidFill>
                  <a:schemeClr val="tx1">
                    <a:lumMod val="85000"/>
                    <a:lumOff val="15000"/>
                  </a:schemeClr>
                </a:solidFill>
              </a:rPr>
              <a:t>tinggi, dengan mortar tahan api; dinding luar bata biasa, blok konkrit atau batu; pelat</a:t>
            </a:r>
          </a:p>
          <a:p>
            <a:pPr/>
            <a:r>
              <a:rPr lang="en-MY" sz="1250" dirty="0">
                <a:solidFill>
                  <a:schemeClr val="tx1">
                    <a:lumMod val="85000"/>
                    <a:lumOff val="15000"/>
                  </a:schemeClr>
                </a:solidFill>
              </a:rPr>
              <a:t>kerja</a:t>
            </a:r>
          </a:p>
          <a:p>
            <a:pPr/>
            <a:r>
              <a:rPr lang="en-MY" sz="1250" dirty="0">
                <a:solidFill>
                  <a:schemeClr val="tx1">
                    <a:lumMod val="85000"/>
                    <a:lumOff val="15000"/>
                  </a:schemeClr>
                </a:solidFill>
              </a:rPr>
              <a:t>konkrit, jubin seramik tahan haba atau batu granit.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SCR_BBQ_PIT_MAIN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II_BBQ_PIT_CAT01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(SCR_BBQ_PIT_MAIN).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1/4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Gril</a:t>
            </a:r>
          </a:p>
        </p:txBody>
      </p:sp>
      <p:sp>
        <p:nvSpPr>
          <p:cNvPr id="45"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i="1" dirty="0">
                <a:solidFill>
                  <a:srgbClr val="7F6000"/>
                </a:solidFill>
              </a:rPr>
              <a:t>BBQ Pit</a:t>
            </a:r>
            <a:r>
              <a:rPr lang="en-MY" sz="1100" b="1" dirty="0">
                <a:solidFill>
                  <a:srgbClr val="7F6000"/>
                </a:solidFill>
              </a:rPr>
              <a:t> Struktur Kekal</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Dimensi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Ketinggian memanggang lazimnya 750–900mm dari aras tanah; saiz lubang api mengikut saiz</a:t>
            </a:r>
          </a:p>
          <a:p>
            <a:pPr/>
            <a:r>
              <a:rPr lang="en-MY" sz="1250" dirty="0">
                <a:solidFill>
                  <a:schemeClr val="tx1">
                    <a:lumMod val="85000"/>
                    <a:lumOff val="15000"/>
                  </a:schemeClr>
                </a:solidFill>
              </a:rPr>
              <a:t>gril.</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SCR_BBQ_PIT_MAIN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II_BBQ_PIT_CAT02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(SCR_BBQ_PIT_MAIN).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2/4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Gril</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i="1" dirty="0">
                <a:solidFill>
                  <a:srgbClr val="7F6000"/>
                </a:solidFill>
              </a:rPr>
              <a:t>BBQ Pit</a:t>
            </a:r>
            <a:r>
              <a:rPr lang="en-MY" sz="1100" b="1" dirty="0">
                <a:solidFill>
                  <a:srgbClr val="7F6000"/>
                </a:solidFill>
              </a:rPr>
              <a:t> Struktur Kekal</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Gril</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Keluli tahan karat gred makanan atau besi tuang; tebal palang min. 6mm.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SCR_BBQ_PIT_MAIN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II_BBQ_PIT_CAT03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(SCR_BBQ_PIT_MAIN).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3/4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Gril</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47" name="Tick"/>
          <p:cNvSpPr/>
          <p:nvPr/>
        </p:nvSpPr>
        <p:spPr>
          <a:xfrm>
            <a:off x="11065749"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i="1" dirty="0">
                <a:solidFill>
                  <a:srgbClr val="7F6000"/>
                </a:solidFill>
              </a:rPr>
              <a:t>BBQ Pit</a:t>
            </a:r>
            <a:r>
              <a:rPr lang="en-MY" sz="1100" b="1" dirty="0">
                <a:solidFill>
                  <a:srgbClr val="7F6000"/>
                </a:solidFill>
              </a:rPr>
              <a:t> Struktur Kekal</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Keselamatan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Pengudaraan di bawah ruang pembakaran; saliran air hujan; cerobong asap (pilihan); ruang</a:t>
            </a:r>
          </a:p>
          <a:p>
            <a:pPr/>
            <a:r>
              <a:rPr lang="en-MY" sz="1250" dirty="0">
                <a:solidFill>
                  <a:schemeClr val="tx1">
                    <a:lumMod val="85000"/>
                    <a:lumOff val="15000"/>
                  </a:schemeClr>
                </a:solidFill>
              </a:rPr>
              <a:t>persediaan bersebelahan; jarak selamat dari bahan mudah terbakar.</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SCR_BBQ_PIT_MAIN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II_BBQ_PIT_CAT04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(SCR_BBQ_PIT_MAIN).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4/4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Gril</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47" name="Tick"/>
          <p:cNvSpPr/>
          <p:nvPr/>
        </p:nvSpPr>
        <p:spPr>
          <a:xfrm>
            <a:off x="11065749"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COMPONENT_SPEC_LIST_ALL_VIEWED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II_BBQ_PIT_CAT01  &lt;-  K5-PL06-T03-B02-BBQ-PIT-ROW-01</a:t>
            </a:r>
          </a:p>
          <a:p>
            <a:r>
              <a:rPr lang="en-MY" sz="900" dirty="0">
                <a:solidFill>
                  <a:schemeClr val="tx1">
                    <a:lumMod val="85000"/>
                    <a:lumOff val="15000"/>
                  </a:schemeClr>
                </a:solidFill>
              </a:rPr>
              <a:t>  II_BBQ_PIT_CAT02  &lt;-  K5-PL06-T03-B02-BBQ-PIT-ROW-01</a:t>
            </a:r>
          </a:p>
          <a:p>
            <a:r>
              <a:rPr lang="en-MY" sz="900" dirty="0">
                <a:solidFill>
                  <a:schemeClr val="tx1">
                    <a:lumMod val="85000"/>
                    <a:lumOff val="15000"/>
                  </a:schemeClr>
                </a:solidFill>
              </a:rPr>
              <a:t>  II_BBQ_PIT_CAT03  &lt;-  K5-PL06-T03-B02-BBQ-PIT-ROW-01</a:t>
            </a:r>
          </a:p>
          <a:p>
            <a:r>
              <a:rPr lang="en-MY" sz="900" dirty="0">
                <a:solidFill>
                  <a:schemeClr val="tx1">
                    <a:lumMod val="85000"/>
                    <a:lumOff val="15000"/>
                  </a:schemeClr>
                </a:solidFill>
              </a:rPr>
              <a:t>  II_BBQ_PIT_CAT04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(None).</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4/4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Rumusan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Rumusan</a:t>
            </a:r>
          </a:p>
        </p:txBody>
      </p:sp>
      <p:sp>
        <p:nvSpPr>
          <p:cNvPr id="30" name="VisualDir"/>
          <p:cNvSpPr txBox="1"/>
          <p:nvPr/>
        </p:nvSpPr>
        <p:spPr>
          <a:xfrm>
            <a:off x="723930" y="1188720"/>
            <a:ext cx="10744200" cy="877824"/>
          </a:xfrm>
          <a:prstGeom prst="rect">
            <a:avLst/>
          </a:prstGeom>
          <a:noFill/>
        </p:spPr>
        <p:txBody>
          <a:bodyPr wrap="square">
            <a:noAutofit/>
          </a:bodyPr>
          <a:lstStyle/>
          <a:p>
            <a:pPr/>
            <a:r>
              <a:rPr lang="en-MY" sz="1100" dirty="0">
                <a:solidFill>
                  <a:srgbClr val="808080"/>
                </a:solidFill>
              </a:rPr>
              <a:t>ARAHAN VISUAL</a:t>
            </a:r>
          </a:p>
          <a:p>
            <a:pPr/>
            <a:r>
              <a:rPr lang="en-MY" sz="1100" dirty="0">
                <a:solidFill>
                  <a:srgbClr val="808080"/>
                </a:solidFill>
              </a:rPr>
              <a:t>[Visual: Papan rumusan — dua kumpulan komponen bersebelahan,</a:t>
            </a:r>
          </a:p>
          <a:p>
            <a:pPr/>
            <a:r>
              <a:rPr lang="en-MY" sz="1100" dirty="0">
                <a:solidFill>
                  <a:srgbClr val="808080"/>
                </a:solidFill>
              </a:rPr>
              <a:t>empat dan lima item. Tidak dibenamkan.]</a:t>
            </a:r>
          </a:p>
        </p:txBody>
      </p:sp>
      <p:sp>
        <p:nvSpPr>
          <p:cNvPr id="40" name="RumLine"/>
          <p:cNvSpPr txBox="1"/>
          <p:nvPr/>
        </p:nvSpPr>
        <p:spPr>
          <a:xfrm>
            <a:off x="723930" y="2011680"/>
            <a:ext cx="10744200" cy="640080"/>
          </a:xfrm>
          <a:prstGeom prst="rect">
            <a:avLst/>
          </a:prstGeom>
          <a:noFill/>
        </p:spPr>
        <p:txBody>
          <a:bodyPr wrap="square">
            <a:noAutofit/>
          </a:bodyPr>
          <a:lstStyle/>
          <a:p>
            <a:pPr/>
            <a:r>
              <a:rPr lang="en-MY" sz="1450" dirty="0">
                <a:solidFill>
                  <a:schemeClr val="tx1">
                    <a:lumMod val="85000"/>
                    <a:lumOff val="15000"/>
                  </a:schemeClr>
                </a:solidFill>
              </a:rPr>
              <a:t>Mengenal pasti struktur dan elemen landskap - kerja pembinaan, penyeliaan dan penyelenggaraan</a:t>
            </a:r>
          </a:p>
          <a:p>
            <a:pPr/>
            <a:r>
              <a:rPr lang="en-MY" sz="1450" dirty="0">
                <a:solidFill>
                  <a:schemeClr val="tx1">
                    <a:lumMod val="85000"/>
                    <a:lumOff val="15000"/>
                  </a:schemeClr>
                </a:solidFill>
              </a:rPr>
              <a:t>dirancang dengan tepat</a:t>
            </a:r>
          </a:p>
        </p:txBody>
      </p:sp>
      <p:sp>
        <p:nvSpPr>
          <p:cNvPr id="41" name="RumLine"/>
          <p:cNvSpPr txBox="1"/>
          <p:nvPr/>
        </p:nvSpPr>
        <p:spPr>
          <a:xfrm>
            <a:off x="723930" y="2889504"/>
            <a:ext cx="10744200" cy="365760"/>
          </a:xfrm>
          <a:prstGeom prst="rect">
            <a:avLst/>
          </a:prstGeom>
          <a:noFill/>
        </p:spPr>
        <p:txBody>
          <a:bodyPr wrap="square">
            <a:noAutofit/>
          </a:bodyPr>
          <a:lstStyle/>
          <a:p>
            <a:pPr/>
            <a:r>
              <a:rPr lang="en-MY" sz="1450" dirty="0">
                <a:solidFill>
                  <a:schemeClr val="tx1">
                    <a:lumMod val="85000"/>
                    <a:lumOff val="15000"/>
                  </a:schemeClr>
                </a:solidFill>
              </a:rPr>
              <a:t>Struktur Taman - Struktur Persisir Air, Struktur Teduhan, Kemudahan Awam, </a:t>
            </a:r>
            <a:r>
              <a:rPr lang="en-MY" sz="1450" i="1" dirty="0">
                <a:solidFill>
                  <a:schemeClr val="tx1">
                    <a:lumMod val="85000"/>
                    <a:lumOff val="15000"/>
                  </a:schemeClr>
                </a:solidFill>
              </a:rPr>
              <a:t>Water Feature</a:t>
            </a:r>
          </a:p>
        </p:txBody>
      </p:sp>
      <p:sp>
        <p:nvSpPr>
          <p:cNvPr id="42" name="RumLine"/>
          <p:cNvSpPr txBox="1"/>
          <p:nvPr/>
        </p:nvSpPr>
        <p:spPr>
          <a:xfrm>
            <a:off x="723930" y="3493008"/>
            <a:ext cx="10744200" cy="365760"/>
          </a:xfrm>
          <a:prstGeom prst="rect">
            <a:avLst/>
          </a:prstGeom>
          <a:noFill/>
        </p:spPr>
        <p:txBody>
          <a:bodyPr wrap="square">
            <a:noAutofit/>
          </a:bodyPr>
          <a:lstStyle/>
          <a:p>
            <a:pPr/>
            <a:r>
              <a:rPr lang="en-MY" sz="1450" dirty="0">
                <a:solidFill>
                  <a:schemeClr val="tx1">
                    <a:lumMod val="85000"/>
                    <a:lumOff val="15000"/>
                  </a:schemeClr>
                </a:solidFill>
              </a:rPr>
              <a:t>Perabot Taman - Kerusi Taman, Papan Tanda, Tong Sampah, </a:t>
            </a:r>
            <a:r>
              <a:rPr lang="en-MY" sz="1450" i="1" dirty="0">
                <a:solidFill>
                  <a:schemeClr val="tx1">
                    <a:lumMod val="85000"/>
                    <a:lumOff val="15000"/>
                  </a:schemeClr>
                </a:solidFill>
              </a:rPr>
              <a:t>Drinking Fountain</a:t>
            </a:r>
            <a:r>
              <a:rPr lang="en-MY" sz="1450" dirty="0">
                <a:solidFill>
                  <a:schemeClr val="tx1">
                    <a:lumMod val="85000"/>
                    <a:lumOff val="15000"/>
                  </a:schemeClr>
                </a:solidFill>
              </a:rPr>
              <a:t> dan </a:t>
            </a:r>
            <a:r>
              <a:rPr lang="en-MY" sz="1450" i="1" dirty="0">
                <a:solidFill>
                  <a:schemeClr val="tx1">
                    <a:lumMod val="85000"/>
                    <a:lumOff val="15000"/>
                  </a:schemeClr>
                </a:solidFill>
              </a:rPr>
              <a:t>BBQ Pit</a:t>
            </a:r>
          </a:p>
        </p:txBody>
      </p:sp>
      <p:sp>
        <p:nvSpPr>
          <p:cNvPr id="43" name="RumLine"/>
          <p:cNvSpPr txBox="1"/>
          <p:nvPr/>
        </p:nvSpPr>
        <p:spPr>
          <a:xfrm>
            <a:off x="723930" y="4096512"/>
            <a:ext cx="10744200" cy="640080"/>
          </a:xfrm>
          <a:prstGeom prst="rect">
            <a:avLst/>
          </a:prstGeom>
          <a:noFill/>
        </p:spPr>
        <p:txBody>
          <a:bodyPr wrap="square">
            <a:noAutofit/>
          </a:bodyPr>
          <a:lstStyle/>
          <a:p>
            <a:pPr/>
            <a:r>
              <a:rPr lang="en-MY" sz="1450" dirty="0">
                <a:solidFill>
                  <a:schemeClr val="tx1">
                    <a:lumMod val="85000"/>
                    <a:lumOff val="15000"/>
                  </a:schemeClr>
                </a:solidFill>
              </a:rPr>
              <a:t>Kontraktor dapat merancang, melaksana dan menyelenggara setiap komponen landskap mengikut</a:t>
            </a:r>
          </a:p>
          <a:p>
            <a:pPr/>
            <a:r>
              <a:rPr lang="en-MY" sz="1450" dirty="0">
                <a:solidFill>
                  <a:schemeClr val="tx1">
                    <a:lumMod val="85000"/>
                    <a:lumOff val="15000"/>
                  </a:schemeClr>
                </a:solidFill>
              </a:rPr>
              <a:t>fungsinya di tapak</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Rumusan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FRAME_SUMMARY_BASE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SCR_RUMUSAN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Rumusan aras Bahagian.</a:t>
            </a:r>
          </a:p>
          <a:p>
            <a:r>
              <a:rPr lang="en-MY" sz="900" b="1" dirty="0">
                <a:solidFill>
                  <a:schemeClr val="tx1">
                    <a:lumMod val="85000"/>
                    <a:lumOff val="15000"/>
                  </a:schemeClr>
                </a:solidFill>
              </a:rPr>
              <a:t>LABEL DILARANG DIPAPARKAN:</a:t>
            </a:r>
          </a:p>
          <a:p>
            <a:r>
              <a:rPr lang="en-MY" sz="900" dirty="0">
                <a:solidFill>
                  <a:schemeClr val="tx1">
                    <a:lumMod val="85000"/>
                    <a:lumOff val="15000"/>
                  </a:schemeClr>
                </a:solidFill>
              </a:rPr>
              <a:t>  Kepentingan, Isi Utama, Apa Yang Dipelajari, Manfaat</a:t>
            </a:r>
          </a:p>
          <a:p>
            <a:r>
              <a:rPr lang="en-MY" sz="900" b="1" dirty="0">
                <a:solidFill>
                  <a:schemeClr val="tx1">
                    <a:lumMod val="85000"/>
                    <a:lumOff val="15000"/>
                  </a:schemeClr>
                </a:solidFill>
              </a:rPr>
              <a:t>NOTA PRODUKSI:</a:t>
            </a:r>
          </a:p>
          <a:p>
            <a:r>
              <a:rPr lang="en-MY" sz="900" dirty="0">
                <a:solidFill>
                  <a:schemeClr val="tx1">
                    <a:lumMod val="85000"/>
                    <a:lumOff val="15000"/>
                  </a:schemeClr>
                </a:solidFill>
              </a:rPr>
              <a:t>  VO omits the redundant opening label "Komponen Landskap — Struktur Taman dan Perabot Taman."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FRAME_SCREEN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B02-D-09</a:t>
            </a:r>
          </a:p>
          <a:p>
            <a:r>
              <a:rPr lang="en-MY" sz="900" dirty="0">
                <a:solidFill>
                  <a:schemeClr val="tx1">
                    <a:lumMod val="85000"/>
                    <a:lumOff val="15000"/>
                  </a:schemeClr>
                </a:solidFill>
              </a:rPr>
              <a:t>STATUS BELUM SELESAI: NONE</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Kuiz</a:t>
            </a:r>
          </a:p>
        </p:txBody>
      </p:sp>
      <p:sp>
        <p:nvSpPr>
          <p:cNvPr id="20" name="Strap"/>
          <p:cNvSpPr txBox="1"/>
          <p:nvPr/>
        </p:nvSpPr>
        <p:spPr>
          <a:xfrm>
            <a:off x="723930" y="1152144"/>
            <a:ext cx="10744200" cy="329184"/>
          </a:xfrm>
          <a:prstGeom prst="rect">
            <a:avLst/>
          </a:prstGeom>
          <a:noFill/>
        </p:spPr>
        <p:txBody>
          <a:bodyPr wrap="square">
            <a:noAutofit/>
          </a:bodyPr>
          <a:lstStyle/>
          <a:p>
            <a:pPr/>
            <a:r>
              <a:rPr lang="en-MY" sz="1300" dirty="0">
                <a:solidFill>
                  <a:srgbClr val="7F6000"/>
                </a:solidFill>
              </a:rPr>
              <a:t>5 soalan — 4 MCQ + 1 Multiple Response   ·   Lulus: 3/5 = 60%</a:t>
            </a:r>
          </a:p>
        </p:txBody>
      </p:sp>
      <p:sp>
        <p:nvSpPr>
          <p:cNvPr id="30" name="Purpose"/>
          <p:cNvSpPr txBox="1"/>
          <p:nvPr/>
        </p:nvSpPr>
        <p:spPr>
          <a:xfrm>
            <a:off x="723930" y="1700784"/>
            <a:ext cx="10744200" cy="658368"/>
          </a:xfrm>
          <a:prstGeom prst="rect">
            <a:avLst/>
          </a:prstGeom>
          <a:noFill/>
        </p:spPr>
        <p:txBody>
          <a:bodyPr wrap="square">
            <a:noAutofit/>
          </a:bodyPr>
          <a:lstStyle/>
          <a:p>
            <a:pPr/>
            <a:r>
              <a:rPr lang="en-MY" sz="1500" dirty="0">
                <a:solidFill>
                  <a:schemeClr val="tx1">
                    <a:lumMod val="85000"/>
                    <a:lumOff val="15000"/>
                  </a:schemeClr>
                </a:solidFill>
              </a:rPr>
              <a:t>Tujuan kuiz ini adalah untuk menguji kefahaman semata-mata dan bukan sebahagian daripada</a:t>
            </a:r>
          </a:p>
          <a:p>
            <a:pPr/>
            <a:r>
              <a:rPr lang="en-MY" sz="1500" dirty="0">
                <a:solidFill>
                  <a:schemeClr val="tx1">
                    <a:lumMod val="85000"/>
                    <a:lumOff val="15000"/>
                  </a:schemeClr>
                </a:solidFill>
              </a:rPr>
              <a:t>peperiksaan akhir kursus.</a:t>
            </a:r>
          </a:p>
        </p:txBody>
      </p:sp>
      <p:sp>
        <p:nvSpPr>
          <p:cNvPr id="31" name="Purpose"/>
          <p:cNvSpPr txBox="1"/>
          <p:nvPr/>
        </p:nvSpPr>
        <p:spPr>
          <a:xfrm>
            <a:off x="723930" y="2505456"/>
            <a:ext cx="10744200" cy="365760"/>
          </a:xfrm>
          <a:prstGeom prst="rect">
            <a:avLst/>
          </a:prstGeom>
          <a:noFill/>
        </p:spPr>
        <p:txBody>
          <a:bodyPr wrap="square">
            <a:noAutofit/>
          </a:bodyPr>
          <a:lstStyle/>
          <a:p>
            <a:pPr/>
            <a:r>
              <a:rPr lang="en-MY" sz="1500" dirty="0">
                <a:solidFill>
                  <a:schemeClr val="tx1">
                    <a:lumMod val="85000"/>
                    <a:lumOff val="15000"/>
                  </a:schemeClr>
                </a:solidFill>
              </a:rPr>
              <a:t>Markah tidak akan dinilai sebagai gred peperiksaan akhir kursus.</a:t>
            </a:r>
          </a:p>
        </p:txBody>
      </p:sp>
      <p:sp>
        <p:nvSpPr>
          <p:cNvPr id="40" name="Instr"/>
          <p:cNvSpPr txBox="1"/>
          <p:nvPr/>
        </p:nvSpPr>
        <p:spPr>
          <a:xfrm>
            <a:off x="723930" y="3200400"/>
            <a:ext cx="10744200" cy="365760"/>
          </a:xfrm>
          <a:prstGeom prst="rect">
            <a:avLst/>
          </a:prstGeom>
          <a:noFill/>
        </p:spPr>
        <p:txBody>
          <a:bodyPr wrap="square">
            <a:noAutofit/>
          </a:bodyPr>
          <a:lstStyle/>
          <a:p>
            <a:pPr/>
            <a:r>
              <a:rPr lang="en-MY" sz="1600" dirty="0">
                <a:solidFill>
                  <a:schemeClr val="tx1">
                    <a:lumMod val="85000"/>
                    <a:lumOff val="15000"/>
                  </a:schemeClr>
                </a:solidFill>
              </a:rPr>
              <a:t>Jawab semua soalan dengan pilihan jawapan yang betul.</a:t>
            </a:r>
          </a:p>
        </p:txBody>
      </p:sp>
      <p:sp>
        <p:nvSpPr>
          <p:cNvPr id="41" name="Instr"/>
          <p:cNvSpPr txBox="1"/>
          <p:nvPr/>
        </p:nvSpPr>
        <p:spPr>
          <a:xfrm>
            <a:off x="723930" y="3602736"/>
            <a:ext cx="10744200" cy="365760"/>
          </a:xfrm>
          <a:prstGeom prst="rect">
            <a:avLst/>
          </a:prstGeom>
          <a:noFill/>
        </p:spPr>
        <p:txBody>
          <a:bodyPr wrap="square">
            <a:noAutofit/>
          </a:bodyPr>
          <a:lstStyle/>
          <a:p>
            <a:pPr/>
            <a:r>
              <a:rPr lang="en-MY" sz="1600" b="1" dirty="0">
                <a:solidFill>
                  <a:schemeClr val="tx1">
                    <a:lumMod val="85000"/>
                    <a:lumOff val="15000"/>
                  </a:schemeClr>
                </a:solidFill>
              </a:rPr>
              <a:t>Klik Mula Kuiz untuk memulakan kuiz.</a:t>
            </a:r>
          </a:p>
        </p:txBody>
      </p:sp>
      <p:sp>
        <p:nvSpPr>
          <p:cNvPr id="50" name="Ctl"/>
          <p:cNvSpPr txBox="1"/>
          <p:nvPr/>
        </p:nvSpPr>
        <p:spPr>
          <a:xfrm>
            <a:off x="723930" y="5120640"/>
            <a:ext cx="2743200" cy="329184"/>
          </a:xfrm>
          <a:prstGeom prst="rect">
            <a:avLst/>
          </a:prstGeom>
          <a:noFill/>
        </p:spPr>
        <p:txBody>
          <a:bodyPr wrap="square">
            <a:noAutofit/>
          </a:bodyPr>
          <a:lstStyle/>
          <a:p>
            <a:pPr/>
            <a:r>
              <a:rPr lang="en-MY" sz="1300" dirty="0">
                <a:solidFill>
                  <a:srgbClr val="808080"/>
                </a:solidFill>
              </a:rPr>
              <a:t>Semak Jawapan</a:t>
            </a:r>
          </a:p>
        </p:txBody>
      </p:sp>
      <p:sp>
        <p:nvSpPr>
          <p:cNvPr id="51" name="Ctl"/>
          <p:cNvSpPr txBox="1"/>
          <p:nvPr/>
        </p:nvSpPr>
        <p:spPr>
          <a:xfrm>
            <a:off x="3650010" y="5120640"/>
            <a:ext cx="2743200" cy="329184"/>
          </a:xfrm>
          <a:prstGeom prst="rect">
            <a:avLst/>
          </a:prstGeom>
          <a:noFill/>
        </p:spPr>
        <p:txBody>
          <a:bodyPr wrap="square">
            <a:noAutofit/>
          </a:bodyPr>
          <a:lstStyle/>
          <a:p>
            <a:pPr/>
            <a:r>
              <a:rPr lang="en-MY" sz="1300" dirty="0">
                <a:solidFill>
                  <a:srgbClr val="808080"/>
                </a:solidFill>
              </a:rPr>
              <a:t>Ulang Kuiz</a:t>
            </a:r>
          </a:p>
        </p:txBody>
      </p:sp>
      <p:sp>
        <p:nvSpPr>
          <p:cNvPr id="96" name="Btn"/>
          <p:cNvSpPr txBox="1"/>
          <p:nvPr/>
        </p:nvSpPr>
        <p:spPr>
          <a:xfrm>
            <a:off x="4998705" y="6419088"/>
            <a:ext cx="219456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MULA KUIZ</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QUIZ_INTRO</a:t>
            </a:r>
          </a:p>
          <a:p>
            <a:r>
              <a:rPr lang="en-MY" sz="900" dirty="0">
                <a:solidFill>
                  <a:schemeClr val="tx1">
                    <a:lumMod val="85000"/>
                    <a:lumOff val="15000"/>
                  </a:schemeClr>
                </a:solidFill>
              </a:rPr>
              <a:t/>
            </a:r>
          </a:p>
          <a:p>
            <a:r>
              <a:rPr lang="en-MY" sz="900" dirty="0">
                <a:solidFill>
                  <a:schemeClr val="tx1">
                    <a:lumMod val="85000"/>
                    <a:lumOff val="15000"/>
                  </a:schemeClr>
                </a:solidFill>
              </a:rPr>
              <a:t>BUKTI: quiz entry</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MULA_KUIZ_BUTTON  [always_enabled]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QUIZ</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KUIZ:</a:t>
            </a:r>
          </a:p>
          <a:p>
            <a:r>
              <a:rPr lang="en-MY" sz="900" dirty="0">
                <a:solidFill>
                  <a:schemeClr val="tx1">
                    <a:lumMod val="85000"/>
                    <a:lumOff val="15000"/>
                  </a:schemeClr>
                </a:solidFill>
              </a:rPr>
              <a:t>  5 soalan — 4 MCQ + 1 Multiple Response</a:t>
            </a:r>
          </a:p>
          <a:p>
            <a:r>
              <a:rPr lang="en-MY" sz="900" dirty="0">
                <a:solidFill>
                  <a:schemeClr val="tx1">
                    <a:lumMod val="85000"/>
                    <a:lumOff val="15000"/>
                  </a:schemeClr>
                </a:solidFill>
              </a:rPr>
              <a:t>  Lulus: 3/5 = 60%   Menyekat kemajuan: TIDAK</a:t>
            </a:r>
          </a:p>
          <a:p>
            <a:r>
              <a:rPr lang="en-MY" sz="900" dirty="0">
                <a:solidFill>
                  <a:schemeClr val="tx1">
                    <a:lumMod val="85000"/>
                    <a:lumOff val="15000"/>
                  </a:schemeClr>
                </a:solidFill>
              </a:rPr>
              <a:t>  Cuba semula: voluntary — Ulang Kuiz</a:t>
            </a:r>
          </a:p>
          <a:p>
            <a:r>
              <a:rPr lang="en-MY" sz="900" dirty="0">
                <a:solidFill>
                  <a:schemeClr val="tx1">
                    <a:lumMod val="85000"/>
                    <a:lumOff val="15000"/>
                  </a:schemeClr>
                </a:solidFill>
              </a:rPr>
              <a:t>  Semakan pengetahuan sahaja, bukan gred peperiksaan akhir kursus.</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Mula Kuiz untuk memulakan kuiz.</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QUIZ_INTRO</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a:t>
            </a:r>
          </a:p>
          <a:p>
            <a:r>
              <a:rPr lang="en-MY" sz="900" dirty="0">
                <a:solidFill>
                  <a:schemeClr val="tx1">
                    <a:lumMod val="85000"/>
                    <a:lumOff val="15000"/>
                  </a:schemeClr>
                </a:solidFill>
              </a:rPr>
              <a:t>STATUS BELUM SELESAI: NONE</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1</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1</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MCQ   ·   sumber: modul ms 238 (3.3.1)</a:t>
            </a:r>
          </a:p>
        </p:txBody>
      </p:sp>
      <p:sp>
        <p:nvSpPr>
          <p:cNvPr id="22" name="Stem"/>
          <p:cNvSpPr txBox="1"/>
          <p:nvPr/>
        </p:nvSpPr>
        <p:spPr>
          <a:xfrm>
            <a:off x="723930" y="1481328"/>
            <a:ext cx="10744200" cy="713232"/>
          </a:xfrm>
          <a:prstGeom prst="rect">
            <a:avLst/>
          </a:prstGeom>
          <a:noFill/>
        </p:spPr>
        <p:txBody>
          <a:bodyPr wrap="square">
            <a:noAutofit/>
          </a:bodyPr>
          <a:lstStyle/>
          <a:p>
            <a:pPr/>
            <a:r>
              <a:rPr lang="en-MY" sz="1600" b="1" dirty="0">
                <a:solidFill>
                  <a:schemeClr val="tx1">
                    <a:lumMod val="85000"/>
                    <a:lumOff val="15000"/>
                  </a:schemeClr>
                </a:solidFill>
              </a:rPr>
              <a:t>Struktur persisir air dibina di tepi badan air seperti tasik, sungai atau pantai. Apakah</a:t>
            </a:r>
          </a:p>
          <a:p>
            <a:pPr/>
            <a:r>
              <a:rPr lang="en-MY" sz="1600" b="1" dirty="0">
                <a:solidFill>
                  <a:schemeClr val="tx1">
                    <a:lumMod val="85000"/>
                    <a:lumOff val="15000"/>
                  </a:schemeClr>
                </a:solidFill>
              </a:rPr>
              <a:t>keperluan pembinaan yang paling kritikal bagi struktur ini?</a:t>
            </a:r>
          </a:p>
        </p:txBody>
      </p:sp>
      <p:sp>
        <p:nvSpPr>
          <p:cNvPr id="23" name="Instr"/>
          <p:cNvSpPr txBox="1"/>
          <p:nvPr/>
        </p:nvSpPr>
        <p:spPr>
          <a:xfrm>
            <a:off x="723930" y="2249424"/>
            <a:ext cx="10744200" cy="310896"/>
          </a:xfrm>
          <a:prstGeom prst="rect">
            <a:avLst/>
          </a:prstGeom>
          <a:noFill/>
        </p:spPr>
        <p:txBody>
          <a:bodyPr wrap="square">
            <a:noAutofit/>
          </a:bodyPr>
          <a:lstStyle/>
          <a:p>
            <a:pPr/>
            <a:r>
              <a:rPr lang="en-MY" sz="1400" b="1" dirty="0">
                <a:solidFill>
                  <a:schemeClr val="tx1">
                    <a:lumMod val="85000"/>
                    <a:lumOff val="15000"/>
                  </a:schemeClr>
                </a:solidFill>
              </a:rPr>
              <a:t>Pilih satu jawapan.</a:t>
            </a:r>
          </a:p>
        </p:txBody>
      </p:sp>
      <p:sp>
        <p:nvSpPr>
          <p:cNvPr id="40" name="Opt"/>
          <p:cNvSpPr txBox="1"/>
          <p:nvPr/>
        </p:nvSpPr>
        <p:spPr>
          <a:xfrm>
            <a:off x="998250" y="2651760"/>
            <a:ext cx="10195560" cy="347472"/>
          </a:xfrm>
          <a:prstGeom prst="rect">
            <a:avLst/>
          </a:prstGeom>
          <a:noFill/>
        </p:spPr>
        <p:txBody>
          <a:bodyPr wrap="square">
            <a:noAutofit/>
          </a:bodyPr>
          <a:lstStyle/>
          <a:p>
            <a:pPr/>
            <a:r>
              <a:rPr lang="en-MY" sz="1450" dirty="0">
                <a:solidFill>
                  <a:schemeClr val="tx1">
                    <a:lumMod val="85000"/>
                    <a:lumOff val="15000"/>
                  </a:schemeClr>
                </a:solidFill>
              </a:rPr>
              <a:t>A.  Warna permukaan yang menarik</a:t>
            </a:r>
          </a:p>
        </p:txBody>
      </p:sp>
      <p:sp>
        <p:nvSpPr>
          <p:cNvPr id="41" name="Opt"/>
          <p:cNvSpPr txBox="1"/>
          <p:nvPr/>
        </p:nvSpPr>
        <p:spPr>
          <a:xfrm>
            <a:off x="998250" y="3035808"/>
            <a:ext cx="10195560" cy="347472"/>
          </a:xfrm>
          <a:prstGeom prst="rect">
            <a:avLst/>
          </a:prstGeom>
          <a:noFill/>
        </p:spPr>
        <p:txBody>
          <a:bodyPr wrap="square">
            <a:noAutofit/>
          </a:bodyPr>
          <a:lstStyle/>
          <a:p>
            <a:pPr/>
            <a:r>
              <a:rPr lang="en-MY" sz="1450" dirty="0">
                <a:solidFill>
                  <a:schemeClr val="tx1">
                    <a:lumMod val="85000"/>
                    <a:lumOff val="15000"/>
                  </a:schemeClr>
                </a:solidFill>
              </a:rPr>
              <a:t>B.  Asas yang stabil dan rata dengan saliran permukaan yang berkesan</a:t>
            </a:r>
          </a:p>
        </p:txBody>
      </p:sp>
      <p:sp>
        <p:nvSpPr>
          <p:cNvPr id="42" name="Opt"/>
          <p:cNvSpPr txBox="1"/>
          <p:nvPr/>
        </p:nvSpPr>
        <p:spPr>
          <a:xfrm>
            <a:off x="998250" y="3419856"/>
            <a:ext cx="10195560" cy="347472"/>
          </a:xfrm>
          <a:prstGeom prst="rect">
            <a:avLst/>
          </a:prstGeom>
          <a:noFill/>
        </p:spPr>
        <p:txBody>
          <a:bodyPr wrap="square">
            <a:noAutofit/>
          </a:bodyPr>
          <a:lstStyle/>
          <a:p>
            <a:pPr/>
            <a:r>
              <a:rPr lang="en-MY" sz="1450" dirty="0">
                <a:solidFill>
                  <a:schemeClr val="tx1">
                    <a:lumMod val="85000"/>
                    <a:lumOff val="15000"/>
                  </a:schemeClr>
                </a:solidFill>
              </a:rPr>
              <a:t>C.  Ketinggian struktur melebihi dua meter</a:t>
            </a:r>
          </a:p>
        </p:txBody>
      </p:sp>
      <p:sp>
        <p:nvSpPr>
          <p:cNvPr id="43" name="Opt"/>
          <p:cNvSpPr txBox="1"/>
          <p:nvPr/>
        </p:nvSpPr>
        <p:spPr>
          <a:xfrm>
            <a:off x="998250" y="3803904"/>
            <a:ext cx="10195560" cy="347472"/>
          </a:xfrm>
          <a:prstGeom prst="rect">
            <a:avLst/>
          </a:prstGeom>
          <a:noFill/>
        </p:spPr>
        <p:txBody>
          <a:bodyPr wrap="square">
            <a:noAutofit/>
          </a:bodyPr>
          <a:lstStyle/>
          <a:p>
            <a:pPr/>
            <a:r>
              <a:rPr lang="en-MY" sz="1450" dirty="0">
                <a:solidFill>
                  <a:schemeClr val="tx1">
                    <a:lumMod val="85000"/>
                    <a:lumOff val="15000"/>
                  </a:schemeClr>
                </a:solidFill>
              </a:rPr>
              <a:t>D.  Penggunaan bahan import</a:t>
            </a:r>
          </a:p>
        </p:txBody>
      </p:sp>
      <p:sp>
        <p:nvSpPr>
          <p:cNvPr id="70" name="AnswerKeyBox"/>
          <p:cNvSpPr txBox="1"/>
          <p:nvPr/>
        </p:nvSpPr>
        <p:spPr>
          <a:xfrm>
            <a:off x="723930" y="4334256"/>
            <a:ext cx="10744200" cy="822960"/>
          </a:xfrm>
          <a:prstGeom prst="rect">
            <a:avLst/>
          </a:prstGeom>
          <a:solidFill>
            <a:srgbClr val="FFF7E6"/>
          </a:solidFill>
          <a:ln w="12700">
            <a:solidFill>
              <a:srgbClr val="7F6000"/>
            </a:solidFill>
          </a:ln>
        </p:spPr>
        <p:txBody>
          <a:bodyPr wrap="square">
            <a:noAutofit/>
          </a:bodyPr>
          <a:lstStyle/>
        </p:txBody>
      </p:sp>
      <p:sp>
        <p:nvSpPr>
          <p:cNvPr id="71" name="AnswerKeyHead"/>
          <p:cNvSpPr txBox="1"/>
          <p:nvPr/>
        </p:nvSpPr>
        <p:spPr>
          <a:xfrm>
            <a:off x="906810" y="4389120"/>
            <a:ext cx="10378440" cy="219456"/>
          </a:xfrm>
          <a:prstGeom prst="rect">
            <a:avLst/>
          </a:prstGeom>
          <a:noFill/>
        </p:spPr>
        <p:txBody>
          <a:bodyPr wrap="square">
            <a:noAutofit/>
          </a:bodyPr>
          <a:lstStyle/>
          <a:p>
            <a:pPr/>
            <a:r>
              <a:rPr lang="en-MY" sz="850" b="1" dirty="0">
                <a:solidFill>
                  <a:srgbClr val="7F6000"/>
                </a:solidFill>
              </a:rPr>
              <a:t>SEMAKAN CIDB — MAKLUMAT PENYEMAK, BUKAN PAPARAN PELAJAR</a:t>
            </a:r>
          </a:p>
        </p:txBody>
      </p:sp>
      <p:sp>
        <p:nvSpPr>
          <p:cNvPr id="72" name="AnswerKeyBody"/>
          <p:cNvSpPr txBox="1"/>
          <p:nvPr/>
        </p:nvSpPr>
        <p:spPr>
          <a:xfrm>
            <a:off x="906810" y="4626864"/>
            <a:ext cx="10378440" cy="512064"/>
          </a:xfrm>
          <a:prstGeom prst="rect">
            <a:avLst/>
          </a:prstGeom>
          <a:noFill/>
        </p:spPr>
        <p:txBody>
          <a:bodyPr wrap="square">
            <a:noAutofit/>
          </a:bodyPr>
          <a:lstStyle/>
          <a:p>
            <a:pPr/>
            <a:r>
              <a:rPr lang="en-MY" sz="1250" b="1" dirty="0">
                <a:solidFill>
                  <a:schemeClr val="tx1">
                    <a:lumMod val="85000"/>
                    <a:lumOff val="15000"/>
                  </a:schemeClr>
                </a:solidFill>
              </a:rPr>
              <a:t>Jawapan: B</a:t>
            </a:r>
          </a:p>
          <a:p>
            <a:pPr/>
            <a:r>
              <a:rPr lang="en-MY" sz="1250" b="1" dirty="0">
                <a:solidFill>
                  <a:schemeClr val="tx1">
                    <a:lumMod val="85000"/>
                    <a:lumOff val="15000"/>
                  </a:schemeClr>
                </a:solidFill>
              </a:rPr>
              <a:t>Asas yang stabil dan rata dengan saliran permukaan yang berkesan</a:t>
            </a:r>
          </a:p>
        </p:txBody>
      </p:sp>
      <p:sp>
        <p:nvSpPr>
          <p:cNvPr id="75" name="FbC"/>
          <p:cNvSpPr txBox="1"/>
          <p:nvPr/>
        </p:nvSpPr>
        <p:spPr>
          <a:xfrm>
            <a:off x="723930" y="5303520"/>
            <a:ext cx="5120640" cy="274320"/>
          </a:xfrm>
          <a:prstGeom prst="rect">
            <a:avLst/>
          </a:prstGeom>
          <a:noFill/>
        </p:spPr>
        <p:txBody>
          <a:bodyPr wrap="square">
            <a:noAutofit/>
          </a:bodyPr>
          <a:lstStyle/>
          <a:p>
            <a:pPr/>
            <a:r>
              <a:rPr lang="en-MY" sz="1250" dirty="0">
                <a:solidFill>
                  <a:srgbClr val="2E7D32"/>
                </a:solidFill>
              </a:rPr>
              <a:t>Pilihan jawapan tepat.</a:t>
            </a:r>
          </a:p>
        </p:txBody>
      </p:sp>
      <p:sp>
        <p:nvSpPr>
          <p:cNvPr id="76" name="FbW"/>
          <p:cNvSpPr txBox="1"/>
          <p:nvPr/>
        </p:nvSpPr>
        <p:spPr>
          <a:xfrm>
            <a:off x="6210330" y="5303520"/>
            <a:ext cx="5120640" cy="274320"/>
          </a:xfrm>
          <a:prstGeom prst="rect">
            <a:avLst/>
          </a:prstGeom>
          <a:noFill/>
        </p:spPr>
        <p:txBody>
          <a:bodyPr wrap="square">
            <a:noAutofit/>
          </a:bodyPr>
          <a:lstStyle/>
          <a:p>
            <a:pPr/>
            <a:r>
              <a:rPr lang="en-MY" sz="125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QUIZ_QUESTION_1</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VO sama</a:t>
            </a:r>
          </a:p>
          <a:p>
            <a:r>
              <a:rPr lang="en-MY" sz="900" dirty="0">
                <a:solidFill>
                  <a:schemeClr val="tx1">
                    <a:lumMod val="85000"/>
                    <a:lumOff val="15000"/>
                  </a:schemeClr>
                </a:solidFill>
              </a:rPr>
              <a:t>  salah: teks "Pilihan jawapan tidak tepat." · SFX SFX_WRONG · VO sama</a:t>
            </a:r>
          </a:p>
          <a:p>
            <a:r>
              <a:rPr lang="en-MY" sz="900" b="1" dirty="0">
                <a:solidFill>
                  <a:schemeClr val="tx1">
                    <a:lumMod val="85000"/>
                    <a:lumOff val="15000"/>
                  </a:schemeClr>
                </a:solidFill>
              </a:rPr>
              <a:t>KUNCI JAWAPAN (blok semakan CIDB pada halaman semakan):</a:t>
            </a:r>
          </a:p>
          <a:p>
            <a:r>
              <a:rPr lang="en-MY" sz="900" dirty="0">
                <a:solidFill>
                  <a:schemeClr val="tx1">
                    <a:lumMod val="85000"/>
                    <a:lumOff val="15000"/>
                  </a:schemeClr>
                </a:solidFill>
              </a:rPr>
              <a:t>  B</a:t>
            </a:r>
          </a:p>
          <a:p>
            <a:r>
              <a:rPr lang="en-MY" sz="900" dirty="0">
                <a:solidFill>
                  <a:schemeClr val="tx1">
                    <a:lumMod val="85000"/>
                    <a:lumOff val="15000"/>
                  </a:schemeClr>
                </a:solidFill>
              </a:rPr>
              <a:t>  Dijana daripada data jawapan berstruktur yang sama dengan logik kuiz.</a:t>
            </a:r>
          </a:p>
          <a:p>
            <a:r>
              <a:rPr lang="en-MY" sz="900" dirty="0">
                <a:solidFill>
                  <a:schemeClr val="tx1">
                    <a:lumMod val="85000"/>
                    <a:lumOff val="15000"/>
                  </a:schemeClr>
                </a:solidFill>
              </a:rPr>
              <a:t>  BUKAN kandungan masa jalan pra-hantar; tidak dibaca dalam VO.</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Modul ms 238 menyatakan asas yang sangat stabil dan rata dengan</a:t>
            </a:r>
          </a:p>
          <a:p>
            <a:r>
              <a:rPr lang="en-MY" sz="900" dirty="0">
                <a:solidFill>
                  <a:schemeClr val="tx1">
                    <a:lumMod val="85000"/>
                    <a:lumOff val="15000"/>
                  </a:schemeClr>
                </a:solidFill>
              </a:rPr>
              <a:t>  sistem saliran permukaan yang berkesan untuk mengelakkan genangan</a:t>
            </a:r>
          </a:p>
          <a:p>
            <a:r>
              <a:rPr lang="en-MY" sz="900" dirty="0">
                <a:solidFill>
                  <a:schemeClr val="tx1">
                    <a:lumMod val="85000"/>
                    <a:lumOff val="15000"/>
                  </a:schemeClr>
                </a:solidFill>
              </a:rPr>
              <a:t>  air.</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Pilih satu jawapan.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QUIZ_QUESTION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NONE</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2</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2</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MCQ   ·   sumber: modul ms 239 (3.3.2)</a:t>
            </a:r>
          </a:p>
        </p:txBody>
      </p:sp>
      <p:sp>
        <p:nvSpPr>
          <p:cNvPr id="22" name="Stem"/>
          <p:cNvSpPr txBox="1"/>
          <p:nvPr/>
        </p:nvSpPr>
        <p:spPr>
          <a:xfrm>
            <a:off x="723930" y="1481328"/>
            <a:ext cx="10744200" cy="713232"/>
          </a:xfrm>
          <a:prstGeom prst="rect">
            <a:avLst/>
          </a:prstGeom>
          <a:noFill/>
        </p:spPr>
        <p:txBody>
          <a:bodyPr wrap="square">
            <a:noAutofit/>
          </a:bodyPr>
          <a:lstStyle/>
          <a:p>
            <a:pPr/>
            <a:r>
              <a:rPr lang="en-MY" sz="1600" b="1" dirty="0">
                <a:solidFill>
                  <a:schemeClr val="tx1">
                    <a:lumMod val="85000"/>
                    <a:lumOff val="15000"/>
                  </a:schemeClr>
                </a:solidFill>
              </a:rPr>
              <a:t>Manakah antara berikut merupakan struktur teduhan tradisional Melayu yang digunakan sebagai</a:t>
            </a:r>
          </a:p>
          <a:p>
            <a:pPr/>
            <a:r>
              <a:rPr lang="en-MY" sz="1600" b="1" dirty="0">
                <a:solidFill>
                  <a:schemeClr val="tx1">
                    <a:lumMod val="85000"/>
                    <a:lumOff val="15000"/>
                  </a:schemeClr>
                </a:solidFill>
              </a:rPr>
              <a:t>tempat berehat?</a:t>
            </a:r>
          </a:p>
        </p:txBody>
      </p:sp>
      <p:sp>
        <p:nvSpPr>
          <p:cNvPr id="23" name="Instr"/>
          <p:cNvSpPr txBox="1"/>
          <p:nvPr/>
        </p:nvSpPr>
        <p:spPr>
          <a:xfrm>
            <a:off x="723930" y="2249424"/>
            <a:ext cx="10744200" cy="310896"/>
          </a:xfrm>
          <a:prstGeom prst="rect">
            <a:avLst/>
          </a:prstGeom>
          <a:noFill/>
        </p:spPr>
        <p:txBody>
          <a:bodyPr wrap="square">
            <a:noAutofit/>
          </a:bodyPr>
          <a:lstStyle/>
          <a:p>
            <a:pPr/>
            <a:r>
              <a:rPr lang="en-MY" sz="1400" b="1" dirty="0">
                <a:solidFill>
                  <a:schemeClr val="tx1">
                    <a:lumMod val="85000"/>
                    <a:lumOff val="15000"/>
                  </a:schemeClr>
                </a:solidFill>
              </a:rPr>
              <a:t>Pilih satu jawapan.</a:t>
            </a:r>
          </a:p>
        </p:txBody>
      </p:sp>
      <p:sp>
        <p:nvSpPr>
          <p:cNvPr id="40" name="Opt"/>
          <p:cNvSpPr txBox="1"/>
          <p:nvPr/>
        </p:nvSpPr>
        <p:spPr>
          <a:xfrm>
            <a:off x="998250" y="2651760"/>
            <a:ext cx="10195560" cy="347472"/>
          </a:xfrm>
          <a:prstGeom prst="rect">
            <a:avLst/>
          </a:prstGeom>
          <a:noFill/>
        </p:spPr>
        <p:txBody>
          <a:bodyPr wrap="square">
            <a:noAutofit/>
          </a:bodyPr>
          <a:lstStyle/>
          <a:p>
            <a:pPr/>
            <a:r>
              <a:rPr lang="en-MY" sz="1450" dirty="0">
                <a:solidFill>
                  <a:schemeClr val="tx1">
                    <a:lumMod val="85000"/>
                    <a:lumOff val="15000"/>
                  </a:schemeClr>
                </a:solidFill>
              </a:rPr>
              <a:t>A.  Pergola</a:t>
            </a:r>
          </a:p>
        </p:txBody>
      </p:sp>
      <p:sp>
        <p:nvSpPr>
          <p:cNvPr id="41" name="Opt"/>
          <p:cNvSpPr txBox="1"/>
          <p:nvPr/>
        </p:nvSpPr>
        <p:spPr>
          <a:xfrm>
            <a:off x="998250" y="3035808"/>
            <a:ext cx="10195560" cy="347472"/>
          </a:xfrm>
          <a:prstGeom prst="rect">
            <a:avLst/>
          </a:prstGeom>
          <a:noFill/>
        </p:spPr>
        <p:txBody>
          <a:bodyPr wrap="square">
            <a:noAutofit/>
          </a:bodyPr>
          <a:lstStyle/>
          <a:p>
            <a:pPr/>
            <a:r>
              <a:rPr lang="en-MY" sz="1450" dirty="0">
                <a:solidFill>
                  <a:schemeClr val="tx1">
                    <a:lumMod val="85000"/>
                    <a:lumOff val="15000"/>
                  </a:schemeClr>
                </a:solidFill>
              </a:rPr>
              <a:t>B.  Canopy</a:t>
            </a:r>
          </a:p>
        </p:txBody>
      </p:sp>
      <p:sp>
        <p:nvSpPr>
          <p:cNvPr id="42" name="Opt"/>
          <p:cNvSpPr txBox="1"/>
          <p:nvPr/>
        </p:nvSpPr>
        <p:spPr>
          <a:xfrm>
            <a:off x="998250" y="3419856"/>
            <a:ext cx="10195560" cy="347472"/>
          </a:xfrm>
          <a:prstGeom prst="rect">
            <a:avLst/>
          </a:prstGeom>
          <a:noFill/>
        </p:spPr>
        <p:txBody>
          <a:bodyPr wrap="square">
            <a:noAutofit/>
          </a:bodyPr>
          <a:lstStyle/>
          <a:p>
            <a:pPr/>
            <a:r>
              <a:rPr lang="en-MY" sz="1450" dirty="0">
                <a:solidFill>
                  <a:schemeClr val="tx1">
                    <a:lumMod val="85000"/>
                    <a:lumOff val="15000"/>
                  </a:schemeClr>
                </a:solidFill>
              </a:rPr>
              <a:t>C.  Wakaf</a:t>
            </a:r>
          </a:p>
        </p:txBody>
      </p:sp>
      <p:sp>
        <p:nvSpPr>
          <p:cNvPr id="43" name="Opt"/>
          <p:cNvSpPr txBox="1"/>
          <p:nvPr/>
        </p:nvSpPr>
        <p:spPr>
          <a:xfrm>
            <a:off x="998250" y="3803904"/>
            <a:ext cx="10195560" cy="347472"/>
          </a:xfrm>
          <a:prstGeom prst="rect">
            <a:avLst/>
          </a:prstGeom>
          <a:noFill/>
        </p:spPr>
        <p:txBody>
          <a:bodyPr wrap="square">
            <a:noAutofit/>
          </a:bodyPr>
          <a:lstStyle/>
          <a:p>
            <a:pPr/>
            <a:r>
              <a:rPr lang="en-MY" sz="1450" dirty="0">
                <a:solidFill>
                  <a:schemeClr val="tx1">
                    <a:lumMod val="85000"/>
                    <a:lumOff val="15000"/>
                  </a:schemeClr>
                </a:solidFill>
              </a:rPr>
              <a:t>D.  Gazebo</a:t>
            </a:r>
          </a:p>
        </p:txBody>
      </p:sp>
      <p:sp>
        <p:nvSpPr>
          <p:cNvPr id="70" name="AnswerKeyBox"/>
          <p:cNvSpPr txBox="1"/>
          <p:nvPr/>
        </p:nvSpPr>
        <p:spPr>
          <a:xfrm>
            <a:off x="723930" y="4334256"/>
            <a:ext cx="10744200" cy="822960"/>
          </a:xfrm>
          <a:prstGeom prst="rect">
            <a:avLst/>
          </a:prstGeom>
          <a:solidFill>
            <a:srgbClr val="FFF7E6"/>
          </a:solidFill>
          <a:ln w="12700">
            <a:solidFill>
              <a:srgbClr val="7F6000"/>
            </a:solidFill>
          </a:ln>
        </p:spPr>
        <p:txBody>
          <a:bodyPr wrap="square">
            <a:noAutofit/>
          </a:bodyPr>
          <a:lstStyle/>
        </p:txBody>
      </p:sp>
      <p:sp>
        <p:nvSpPr>
          <p:cNvPr id="71" name="AnswerKeyHead"/>
          <p:cNvSpPr txBox="1"/>
          <p:nvPr/>
        </p:nvSpPr>
        <p:spPr>
          <a:xfrm>
            <a:off x="906810" y="4389120"/>
            <a:ext cx="10378440" cy="219456"/>
          </a:xfrm>
          <a:prstGeom prst="rect">
            <a:avLst/>
          </a:prstGeom>
          <a:noFill/>
        </p:spPr>
        <p:txBody>
          <a:bodyPr wrap="square">
            <a:noAutofit/>
          </a:bodyPr>
          <a:lstStyle/>
          <a:p>
            <a:pPr/>
            <a:r>
              <a:rPr lang="en-MY" sz="850" b="1" dirty="0">
                <a:solidFill>
                  <a:srgbClr val="7F6000"/>
                </a:solidFill>
              </a:rPr>
              <a:t>SEMAKAN CIDB — MAKLUMAT PENYEMAK, BUKAN PAPARAN PELAJAR</a:t>
            </a:r>
          </a:p>
        </p:txBody>
      </p:sp>
      <p:sp>
        <p:nvSpPr>
          <p:cNvPr id="72" name="AnswerKeyBody"/>
          <p:cNvSpPr txBox="1"/>
          <p:nvPr/>
        </p:nvSpPr>
        <p:spPr>
          <a:xfrm>
            <a:off x="906810" y="4626864"/>
            <a:ext cx="10378440" cy="512064"/>
          </a:xfrm>
          <a:prstGeom prst="rect">
            <a:avLst/>
          </a:prstGeom>
          <a:noFill/>
        </p:spPr>
        <p:txBody>
          <a:bodyPr wrap="square">
            <a:noAutofit/>
          </a:bodyPr>
          <a:lstStyle/>
          <a:p>
            <a:pPr/>
            <a:r>
              <a:rPr lang="en-MY" sz="1250" b="1" dirty="0">
                <a:solidFill>
                  <a:schemeClr val="tx1">
                    <a:lumMod val="85000"/>
                    <a:lumOff val="15000"/>
                  </a:schemeClr>
                </a:solidFill>
              </a:rPr>
              <a:t>Jawapan: C</a:t>
            </a:r>
          </a:p>
          <a:p>
            <a:pPr/>
            <a:r>
              <a:rPr lang="en-MY" sz="1250" b="1" dirty="0">
                <a:solidFill>
                  <a:schemeClr val="tx1">
                    <a:lumMod val="85000"/>
                    <a:lumOff val="15000"/>
                  </a:schemeClr>
                </a:solidFill>
              </a:rPr>
              <a:t>Wakaf</a:t>
            </a:r>
          </a:p>
        </p:txBody>
      </p:sp>
      <p:sp>
        <p:nvSpPr>
          <p:cNvPr id="75" name="FbC"/>
          <p:cNvSpPr txBox="1"/>
          <p:nvPr/>
        </p:nvSpPr>
        <p:spPr>
          <a:xfrm>
            <a:off x="723930" y="5303520"/>
            <a:ext cx="5120640" cy="274320"/>
          </a:xfrm>
          <a:prstGeom prst="rect">
            <a:avLst/>
          </a:prstGeom>
          <a:noFill/>
        </p:spPr>
        <p:txBody>
          <a:bodyPr wrap="square">
            <a:noAutofit/>
          </a:bodyPr>
          <a:lstStyle/>
          <a:p>
            <a:pPr/>
            <a:r>
              <a:rPr lang="en-MY" sz="1250" dirty="0">
                <a:solidFill>
                  <a:srgbClr val="2E7D32"/>
                </a:solidFill>
              </a:rPr>
              <a:t>Pilihan jawapan tepat.</a:t>
            </a:r>
          </a:p>
        </p:txBody>
      </p:sp>
      <p:sp>
        <p:nvSpPr>
          <p:cNvPr id="76" name="FbW"/>
          <p:cNvSpPr txBox="1"/>
          <p:nvPr/>
        </p:nvSpPr>
        <p:spPr>
          <a:xfrm>
            <a:off x="6210330" y="5303520"/>
            <a:ext cx="5120640" cy="274320"/>
          </a:xfrm>
          <a:prstGeom prst="rect">
            <a:avLst/>
          </a:prstGeom>
          <a:noFill/>
        </p:spPr>
        <p:txBody>
          <a:bodyPr wrap="square">
            <a:noAutofit/>
          </a:bodyPr>
          <a:lstStyle/>
          <a:p>
            <a:pPr/>
            <a:r>
              <a:rPr lang="en-MY" sz="125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QUIZ_QUESTION_2</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VO sama</a:t>
            </a:r>
          </a:p>
          <a:p>
            <a:r>
              <a:rPr lang="en-MY" sz="900" dirty="0">
                <a:solidFill>
                  <a:schemeClr val="tx1">
                    <a:lumMod val="85000"/>
                    <a:lumOff val="15000"/>
                  </a:schemeClr>
                </a:solidFill>
              </a:rPr>
              <a:t>  salah: teks "Pilihan jawapan tidak tepat." · SFX SFX_WRONG · VO sama</a:t>
            </a:r>
          </a:p>
          <a:p>
            <a:r>
              <a:rPr lang="en-MY" sz="900" b="1" dirty="0">
                <a:solidFill>
                  <a:schemeClr val="tx1">
                    <a:lumMod val="85000"/>
                    <a:lumOff val="15000"/>
                  </a:schemeClr>
                </a:solidFill>
              </a:rPr>
              <a:t>KUNCI JAWAPAN (blok semakan CIDB pada halaman semakan):</a:t>
            </a:r>
          </a:p>
          <a:p>
            <a:r>
              <a:rPr lang="en-MY" sz="900" dirty="0">
                <a:solidFill>
                  <a:schemeClr val="tx1">
                    <a:lumMod val="85000"/>
                    <a:lumOff val="15000"/>
                  </a:schemeClr>
                </a:solidFill>
              </a:rPr>
              <a:t>  C</a:t>
            </a:r>
          </a:p>
          <a:p>
            <a:r>
              <a:rPr lang="en-MY" sz="900" dirty="0">
                <a:solidFill>
                  <a:schemeClr val="tx1">
                    <a:lumMod val="85000"/>
                    <a:lumOff val="15000"/>
                  </a:schemeClr>
                </a:solidFill>
              </a:rPr>
              <a:t>  Dijana daripada data jawapan berstruktur yang sama dengan logik kuiz.</a:t>
            </a:r>
          </a:p>
          <a:p>
            <a:r>
              <a:rPr lang="en-MY" sz="900" dirty="0">
                <a:solidFill>
                  <a:schemeClr val="tx1">
                    <a:lumMod val="85000"/>
                    <a:lumOff val="15000"/>
                  </a:schemeClr>
                </a:solidFill>
              </a:rPr>
              <a:t>  BUKAN kandungan masa jalan pra-hantar; tidak dibaca dalam VO.</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Modul ms 239 menyenaraikan Wakaf sebagai struktur teduhan</a:t>
            </a:r>
          </a:p>
          <a:p>
            <a:r>
              <a:rPr lang="en-MY" sz="900" dirty="0">
                <a:solidFill>
                  <a:schemeClr val="tx1">
                    <a:lumMod val="85000"/>
                    <a:lumOff val="15000"/>
                  </a:schemeClr>
                </a:solidFill>
              </a:rPr>
              <a:t>  tradisional Melayu. Pergola, Canopy dan Gazebo turut disenaraikan</a:t>
            </a:r>
          </a:p>
          <a:p>
            <a:r>
              <a:rPr lang="en-MY" sz="900" dirty="0">
                <a:solidFill>
                  <a:schemeClr val="tx1">
                    <a:lumMod val="85000"/>
                    <a:lumOff val="15000"/>
                  </a:schemeClr>
                </a:solidFill>
              </a:rPr>
              <a:t>  sebagai struktur teduhan, tetapi bukan sebagai bentuk tradisional</a:t>
            </a:r>
          </a:p>
          <a:p>
            <a:r>
              <a:rPr lang="en-MY" sz="900" dirty="0">
                <a:solidFill>
                  <a:schemeClr val="tx1">
                    <a:lumMod val="85000"/>
                    <a:lumOff val="15000"/>
                  </a:schemeClr>
                </a:solidFill>
              </a:rPr>
              <a:t>  Melayu.</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Pilih satu jawapan.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QUIZ_QUESTION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NONE</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3</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3</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MCQ   ·   sumber: modul ms 240 (3.3.3)</a:t>
            </a:r>
          </a:p>
        </p:txBody>
      </p:sp>
      <p:sp>
        <p:nvSpPr>
          <p:cNvPr id="22" name="Stem"/>
          <p:cNvSpPr txBox="1"/>
          <p:nvPr/>
        </p:nvSpPr>
        <p:spPr>
          <a:xfrm>
            <a:off x="723930" y="1481328"/>
            <a:ext cx="10744200" cy="713232"/>
          </a:xfrm>
          <a:prstGeom prst="rect">
            <a:avLst/>
          </a:prstGeom>
          <a:noFill/>
        </p:spPr>
        <p:txBody>
          <a:bodyPr wrap="square">
            <a:noAutofit/>
          </a:bodyPr>
          <a:lstStyle/>
          <a:p>
            <a:pPr/>
            <a:r>
              <a:rPr lang="en-MY" sz="1600" b="1" dirty="0">
                <a:solidFill>
                  <a:schemeClr val="tx1">
                    <a:lumMod val="85000"/>
                    <a:lumOff val="15000"/>
                  </a:schemeClr>
                </a:solidFill>
              </a:rPr>
              <a:t>Apakah pertimbangan utama dalam pemilihan bahan bagi kemudahan awam seperti tandas dan surau</a:t>
            </a:r>
          </a:p>
          <a:p>
            <a:pPr/>
            <a:r>
              <a:rPr lang="en-MY" sz="1600" b="1" dirty="0">
                <a:solidFill>
                  <a:schemeClr val="tx1">
                    <a:lumMod val="85000"/>
                    <a:lumOff val="15000"/>
                  </a:schemeClr>
                </a:solidFill>
              </a:rPr>
              <a:t>di taman?</a:t>
            </a:r>
          </a:p>
        </p:txBody>
      </p:sp>
      <p:sp>
        <p:nvSpPr>
          <p:cNvPr id="23" name="Instr"/>
          <p:cNvSpPr txBox="1"/>
          <p:nvPr/>
        </p:nvSpPr>
        <p:spPr>
          <a:xfrm>
            <a:off x="723930" y="2249424"/>
            <a:ext cx="10744200" cy="310896"/>
          </a:xfrm>
          <a:prstGeom prst="rect">
            <a:avLst/>
          </a:prstGeom>
          <a:noFill/>
        </p:spPr>
        <p:txBody>
          <a:bodyPr wrap="square">
            <a:noAutofit/>
          </a:bodyPr>
          <a:lstStyle/>
          <a:p>
            <a:pPr/>
            <a:r>
              <a:rPr lang="en-MY" sz="1400" b="1" dirty="0">
                <a:solidFill>
                  <a:schemeClr val="tx1">
                    <a:lumMod val="85000"/>
                    <a:lumOff val="15000"/>
                  </a:schemeClr>
                </a:solidFill>
              </a:rPr>
              <a:t>Pilih satu jawapan.</a:t>
            </a:r>
          </a:p>
        </p:txBody>
      </p:sp>
      <p:sp>
        <p:nvSpPr>
          <p:cNvPr id="40" name="Opt"/>
          <p:cNvSpPr txBox="1"/>
          <p:nvPr/>
        </p:nvSpPr>
        <p:spPr>
          <a:xfrm>
            <a:off x="998250" y="2651760"/>
            <a:ext cx="10195560" cy="347472"/>
          </a:xfrm>
          <a:prstGeom prst="rect">
            <a:avLst/>
          </a:prstGeom>
          <a:noFill/>
        </p:spPr>
        <p:txBody>
          <a:bodyPr wrap="square">
            <a:noAutofit/>
          </a:bodyPr>
          <a:lstStyle/>
          <a:p>
            <a:pPr/>
            <a:r>
              <a:rPr lang="en-MY" sz="1450" dirty="0">
                <a:solidFill>
                  <a:schemeClr val="tx1">
                    <a:lumMod val="85000"/>
                    <a:lumOff val="15000"/>
                  </a:schemeClr>
                </a:solidFill>
              </a:rPr>
              <a:t>A.  Bahan yang tahan vandalisme dan cuaca</a:t>
            </a:r>
          </a:p>
        </p:txBody>
      </p:sp>
      <p:sp>
        <p:nvSpPr>
          <p:cNvPr id="41" name="Opt"/>
          <p:cNvSpPr txBox="1"/>
          <p:nvPr/>
        </p:nvSpPr>
        <p:spPr>
          <a:xfrm>
            <a:off x="998250" y="3035808"/>
            <a:ext cx="10195560" cy="347472"/>
          </a:xfrm>
          <a:prstGeom prst="rect">
            <a:avLst/>
          </a:prstGeom>
          <a:noFill/>
        </p:spPr>
        <p:txBody>
          <a:bodyPr wrap="square">
            <a:noAutofit/>
          </a:bodyPr>
          <a:lstStyle/>
          <a:p>
            <a:pPr/>
            <a:r>
              <a:rPr lang="en-MY" sz="1450" dirty="0">
                <a:solidFill>
                  <a:schemeClr val="tx1">
                    <a:lumMod val="85000"/>
                    <a:lumOff val="15000"/>
                  </a:schemeClr>
                </a:solidFill>
              </a:rPr>
              <a:t>B.  Bahan yang paling murah di pasaran</a:t>
            </a:r>
          </a:p>
        </p:txBody>
      </p:sp>
      <p:sp>
        <p:nvSpPr>
          <p:cNvPr id="42" name="Opt"/>
          <p:cNvSpPr txBox="1"/>
          <p:nvPr/>
        </p:nvSpPr>
        <p:spPr>
          <a:xfrm>
            <a:off x="998250" y="3419856"/>
            <a:ext cx="10195560" cy="347472"/>
          </a:xfrm>
          <a:prstGeom prst="rect">
            <a:avLst/>
          </a:prstGeom>
          <a:noFill/>
        </p:spPr>
        <p:txBody>
          <a:bodyPr wrap="square">
            <a:noAutofit/>
          </a:bodyPr>
          <a:lstStyle/>
          <a:p>
            <a:pPr/>
            <a:r>
              <a:rPr lang="en-MY" sz="1450" dirty="0">
                <a:solidFill>
                  <a:schemeClr val="tx1">
                    <a:lumMod val="85000"/>
                    <a:lumOff val="15000"/>
                  </a:schemeClr>
                </a:solidFill>
              </a:rPr>
              <a:t>C.  Bahan yang perlu dicat semula setiap bulan</a:t>
            </a:r>
          </a:p>
        </p:txBody>
      </p:sp>
      <p:sp>
        <p:nvSpPr>
          <p:cNvPr id="43" name="Opt"/>
          <p:cNvSpPr txBox="1"/>
          <p:nvPr/>
        </p:nvSpPr>
        <p:spPr>
          <a:xfrm>
            <a:off x="998250" y="3803904"/>
            <a:ext cx="10195560" cy="347472"/>
          </a:xfrm>
          <a:prstGeom prst="rect">
            <a:avLst/>
          </a:prstGeom>
          <a:noFill/>
        </p:spPr>
        <p:txBody>
          <a:bodyPr wrap="square">
            <a:noAutofit/>
          </a:bodyPr>
          <a:lstStyle/>
          <a:p>
            <a:pPr/>
            <a:r>
              <a:rPr lang="en-MY" sz="1450" dirty="0">
                <a:solidFill>
                  <a:schemeClr val="tx1">
                    <a:lumMod val="85000"/>
                    <a:lumOff val="15000"/>
                  </a:schemeClr>
                </a:solidFill>
              </a:rPr>
              <a:t>D.  Bahan yang seragam dengan perabot taman</a:t>
            </a:r>
          </a:p>
        </p:txBody>
      </p:sp>
      <p:sp>
        <p:nvSpPr>
          <p:cNvPr id="70" name="AnswerKeyBox"/>
          <p:cNvSpPr txBox="1"/>
          <p:nvPr/>
        </p:nvSpPr>
        <p:spPr>
          <a:xfrm>
            <a:off x="723930" y="4334256"/>
            <a:ext cx="10744200" cy="822960"/>
          </a:xfrm>
          <a:prstGeom prst="rect">
            <a:avLst/>
          </a:prstGeom>
          <a:solidFill>
            <a:srgbClr val="FFF7E6"/>
          </a:solidFill>
          <a:ln w="12700">
            <a:solidFill>
              <a:srgbClr val="7F6000"/>
            </a:solidFill>
          </a:ln>
        </p:spPr>
        <p:txBody>
          <a:bodyPr wrap="square">
            <a:noAutofit/>
          </a:bodyPr>
          <a:lstStyle/>
        </p:txBody>
      </p:sp>
      <p:sp>
        <p:nvSpPr>
          <p:cNvPr id="71" name="AnswerKeyHead"/>
          <p:cNvSpPr txBox="1"/>
          <p:nvPr/>
        </p:nvSpPr>
        <p:spPr>
          <a:xfrm>
            <a:off x="906810" y="4389120"/>
            <a:ext cx="10378440" cy="219456"/>
          </a:xfrm>
          <a:prstGeom prst="rect">
            <a:avLst/>
          </a:prstGeom>
          <a:noFill/>
        </p:spPr>
        <p:txBody>
          <a:bodyPr wrap="square">
            <a:noAutofit/>
          </a:bodyPr>
          <a:lstStyle/>
          <a:p>
            <a:pPr/>
            <a:r>
              <a:rPr lang="en-MY" sz="850" b="1" dirty="0">
                <a:solidFill>
                  <a:srgbClr val="7F6000"/>
                </a:solidFill>
              </a:rPr>
              <a:t>SEMAKAN CIDB — MAKLUMAT PENYEMAK, BUKAN PAPARAN PELAJAR</a:t>
            </a:r>
          </a:p>
        </p:txBody>
      </p:sp>
      <p:sp>
        <p:nvSpPr>
          <p:cNvPr id="72" name="AnswerKeyBody"/>
          <p:cNvSpPr txBox="1"/>
          <p:nvPr/>
        </p:nvSpPr>
        <p:spPr>
          <a:xfrm>
            <a:off x="906810" y="4626864"/>
            <a:ext cx="10378440" cy="512064"/>
          </a:xfrm>
          <a:prstGeom prst="rect">
            <a:avLst/>
          </a:prstGeom>
          <a:noFill/>
        </p:spPr>
        <p:txBody>
          <a:bodyPr wrap="square">
            <a:noAutofit/>
          </a:bodyPr>
          <a:lstStyle/>
          <a:p>
            <a:pPr/>
            <a:r>
              <a:rPr lang="en-MY" sz="1250" b="1" dirty="0">
                <a:solidFill>
                  <a:schemeClr val="tx1">
                    <a:lumMod val="85000"/>
                    <a:lumOff val="15000"/>
                  </a:schemeClr>
                </a:solidFill>
              </a:rPr>
              <a:t>Jawapan: A</a:t>
            </a:r>
          </a:p>
          <a:p>
            <a:pPr/>
            <a:r>
              <a:rPr lang="en-MY" sz="1250" b="1" dirty="0">
                <a:solidFill>
                  <a:schemeClr val="tx1">
                    <a:lumMod val="85000"/>
                    <a:lumOff val="15000"/>
                  </a:schemeClr>
                </a:solidFill>
              </a:rPr>
              <a:t>Bahan yang tahan vandalisme dan cuaca</a:t>
            </a:r>
          </a:p>
        </p:txBody>
      </p:sp>
      <p:sp>
        <p:nvSpPr>
          <p:cNvPr id="75" name="FbC"/>
          <p:cNvSpPr txBox="1"/>
          <p:nvPr/>
        </p:nvSpPr>
        <p:spPr>
          <a:xfrm>
            <a:off x="723930" y="5303520"/>
            <a:ext cx="5120640" cy="274320"/>
          </a:xfrm>
          <a:prstGeom prst="rect">
            <a:avLst/>
          </a:prstGeom>
          <a:noFill/>
        </p:spPr>
        <p:txBody>
          <a:bodyPr wrap="square">
            <a:noAutofit/>
          </a:bodyPr>
          <a:lstStyle/>
          <a:p>
            <a:pPr/>
            <a:r>
              <a:rPr lang="en-MY" sz="1250" dirty="0">
                <a:solidFill>
                  <a:srgbClr val="2E7D32"/>
                </a:solidFill>
              </a:rPr>
              <a:t>Pilihan jawapan tepat.</a:t>
            </a:r>
          </a:p>
        </p:txBody>
      </p:sp>
      <p:sp>
        <p:nvSpPr>
          <p:cNvPr id="76" name="FbW"/>
          <p:cNvSpPr txBox="1"/>
          <p:nvPr/>
        </p:nvSpPr>
        <p:spPr>
          <a:xfrm>
            <a:off x="6210330" y="5303520"/>
            <a:ext cx="5120640" cy="274320"/>
          </a:xfrm>
          <a:prstGeom prst="rect">
            <a:avLst/>
          </a:prstGeom>
          <a:noFill/>
        </p:spPr>
        <p:txBody>
          <a:bodyPr wrap="square">
            <a:noAutofit/>
          </a:bodyPr>
          <a:lstStyle/>
          <a:p>
            <a:pPr/>
            <a:r>
              <a:rPr lang="en-MY" sz="125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QUIZ_QUESTION_3</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VO sama</a:t>
            </a:r>
          </a:p>
          <a:p>
            <a:r>
              <a:rPr lang="en-MY" sz="900" dirty="0">
                <a:solidFill>
                  <a:schemeClr val="tx1">
                    <a:lumMod val="85000"/>
                    <a:lumOff val="15000"/>
                  </a:schemeClr>
                </a:solidFill>
              </a:rPr>
              <a:t>  salah: teks "Pilihan jawapan tidak tepat." · SFX SFX_WRONG · VO sama</a:t>
            </a:r>
          </a:p>
          <a:p>
            <a:r>
              <a:rPr lang="en-MY" sz="900" b="1" dirty="0">
                <a:solidFill>
                  <a:schemeClr val="tx1">
                    <a:lumMod val="85000"/>
                    <a:lumOff val="15000"/>
                  </a:schemeClr>
                </a:solidFill>
              </a:rPr>
              <a:t>KUNCI JAWAPAN (blok semakan CIDB pada halaman semakan):</a:t>
            </a:r>
          </a:p>
          <a:p>
            <a:r>
              <a:rPr lang="en-MY" sz="900" dirty="0">
                <a:solidFill>
                  <a:schemeClr val="tx1">
                    <a:lumMod val="85000"/>
                    <a:lumOff val="15000"/>
                  </a:schemeClr>
                </a:solidFill>
              </a:rPr>
              <a:t>  A</a:t>
            </a:r>
          </a:p>
          <a:p>
            <a:r>
              <a:rPr lang="en-MY" sz="900" dirty="0">
                <a:solidFill>
                  <a:schemeClr val="tx1">
                    <a:lumMod val="85000"/>
                    <a:lumOff val="15000"/>
                  </a:schemeClr>
                </a:solidFill>
              </a:rPr>
              <a:t>  Dijana daripada data jawapan berstruktur yang sama dengan logik kuiz.</a:t>
            </a:r>
          </a:p>
          <a:p>
            <a:r>
              <a:rPr lang="en-MY" sz="900" dirty="0">
                <a:solidFill>
                  <a:schemeClr val="tx1">
                    <a:lumMod val="85000"/>
                    <a:lumOff val="15000"/>
                  </a:schemeClr>
                </a:solidFill>
              </a:rPr>
              <a:t>  BUKAN kandungan masa jalan pra-hantar; tidak dibaca dalam VO.</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Modul ms 240 menetapkan ketahanan terhadap vandalisme dan cuaca</a:t>
            </a:r>
          </a:p>
          <a:p>
            <a:r>
              <a:rPr lang="en-MY" sz="900" dirty="0">
                <a:solidFill>
                  <a:schemeClr val="tx1">
                    <a:lumMod val="85000"/>
                    <a:lumOff val="15000"/>
                  </a:schemeClr>
                </a:solidFill>
              </a:rPr>
              <a:t>  sebagai pertimbangan utama bagi kemudahan awam.</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Pilih satu jawapan.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QUIZ_QUESTION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NONE</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4</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4</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MCQ   ·   sumber: modul ms 241 (3.3.4)</a:t>
            </a:r>
          </a:p>
        </p:txBody>
      </p:sp>
      <p:sp>
        <p:nvSpPr>
          <p:cNvPr id="22" name="Stem"/>
          <p:cNvSpPr txBox="1"/>
          <p:nvPr/>
        </p:nvSpPr>
        <p:spPr>
          <a:xfrm>
            <a:off x="723930" y="1481328"/>
            <a:ext cx="10744200" cy="402336"/>
          </a:xfrm>
          <a:prstGeom prst="rect">
            <a:avLst/>
          </a:prstGeom>
          <a:noFill/>
        </p:spPr>
        <p:txBody>
          <a:bodyPr wrap="square">
            <a:noAutofit/>
          </a:bodyPr>
          <a:lstStyle/>
          <a:p>
            <a:pPr/>
            <a:r>
              <a:rPr lang="en-MY" sz="1600" b="1" dirty="0">
                <a:solidFill>
                  <a:schemeClr val="tx1">
                    <a:lumMod val="85000"/>
                    <a:lumOff val="15000"/>
                  </a:schemeClr>
                </a:solidFill>
              </a:rPr>
              <a:t>Dalam pembinaan water feature, apakah aspek kawalan kualiti air yang dinyatakan dalam modul?</a:t>
            </a:r>
          </a:p>
        </p:txBody>
      </p:sp>
      <p:sp>
        <p:nvSpPr>
          <p:cNvPr id="23" name="Instr"/>
          <p:cNvSpPr txBox="1"/>
          <p:nvPr/>
        </p:nvSpPr>
        <p:spPr>
          <a:xfrm>
            <a:off x="723930" y="1938528"/>
            <a:ext cx="10744200" cy="310896"/>
          </a:xfrm>
          <a:prstGeom prst="rect">
            <a:avLst/>
          </a:prstGeom>
          <a:noFill/>
        </p:spPr>
        <p:txBody>
          <a:bodyPr wrap="square">
            <a:noAutofit/>
          </a:bodyPr>
          <a:lstStyle/>
          <a:p>
            <a:pPr/>
            <a:r>
              <a:rPr lang="en-MY" sz="1400" b="1" dirty="0">
                <a:solidFill>
                  <a:schemeClr val="tx1">
                    <a:lumMod val="85000"/>
                    <a:lumOff val="15000"/>
                  </a:schemeClr>
                </a:solidFill>
              </a:rPr>
              <a:t>Pilih satu jawapan.</a:t>
            </a:r>
          </a:p>
        </p:txBody>
      </p:sp>
      <p:sp>
        <p:nvSpPr>
          <p:cNvPr id="40" name="Opt"/>
          <p:cNvSpPr txBox="1"/>
          <p:nvPr/>
        </p:nvSpPr>
        <p:spPr>
          <a:xfrm>
            <a:off x="998250" y="2340864"/>
            <a:ext cx="10195560" cy="347472"/>
          </a:xfrm>
          <a:prstGeom prst="rect">
            <a:avLst/>
          </a:prstGeom>
          <a:noFill/>
        </p:spPr>
        <p:txBody>
          <a:bodyPr wrap="square">
            <a:noAutofit/>
          </a:bodyPr>
          <a:lstStyle/>
          <a:p>
            <a:pPr/>
            <a:r>
              <a:rPr lang="en-MY" sz="1450" dirty="0">
                <a:solidFill>
                  <a:schemeClr val="tx1">
                    <a:lumMod val="85000"/>
                    <a:lumOff val="15000"/>
                  </a:schemeClr>
                </a:solidFill>
              </a:rPr>
              <a:t>A.  Penambahan garam</a:t>
            </a:r>
          </a:p>
        </p:txBody>
      </p:sp>
      <p:sp>
        <p:nvSpPr>
          <p:cNvPr id="41" name="Opt"/>
          <p:cNvSpPr txBox="1"/>
          <p:nvPr/>
        </p:nvSpPr>
        <p:spPr>
          <a:xfrm>
            <a:off x="998250" y="2724912"/>
            <a:ext cx="10195560" cy="347472"/>
          </a:xfrm>
          <a:prstGeom prst="rect">
            <a:avLst/>
          </a:prstGeom>
          <a:noFill/>
        </p:spPr>
        <p:txBody>
          <a:bodyPr wrap="square">
            <a:noAutofit/>
          </a:bodyPr>
          <a:lstStyle/>
          <a:p>
            <a:pPr/>
            <a:r>
              <a:rPr lang="en-MY" sz="1450" dirty="0">
                <a:solidFill>
                  <a:schemeClr val="tx1">
                    <a:lumMod val="85000"/>
                    <a:lumOff val="15000"/>
                  </a:schemeClr>
                </a:solidFill>
              </a:rPr>
              <a:t>B.  Pencegahan alga</a:t>
            </a:r>
          </a:p>
        </p:txBody>
      </p:sp>
      <p:sp>
        <p:nvSpPr>
          <p:cNvPr id="42" name="Opt"/>
          <p:cNvSpPr txBox="1"/>
          <p:nvPr/>
        </p:nvSpPr>
        <p:spPr>
          <a:xfrm>
            <a:off x="998250" y="3108960"/>
            <a:ext cx="10195560" cy="347472"/>
          </a:xfrm>
          <a:prstGeom prst="rect">
            <a:avLst/>
          </a:prstGeom>
          <a:noFill/>
        </p:spPr>
        <p:txBody>
          <a:bodyPr wrap="square">
            <a:noAutofit/>
          </a:bodyPr>
          <a:lstStyle/>
          <a:p>
            <a:pPr/>
            <a:r>
              <a:rPr lang="en-MY" sz="1450" dirty="0">
                <a:solidFill>
                  <a:schemeClr val="tx1">
                    <a:lumMod val="85000"/>
                    <a:lumOff val="15000"/>
                  </a:schemeClr>
                </a:solidFill>
              </a:rPr>
              <a:t>C.  Pemanasan air</a:t>
            </a:r>
          </a:p>
        </p:txBody>
      </p:sp>
      <p:sp>
        <p:nvSpPr>
          <p:cNvPr id="43" name="Opt"/>
          <p:cNvSpPr txBox="1"/>
          <p:nvPr/>
        </p:nvSpPr>
        <p:spPr>
          <a:xfrm>
            <a:off x="998250" y="3493008"/>
            <a:ext cx="10195560" cy="347472"/>
          </a:xfrm>
          <a:prstGeom prst="rect">
            <a:avLst/>
          </a:prstGeom>
          <a:noFill/>
        </p:spPr>
        <p:txBody>
          <a:bodyPr wrap="square">
            <a:noAutofit/>
          </a:bodyPr>
          <a:lstStyle/>
          <a:p>
            <a:pPr/>
            <a:r>
              <a:rPr lang="en-MY" sz="1450" dirty="0">
                <a:solidFill>
                  <a:schemeClr val="tx1">
                    <a:lumMod val="85000"/>
                    <a:lumOff val="15000"/>
                  </a:schemeClr>
                </a:solidFill>
              </a:rPr>
              <a:t>D.  Pewarnaan air</a:t>
            </a:r>
          </a:p>
        </p:txBody>
      </p:sp>
      <p:sp>
        <p:nvSpPr>
          <p:cNvPr id="70" name="AnswerKeyBox"/>
          <p:cNvSpPr txBox="1"/>
          <p:nvPr/>
        </p:nvSpPr>
        <p:spPr>
          <a:xfrm>
            <a:off x="723930" y="4023360"/>
            <a:ext cx="10744200" cy="822960"/>
          </a:xfrm>
          <a:prstGeom prst="rect">
            <a:avLst/>
          </a:prstGeom>
          <a:solidFill>
            <a:srgbClr val="FFF7E6"/>
          </a:solidFill>
          <a:ln w="12700">
            <a:solidFill>
              <a:srgbClr val="7F6000"/>
            </a:solidFill>
          </a:ln>
        </p:spPr>
        <p:txBody>
          <a:bodyPr wrap="square">
            <a:noAutofit/>
          </a:bodyPr>
          <a:lstStyle/>
        </p:txBody>
      </p:sp>
      <p:sp>
        <p:nvSpPr>
          <p:cNvPr id="71" name="AnswerKeyHead"/>
          <p:cNvSpPr txBox="1"/>
          <p:nvPr/>
        </p:nvSpPr>
        <p:spPr>
          <a:xfrm>
            <a:off x="906810" y="4078224"/>
            <a:ext cx="10378440" cy="219456"/>
          </a:xfrm>
          <a:prstGeom prst="rect">
            <a:avLst/>
          </a:prstGeom>
          <a:noFill/>
        </p:spPr>
        <p:txBody>
          <a:bodyPr wrap="square">
            <a:noAutofit/>
          </a:bodyPr>
          <a:lstStyle/>
          <a:p>
            <a:pPr/>
            <a:r>
              <a:rPr lang="en-MY" sz="850" b="1" dirty="0">
                <a:solidFill>
                  <a:srgbClr val="7F6000"/>
                </a:solidFill>
              </a:rPr>
              <a:t>SEMAKAN CIDB — MAKLUMAT PENYEMAK, BUKAN PAPARAN PELAJAR</a:t>
            </a:r>
          </a:p>
        </p:txBody>
      </p:sp>
      <p:sp>
        <p:nvSpPr>
          <p:cNvPr id="72" name="AnswerKeyBody"/>
          <p:cNvSpPr txBox="1"/>
          <p:nvPr/>
        </p:nvSpPr>
        <p:spPr>
          <a:xfrm>
            <a:off x="906810" y="4315968"/>
            <a:ext cx="10378440" cy="512064"/>
          </a:xfrm>
          <a:prstGeom prst="rect">
            <a:avLst/>
          </a:prstGeom>
          <a:noFill/>
        </p:spPr>
        <p:txBody>
          <a:bodyPr wrap="square">
            <a:noAutofit/>
          </a:bodyPr>
          <a:lstStyle/>
          <a:p>
            <a:pPr/>
            <a:r>
              <a:rPr lang="en-MY" sz="1250" b="1" dirty="0">
                <a:solidFill>
                  <a:schemeClr val="tx1">
                    <a:lumMod val="85000"/>
                    <a:lumOff val="15000"/>
                  </a:schemeClr>
                </a:solidFill>
              </a:rPr>
              <a:t>Jawapan: B</a:t>
            </a:r>
          </a:p>
          <a:p>
            <a:pPr/>
            <a:r>
              <a:rPr lang="en-MY" sz="1250" b="1" dirty="0">
                <a:solidFill>
                  <a:schemeClr val="tx1">
                    <a:lumMod val="85000"/>
                    <a:lumOff val="15000"/>
                  </a:schemeClr>
                </a:solidFill>
              </a:rPr>
              <a:t>Pencegahan alga</a:t>
            </a:r>
          </a:p>
        </p:txBody>
      </p:sp>
      <p:sp>
        <p:nvSpPr>
          <p:cNvPr id="75" name="FbC"/>
          <p:cNvSpPr txBox="1"/>
          <p:nvPr/>
        </p:nvSpPr>
        <p:spPr>
          <a:xfrm>
            <a:off x="723930" y="4992624"/>
            <a:ext cx="5120640" cy="274320"/>
          </a:xfrm>
          <a:prstGeom prst="rect">
            <a:avLst/>
          </a:prstGeom>
          <a:noFill/>
        </p:spPr>
        <p:txBody>
          <a:bodyPr wrap="square">
            <a:noAutofit/>
          </a:bodyPr>
          <a:lstStyle/>
          <a:p>
            <a:pPr/>
            <a:r>
              <a:rPr lang="en-MY" sz="1250" dirty="0">
                <a:solidFill>
                  <a:srgbClr val="2E7D32"/>
                </a:solidFill>
              </a:rPr>
              <a:t>Pilihan jawapan tepat.</a:t>
            </a:r>
          </a:p>
        </p:txBody>
      </p:sp>
      <p:sp>
        <p:nvSpPr>
          <p:cNvPr id="76" name="FbW"/>
          <p:cNvSpPr txBox="1"/>
          <p:nvPr/>
        </p:nvSpPr>
        <p:spPr>
          <a:xfrm>
            <a:off x="6210330" y="4992624"/>
            <a:ext cx="5120640" cy="274320"/>
          </a:xfrm>
          <a:prstGeom prst="rect">
            <a:avLst/>
          </a:prstGeom>
          <a:noFill/>
        </p:spPr>
        <p:txBody>
          <a:bodyPr wrap="square">
            <a:noAutofit/>
          </a:bodyPr>
          <a:lstStyle/>
          <a:p>
            <a:pPr/>
            <a:r>
              <a:rPr lang="en-MY" sz="125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QUIZ_QUESTION_4</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VO sama</a:t>
            </a:r>
          </a:p>
          <a:p>
            <a:r>
              <a:rPr lang="en-MY" sz="900" dirty="0">
                <a:solidFill>
                  <a:schemeClr val="tx1">
                    <a:lumMod val="85000"/>
                    <a:lumOff val="15000"/>
                  </a:schemeClr>
                </a:solidFill>
              </a:rPr>
              <a:t>  salah: teks "Pilihan jawapan tidak tepat." · SFX SFX_WRONG · VO sama</a:t>
            </a:r>
          </a:p>
          <a:p>
            <a:r>
              <a:rPr lang="en-MY" sz="900" b="1" dirty="0">
                <a:solidFill>
                  <a:schemeClr val="tx1">
                    <a:lumMod val="85000"/>
                    <a:lumOff val="15000"/>
                  </a:schemeClr>
                </a:solidFill>
              </a:rPr>
              <a:t>KUNCI JAWAPAN (blok semakan CIDB pada halaman semakan):</a:t>
            </a:r>
          </a:p>
          <a:p>
            <a:r>
              <a:rPr lang="en-MY" sz="900" dirty="0">
                <a:solidFill>
                  <a:schemeClr val="tx1">
                    <a:lumMod val="85000"/>
                    <a:lumOff val="15000"/>
                  </a:schemeClr>
                </a:solidFill>
              </a:rPr>
              <a:t>  B</a:t>
            </a:r>
          </a:p>
          <a:p>
            <a:r>
              <a:rPr lang="en-MY" sz="900" dirty="0">
                <a:solidFill>
                  <a:schemeClr val="tx1">
                    <a:lumMod val="85000"/>
                    <a:lumOff val="15000"/>
                  </a:schemeClr>
                </a:solidFill>
              </a:rPr>
              <a:t>  Dijana daripada data jawapan berstruktur yang sama dengan logik kuiz.</a:t>
            </a:r>
          </a:p>
          <a:p>
            <a:r>
              <a:rPr lang="en-MY" sz="900" dirty="0">
                <a:solidFill>
                  <a:schemeClr val="tx1">
                    <a:lumMod val="85000"/>
                    <a:lumOff val="15000"/>
                  </a:schemeClr>
                </a:solidFill>
              </a:rPr>
              <a:t>  BUKAN kandungan masa jalan pra-hantar; tidak dibaca dalam VO.</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Modul ms 241 menyatakan pencegahan alga sebagai aspek kawalan</a:t>
            </a:r>
          </a:p>
          <a:p>
            <a:r>
              <a:rPr lang="en-MY" sz="900" dirty="0">
                <a:solidFill>
                  <a:schemeClr val="tx1">
                    <a:lumMod val="85000"/>
                    <a:lumOff val="15000"/>
                  </a:schemeClr>
                </a:solidFill>
              </a:rPr>
              <a:t>  kualiti air bagi water feature.</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Pilih satu jawapan.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QUIZ_QUESTION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NONE</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5</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5</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i="1" dirty="0">
                <a:solidFill>
                  <a:srgbClr val="808080"/>
                </a:solidFill>
              </a:rPr>
              <a:t>Multiple Response</a:t>
            </a:r>
            <a:r>
              <a:rPr lang="en-MY" sz="1150" dirty="0">
                <a:solidFill>
                  <a:srgbClr val="808080"/>
                </a:solidFill>
              </a:rPr>
              <a:t>   ·   sumber: modul ms 242-249 (3.4.1-3.4.3)</a:t>
            </a:r>
          </a:p>
        </p:txBody>
      </p:sp>
      <p:sp>
        <p:nvSpPr>
          <p:cNvPr id="22" name="Stem"/>
          <p:cNvSpPr txBox="1"/>
          <p:nvPr/>
        </p:nvSpPr>
        <p:spPr>
          <a:xfrm>
            <a:off x="723930" y="1481328"/>
            <a:ext cx="10744200" cy="402336"/>
          </a:xfrm>
          <a:prstGeom prst="rect">
            <a:avLst/>
          </a:prstGeom>
          <a:noFill/>
        </p:spPr>
        <p:txBody>
          <a:bodyPr wrap="square">
            <a:noAutofit/>
          </a:bodyPr>
          <a:lstStyle/>
          <a:p>
            <a:pPr/>
            <a:r>
              <a:rPr lang="en-MY" sz="1600" b="1" dirty="0">
                <a:solidFill>
                  <a:schemeClr val="tx1">
                    <a:lumMod val="85000"/>
                    <a:lumOff val="15000"/>
                  </a:schemeClr>
                </a:solidFill>
              </a:rPr>
              <a:t>Pilih SEMUA perabot yang tergolong dalam Perabot Taman.</a:t>
            </a:r>
          </a:p>
        </p:txBody>
      </p:sp>
      <p:sp>
        <p:nvSpPr>
          <p:cNvPr id="23" name="Instr"/>
          <p:cNvSpPr txBox="1"/>
          <p:nvPr/>
        </p:nvSpPr>
        <p:spPr>
          <a:xfrm>
            <a:off x="723930" y="1938528"/>
            <a:ext cx="10744200" cy="310896"/>
          </a:xfrm>
          <a:prstGeom prst="rect">
            <a:avLst/>
          </a:prstGeom>
          <a:noFill/>
        </p:spPr>
        <p:txBody>
          <a:bodyPr wrap="square">
            <a:noAutofit/>
          </a:bodyPr>
          <a:lstStyle/>
          <a:p>
            <a:pPr/>
            <a:r>
              <a:rPr lang="en-MY" sz="1400" b="1" dirty="0">
                <a:solidFill>
                  <a:schemeClr val="tx1">
                    <a:lumMod val="85000"/>
                    <a:lumOff val="15000"/>
                  </a:schemeClr>
                </a:solidFill>
              </a:rPr>
              <a:t>Pilih semua jawapan yang tepat.</a:t>
            </a:r>
          </a:p>
        </p:txBody>
      </p:sp>
      <p:sp>
        <p:nvSpPr>
          <p:cNvPr id="40" name="Opt"/>
          <p:cNvSpPr txBox="1"/>
          <p:nvPr/>
        </p:nvSpPr>
        <p:spPr>
          <a:xfrm>
            <a:off x="998250" y="2340864"/>
            <a:ext cx="10195560" cy="228600"/>
          </a:xfrm>
          <a:prstGeom prst="rect">
            <a:avLst/>
          </a:prstGeom>
          <a:noFill/>
        </p:spPr>
        <p:txBody>
          <a:bodyPr wrap="square">
            <a:noAutofit/>
          </a:bodyPr>
          <a:lstStyle/>
          <a:p>
            <a:pPr/>
            <a:r>
              <a:rPr lang="en-MY" sz="1150" dirty="0">
                <a:solidFill>
                  <a:schemeClr val="tx1">
                    <a:lumMod val="85000"/>
                    <a:lumOff val="15000"/>
                  </a:schemeClr>
                </a:solidFill>
              </a:rPr>
              <a:t>Kerusi Taman</a:t>
            </a:r>
          </a:p>
        </p:txBody>
      </p:sp>
      <p:sp>
        <p:nvSpPr>
          <p:cNvPr id="41" name="Opt"/>
          <p:cNvSpPr txBox="1"/>
          <p:nvPr/>
        </p:nvSpPr>
        <p:spPr>
          <a:xfrm>
            <a:off x="998250" y="2606040"/>
            <a:ext cx="10195560" cy="228600"/>
          </a:xfrm>
          <a:prstGeom prst="rect">
            <a:avLst/>
          </a:prstGeom>
          <a:noFill/>
        </p:spPr>
        <p:txBody>
          <a:bodyPr wrap="square">
            <a:noAutofit/>
          </a:bodyPr>
          <a:lstStyle/>
          <a:p>
            <a:pPr/>
            <a:r>
              <a:rPr lang="en-MY" sz="1150" dirty="0">
                <a:solidFill>
                  <a:schemeClr val="tx1">
                    <a:lumMod val="85000"/>
                    <a:lumOff val="15000"/>
                  </a:schemeClr>
                </a:solidFill>
              </a:rPr>
              <a:t>Papan Tanda</a:t>
            </a:r>
          </a:p>
        </p:txBody>
      </p:sp>
      <p:sp>
        <p:nvSpPr>
          <p:cNvPr id="42" name="Opt"/>
          <p:cNvSpPr txBox="1"/>
          <p:nvPr/>
        </p:nvSpPr>
        <p:spPr>
          <a:xfrm>
            <a:off x="998250" y="2871216"/>
            <a:ext cx="10195560" cy="228600"/>
          </a:xfrm>
          <a:prstGeom prst="rect">
            <a:avLst/>
          </a:prstGeom>
          <a:noFill/>
        </p:spPr>
        <p:txBody>
          <a:bodyPr wrap="square">
            <a:noAutofit/>
          </a:bodyPr>
          <a:lstStyle/>
          <a:p>
            <a:pPr/>
            <a:r>
              <a:rPr lang="en-MY" sz="1150" i="1" dirty="0">
                <a:solidFill>
                  <a:schemeClr val="tx1">
                    <a:lumMod val="85000"/>
                    <a:lumOff val="15000"/>
                  </a:schemeClr>
                </a:solidFill>
              </a:rPr>
              <a:t>Boardwalk</a:t>
            </a:r>
          </a:p>
        </p:txBody>
      </p:sp>
      <p:sp>
        <p:nvSpPr>
          <p:cNvPr id="43" name="Opt"/>
          <p:cNvSpPr txBox="1"/>
          <p:nvPr/>
        </p:nvSpPr>
        <p:spPr>
          <a:xfrm>
            <a:off x="998250" y="3136392"/>
            <a:ext cx="10195560" cy="228600"/>
          </a:xfrm>
          <a:prstGeom prst="rect">
            <a:avLst/>
          </a:prstGeom>
          <a:noFill/>
        </p:spPr>
        <p:txBody>
          <a:bodyPr wrap="square">
            <a:noAutofit/>
          </a:bodyPr>
          <a:lstStyle/>
          <a:p>
            <a:pPr/>
            <a:r>
              <a:rPr lang="en-MY" sz="1150" dirty="0">
                <a:solidFill>
                  <a:schemeClr val="tx1">
                    <a:lumMod val="85000"/>
                    <a:lumOff val="15000"/>
                  </a:schemeClr>
                </a:solidFill>
              </a:rPr>
              <a:t>Tong Sampah</a:t>
            </a:r>
          </a:p>
        </p:txBody>
      </p:sp>
      <p:sp>
        <p:nvSpPr>
          <p:cNvPr id="44" name="Opt"/>
          <p:cNvSpPr txBox="1"/>
          <p:nvPr/>
        </p:nvSpPr>
        <p:spPr>
          <a:xfrm>
            <a:off x="998250" y="3401568"/>
            <a:ext cx="10195560" cy="228600"/>
          </a:xfrm>
          <a:prstGeom prst="rect">
            <a:avLst/>
          </a:prstGeom>
          <a:noFill/>
        </p:spPr>
        <p:txBody>
          <a:bodyPr wrap="square">
            <a:noAutofit/>
          </a:bodyPr>
          <a:lstStyle/>
          <a:p>
            <a:pPr/>
            <a:r>
              <a:rPr lang="en-MY" sz="1150" i="1" dirty="0">
                <a:solidFill>
                  <a:schemeClr val="tx1">
                    <a:lumMod val="85000"/>
                    <a:lumOff val="15000"/>
                  </a:schemeClr>
                </a:solidFill>
              </a:rPr>
              <a:t>Drinking Fountain</a:t>
            </a:r>
          </a:p>
        </p:txBody>
      </p:sp>
      <p:sp>
        <p:nvSpPr>
          <p:cNvPr id="45" name="Opt"/>
          <p:cNvSpPr txBox="1"/>
          <p:nvPr/>
        </p:nvSpPr>
        <p:spPr>
          <a:xfrm>
            <a:off x="998250" y="3666744"/>
            <a:ext cx="10195560" cy="228600"/>
          </a:xfrm>
          <a:prstGeom prst="rect">
            <a:avLst/>
          </a:prstGeom>
          <a:noFill/>
        </p:spPr>
        <p:txBody>
          <a:bodyPr wrap="square">
            <a:noAutofit/>
          </a:bodyPr>
          <a:lstStyle/>
          <a:p>
            <a:pPr/>
            <a:r>
              <a:rPr lang="en-MY" sz="1150" i="1" dirty="0">
                <a:solidFill>
                  <a:schemeClr val="tx1">
                    <a:lumMod val="85000"/>
                    <a:lumOff val="15000"/>
                  </a:schemeClr>
                </a:solidFill>
              </a:rPr>
              <a:t>BBQ Pit</a:t>
            </a:r>
          </a:p>
        </p:txBody>
      </p:sp>
      <p:sp>
        <p:nvSpPr>
          <p:cNvPr id="46" name="Opt"/>
          <p:cNvSpPr txBox="1"/>
          <p:nvPr/>
        </p:nvSpPr>
        <p:spPr>
          <a:xfrm>
            <a:off x="998250" y="3931920"/>
            <a:ext cx="10195560" cy="228600"/>
          </a:xfrm>
          <a:prstGeom prst="rect">
            <a:avLst/>
          </a:prstGeom>
          <a:noFill/>
        </p:spPr>
        <p:txBody>
          <a:bodyPr wrap="square">
            <a:noAutofit/>
          </a:bodyPr>
          <a:lstStyle/>
          <a:p>
            <a:pPr/>
            <a:r>
              <a:rPr lang="en-MY" sz="1150" dirty="0">
                <a:solidFill>
                  <a:schemeClr val="tx1">
                    <a:lumMod val="85000"/>
                    <a:lumOff val="15000"/>
                  </a:schemeClr>
                </a:solidFill>
              </a:rPr>
              <a:t>Gazebo</a:t>
            </a:r>
          </a:p>
        </p:txBody>
      </p:sp>
      <p:sp>
        <p:nvSpPr>
          <p:cNvPr id="70" name="AnswerKeyBox"/>
          <p:cNvSpPr txBox="1"/>
          <p:nvPr/>
        </p:nvSpPr>
        <p:spPr>
          <a:xfrm>
            <a:off x="723930" y="4343400"/>
            <a:ext cx="10744200" cy="1408176"/>
          </a:xfrm>
          <a:prstGeom prst="rect">
            <a:avLst/>
          </a:prstGeom>
          <a:solidFill>
            <a:srgbClr val="FFF7E6"/>
          </a:solidFill>
          <a:ln w="12700">
            <a:solidFill>
              <a:srgbClr val="7F6000"/>
            </a:solidFill>
          </a:ln>
        </p:spPr>
        <p:txBody>
          <a:bodyPr wrap="square">
            <a:noAutofit/>
          </a:bodyPr>
          <a:lstStyle/>
        </p:txBody>
      </p:sp>
      <p:sp>
        <p:nvSpPr>
          <p:cNvPr id="71" name="AnswerKeyHead"/>
          <p:cNvSpPr txBox="1"/>
          <p:nvPr/>
        </p:nvSpPr>
        <p:spPr>
          <a:xfrm>
            <a:off x="906810" y="4398264"/>
            <a:ext cx="10378440" cy="219456"/>
          </a:xfrm>
          <a:prstGeom prst="rect">
            <a:avLst/>
          </a:prstGeom>
          <a:noFill/>
        </p:spPr>
        <p:txBody>
          <a:bodyPr wrap="square">
            <a:noAutofit/>
          </a:bodyPr>
          <a:lstStyle/>
          <a:p>
            <a:pPr/>
            <a:r>
              <a:rPr lang="en-MY" sz="850" b="1" dirty="0">
                <a:solidFill>
                  <a:srgbClr val="7F6000"/>
                </a:solidFill>
              </a:rPr>
              <a:t>SEMAKAN CIDB — MAKLUMAT PENYEMAK, BUKAN PAPARAN PELAJAR</a:t>
            </a:r>
          </a:p>
        </p:txBody>
      </p:sp>
      <p:sp>
        <p:nvSpPr>
          <p:cNvPr id="72" name="AnswerKeyBody"/>
          <p:cNvSpPr txBox="1"/>
          <p:nvPr/>
        </p:nvSpPr>
        <p:spPr>
          <a:xfrm>
            <a:off x="906810" y="4636008"/>
            <a:ext cx="10378440" cy="1097280"/>
          </a:xfrm>
          <a:prstGeom prst="rect">
            <a:avLst/>
          </a:prstGeom>
          <a:noFill/>
        </p:spPr>
        <p:txBody>
          <a:bodyPr wrap="square">
            <a:noAutofit/>
          </a:bodyPr>
          <a:lstStyle/>
          <a:p>
            <a:pPr/>
            <a:r>
              <a:rPr lang="en-MY" sz="950" b="1" dirty="0">
                <a:solidFill>
                  <a:schemeClr val="tx1">
                    <a:lumMod val="85000"/>
                    <a:lumOff val="15000"/>
                  </a:schemeClr>
                </a:solidFill>
              </a:rPr>
              <a:t>Jawapan betul:</a:t>
            </a:r>
          </a:p>
          <a:p>
            <a:pPr/>
            <a:r>
              <a:rPr lang="en-MY" sz="950" b="1" dirty="0">
                <a:solidFill>
                  <a:schemeClr val="tx1">
                    <a:lumMod val="85000"/>
                    <a:lumOff val="15000"/>
                  </a:schemeClr>
                </a:solidFill>
              </a:rPr>
              <a:t>•  Kerusi Taman</a:t>
            </a:r>
          </a:p>
          <a:p>
            <a:pPr/>
            <a:r>
              <a:rPr lang="en-MY" sz="950" b="1" dirty="0">
                <a:solidFill>
                  <a:schemeClr val="tx1">
                    <a:lumMod val="85000"/>
                    <a:lumOff val="15000"/>
                  </a:schemeClr>
                </a:solidFill>
              </a:rPr>
              <a:t>•  Papan Tanda</a:t>
            </a:r>
          </a:p>
          <a:p>
            <a:pPr/>
            <a:r>
              <a:rPr lang="en-MY" sz="950" b="1" dirty="0">
                <a:solidFill>
                  <a:schemeClr val="tx1">
                    <a:lumMod val="85000"/>
                    <a:lumOff val="15000"/>
                  </a:schemeClr>
                </a:solidFill>
              </a:rPr>
              <a:t>•  Tong Sampah</a:t>
            </a:r>
          </a:p>
          <a:p>
            <a:pPr/>
            <a:r>
              <a:rPr lang="en-MY" sz="950" b="1" dirty="0">
                <a:solidFill>
                  <a:schemeClr val="tx1">
                    <a:lumMod val="85000"/>
                    <a:lumOff val="15000"/>
                  </a:schemeClr>
                </a:solidFill>
              </a:rPr>
              <a:t>•  </a:t>
            </a:r>
            <a:r>
              <a:rPr lang="en-MY" sz="950" b="1" i="1" dirty="0">
                <a:solidFill>
                  <a:schemeClr val="tx1">
                    <a:lumMod val="85000"/>
                    <a:lumOff val="15000"/>
                  </a:schemeClr>
                </a:solidFill>
              </a:rPr>
              <a:t>Drinking Fountain</a:t>
            </a:r>
          </a:p>
          <a:p>
            <a:pPr/>
            <a:r>
              <a:rPr lang="en-MY" sz="950" b="1" dirty="0">
                <a:solidFill>
                  <a:schemeClr val="tx1">
                    <a:lumMod val="85000"/>
                    <a:lumOff val="15000"/>
                  </a:schemeClr>
                </a:solidFill>
              </a:rPr>
              <a:t>•  </a:t>
            </a:r>
            <a:r>
              <a:rPr lang="en-MY" sz="950" b="1" i="1" dirty="0">
                <a:solidFill>
                  <a:schemeClr val="tx1">
                    <a:lumMod val="85000"/>
                    <a:lumOff val="15000"/>
                  </a:schemeClr>
                </a:solidFill>
              </a:rPr>
              <a:t>BBQ Pit</a:t>
            </a:r>
          </a:p>
        </p:txBody>
      </p:sp>
      <p:sp>
        <p:nvSpPr>
          <p:cNvPr id="75" name="FbC"/>
          <p:cNvSpPr txBox="1"/>
          <p:nvPr/>
        </p:nvSpPr>
        <p:spPr>
          <a:xfrm>
            <a:off x="723930" y="5897880"/>
            <a:ext cx="5120640" cy="274320"/>
          </a:xfrm>
          <a:prstGeom prst="rect">
            <a:avLst/>
          </a:prstGeom>
          <a:noFill/>
        </p:spPr>
        <p:txBody>
          <a:bodyPr wrap="square">
            <a:noAutofit/>
          </a:bodyPr>
          <a:lstStyle/>
          <a:p>
            <a:pPr/>
            <a:r>
              <a:rPr lang="en-MY" sz="1250" dirty="0">
                <a:solidFill>
                  <a:srgbClr val="2E7D32"/>
                </a:solidFill>
              </a:rPr>
              <a:t>Pilihan jawapan tepat.</a:t>
            </a:r>
          </a:p>
        </p:txBody>
      </p:sp>
      <p:sp>
        <p:nvSpPr>
          <p:cNvPr id="76" name="FbW"/>
          <p:cNvSpPr txBox="1"/>
          <p:nvPr/>
        </p:nvSpPr>
        <p:spPr>
          <a:xfrm>
            <a:off x="6210330" y="5897880"/>
            <a:ext cx="5120640" cy="274320"/>
          </a:xfrm>
          <a:prstGeom prst="rect">
            <a:avLst/>
          </a:prstGeom>
          <a:noFill/>
        </p:spPr>
        <p:txBody>
          <a:bodyPr wrap="square">
            <a:noAutofit/>
          </a:bodyPr>
          <a:lstStyle/>
          <a:p>
            <a:pPr/>
            <a:r>
              <a:rPr lang="en-MY" sz="125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QUIZ_QUESTION_5</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VO sama</a:t>
            </a:r>
          </a:p>
          <a:p>
            <a:r>
              <a:rPr lang="en-MY" sz="900" dirty="0">
                <a:solidFill>
                  <a:schemeClr val="tx1">
                    <a:lumMod val="85000"/>
                    <a:lumOff val="15000"/>
                  </a:schemeClr>
                </a:solidFill>
              </a:rPr>
              <a:t>  salah: teks "Pilihan jawapan tidak tepat." · SFX SFX_WRONG · VO sama</a:t>
            </a:r>
          </a:p>
          <a:p>
            <a:r>
              <a:rPr lang="en-MY" sz="900" b="1" dirty="0">
                <a:solidFill>
                  <a:schemeClr val="tx1">
                    <a:lumMod val="85000"/>
                    <a:lumOff val="15000"/>
                  </a:schemeClr>
                </a:solidFill>
              </a:rPr>
              <a:t>KUNCI JAWAPAN (blok semakan CIDB pada halaman semakan):</a:t>
            </a:r>
          </a:p>
          <a:p>
            <a:r>
              <a:rPr lang="en-MY" sz="900" dirty="0">
                <a:solidFill>
                  <a:schemeClr val="tx1">
                    <a:lumMod val="85000"/>
                    <a:lumOff val="15000"/>
                  </a:schemeClr>
                </a:solidFill>
              </a:rPr>
              <a:t>  Kerusi Taman, Papan Tanda, Tong Sampah, Drinking Fountain, BBQ Pit</a:t>
            </a:r>
          </a:p>
          <a:p>
            <a:r>
              <a:rPr lang="en-MY" sz="900" dirty="0">
                <a:solidFill>
                  <a:schemeClr val="tx1">
                    <a:lumMod val="85000"/>
                    <a:lumOff val="15000"/>
                  </a:schemeClr>
                </a:solidFill>
              </a:rPr>
              <a:t>  Dijana daripada data jawapan berstruktur yang sama dengan logik kuiz.</a:t>
            </a:r>
          </a:p>
          <a:p>
            <a:r>
              <a:rPr lang="en-MY" sz="900" dirty="0">
                <a:solidFill>
                  <a:schemeClr val="tx1">
                    <a:lumMod val="85000"/>
                    <a:lumOff val="15000"/>
                  </a:schemeClr>
                </a:solidFill>
              </a:rPr>
              <a:t>  BUKAN kandungan masa jalan pra-hantar; tidak dibaca dalam VO.</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Boardwalk ialah struktur persisir air dan Gazebo ialah struktur</a:t>
            </a:r>
          </a:p>
          <a:p>
            <a:r>
              <a:rPr lang="en-MY" sz="900" dirty="0">
                <a:solidFill>
                  <a:schemeClr val="tx1">
                    <a:lumMod val="85000"/>
                    <a:lumOff val="15000"/>
                  </a:schemeClr>
                </a:solidFill>
              </a:rPr>
              <a:t>  teduhan; kedua-duanya tergolong dalam Struktur Taman, bukan</a:t>
            </a:r>
          </a:p>
          <a:p>
            <a:r>
              <a:rPr lang="en-MY" sz="900" dirty="0">
                <a:solidFill>
                  <a:schemeClr val="tx1">
                    <a:lumMod val="85000"/>
                    <a:lumOff val="15000"/>
                  </a:schemeClr>
                </a:solidFill>
              </a:rPr>
              <a:t>  Perabot Taman.</a:t>
            </a:r>
          </a:p>
          <a:p>
            <a:r>
              <a:rPr lang="en-MY" sz="900" b="1" dirty="0">
                <a:solidFill>
                  <a:schemeClr val="tx1">
                    <a:lumMod val="85000"/>
                    <a:lumOff val="15000"/>
                  </a:schemeClr>
                </a:solidFill>
              </a:rPr>
              <a:t>LABEL PILIHAN:</a:t>
            </a:r>
          </a:p>
          <a:p>
            <a:r>
              <a:rPr lang="en-MY" sz="900" dirty="0">
                <a:solidFill>
                  <a:schemeClr val="tx1">
                    <a:lumMod val="85000"/>
                    <a:lumOff val="15000"/>
                  </a:schemeClr>
                </a:solidFill>
              </a:rPr>
              <a:t>  TIADA label A/B/C pada pilihan pelajar.</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Pilih semua jawapan yang tepat.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QUIZ_QUESTION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U-05</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Keputusan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Kuiz — Keputusan</a:t>
            </a:r>
          </a:p>
        </p:txBody>
      </p:sp>
      <p:sp>
        <p:nvSpPr>
          <p:cNvPr id="20" name="Score"/>
          <p:cNvSpPr txBox="1"/>
          <p:nvPr/>
        </p:nvSpPr>
        <p:spPr>
          <a:xfrm>
            <a:off x="723930" y="1463040"/>
            <a:ext cx="10744200" cy="731520"/>
          </a:xfrm>
          <a:prstGeom prst="rect">
            <a:avLst/>
          </a:prstGeom>
          <a:noFill/>
        </p:spPr>
        <p:txBody>
          <a:bodyPr wrap="square">
            <a:noAutofit/>
          </a:bodyPr>
          <a:lstStyle/>
          <a:p>
            <a:pPr/>
            <a:r>
              <a:rPr lang="en-MY" sz="2800" b="1" dirty="0">
                <a:solidFill>
                  <a:schemeClr val="tx1">
                    <a:lumMod val="85000"/>
                    <a:lumOff val="15000"/>
                  </a:schemeClr>
                </a:solidFill>
              </a:rPr>
              <a:t>Markah: 4 / 5</a:t>
            </a:r>
          </a:p>
        </p:txBody>
      </p:sp>
      <p:sp>
        <p:nvSpPr>
          <p:cNvPr id="21" name="Verdict"/>
          <p:cNvSpPr txBox="1"/>
          <p:nvPr/>
        </p:nvSpPr>
        <p:spPr>
          <a:xfrm>
            <a:off x="723930" y="2286000"/>
            <a:ext cx="10744200" cy="457200"/>
          </a:xfrm>
          <a:prstGeom prst="rect">
            <a:avLst/>
          </a:prstGeom>
          <a:noFill/>
        </p:spPr>
        <p:txBody>
          <a:bodyPr wrap="square">
            <a:noAutofit/>
          </a:bodyPr>
          <a:lstStyle/>
          <a:p>
            <a:pPr/>
            <a:r>
              <a:rPr lang="en-MY" sz="2200" b="1" dirty="0">
                <a:solidFill>
                  <a:srgbClr val="2E7D32"/>
                </a:solidFill>
              </a:rPr>
              <a:t>Lulus</a:t>
            </a:r>
          </a:p>
        </p:txBody>
      </p:sp>
      <p:sp>
        <p:nvSpPr>
          <p:cNvPr id="22" name="Pass"/>
          <p:cNvSpPr txBox="1"/>
          <p:nvPr/>
        </p:nvSpPr>
        <p:spPr>
          <a:xfrm>
            <a:off x="723930" y="2834640"/>
            <a:ext cx="10744200" cy="329184"/>
          </a:xfrm>
          <a:prstGeom prst="rect">
            <a:avLst/>
          </a:prstGeom>
          <a:noFill/>
        </p:spPr>
        <p:txBody>
          <a:bodyPr wrap="square">
            <a:noAutofit/>
          </a:bodyPr>
          <a:lstStyle/>
          <a:p>
            <a:pPr/>
            <a:r>
              <a:rPr lang="en-MY" sz="1300" dirty="0">
                <a:solidFill>
                  <a:srgbClr val="808080"/>
                </a:solidFill>
              </a:rPr>
              <a:t>Lulus: 3/5 = 60%</a:t>
            </a:r>
          </a:p>
        </p:txBody>
      </p:sp>
      <p:sp>
        <p:nvSpPr>
          <p:cNvPr id="60" name="Btn"/>
          <p:cNvSpPr txBox="1"/>
          <p:nvPr/>
        </p:nvSpPr>
        <p:spPr>
          <a:xfrm>
            <a:off x="723930" y="3749040"/>
            <a:ext cx="2103120" cy="420624"/>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Semak Jawapan</a:t>
            </a:r>
          </a:p>
        </p:txBody>
      </p:sp>
      <p:sp>
        <p:nvSpPr>
          <p:cNvPr id="61" name="Btn"/>
          <p:cNvSpPr txBox="1"/>
          <p:nvPr/>
        </p:nvSpPr>
        <p:spPr>
          <a:xfrm>
            <a:off x="3101370" y="3749040"/>
            <a:ext cx="2103120" cy="420624"/>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Ulang Kuiz</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QUIZ_RESULT</a:t>
            </a:r>
          </a:p>
          <a:p>
            <a:r>
              <a:rPr lang="en-MY" sz="900" dirty="0">
                <a:solidFill>
                  <a:schemeClr val="tx1">
                    <a:lumMod val="85000"/>
                    <a:lumOff val="15000"/>
                  </a:schemeClr>
                </a:solidFill>
              </a:rPr>
              <a:t/>
            </a:r>
          </a:p>
          <a:p>
            <a:r>
              <a:rPr lang="en-MY" sz="900" dirty="0">
                <a:solidFill>
                  <a:schemeClr val="tx1">
                    <a:lumMod val="85000"/>
                    <a:lumOff val="15000"/>
                  </a:schemeClr>
                </a:solidFill>
              </a:rPr>
              <a:t>BUKTI: quiz result</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[always_enabled — score does not gate progression]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QUIZ</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KEPUTUSAN:</a:t>
            </a:r>
          </a:p>
          <a:p>
            <a:r>
              <a:rPr lang="en-MY" sz="900" dirty="0">
                <a:solidFill>
                  <a:schemeClr val="tx1">
                    <a:lumMod val="85000"/>
                    <a:lumOff val="15000"/>
                  </a:schemeClr>
                </a:solidFill>
              </a:rPr>
              <a:t>  Markah dipaparkan. Keputusan: Lulus / Tidak Lulus. Lulus: 3/5 = 60%.</a:t>
            </a:r>
          </a:p>
          <a:p>
            <a:r>
              <a:rPr lang="en-MY" sz="900" dirty="0">
                <a:solidFill>
                  <a:schemeClr val="tx1">
                    <a:lumMod val="85000"/>
                    <a:lumOff val="15000"/>
                  </a:schemeClr>
                </a:solidFill>
              </a:rPr>
              <a:t>  Kawalan: Semak Jawapan, Ulang Kuiz. Cuba semula: sukarela.</a:t>
            </a:r>
          </a:p>
          <a:p>
            <a:r>
              <a:rPr lang="en-MY" sz="900" dirty="0">
                <a:solidFill>
                  <a:schemeClr val="tx1">
                    <a:lumMod val="85000"/>
                    <a:lumOff val="15000"/>
                  </a:schemeClr>
                </a:solidFill>
              </a:rPr>
              <a:t>  Markah di bawah 60% TIDAK menyekat kemajuan yang lebih luas.</a:t>
            </a:r>
          </a:p>
          <a:p>
            <a:r>
              <a:rPr lang="en-MY" sz="900" b="1" dirty="0">
                <a:solidFill>
                  <a:schemeClr val="tx1">
                    <a:lumMod val="85000"/>
                    <a:lumOff val="15000"/>
                  </a:schemeClr>
                </a:solidFill>
              </a:rPr>
              <a:t>RASIONAL TERPERINCI:</a:t>
            </a:r>
          </a:p>
          <a:p>
            <a:r>
              <a:rPr lang="en-MY" sz="900" dirty="0">
                <a:solidFill>
                  <a:schemeClr val="tx1">
                    <a:lumMod val="85000"/>
                    <a:lumOff val="15000"/>
                  </a:schemeClr>
                </a:solidFill>
              </a:rPr>
              <a:t>  Kekal sebagai metadata produksi sahaja sehingga Bariah mengesahkan</a:t>
            </a:r>
          </a:p>
          <a:p>
            <a:r>
              <a:rPr lang="en-MY" sz="900" dirty="0">
                <a:solidFill>
                  <a:schemeClr val="tx1">
                    <a:lumMod val="85000"/>
                    <a:lumOff val="15000"/>
                  </a:schemeClr>
                </a:solidFill>
              </a:rPr>
              <a:t>  penempatan akhirnya (U-05).</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QUIZ_RESULT</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a:t>
            </a:r>
          </a:p>
          <a:p>
            <a:r>
              <a:rPr lang="en-MY" sz="900" dirty="0">
                <a:solidFill>
                  <a:schemeClr val="tx1">
                    <a:lumMod val="85000"/>
                    <a:lumOff val="15000"/>
                  </a:schemeClr>
                </a:solidFill>
              </a:rPr>
              <a:t>STATUS BELUM SELESAI: NONE</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Semak Jawapan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Semak Jawapan</a:t>
            </a:r>
          </a:p>
        </p:txBody>
      </p:sp>
      <p:sp>
        <p:nvSpPr>
          <p:cNvPr id="20" name="Intro"/>
          <p:cNvSpPr txBox="1"/>
          <p:nvPr/>
        </p:nvSpPr>
        <p:spPr>
          <a:xfrm>
            <a:off x="723930" y="1188720"/>
            <a:ext cx="10744200" cy="365760"/>
          </a:xfrm>
          <a:prstGeom prst="rect">
            <a:avLst/>
          </a:prstGeom>
          <a:noFill/>
        </p:spPr>
        <p:txBody>
          <a:bodyPr wrap="square">
            <a:noAutofit/>
          </a:bodyPr>
          <a:lstStyle/>
          <a:p>
            <a:pPr/>
            <a:r>
              <a:rPr lang="en-MY" sz="1600" b="1" dirty="0">
                <a:solidFill>
                  <a:schemeClr val="tx1">
                    <a:lumMod val="85000"/>
                    <a:lumOff val="15000"/>
                  </a:schemeClr>
                </a:solidFill>
              </a:rPr>
              <a:t>Semakan jawapan bagi kelima-lima soalan.</a:t>
            </a:r>
          </a:p>
        </p:txBody>
      </p:sp>
      <p:sp>
        <p:nvSpPr>
          <p:cNvPr id="42" name="RvQ"/>
          <p:cNvSpPr txBox="1"/>
          <p:nvPr/>
        </p:nvSpPr>
        <p:spPr>
          <a:xfrm>
            <a:off x="723930" y="1755648"/>
            <a:ext cx="10744200" cy="566928"/>
          </a:xfrm>
          <a:prstGeom prst="rect">
            <a:avLst/>
          </a:prstGeom>
          <a:noFill/>
        </p:spPr>
        <p:txBody>
          <a:bodyPr wrap="square">
            <a:noAutofit/>
          </a:bodyPr>
          <a:lstStyle/>
          <a:p>
            <a:pPr/>
            <a:r>
              <a:rPr lang="en-MY" sz="1250" dirty="0">
                <a:solidFill>
                  <a:schemeClr val="tx1">
                    <a:lumMod val="85000"/>
                    <a:lumOff val="15000"/>
                  </a:schemeClr>
                </a:solidFill>
              </a:rPr>
              <a:t>Soalan 1: Struktur persisir air dibina di tepi badan air seperti tasik, sungai atau pantai. Apakah</a:t>
            </a:r>
          </a:p>
          <a:p>
            <a:pPr/>
            <a:r>
              <a:rPr lang="en-MY" sz="1250" dirty="0">
                <a:solidFill>
                  <a:schemeClr val="tx1">
                    <a:lumMod val="85000"/>
                    <a:lumOff val="15000"/>
                  </a:schemeClr>
                </a:solidFill>
              </a:rPr>
              <a:t>keperluan pembinaan yang paling kritikal bagi struktur ini?</a:t>
            </a:r>
          </a:p>
        </p:txBody>
      </p:sp>
      <p:sp>
        <p:nvSpPr>
          <p:cNvPr id="43" name="RvA"/>
          <p:cNvSpPr txBox="1"/>
          <p:nvPr/>
        </p:nvSpPr>
        <p:spPr>
          <a:xfrm>
            <a:off x="998250" y="2304288"/>
            <a:ext cx="10195560" cy="274320"/>
          </a:xfrm>
          <a:prstGeom prst="rect">
            <a:avLst/>
          </a:prstGeom>
          <a:noFill/>
        </p:spPr>
        <p:txBody>
          <a:bodyPr wrap="square">
            <a:noAutofit/>
          </a:bodyPr>
          <a:lstStyle/>
          <a:p>
            <a:pPr/>
            <a:r>
              <a:rPr lang="en-MY" sz="1250" b="1" dirty="0">
                <a:solidFill>
                  <a:srgbClr val="2E7D32"/>
                </a:solidFill>
              </a:rPr>
              <a:t>Jawapan: B</a:t>
            </a:r>
          </a:p>
        </p:txBody>
      </p:sp>
      <p:sp>
        <p:nvSpPr>
          <p:cNvPr id="44" name="RvQ"/>
          <p:cNvSpPr txBox="1"/>
          <p:nvPr/>
        </p:nvSpPr>
        <p:spPr>
          <a:xfrm>
            <a:off x="723930" y="2688336"/>
            <a:ext cx="10744200" cy="566928"/>
          </a:xfrm>
          <a:prstGeom prst="rect">
            <a:avLst/>
          </a:prstGeom>
          <a:noFill/>
        </p:spPr>
        <p:txBody>
          <a:bodyPr wrap="square">
            <a:noAutofit/>
          </a:bodyPr>
          <a:lstStyle/>
          <a:p>
            <a:pPr/>
            <a:r>
              <a:rPr lang="en-MY" sz="1250" dirty="0">
                <a:solidFill>
                  <a:schemeClr val="tx1">
                    <a:lumMod val="85000"/>
                    <a:lumOff val="15000"/>
                  </a:schemeClr>
                </a:solidFill>
              </a:rPr>
              <a:t>Soalan 2: Manakah antara berikut merupakan struktur teduhan tradisional Melayu yang digunakan sebagai</a:t>
            </a:r>
          </a:p>
          <a:p>
            <a:pPr/>
            <a:r>
              <a:rPr lang="en-MY" sz="1250" dirty="0">
                <a:solidFill>
                  <a:schemeClr val="tx1">
                    <a:lumMod val="85000"/>
                    <a:lumOff val="15000"/>
                  </a:schemeClr>
                </a:solidFill>
              </a:rPr>
              <a:t>tempat berehat?</a:t>
            </a:r>
          </a:p>
        </p:txBody>
      </p:sp>
      <p:sp>
        <p:nvSpPr>
          <p:cNvPr id="45" name="RvA"/>
          <p:cNvSpPr txBox="1"/>
          <p:nvPr/>
        </p:nvSpPr>
        <p:spPr>
          <a:xfrm>
            <a:off x="998250" y="3236976"/>
            <a:ext cx="10195560" cy="274320"/>
          </a:xfrm>
          <a:prstGeom prst="rect">
            <a:avLst/>
          </a:prstGeom>
          <a:noFill/>
        </p:spPr>
        <p:txBody>
          <a:bodyPr wrap="square">
            <a:noAutofit/>
          </a:bodyPr>
          <a:lstStyle/>
          <a:p>
            <a:pPr/>
            <a:r>
              <a:rPr lang="en-MY" sz="1250" b="1" dirty="0">
                <a:solidFill>
                  <a:srgbClr val="2E7D32"/>
                </a:solidFill>
              </a:rPr>
              <a:t>Jawapan: C</a:t>
            </a:r>
          </a:p>
        </p:txBody>
      </p:sp>
      <p:sp>
        <p:nvSpPr>
          <p:cNvPr id="46" name="RvQ"/>
          <p:cNvSpPr txBox="1"/>
          <p:nvPr/>
        </p:nvSpPr>
        <p:spPr>
          <a:xfrm>
            <a:off x="723930" y="3621024"/>
            <a:ext cx="10744200" cy="566928"/>
          </a:xfrm>
          <a:prstGeom prst="rect">
            <a:avLst/>
          </a:prstGeom>
          <a:noFill/>
        </p:spPr>
        <p:txBody>
          <a:bodyPr wrap="square">
            <a:noAutofit/>
          </a:bodyPr>
          <a:lstStyle/>
          <a:p>
            <a:pPr/>
            <a:r>
              <a:rPr lang="en-MY" sz="1250" dirty="0">
                <a:solidFill>
                  <a:schemeClr val="tx1">
                    <a:lumMod val="85000"/>
                    <a:lumOff val="15000"/>
                  </a:schemeClr>
                </a:solidFill>
              </a:rPr>
              <a:t>Soalan 3: Apakah pertimbangan utama dalam pemilihan bahan bagi kemudahan awam seperti tandas dan surau</a:t>
            </a:r>
          </a:p>
          <a:p>
            <a:pPr/>
            <a:r>
              <a:rPr lang="en-MY" sz="1250" dirty="0">
                <a:solidFill>
                  <a:schemeClr val="tx1">
                    <a:lumMod val="85000"/>
                    <a:lumOff val="15000"/>
                  </a:schemeClr>
                </a:solidFill>
              </a:rPr>
              <a:t>di taman?</a:t>
            </a:r>
          </a:p>
        </p:txBody>
      </p:sp>
      <p:sp>
        <p:nvSpPr>
          <p:cNvPr id="47" name="RvA"/>
          <p:cNvSpPr txBox="1"/>
          <p:nvPr/>
        </p:nvSpPr>
        <p:spPr>
          <a:xfrm>
            <a:off x="998250" y="4169664"/>
            <a:ext cx="10195560" cy="274320"/>
          </a:xfrm>
          <a:prstGeom prst="rect">
            <a:avLst/>
          </a:prstGeom>
          <a:noFill/>
        </p:spPr>
        <p:txBody>
          <a:bodyPr wrap="square">
            <a:noAutofit/>
          </a:bodyPr>
          <a:lstStyle/>
          <a:p>
            <a:pPr/>
            <a:r>
              <a:rPr lang="en-MY" sz="1250" b="1" dirty="0">
                <a:solidFill>
                  <a:srgbClr val="2E7D32"/>
                </a:solidFill>
              </a:rPr>
              <a:t>Jawapan: A</a:t>
            </a:r>
          </a:p>
        </p:txBody>
      </p:sp>
      <p:sp>
        <p:nvSpPr>
          <p:cNvPr id="48" name="RvQ"/>
          <p:cNvSpPr txBox="1"/>
          <p:nvPr/>
        </p:nvSpPr>
        <p:spPr>
          <a:xfrm>
            <a:off x="723930" y="4553712"/>
            <a:ext cx="10744200" cy="310896"/>
          </a:xfrm>
          <a:prstGeom prst="rect">
            <a:avLst/>
          </a:prstGeom>
          <a:noFill/>
        </p:spPr>
        <p:txBody>
          <a:bodyPr wrap="square">
            <a:noAutofit/>
          </a:bodyPr>
          <a:lstStyle/>
          <a:p>
            <a:pPr/>
            <a:r>
              <a:rPr lang="en-MY" sz="1250" dirty="0">
                <a:solidFill>
                  <a:schemeClr val="tx1">
                    <a:lumMod val="85000"/>
                    <a:lumOff val="15000"/>
                  </a:schemeClr>
                </a:solidFill>
              </a:rPr>
              <a:t>Soalan 4: Dalam pembinaan water feature, apakah aspek kawalan kualiti air yang dinyatakan dalam modul?</a:t>
            </a:r>
          </a:p>
        </p:txBody>
      </p:sp>
      <p:sp>
        <p:nvSpPr>
          <p:cNvPr id="49" name="RvA"/>
          <p:cNvSpPr txBox="1"/>
          <p:nvPr/>
        </p:nvSpPr>
        <p:spPr>
          <a:xfrm>
            <a:off x="998250" y="4846320"/>
            <a:ext cx="10195560" cy="274320"/>
          </a:xfrm>
          <a:prstGeom prst="rect">
            <a:avLst/>
          </a:prstGeom>
          <a:noFill/>
        </p:spPr>
        <p:txBody>
          <a:bodyPr wrap="square">
            <a:noAutofit/>
          </a:bodyPr>
          <a:lstStyle/>
          <a:p>
            <a:pPr/>
            <a:r>
              <a:rPr lang="en-MY" sz="1250" b="1" dirty="0">
                <a:solidFill>
                  <a:srgbClr val="2E7D32"/>
                </a:solidFill>
              </a:rPr>
              <a:t>Jawapan: B</a:t>
            </a:r>
          </a:p>
        </p:txBody>
      </p:sp>
      <p:sp>
        <p:nvSpPr>
          <p:cNvPr id="50" name="RvQ"/>
          <p:cNvSpPr txBox="1"/>
          <p:nvPr/>
        </p:nvSpPr>
        <p:spPr>
          <a:xfrm>
            <a:off x="723930" y="5230368"/>
            <a:ext cx="10744200" cy="310896"/>
          </a:xfrm>
          <a:prstGeom prst="rect">
            <a:avLst/>
          </a:prstGeom>
          <a:noFill/>
        </p:spPr>
        <p:txBody>
          <a:bodyPr wrap="square">
            <a:noAutofit/>
          </a:bodyPr>
          <a:lstStyle/>
          <a:p>
            <a:pPr/>
            <a:r>
              <a:rPr lang="en-MY" sz="1250" dirty="0">
                <a:solidFill>
                  <a:schemeClr val="tx1">
                    <a:lumMod val="85000"/>
                    <a:lumOff val="15000"/>
                  </a:schemeClr>
                </a:solidFill>
              </a:rPr>
              <a:t>Soalan 5: Pilih SEMUA perabot yang tergolong dalam Perabot Taman.</a:t>
            </a:r>
          </a:p>
        </p:txBody>
      </p:sp>
      <p:sp>
        <p:nvSpPr>
          <p:cNvPr id="51" name="RvA"/>
          <p:cNvSpPr txBox="1"/>
          <p:nvPr/>
        </p:nvSpPr>
        <p:spPr>
          <a:xfrm>
            <a:off x="998250" y="5522976"/>
            <a:ext cx="10195560" cy="274320"/>
          </a:xfrm>
          <a:prstGeom prst="rect">
            <a:avLst/>
          </a:prstGeom>
          <a:noFill/>
        </p:spPr>
        <p:txBody>
          <a:bodyPr wrap="square">
            <a:noAutofit/>
          </a:bodyPr>
          <a:lstStyle/>
          <a:p>
            <a:pPr/>
            <a:r>
              <a:rPr lang="en-MY" sz="1250" b="1" dirty="0">
                <a:solidFill>
                  <a:srgbClr val="2E7D32"/>
                </a:solidFill>
              </a:rPr>
              <a:t>Jawapan: Kerusi Taman, Papan Tanda, Tong Sampah, </a:t>
            </a:r>
            <a:r>
              <a:rPr lang="en-MY" sz="1250" b="1" i="1" dirty="0">
                <a:solidFill>
                  <a:srgbClr val="2E7D32"/>
                </a:solidFill>
              </a:rPr>
              <a:t>Drinking Fountain</a:t>
            </a:r>
            <a:r>
              <a:rPr lang="en-MY" sz="1250" b="1" dirty="0">
                <a:solidFill>
                  <a:srgbClr val="2E7D32"/>
                </a:solidFill>
              </a:rPr>
              <a:t>, </a:t>
            </a:r>
            <a:r>
              <a:rPr lang="en-MY" sz="1250" b="1" i="1" dirty="0">
                <a:solidFill>
                  <a:srgbClr val="2E7D32"/>
                </a:solidFill>
              </a:rPr>
              <a:t>BBQ Pit</a:t>
            </a:r>
          </a:p>
        </p:txBody>
      </p:sp>
      <p:sp>
        <p:nvSpPr>
          <p:cNvPr id="60" name="Btn"/>
          <p:cNvSpPr txBox="1"/>
          <p:nvPr/>
        </p:nvSpPr>
        <p:spPr>
          <a:xfrm>
            <a:off x="723930" y="5888736"/>
            <a:ext cx="2103120" cy="420624"/>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Ulang Kuiz</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QUIZ_REVIEW</a:t>
            </a:r>
          </a:p>
          <a:p>
            <a:r>
              <a:rPr lang="en-MY" sz="900" dirty="0">
                <a:solidFill>
                  <a:schemeClr val="tx1">
                    <a:lumMod val="85000"/>
                    <a:lumOff val="15000"/>
                  </a:schemeClr>
                </a:solidFill>
              </a:rPr>
              <a:t/>
            </a:r>
          </a:p>
          <a:p>
            <a:r>
              <a:rPr lang="en-MY" sz="900" dirty="0">
                <a:solidFill>
                  <a:schemeClr val="tx1">
                    <a:lumMod val="85000"/>
                    <a:lumOff val="15000"/>
                  </a:schemeClr>
                </a:solidFill>
              </a:rPr>
              <a:t>BUKTI: Semak Jawapan / Ulang Kuiz</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[always_enabled]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ST_KUIZ_RESULT</a:t>
            </a:r>
          </a:p>
          <a:p>
            <a:r>
              <a:rPr lang="en-MY" sz="900" dirty="0">
                <a:solidFill>
                  <a:schemeClr val="tx1">
                    <a:lumMod val="85000"/>
                    <a:lumOff val="15000"/>
                  </a:schemeClr>
                </a:solidFill>
              </a:rPr>
              <a:t>SKOP SELESAI: QUIZ</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SEMAK JAWAPAN:</a:t>
            </a:r>
          </a:p>
          <a:p>
            <a:r>
              <a:rPr lang="en-MY" sz="900" dirty="0">
                <a:solidFill>
                  <a:schemeClr val="tx1">
                    <a:lumMod val="85000"/>
                    <a:lumOff val="15000"/>
                  </a:schemeClr>
                </a:solidFill>
              </a:rPr>
              <a:t>  Jawapan betul dipaparkan bagi kelima-lima soalan.</a:t>
            </a:r>
          </a:p>
          <a:p>
            <a:r>
              <a:rPr lang="en-MY" sz="900" dirty="0">
                <a:solidFill>
                  <a:schemeClr val="tx1">
                    <a:lumMod val="85000"/>
                    <a:lumOff val="15000"/>
                  </a:schemeClr>
                </a:solidFill>
              </a:rPr>
              <a:t>  Cuba semula bersifat sukarela.</a:t>
            </a:r>
          </a:p>
          <a:p>
            <a:r>
              <a:rPr lang="en-MY" sz="900" b="1" dirty="0">
                <a:solidFill>
                  <a:schemeClr val="tx1">
                    <a:lumMod val="85000"/>
                    <a:lumOff val="15000"/>
                  </a:schemeClr>
                </a:solidFill>
              </a:rPr>
              <a:t>RASIONAL TERPERINCI:</a:t>
            </a:r>
          </a:p>
          <a:p>
            <a:r>
              <a:rPr lang="en-MY" sz="900" dirty="0">
                <a:solidFill>
                  <a:schemeClr val="tx1">
                    <a:lumMod val="85000"/>
                    <a:lumOff val="15000"/>
                  </a:schemeClr>
                </a:solidFill>
              </a:rPr>
              <a:t>  Rasional terperinci bagi setiap soalan kekal sebagai metadata produksi sehingga penempatan akhirnya disahkan.</a:t>
            </a:r>
          </a:p>
          <a:p>
            <a:r>
              <a:rPr lang="en-MY" sz="900" dirty="0">
                <a:solidFill>
                  <a:schemeClr val="tx1">
                    <a:lumMod val="85000"/>
                    <a:lumOff val="15000"/>
                  </a:schemeClr>
                </a:solidFill>
              </a:rPr>
              <a:t>  status: U-05 — whether the detailed rationale is exposed here is PENDING_BARIAH_CONFIRMATION; for v0.4 it stays metadata-only</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QUIZ_REVIEW</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B02-D-23</a:t>
            </a:r>
          </a:p>
          <a:p>
            <a:r>
              <a:rPr lang="en-MY" sz="900" dirty="0">
                <a:solidFill>
                  <a:schemeClr val="tx1">
                    <a:lumMod val="85000"/>
                    <a:lumOff val="15000"/>
                  </a:schemeClr>
                </a:solidFill>
              </a:rPr>
              <a:t>STATUS BELUM SELESAI: U-05 — whether the detailed rationale is exposed here is PENDING_BARIAH_CONFIRMATION; for v0.4 it stays metadata-only</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Tamat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Tamat</a:t>
            </a:r>
          </a:p>
        </p:txBody>
      </p:sp>
      <p:sp>
        <p:nvSpPr>
          <p:cNvPr id="20" name="TamatLine"/>
          <p:cNvSpPr txBox="1"/>
          <p:nvPr/>
        </p:nvSpPr>
        <p:spPr>
          <a:xfrm>
            <a:off x="723930" y="1243584"/>
            <a:ext cx="10744200" cy="420624"/>
          </a:xfrm>
          <a:prstGeom prst="rect">
            <a:avLst/>
          </a:prstGeom>
          <a:noFill/>
        </p:spPr>
        <p:txBody>
          <a:bodyPr wrap="square">
            <a:noAutofit/>
          </a:bodyPr>
          <a:lstStyle/>
          <a:p>
            <a:pPr/>
            <a:r>
              <a:rPr lang="en-MY" sz="1500" b="1" dirty="0">
                <a:solidFill>
                  <a:srgbClr val="7F6000"/>
                </a:solidFill>
              </a:rPr>
              <a:t>KURSUS KERJA BANGUNAN –</a:t>
            </a:r>
          </a:p>
        </p:txBody>
      </p:sp>
      <p:sp>
        <p:nvSpPr>
          <p:cNvPr id="21" name="TamatLine"/>
          <p:cNvSpPr txBox="1"/>
          <p:nvPr/>
        </p:nvSpPr>
        <p:spPr>
          <a:xfrm>
            <a:off x="723930" y="1645920"/>
            <a:ext cx="10744200" cy="420624"/>
          </a:xfrm>
          <a:prstGeom prst="rect">
            <a:avLst/>
          </a:prstGeom>
          <a:noFill/>
        </p:spPr>
        <p:txBody>
          <a:bodyPr wrap="square">
            <a:noAutofit/>
          </a:bodyPr>
          <a:lstStyle/>
          <a:p>
            <a:pPr/>
            <a:r>
              <a:rPr lang="en-MY" sz="1500" b="1" dirty="0">
                <a:solidFill>
                  <a:srgbClr val="7F6000"/>
                </a:solidFill>
              </a:rPr>
              <a:t>PEMBINAAN LANDSKAP LUAR</a:t>
            </a:r>
          </a:p>
        </p:txBody>
      </p:sp>
      <p:sp>
        <p:nvSpPr>
          <p:cNvPr id="24" name="TamatLine"/>
          <p:cNvSpPr txBox="1"/>
          <p:nvPr/>
        </p:nvSpPr>
        <p:spPr>
          <a:xfrm>
            <a:off x="723930" y="2322576"/>
            <a:ext cx="10744200" cy="420624"/>
          </a:xfrm>
          <a:prstGeom prst="rect">
            <a:avLst/>
          </a:prstGeom>
          <a:noFill/>
        </p:spPr>
        <p:txBody>
          <a:bodyPr wrap="square">
            <a:noAutofit/>
          </a:bodyPr>
          <a:lstStyle/>
          <a:p>
            <a:pPr/>
            <a:r>
              <a:rPr lang="en-MY" sz="1500" b="1" dirty="0">
                <a:solidFill>
                  <a:srgbClr val="7F6000"/>
                </a:solidFill>
              </a:rPr>
              <a:t>PL06:</a:t>
            </a:r>
          </a:p>
        </p:txBody>
      </p:sp>
      <p:sp>
        <p:nvSpPr>
          <p:cNvPr id="25" name="TamatLine"/>
          <p:cNvSpPr txBox="1"/>
          <p:nvPr/>
        </p:nvSpPr>
        <p:spPr>
          <a:xfrm>
            <a:off x="723930" y="2724912"/>
            <a:ext cx="10744200" cy="420624"/>
          </a:xfrm>
          <a:prstGeom prst="rect">
            <a:avLst/>
          </a:prstGeom>
          <a:noFill/>
        </p:spPr>
        <p:txBody>
          <a:bodyPr wrap="square">
            <a:noAutofit/>
          </a:bodyPr>
          <a:lstStyle/>
          <a:p>
            <a:pPr/>
            <a:r>
              <a:rPr lang="en-MY" sz="1500" b="1" dirty="0">
                <a:solidFill>
                  <a:srgbClr val="7F6000"/>
                </a:solidFill>
              </a:rPr>
              <a:t>PENGURUSAN OPERASI PEMBINAAN LANDSKAP</a:t>
            </a:r>
          </a:p>
        </p:txBody>
      </p:sp>
      <p:sp>
        <p:nvSpPr>
          <p:cNvPr id="28" name="TamatLine"/>
          <p:cNvSpPr txBox="1"/>
          <p:nvPr/>
        </p:nvSpPr>
        <p:spPr>
          <a:xfrm>
            <a:off x="723930" y="3401568"/>
            <a:ext cx="10744200" cy="420624"/>
          </a:xfrm>
          <a:prstGeom prst="rect">
            <a:avLst/>
          </a:prstGeom>
          <a:noFill/>
        </p:spPr>
        <p:txBody>
          <a:bodyPr wrap="square">
            <a:noAutofit/>
          </a:bodyPr>
          <a:lstStyle/>
          <a:p>
            <a:pPr/>
            <a:r>
              <a:rPr lang="en-MY" sz="2000" b="1" dirty="0">
                <a:solidFill>
                  <a:schemeClr val="tx1">
                    <a:lumMod val="85000"/>
                    <a:lumOff val="15000"/>
                  </a:schemeClr>
                </a:solidFill>
              </a:rPr>
              <a:t>Tamat Topik 3 Bahagian 2:</a:t>
            </a:r>
          </a:p>
        </p:txBody>
      </p:sp>
      <p:sp>
        <p:nvSpPr>
          <p:cNvPr id="29" name="TamatLine"/>
          <p:cNvSpPr txBox="1"/>
          <p:nvPr/>
        </p:nvSpPr>
        <p:spPr>
          <a:xfrm>
            <a:off x="723930" y="3803904"/>
            <a:ext cx="10744200" cy="420624"/>
          </a:xfrm>
          <a:prstGeom prst="rect">
            <a:avLst/>
          </a:prstGeom>
          <a:noFill/>
        </p:spPr>
        <p:txBody>
          <a:bodyPr wrap="square">
            <a:noAutofit/>
          </a:bodyPr>
          <a:lstStyle/>
          <a:p>
            <a:pPr/>
            <a:r>
              <a:rPr lang="en-MY" sz="2000" b="1" dirty="0">
                <a:solidFill>
                  <a:schemeClr val="tx1">
                    <a:lumMod val="85000"/>
                    <a:lumOff val="15000"/>
                  </a:schemeClr>
                </a:solidFill>
              </a:rPr>
              <a:t>Komponen Landskap</a:t>
            </a:r>
          </a:p>
        </p:txBody>
      </p:sp>
      <p:sp>
        <p:nvSpPr>
          <p:cNvPr id="60" name="TamatInstr"/>
          <p:cNvSpPr txBox="1"/>
          <p:nvPr/>
        </p:nvSpPr>
        <p:spPr>
          <a:xfrm>
            <a:off x="723930" y="4754880"/>
            <a:ext cx="10744200" cy="420624"/>
          </a:xfrm>
          <a:prstGeom prst="rect">
            <a:avLst/>
          </a:prstGeom>
          <a:noFill/>
        </p:spPr>
        <p:txBody>
          <a:bodyPr wrap="square">
            <a:noAutofit/>
          </a:bodyPr>
          <a:lstStyle/>
          <a:p>
            <a:pPr/>
            <a:r>
              <a:rPr lang="en-MY" sz="1700" b="1" dirty="0">
                <a:solidFill>
                  <a:schemeClr val="tx1">
                    <a:lumMod val="85000"/>
                    <a:lumOff val="15000"/>
                  </a:schemeClr>
                </a:solidFill>
              </a:rPr>
              <a:t>Teruskan pembelajaran ke bahagian seterusnya.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Tamat Topik 3 Bahagian 2</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FRAME_END_BASE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[PENDING_FIRDAUS_OR_LMS_CONFIRMATION — no claim made about the shell control]</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SCR_TAMAT</a:t>
            </a:r>
          </a:p>
          <a:p>
            <a:r>
              <a:rPr lang="en-MY" sz="900" b="1" dirty="0">
                <a:solidFill>
                  <a:schemeClr val="tx1">
                    <a:lumMod val="85000"/>
                    <a:lumOff val="15000"/>
                  </a:schemeClr>
                </a:solidFill>
              </a:rPr>
              <a:t>KELUAR / NAVIGASI:</a:t>
            </a:r>
          </a:p>
          <a:p>
            <a:r>
              <a:rPr lang="en-MY" sz="900" dirty="0">
                <a:solidFill>
                  <a:schemeClr val="tx1">
                    <a:lumMod val="85000"/>
                    <a:lumOff val="15000"/>
                  </a:schemeClr>
                </a:solidFill>
              </a:rPr>
              <a:t>  salinan Tamat: CONFIRMED_BARIAH</a:t>
            </a:r>
          </a:p>
          <a:p>
            <a:r>
              <a:rPr lang="en-MY" sz="900" dirty="0">
                <a:solidFill>
                  <a:schemeClr val="tx1">
                    <a:lumMod val="85000"/>
                    <a:lumOff val="15000"/>
                  </a:schemeClr>
                </a:solidFill>
              </a:rPr>
              <a:t>  destinasi logik: NEXT_BAHAGIAN</a:t>
            </a:r>
          </a:p>
          <a:p>
            <a:r>
              <a:rPr lang="en-MY" sz="900" dirty="0">
                <a:solidFill>
                  <a:schemeClr val="tx1">
                    <a:lumMod val="85000"/>
                    <a:lumOff val="15000"/>
                  </a:schemeClr>
                </a:solidFill>
              </a:rPr>
              <a:t>  kelakuan navigasi fizikal: PENDING_FIRDAUS_OR_LMS_CONFIRMATION</a:t>
            </a:r>
          </a:p>
          <a:p>
            <a:r>
              <a:rPr lang="en-MY" sz="900" dirty="0">
                <a:solidFill>
                  <a:schemeClr val="tx1">
                    <a:lumMod val="85000"/>
                    <a:lumOff val="15000"/>
                  </a:schemeClr>
                </a:solidFill>
              </a:rPr>
              <a:t>  Tiada dakwaan dibuat tentang keadaan Seterusnya shell LMS.</a:t>
            </a:r>
          </a:p>
          <a:p>
            <a:r>
              <a:rPr lang="en-MY" sz="900" dirty="0">
                <a:solidFill>
                  <a:schemeClr val="tx1">
                    <a:lumMod val="85000"/>
                    <a:lumOff val="15000"/>
                  </a:schemeClr>
                </a:solidFill>
              </a:rPr>
              <a:t>  Tiada butang navigasi kanvas tersuai dicipta.</a:t>
            </a:r>
          </a:p>
          <a:p>
            <a:r>
              <a:rPr lang="en-MY" sz="900" dirty="0">
                <a:solidFill>
                  <a:schemeClr val="tx1">
                    <a:lumMod val="85000"/>
                    <a:lumOff val="15000"/>
                  </a:schemeClr>
                </a:solidFill>
              </a:rPr>
              <a:t>  Segitiga merah dalam contoh Bariah dianggap ISYARAT VISUAL,</a:t>
            </a:r>
          </a:p>
          <a:p>
            <a:r>
              <a:rPr lang="en-MY" sz="900" dirty="0">
                <a:solidFill>
                  <a:schemeClr val="tx1">
                    <a:lumMod val="85000"/>
                    <a:lumOff val="15000"/>
                  </a:schemeClr>
                </a:solidFill>
              </a:rPr>
              <a:t>  bukan butang interaktif, sehingga ada bukti sebaliknya.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FRAME_SCREEN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B02-D-14, B02-D-15</a:t>
            </a:r>
          </a:p>
          <a:p>
            <a:r>
              <a:rPr lang="en-MY" sz="900" dirty="0">
                <a:solidFill>
                  <a:schemeClr val="tx1">
                    <a:lumMod val="85000"/>
                    <a:lumOff val="15000"/>
                  </a:schemeClr>
                </a:solidFill>
              </a:rPr>
              <a:t>STATUS BELUM SELESAI: U-03 — Tamat COPY is CONFIRMED_BARIAH; the physical LMS navigation mechanism is PENDING_FIRDAUS_OR_LMS_CONFIRMATION</a:t>
            </a:r>
          </a:p>
        </p:txBody>
      </p:sp>
    </p:spTree>
  </p:cSld>
  <p:clrMapOvr>
    <a:masterClrMapping/>
  </p:clrMapOvr>
</p:sld>
</file>

<file path=ppt/theme/theme1.xml><?xml version="1.0" encoding="utf-8"?>
<a:theme xmlns:a="http://schemas.openxmlformats.org/drawingml/2006/main" name="Office Theme">
  <a:themeElements>
    <a:clrScheme name="Custom 505">
      <a:dk1>
        <a:srgbClr val="000000"/>
      </a:dk1>
      <a:lt1>
        <a:srgbClr val="FFFFFF"/>
      </a:lt1>
      <a:dk2>
        <a:srgbClr val="3F403F"/>
      </a:dk2>
      <a:lt2>
        <a:srgbClr val="FFFFFF"/>
      </a:lt2>
      <a:accent1>
        <a:srgbClr val="17B164"/>
      </a:accent1>
      <a:accent2>
        <a:srgbClr val="003E3B"/>
      </a:accent2>
      <a:accent3>
        <a:srgbClr val="181818"/>
      </a:accent3>
      <a:accent4>
        <a:srgbClr val="13764B"/>
      </a:accent4>
      <a:accent5>
        <a:srgbClr val="21C190"/>
      </a:accent5>
      <a:accent6>
        <a:srgbClr val="83EAB1"/>
      </a:accent6>
      <a:hlink>
        <a:srgbClr val="1EE27F"/>
      </a:hlink>
      <a:folHlink>
        <a:srgbClr val="1EE27F"/>
      </a:folHlink>
    </a:clrScheme>
    <a:fontScheme name="CIDB">
      <a:majorFont>
        <a:latin typeface="Raleway"/>
        <a:ea typeface=""/>
        <a:cs typeface=""/>
      </a:majorFont>
      <a:minorFont>
        <a:latin typeface="Ebri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Application>CAIR compiler</Application>
  <PresentationFormat>Widescreen</PresentationFormat>
  <Slides>19</Slides>
  <Notes>19</Notes>
  <HiddenSlides>0</HiddenSlides>
  <MMClips>0</MMClips>
  <ScaleCrop>false</ScaleCrop>
  <LinksUpToDate>false</LinksUpToDate>
  <SharedDoc>false</SharedDoc>
  <HyperlinksChanged>false</HyperlinksChanged>
  <HeadingPairs>
    <vt:vector size="4" baseType="variant">
      <vt:variant>
        <vt:lpstr>Theme</vt:lpstr>
      </vt:variant>
      <vt:variant>
        <vt:i4>1</vt:i4>
      </vt:variant>
      <vt:variant>
        <vt:lpstr>Slide Titles</vt:lpstr>
      </vt:variant>
      <vt:variant>
        <vt:i4>19</vt:i4>
      </vt:variant>
    </vt:vector>
  </HeadingPairs>
  <TitlesOfParts>
    <vt:vector size="20" baseType="lpstr">
      <vt:lpstr>Theme</vt:lpstr>
      <vt:lpstr>S01 TAJUK</vt:lpstr>
      <vt:lpstr>S02 DIALOG</vt:lpstr>
      <vt:lpstr>S03 OVERVIEW</vt:lpstr>
      <vt:lpstr>S04 CR_BASE</vt:lpstr>
      <vt:lpstr>S05 FULL</vt:lpstr>
      <vt:lpstr>S06 FULL</vt:lpstr>
      <vt:lpstr>S07 FULL</vt:lpstr>
      <vt:lpstr>S08 FULL</vt:lpstr>
      <vt:lpstr>S09 TICK</vt:lpstr>
      <vt:lpstr>S10 CR_BASE</vt:lpstr>
      <vt:lpstr>S11 FULL</vt:lpstr>
      <vt:lpstr>S12 FULL</vt:lpstr>
      <vt:lpstr>S13 FULL</vt:lpstr>
      <vt:lpstr>S14 FULL</vt:lpstr>
      <vt:lpstr>S15 FULL</vt:lpstr>
      <vt:lpstr>S16 TICK</vt:lpstr>
      <vt:lpstr>S17 RUMUSAN</vt:lpstr>
      <vt:lpstr>S18 KUIZ</vt:lpstr>
      <vt:lpstr>S19 TAMAT</vt:lpstr>
    </vt:vector>
  </TitlesOfPart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Contoh Treatment — 4 slaid — bukan storyboard penuh</dc:title>
  <dc:creator>SMEC courseware.my</dc:creator>
  <cp:lastModifiedBy>CAIR compiler</cp:lastModifiedBy>
  <cp:revision>1</cp:revision>
  <dcterms:created xsi:type="dcterms:W3CDTF">2021-11-01T02:42:52Z</dcterms:created>
  <dcterms:modified xsi:type="dcterms:W3CDTF">2026-07-25T19:09:29Z</dcterms:modified>
  <dc:subject>Treatment probe. Not a storyboard. Output-only, disposable.</dc:subject>
  <dc:description>Hand-built from 4 slides of the Tier-1 storyboard specification. Not regenerable, not a baseline, must never be promoted.</dc:description>
  <cp:keywords>storyboard; K5; source-bound</cp:keywords>
  <cp:category>Storyboard Specification</cp:category>
</cp:coreProperties>
</file>