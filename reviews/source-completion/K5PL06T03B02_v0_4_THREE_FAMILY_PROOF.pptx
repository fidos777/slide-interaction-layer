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media/image3.svg" ContentType="image/svg+xml"/>
  <Override PartName="/ppt/notesMasters/notesMaster1.xml" ContentType="application/vnd.openxmlformats-officedocument.presentationml.notesMaster+xml"/>
  <Override PartName="/ppt/notesSlides/notesSlide12.xml" ContentType="application/vnd.openxmlformats-officedocument.presentationml.notesSlide+xml"/>
  <Override PartName="/ppt/notesSlides/notesSlide16.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2.xml" ContentType="application/vnd.openxmlformats-officedocument.presentationml.slide+xml"/>
  <Override PartName="/ppt/slides/slide17.xml" ContentType="application/vnd.openxmlformats-officedocument.presentationml.slide+xml"/>
  <Override PartName="/ppt/slides/slide4.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9401" r:id="rId101"/>
    <p:sldId id="9402" r:id="rId102"/>
    <p:sldId id="9403" r:id="rId103"/>
    <p:sldId id="9404" r:id="rId104"/>
    <p:sldId id="9405" r:id="rId105"/>
    <p:sldId id="9406" r:id="rId106"/>
    <p:sldId id="9407" r:id="rId107"/>
    <p:sldId id="9408" r:id="rId108"/>
    <p:sldId id="9409" r:id="rId109"/>
    <p:sldId id="9410" r:id="rId110"/>
    <p:sldId id="9411" r:id="rId111"/>
    <p:sldId id="9412" r:id="rId112"/>
    <p:sldId id="9413" r:id="rId113"/>
    <p:sldId id="9414" r:id="rId114"/>
    <p:sldId id="9415" r:id="rId115"/>
    <p:sldId id="9416" r:id="rId116"/>
    <p:sldId id="9417" r:id="rId117"/>
    <p:sldId id="9418" r:id="rId118"/>
    <p:sldId id="9419" r:id="rId119"/>
    <p:sldId id="9420" r:id="rId120"/>
    <p:sldId id="9421" r:id="rId121"/>
    <p:sldId id="9422" r:id="rId122"/>
    <p:sldId id="9423" r:id="rId123"/>
    <p:sldId id="9424" r:id="rId124"/>
    <p:sldId id="9425" r:id="rId125"/>
    <p:sldId id="9426" r:id="rId126"/>
    <p:sldId id="9427" r:id="rId127"/>
    <p:sldId id="9428" r:id="rId128"/>
    <p:sldId id="9429" r:id="rId129"/>
    <p:sldId id="9430" r:id="rId130"/>
    <p:sldId id="9431" r:id="rId131"/>
    <p:sldId id="9432" r:id="rId132"/>
    <p:sldId id="9433" r:id="rId133"/>
    <p:sldId id="9434" r:id="rId1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26" userDrawn="1">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F9F9E"/>
    <a:srgbClr val="DFE0D1"/>
    <a:srgbClr val="AC8300"/>
    <a:srgbClr val="F6D4CF"/>
    <a:srgbClr val="D8928B"/>
    <a:srgbClr val="98768E"/>
    <a:srgbClr val="D3B8C5"/>
    <a:srgbClr val="4E7189"/>
    <a:srgbClr val="385F77"/>
    <a:srgbClr val="244F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491" autoAdjust="0"/>
    <p:restoredTop sz="35546" autoAdjust="0"/>
  </p:normalViewPr>
  <p:slideViewPr>
    <p:cSldViewPr snapToGrid="0" snapToObjects="1">
      <p:cViewPr>
        <p:scale>
          <a:sx n="50" d="100"/>
          <a:sy n="50" d="100"/>
        </p:scale>
        <p:origin x="1930" y="264"/>
      </p:cViewPr>
      <p:guideLst>
        <p:guide orient="horz" pos="1026"/>
        <p:guide pos="3840"/>
      </p:guideLst>
    </p:cSldViewPr>
  </p:slideViewPr>
  <p:outlineViewPr>
    <p:cViewPr>
      <p:scale>
        <a:sx n="33" d="100"/>
        <a:sy n="33" d="100"/>
      </p:scale>
      <p:origin x="0" y="0"/>
    </p:cViewPr>
  </p:outlineViewPr>
  <p:notesTextViewPr>
    <p:cViewPr>
      <p:scale>
        <a:sx n="75" d="100"/>
        <a:sy n="75" d="100"/>
      </p:scale>
      <p:origin x="0" y="0"/>
    </p:cViewPr>
  </p:notesTextViewPr>
  <p:sorterViewPr>
    <p:cViewPr>
      <p:scale>
        <a:sx n="70" d="100"/>
        <a:sy n="70" d="100"/>
      </p:scale>
      <p:origin x="0" y="-6198"/>
    </p:cViewPr>
  </p:sorterViewPr>
  <p:notesViewPr>
    <p:cSldViewPr snapToGrid="0" snapToObjects="1">
      <p:cViewPr varScale="1">
        <p:scale>
          <a:sx n="50" d="100"/>
          <a:sy n="50" d="100"/>
        </p:scale>
        <p:origin x="2016" y="66"/>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01" Type="http://schemas.openxmlformats.org/officeDocument/2006/relationships/slide" Target="slides/slide1.xml"/><Relationship Id="rId102" Type="http://schemas.openxmlformats.org/officeDocument/2006/relationships/slide" Target="slides/slide2.xml"/><Relationship Id="rId103" Type="http://schemas.openxmlformats.org/officeDocument/2006/relationships/slide" Target="slides/slide3.xml"/><Relationship Id="rId104" Type="http://schemas.openxmlformats.org/officeDocument/2006/relationships/slide" Target="slides/slide4.xml"/><Relationship Id="rId105" Type="http://schemas.openxmlformats.org/officeDocument/2006/relationships/slide" Target="slides/slide5.xml"/><Relationship Id="rId106" Type="http://schemas.openxmlformats.org/officeDocument/2006/relationships/slide" Target="slides/slide6.xml"/><Relationship Id="rId107" Type="http://schemas.openxmlformats.org/officeDocument/2006/relationships/slide" Target="slides/slide7.xml"/><Relationship Id="rId108" Type="http://schemas.openxmlformats.org/officeDocument/2006/relationships/slide" Target="slides/slide8.xml"/><Relationship Id="rId109" Type="http://schemas.openxmlformats.org/officeDocument/2006/relationships/slide" Target="slides/slide9.xml"/><Relationship Id="rId110" Type="http://schemas.openxmlformats.org/officeDocument/2006/relationships/slide" Target="slides/slide10.xml"/><Relationship Id="rId111" Type="http://schemas.openxmlformats.org/officeDocument/2006/relationships/slide" Target="slides/slide11.xml"/><Relationship Id="rId112" Type="http://schemas.openxmlformats.org/officeDocument/2006/relationships/slide" Target="slides/slide12.xml"/><Relationship Id="rId113" Type="http://schemas.openxmlformats.org/officeDocument/2006/relationships/slide" Target="slides/slide13.xml"/><Relationship Id="rId114" Type="http://schemas.openxmlformats.org/officeDocument/2006/relationships/slide" Target="slides/slide14.xml"/><Relationship Id="rId115" Type="http://schemas.openxmlformats.org/officeDocument/2006/relationships/slide" Target="slides/slide15.xml"/><Relationship Id="rId116" Type="http://schemas.openxmlformats.org/officeDocument/2006/relationships/slide" Target="slides/slide16.xml"/><Relationship Id="rId117" Type="http://schemas.openxmlformats.org/officeDocument/2006/relationships/slide" Target="slides/slide17.xml"/><Relationship Id="rId118" Type="http://schemas.openxmlformats.org/officeDocument/2006/relationships/slide" Target="slides/slide18.xml"/><Relationship Id="rId119" Type="http://schemas.openxmlformats.org/officeDocument/2006/relationships/slide" Target="slides/slide19.xml"/><Relationship Id="rId120" Type="http://schemas.openxmlformats.org/officeDocument/2006/relationships/slide" Target="slides/slide20.xml"/><Relationship Id="rId121" Type="http://schemas.openxmlformats.org/officeDocument/2006/relationships/slide" Target="slides/slide21.xml"/><Relationship Id="rId122" Type="http://schemas.openxmlformats.org/officeDocument/2006/relationships/slide" Target="slides/slide22.xml"/><Relationship Id="rId123" Type="http://schemas.openxmlformats.org/officeDocument/2006/relationships/slide" Target="slides/slide23.xml"/><Relationship Id="rId124" Type="http://schemas.openxmlformats.org/officeDocument/2006/relationships/slide" Target="slides/slide24.xml"/><Relationship Id="rId125" Type="http://schemas.openxmlformats.org/officeDocument/2006/relationships/slide" Target="slides/slide25.xml"/><Relationship Id="rId126" Type="http://schemas.openxmlformats.org/officeDocument/2006/relationships/slide" Target="slides/slide26.xml"/><Relationship Id="rId127" Type="http://schemas.openxmlformats.org/officeDocument/2006/relationships/slide" Target="slides/slide27.xml"/><Relationship Id="rId128" Type="http://schemas.openxmlformats.org/officeDocument/2006/relationships/slide" Target="slides/slide28.xml"/><Relationship Id="rId129" Type="http://schemas.openxmlformats.org/officeDocument/2006/relationships/slide" Target="slides/slide29.xml"/><Relationship Id="rId130" Type="http://schemas.openxmlformats.org/officeDocument/2006/relationships/slide" Target="slides/slide30.xml"/><Relationship Id="rId131" Type="http://schemas.openxmlformats.org/officeDocument/2006/relationships/slide" Target="slides/slide31.xml"/><Relationship Id="rId132" Type="http://schemas.openxmlformats.org/officeDocument/2006/relationships/slide" Target="slides/slide32.xml"/><Relationship Id="rId133" Type="http://schemas.openxmlformats.org/officeDocument/2006/relationships/slide" Target="slides/slide33.xml"/><Relationship Id="rId134" Type="http://schemas.openxmlformats.org/officeDocument/2006/relationships/slide" Target="slides/slide34.xml"/><Relationship Id="rId2" Type="http://schemas.openxmlformats.org/officeDocument/2006/relationships/notesMaster" Target="notesMasters/notesMaster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1CCA8EA-268C-9240-A93C-AAC79D8999C8}" type="datetimeFigureOut">
              <a:rPr lang="en-US" smtClean="0"/>
              <a:t>7/26/2026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15C05A5-7321-AF4F-BADD-6247ABA70E9B}" type="slidenum">
              <a:rPr lang="en-US" smtClean="0"/>
              <a:t>‹#›</a:t>
            </a:fld>
            <a:endParaRPr lang="en-US"/>
          </a:p>
        </p:txBody>
      </p:sp>
    </p:spTree>
    <p:extLst>
      <p:ext uri="{BB962C8B-B14F-4D97-AF65-F5344CB8AC3E}">
        <p14:creationId xmlns:p14="http://schemas.microsoft.com/office/powerpoint/2010/main" val="25799925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Pakej Latihan 06: Pengurusan Operasi Pembinaan Landskap.</a:t>
            </a:r>
          </a:p>
          <a:p>
            <a:r>
              <a:rPr lang="en-MY" dirty="0"/>
              <a:t>Topik 3 Bahagian 2: Komponen Landskap.</a:t>
            </a:r>
          </a:p>
          <a:p>
            <a:r>
              <a:rPr lang="en-MY" dirty="0"/>
              <a:t>Dalam bahagian ini, anda akan mempelajari tentang komponen landskap.</a:t>
            </a:r>
          </a:p>
          <a:p>
            <a:r>
              <a:rPr lang="en-MY" dirty="0"/>
              <a:t>Klik Mula untuk meneruskan.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Pengenalan — senario tapak</a:t>
            </a:r>
          </a:p>
          <a:p>
            <a:endParaRPr lang="en-MY" dirty="0"/>
          </a:p>
          <a:p>
            <a:r>
              <a:rPr lang="en-MY" dirty="0"/>
              <a:t>SPOKEN TRANSCRIPT</a:t>
            </a:r>
          </a:p>
          <a:p>
            <a:endParaRPr lang="en-MY" dirty="0"/>
          </a:p>
          <a:p>
            <a:r>
              <a:rPr lang="en-MY" dirty="0"/>
              <a:t>Alya: Encik Rahman, lepas kerja tanaman, seterusnya struktur taman dan perabot taman. Saya nak sahkan skop sebelum susun jadual.</a:t>
            </a:r>
          </a:p>
          <a:p>
            <a:r>
              <a:rPr lang="en-MY" dirty="0"/>
              <a:t>Encik Rahman: Apa yang kamu faham setakat ini?</a:t>
            </a:r>
          </a:p>
          <a:p>
            <a:r>
              <a:rPr lang="en-MY" dirty="0"/>
              <a:t>Alya: Untuk struktur taman, binaan tetap macam gazebo, dek kayu, boardwalk. Perabot taman pula, kelengkapan macam kerusi, papan tanda, tong sampah. Semuanya ada fungsi, reka bentuk dan spesifikasi bahan tersendiri.</a:t>
            </a:r>
          </a:p>
          <a:p>
            <a:r>
              <a:rPr lang="en-MY" dirty="0"/>
              <a:t>Encik Rahman: Betul. Sebab itulah spesifikasi setiap komponen perlu disemak dahulu sebelum jadual kerja disusun.</a:t>
            </a:r>
          </a:p>
          <a:p>
            <a:r>
              <a:rPr lang="en-MY" dirty="0"/>
              <a:t>Alya: Faham. Saya semak spesifikasi setiap item sebelum mula kerja.</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Pengenalan — gambaran keseluruhan</a:t>
            </a:r>
          </a:p>
          <a:p>
            <a:endParaRPr lang="en-MY" dirty="0"/>
          </a:p>
          <a:p>
            <a:r>
              <a:rPr lang="en-MY" dirty="0"/>
              <a:t>SPOKEN TRANSCRIPT</a:t>
            </a:r>
          </a:p>
          <a:p>
            <a:endParaRPr lang="en-MY" dirty="0"/>
          </a:p>
          <a:p>
            <a:r>
              <a:rPr lang="en-MY" dirty="0"/>
              <a:t>Hilmi: Seperti yang dilihat di halaman sebelum ini, adalah penting untuk anda memahami tentang struktur taman dan perabot taman yang menjadi sebahagian daripada kerja pembinaan landskap luar. Anda akan mempelajari tentang struktur taman, termasuk struktur persisir air, struktur teduhan, kemudahan awam, dan water feature, serta perabot taman, termasuk kerusi taman, papan tanda, tong sampah, drinking fountain, dan BBQ pit.</a:t>
            </a:r>
          </a:p>
          <a:p>
            <a:r>
              <a:rPr lang="en-MY" dirty="0"/>
              <a:t>Jika anda ditugaskan memasang kerusi taman di tepi tasik, apakah jenis bahan yang anda akan pilih, dan mengapa?</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Struktur Taman</a:t>
            </a:r>
          </a:p>
          <a:p>
            <a:endParaRPr lang="en-MY" dirty="0"/>
          </a:p>
          <a:p>
            <a:r>
              <a:rPr lang="en-MY" dirty="0"/>
              <a:t>SPOKEN TRANSCRIPT</a:t>
            </a:r>
          </a:p>
          <a:p>
            <a:endParaRPr lang="en-MY" dirty="0"/>
          </a:p>
          <a:p>
            <a:r>
              <a:rPr lang="en-MY" dirty="0"/>
              <a:t>Struktur taman membina fungsi dan estetika landskap merangkumi pelbagai jenis binaan yang mengintegrasikan reka bentuk seni bina dengan landskap semula jadi. Setiap struktur mempunyai tujuan tersendiri, sama ada untuk akses, rekreasi, perlindungan, atau sebagai elemen visual utama. Terdapat empat jenis struktur taman: Struktur Persisir Air, Struktur Teduhan, Kemudahan Awam, dan Water Feature.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Struktur Taman — Struktur Persisir Air</a:t>
            </a:r>
          </a:p>
          <a:p>
            <a:endParaRPr lang="en-MY" dirty="0"/>
          </a:p>
          <a:p>
            <a:r>
              <a:rPr lang="en-MY" dirty="0"/>
              <a:t>SPOKEN TRANSCRIPT</a:t>
            </a:r>
          </a:p>
          <a:p>
            <a:endParaRPr lang="en-MY" dirty="0"/>
          </a:p>
          <a:p>
            <a:r>
              <a:rPr lang="en-MY" dirty="0"/>
              <a:t>Struktur persisir air direka untuk meningkatkan akses dan pengalaman pengguna di tepi badan air seperti tasik, sungai, atau pantai. Ia memerlukan kepakaran dalam pembinaan di persekitaran yang lembap dan berpotensi hakisan. Pembinaannya memerlukan asas yang sangat stabil dan rata, dengan sistem saliran permukaan yang berkesan untuk mengelakkan genangan air. Pemilihan bahan permukaan bergantung pada fungsi utama ruang tersebut. Mari lihat contoh bagi Struktur Persisir Air di halaman seterusnya.</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Struktur Taman — Struktur Persisir Air</a:t>
            </a:r>
          </a:p>
          <a:p>
            <a:r>
              <a:rPr lang="en-MY" dirty="0"/>
              <a:t>Contoh — arahan interaksi</a:t>
            </a:r>
          </a:p>
          <a:p>
            <a:endParaRPr lang="en-MY" dirty="0"/>
          </a:p>
          <a:p>
            <a:r>
              <a:rPr lang="en-MY" dirty="0"/>
              <a:t>SPOKEN TRANSCRIPT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Struktur Taman — Struktur Persisir Air</a:t>
            </a:r>
          </a:p>
          <a:p>
            <a:r>
              <a:rPr lang="en-MY" dirty="0"/>
              <a:t>Contoh: Promenade</a:t>
            </a:r>
          </a:p>
          <a:p>
            <a:endParaRPr lang="en-MY" dirty="0"/>
          </a:p>
          <a:p>
            <a:r>
              <a:rPr lang="en-MY" dirty="0"/>
              <a:t>SPOKEN TRANSCRIPT</a:t>
            </a:r>
          </a:p>
          <a:p>
            <a:endParaRPr lang="en-MY" dirty="0"/>
          </a:p>
          <a:p>
            <a:r>
              <a:rPr lang="en-MY" dirty="0"/>
              <a:t>Promenade ialah laluan lebar di sepanjang pinggir air, selesa untuk berjalan dan bersantai. Contohnya Promenade Tasik Titiwangsa di Kuala Lumpur.</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Struktur Taman — Struktur Persisir Air</a:t>
            </a:r>
          </a:p>
          <a:p>
            <a:r>
              <a:rPr lang="en-MY" dirty="0"/>
              <a:t>Contoh: Jeti</a:t>
            </a:r>
          </a:p>
          <a:p>
            <a:endParaRPr lang="en-MY" dirty="0"/>
          </a:p>
          <a:p>
            <a:r>
              <a:rPr lang="en-MY" dirty="0"/>
              <a:t>SPOKEN TRANSCRIPT</a:t>
            </a:r>
          </a:p>
          <a:p>
            <a:endParaRPr lang="en-MY" dirty="0"/>
          </a:p>
          <a:p>
            <a:r>
              <a:rPr lang="en-MY" dirty="0"/>
              <a:t>Jeti ialah platform atau pelantar panjang untuk akses ke air, dan sering digunakan untuk bot. Contohnya Jeti Lumut di Perak.</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Struktur Taman — Struktur Persisir Air</a:t>
            </a:r>
          </a:p>
          <a:p>
            <a:r>
              <a:rPr lang="en-MY" dirty="0"/>
              <a:t>Contoh: Dek Kayu</a:t>
            </a:r>
          </a:p>
          <a:p>
            <a:endParaRPr lang="en-MY" dirty="0"/>
          </a:p>
          <a:p>
            <a:r>
              <a:rPr lang="en-MY" dirty="0"/>
              <a:t>SPOKEN TRANSCRIPT</a:t>
            </a:r>
          </a:p>
          <a:p>
            <a:endParaRPr lang="en-MY" dirty="0"/>
          </a:p>
          <a:p>
            <a:r>
              <a:rPr lang="en-MY" dirty="0"/>
              <a:t>Dek kayu ialah ruang kayu terbuka di atas atau berhampiran air, untuk rehat dan menikmati pemandangan. Contohnya Wetland Park Putrajaya.</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Struktur Taman — Struktur Persisir Air</a:t>
            </a:r>
          </a:p>
          <a:p>
            <a:r>
              <a:rPr lang="en-MY" dirty="0"/>
              <a:t>Contoh: Boardwalk</a:t>
            </a:r>
          </a:p>
          <a:p>
            <a:endParaRPr lang="en-MY" dirty="0"/>
          </a:p>
          <a:p>
            <a:r>
              <a:rPr lang="en-MY" dirty="0"/>
              <a:t>SPOKEN TRANSCRIPT</a:t>
            </a:r>
          </a:p>
          <a:p>
            <a:endParaRPr lang="en-MY" dirty="0"/>
          </a:p>
          <a:p>
            <a:r>
              <a:rPr lang="en-MY" dirty="0"/>
              <a:t>Boardwalk ialah laluan kayu di atas tanah berpaya atau basah. Ia mesra alam dan mengekalkan visual semula jadi. Contohnya Boardwalk Paya Indah Wetlands.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Struktur Taman — Struktur Persisir Air</a:t>
            </a:r>
          </a:p>
          <a:p>
            <a:r>
              <a:rPr lang="en-MY" dirty="0"/>
              <a:t>Contoh: Footbridge</a:t>
            </a:r>
          </a:p>
          <a:p>
            <a:endParaRPr lang="en-MY" dirty="0"/>
          </a:p>
          <a:p>
            <a:r>
              <a:rPr lang="en-MY" dirty="0"/>
              <a:t>SPOKEN TRANSCRIPT</a:t>
            </a:r>
          </a:p>
          <a:p>
            <a:endParaRPr lang="en-MY" dirty="0"/>
          </a:p>
          <a:p>
            <a:r>
              <a:rPr lang="en-MY" dirty="0"/>
              <a:t>Footbridge ialah jambatan kecil untuk laluan pejalan kaki melintasi aliran air atau longkang besar. Contohnya Footbridge Taman Botani Perdana.</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lang="en-MY" dirty="0"/>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Struktur Taman</a:t>
            </a:r>
          </a:p>
          <a:p>
            <a:endParaRPr lang="en-MY" dirty="0"/>
          </a:p>
          <a:p>
            <a:r>
              <a:rPr lang="en-MY" dirty="0"/>
              <a:t>SPOKEN TRANSCRIPT</a:t>
            </a:r>
          </a:p>
          <a:p>
            <a:endParaRPr lang="en-MY" dirty="0"/>
          </a:p>
          <a:p>
            <a:r>
              <a:rPr lang="en-MY" dirty="0"/>
              <a:t>Struktur taman membina fungsi dan estetika landskap merangkumi pelbagai jenis binaan yang mengintegrasikan reka bentuk seni bina dengan landskap semula jadi. Setiap struktur mempunyai tujuan tersendiri, sama ada untuk akses, rekreasi, perlindungan, atau sebagai elemen visual utama. Terdapat empat jenis struktur taman: Struktur Persisir Air, Struktur Teduhan, Kemudahan Awam, dan Water Feature.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Perabot Taman</a:t>
            </a:r>
          </a:p>
          <a:p>
            <a:endParaRPr lang="en-MY" dirty="0"/>
          </a:p>
          <a:p>
            <a:r>
              <a:rPr lang="en-MY" dirty="0"/>
              <a:t>SPOKEN TRANSCRIPT</a:t>
            </a:r>
          </a:p>
          <a:p>
            <a:endParaRPr lang="en-MY" dirty="0"/>
          </a:p>
          <a:p>
            <a:r>
              <a:rPr lang="en-MY" dirty="0"/>
              <a:t>Perabot taman merujuk kepada elemen-elemen boleh alih atau kekal yang ditempatkan di ruang landskap untuk meningkatkan fungsi, keselesaan, dan estetika. Ini melibatkan pemahaman tentang bahan, ketahanan, ergonomik, dan kesesuaian reka bentuk dengan tema keseluruhan landskap. Terdapat lima jenis perabot taman: Kerusi Taman, Papan Tanda, Tong Sampah, Drinking Fountain, dan BBQ Pit.</a:t>
            </a:r>
          </a:p>
          <a:p>
            <a:r>
              <a:rPr lang="en-MY" dirty="0"/>
              <a:t>Mari lihat setiap contoh perabot di halaman seterusnya.</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Perabot Taman — Kerusi Taman</a:t>
            </a:r>
          </a:p>
          <a:p>
            <a:endParaRPr lang="en-MY" dirty="0"/>
          </a:p>
          <a:p>
            <a:r>
              <a:rPr lang="en-MY" dirty="0"/>
              <a:t>SPOKEN TRANSCRIPT</a:t>
            </a:r>
          </a:p>
          <a:p>
            <a:endParaRPr lang="en-MY" dirty="0"/>
          </a:p>
          <a:p>
            <a:r>
              <a:rPr lang="en-MY" dirty="0"/>
              <a:t>Kerusi taman menyediakan tempat duduk untuk pengguna berehat dan menikmati persekitaran. Ia merupakan elemen asas untuk keselesaan di mana-mana ruang awam atau peribadi. Pemilihan kerusi yang betul mengambil kira faktor seperti keselesaan, ketahanan terhadap cuaca, dan estetika yang sepadan dengan gaya landskap. Pemasangan mungkin melibatkan penetapan ke tanah untuk mengelakkan kecurian atau pergerakan.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Perabot Taman — Kerusi Taman</a:t>
            </a:r>
          </a:p>
          <a:p>
            <a:r>
              <a:rPr lang="en-MY" dirty="0"/>
              <a:t>Contoh: Kerusi Kayu Keras</a:t>
            </a:r>
          </a:p>
          <a:p>
            <a:endParaRPr lang="en-MY" dirty="0"/>
          </a:p>
          <a:p>
            <a:r>
              <a:rPr lang="en-MY" dirty="0"/>
              <a:t>SPOKEN TRANSCRIPT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Perabot Taman — Kerusi Taman</a:t>
            </a:r>
          </a:p>
          <a:p>
            <a:r>
              <a:rPr lang="en-MY" dirty="0"/>
              <a:t>Contoh: Kerusi Kayu Keras</a:t>
            </a:r>
          </a:p>
          <a:p>
            <a:r>
              <a:rPr lang="en-MY" dirty="0"/>
              <a:t>Spesifikasi: Bahan</a:t>
            </a:r>
          </a:p>
          <a:p>
            <a:endParaRPr lang="en-MY" dirty="0"/>
          </a:p>
          <a:p>
            <a:r>
              <a:rPr lang="en-MY" dirty="0"/>
              <a:t>SPOKEN TRANSCRIPT</a:t>
            </a:r>
          </a:p>
          <a:p>
            <a:endParaRPr lang="en-MY" dirty="0"/>
          </a:p>
          <a:p>
            <a:r>
              <a:rPr lang="en-MY" dirty="0"/>
              <a:t>Bahan. Kayu padu gred perabot luar dengan ketahanan semula jadi tinggi terhadap serangga dan reput, atau kayu dirawat tekanan (pressure-treated).</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Perabot Taman — Kerusi Taman</a:t>
            </a:r>
          </a:p>
          <a:p>
            <a:r>
              <a:rPr lang="en-MY" dirty="0"/>
              <a:t>Contoh: Kerusi Kayu Keras</a:t>
            </a:r>
          </a:p>
          <a:p>
            <a:r>
              <a:rPr lang="en-MY" dirty="0"/>
              <a:t>Spesifikasi: Dimensi</a:t>
            </a:r>
          </a:p>
          <a:p>
            <a:endParaRPr lang="en-MY" dirty="0"/>
          </a:p>
          <a:p>
            <a:r>
              <a:rPr lang="en-MY" dirty="0"/>
              <a:t>SPOKEN TRANSCRIPT</a:t>
            </a:r>
          </a:p>
          <a:p>
            <a:endParaRPr lang="en-MY" dirty="0"/>
          </a:p>
          <a:p>
            <a:r>
              <a:rPr lang="en-MY" dirty="0"/>
              <a:t>Dimensi. Ketebalan minimum komponen utama 25mm–50mm.</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Perabot Taman — Kerusi Taman</a:t>
            </a:r>
          </a:p>
          <a:p>
            <a:r>
              <a:rPr lang="en-MY" dirty="0"/>
              <a:t>Contoh: Kerusi Kayu Keras</a:t>
            </a:r>
          </a:p>
          <a:p>
            <a:r>
              <a:rPr lang="en-MY" dirty="0"/>
              <a:t>Spesifikasi: Penyambungan</a:t>
            </a:r>
          </a:p>
          <a:p>
            <a:endParaRPr lang="en-MY" dirty="0"/>
          </a:p>
          <a:p>
            <a:r>
              <a:rPr lang="en-MY" dirty="0"/>
              <a:t>SPOKEN TRANSCRIPT</a:t>
            </a:r>
          </a:p>
          <a:p>
            <a:endParaRPr lang="en-MY" dirty="0"/>
          </a:p>
          <a:p>
            <a:r>
              <a:rPr lang="en-MY" dirty="0"/>
              <a:t>Penyambungan. Skru tahan karat (stainless steel), bolt, atau tanggam kayu (mortise and tenon joints).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Perabot Taman — Kerusi Taman</a:t>
            </a:r>
          </a:p>
          <a:p>
            <a:r>
              <a:rPr lang="en-MY" dirty="0"/>
              <a:t>Contoh: Kerusi Kayu Keras</a:t>
            </a:r>
          </a:p>
          <a:p>
            <a:r>
              <a:rPr lang="en-MY" dirty="0"/>
              <a:t>Spesifikasi: Kemasan</a:t>
            </a:r>
          </a:p>
          <a:p>
            <a:endParaRPr lang="en-MY" dirty="0"/>
          </a:p>
          <a:p>
            <a:r>
              <a:rPr lang="en-MY" dirty="0"/>
              <a:t>SPOKEN TRANSCRIPT</a:t>
            </a:r>
          </a:p>
          <a:p>
            <a:endParaRPr lang="en-MY" dirty="0"/>
          </a:p>
          <a:p>
            <a:r>
              <a:rPr lang="en-MY" dirty="0"/>
              <a:t>Kemasan. Sealant luaran, minyak kayu, atau varnis tahan UV dan kelembapan.</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lang="en-MY" dirty="0"/>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Perabot Taman — Kerusi Taman</a:t>
            </a:r>
          </a:p>
          <a:p>
            <a:endParaRPr lang="en-MY" dirty="0"/>
          </a:p>
          <a:p>
            <a:r>
              <a:rPr lang="en-MY" dirty="0"/>
              <a:t>SPOKEN TRANSCRIPT</a:t>
            </a:r>
          </a:p>
          <a:p>
            <a:endParaRPr lang="en-MY" dirty="0"/>
          </a:p>
          <a:p>
            <a:r>
              <a:rPr lang="en-MY" dirty="0"/>
              <a:t>Kerusi taman menyediakan tempat duduk untuk pengguna berehat dan menikmati persekitaran. Ia merupakan elemen asas untuk keselesaan di mana-mana ruang awam atau peribadi. Pemilihan kerusi yang betul mengambil kira faktor seperti keselesaan, ketahanan terhadap cuaca, dan estetika yang sepadan dengan gaya landskap. Pemasangan mungkin melibatkan penetapan ke tanah untuk mengelakkan kecurian atau pergerakan.</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Perabot Taman — Papan Tanda</a:t>
            </a:r>
          </a:p>
          <a:p>
            <a:endParaRPr lang="en-MY" dirty="0"/>
          </a:p>
          <a:p>
            <a:r>
              <a:rPr lang="en-MY" dirty="0"/>
              <a:t>SPOKEN TRANSCRIPT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Perabot Taman — Papan Tanda</a:t>
            </a:r>
          </a:p>
          <a:p>
            <a:r>
              <a:rPr lang="en-MY" dirty="0"/>
              <a:t>Spesifikasi: Bahan Panel</a:t>
            </a:r>
          </a:p>
          <a:p>
            <a:endParaRPr lang="en-MY" dirty="0"/>
          </a:p>
          <a:p>
            <a:r>
              <a:rPr lang="en-MY" dirty="0"/>
              <a:t>SPOKEN TRANSCRIPT</a:t>
            </a:r>
          </a:p>
          <a:p>
            <a:endParaRPr lang="en-MY" dirty="0"/>
          </a:p>
          <a:p>
            <a:r>
              <a:rPr lang="en-MY" dirty="0"/>
              <a:t>Bahan Panel. Aluminium Komposit (ACP) 3–4mm; HPL gred luar 6–10mm; Akrilik terstabil UV 5–10mm; Kayu dirawat tekanan/kayu keras min. 20mm.</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Perabot Taman — Papan Tanda</a:t>
            </a:r>
          </a:p>
          <a:p>
            <a:r>
              <a:rPr lang="en-MY" dirty="0"/>
              <a:t>Spesifikasi: Bahan Struktur/Tiang</a:t>
            </a:r>
          </a:p>
          <a:p>
            <a:endParaRPr lang="en-MY" dirty="0"/>
          </a:p>
          <a:p>
            <a:r>
              <a:rPr lang="en-MY" dirty="0"/>
              <a:t>SPOKEN TRANSCRIPT</a:t>
            </a:r>
          </a:p>
          <a:p>
            <a:endParaRPr lang="en-MY" dirty="0"/>
          </a:p>
          <a:p>
            <a:r>
              <a:rPr lang="en-MY" dirty="0"/>
              <a:t>Bahan Struktur/Tiang. Keluli bersalut serbuk atau tahan karat, profil 50mm × 50mm ke atas; kayu keras min. 75mm × 75mm.</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Perabot Taman — Papan Tanda</a:t>
            </a:r>
          </a:p>
          <a:p>
            <a:r>
              <a:rPr lang="en-MY" dirty="0"/>
              <a:t>Spesifikasi: Grafik</a:t>
            </a:r>
          </a:p>
          <a:p>
            <a:endParaRPr lang="en-MY" dirty="0"/>
          </a:p>
          <a:p>
            <a:r>
              <a:rPr lang="en-MY" dirty="0"/>
              <a:t>SPOKEN TRANSCRIPT</a:t>
            </a:r>
          </a:p>
          <a:p>
            <a:endParaRPr lang="en-MY" dirty="0"/>
          </a:p>
          <a:p>
            <a:r>
              <a:rPr lang="en-MY" dirty="0"/>
              <a:t>Grafik. Cetakan UV langsung, cetakan digital pada vinil gred luar, atau ukiran laser. Mesti tahan pudar.</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Perabot Taman — Papan Tanda</a:t>
            </a:r>
          </a:p>
          <a:p>
            <a:r>
              <a:rPr lang="en-MY" dirty="0"/>
              <a:t>Spesifikasi: Rekaan</a:t>
            </a:r>
          </a:p>
          <a:p>
            <a:endParaRPr lang="en-MY" dirty="0"/>
          </a:p>
          <a:p>
            <a:r>
              <a:rPr lang="en-MY" dirty="0"/>
              <a:t>SPOKEN TRANSCRIPT</a:t>
            </a:r>
          </a:p>
          <a:p>
            <a:endParaRPr lang="en-MY" dirty="0"/>
          </a:p>
          <a:p>
            <a:r>
              <a:rPr lang="en-MY" dirty="0"/>
              <a:t>Rekaan. Font jelas, saiz teks sesuai jarak pandang, kontras warna tinggi.</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lang="en-MY" dirty="0"/>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Rumusan</a:t>
            </a:r>
          </a:p>
          <a:p>
            <a:endParaRPr lang="en-MY" dirty="0"/>
          </a:p>
          <a:p>
            <a:r>
              <a:rPr lang="en-MY" dirty="0"/>
              <a:t>SPOKEN TRANSCRIPT</a:t>
            </a:r>
          </a:p>
          <a:p>
            <a:endParaRPr lang="en-MY" dirty="0"/>
          </a:p>
          <a:p>
            <a:r>
              <a:rPr lang="en-MY" dirty="0"/>
              <a:t>Mengenal pasti struktur dan elemen landskap membolehkan kerja pembinaan, penyeliaan dan penyelenggaraan dirancang dengan tepat. Struktur taman merangkumi Struktur Persisir Air, Struktur Teduhan, Kemudahan Awam dan Water Feature, manakala perabot taman merangkumi Kerusi Taman, Papan Tanda, Tong Sampah, Drinking Fountain dan BBQ Pit. Dengan memahami komponen-komponen ini, kontraktor dapat merancang, melaksana dan menyelenggara setiap komponen landskap mengikut fungsinya di tapak.</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Kuiz</a:t>
            </a:r>
          </a:p>
          <a:p>
            <a:endParaRPr lang="en-MY" dirty="0"/>
          </a:p>
          <a:p>
            <a:r>
              <a:rPr lang="en-MY" dirty="0"/>
              <a:t>SPOKEN TRANSCRIPT</a:t>
            </a:r>
          </a:p>
          <a:p>
            <a:endParaRPr lang="en-MY" dirty="0"/>
          </a:p>
          <a:p>
            <a:r>
              <a:rPr lang="en-MY" dirty="0"/>
              <a:t>Jawab semua soalan dengan pilihan jawapan yang betul. Klik butang “MULA KUIZ” untuk mula.</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Kuiz</a:t>
            </a:r>
          </a:p>
          <a:p>
            <a:r>
              <a:rPr lang="en-MY" dirty="0"/>
              <a:t>Soalan 1</a:t>
            </a:r>
          </a:p>
          <a:p>
            <a:endParaRPr lang="en-MY" dirty="0"/>
          </a:p>
          <a:p>
            <a:r>
              <a:rPr lang="en-MY" dirty="0"/>
              <a:t>SPOKEN TRANSCRIPT</a:t>
            </a:r>
          </a:p>
          <a:p>
            <a:endParaRPr lang="en-MY" dirty="0"/>
          </a:p>
          <a:p>
            <a:r>
              <a:rPr lang="en-MY" dirty="0"/>
              <a:t>Struktur persisir air dibina di tepi badan air seperti tasik, sungai atau pantai. Apakah keperluan pembinaan yang paling kritikal bagi struktur ini?</a:t>
            </a:r>
          </a:p>
          <a:p>
            <a:r>
              <a:rPr lang="en-MY" dirty="0"/>
              <a:t>A. Warna permukaan yang menarik</a:t>
            </a:r>
          </a:p>
          <a:p>
            <a:r>
              <a:rPr lang="en-MY" dirty="0"/>
              <a:t>B. Asas yang stabil dan rata dengan saliran permukaan yang berkesan</a:t>
            </a:r>
          </a:p>
          <a:p>
            <a:r>
              <a:rPr lang="en-MY" dirty="0"/>
              <a:t>C. Ketinggian struktur melebihi dua meter</a:t>
            </a:r>
          </a:p>
          <a:p>
            <a:r>
              <a:rPr lang="en-MY" dirty="0"/>
              <a:t>D. Penggunaan bahan import</a:t>
            </a:r>
          </a:p>
          <a:p>
            <a:r>
              <a:rPr lang="en-MY" dirty="0"/>
              <a:t>Maklum balas betul: Pilihan jawapan tepat.</a:t>
            </a:r>
          </a:p>
          <a:p>
            <a:r>
              <a:rPr lang="en-MY" dirty="0"/>
              <a:t>Maklum balas salah: Pilihan jawapan tidak tepat.</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Kuiz</a:t>
            </a:r>
          </a:p>
          <a:p>
            <a:r>
              <a:rPr lang="en-MY" dirty="0"/>
              <a:t>Soalan 5</a:t>
            </a:r>
          </a:p>
          <a:p>
            <a:endParaRPr lang="en-MY" dirty="0"/>
          </a:p>
          <a:p>
            <a:r>
              <a:rPr lang="en-MY" dirty="0"/>
              <a:t>SPOKEN TRANSCRIPT</a:t>
            </a:r>
          </a:p>
          <a:p>
            <a:endParaRPr lang="en-MY" dirty="0"/>
          </a:p>
          <a:p>
            <a:r>
              <a:rPr lang="en-MY" dirty="0"/>
              <a:t>Pilih SEMUA perabot yang tergolong dalam Perabot Taman.</a:t>
            </a:r>
          </a:p>
          <a:p>
            <a:r>
              <a:rPr lang="en-MY" dirty="0"/>
              <a:t>Kerusi Taman</a:t>
            </a:r>
          </a:p>
          <a:p>
            <a:r>
              <a:rPr lang="en-MY" dirty="0"/>
              <a:t>Papan Tanda</a:t>
            </a:r>
          </a:p>
          <a:p>
            <a:r>
              <a:rPr lang="en-MY" dirty="0"/>
              <a:t>Boardwalk</a:t>
            </a:r>
          </a:p>
          <a:p>
            <a:r>
              <a:rPr lang="en-MY" dirty="0"/>
              <a:t>Tong Sampah</a:t>
            </a:r>
          </a:p>
          <a:p>
            <a:r>
              <a:rPr lang="en-MY" dirty="0"/>
              <a:t>Drinking Fountain</a:t>
            </a:r>
          </a:p>
          <a:p>
            <a:r>
              <a:rPr lang="en-MY" dirty="0"/>
              <a:t>BBQ Pit</a:t>
            </a:r>
          </a:p>
          <a:p>
            <a:r>
              <a:rPr lang="en-MY" dirty="0"/>
              <a:t>Gazebo</a:t>
            </a:r>
          </a:p>
          <a:p>
            <a:r>
              <a:rPr lang="en-MY" dirty="0"/>
              <a:t>Maklum balas betul: Pilihan jawapan tepat.</a:t>
            </a:r>
          </a:p>
          <a:p>
            <a:r>
              <a:rPr lang="en-MY" dirty="0"/>
              <a:t>Maklum balas salah: Pilihan jawapan tidak tepat.</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Kuiz</a:t>
            </a:r>
          </a:p>
          <a:p>
            <a:r>
              <a:rPr lang="en-MY" dirty="0"/>
              <a:t>Keputusan</a:t>
            </a:r>
          </a:p>
          <a:p>
            <a:endParaRPr lang="en-MY" dirty="0"/>
          </a:p>
          <a:p>
            <a:r>
              <a:rPr lang="en-MY" dirty="0"/>
              <a:t>SPOKEN TRANSCRIPT</a:t>
            </a:r>
          </a:p>
          <a:p>
            <a:endParaRPr lang="en-MY" dirty="0"/>
          </a:p>
          <a:p>
            <a:r>
              <a:rPr lang="en-MY" dirty="0"/>
              <a:t>Anda telah melengkapkan kuiz semakan pengetahuan. Anda boleh menyemak jawapan atau mengulang kuiz ini.</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Tamat</a:t>
            </a:r>
          </a:p>
          <a:p>
            <a:endParaRPr lang="en-MY" dirty="0"/>
          </a:p>
          <a:p>
            <a:r>
              <a:rPr lang="en-MY" dirty="0"/>
              <a:t>SPOKEN TRANSCRIPT</a:t>
            </a:r>
          </a:p>
          <a:p>
            <a:endParaRPr lang="en-MY" dirty="0"/>
          </a:p>
          <a:p>
            <a:r>
              <a:rPr lang="en-MY" dirty="0"/>
              <a:t>Tamat Topik 3 Bahagian 2: Komponen Landskap. Bahagian ini telah selesai. Tutup tetingkap pelajaran untuk keluar.</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3_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30503577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5_Layout">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C3B2182B-4038-41C3-019B-38E13D6A2C11}"/>
              </a:ext>
            </a:extLst>
          </p:cNvPr>
          <p:cNvSpPr>
            <a:spLocks noGrp="1"/>
          </p:cNvSpPr>
          <p:nvPr>
            <p:ph type="pic" sz="quarter" idx="10"/>
          </p:nvPr>
        </p:nvSpPr>
        <p:spPr>
          <a:xfrm>
            <a:off x="4818997" y="591208"/>
            <a:ext cx="8787275" cy="5675584"/>
          </a:xfrm>
          <a:custGeom>
            <a:avLst/>
            <a:gdLst>
              <a:gd name="connsiteX0" fmla="*/ 0 w 8787275"/>
              <a:gd name="connsiteY0" fmla="*/ 0 h 5675584"/>
              <a:gd name="connsiteX1" fmla="*/ 8787275 w 8787275"/>
              <a:gd name="connsiteY1" fmla="*/ 0 h 5675584"/>
              <a:gd name="connsiteX2" fmla="*/ 8787275 w 8787275"/>
              <a:gd name="connsiteY2" fmla="*/ 5675584 h 5675584"/>
              <a:gd name="connsiteX3" fmla="*/ 0 w 8787275"/>
              <a:gd name="connsiteY3" fmla="*/ 5675584 h 5675584"/>
            </a:gdLst>
            <a:ahLst/>
            <a:cxnLst>
              <a:cxn ang="0">
                <a:pos x="connsiteX0" y="connsiteY0"/>
              </a:cxn>
              <a:cxn ang="0">
                <a:pos x="connsiteX1" y="connsiteY1"/>
              </a:cxn>
              <a:cxn ang="0">
                <a:pos x="connsiteX2" y="connsiteY2"/>
              </a:cxn>
              <a:cxn ang="0">
                <a:pos x="connsiteX3" y="connsiteY3"/>
              </a:cxn>
            </a:cxnLst>
            <a:rect l="l" t="t" r="r" b="b"/>
            <a:pathLst>
              <a:path w="8787275" h="5675584">
                <a:moveTo>
                  <a:pt x="0" y="0"/>
                </a:moveTo>
                <a:lnTo>
                  <a:pt x="8787275" y="0"/>
                </a:lnTo>
                <a:lnTo>
                  <a:pt x="8787275" y="5675584"/>
                </a:lnTo>
                <a:lnTo>
                  <a:pt x="0" y="5675584"/>
                </a:lnTo>
                <a:close/>
              </a:path>
            </a:pathLst>
          </a:custGeom>
          <a:pattFill prst="pct5">
            <a:fgClr>
              <a:schemeClr val="accent1"/>
            </a:fgClr>
            <a:bgClr>
              <a:schemeClr val="accent6">
                <a:lumMod val="20000"/>
                <a:lumOff val="80000"/>
              </a:schemeClr>
            </a:bgClr>
          </a:pattFill>
        </p:spPr>
        <p:txBody>
          <a:bodyPr wrap="square" lIns="91440" tIns="91440" rIns="91440" bIns="91440">
            <a:noAutofit/>
          </a:bodyPr>
          <a:lstStyle>
            <a:lvl1pPr marL="0" indent="0">
              <a:buNone/>
              <a:defRPr sz="1800" b="0" i="0">
                <a:latin typeface="Roboto Light" panose="02000000000000000000" pitchFamily="2" charset="0"/>
                <a:ea typeface="Roboto Light" panose="02000000000000000000" pitchFamily="2" charset="0"/>
              </a:defRPr>
            </a:lvl1pPr>
          </a:lstStyle>
          <a:p>
            <a:endParaRPr lang="en-US"/>
          </a:p>
        </p:txBody>
      </p:sp>
    </p:spTree>
    <p:extLst>
      <p:ext uri="{BB962C8B-B14F-4D97-AF65-F5344CB8AC3E}">
        <p14:creationId xmlns:p14="http://schemas.microsoft.com/office/powerpoint/2010/main" val="965708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1+#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35" presetClass="path" presetSubtype="0" repeatCount="indefinite" autoRev="1" fill="hold" grpId="1" nodeType="withEffect">
                                  <p:stCondLst>
                                    <p:cond delay="16500"/>
                                  </p:stCondLst>
                                  <p:childTnLst>
                                    <p:animMotion origin="layout" path="M 1.04167E-6 0 L -0.06172 0 " pathEditMode="relative" rAng="0" ptsTypes="AA">
                                      <p:cBhvr>
                                        <p:cTn id="10" dur="20000" fill="hold"/>
                                        <p:tgtEl>
                                          <p:spTgt spid="4"/>
                                        </p:tgtEl>
                                        <p:attrNameLst>
                                          <p:attrName>ppt_x</p:attrName>
                                          <p:attrName>ppt_y</p:attrName>
                                        </p:attrNameLst>
                                      </p:cBhvr>
                                      <p:rCtr x="-3086"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7_Layout">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933088B3-81DD-FB17-13BE-90F7249765F2}"/>
              </a:ext>
            </a:extLst>
          </p:cNvPr>
          <p:cNvSpPr>
            <a:spLocks noGrp="1"/>
          </p:cNvSpPr>
          <p:nvPr>
            <p:ph type="pic" sz="quarter" idx="11"/>
          </p:nvPr>
        </p:nvSpPr>
        <p:spPr>
          <a:xfrm>
            <a:off x="3748903" y="3428997"/>
            <a:ext cx="3143783" cy="3428998"/>
          </a:xfrm>
          <a:custGeom>
            <a:avLst/>
            <a:gdLst>
              <a:gd name="connsiteX0" fmla="*/ 0 w 3143783"/>
              <a:gd name="connsiteY0" fmla="*/ 0 h 3428998"/>
              <a:gd name="connsiteX1" fmla="*/ 3143783 w 3143783"/>
              <a:gd name="connsiteY1" fmla="*/ 0 h 3428998"/>
              <a:gd name="connsiteX2" fmla="*/ 3143783 w 3143783"/>
              <a:gd name="connsiteY2" fmla="*/ 3428998 h 3428998"/>
              <a:gd name="connsiteX3" fmla="*/ 0 w 3143783"/>
              <a:gd name="connsiteY3" fmla="*/ 3428998 h 3428998"/>
            </a:gdLst>
            <a:ahLst/>
            <a:cxnLst>
              <a:cxn ang="0">
                <a:pos x="connsiteX0" y="connsiteY0"/>
              </a:cxn>
              <a:cxn ang="0">
                <a:pos x="connsiteX1" y="connsiteY1"/>
              </a:cxn>
              <a:cxn ang="0">
                <a:pos x="connsiteX2" y="connsiteY2"/>
              </a:cxn>
              <a:cxn ang="0">
                <a:pos x="connsiteX3" y="connsiteY3"/>
              </a:cxn>
            </a:cxnLst>
            <a:rect l="l" t="t" r="r" b="b"/>
            <a:pathLst>
              <a:path w="3143783" h="3428998">
                <a:moveTo>
                  <a:pt x="0" y="0"/>
                </a:moveTo>
                <a:lnTo>
                  <a:pt x="3143783" y="0"/>
                </a:lnTo>
                <a:lnTo>
                  <a:pt x="3143783" y="3428998"/>
                </a:lnTo>
                <a:lnTo>
                  <a:pt x="0" y="3428998"/>
                </a:lnTo>
                <a:close/>
              </a:path>
            </a:pathLst>
          </a:custGeom>
          <a:pattFill prst="pct5">
            <a:fgClr>
              <a:schemeClr val="accent1"/>
            </a:fgClr>
            <a:bgClr>
              <a:schemeClr val="accent6">
                <a:lumMod val="20000"/>
                <a:lumOff val="80000"/>
              </a:schemeClr>
            </a:bgClr>
          </a:pattFill>
        </p:spPr>
        <p:txBody>
          <a:bodyPr wrap="square" lIns="91440" tIns="91440" rIns="91440" bIns="91440">
            <a:noAutofit/>
          </a:bodyPr>
          <a:lstStyle>
            <a:lvl1pPr marL="0" indent="0">
              <a:buNone/>
              <a:defRPr sz="1800" b="0" i="0">
                <a:latin typeface="Roboto Light" panose="02000000000000000000" pitchFamily="2" charset="0"/>
                <a:ea typeface="Roboto Light" panose="02000000000000000000" pitchFamily="2" charset="0"/>
              </a:defRPr>
            </a:lvl1pPr>
          </a:lstStyle>
          <a:p>
            <a:endParaRPr lang="en-US"/>
          </a:p>
        </p:txBody>
      </p:sp>
      <p:sp>
        <p:nvSpPr>
          <p:cNvPr id="5" name="Picture Placeholder 4">
            <a:extLst>
              <a:ext uri="{FF2B5EF4-FFF2-40B4-BE49-F238E27FC236}">
                <a16:creationId xmlns:a16="http://schemas.microsoft.com/office/drawing/2014/main" id="{325C6063-1B18-34DC-B266-32D60EBB74E3}"/>
              </a:ext>
            </a:extLst>
          </p:cNvPr>
          <p:cNvSpPr>
            <a:spLocks noGrp="1"/>
          </p:cNvSpPr>
          <p:nvPr>
            <p:ph type="pic" sz="quarter" idx="10"/>
          </p:nvPr>
        </p:nvSpPr>
        <p:spPr>
          <a:xfrm>
            <a:off x="605120" y="-1"/>
            <a:ext cx="3143783" cy="3428998"/>
          </a:xfrm>
          <a:custGeom>
            <a:avLst/>
            <a:gdLst>
              <a:gd name="connsiteX0" fmla="*/ 0 w 3143783"/>
              <a:gd name="connsiteY0" fmla="*/ 0 h 3428998"/>
              <a:gd name="connsiteX1" fmla="*/ 3143783 w 3143783"/>
              <a:gd name="connsiteY1" fmla="*/ 0 h 3428998"/>
              <a:gd name="connsiteX2" fmla="*/ 3143783 w 3143783"/>
              <a:gd name="connsiteY2" fmla="*/ 3428998 h 3428998"/>
              <a:gd name="connsiteX3" fmla="*/ 0 w 3143783"/>
              <a:gd name="connsiteY3" fmla="*/ 3428998 h 3428998"/>
            </a:gdLst>
            <a:ahLst/>
            <a:cxnLst>
              <a:cxn ang="0">
                <a:pos x="connsiteX0" y="connsiteY0"/>
              </a:cxn>
              <a:cxn ang="0">
                <a:pos x="connsiteX1" y="connsiteY1"/>
              </a:cxn>
              <a:cxn ang="0">
                <a:pos x="connsiteX2" y="connsiteY2"/>
              </a:cxn>
              <a:cxn ang="0">
                <a:pos x="connsiteX3" y="connsiteY3"/>
              </a:cxn>
            </a:cxnLst>
            <a:rect l="l" t="t" r="r" b="b"/>
            <a:pathLst>
              <a:path w="3143783" h="3428998">
                <a:moveTo>
                  <a:pt x="0" y="0"/>
                </a:moveTo>
                <a:lnTo>
                  <a:pt x="3143783" y="0"/>
                </a:lnTo>
                <a:lnTo>
                  <a:pt x="3143783" y="3428998"/>
                </a:lnTo>
                <a:lnTo>
                  <a:pt x="0" y="3428998"/>
                </a:lnTo>
                <a:close/>
              </a:path>
            </a:pathLst>
          </a:custGeom>
          <a:pattFill prst="pct5">
            <a:fgClr>
              <a:schemeClr val="accent1"/>
            </a:fgClr>
            <a:bgClr>
              <a:schemeClr val="accent6">
                <a:lumMod val="20000"/>
                <a:lumOff val="80000"/>
              </a:schemeClr>
            </a:bgClr>
          </a:pattFill>
        </p:spPr>
        <p:txBody>
          <a:bodyPr wrap="square" lIns="91440" tIns="91440" rIns="91440" bIns="91440">
            <a:noAutofit/>
          </a:bodyPr>
          <a:lstStyle>
            <a:lvl1pPr marL="0" indent="0">
              <a:buNone/>
              <a:defRPr sz="1800" b="0" i="0">
                <a:latin typeface="Roboto Light" panose="02000000000000000000" pitchFamily="2" charset="0"/>
                <a:ea typeface="Roboto Light" panose="02000000000000000000" pitchFamily="2" charset="0"/>
              </a:defRPr>
            </a:lvl1pPr>
          </a:lstStyle>
          <a:p>
            <a:endParaRPr lang="en-US"/>
          </a:p>
        </p:txBody>
      </p:sp>
    </p:spTree>
    <p:extLst>
      <p:ext uri="{BB962C8B-B14F-4D97-AF65-F5344CB8AC3E}">
        <p14:creationId xmlns:p14="http://schemas.microsoft.com/office/powerpoint/2010/main" val="31501658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accel="50000" decel="50000" fill="hold" grpId="0" nodeType="withEffect">
                                  <p:stCondLst>
                                    <p:cond delay="50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0-#ppt_h/2"/>
                                          </p:val>
                                        </p:tav>
                                        <p:tav tm="100000">
                                          <p:val>
                                            <p:strVal val="#ppt_y"/>
                                          </p:val>
                                        </p:tav>
                                      </p:tavLst>
                                    </p:anim>
                                  </p:childTnLst>
                                </p:cTn>
                              </p:par>
                              <p:par>
                                <p:cTn id="9" presetID="2" presetClass="entr" presetSubtype="4" accel="50000" decel="50000" fill="hold" grpId="0" nodeType="withEffect">
                                  <p:stCondLst>
                                    <p:cond delay="50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500" fill="hold"/>
                                        <p:tgtEl>
                                          <p:spTgt spid="7"/>
                                        </p:tgtEl>
                                        <p:attrNameLst>
                                          <p:attrName>ppt_x</p:attrName>
                                        </p:attrNameLst>
                                      </p:cBhvr>
                                      <p:tavLst>
                                        <p:tav tm="0">
                                          <p:val>
                                            <p:strVal val="#ppt_x"/>
                                          </p:val>
                                        </p:tav>
                                        <p:tav tm="100000">
                                          <p:val>
                                            <p:strVal val="#ppt_x"/>
                                          </p:val>
                                        </p:tav>
                                      </p:tavLst>
                                    </p:anim>
                                    <p:anim calcmode="lin" valueType="num">
                                      <p:cBhvr additive="base">
                                        <p:cTn id="12" dur="500" fill="hold"/>
                                        <p:tgtEl>
                                          <p:spTgt spid="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5" grpId="0" animBg="1"/>
    </p:bld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8_Layout">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4797700D-0768-84DB-CFE2-F86F2CE2011F}"/>
              </a:ext>
            </a:extLst>
          </p:cNvPr>
          <p:cNvSpPr>
            <a:spLocks noGrp="1"/>
          </p:cNvSpPr>
          <p:nvPr>
            <p:ph type="pic" sz="quarter" idx="11"/>
          </p:nvPr>
        </p:nvSpPr>
        <p:spPr>
          <a:xfrm>
            <a:off x="8666206" y="3429000"/>
            <a:ext cx="3525795" cy="2560838"/>
          </a:xfrm>
          <a:custGeom>
            <a:avLst/>
            <a:gdLst>
              <a:gd name="connsiteX0" fmla="*/ 0 w 3525795"/>
              <a:gd name="connsiteY0" fmla="*/ 0 h 2560838"/>
              <a:gd name="connsiteX1" fmla="*/ 3525795 w 3525795"/>
              <a:gd name="connsiteY1" fmla="*/ 0 h 2560838"/>
              <a:gd name="connsiteX2" fmla="*/ 3525795 w 3525795"/>
              <a:gd name="connsiteY2" fmla="*/ 2560838 h 2560838"/>
              <a:gd name="connsiteX3" fmla="*/ 0 w 3525795"/>
              <a:gd name="connsiteY3" fmla="*/ 2560838 h 2560838"/>
            </a:gdLst>
            <a:ahLst/>
            <a:cxnLst>
              <a:cxn ang="0">
                <a:pos x="connsiteX0" y="connsiteY0"/>
              </a:cxn>
              <a:cxn ang="0">
                <a:pos x="connsiteX1" y="connsiteY1"/>
              </a:cxn>
              <a:cxn ang="0">
                <a:pos x="connsiteX2" y="connsiteY2"/>
              </a:cxn>
              <a:cxn ang="0">
                <a:pos x="connsiteX3" y="connsiteY3"/>
              </a:cxn>
            </a:cxnLst>
            <a:rect l="l" t="t" r="r" b="b"/>
            <a:pathLst>
              <a:path w="3525795" h="2560838">
                <a:moveTo>
                  <a:pt x="0" y="0"/>
                </a:moveTo>
                <a:lnTo>
                  <a:pt x="3525795" y="0"/>
                </a:lnTo>
                <a:lnTo>
                  <a:pt x="3525795" y="2560838"/>
                </a:lnTo>
                <a:lnTo>
                  <a:pt x="0" y="2560838"/>
                </a:lnTo>
                <a:close/>
              </a:path>
            </a:pathLst>
          </a:custGeom>
          <a:pattFill prst="pct5">
            <a:fgClr>
              <a:schemeClr val="accent1"/>
            </a:fgClr>
            <a:bgClr>
              <a:schemeClr val="accent4">
                <a:lumMod val="20000"/>
                <a:lumOff val="80000"/>
              </a:schemeClr>
            </a:bgClr>
          </a:pattFill>
        </p:spPr>
        <p:txBody>
          <a:bodyPr wrap="square" lIns="91440" tIns="91440" rIns="91440" bIns="91440">
            <a:noAutofit/>
          </a:bodyPr>
          <a:lstStyle>
            <a:lvl1pPr marL="0" indent="0">
              <a:buNone/>
              <a:defRPr sz="1800" b="0" i="0">
                <a:latin typeface="Roboto Light" panose="02000000000000000000" pitchFamily="2" charset="0"/>
                <a:ea typeface="Roboto Light" panose="02000000000000000000" pitchFamily="2" charset="0"/>
              </a:defRPr>
            </a:lvl1pPr>
          </a:lstStyle>
          <a:p>
            <a:endParaRPr lang="en-US"/>
          </a:p>
        </p:txBody>
      </p:sp>
      <p:sp>
        <p:nvSpPr>
          <p:cNvPr id="5" name="Picture Placeholder 4">
            <a:extLst>
              <a:ext uri="{FF2B5EF4-FFF2-40B4-BE49-F238E27FC236}">
                <a16:creationId xmlns:a16="http://schemas.microsoft.com/office/drawing/2014/main" id="{91546D6E-F5E7-12C9-9BA0-07418A64A194}"/>
              </a:ext>
            </a:extLst>
          </p:cNvPr>
          <p:cNvSpPr>
            <a:spLocks noGrp="1"/>
          </p:cNvSpPr>
          <p:nvPr>
            <p:ph type="pic" sz="quarter" idx="10"/>
          </p:nvPr>
        </p:nvSpPr>
        <p:spPr>
          <a:xfrm>
            <a:off x="8666206" y="868162"/>
            <a:ext cx="3525795" cy="2560838"/>
          </a:xfrm>
          <a:custGeom>
            <a:avLst/>
            <a:gdLst>
              <a:gd name="connsiteX0" fmla="*/ 0 w 3525795"/>
              <a:gd name="connsiteY0" fmla="*/ 0 h 2560838"/>
              <a:gd name="connsiteX1" fmla="*/ 3525795 w 3525795"/>
              <a:gd name="connsiteY1" fmla="*/ 0 h 2560838"/>
              <a:gd name="connsiteX2" fmla="*/ 3525795 w 3525795"/>
              <a:gd name="connsiteY2" fmla="*/ 2560838 h 2560838"/>
              <a:gd name="connsiteX3" fmla="*/ 0 w 3525795"/>
              <a:gd name="connsiteY3" fmla="*/ 2560838 h 2560838"/>
            </a:gdLst>
            <a:ahLst/>
            <a:cxnLst>
              <a:cxn ang="0">
                <a:pos x="connsiteX0" y="connsiteY0"/>
              </a:cxn>
              <a:cxn ang="0">
                <a:pos x="connsiteX1" y="connsiteY1"/>
              </a:cxn>
              <a:cxn ang="0">
                <a:pos x="connsiteX2" y="connsiteY2"/>
              </a:cxn>
              <a:cxn ang="0">
                <a:pos x="connsiteX3" y="connsiteY3"/>
              </a:cxn>
            </a:cxnLst>
            <a:rect l="l" t="t" r="r" b="b"/>
            <a:pathLst>
              <a:path w="3525795" h="2560838">
                <a:moveTo>
                  <a:pt x="0" y="0"/>
                </a:moveTo>
                <a:lnTo>
                  <a:pt x="3525795" y="0"/>
                </a:lnTo>
                <a:lnTo>
                  <a:pt x="3525795" y="2560838"/>
                </a:lnTo>
                <a:lnTo>
                  <a:pt x="0" y="2560838"/>
                </a:lnTo>
                <a:close/>
              </a:path>
            </a:pathLst>
          </a:custGeom>
          <a:pattFill prst="pct5">
            <a:fgClr>
              <a:schemeClr val="accent1"/>
            </a:fgClr>
            <a:bgClr>
              <a:schemeClr val="accent6">
                <a:lumMod val="20000"/>
                <a:lumOff val="80000"/>
              </a:schemeClr>
            </a:bgClr>
          </a:pattFill>
        </p:spPr>
        <p:txBody>
          <a:bodyPr wrap="square" lIns="91440" tIns="91440" rIns="91440" bIns="91440">
            <a:noAutofit/>
          </a:bodyPr>
          <a:lstStyle>
            <a:lvl1pPr marL="0" indent="0">
              <a:buNone/>
              <a:defRPr sz="1800" b="0" i="0">
                <a:latin typeface="Roboto Light" panose="02000000000000000000" pitchFamily="2" charset="0"/>
                <a:ea typeface="Roboto Light" panose="02000000000000000000" pitchFamily="2" charset="0"/>
              </a:defRPr>
            </a:lvl1pPr>
          </a:lstStyle>
          <a:p>
            <a:endParaRPr lang="en-US"/>
          </a:p>
        </p:txBody>
      </p:sp>
    </p:spTree>
    <p:extLst>
      <p:ext uri="{BB962C8B-B14F-4D97-AF65-F5344CB8AC3E}">
        <p14:creationId xmlns:p14="http://schemas.microsoft.com/office/powerpoint/2010/main" val="39910992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grpId="0" nodeType="withEffect">
                                  <p:stCondLst>
                                    <p:cond delay="150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1+#ppt_w/2"/>
                                          </p:val>
                                        </p:tav>
                                        <p:tav tm="100000">
                                          <p:val>
                                            <p:strVal val="#ppt_x"/>
                                          </p:val>
                                        </p:tav>
                                      </p:tavLst>
                                    </p:anim>
                                    <p:anim calcmode="lin" valueType="num">
                                      <p:cBhvr additive="base">
                                        <p:cTn id="8" dur="500" fill="hold"/>
                                        <p:tgtEl>
                                          <p:spTgt spid="5"/>
                                        </p:tgtEl>
                                        <p:attrNameLst>
                                          <p:attrName>ppt_y</p:attrName>
                                        </p:attrNameLst>
                                      </p:cBhvr>
                                      <p:tavLst>
                                        <p:tav tm="0">
                                          <p:val>
                                            <p:strVal val="#ppt_y"/>
                                          </p:val>
                                        </p:tav>
                                        <p:tav tm="100000">
                                          <p:val>
                                            <p:strVal val="#ppt_y"/>
                                          </p:val>
                                        </p:tav>
                                      </p:tavLst>
                                    </p:anim>
                                  </p:childTnLst>
                                </p:cTn>
                              </p:par>
                              <p:par>
                                <p:cTn id="9" presetID="2" presetClass="entr" presetSubtype="2" accel="50000" decel="50000" fill="hold" grpId="0" nodeType="withEffect">
                                  <p:stCondLst>
                                    <p:cond delay="175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500" fill="hold"/>
                                        <p:tgtEl>
                                          <p:spTgt spid="7"/>
                                        </p:tgtEl>
                                        <p:attrNameLst>
                                          <p:attrName>ppt_x</p:attrName>
                                        </p:attrNameLst>
                                      </p:cBhvr>
                                      <p:tavLst>
                                        <p:tav tm="0">
                                          <p:val>
                                            <p:strVal val="1+#ppt_w/2"/>
                                          </p:val>
                                        </p:tav>
                                        <p:tav tm="100000">
                                          <p:val>
                                            <p:strVal val="#ppt_x"/>
                                          </p:val>
                                        </p:tav>
                                      </p:tavLst>
                                    </p:anim>
                                    <p:anim calcmode="lin" valueType="num">
                                      <p:cBhvr additive="base">
                                        <p:cTn id="12" dur="500" fill="hold"/>
                                        <p:tgtEl>
                                          <p:spTgt spid="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5" grpId="0" animBg="1"/>
    </p:bld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11_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18462359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Content" type="obj">
  <p:cSld name="Title and Content">
    <p:spTree>
      <p:nvGrpSpPr>
        <p:cNvPr id="1" name="Shape 15"/>
        <p:cNvGrpSpPr/>
        <p:nvPr/>
      </p:nvGrpSpPr>
      <p:grpSpPr>
        <a:xfrm>
          <a:off x="0" y="0"/>
          <a:ext cx="0" cy="0"/>
          <a:chOff x="0" y="0"/>
          <a:chExt cx="0" cy="0"/>
        </a:xfrm>
      </p:grpSpPr>
      <p:sp>
        <p:nvSpPr>
          <p:cNvPr id="16" name="Google Shape;16;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25"/>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182" lvl="0" indent="-342886" algn="l">
              <a:lnSpc>
                <a:spcPct val="90000"/>
              </a:lnSpc>
              <a:spcBef>
                <a:spcPts val="1000"/>
              </a:spcBef>
              <a:spcAft>
                <a:spcPts val="0"/>
              </a:spcAft>
              <a:buClr>
                <a:schemeClr val="dk1"/>
              </a:buClr>
              <a:buSzPts val="1800"/>
              <a:buChar char="•"/>
              <a:defRPr/>
            </a:lvl1pPr>
            <a:lvl2pPr marL="914363" lvl="1" indent="-342886" algn="l">
              <a:lnSpc>
                <a:spcPct val="90000"/>
              </a:lnSpc>
              <a:spcBef>
                <a:spcPts val="500"/>
              </a:spcBef>
              <a:spcAft>
                <a:spcPts val="0"/>
              </a:spcAft>
              <a:buClr>
                <a:schemeClr val="dk1"/>
              </a:buClr>
              <a:buSzPts val="1800"/>
              <a:buChar char="•"/>
              <a:defRPr/>
            </a:lvl2pPr>
            <a:lvl3pPr marL="1371545" lvl="2" indent="-342886" algn="l">
              <a:lnSpc>
                <a:spcPct val="90000"/>
              </a:lnSpc>
              <a:spcBef>
                <a:spcPts val="500"/>
              </a:spcBef>
              <a:spcAft>
                <a:spcPts val="0"/>
              </a:spcAft>
              <a:buClr>
                <a:schemeClr val="dk1"/>
              </a:buClr>
              <a:buSzPts val="1800"/>
              <a:buChar char="•"/>
              <a:defRPr/>
            </a:lvl3pPr>
            <a:lvl4pPr marL="1828727" lvl="3" indent="-342886" algn="l">
              <a:lnSpc>
                <a:spcPct val="90000"/>
              </a:lnSpc>
              <a:spcBef>
                <a:spcPts val="500"/>
              </a:spcBef>
              <a:spcAft>
                <a:spcPts val="0"/>
              </a:spcAft>
              <a:buClr>
                <a:schemeClr val="dk1"/>
              </a:buClr>
              <a:buSzPts val="1800"/>
              <a:buChar char="•"/>
              <a:defRPr/>
            </a:lvl4pPr>
            <a:lvl5pPr marL="2285909" lvl="4" indent="-342886" algn="l">
              <a:lnSpc>
                <a:spcPct val="90000"/>
              </a:lnSpc>
              <a:spcBef>
                <a:spcPts val="500"/>
              </a:spcBef>
              <a:spcAft>
                <a:spcPts val="0"/>
              </a:spcAft>
              <a:buClr>
                <a:schemeClr val="dk1"/>
              </a:buClr>
              <a:buSzPts val="1800"/>
              <a:buChar char="•"/>
              <a:defRPr/>
            </a:lvl5pPr>
            <a:lvl6pPr marL="2743090" lvl="5" indent="-342886" algn="l">
              <a:lnSpc>
                <a:spcPct val="90000"/>
              </a:lnSpc>
              <a:spcBef>
                <a:spcPts val="500"/>
              </a:spcBef>
              <a:spcAft>
                <a:spcPts val="0"/>
              </a:spcAft>
              <a:buClr>
                <a:schemeClr val="dk1"/>
              </a:buClr>
              <a:buSzPts val="1800"/>
              <a:buChar char="•"/>
              <a:defRPr/>
            </a:lvl6pPr>
            <a:lvl7pPr marL="3200272" lvl="6" indent="-342886" algn="l">
              <a:lnSpc>
                <a:spcPct val="90000"/>
              </a:lnSpc>
              <a:spcBef>
                <a:spcPts val="500"/>
              </a:spcBef>
              <a:spcAft>
                <a:spcPts val="0"/>
              </a:spcAft>
              <a:buClr>
                <a:schemeClr val="dk1"/>
              </a:buClr>
              <a:buSzPts val="1800"/>
              <a:buChar char="•"/>
              <a:defRPr/>
            </a:lvl7pPr>
            <a:lvl8pPr marL="3657454" lvl="7" indent="-342886" algn="l">
              <a:lnSpc>
                <a:spcPct val="90000"/>
              </a:lnSpc>
              <a:spcBef>
                <a:spcPts val="500"/>
              </a:spcBef>
              <a:spcAft>
                <a:spcPts val="0"/>
              </a:spcAft>
              <a:buClr>
                <a:schemeClr val="dk1"/>
              </a:buClr>
              <a:buSzPts val="1800"/>
              <a:buChar char="•"/>
              <a:defRPr/>
            </a:lvl8pPr>
            <a:lvl9pPr marL="4114635" lvl="8" indent="-342886" algn="l">
              <a:lnSpc>
                <a:spcPct val="90000"/>
              </a:lnSpc>
              <a:spcBef>
                <a:spcPts val="500"/>
              </a:spcBef>
              <a:spcAft>
                <a:spcPts val="0"/>
              </a:spcAft>
              <a:buClr>
                <a:schemeClr val="dk1"/>
              </a:buClr>
              <a:buSzPts val="1800"/>
              <a:buChar char="•"/>
              <a:defRPr/>
            </a:lvl9pPr>
          </a:lstStyle>
          <a:p>
            <a:endParaRPr/>
          </a:p>
        </p:txBody>
      </p:sp>
      <p:sp>
        <p:nvSpPr>
          <p:cNvPr id="18" name="Google Shape;18;p25"/>
          <p:cNvSpPr txBox="1">
            <a:spLocks noGrp="1"/>
          </p:cNvSpPr>
          <p:nvPr>
            <p:ph type="dt" idx="10"/>
          </p:nvPr>
        </p:nvSpPr>
        <p:spPr>
          <a:xfrm>
            <a:off x="838200" y="6356351"/>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25"/>
          <p:cNvSpPr txBox="1">
            <a:spLocks noGrp="1"/>
          </p:cNvSpPr>
          <p:nvPr>
            <p:ph type="ftr" idx="11"/>
          </p:nvPr>
        </p:nvSpPr>
        <p:spPr>
          <a:xfrm>
            <a:off x="4038600" y="6356351"/>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25"/>
          <p:cNvSpPr txBox="1">
            <a:spLocks noGrp="1"/>
          </p:cNvSpPr>
          <p:nvPr>
            <p:ph type="sldNum" idx="12"/>
          </p:nvPr>
        </p:nvSpPr>
        <p:spPr>
          <a:xfrm>
            <a:off x="8610600" y="6356351"/>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MY" smtClean="0"/>
              <a:pPr/>
              <a:t>‹#›</a:t>
            </a:fld>
            <a:endParaRPr lang="en-MY"/>
          </a:p>
        </p:txBody>
      </p:sp>
    </p:spTree>
    <p:extLst>
      <p:ext uri="{BB962C8B-B14F-4D97-AF65-F5344CB8AC3E}">
        <p14:creationId xmlns:p14="http://schemas.microsoft.com/office/powerpoint/2010/main" val="11459965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cSld name="Blank">
    <p:spTree>
      <p:nvGrpSpPr>
        <p:cNvPr id="1" name=""/>
        <p:cNvGrpSpPr/>
        <p:nvPr/>
      </p:nvGrpSpPr>
      <p:grpSpPr>
        <a:xfrm>
          <a:off x="0" y="0"/>
          <a:ext cx="0" cy="0"/>
          <a:chOff x="0" y="0"/>
          <a:chExt cx="0" cy="0"/>
        </a:xfrm>
      </p:grpSpPr>
      <p:sp>
        <p:nvSpPr>
          <p:cNvPr id="29" name="Title Placeholder 1">
            <a:extLst>
              <a:ext uri="{FF2B5EF4-FFF2-40B4-BE49-F238E27FC236}">
                <a16:creationId xmlns:a16="http://schemas.microsoft.com/office/drawing/2014/main" id="{8F1E2742-D414-F4F1-C791-24DC8FA6BC89}"/>
              </a:ext>
            </a:extLst>
          </p:cNvPr>
          <p:cNvSpPr>
            <a:spLocks noGrp="1"/>
          </p:cNvSpPr>
          <p:nvPr>
            <p:ph type="title"/>
          </p:nvPr>
        </p:nvSpPr>
        <p:spPr>
          <a:xfrm>
            <a:off x="1" y="-622575"/>
            <a:ext cx="11125200" cy="463985"/>
          </a:xfrm>
          <a:prstGeom prst="rect">
            <a:avLst/>
          </a:prstGeom>
        </p:spPr>
        <p:txBody>
          <a:bodyPr vert="horz" lIns="0" tIns="0" rIns="0" bIns="0" rtlCol="0" anchor="ctr" anchorCtr="0">
            <a:noAutofit/>
          </a:bodyPr>
          <a:lstStyle>
            <a:lvl1pPr>
              <a:defRPr sz="1600">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242054167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619A2C1-868B-E048-BC42-05B15F482131}"/>
              </a:ext>
            </a:extLst>
          </p:cNvPr>
          <p:cNvSpPr>
            <a:spLocks noGrp="1"/>
          </p:cNvSpPr>
          <p:nvPr>
            <p:ph type="title"/>
          </p:nvPr>
        </p:nvSpPr>
        <p:spPr>
          <a:xfrm>
            <a:off x="533400" y="419099"/>
            <a:ext cx="11125200" cy="463985"/>
          </a:xfrm>
          <a:prstGeom prst="rect">
            <a:avLst/>
          </a:prstGeom>
        </p:spPr>
        <p:txBody>
          <a:bodyPr vert="horz" lIns="0" tIns="0" rIns="0" bIns="0" rtlCol="0" anchor="t">
            <a:noAutofit/>
          </a:bodyPr>
          <a:lstStyle/>
          <a:p>
            <a:r>
              <a:rPr lang="en-GB" dirty="0"/>
              <a:t>Click to edit Master title style</a:t>
            </a:r>
            <a:endParaRPr lang="en-US" dirty="0"/>
          </a:p>
        </p:txBody>
      </p:sp>
      <p:sp>
        <p:nvSpPr>
          <p:cNvPr id="3" name="Text Placeholder 2">
            <a:extLst>
              <a:ext uri="{FF2B5EF4-FFF2-40B4-BE49-F238E27FC236}">
                <a16:creationId xmlns:a16="http://schemas.microsoft.com/office/drawing/2014/main" id="{E2E175A4-F8EA-2E4A-A9FC-8E6DA130CB25}"/>
              </a:ext>
            </a:extLst>
          </p:cNvPr>
          <p:cNvSpPr>
            <a:spLocks noGrp="1"/>
          </p:cNvSpPr>
          <p:nvPr>
            <p:ph type="body" idx="1"/>
          </p:nvPr>
        </p:nvSpPr>
        <p:spPr>
          <a:xfrm>
            <a:off x="533400" y="1460500"/>
            <a:ext cx="11125200" cy="4351338"/>
          </a:xfrm>
          <a:prstGeom prst="rect">
            <a:avLst/>
          </a:prstGeom>
        </p:spPr>
        <p:txBody>
          <a:bodyPr vert="horz" lIns="0" tIns="0" rIns="0" bIns="0" rtlCol="0">
            <a:no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Date Placeholder 3">
            <a:extLst>
              <a:ext uri="{FF2B5EF4-FFF2-40B4-BE49-F238E27FC236}">
                <a16:creationId xmlns:a16="http://schemas.microsoft.com/office/drawing/2014/main" id="{6FFFA472-F704-9D4A-AE43-BF8DA1CC6404}"/>
              </a:ext>
            </a:extLst>
          </p:cNvPr>
          <p:cNvSpPr>
            <a:spLocks noGrp="1"/>
          </p:cNvSpPr>
          <p:nvPr>
            <p:ph type="dt" sz="half" idx="2"/>
          </p:nvPr>
        </p:nvSpPr>
        <p:spPr>
          <a:xfrm>
            <a:off x="9896606" y="6445229"/>
            <a:ext cx="756781" cy="187367"/>
          </a:xfrm>
          <a:prstGeom prst="rect">
            <a:avLst/>
          </a:prstGeom>
        </p:spPr>
        <p:txBody>
          <a:bodyPr vert="horz" lIns="0" tIns="0" rIns="0" bIns="0" rtlCol="0" anchor="ctr"/>
          <a:lstStyle>
            <a:lvl1pPr algn="ctr">
              <a:defRPr sz="1000">
                <a:solidFill>
                  <a:schemeClr val="bg1">
                    <a:lumMod val="50000"/>
                  </a:schemeClr>
                </a:solidFill>
              </a:defRPr>
            </a:lvl1pPr>
          </a:lstStyle>
          <a:p>
            <a:fld id="{B2896C5E-20F6-5143-9F77-A8D16BC84A78}" type="datetimeFigureOut">
              <a:rPr lang="en-US" smtClean="0"/>
              <a:pPr/>
              <a:t>7/26/2026</a:t>
            </a:fld>
            <a:endParaRPr lang="en-US" dirty="0"/>
          </a:p>
        </p:txBody>
      </p:sp>
      <p:sp>
        <p:nvSpPr>
          <p:cNvPr id="5" name="Footer Placeholder 4">
            <a:extLst>
              <a:ext uri="{FF2B5EF4-FFF2-40B4-BE49-F238E27FC236}">
                <a16:creationId xmlns:a16="http://schemas.microsoft.com/office/drawing/2014/main" id="{F537EDD9-B49B-1342-9401-0E870BD269D0}"/>
              </a:ext>
            </a:extLst>
          </p:cNvPr>
          <p:cNvSpPr>
            <a:spLocks noGrp="1"/>
          </p:cNvSpPr>
          <p:nvPr>
            <p:ph type="ftr" sz="quarter" idx="3"/>
          </p:nvPr>
        </p:nvSpPr>
        <p:spPr>
          <a:xfrm>
            <a:off x="533399" y="6445229"/>
            <a:ext cx="9237947" cy="187367"/>
          </a:xfrm>
          <a:prstGeom prst="rect">
            <a:avLst/>
          </a:prstGeom>
        </p:spPr>
        <p:txBody>
          <a:bodyPr vert="horz" lIns="0" tIns="0" rIns="0" bIns="0" rtlCol="0" anchor="ctr"/>
          <a:lstStyle>
            <a:lvl1pPr algn="l">
              <a:defRPr sz="1000">
                <a:solidFill>
                  <a:schemeClr val="bg1">
                    <a:lumMod val="50000"/>
                  </a:schemeClr>
                </a:solidFill>
              </a:defRPr>
            </a:lvl1pPr>
          </a:lstStyle>
          <a:p>
            <a:endParaRPr lang="en-US"/>
          </a:p>
        </p:txBody>
      </p:sp>
      <p:sp>
        <p:nvSpPr>
          <p:cNvPr id="6" name="Slide Number Placeholder 5">
            <a:extLst>
              <a:ext uri="{FF2B5EF4-FFF2-40B4-BE49-F238E27FC236}">
                <a16:creationId xmlns:a16="http://schemas.microsoft.com/office/drawing/2014/main" id="{A80051E2-0E41-A34C-8D98-2FD15D190DD1}"/>
              </a:ext>
            </a:extLst>
          </p:cNvPr>
          <p:cNvSpPr>
            <a:spLocks noGrp="1"/>
          </p:cNvSpPr>
          <p:nvPr>
            <p:ph type="sldNum" sz="quarter" idx="4"/>
          </p:nvPr>
        </p:nvSpPr>
        <p:spPr>
          <a:xfrm>
            <a:off x="10778646" y="6445229"/>
            <a:ext cx="879953" cy="187367"/>
          </a:xfrm>
          <a:prstGeom prst="rect">
            <a:avLst/>
          </a:prstGeom>
        </p:spPr>
        <p:txBody>
          <a:bodyPr vert="horz" lIns="0" tIns="0" rIns="0" bIns="0" rtlCol="0" anchor="ctr"/>
          <a:lstStyle>
            <a:lvl1pPr algn="r">
              <a:defRPr sz="1000">
                <a:solidFill>
                  <a:schemeClr val="bg1">
                    <a:lumMod val="50000"/>
                  </a:schemeClr>
                </a:solidFill>
              </a:defRPr>
            </a:lvl1pPr>
          </a:lstStyle>
          <a:p>
            <a:fld id="{914EC2E2-0820-654D-85EB-EBA0A2E7E8B4}" type="slidenum">
              <a:rPr lang="en-US" smtClean="0"/>
              <a:pPr/>
              <a:t>‹#›</a:t>
            </a:fld>
            <a:endParaRPr lang="en-US"/>
          </a:p>
        </p:txBody>
      </p:sp>
    </p:spTree>
    <p:extLst>
      <p:ext uri="{BB962C8B-B14F-4D97-AF65-F5344CB8AC3E}">
        <p14:creationId xmlns:p14="http://schemas.microsoft.com/office/powerpoint/2010/main" val="3914225784"/>
      </p:ext>
    </p:extLst>
  </p:cSld>
  <p:clrMap bg1="lt1" tx1="dk1" bg2="lt2" tx2="dk2" accent1="accent1" accent2="accent2" accent3="accent3" accent4="accent4" accent5="accent5" accent6="accent6" hlink="hlink" folHlink="folHlink"/>
  <p:sldLayoutIdLst>
    <p:sldLayoutId id="2147483658" r:id="rId1"/>
    <p:sldLayoutId id="2147483660" r:id="rId2"/>
    <p:sldLayoutId id="2147483662" r:id="rId3"/>
    <p:sldLayoutId id="2147483663" r:id="rId4"/>
    <p:sldLayoutId id="2147483666" r:id="rId5"/>
    <p:sldLayoutId id="2147483687" r:id="rId6"/>
    <p:sldLayoutId id="2147483703" r:id="rId7"/>
  </p:sldLayoutIdLst>
  <p:txStyles>
    <p:titleStyle>
      <a:lvl1pPr algn="l" defTabSz="914400" rtl="0" eaLnBrk="1" latinLnBrk="0" hangingPunct="1">
        <a:lnSpc>
          <a:spcPct val="90000"/>
        </a:lnSpc>
        <a:spcBef>
          <a:spcPct val="0"/>
        </a:spcBef>
        <a:buNone/>
        <a:defRPr sz="3200" kern="1200">
          <a:solidFill>
            <a:schemeClr val="tx1">
              <a:lumMod val="75000"/>
              <a:lumOff val="25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lumMod val="75000"/>
              <a:lumOff val="2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lumMod val="75000"/>
              <a:lumOff val="2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456" userDrawn="1">
          <p15:clr>
            <a:srgbClr val="F26B43"/>
          </p15:clr>
        </p15:guide>
        <p15:guide id="3" pos="7224" userDrawn="1">
          <p15:clr>
            <a:srgbClr val="F26B43"/>
          </p15:clr>
        </p15:guide>
        <p15:guide id="4" orient="horz" pos="264" userDrawn="1">
          <p15:clr>
            <a:srgbClr val="F26B43"/>
          </p15:clr>
        </p15:guide>
        <p15:guide id="6" orient="horz" pos="405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Komponen Landskap</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Komponen Landskap</a:t>
            </a:r>
          </a:p>
        </p:txBody>
      </p:sp>
      <p:sp>
        <p:nvSpPr>
          <p:cNvPr id="20" name="Course"/>
          <p:cNvSpPr txBox="1"/>
          <p:nvPr/>
        </p:nvSpPr>
        <p:spPr>
          <a:xfrm>
            <a:off x="723930" y="1225296"/>
            <a:ext cx="10744200" cy="365760"/>
          </a:xfrm>
          <a:prstGeom prst="rect">
            <a:avLst/>
          </a:prstGeom>
          <a:noFill/>
        </p:spPr>
        <p:txBody>
          <a:bodyPr wrap="square">
            <a:noAutofit/>
          </a:bodyPr>
          <a:lstStyle/>
          <a:p>
            <a:pPr/>
            <a:r>
              <a:rPr lang="en-MY" sz="1500" b="1" dirty="0">
                <a:solidFill>
                  <a:srgbClr val="7F6000"/>
                </a:solidFill>
              </a:rPr>
              <a:t>KURSUS KERJA BANGUNAN – PEMBINAAN LANDSKAP LUAR</a:t>
            </a:r>
          </a:p>
        </p:txBody>
      </p:sp>
      <p:sp>
        <p:nvSpPr>
          <p:cNvPr id="21" name="PL"/>
          <p:cNvSpPr txBox="1"/>
          <p:nvPr/>
        </p:nvSpPr>
        <p:spPr>
          <a:xfrm>
            <a:off x="723930" y="1700784"/>
            <a:ext cx="10744200" cy="420624"/>
          </a:xfrm>
          <a:prstGeom prst="rect">
            <a:avLst/>
          </a:prstGeom>
          <a:noFill/>
        </p:spPr>
        <p:txBody>
          <a:bodyPr wrap="square">
            <a:noAutofit/>
          </a:bodyPr>
          <a:lstStyle/>
          <a:p>
            <a:pPr/>
            <a:r>
              <a:rPr lang="en-MY" sz="1900" b="1" dirty="0">
                <a:solidFill>
                  <a:schemeClr val="tx1">
                    <a:lumMod val="85000"/>
                    <a:lumOff val="15000"/>
                  </a:schemeClr>
                </a:solidFill>
              </a:rPr>
              <a:t>PL06: Pengurusan Operasi Pembinaan Landskap</a:t>
            </a:r>
          </a:p>
        </p:txBody>
      </p:sp>
      <p:sp>
        <p:nvSpPr>
          <p:cNvPr id="22" name="Topic"/>
          <p:cNvSpPr txBox="1"/>
          <p:nvPr/>
        </p:nvSpPr>
        <p:spPr>
          <a:xfrm>
            <a:off x="723930" y="2176272"/>
            <a:ext cx="10744200" cy="420624"/>
          </a:xfrm>
          <a:prstGeom prst="rect">
            <a:avLst/>
          </a:prstGeom>
          <a:noFill/>
        </p:spPr>
        <p:txBody>
          <a:bodyPr wrap="square">
            <a:noAutofit/>
          </a:bodyPr>
          <a:lstStyle/>
          <a:p>
            <a:pPr/>
            <a:r>
              <a:rPr lang="en-MY" sz="1900" b="1" dirty="0">
                <a:solidFill>
                  <a:schemeClr val="tx1">
                    <a:lumMod val="85000"/>
                    <a:lumOff val="15000"/>
                  </a:schemeClr>
                </a:solidFill>
              </a:rPr>
              <a:t>Topik 3 Bahagian 2: Komponen Landskap</a:t>
            </a:r>
          </a:p>
        </p:txBody>
      </p:sp>
      <p:sp>
        <p:nvSpPr>
          <p:cNvPr id="30" name="VisualDir"/>
          <p:cNvSpPr txBox="1"/>
          <p:nvPr/>
        </p:nvSpPr>
        <p:spPr>
          <a:xfrm>
            <a:off x="723930" y="3017520"/>
            <a:ext cx="10744200" cy="1133856"/>
          </a:xfrm>
          <a:prstGeom prst="rect">
            <a:avLst/>
          </a:prstGeom>
          <a:noFill/>
        </p:spPr>
        <p:txBody>
          <a:bodyPr wrap="square">
            <a:noAutofit/>
          </a:bodyPr>
          <a:lstStyle/>
          <a:p>
            <a:pPr/>
            <a:r>
              <a:rPr lang="en-MY" sz="1100" dirty="0">
                <a:solidFill>
                  <a:srgbClr val="808080"/>
                </a:solidFill>
              </a:rPr>
              <a:t>ARAHAN VISUAL — SPESIFIKASI SAHAJA</a:t>
            </a:r>
          </a:p>
          <a:p>
            <a:pPr/>
            <a:r>
              <a:rPr lang="en-MY" sz="1100" dirty="0">
                <a:solidFill>
                  <a:srgbClr val="808080"/>
                </a:solidFill>
              </a:rPr>
              <a:t>[Visual: Imej pembuka bahagian — foto tapak landskap siap yang</a:t>
            </a:r>
          </a:p>
          <a:p>
            <a:pPr/>
            <a:r>
              <a:rPr lang="en-MY" sz="1100" dirty="0">
                <a:solidFill>
                  <a:srgbClr val="808080"/>
                </a:solidFill>
              </a:rPr>
              <a:t>memaparkan struktur taman dan perabot taman dalam satu bingkai.</a:t>
            </a:r>
          </a:p>
          <a:p>
            <a:pPr/>
            <a:r>
              <a:rPr lang="en-MY" sz="1100" dirty="0">
                <a:solidFill>
                  <a:srgbClr val="808080"/>
                </a:solidFill>
              </a:rPr>
              <a:t>Tidak dibenamkan.]</a:t>
            </a:r>
          </a:p>
        </p:txBody>
      </p:sp>
      <p:sp>
        <p:nvSpPr>
          <p:cNvPr id="96" name="Btn"/>
          <p:cNvSpPr txBox="1"/>
          <p:nvPr/>
        </p:nvSpPr>
        <p:spPr>
          <a:xfrm>
            <a:off x="5295885" y="6419088"/>
            <a:ext cx="1600200" cy="347472"/>
          </a:xfrm>
          <a:prstGeom prst="rect">
            <a:avLst/>
          </a:prstGeom>
          <a:solidFill>
            <a:srgbClr val="1F4E79"/>
          </a:solidFill>
          <a:ln w="12700">
            <a:solidFill>
              <a:srgbClr val="1F4E79"/>
            </a:solidFill>
          </a:ln>
        </p:spPr>
        <p:txBody>
          <a:bodyPr wrap="square" anchor="ctr">
            <a:noAutofit/>
          </a:bodyPr>
          <a:lstStyle/>
          <a:p>
            <a:pPr algn="ctr"/>
            <a:r>
              <a:rPr lang="en-MY" sz="1600" b="1" dirty="0">
                <a:solidFill>
                  <a:srgbClr val="FFFFFF"/>
                </a:solidFill>
              </a:rPr>
              <a:t>MULA</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Topik 3 Bahagian 2 — mula bahagian</a:t>
            </a:r>
          </a:p>
          <a:p>
            <a:r>
              <a:rPr lang="en-MY" sz="900" dirty="0">
                <a:solidFill>
                  <a:schemeClr val="tx1">
                    <a:lumMod val="85000"/>
                    <a:lumOff val="15000"/>
                  </a:schemeClr>
                </a:solidFill>
              </a:rPr>
              <a:t>KELUARGA PELAKSANAAN: FRAME</a:t>
            </a:r>
          </a:p>
          <a:p>
            <a:r>
              <a:rPr lang="en-MY" sz="900" dirty="0">
                <a:solidFill>
                  <a:schemeClr val="tx1">
                    <a:lumMod val="85000"/>
                    <a:lumOff val="15000"/>
                  </a:schemeClr>
                </a:solidFill>
              </a:rPr>
              <a:t>PERANAN HALAMAN SEMAKAN: TOPIC_SECTION_ENTRY_BASE</a:t>
            </a:r>
          </a:p>
          <a:p>
            <a:r>
              <a:rPr lang="en-MY" sz="900" dirty="0">
                <a:solidFill>
                  <a:schemeClr val="tx1">
                    <a:lumMod val="85000"/>
                    <a:lumOff val="15000"/>
                  </a:schemeClr>
                </a:solidFill>
              </a:rPr>
              <a:t/>
            </a:r>
          </a:p>
          <a:p>
            <a:r>
              <a:rPr lang="en-MY" sz="900" dirty="0">
                <a:solidFill>
                  <a:schemeClr val="tx1">
                    <a:lumMod val="85000"/>
                    <a:lumOff val="15000"/>
                  </a:schemeClr>
                </a:solidFill>
              </a:rPr>
              <a:t>BUKTI: S01 spoken entry titles</a:t>
            </a:r>
          </a:p>
          <a:p>
            <a:r>
              <a:rPr lang="en-MY" sz="900" dirty="0">
                <a:solidFill>
                  <a:schemeClr val="tx1">
                    <a:lumMod val="85000"/>
                    <a:lumOff val="15000"/>
                  </a:schemeClr>
                </a:solidFill>
              </a:rPr>
              <a:t>POLISI NOTA: SPOKEN_ENTRY_TITLES_PLUS_ORIENTATION  (SPOKEN_ENTRY_TITLES_PLUS_ORIENTATION)</a:t>
            </a:r>
          </a:p>
          <a:p>
            <a:r>
              <a:rPr lang="en-MY" sz="900" dirty="0">
                <a:solidFill>
                  <a:schemeClr val="tx1">
                    <a:lumMod val="85000"/>
                    <a:lumOff val="15000"/>
                  </a:schemeClr>
                </a:solidFill>
              </a:rPr>
              <a:t>  konteks dituturkan: YA</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MULA_BUTTON  [always_enabled]</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NO_CONTROL</a:t>
            </a:r>
          </a:p>
          <a:p>
            <a:r>
              <a:rPr lang="en-MY" sz="900" dirty="0">
                <a:solidFill>
                  <a:schemeClr val="tx1">
                    <a:lumMod val="85000"/>
                    <a:lumOff val="15000"/>
                  </a:schemeClr>
                </a:solidFill>
              </a:rPr>
              <a:t>  return_target = —</a:t>
            </a:r>
          </a:p>
          <a:p>
            <a:r>
              <a:rPr lang="en-MY" sz="900" dirty="0">
                <a:solidFill>
                  <a:schemeClr val="tx1">
                    <a:lumMod val="85000"/>
                    <a:lumOff val="15000"/>
                  </a:schemeClr>
                </a:solidFill>
              </a:rPr>
              <a:t>SKOP SELESAI: NONE</a:t>
            </a:r>
          </a:p>
          <a:p>
            <a:r>
              <a:rPr lang="en-MY" sz="900" dirty="0">
                <a:solidFill>
                  <a:schemeClr val="tx1">
                    <a:lumMod val="85000"/>
                    <a:lumOff val="15000"/>
                  </a:schemeClr>
                </a:solidFill>
              </a:rPr>
              <a:t>PERSISTEN: NOT_APPLICABLE</a:t>
            </a:r>
          </a:p>
          <a:p>
            <a:r>
              <a:rPr lang="en-MY" sz="900" dirty="0">
                <a:solidFill>
                  <a:schemeClr val="tx1">
                    <a:lumMod val="85000"/>
                    <a:lumOff val="15000"/>
                  </a:schemeClr>
                </a:solidFill>
              </a:rPr>
              <a:t>LEVEL: pilihan interaksi 0 · lapisan skrin 0</a:t>
            </a:r>
          </a:p>
          <a:p>
            <a:r>
              <a:rPr lang="en-MY" sz="900" dirty="0">
                <a:solidFill>
                  <a:schemeClr val="tx1">
                    <a:lumMod val="85000"/>
                    <a:lumOff val="15000"/>
                  </a:schemeClr>
                </a:solidFill>
              </a:rPr>
              <a:t>INDUK: SCR_S01</a:t>
            </a:r>
          </a:p>
          <a:p>
            <a:r>
              <a:rPr lang="en-MY" sz="900" b="1" dirty="0">
                <a:solidFill>
                  <a:schemeClr val="tx1">
                    <a:lumMod val="85000"/>
                    <a:lumOff val="15000"/>
                  </a:schemeClr>
                </a:solidFill>
              </a:rPr>
              <a:t>KONTEKS HULU:</a:t>
            </a:r>
          </a:p>
          <a:p>
            <a:r>
              <a:rPr lang="en-MY" sz="900" dirty="0">
                <a:solidFill>
                  <a:schemeClr val="tx1">
                    <a:lumMod val="85000"/>
                    <a:lumOff val="15000"/>
                  </a:schemeClr>
                </a:solidFill>
              </a:rPr>
              <a:t>  COURSE_MONTAGE_COMPLETED, PL06_MONTAGE_COMPLETED</a:t>
            </a:r>
          </a:p>
          <a:p>
            <a:r>
              <a:rPr lang="en-MY" sz="900" dirty="0">
                <a:solidFill>
                  <a:schemeClr val="tx1">
                    <a:lumMod val="85000"/>
                    <a:lumOff val="15000"/>
                  </a:schemeClr>
                </a:solidFill>
              </a:rPr>
              <a:t>  Montaj Kursus dan Montaj PL06 telah menyampaikan pengenalan kursus,</a:t>
            </a:r>
          </a:p>
          <a:p>
            <a:r>
              <a:rPr lang="en-MY" sz="900" dirty="0">
                <a:solidFill>
                  <a:schemeClr val="tx1">
                    <a:lumMod val="85000"/>
                    <a:lumOff val="15000"/>
                  </a:schemeClr>
                </a:solidFill>
              </a:rPr>
              <a:t>  lapan Pakej Latihan, objektif PL06, tujuh topik PL06 dan Hilmi.</a:t>
            </a:r>
          </a:p>
          <a:p>
            <a:r>
              <a:rPr lang="en-MY" sz="900" dirty="0">
                <a:solidFill>
                  <a:schemeClr val="tx1">
                    <a:lumMod val="85000"/>
                    <a:lumOff val="15000"/>
                  </a:schemeClr>
                </a:solidFill>
              </a:rPr>
              <a:t>  Skrin ini BERMULA di aras bahagian dan TIDAK mengulanginya.</a:t>
            </a:r>
          </a:p>
          <a:p>
            <a:r>
              <a:rPr lang="en-MY" sz="900" b="1" dirty="0">
                <a:solidFill>
                  <a:schemeClr val="tx1">
                    <a:lumMod val="85000"/>
                    <a:lumOff val="15000"/>
                  </a:schemeClr>
                </a:solidFill>
              </a:rPr>
              <a:t>TRANSKRIP DITUTURKAN (slide 1 sahaja):</a:t>
            </a:r>
          </a:p>
          <a:p>
            <a:r>
              <a:rPr lang="en-MY" sz="900" dirty="0">
                <a:solidFill>
                  <a:schemeClr val="tx1">
                    <a:lumMod val="85000"/>
                    <a:lumOff val="15000"/>
                  </a:schemeClr>
                </a:solidFill>
              </a:rPr>
              <a:t>  1. PL06_TITLE</a:t>
            </a:r>
          </a:p>
          <a:p>
            <a:r>
              <a:rPr lang="en-MY" sz="900" dirty="0">
                <a:solidFill>
                  <a:schemeClr val="tx1">
                    <a:lumMod val="85000"/>
                    <a:lumOff val="15000"/>
                  </a:schemeClr>
                </a:solidFill>
              </a:rPr>
              <a:t>  2. TOPIC_BAHAGIAN_TITLE</a:t>
            </a:r>
          </a:p>
          <a:p>
            <a:r>
              <a:rPr lang="en-MY" sz="900" dirty="0">
                <a:solidFill>
                  <a:schemeClr val="tx1">
                    <a:lumMod val="85000"/>
                    <a:lumOff val="15000"/>
                  </a:schemeClr>
                </a:solidFill>
              </a:rPr>
              <a:t>  3. MINIMAL_ORIENTATION</a:t>
            </a:r>
          </a:p>
          <a:p>
            <a:r>
              <a:rPr lang="en-MY" sz="900" dirty="0">
                <a:solidFill>
                  <a:schemeClr val="tx1">
                    <a:lumMod val="85000"/>
                    <a:lumOff val="15000"/>
                  </a:schemeClr>
                </a:solidFill>
              </a:rPr>
              <a:t>  4. MULA_INSTRUCTION</a:t>
            </a:r>
          </a:p>
          <a:p>
            <a:r>
              <a:rPr lang="en-MY" sz="900" dirty="0">
                <a:solidFill>
                  <a:schemeClr val="tx1">
                    <a:lumMod val="85000"/>
                    <a:lumOff val="15000"/>
                  </a:schemeClr>
                </a:solidFill>
              </a:rPr>
              <a:t>  Tajuk kursus kekal visual sahaja — tidak dituturkan.</a:t>
            </a:r>
          </a:p>
          <a:p>
            <a:r>
              <a:rPr lang="en-MY" sz="900" b="1" dirty="0">
                <a:solidFill>
                  <a:schemeClr val="tx1">
                    <a:lumMod val="85000"/>
                    <a:lumOff val="15000"/>
                  </a:schemeClr>
                </a:solidFill>
              </a:rPr>
              <a:t>NOTA PRODUKSI:</a:t>
            </a:r>
          </a:p>
          <a:p>
            <a:r>
              <a:rPr lang="en-MY" sz="900" dirty="0">
                <a:solidFill>
                  <a:schemeClr val="tx1">
                    <a:lumMod val="85000"/>
                    <a:lumOff val="15000"/>
                  </a:schemeClr>
                </a:solidFill>
              </a:rPr>
              <a:t>  VO PL satu, bukan PL kosong satu, dan seterusnya</a:t>
            </a:r>
          </a:p>
          <a:p>
            <a:r>
              <a:rPr lang="en-MY" sz="900" dirty="0">
                <a:solidFill>
                  <a:schemeClr val="tx1">
                    <a:lumMod val="85000"/>
                    <a:lumOff val="15000"/>
                  </a:schemeClr>
                </a:solidFill>
              </a:rPr>
              <a:t>STATUS KEPUTUSAN: B02-D-06, B02-D-25, B02-D-26</a:t>
            </a:r>
          </a:p>
          <a:p>
            <a:r>
              <a:rPr lang="en-MY" sz="900" dirty="0">
                <a:solidFill>
                  <a:schemeClr val="tx1">
                    <a:lumMod val="85000"/>
                    <a:lumOff val="15000"/>
                  </a:schemeClr>
                </a:solidFill>
              </a:rPr>
              <a:t>STATUS BELUM SELESAI: NONE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Pengenalan</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Pengenalan</a:t>
            </a:r>
          </a:p>
        </p:txBody>
      </p:sp>
      <p:sp>
        <p:nvSpPr>
          <p:cNvPr id="30" name="VisualDir"/>
          <p:cNvSpPr txBox="1"/>
          <p:nvPr/>
        </p:nvSpPr>
        <p:spPr>
          <a:xfrm>
            <a:off x="723930" y="1207008"/>
            <a:ext cx="10744200" cy="877824"/>
          </a:xfrm>
          <a:prstGeom prst="rect">
            <a:avLst/>
          </a:prstGeom>
          <a:noFill/>
        </p:spPr>
        <p:txBody>
          <a:bodyPr wrap="square">
            <a:noAutofit/>
          </a:bodyPr>
          <a:lstStyle/>
          <a:p>
            <a:pPr/>
            <a:r>
              <a:rPr lang="en-MY" sz="1100" dirty="0">
                <a:solidFill>
                  <a:srgbClr val="808080"/>
                </a:solidFill>
              </a:rPr>
              <a:t>ARAHAN VISUAL — SPESIFIKASI SAHAJA</a:t>
            </a:r>
          </a:p>
          <a:p>
            <a:pPr/>
            <a:r>
              <a:rPr lang="en-MY" sz="1100" dirty="0">
                <a:solidFill>
                  <a:srgbClr val="808080"/>
                </a:solidFill>
              </a:rPr>
              <a:t>[Visual: Latar tapak landskap dalam pembinaan. Dua watak berdiri di</a:t>
            </a:r>
          </a:p>
          <a:p>
            <a:pPr/>
            <a:r>
              <a:rPr lang="en-MY" sz="1100" dirty="0">
                <a:solidFill>
                  <a:srgbClr val="808080"/>
                </a:solidFill>
              </a:rPr>
              <a:t>kawasan yang sudah ditanam, struktur taman di latar belakang.]</a:t>
            </a:r>
          </a:p>
        </p:txBody>
      </p:sp>
      <p:sp>
        <p:nvSpPr>
          <p:cNvPr id="40" name="CastName"/>
          <p:cNvSpPr txBox="1"/>
          <p:nvPr/>
        </p:nvSpPr>
        <p:spPr>
          <a:xfrm>
            <a:off x="723930" y="2286000"/>
            <a:ext cx="4572000" cy="384048"/>
          </a:xfrm>
          <a:prstGeom prst="rect">
            <a:avLst/>
          </a:prstGeom>
          <a:noFill/>
        </p:spPr>
        <p:txBody>
          <a:bodyPr wrap="square">
            <a:noAutofit/>
          </a:bodyPr>
          <a:lstStyle/>
          <a:p>
            <a:pPr/>
            <a:r>
              <a:rPr lang="en-MY" sz="1900" b="1" dirty="0">
                <a:solidFill>
                  <a:schemeClr val="tx1">
                    <a:lumMod val="85000"/>
                    <a:lumOff val="15000"/>
                  </a:schemeClr>
                </a:solidFill>
              </a:rPr>
              <a:t>Alya</a:t>
            </a:r>
          </a:p>
        </p:txBody>
      </p:sp>
      <p:sp>
        <p:nvSpPr>
          <p:cNvPr id="41" name="CastRole"/>
          <p:cNvSpPr txBox="1"/>
          <p:nvPr/>
        </p:nvSpPr>
        <p:spPr>
          <a:xfrm>
            <a:off x="723930" y="2688336"/>
            <a:ext cx="5120640" cy="310896"/>
          </a:xfrm>
          <a:prstGeom prst="rect">
            <a:avLst/>
          </a:prstGeom>
          <a:noFill/>
        </p:spPr>
        <p:txBody>
          <a:bodyPr wrap="square">
            <a:noAutofit/>
          </a:bodyPr>
          <a:lstStyle/>
          <a:p>
            <a:pPr/>
            <a:r>
              <a:rPr lang="en-MY" sz="1300" dirty="0">
                <a:solidFill>
                  <a:srgbClr val="808080"/>
                </a:solidFill>
              </a:rPr>
              <a:t>Kontraktor Junior</a:t>
            </a:r>
          </a:p>
        </p:txBody>
      </p:sp>
      <p:sp>
        <p:nvSpPr>
          <p:cNvPr id="42" name="CastName"/>
          <p:cNvSpPr txBox="1"/>
          <p:nvPr/>
        </p:nvSpPr>
        <p:spPr>
          <a:xfrm>
            <a:off x="723930" y="3291840"/>
            <a:ext cx="4572000" cy="384048"/>
          </a:xfrm>
          <a:prstGeom prst="rect">
            <a:avLst/>
          </a:prstGeom>
          <a:noFill/>
        </p:spPr>
        <p:txBody>
          <a:bodyPr wrap="square">
            <a:noAutofit/>
          </a:bodyPr>
          <a:lstStyle/>
          <a:p>
            <a:pPr/>
            <a:r>
              <a:rPr lang="en-MY" sz="1900" b="1" dirty="0">
                <a:solidFill>
                  <a:schemeClr val="tx1">
                    <a:lumMod val="85000"/>
                    <a:lumOff val="15000"/>
                  </a:schemeClr>
                </a:solidFill>
              </a:rPr>
              <a:t>Encik Rahman</a:t>
            </a:r>
          </a:p>
        </p:txBody>
      </p:sp>
      <p:sp>
        <p:nvSpPr>
          <p:cNvPr id="43" name="CastRole"/>
          <p:cNvSpPr txBox="1"/>
          <p:nvPr/>
        </p:nvSpPr>
        <p:spPr>
          <a:xfrm>
            <a:off x="723930" y="3694176"/>
            <a:ext cx="5120640" cy="310896"/>
          </a:xfrm>
          <a:prstGeom prst="rect">
            <a:avLst/>
          </a:prstGeom>
          <a:noFill/>
        </p:spPr>
        <p:txBody>
          <a:bodyPr wrap="square">
            <a:noAutofit/>
          </a:bodyPr>
          <a:lstStyle/>
          <a:p>
            <a:pPr/>
            <a:r>
              <a:rPr lang="en-MY" sz="1300" dirty="0">
                <a:solidFill>
                  <a:srgbClr val="808080"/>
                </a:solidFill>
              </a:rPr>
              <a:t>Mentor / Kontraktor Senior</a:t>
            </a:r>
          </a:p>
        </p:txBody>
      </p:sp>
      <p:sp>
        <p:nvSpPr>
          <p:cNvPr id="60" name="Note"/>
          <p:cNvSpPr txBox="1"/>
          <p:nvPr/>
        </p:nvSpPr>
        <p:spPr>
          <a:xfrm>
            <a:off x="723930" y="4663440"/>
            <a:ext cx="10744200" cy="365760"/>
          </a:xfrm>
          <a:prstGeom prst="rect">
            <a:avLst/>
          </a:prstGeom>
          <a:noFill/>
        </p:spPr>
        <p:txBody>
          <a:bodyPr wrap="square">
            <a:noAutofit/>
          </a:bodyPr>
          <a:lstStyle/>
          <a:p>
            <a:pPr/>
            <a:r>
              <a:rPr lang="en-MY" sz="1300" dirty="0">
                <a:solidFill>
                  <a:srgbClr val="808080"/>
                </a:solidFill>
              </a:rPr>
              <a:t>Dialog penuh dimainkan sebagai video watak. Teks dialog berada dalam Notes.</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Pengenalan — senario tapak</a:t>
            </a:r>
          </a:p>
          <a:p>
            <a:r>
              <a:rPr lang="en-MY" sz="900" dirty="0">
                <a:solidFill>
                  <a:schemeClr val="tx1">
                    <a:lumMod val="85000"/>
                    <a:lumOff val="15000"/>
                  </a:schemeClr>
                </a:solidFill>
              </a:rPr>
              <a:t>KELUARGA PELAKSANAAN: FRAME</a:t>
            </a:r>
          </a:p>
          <a:p>
            <a:r>
              <a:rPr lang="en-MY" sz="900" dirty="0">
                <a:solidFill>
                  <a:schemeClr val="tx1">
                    <a:lumMod val="85000"/>
                    <a:lumOff val="15000"/>
                  </a:schemeClr>
                </a:solidFill>
              </a:rPr>
              <a:t>PERANAN HALAMAN SEMAKAN: FRAME_SCENARIO_BASE</a:t>
            </a:r>
          </a:p>
          <a:p>
            <a:r>
              <a:rPr lang="en-MY" sz="900" dirty="0">
                <a:solidFill>
                  <a:schemeClr val="tx1">
                    <a:lumMod val="85000"/>
                    <a:lumOff val="15000"/>
                  </a:schemeClr>
                </a:solidFill>
              </a:rPr>
              <a:t/>
            </a:r>
          </a:p>
          <a:p>
            <a:r>
              <a:rPr lang="en-MY" sz="900" dirty="0">
                <a:solidFill>
                  <a:schemeClr val="tx1">
                    <a:lumMod val="85000"/>
                    <a:lumOff val="15000"/>
                  </a:schemeClr>
                </a:solidFill>
              </a:rPr>
              <a:t>BUKTI: S02 confirmed cast, MS2680 excluded</a:t>
            </a:r>
          </a:p>
          <a:p>
            <a:r>
              <a:rPr lang="en-MY" sz="900" dirty="0">
                <a:solidFill>
                  <a:schemeClr val="tx1">
                    <a:lumMod val="85000"/>
                    <a:lumOff val="15000"/>
                  </a:schemeClr>
                </a:solidFill>
              </a:rPr>
              <a:t>POLISI NOTA: DIALOGUE_NOTES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LMS_SHELL_NEXT  [dialogue_video_complete]</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NO_CONTROL</a:t>
            </a:r>
          </a:p>
          <a:p>
            <a:r>
              <a:rPr lang="en-MY" sz="900" dirty="0">
                <a:solidFill>
                  <a:schemeClr val="tx1">
                    <a:lumMod val="85000"/>
                    <a:lumOff val="15000"/>
                  </a:schemeClr>
                </a:solidFill>
              </a:rPr>
              <a:t>  return_target = —</a:t>
            </a:r>
          </a:p>
          <a:p>
            <a:r>
              <a:rPr lang="en-MY" sz="900" dirty="0">
                <a:solidFill>
                  <a:schemeClr val="tx1">
                    <a:lumMod val="85000"/>
                    <a:lumOff val="15000"/>
                  </a:schemeClr>
                </a:solidFill>
              </a:rPr>
              <a:t>SKOP SELESAI: NONE</a:t>
            </a:r>
          </a:p>
          <a:p>
            <a:r>
              <a:rPr lang="en-MY" sz="900" dirty="0">
                <a:solidFill>
                  <a:schemeClr val="tx1">
                    <a:lumMod val="85000"/>
                    <a:lumOff val="15000"/>
                  </a:schemeClr>
                </a:solidFill>
              </a:rPr>
              <a:t>PERSISTEN: NOT_APPLICABLE</a:t>
            </a:r>
          </a:p>
          <a:p>
            <a:r>
              <a:rPr lang="en-MY" sz="900" dirty="0">
                <a:solidFill>
                  <a:schemeClr val="tx1">
                    <a:lumMod val="85000"/>
                    <a:lumOff val="15000"/>
                  </a:schemeClr>
                </a:solidFill>
              </a:rPr>
              <a:t>LEVEL: pilihan interaksi 0 · lapisan skrin 0</a:t>
            </a:r>
          </a:p>
          <a:p>
            <a:r>
              <a:rPr lang="en-MY" sz="900" dirty="0">
                <a:solidFill>
                  <a:schemeClr val="tx1">
                    <a:lumMod val="85000"/>
                    <a:lumOff val="15000"/>
                  </a:schemeClr>
                </a:solidFill>
              </a:rPr>
              <a:t>INDUK: SCR_S02</a:t>
            </a:r>
          </a:p>
          <a:p>
            <a:r>
              <a:rPr lang="en-MY" sz="900" b="1" dirty="0">
                <a:solidFill>
                  <a:schemeClr val="tx1">
                    <a:lumMod val="85000"/>
                    <a:lumOff val="15000"/>
                  </a:schemeClr>
                </a:solidFill>
              </a:rPr>
              <a:t>WATAK:</a:t>
            </a:r>
          </a:p>
          <a:p>
            <a:r>
              <a:rPr lang="en-MY" sz="900" dirty="0">
                <a:solidFill>
                  <a:schemeClr val="tx1">
                    <a:lumMod val="85000"/>
                    <a:lumOff val="15000"/>
                  </a:schemeClr>
                </a:solidFill>
              </a:rPr>
              <a:t>  Alya — Kontraktor Junior</a:t>
            </a:r>
          </a:p>
          <a:p>
            <a:r>
              <a:rPr lang="en-MY" sz="900" dirty="0">
                <a:solidFill>
                  <a:schemeClr val="tx1">
                    <a:lumMod val="85000"/>
                    <a:lumOff val="15000"/>
                  </a:schemeClr>
                </a:solidFill>
              </a:rPr>
              <a:t>    learner proxy — junior contractor who confirms her understanding of the work scope</a:t>
            </a:r>
          </a:p>
          <a:p>
            <a:r>
              <a:rPr lang="en-MY" sz="900" dirty="0">
                <a:solidFill>
                  <a:schemeClr val="tx1">
                    <a:lumMod val="85000"/>
                    <a:lumOff val="15000"/>
                  </a:schemeClr>
                </a:solidFill>
              </a:rPr>
              <a:t>  Encik Rahman — Mentor / Kontraktor Senior Berpengalaman Landskap</a:t>
            </a:r>
          </a:p>
          <a:p>
            <a:r>
              <a:rPr lang="en-MY" sz="900" dirty="0">
                <a:solidFill>
                  <a:schemeClr val="tx1">
                    <a:lumMod val="85000"/>
                    <a:lumOff val="15000"/>
                  </a:schemeClr>
                </a:solidFill>
              </a:rPr>
              <a:t>    Penyelia Tapak / mentor who validates and extends Alya’s understanding</a:t>
            </a:r>
          </a:p>
          <a:p>
            <a:r>
              <a:rPr lang="en-MY" sz="900" dirty="0">
                <a:solidFill>
                  <a:schemeClr val="tx1">
                    <a:lumMod val="85000"/>
                    <a:lumOff val="15000"/>
                  </a:schemeClr>
                </a:solidFill>
              </a:rPr>
              <a:t>  Label peranan generik (Pelatih / Penyelia Tapak) ialah metadata produksi</a:t>
            </a:r>
          </a:p>
          <a:p>
            <a:r>
              <a:rPr lang="en-MY" sz="900" dirty="0">
                <a:solidFill>
                  <a:schemeClr val="tx1">
                    <a:lumMod val="85000"/>
                    <a:lumOff val="15000"/>
                  </a:schemeClr>
                </a:solidFill>
              </a:rPr>
              <a:t>  sahaja dan BUKAN nama akhir yang dilihat pelajar.</a:t>
            </a:r>
          </a:p>
          <a:p>
            <a:r>
              <a:rPr lang="en-MY" sz="900" b="1" dirty="0">
                <a:solidFill>
                  <a:schemeClr val="tx1">
                    <a:lumMod val="85000"/>
                    <a:lumOff val="15000"/>
                  </a:schemeClr>
                </a:solidFill>
              </a:rPr>
              <a:t>KANDUNGAN DIKELUARKAN:</a:t>
            </a:r>
          </a:p>
          <a:p>
            <a:r>
              <a:rPr lang="en-MY" sz="900" dirty="0">
                <a:solidFill>
                  <a:schemeClr val="tx1">
                    <a:lumMod val="85000"/>
                    <a:lumOff val="15000"/>
                  </a:schemeClr>
                </a:solidFill>
              </a:rPr>
              <a:t>  "Dan jangan lupa, kedua-duanya kena ikut MS2680."</a:t>
            </a:r>
          </a:p>
          <a:p>
            <a:r>
              <a:rPr lang="en-MY" sz="900" dirty="0">
                <a:solidFill>
                  <a:schemeClr val="tx1">
                    <a:lumMod val="85000"/>
                    <a:lumOff val="15000"/>
                  </a:schemeClr>
                </a:solidFill>
              </a:rPr>
              <a:t>  sebab: MS2680 applicability to both groups is not yet verified against the authoritative source</a:t>
            </a:r>
          </a:p>
          <a:p>
            <a:r>
              <a:rPr lang="en-MY" sz="900" dirty="0">
                <a:solidFill>
                  <a:schemeClr val="tx1">
                    <a:lumMod val="85000"/>
                    <a:lumOff val="15000"/>
                  </a:schemeClr>
                </a:solidFill>
              </a:rPr>
              <a:t>  status: PENDING_SOURCE_VERIFICATION</a:t>
            </a:r>
          </a:p>
          <a:p>
            <a:r>
              <a:rPr lang="en-MY" sz="900" dirty="0">
                <a:solidFill>
                  <a:schemeClr val="tx1">
                    <a:lumMod val="85000"/>
                    <a:lumOff val="15000"/>
                  </a:schemeClr>
                </a:solidFill>
              </a:rPr>
              <a:t>  gantian: none — no substitute standards claim invented</a:t>
            </a:r>
          </a:p>
          <a:p>
            <a:r>
              <a:rPr lang="en-MY" sz="900" b="1" dirty="0">
                <a:solidFill>
                  <a:schemeClr val="tx1">
                    <a:lumMod val="85000"/>
                    <a:lumOff val="15000"/>
                  </a:schemeClr>
                </a:solidFill>
              </a:rPr>
              <a:t>KESINAMBUNGAN:</a:t>
            </a:r>
          </a:p>
          <a:p>
            <a:r>
              <a:rPr lang="en-MY" sz="900" dirty="0">
                <a:solidFill>
                  <a:schemeClr val="tx1">
                    <a:lumMod val="85000"/>
                    <a:lumOff val="15000"/>
                  </a:schemeClr>
                </a:solidFill>
              </a:rPr>
              <a:t>  Start of the B02 scenario, immediately after S01. The course and PL06 are NOT reintroduced — both montages and S01 have already established them.</a:t>
            </a:r>
          </a:p>
          <a:p>
            <a:r>
              <a:rPr lang="en-MY" sz="900" dirty="0">
                <a:solidFill>
                  <a:schemeClr val="tx1">
                    <a:lumMod val="85000"/>
                    <a:lumOff val="15000"/>
                  </a:schemeClr>
                </a:solidFill>
              </a:rPr>
              <a:t>STATUS KEPUTUSAN: B02-D-17, B02-D-18, B02-D-19, B02-D-25, B02-D-26</a:t>
            </a:r>
          </a:p>
          <a:p>
            <a:r>
              <a:rPr lang="en-MY" sz="900" dirty="0">
                <a:solidFill>
                  <a:schemeClr val="tx1">
                    <a:lumMod val="85000"/>
                    <a:lumOff val="15000"/>
                  </a:schemeClr>
                </a:solidFill>
              </a:rPr>
              <a:t>STATUS BELUM SELESAI: U-01</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Pengenalan</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Pengenalan</a:t>
            </a:r>
          </a:p>
        </p:txBody>
      </p:sp>
      <p:sp>
        <p:nvSpPr>
          <p:cNvPr id="30" name="VisualDir"/>
          <p:cNvSpPr txBox="1"/>
          <p:nvPr/>
        </p:nvSpPr>
        <p:spPr>
          <a:xfrm>
            <a:off x="723930" y="1188720"/>
            <a:ext cx="4846320" cy="877824"/>
          </a:xfrm>
          <a:prstGeom prst="rect">
            <a:avLst/>
          </a:prstGeom>
          <a:noFill/>
        </p:spPr>
        <p:txBody>
          <a:bodyPr wrap="square">
            <a:noAutofit/>
          </a:bodyPr>
          <a:lstStyle/>
          <a:p>
            <a:pPr/>
            <a:r>
              <a:rPr lang="en-MY" sz="1100" dirty="0">
                <a:solidFill>
                  <a:srgbClr val="808080"/>
                </a:solidFill>
              </a:rPr>
              <a:t>ARAHAN VISUAL</a:t>
            </a:r>
          </a:p>
          <a:p>
            <a:pPr/>
            <a:r>
              <a:rPr lang="en-MY" sz="1100" dirty="0">
                <a:solidFill>
                  <a:srgbClr val="808080"/>
                </a:solidFill>
              </a:rPr>
              <a:t>[Visual: Kad narator Hilmi — potret separuh badan,</a:t>
            </a:r>
          </a:p>
          <a:p>
            <a:pPr/>
            <a:r>
              <a:rPr lang="en-MY" sz="1100" dirty="0">
                <a:solidFill>
                  <a:srgbClr val="808080"/>
                </a:solidFill>
              </a:rPr>
              <a:t>pakaian kerja lapangan, latar tapak landskap kabur.]</a:t>
            </a:r>
          </a:p>
        </p:txBody>
      </p:sp>
      <p:sp>
        <p:nvSpPr>
          <p:cNvPr id="40" name="Narr"/>
          <p:cNvSpPr txBox="1"/>
          <p:nvPr/>
        </p:nvSpPr>
        <p:spPr>
          <a:xfrm>
            <a:off x="723930" y="2084832"/>
            <a:ext cx="4846320" cy="365760"/>
          </a:xfrm>
          <a:prstGeom prst="rect">
            <a:avLst/>
          </a:prstGeom>
          <a:noFill/>
        </p:spPr>
        <p:txBody>
          <a:bodyPr wrap="square">
            <a:noAutofit/>
          </a:bodyPr>
          <a:lstStyle/>
          <a:p>
            <a:pPr/>
            <a:r>
              <a:rPr lang="en-MY" sz="1800" b="1" dirty="0">
                <a:solidFill>
                  <a:schemeClr val="tx1">
                    <a:lumMod val="85000"/>
                    <a:lumOff val="15000"/>
                  </a:schemeClr>
                </a:solidFill>
              </a:rPr>
              <a:t>Hilmi</a:t>
            </a:r>
          </a:p>
        </p:txBody>
      </p:sp>
      <p:sp>
        <p:nvSpPr>
          <p:cNvPr id="41" name="NarrRole"/>
          <p:cNvSpPr txBox="1"/>
          <p:nvPr/>
        </p:nvSpPr>
        <p:spPr>
          <a:xfrm>
            <a:off x="723930" y="2468880"/>
            <a:ext cx="4846320" cy="292608"/>
          </a:xfrm>
          <a:prstGeom prst="rect">
            <a:avLst/>
          </a:prstGeom>
          <a:noFill/>
        </p:spPr>
        <p:txBody>
          <a:bodyPr wrap="square">
            <a:noAutofit/>
          </a:bodyPr>
          <a:lstStyle/>
          <a:p>
            <a:pPr/>
            <a:r>
              <a:rPr lang="en-MY" sz="1200" dirty="0">
                <a:solidFill>
                  <a:srgbClr val="808080"/>
                </a:solidFill>
              </a:rPr>
              <a:t>Narator kursus</a:t>
            </a:r>
          </a:p>
        </p:txBody>
      </p:sp>
      <p:sp>
        <p:nvSpPr>
          <p:cNvPr id="50" name="Grp"/>
          <p:cNvSpPr txBox="1"/>
          <p:nvPr/>
        </p:nvSpPr>
        <p:spPr>
          <a:xfrm>
            <a:off x="5989320" y="1207008"/>
            <a:ext cx="5486400" cy="731520"/>
          </a:xfrm>
          <a:prstGeom prst="rect">
            <a:avLst/>
          </a:prstGeom>
          <a:noFill/>
        </p:spPr>
        <p:txBody>
          <a:bodyPr wrap="square">
            <a:noAutofit/>
          </a:bodyPr>
          <a:lstStyle/>
          <a:p>
            <a:pPr/>
            <a:r>
              <a:rPr lang="en-MY" sz="1250" b="1" dirty="0">
                <a:solidFill>
                  <a:schemeClr val="tx1">
                    <a:lumMod val="85000"/>
                    <a:lumOff val="15000"/>
                  </a:schemeClr>
                </a:solidFill>
              </a:rPr>
              <a:t>Struktur Taman: Struktur Persisir Air, Struktur</a:t>
            </a:r>
          </a:p>
          <a:p>
            <a:pPr/>
            <a:r>
              <a:rPr lang="en-MY" sz="1250" b="1" dirty="0">
                <a:solidFill>
                  <a:schemeClr val="tx1">
                    <a:lumMod val="85000"/>
                    <a:lumOff val="15000"/>
                  </a:schemeClr>
                </a:solidFill>
              </a:rPr>
              <a:t>Teduhan, Kemudahan Awam, </a:t>
            </a:r>
            <a:r>
              <a:rPr lang="en-MY" sz="1250" b="1" i="1" dirty="0">
                <a:solidFill>
                  <a:schemeClr val="tx1">
                    <a:lumMod val="85000"/>
                    <a:lumOff val="15000"/>
                  </a:schemeClr>
                </a:solidFill>
              </a:rPr>
              <a:t>Water Feature</a:t>
            </a:r>
          </a:p>
        </p:txBody>
      </p:sp>
      <p:sp>
        <p:nvSpPr>
          <p:cNvPr id="51" name="Grp"/>
          <p:cNvSpPr txBox="1"/>
          <p:nvPr/>
        </p:nvSpPr>
        <p:spPr>
          <a:xfrm>
            <a:off x="5989320" y="1993392"/>
            <a:ext cx="5486400" cy="731520"/>
          </a:xfrm>
          <a:prstGeom prst="rect">
            <a:avLst/>
          </a:prstGeom>
          <a:noFill/>
        </p:spPr>
        <p:txBody>
          <a:bodyPr wrap="square">
            <a:noAutofit/>
          </a:bodyPr>
          <a:lstStyle/>
          <a:p>
            <a:pPr/>
            <a:r>
              <a:rPr lang="en-MY" sz="1250" b="1" dirty="0">
                <a:solidFill>
                  <a:schemeClr val="tx1">
                    <a:lumMod val="85000"/>
                    <a:lumOff val="15000"/>
                  </a:schemeClr>
                </a:solidFill>
              </a:rPr>
              <a:t>Perabot Taman: Kerusi Taman, Papan Tanda, Tong</a:t>
            </a:r>
          </a:p>
          <a:p>
            <a:pPr/>
            <a:r>
              <a:rPr lang="en-MY" sz="1250" b="1" dirty="0">
                <a:solidFill>
                  <a:schemeClr val="tx1">
                    <a:lumMod val="85000"/>
                    <a:lumOff val="15000"/>
                  </a:schemeClr>
                </a:solidFill>
              </a:rPr>
              <a:t>Sampah, </a:t>
            </a:r>
            <a:r>
              <a:rPr lang="en-MY" sz="1250" b="1" i="1" dirty="0">
                <a:solidFill>
                  <a:schemeClr val="tx1">
                    <a:lumMod val="85000"/>
                    <a:lumOff val="15000"/>
                  </a:schemeClr>
                </a:solidFill>
              </a:rPr>
              <a:t>Drinking Fountain</a:t>
            </a:r>
            <a:r>
              <a:rPr lang="en-MY" sz="1250" b="1" dirty="0">
                <a:solidFill>
                  <a:schemeClr val="tx1">
                    <a:lumMod val="85000"/>
                    <a:lumOff val="15000"/>
                  </a:schemeClr>
                </a:solidFill>
              </a:rPr>
              <a:t>, </a:t>
            </a:r>
            <a:r>
              <a:rPr lang="en-MY" sz="1250" b="1" i="1" dirty="0">
                <a:solidFill>
                  <a:schemeClr val="tx1">
                    <a:lumMod val="85000"/>
                    <a:lumOff val="15000"/>
                  </a:schemeClr>
                </a:solidFill>
              </a:rPr>
              <a:t>BBQ Pit</a:t>
            </a:r>
          </a:p>
        </p:txBody>
      </p:sp>
      <p:sp>
        <p:nvSpPr>
          <p:cNvPr id="60" name="VisualDir"/>
          <p:cNvSpPr txBox="1"/>
          <p:nvPr/>
        </p:nvSpPr>
        <p:spPr>
          <a:xfrm>
            <a:off x="5989320" y="2926080"/>
            <a:ext cx="5486400" cy="1645920"/>
          </a:xfrm>
          <a:prstGeom prst="rect">
            <a:avLst/>
          </a:prstGeom>
          <a:noFill/>
        </p:spPr>
        <p:txBody>
          <a:bodyPr wrap="square">
            <a:noAutofit/>
          </a:bodyPr>
          <a:lstStyle/>
          <a:p>
            <a:pPr/>
            <a:r>
              <a:rPr lang="en-MY" sz="1000" dirty="0">
                <a:solidFill>
                  <a:srgbClr val="808080"/>
                </a:solidFill>
              </a:rPr>
              <a:t>ARAHAN VISUAL — MIND MAP (SPESIFIKASI TEKS SAHAJA)</a:t>
            </a:r>
          </a:p>
          <a:p>
            <a:pPr/>
            <a:r>
              <a:rPr lang="en-MY" sz="1000" dirty="0">
                <a:solidFill>
                  <a:srgbClr val="808080"/>
                </a:solidFill>
              </a:rPr>
              <a:t>[Visual: Mind Map — nod pusat 'Komponen Landskap' bercabang kepada dua</a:t>
            </a:r>
          </a:p>
          <a:p>
            <a:pPr/>
            <a:r>
              <a:rPr lang="en-MY" sz="1000" dirty="0">
                <a:solidFill>
                  <a:srgbClr val="808080"/>
                </a:solidFill>
              </a:rPr>
              <a:t>kumpulan. Cabang 1 – Struktur Taman: Struktur Persisir Air, Struktur</a:t>
            </a:r>
          </a:p>
          <a:p>
            <a:pPr/>
            <a:r>
              <a:rPr lang="en-MY" sz="1000" dirty="0">
                <a:solidFill>
                  <a:srgbClr val="808080"/>
                </a:solidFill>
              </a:rPr>
              <a:t>Teduhan, Kemudahan Awam, Water Feature. Cabang 2 – Perabot Taman: Kerusi</a:t>
            </a:r>
          </a:p>
          <a:p>
            <a:pPr/>
            <a:r>
              <a:rPr lang="en-MY" sz="1000" dirty="0">
                <a:solidFill>
                  <a:srgbClr val="808080"/>
                </a:solidFill>
              </a:rPr>
              <a:t>Taman, Papan Tanda, Tong Sampah, Drinking Fountain, BBQ Pit. Spesifikasi</a:t>
            </a:r>
          </a:p>
          <a:p>
            <a:pPr/>
            <a:r>
              <a:rPr lang="en-MY" sz="1000" dirty="0">
                <a:solidFill>
                  <a:srgbClr val="808080"/>
                </a:solidFill>
              </a:rPr>
              <a:t>teks sahaja — aset Mind Map TIDAK dihasilkan pada peringkat ini.]</a:t>
            </a:r>
          </a:p>
        </p:txBody>
      </p:sp>
      <p:sp>
        <p:nvSpPr>
          <p:cNvPr id="70" name="Reflect"/>
          <p:cNvSpPr txBox="1"/>
          <p:nvPr/>
        </p:nvSpPr>
        <p:spPr>
          <a:xfrm>
            <a:off x="723930" y="4901184"/>
            <a:ext cx="10744200" cy="658368"/>
          </a:xfrm>
          <a:prstGeom prst="rect">
            <a:avLst/>
          </a:prstGeom>
          <a:noFill/>
        </p:spPr>
        <p:txBody>
          <a:bodyPr wrap="square">
            <a:noAutofit/>
          </a:bodyPr>
          <a:lstStyle/>
          <a:p>
            <a:pPr/>
            <a:r>
              <a:rPr lang="en-MY" sz="1500" b="1" dirty="0">
                <a:solidFill>
                  <a:srgbClr val="7F6000"/>
                </a:solidFill>
              </a:rPr>
              <a:t>Jika anda ditugaskan memasang kerusi taman di tepi tasik, apakah jenis bahan yang anda akan</a:t>
            </a:r>
          </a:p>
          <a:p>
            <a:pPr/>
            <a:r>
              <a:rPr lang="en-MY" sz="1500" b="1" dirty="0">
                <a:solidFill>
                  <a:srgbClr val="7F6000"/>
                </a:solidFill>
              </a:rPr>
              <a:t>pilih, dan mengapa?</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Pengenalan — gambaran keseluruhan (Hilmi)</a:t>
            </a:r>
          </a:p>
          <a:p>
            <a:r>
              <a:rPr lang="en-MY" sz="900" dirty="0">
                <a:solidFill>
                  <a:schemeClr val="tx1">
                    <a:lumMod val="85000"/>
                    <a:lumOff val="15000"/>
                  </a:schemeClr>
                </a:solidFill>
              </a:rPr>
              <a:t>KELUARGA PELAKSANAAN: FRAME</a:t>
            </a:r>
          </a:p>
          <a:p>
            <a:r>
              <a:rPr lang="en-MY" sz="900" dirty="0">
                <a:solidFill>
                  <a:schemeClr val="tx1">
                    <a:lumMod val="85000"/>
                    <a:lumOff val="15000"/>
                  </a:schemeClr>
                </a:solidFill>
              </a:rPr>
              <a:t>PERANAN HALAMAN SEMAKAN: FRAME_NARRATOR_BASE</a:t>
            </a:r>
          </a:p>
          <a:p>
            <a:r>
              <a:rPr lang="en-MY" sz="900" dirty="0">
                <a:solidFill>
                  <a:schemeClr val="tx1">
                    <a:lumMod val="85000"/>
                    <a:lumOff val="15000"/>
                  </a:schemeClr>
                </a:solidFill>
              </a:rPr>
              <a:t/>
            </a:r>
          </a:p>
          <a:p>
            <a:r>
              <a:rPr lang="en-MY" sz="900" dirty="0">
                <a:solidFill>
                  <a:schemeClr val="tx1">
                    <a:lumMod val="85000"/>
                    <a:lumOff val="15000"/>
                  </a:schemeClr>
                </a:solidFill>
              </a:rPr>
              <a:t>BUKTI: S03 Hilmi continuity</a:t>
            </a:r>
          </a:p>
          <a:p>
            <a:r>
              <a:rPr lang="en-MY" sz="900" dirty="0">
                <a:solidFill>
                  <a:schemeClr val="tx1">
                    <a:lumMod val="85000"/>
                    <a:lumOff val="15000"/>
                  </a:schemeClr>
                </a:solidFill>
              </a:rPr>
              <a:t>POLISI NOTA: CONTENT_VO_NOTES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LMS_SHELL_NEXT  [vo_complete]</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NO_CONTROL</a:t>
            </a:r>
          </a:p>
          <a:p>
            <a:r>
              <a:rPr lang="en-MY" sz="900" dirty="0">
                <a:solidFill>
                  <a:schemeClr val="tx1">
                    <a:lumMod val="85000"/>
                    <a:lumOff val="15000"/>
                  </a:schemeClr>
                </a:solidFill>
              </a:rPr>
              <a:t>  return_target = —</a:t>
            </a:r>
          </a:p>
          <a:p>
            <a:r>
              <a:rPr lang="en-MY" sz="900" dirty="0">
                <a:solidFill>
                  <a:schemeClr val="tx1">
                    <a:lumMod val="85000"/>
                    <a:lumOff val="15000"/>
                  </a:schemeClr>
                </a:solidFill>
              </a:rPr>
              <a:t>SKOP SELESAI: NONE</a:t>
            </a:r>
          </a:p>
          <a:p>
            <a:r>
              <a:rPr lang="en-MY" sz="900" dirty="0">
                <a:solidFill>
                  <a:schemeClr val="tx1">
                    <a:lumMod val="85000"/>
                    <a:lumOff val="15000"/>
                  </a:schemeClr>
                </a:solidFill>
              </a:rPr>
              <a:t>PERSISTEN: NOT_APPLICABLE</a:t>
            </a:r>
          </a:p>
          <a:p>
            <a:r>
              <a:rPr lang="en-MY" sz="900" dirty="0">
                <a:solidFill>
                  <a:schemeClr val="tx1">
                    <a:lumMod val="85000"/>
                    <a:lumOff val="15000"/>
                  </a:schemeClr>
                </a:solidFill>
              </a:rPr>
              <a:t>LEVEL: pilihan interaksi 0 · lapisan skrin 0</a:t>
            </a:r>
          </a:p>
          <a:p>
            <a:r>
              <a:rPr lang="en-MY" sz="900" dirty="0">
                <a:solidFill>
                  <a:schemeClr val="tx1">
                    <a:lumMod val="85000"/>
                    <a:lumOff val="15000"/>
                  </a:schemeClr>
                </a:solidFill>
              </a:rPr>
              <a:t>INDUK: SCR_S03</a:t>
            </a:r>
          </a:p>
          <a:p>
            <a:r>
              <a:rPr lang="en-MY" sz="900" b="1" dirty="0">
                <a:solidFill>
                  <a:schemeClr val="tx1">
                    <a:lumMod val="85000"/>
                    <a:lumOff val="15000"/>
                  </a:schemeClr>
                </a:solidFill>
              </a:rPr>
              <a:t>NARATOR:</a:t>
            </a:r>
          </a:p>
          <a:p>
            <a:r>
              <a:rPr lang="en-MY" sz="900" dirty="0">
                <a:solidFill>
                  <a:schemeClr val="tx1">
                    <a:lumMod val="85000"/>
                    <a:lumOff val="15000"/>
                  </a:schemeClr>
                </a:solidFill>
              </a:rPr>
              <a:t>  Hilmi — Narator kursus</a:t>
            </a:r>
          </a:p>
          <a:p>
            <a:r>
              <a:rPr lang="en-MY" sz="900" dirty="0">
                <a:solidFill>
                  <a:schemeClr val="tx1">
                    <a:lumMod val="85000"/>
                    <a:lumOff val="15000"/>
                  </a:schemeClr>
                </a:solidFill>
              </a:rPr>
              <a:t>  HILMI_REINTRODUCED_AS_NEW = false</a:t>
            </a:r>
          </a:p>
          <a:p>
            <a:r>
              <a:rPr lang="en-MY" sz="900" dirty="0">
                <a:solidFill>
                  <a:schemeClr val="tx1">
                    <a:lumMod val="85000"/>
                    <a:lumOff val="15000"/>
                  </a:schemeClr>
                </a:solidFill>
              </a:rPr>
              <a:t>  HILMI_CONTINUITY_FROM_COURSE_MONTAGE = true</a:t>
            </a:r>
          </a:p>
          <a:p>
            <a:r>
              <a:rPr lang="en-MY" sz="900" dirty="0">
                <a:solidFill>
                  <a:schemeClr val="tx1">
                    <a:lumMod val="85000"/>
                    <a:lumOff val="15000"/>
                  </a:schemeClr>
                </a:solidFill>
              </a:rPr>
              <a:t>  Hilmi continues the narration established by the Course Montage. He is not introduced as a new character. The "Hilmi:" label remains on S03 as storyboard speaker identification only.</a:t>
            </a:r>
          </a:p>
          <a:p>
            <a:r>
              <a:rPr lang="en-MY" sz="900" dirty="0">
                <a:solidFill>
                  <a:schemeClr val="tx1">
                    <a:lumMod val="85000"/>
                    <a:lumOff val="15000"/>
                  </a:schemeClr>
                </a:solidFill>
              </a:rPr>
              <a:t>  Pembukaan dilarang: Hai, saya Hilmi; Saya Hilmi, narator kursus ini; any first-time self-introduction</a:t>
            </a:r>
          </a:p>
          <a:p>
            <a:r>
              <a:rPr lang="en-MY" sz="900" dirty="0">
                <a:solidFill>
                  <a:schemeClr val="tx1">
                    <a:lumMod val="85000"/>
                    <a:lumOff val="15000"/>
                  </a:schemeClr>
                </a:solidFill>
              </a:rPr>
              <a:t>  The VO transitions out of the Alya–Encik Rahman scenario and into the learning overview — it does not restart the course.</a:t>
            </a:r>
          </a:p>
          <a:p>
            <a:r>
              <a:rPr lang="en-MY" sz="900" b="1" dirty="0">
                <a:solidFill>
                  <a:schemeClr val="tx1">
                    <a:lumMod val="85000"/>
                    <a:lumOff val="15000"/>
                  </a:schemeClr>
                </a:solidFill>
              </a:rPr>
              <a:t>NOTA PRODUKSI:</a:t>
            </a:r>
          </a:p>
          <a:p>
            <a:r>
              <a:rPr lang="en-MY" sz="900" dirty="0">
                <a:solidFill>
                  <a:schemeClr val="tx1">
                    <a:lumMod val="85000"/>
                    <a:lumOff val="15000"/>
                  </a:schemeClr>
                </a:solidFill>
              </a:rPr>
              <a:t>  "Hilmi:" speaker prefix appears on S03 only; it must not appear on any other screen</a:t>
            </a:r>
          </a:p>
          <a:p>
            <a:r>
              <a:rPr lang="en-MY" sz="900" dirty="0">
                <a:solidFill>
                  <a:schemeClr val="tx1">
                    <a:lumMod val="85000"/>
                    <a:lumOff val="15000"/>
                  </a:schemeClr>
                </a:solidFill>
              </a:rPr>
              <a:t>STATUS KEPUTUSAN: B02-D-20, B02-D-25</a:t>
            </a:r>
          </a:p>
          <a:p>
            <a:r>
              <a:rPr lang="en-MY" sz="900" dirty="0">
                <a:solidFill>
                  <a:schemeClr val="tx1">
                    <a:lumMod val="85000"/>
                    <a:lumOff val="15000"/>
                  </a:schemeClr>
                </a:solidFill>
              </a:rPr>
              <a:t>STATUS BELUM SELESAI: NONE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Struktur Taman</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Struktur Taman</a:t>
            </a:r>
          </a:p>
        </p:txBody>
      </p:sp>
      <p:sp>
        <p:nvSpPr>
          <p:cNvPr id="25" name="Instr"/>
          <p:cNvSpPr txBox="1"/>
          <p:nvPr/>
        </p:nvSpPr>
        <p:spPr>
          <a:xfrm>
            <a:off x="723930" y="1051560"/>
            <a:ext cx="10744200" cy="365760"/>
          </a:xfrm>
          <a:prstGeom prst="rect">
            <a:avLst/>
          </a:prstGeom>
          <a:noFill/>
        </p:spPr>
        <p:txBody>
          <a:bodyPr wrap="square">
            <a:noAutofit/>
          </a:bodyPr>
          <a:lstStyle/>
          <a:p>
            <a:pPr algn="ctr"/>
            <a:r>
              <a:rPr lang="en-MY" sz="1600" dirty="0">
                <a:solidFill>
                  <a:schemeClr val="tx1">
                    <a:lumMod val="85000"/>
                    <a:lumOff val="15000"/>
                  </a:schemeClr>
                </a:solidFill>
              </a:rPr>
              <a:t>Klik pada setiap struktur untuk penjelasan lanjut.</a:t>
            </a:r>
          </a:p>
        </p:txBody>
      </p:sp>
      <p:sp>
        <p:nvSpPr>
          <p:cNvPr id="40" name="ItemCard"/>
          <p:cNvSpPr txBox="1"/>
          <p:nvPr/>
        </p:nvSpPr>
        <p:spPr>
          <a:xfrm>
            <a:off x="2174397" y="1508760"/>
            <a:ext cx="3598164" cy="1819747"/>
          </a:xfrm>
          <a:prstGeom prst="rect">
            <a:avLst/>
          </a:prstGeom>
          <a:solidFill>
            <a:srgbClr val="F2F2F2"/>
          </a:solidFill>
          <a:ln w="12700">
            <a:solidFill>
              <a:srgbClr val="404040"/>
            </a:solidFill>
          </a:ln>
        </p:spPr>
        <p:txBody>
          <a:bodyPr wrap="square" anchor="ctr">
            <a:noAutofit/>
          </a:bodyPr>
          <a:lstStyle/>
          <a:p>
            <a:pPr algn="ctr"/>
            <a:r>
              <a:rPr lang="en-MY" sz="1600" b="1" dirty="0">
                <a:solidFill>
                  <a:schemeClr val="tx1">
                    <a:lumMod val="85000"/>
                    <a:lumOff val="15000"/>
                  </a:schemeClr>
                </a:solidFill>
              </a:rPr>
              <a:t>Struktur Persisir Air</a:t>
            </a:r>
          </a:p>
        </p:txBody>
      </p:sp>
      <p:sp>
        <p:nvSpPr>
          <p:cNvPr id="41" name="ItemCard"/>
          <p:cNvSpPr txBox="1"/>
          <p:nvPr/>
        </p:nvSpPr>
        <p:spPr>
          <a:xfrm>
            <a:off x="6419408" y="1508760"/>
            <a:ext cx="3598164" cy="1819747"/>
          </a:xfrm>
          <a:prstGeom prst="rect">
            <a:avLst/>
          </a:prstGeom>
          <a:solidFill>
            <a:srgbClr val="F2F2F2"/>
          </a:solidFill>
          <a:ln w="12700">
            <a:solidFill>
              <a:srgbClr val="404040"/>
            </a:solidFill>
          </a:ln>
        </p:spPr>
        <p:txBody>
          <a:bodyPr wrap="square" anchor="ctr">
            <a:noAutofit/>
          </a:bodyPr>
          <a:lstStyle/>
          <a:p>
            <a:pPr algn="ctr"/>
            <a:r>
              <a:rPr lang="en-MY" sz="1600" b="1" dirty="0">
                <a:solidFill>
                  <a:schemeClr val="tx1">
                    <a:lumMod val="85000"/>
                    <a:lumOff val="15000"/>
                  </a:schemeClr>
                </a:solidFill>
              </a:rPr>
              <a:t>Struktur Teduhan</a:t>
            </a:r>
          </a:p>
        </p:txBody>
      </p:sp>
      <p:sp>
        <p:nvSpPr>
          <p:cNvPr id="42" name="ItemCard"/>
          <p:cNvSpPr txBox="1"/>
          <p:nvPr/>
        </p:nvSpPr>
        <p:spPr>
          <a:xfrm>
            <a:off x="2174397" y="4031224"/>
            <a:ext cx="3598164" cy="1819747"/>
          </a:xfrm>
          <a:prstGeom prst="rect">
            <a:avLst/>
          </a:prstGeom>
          <a:solidFill>
            <a:srgbClr val="F2F2F2"/>
          </a:solidFill>
          <a:ln w="12700">
            <a:solidFill>
              <a:srgbClr val="404040"/>
            </a:solidFill>
          </a:ln>
        </p:spPr>
        <p:txBody>
          <a:bodyPr wrap="square" anchor="ctr">
            <a:noAutofit/>
          </a:bodyPr>
          <a:lstStyle/>
          <a:p>
            <a:pPr algn="ctr"/>
            <a:r>
              <a:rPr lang="en-MY" sz="1600" b="1" dirty="0">
                <a:solidFill>
                  <a:schemeClr val="tx1">
                    <a:lumMod val="85000"/>
                    <a:lumOff val="15000"/>
                  </a:schemeClr>
                </a:solidFill>
              </a:rPr>
              <a:t>Kemudahan Awam</a:t>
            </a:r>
          </a:p>
        </p:txBody>
      </p:sp>
      <p:sp>
        <p:nvSpPr>
          <p:cNvPr id="43" name="ItemCard"/>
          <p:cNvSpPr txBox="1"/>
          <p:nvPr/>
        </p:nvSpPr>
        <p:spPr>
          <a:xfrm>
            <a:off x="6419408" y="4031224"/>
            <a:ext cx="3598164" cy="1819747"/>
          </a:xfrm>
          <a:prstGeom prst="rect">
            <a:avLst/>
          </a:prstGeom>
          <a:solidFill>
            <a:srgbClr val="F2F2F2"/>
          </a:solidFill>
          <a:ln w="12700">
            <a:solidFill>
              <a:srgbClr val="404040"/>
            </a:solidFill>
          </a:ln>
        </p:spPr>
        <p:txBody>
          <a:bodyPr wrap="square" anchor="ctr">
            <a:noAutofit/>
          </a:bodyPr>
          <a:lstStyle/>
          <a:p>
            <a:pPr algn="ctr"/>
            <a:r>
              <a:rPr lang="en-MY" sz="1600" b="1" i="1" dirty="0">
                <a:solidFill>
                  <a:schemeClr val="tx1">
                    <a:lumMod val="85000"/>
                    <a:lumOff val="15000"/>
                  </a:schemeClr>
                </a:solidFill>
              </a:rPr>
              <a:t>Water Feature</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Struktur Taman — papan kumpulan</a:t>
            </a:r>
          </a:p>
          <a:p>
            <a:r>
              <a:rPr lang="en-MY" sz="900" dirty="0">
                <a:solidFill>
                  <a:schemeClr val="tx1">
                    <a:lumMod val="85000"/>
                    <a:lumOff val="15000"/>
                  </a:schemeClr>
                </a:solidFill>
              </a:rPr>
              <a:t>KELUARGA PELAKSANAAN: FAMILY_S</a:t>
            </a:r>
          </a:p>
          <a:p>
            <a:r>
              <a:rPr lang="en-MY" sz="900" dirty="0">
                <a:solidFill>
                  <a:schemeClr val="tx1">
                    <a:lumMod val="85000"/>
                    <a:lumOff val="15000"/>
                  </a:schemeClr>
                </a:solidFill>
              </a:rPr>
              <a:t>PERANAN HALAMAN SEMAKAN: GROUP_MASTER_BASE</a:t>
            </a:r>
          </a:p>
          <a:p>
            <a:r>
              <a:rPr lang="en-MY" sz="900" dirty="0">
                <a:solidFill>
                  <a:schemeClr val="tx1">
                    <a:lumMod val="85000"/>
                    <a:lumOff val="15000"/>
                  </a:schemeClr>
                </a:solidFill>
              </a:rPr>
              <a:t/>
            </a:r>
          </a:p>
          <a:p>
            <a:r>
              <a:rPr lang="en-MY" sz="900" dirty="0">
                <a:solidFill>
                  <a:schemeClr val="tx1">
                    <a:lumMod val="85000"/>
                    <a:lumOff val="15000"/>
                  </a:schemeClr>
                </a:solidFill>
              </a:rPr>
              <a:t>BUKTI: Family S group master</a:t>
            </a:r>
          </a:p>
          <a:p>
            <a:r>
              <a:rPr lang="en-MY" sz="900" dirty="0">
                <a:solidFill>
                  <a:schemeClr val="tx1">
                    <a:lumMod val="85000"/>
                    <a:lumOff val="15000"/>
                  </a:schemeClr>
                </a:solidFill>
              </a:rPr>
              <a:t>POLISI NOTA: CONTENT_VO_NOTES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LMS_SHELL_NEXT  [group_complete[STRUKTUR_TAMAN]]</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NO_CONTROL</a:t>
            </a:r>
          </a:p>
          <a:p>
            <a:r>
              <a:rPr lang="en-MY" sz="900" dirty="0">
                <a:solidFill>
                  <a:schemeClr val="tx1">
                    <a:lumMod val="85000"/>
                    <a:lumOff val="15000"/>
                  </a:schemeClr>
                </a:solidFill>
              </a:rPr>
              <a:t>  return_target = —</a:t>
            </a:r>
          </a:p>
          <a:p>
            <a:r>
              <a:rPr lang="en-MY" sz="900" dirty="0">
                <a:solidFill>
                  <a:schemeClr val="tx1">
                    <a:lumMod val="85000"/>
                    <a:lumOff val="15000"/>
                  </a:schemeClr>
                </a:solidFill>
              </a:rPr>
              <a:t>SKOP SELESAI: GROUP</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0 · lapisan skrin 0</a:t>
            </a:r>
          </a:p>
          <a:p>
            <a:r>
              <a:rPr lang="en-MY" sz="900" dirty="0">
                <a:solidFill>
                  <a:schemeClr val="tx1">
                    <a:lumMod val="85000"/>
                    <a:lumOff val="15000"/>
                  </a:schemeClr>
                </a:solidFill>
              </a:rPr>
              <a:t>INDUK: SCR_GM_STRUKTUR</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Empat kad komponen. Boleh diklik dalam sebarang susunan.</a:t>
            </a:r>
          </a:p>
          <a:p>
            <a:r>
              <a:rPr lang="en-MY" sz="900" dirty="0">
                <a:solidFill>
                  <a:schemeClr val="tx1">
                    <a:lumMod val="85000"/>
                    <a:lumOff val="15000"/>
                  </a:schemeClr>
                </a:solidFill>
              </a:rPr>
              <a:t>  Setiap komponen yang selesai menerima tik.</a:t>
            </a:r>
          </a:p>
          <a:p>
            <a:r>
              <a:rPr lang="en-MY" sz="900" dirty="0">
                <a:solidFill>
                  <a:schemeClr val="tx1">
                    <a:lumMod val="85000"/>
                    <a:lumOff val="15000"/>
                  </a:schemeClr>
                </a:solidFill>
              </a:rPr>
              <a:t>  Kemajuan kumpulan dikawal oleh Seterusnya shell LMS.</a:t>
            </a:r>
          </a:p>
          <a:p>
            <a:r>
              <a:rPr lang="en-MY" sz="900" dirty="0">
                <a:solidFill>
                  <a:schemeClr val="tx1">
                    <a:lumMod val="85000"/>
                    <a:lumOff val="15000"/>
                  </a:schemeClr>
                </a:solidFill>
              </a:rPr>
              <a:t>  TIADA butang Seterusnya tersuai dilukis pada kanvas pelajar.</a:t>
            </a:r>
          </a:p>
          <a:p>
            <a:r>
              <a:rPr lang="en-MY" sz="900" b="1" dirty="0">
                <a:solidFill>
                  <a:schemeClr val="tx1">
                    <a:lumMod val="85000"/>
                    <a:lumOff val="15000"/>
                  </a:schemeClr>
                </a:solidFill>
              </a:rPr>
              <a:t>SASARAN KEMBALI:</a:t>
            </a:r>
          </a:p>
          <a:p>
            <a:r>
              <a:rPr lang="en-MY" sz="900" dirty="0">
                <a:solidFill>
                  <a:schemeClr val="tx1">
                    <a:lumMod val="85000"/>
                    <a:lumOff val="15000"/>
                  </a:schemeClr>
                </a:solidFill>
              </a:rPr>
              <a:t>  Skrin contoh Family S kembali ke sini.</a:t>
            </a:r>
          </a:p>
          <a:p>
            <a:r>
              <a:rPr lang="en-MY" sz="900" dirty="0">
                <a:solidFill>
                  <a:schemeClr val="tx1">
                    <a:lumMod val="85000"/>
                    <a:lumOff val="15000"/>
                  </a:schemeClr>
                </a:solidFill>
              </a:rPr>
              <a:t>STATUS KEPUTUSAN: B02-D-01, B02-D-04</a:t>
            </a:r>
          </a:p>
          <a:p>
            <a:r>
              <a:rPr lang="en-MY" sz="900" dirty="0">
                <a:solidFill>
                  <a:schemeClr val="tx1">
                    <a:lumMod val="85000"/>
                    <a:lumOff val="15000"/>
                  </a:schemeClr>
                </a:solidFill>
              </a:rPr>
              <a:t>STATUS BELUM SELESAI: NONE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Struktur Persisir Air</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Struktur Taman</a:t>
            </a:r>
          </a:p>
        </p:txBody>
      </p:sp>
      <p:sp>
        <p:nvSpPr>
          <p:cNvPr id="20" name="Head"/>
          <p:cNvSpPr txBox="1"/>
          <p:nvPr/>
        </p:nvSpPr>
        <p:spPr>
          <a:xfrm>
            <a:off x="723930" y="1188720"/>
            <a:ext cx="10744200" cy="420624"/>
          </a:xfrm>
          <a:prstGeom prst="rect">
            <a:avLst/>
          </a:prstGeom>
          <a:noFill/>
        </p:spPr>
        <p:txBody>
          <a:bodyPr wrap="square">
            <a:noAutofit/>
          </a:bodyPr>
          <a:lstStyle/>
          <a:p>
            <a:pPr/>
            <a:r>
              <a:rPr lang="en-MY" sz="2000" b="1" dirty="0">
                <a:solidFill>
                  <a:schemeClr val="tx1">
                    <a:lumMod val="85000"/>
                    <a:lumOff val="15000"/>
                  </a:schemeClr>
                </a:solidFill>
              </a:rPr>
              <a:t>Struktur Persisir Air</a:t>
            </a:r>
          </a:p>
        </p:txBody>
      </p:sp>
      <p:sp>
        <p:nvSpPr>
          <p:cNvPr id="22" name="Body"/>
          <p:cNvSpPr txBox="1"/>
          <p:nvPr/>
        </p:nvSpPr>
        <p:spPr>
          <a:xfrm>
            <a:off x="723930" y="1755648"/>
            <a:ext cx="10744200" cy="3108960"/>
          </a:xfrm>
          <a:prstGeom prst="rect">
            <a:avLst/>
          </a:prstGeom>
          <a:noFill/>
        </p:spPr>
        <p:txBody>
          <a:bodyPr wrap="square">
            <a:noAutofit/>
          </a:bodyPr>
          <a:lstStyle/>
          <a:p>
            <a:pPr marL="285750" indent="-285750">
              <a:spcBef>
                <a:spcPts val="600"/>
              </a:spcBef>
              <a:buFont typeface="Arial" panose="020B0604020202020204" pitchFamily="34" charset="0"/>
              <a:buChar char="•"/>
            </a:pPr>
            <a:r>
              <a:rPr lang="en-MY" sz="1500" dirty="0">
                <a:solidFill>
                  <a:schemeClr val="tx1">
                    <a:lumMod val="85000"/>
                    <a:lumOff val="15000"/>
                  </a:schemeClr>
                </a:solidFill>
              </a:rPr>
              <a:t>Meningkatkan akses dan pengalaman pengguna di tepi badan air</a:t>
            </a:r>
          </a:p>
          <a:p>
            <a:pPr marL="285750" indent="-285750">
              <a:spcBef>
                <a:spcPts val="600"/>
              </a:spcBef>
              <a:buFont typeface="Arial" panose="020B0604020202020204" pitchFamily="34" charset="0"/>
              <a:buChar char="•"/>
            </a:pPr>
            <a:r>
              <a:rPr lang="en-MY" sz="1500" dirty="0">
                <a:solidFill>
                  <a:schemeClr val="tx1">
                    <a:lumMod val="85000"/>
                    <a:lumOff val="15000"/>
                  </a:schemeClr>
                </a:solidFill>
              </a:rPr>
              <a:t>Untuk tasik, sungai atau pantai</a:t>
            </a:r>
          </a:p>
          <a:p>
            <a:pPr marL="285750" indent="-285750">
              <a:spcBef>
                <a:spcPts val="600"/>
              </a:spcBef>
              <a:buFont typeface="Arial" panose="020B0604020202020204" pitchFamily="34" charset="0"/>
              <a:buChar char="•"/>
            </a:pPr>
            <a:r>
              <a:rPr lang="en-MY" sz="1500" dirty="0">
                <a:solidFill>
                  <a:schemeClr val="tx1">
                    <a:lumMod val="85000"/>
                    <a:lumOff val="15000"/>
                  </a:schemeClr>
                </a:solidFill>
              </a:rPr>
              <a:t>Perlu kepakaran pembinaan di persekitaran lembap dan berpotensi hakisan</a:t>
            </a:r>
          </a:p>
          <a:p>
            <a:pPr marL="285750" indent="-285750">
              <a:spcBef>
                <a:spcPts val="600"/>
              </a:spcBef>
              <a:buFont typeface="Arial" panose="020B0604020202020204" pitchFamily="34" charset="0"/>
              <a:buChar char="•"/>
            </a:pPr>
            <a:r>
              <a:rPr lang="en-MY" sz="1500" dirty="0">
                <a:solidFill>
                  <a:schemeClr val="tx1">
                    <a:lumMod val="85000"/>
                    <a:lumOff val="15000"/>
                  </a:schemeClr>
                </a:solidFill>
              </a:rPr>
              <a:t>Asas stabil dan rata, dengan saliran permukaan yang berkesan</a:t>
            </a:r>
          </a:p>
        </p:txBody>
      </p:sp>
      <p:sp>
        <p:nvSpPr>
          <p:cNvPr id="30" name="VisualDir"/>
          <p:cNvSpPr txBox="1"/>
          <p:nvPr/>
        </p:nvSpPr>
        <p:spPr>
          <a:xfrm>
            <a:off x="723930" y="5074920"/>
            <a:ext cx="10744200" cy="365760"/>
          </a:xfrm>
          <a:prstGeom prst="rect">
            <a:avLst/>
          </a:prstGeom>
          <a:noFill/>
        </p:spPr>
        <p:txBody>
          <a:bodyPr wrap="square">
            <a:noAutofit/>
          </a:bodyPr>
          <a:lstStyle/>
          <a:p>
            <a:pPr/>
            <a:r>
              <a:rPr lang="en-MY" sz="1100" dirty="0">
                <a:solidFill>
                  <a:srgbClr val="808080"/>
                </a:solidFill>
              </a:rPr>
              <a:t>[Visual: Rajah 23 — Contoh Boardwalk dalam Taman Paya Bakau, modul ms 239. Tidak dibenamkan.]</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Struktur Persisir Air — penerangan</a:t>
            </a:r>
          </a:p>
          <a:p>
            <a:r>
              <a:rPr lang="en-MY" sz="900" dirty="0">
                <a:solidFill>
                  <a:schemeClr val="tx1">
                    <a:lumMod val="85000"/>
                    <a:lumOff val="15000"/>
                  </a:schemeClr>
                </a:solidFill>
              </a:rPr>
              <a:t>KELUARGA PELAKSANAAN: FAMILY_S</a:t>
            </a:r>
          </a:p>
          <a:p>
            <a:r>
              <a:rPr lang="en-MY" sz="900" dirty="0">
                <a:solidFill>
                  <a:schemeClr val="tx1">
                    <a:lumMod val="85000"/>
                    <a:lumOff val="15000"/>
                  </a:schemeClr>
                </a:solidFill>
              </a:rPr>
              <a:t>PERANAN HALAMAN SEMAKAN: COMPONENT_MAIN_BASE</a:t>
            </a:r>
          </a:p>
          <a:p>
            <a:r>
              <a:rPr lang="en-MY" sz="900" dirty="0">
                <a:solidFill>
                  <a:schemeClr val="tx1">
                    <a:lumMod val="85000"/>
                    <a:lumOff val="15000"/>
                  </a:schemeClr>
                </a:solidFill>
              </a:rPr>
              <a:t/>
            </a:r>
          </a:p>
          <a:p>
            <a:r>
              <a:rPr lang="en-MY" sz="900" dirty="0">
                <a:solidFill>
                  <a:schemeClr val="tx1">
                    <a:lumMod val="85000"/>
                    <a:lumOff val="15000"/>
                  </a:schemeClr>
                </a:solidFill>
              </a:rPr>
              <a:t>BUKTI: Family S main explanation</a:t>
            </a:r>
          </a:p>
          <a:p>
            <a:r>
              <a:rPr lang="en-MY" sz="900" dirty="0">
                <a:solidFill>
                  <a:schemeClr val="tx1">
                    <a:lumMod val="85000"/>
                    <a:lumOff val="15000"/>
                  </a:schemeClr>
                </a:solidFill>
              </a:rPr>
              <a:t>POLISI NOTA: CONTENT_VO_NOTES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LMS_SHELL_NEXT  [vo_complete]</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NO_CONTROL</a:t>
            </a:r>
          </a:p>
          <a:p>
            <a:r>
              <a:rPr lang="en-MY" sz="900" dirty="0">
                <a:solidFill>
                  <a:schemeClr val="tx1">
                    <a:lumMod val="85000"/>
                    <a:lumOff val="15000"/>
                  </a:schemeClr>
                </a:solidFill>
              </a:rPr>
              <a:t>  return_target = —</a:t>
            </a:r>
          </a:p>
          <a:p>
            <a:r>
              <a:rPr lang="en-MY" sz="900" dirty="0">
                <a:solidFill>
                  <a:schemeClr val="tx1">
                    <a:lumMod val="85000"/>
                    <a:lumOff val="15000"/>
                  </a:schemeClr>
                </a:solidFill>
              </a:rPr>
              <a:t>SKOP SELESAI: NONE</a:t>
            </a:r>
          </a:p>
          <a:p>
            <a:r>
              <a:rPr lang="en-MY" sz="900" dirty="0">
                <a:solidFill>
                  <a:schemeClr val="tx1">
                    <a:lumMod val="85000"/>
                    <a:lumOff val="15000"/>
                  </a:schemeClr>
                </a:solidFill>
              </a:rPr>
              <a:t>PERSISTEN: NOT_APPLICABLE</a:t>
            </a:r>
          </a:p>
          <a:p>
            <a:r>
              <a:rPr lang="en-MY" sz="900" dirty="0">
                <a:solidFill>
                  <a:schemeClr val="tx1">
                    <a:lumMod val="85000"/>
                    <a:lumOff val="15000"/>
                  </a:schemeClr>
                </a:solidFill>
              </a:rPr>
              <a:t>LEVEL: pilihan interaksi 0 · lapisan skrin 1</a:t>
            </a:r>
          </a:p>
          <a:p>
            <a:r>
              <a:rPr lang="en-MY" sz="900" dirty="0">
                <a:solidFill>
                  <a:schemeClr val="tx1">
                    <a:lumMod val="85000"/>
                    <a:lumOff val="15000"/>
                  </a:schemeClr>
                </a:solidFill>
              </a:rPr>
              <a:t>INDUK: SCR_STRUKTUR_PERSISIR_AIR_MAIN</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Tiada interaksi kandungan. Kemajuan melalui shell LMS.</a:t>
            </a:r>
          </a:p>
          <a:p>
            <a:r>
              <a:rPr lang="en-MY" sz="900" dirty="0">
                <a:solidFill>
                  <a:schemeClr val="tx1">
                    <a:lumMod val="85000"/>
                    <a:lumOff val="15000"/>
                  </a:schemeClr>
                </a:solidFill>
              </a:rPr>
              <a:t>STATUS KEPUTUSAN: B02-D-01</a:t>
            </a:r>
          </a:p>
          <a:p>
            <a:r>
              <a:rPr lang="en-MY" sz="900" dirty="0">
                <a:solidFill>
                  <a:schemeClr val="tx1">
                    <a:lumMod val="85000"/>
                    <a:lumOff val="15000"/>
                  </a:schemeClr>
                </a:solidFill>
              </a:rPr>
              <a:t>STATUS BELUM SELESAI: NONE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Contoh Struktur Persisir Air</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Contoh Struktur Persisir Air</a:t>
            </a:r>
          </a:p>
        </p:txBody>
      </p:sp>
      <p:sp>
        <p:nvSpPr>
          <p:cNvPr id="25" name="Instr"/>
          <p:cNvSpPr txBox="1"/>
          <p:nvPr/>
        </p:nvSpPr>
        <p:spPr>
          <a:xfrm>
            <a:off x="723930" y="1207008"/>
            <a:ext cx="10744200" cy="384048"/>
          </a:xfrm>
          <a:prstGeom prst="rect">
            <a:avLst/>
          </a:prstGeom>
          <a:noFill/>
        </p:spPr>
        <p:txBody>
          <a:bodyPr wrap="square">
            <a:noAutofit/>
          </a:bodyPr>
          <a:lstStyle/>
          <a:p>
            <a:pPr algn="ctr"/>
            <a:r>
              <a:rPr lang="en-MY" sz="1600" dirty="0">
                <a:solidFill>
                  <a:schemeClr val="tx1">
                    <a:lumMod val="85000"/>
                    <a:lumOff val="15000"/>
                  </a:schemeClr>
                </a:solidFill>
              </a:rPr>
              <a:t>Klik pada setiap contoh untuk penjelasan lanjut.</a:t>
            </a:r>
          </a:p>
        </p:txBody>
      </p:sp>
      <p:sp>
        <p:nvSpPr>
          <p:cNvPr id="40" name="ItemCard"/>
          <p:cNvSpPr txBox="1"/>
          <p:nvPr/>
        </p:nvSpPr>
        <p:spPr>
          <a:xfrm>
            <a:off x="723885" y="1965960"/>
            <a:ext cx="3325368" cy="1481328"/>
          </a:xfrm>
          <a:prstGeom prst="rect">
            <a:avLst/>
          </a:prstGeom>
          <a:solidFill>
            <a:srgbClr val="F2F2F2"/>
          </a:solidFill>
          <a:ln w="12700">
            <a:solidFill>
              <a:srgbClr val="404040"/>
            </a:solidFill>
          </a:ln>
        </p:spPr>
        <p:txBody>
          <a:bodyPr wrap="square" anchor="ctr">
            <a:noAutofit/>
          </a:bodyPr>
          <a:lstStyle/>
          <a:p>
            <a:pPr algn="ctr"/>
            <a:r>
              <a:rPr lang="en-MY" sz="1500" b="1" dirty="0">
                <a:solidFill>
                  <a:schemeClr val="tx1">
                    <a:lumMod val="85000"/>
                    <a:lumOff val="15000"/>
                  </a:schemeClr>
                </a:solidFill>
              </a:rPr>
              <a:t>Promenade</a:t>
            </a:r>
          </a:p>
        </p:txBody>
      </p:sp>
      <p:sp>
        <p:nvSpPr>
          <p:cNvPr id="41" name="ItemCard"/>
          <p:cNvSpPr txBox="1"/>
          <p:nvPr/>
        </p:nvSpPr>
        <p:spPr>
          <a:xfrm>
            <a:off x="4433301" y="1965960"/>
            <a:ext cx="3325368" cy="1481328"/>
          </a:xfrm>
          <a:prstGeom prst="rect">
            <a:avLst/>
          </a:prstGeom>
          <a:solidFill>
            <a:srgbClr val="F2F2F2"/>
          </a:solidFill>
          <a:ln w="12700">
            <a:solidFill>
              <a:srgbClr val="404040"/>
            </a:solidFill>
          </a:ln>
        </p:spPr>
        <p:txBody>
          <a:bodyPr wrap="square" anchor="ctr">
            <a:noAutofit/>
          </a:bodyPr>
          <a:lstStyle/>
          <a:p>
            <a:pPr algn="ctr"/>
            <a:r>
              <a:rPr lang="en-MY" sz="1500" b="1" dirty="0">
                <a:solidFill>
                  <a:schemeClr val="tx1">
                    <a:lumMod val="85000"/>
                    <a:lumOff val="15000"/>
                  </a:schemeClr>
                </a:solidFill>
              </a:rPr>
              <a:t>Jeti</a:t>
            </a:r>
          </a:p>
        </p:txBody>
      </p:sp>
      <p:sp>
        <p:nvSpPr>
          <p:cNvPr id="42" name="ItemCard"/>
          <p:cNvSpPr txBox="1"/>
          <p:nvPr/>
        </p:nvSpPr>
        <p:spPr>
          <a:xfrm>
            <a:off x="8142717" y="1965960"/>
            <a:ext cx="3325368" cy="1481328"/>
          </a:xfrm>
          <a:prstGeom prst="rect">
            <a:avLst/>
          </a:prstGeom>
          <a:solidFill>
            <a:srgbClr val="F2F2F2"/>
          </a:solidFill>
          <a:ln w="12700">
            <a:solidFill>
              <a:srgbClr val="404040"/>
            </a:solidFill>
          </a:ln>
        </p:spPr>
        <p:txBody>
          <a:bodyPr wrap="square" anchor="ctr">
            <a:noAutofit/>
          </a:bodyPr>
          <a:lstStyle/>
          <a:p>
            <a:pPr algn="ctr"/>
            <a:r>
              <a:rPr lang="en-MY" sz="1500" b="1" dirty="0">
                <a:solidFill>
                  <a:schemeClr val="tx1">
                    <a:lumMod val="85000"/>
                    <a:lumOff val="15000"/>
                  </a:schemeClr>
                </a:solidFill>
              </a:rPr>
              <a:t>Dek Kayu</a:t>
            </a:r>
          </a:p>
        </p:txBody>
      </p:sp>
      <p:sp>
        <p:nvSpPr>
          <p:cNvPr id="43" name="ItemCard"/>
          <p:cNvSpPr txBox="1"/>
          <p:nvPr/>
        </p:nvSpPr>
        <p:spPr>
          <a:xfrm>
            <a:off x="2578593" y="3721608"/>
            <a:ext cx="3325368" cy="1481328"/>
          </a:xfrm>
          <a:prstGeom prst="rect">
            <a:avLst/>
          </a:prstGeom>
          <a:solidFill>
            <a:srgbClr val="F2F2F2"/>
          </a:solidFill>
          <a:ln w="12700">
            <a:solidFill>
              <a:srgbClr val="404040"/>
            </a:solidFill>
          </a:ln>
        </p:spPr>
        <p:txBody>
          <a:bodyPr wrap="square" anchor="ctr">
            <a:noAutofit/>
          </a:bodyPr>
          <a:lstStyle/>
          <a:p>
            <a:pPr algn="ctr"/>
            <a:r>
              <a:rPr lang="en-MY" sz="1500" b="1" dirty="0">
                <a:solidFill>
                  <a:schemeClr val="tx1">
                    <a:lumMod val="85000"/>
                    <a:lumOff val="15000"/>
                  </a:schemeClr>
                </a:solidFill>
              </a:rPr>
              <a:t>Boardwalk</a:t>
            </a:r>
          </a:p>
        </p:txBody>
      </p:sp>
      <p:sp>
        <p:nvSpPr>
          <p:cNvPr id="44" name="ItemCard"/>
          <p:cNvSpPr txBox="1"/>
          <p:nvPr/>
        </p:nvSpPr>
        <p:spPr>
          <a:xfrm>
            <a:off x="6288009" y="3721608"/>
            <a:ext cx="3325368" cy="1481328"/>
          </a:xfrm>
          <a:prstGeom prst="rect">
            <a:avLst/>
          </a:prstGeom>
          <a:solidFill>
            <a:srgbClr val="F2F2F2"/>
          </a:solidFill>
          <a:ln w="12700">
            <a:solidFill>
              <a:srgbClr val="404040"/>
            </a:solidFill>
          </a:ln>
        </p:spPr>
        <p:txBody>
          <a:bodyPr wrap="square" anchor="ctr">
            <a:noAutofit/>
          </a:bodyPr>
          <a:lstStyle/>
          <a:p>
            <a:pPr algn="ctr"/>
            <a:r>
              <a:rPr lang="en-MY" sz="1500" b="1" dirty="0">
                <a:solidFill>
                  <a:schemeClr val="tx1">
                    <a:lumMod val="85000"/>
                    <a:lumOff val="15000"/>
                  </a:schemeClr>
                </a:solidFill>
              </a:rPr>
              <a:t>Footbridge</a:t>
            </a:r>
          </a:p>
        </p:txBody>
      </p:sp>
      <p:sp>
        <p:nvSpPr>
          <p:cNvPr id="95" name="Btn"/>
          <p:cNvSpPr txBox="1"/>
          <p:nvPr/>
        </p:nvSpPr>
        <p:spPr>
          <a:xfrm>
            <a:off x="5295885" y="6419088"/>
            <a:ext cx="1600200" cy="347472"/>
          </a:xfrm>
          <a:prstGeom prst="rect">
            <a:avLst/>
          </a:prstGeom>
          <a:solidFill>
            <a:srgbClr val="D9D9D9"/>
          </a:solidFill>
          <a:ln w="12700">
            <a:solidFill>
              <a:srgbClr val="BFBFBF"/>
            </a:solidFill>
          </a:ln>
        </p:spPr>
        <p:txBody>
          <a:bodyPr wrap="square" anchor="ctr">
            <a:noAutofit/>
          </a:bodyPr>
          <a:lstStyle/>
          <a:p>
            <a:pPr algn="ctr"/>
            <a:r>
              <a:rPr lang="en-MY" sz="1600" b="1" dirty="0">
                <a:solidFill>
                  <a:srgbClr val="808080"/>
                </a:solidFill>
              </a:rPr>
              <a:t>Kembali</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Contoh Struktur Persisir Air</a:t>
            </a:r>
          </a:p>
          <a:p>
            <a:r>
              <a:rPr lang="en-MY" sz="900" dirty="0">
                <a:solidFill>
                  <a:schemeClr val="tx1">
                    <a:lumMod val="85000"/>
                    <a:lumOff val="15000"/>
                  </a:schemeClr>
                </a:solidFill>
              </a:rPr>
              <a:t>KELUARGA PELAKSANAAN: FAMILY_S</a:t>
            </a:r>
          </a:p>
          <a:p>
            <a:r>
              <a:rPr lang="en-MY" sz="900" dirty="0">
                <a:solidFill>
                  <a:schemeClr val="tx1">
                    <a:lumMod val="85000"/>
                    <a:lumOff val="15000"/>
                  </a:schemeClr>
                </a:solidFill>
              </a:rPr>
              <a:t>PERANAN HALAMAN SEMAKAN: COMPONENT_EXAMPLES_BASE</a:t>
            </a:r>
          </a:p>
          <a:p>
            <a:r>
              <a:rPr lang="en-MY" sz="900" dirty="0">
                <a:solidFill>
                  <a:schemeClr val="tx1">
                    <a:lumMod val="85000"/>
                    <a:lumOff val="15000"/>
                  </a:schemeClr>
                </a:solidFill>
              </a:rPr>
              <a:t/>
            </a:r>
          </a:p>
          <a:p>
            <a:r>
              <a:rPr lang="en-MY" sz="900" dirty="0">
                <a:solidFill>
                  <a:schemeClr val="tx1">
                    <a:lumMod val="85000"/>
                    <a:lumOff val="15000"/>
                  </a:schemeClr>
                </a:solidFill>
              </a:rPr>
              <a:t>BUKTI: Family S example selection</a:t>
            </a:r>
          </a:p>
          <a:p>
            <a:r>
              <a:rPr lang="en-MY" sz="900" dirty="0">
                <a:solidFill>
                  <a:schemeClr val="tx1">
                    <a:lumMod val="85000"/>
                    <a:lumOff val="15000"/>
                  </a:schemeClr>
                </a:solidFill>
              </a:rPr>
              <a:t>POLISI NOTA: CONTENT_VO_NOTES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NO_CONTROL  [none]</a:t>
            </a:r>
          </a:p>
          <a:p>
            <a:r>
              <a:rPr lang="en-MY" sz="900" dirty="0">
                <a:solidFill>
                  <a:schemeClr val="tx1">
                    <a:lumMod val="85000"/>
                    <a:lumOff val="15000"/>
                  </a:schemeClr>
                </a:solidFill>
              </a:rPr>
              <a:t>  back  = KEMBALI_BUTTON  [component_complete[STRUKTUR_PERSISIR_AIR]]</a:t>
            </a:r>
          </a:p>
          <a:p>
            <a:r>
              <a:rPr lang="en-MY" sz="900" dirty="0">
                <a:solidFill>
                  <a:schemeClr val="tx1">
                    <a:lumMod val="85000"/>
                    <a:lumOff val="15000"/>
                  </a:schemeClr>
                </a:solidFill>
              </a:rPr>
              <a:t>  close = NO_CONTROL</a:t>
            </a:r>
          </a:p>
          <a:p>
            <a:r>
              <a:rPr lang="en-MY" sz="900" dirty="0">
                <a:solidFill>
                  <a:schemeClr val="tx1">
                    <a:lumMod val="85000"/>
                    <a:lumOff val="15000"/>
                  </a:schemeClr>
                </a:solidFill>
              </a:rPr>
              <a:t>  return_target = SCR_GM_STRUKTUR</a:t>
            </a:r>
          </a:p>
          <a:p>
            <a:r>
              <a:rPr lang="en-MY" sz="900" dirty="0">
                <a:solidFill>
                  <a:schemeClr val="tx1">
                    <a:lumMod val="85000"/>
                    <a:lumOff val="15000"/>
                  </a:schemeClr>
                </a:solidFill>
              </a:rPr>
              <a:t>SKOP SELESAI: COMPONENT</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0 · lapisan skrin 2</a:t>
            </a:r>
          </a:p>
          <a:p>
            <a:r>
              <a:rPr lang="en-MY" sz="900" dirty="0">
                <a:solidFill>
                  <a:schemeClr val="tx1">
                    <a:lumMod val="85000"/>
                    <a:lumOff val="15000"/>
                  </a:schemeClr>
                </a:solidFill>
              </a:rPr>
              <a:t>INDUK: SCR_STRUKTUR_PERSISIR_AIR_EXAMPLES</a:t>
            </a:r>
          </a:p>
          <a:p>
            <a:r>
              <a:rPr lang="en-MY" sz="900" b="1" dirty="0">
                <a:solidFill>
                  <a:schemeClr val="tx1">
                    <a:lumMod val="85000"/>
                    <a:lumOff val="15000"/>
                  </a:schemeClr>
                </a:solidFill>
              </a:rPr>
              <a:t>SUMBER:</a:t>
            </a:r>
          </a:p>
          <a:p>
            <a:r>
              <a:rPr lang="en-MY" sz="900" dirty="0">
                <a:solidFill>
                  <a:schemeClr val="tx1">
                    <a:lumMod val="85000"/>
                    <a:lumOff val="15000"/>
                  </a:schemeClr>
                </a:solidFill>
              </a:rPr>
              <a:t>  K5-PL06-T03-B02-STRUKTUR-PERSISIR-AIR-ROW-01</a:t>
            </a:r>
          </a:p>
          <a:p>
            <a:r>
              <a:rPr lang="en-MY" sz="900" dirty="0">
                <a:solidFill>
                  <a:schemeClr val="tx1">
                    <a:lumMod val="85000"/>
                    <a:lumOff val="15000"/>
                  </a:schemeClr>
                </a:solidFill>
              </a:rPr>
              <a:t>    ms 238 / fizikal 257</a:t>
            </a:r>
          </a:p>
          <a:p>
            <a:r>
              <a:rPr lang="en-MY" sz="900" dirty="0">
                <a:solidFill>
                  <a:schemeClr val="tx1">
                    <a:lumMod val="85000"/>
                    <a:lumOff val="15000"/>
                  </a:schemeClr>
                </a:solidFill>
              </a:rPr>
              <a:t>  K5-PL06-T03-B02-STRUKTUR-PERSISIR-AIR-ROW-02</a:t>
            </a:r>
          </a:p>
          <a:p>
            <a:r>
              <a:rPr lang="en-MY" sz="900" dirty="0">
                <a:solidFill>
                  <a:schemeClr val="tx1">
                    <a:lumMod val="85000"/>
                    <a:lumOff val="15000"/>
                  </a:schemeClr>
                </a:solidFill>
              </a:rPr>
              <a:t>    ms 238 / fizikal 257</a:t>
            </a:r>
          </a:p>
          <a:p>
            <a:r>
              <a:rPr lang="en-MY" sz="900" dirty="0">
                <a:solidFill>
                  <a:schemeClr val="tx1">
                    <a:lumMod val="85000"/>
                    <a:lumOff val="15000"/>
                  </a:schemeClr>
                </a:solidFill>
              </a:rPr>
              <a:t>  K5-PL06-T03-B02-STRUKTUR-PERSISIR-AIR-ROW-03</a:t>
            </a:r>
          </a:p>
          <a:p>
            <a:r>
              <a:rPr lang="en-MY" sz="900" dirty="0">
                <a:solidFill>
                  <a:schemeClr val="tx1">
                    <a:lumMod val="85000"/>
                    <a:lumOff val="15000"/>
                  </a:schemeClr>
                </a:solidFill>
              </a:rPr>
              <a:t>    ms 238 / fizikal 257</a:t>
            </a:r>
          </a:p>
          <a:p>
            <a:r>
              <a:rPr lang="en-MY" sz="900" dirty="0">
                <a:solidFill>
                  <a:schemeClr val="tx1">
                    <a:lumMod val="85000"/>
                    <a:lumOff val="15000"/>
                  </a:schemeClr>
                </a:solidFill>
              </a:rPr>
              <a:t>  K5-PL06-T03-B02-STRUKTUR-PERSISIR-AIR-ROW-04</a:t>
            </a:r>
          </a:p>
          <a:p>
            <a:r>
              <a:rPr lang="en-MY" sz="900" dirty="0">
                <a:solidFill>
                  <a:schemeClr val="tx1">
                    <a:lumMod val="85000"/>
                    <a:lumOff val="15000"/>
                  </a:schemeClr>
                </a:solidFill>
              </a:rPr>
              <a:t>    ms 238 / fizikal 257</a:t>
            </a:r>
          </a:p>
          <a:p>
            <a:r>
              <a:rPr lang="en-MY" sz="900" dirty="0">
                <a:solidFill>
                  <a:schemeClr val="tx1">
                    <a:lumMod val="85000"/>
                    <a:lumOff val="15000"/>
                  </a:schemeClr>
                </a:solidFill>
              </a:rPr>
              <a:t>  K5-PL06-T03-B02-STRUKTUR-PERSISIR-AIR-ROW-05</a:t>
            </a:r>
          </a:p>
          <a:p>
            <a:r>
              <a:rPr lang="en-MY" sz="900" dirty="0">
                <a:solidFill>
                  <a:schemeClr val="tx1">
                    <a:lumMod val="85000"/>
                    <a:lumOff val="15000"/>
                  </a:schemeClr>
                </a:solidFill>
              </a:rPr>
              <a:t>    ms 238 / fizikal 257</a:t>
            </a:r>
          </a:p>
          <a:p>
            <a:r>
              <a:rPr lang="en-MY" sz="900" b="1" dirty="0">
                <a:solidFill>
                  <a:schemeClr val="tx1">
                    <a:lumMod val="85000"/>
                    <a:lumOff val="15000"/>
                  </a:schemeClr>
                </a:solidFill>
              </a:rPr>
              <a:t>ITEM INTERAKSI:</a:t>
            </a:r>
          </a:p>
          <a:p>
            <a:r>
              <a:rPr lang="en-MY" sz="900" dirty="0">
                <a:solidFill>
                  <a:schemeClr val="tx1">
                    <a:lumMod val="85000"/>
                    <a:lumOff val="15000"/>
                  </a:schemeClr>
                </a:solidFill>
              </a:rPr>
              <a:t>  II_STRUKTUR_PERSISIR_AIR_EX01  &lt;-  K5-PL06-T03-B02-STRUKTUR-PERSISIR-AIR-ROW-01</a:t>
            </a:r>
          </a:p>
          <a:p>
            <a:r>
              <a:rPr lang="en-MY" sz="900" dirty="0">
                <a:solidFill>
                  <a:schemeClr val="tx1">
                    <a:lumMod val="85000"/>
                    <a:lumOff val="15000"/>
                  </a:schemeClr>
                </a:solidFill>
              </a:rPr>
              <a:t>  II_STRUKTUR_PERSISIR_AIR_EX02  &lt;-  K5-PL06-T03-B02-STRUKTUR-PERSISIR-AIR-ROW-02</a:t>
            </a:r>
          </a:p>
          <a:p>
            <a:r>
              <a:rPr lang="en-MY" sz="900" dirty="0">
                <a:solidFill>
                  <a:schemeClr val="tx1">
                    <a:lumMod val="85000"/>
                    <a:lumOff val="15000"/>
                  </a:schemeClr>
                </a:solidFill>
              </a:rPr>
              <a:t>  II_STRUKTUR_PERSISIR_AIR_EX03  &lt;-  K5-PL06-T03-B02-STRUKTUR-PERSISIR-AIR-ROW-03</a:t>
            </a:r>
          </a:p>
          <a:p>
            <a:r>
              <a:rPr lang="en-MY" sz="900" dirty="0">
                <a:solidFill>
                  <a:schemeClr val="tx1">
                    <a:lumMod val="85000"/>
                    <a:lumOff val="15000"/>
                  </a:schemeClr>
                </a:solidFill>
              </a:rPr>
              <a:t>  II_STRUKTUR_PERSISIR_AIR_EX04  &lt;-  K5-PL06-T03-B02-STRUKTUR-PERSISIR-AIR-ROW-04</a:t>
            </a:r>
          </a:p>
          <a:p>
            <a:r>
              <a:rPr lang="en-MY" sz="900" dirty="0">
                <a:solidFill>
                  <a:schemeClr val="tx1">
                    <a:lumMod val="85000"/>
                    <a:lumOff val="15000"/>
                  </a:schemeClr>
                </a:solidFill>
              </a:rPr>
              <a:t>  II_STRUKTUR_PERSISIR_AIR_EX05  &lt;-  K5-PL06-T03-B02-STRUKTUR-PERSISIR-AIR-ROW-05</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Contoh boleh diklik dalam sebarang susunan.</a:t>
            </a:r>
          </a:p>
          <a:p>
            <a:r>
              <a:rPr lang="en-MY" sz="900" dirty="0">
                <a:solidFill>
                  <a:schemeClr val="tx1">
                    <a:lumMod val="85000"/>
                    <a:lumOff val="15000"/>
                  </a:schemeClr>
                </a:solidFill>
              </a:rPr>
              <a:t>  Setiap contoh membuka SATU popup. Popup ialah STATE.</a:t>
            </a:r>
          </a:p>
          <a:p>
            <a:r>
              <a:rPr lang="en-MY" sz="900" dirty="0">
                <a:solidFill>
                  <a:schemeClr val="tx1">
                    <a:lumMod val="85000"/>
                    <a:lumOff val="15000"/>
                  </a:schemeClr>
                </a:solidFill>
              </a:rPr>
              <a:t>  Menutup popup (ikon tutup) kembali ke skrin contoh yang sama.</a:t>
            </a:r>
          </a:p>
          <a:p>
            <a:r>
              <a:rPr lang="en-MY" sz="900" dirty="0">
                <a:solidFill>
                  <a:schemeClr val="tx1">
                    <a:lumMod val="85000"/>
                    <a:lumOff val="15000"/>
                  </a:schemeClr>
                </a:solidFill>
              </a:rPr>
              <a:t>  0/5 contoh dilihat.</a:t>
            </a:r>
          </a:p>
          <a:p>
            <a:r>
              <a:rPr lang="en-MY" sz="900" dirty="0">
                <a:solidFill>
                  <a:schemeClr val="tx1">
                    <a:lumMod val="85000"/>
                    <a:lumOff val="15000"/>
                  </a:schemeClr>
                </a:solidFill>
              </a:rPr>
              <a:t>STATUS KEPUTUSAN: B02-D-01</a:t>
            </a:r>
          </a:p>
          <a:p>
            <a:r>
              <a:rPr lang="en-MY" sz="900" dirty="0">
                <a:solidFill>
                  <a:schemeClr val="tx1">
                    <a:lumMod val="85000"/>
                    <a:lumOff val="15000"/>
                  </a:schemeClr>
                </a:solidFill>
              </a:rPr>
              <a:t>STATUS BELUM SELESAI: NONE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Contoh Struktur Persisir Air</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Contoh Struktur Persisir Air</a:t>
            </a:r>
          </a:p>
        </p:txBody>
      </p:sp>
      <p:sp>
        <p:nvSpPr>
          <p:cNvPr id="25" name="Instr"/>
          <p:cNvSpPr txBox="1"/>
          <p:nvPr/>
        </p:nvSpPr>
        <p:spPr>
          <a:xfrm>
            <a:off x="723930" y="1207008"/>
            <a:ext cx="10744200" cy="384048"/>
          </a:xfrm>
          <a:prstGeom prst="rect">
            <a:avLst/>
          </a:prstGeom>
          <a:noFill/>
        </p:spPr>
        <p:txBody>
          <a:bodyPr wrap="square">
            <a:noAutofit/>
          </a:bodyPr>
          <a:lstStyle/>
          <a:p>
            <a:pPr algn="ctr"/>
            <a:r>
              <a:rPr lang="en-MY" sz="1600" dirty="0">
                <a:solidFill>
                  <a:schemeClr val="tx1">
                    <a:lumMod val="85000"/>
                    <a:lumOff val="15000"/>
                  </a:schemeClr>
                </a:solidFill>
              </a:rPr>
              <a:t>Klik pada setiap contoh untuk penjelasan lanjut.</a:t>
            </a:r>
          </a:p>
        </p:txBody>
      </p:sp>
      <p:sp>
        <p:nvSpPr>
          <p:cNvPr id="40" name="ItemCard"/>
          <p:cNvSpPr txBox="1"/>
          <p:nvPr/>
        </p:nvSpPr>
        <p:spPr>
          <a:xfrm>
            <a:off x="723885" y="1965960"/>
            <a:ext cx="3325368"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Promenade</a:t>
            </a:r>
          </a:p>
        </p:txBody>
      </p:sp>
      <p:sp>
        <p:nvSpPr>
          <p:cNvPr id="41" name="Tick"/>
          <p:cNvSpPr/>
          <p:nvPr/>
        </p:nvSpPr>
        <p:spPr>
          <a:xfrm>
            <a:off x="3646917" y="204825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2" name="ItemCard"/>
          <p:cNvSpPr txBox="1"/>
          <p:nvPr/>
        </p:nvSpPr>
        <p:spPr>
          <a:xfrm>
            <a:off x="4433301" y="1965960"/>
            <a:ext cx="3325368" cy="1481328"/>
          </a:xfrm>
          <a:prstGeom prst="rect">
            <a:avLst/>
          </a:prstGeom>
          <a:solidFill>
            <a:srgbClr val="F2F2F2"/>
          </a:solidFill>
          <a:ln w="12700">
            <a:solidFill>
              <a:srgbClr val="404040"/>
            </a:solidFill>
          </a:ln>
        </p:spPr>
        <p:txBody>
          <a:bodyPr wrap="square" anchor="ctr">
            <a:noAutofit/>
          </a:bodyPr>
          <a:lstStyle/>
          <a:p>
            <a:pPr algn="ctr"/>
            <a:r>
              <a:rPr lang="en-MY" sz="1500" b="1" dirty="0">
                <a:solidFill>
                  <a:schemeClr val="tx1">
                    <a:lumMod val="85000"/>
                    <a:lumOff val="15000"/>
                  </a:schemeClr>
                </a:solidFill>
              </a:rPr>
              <a:t>Jeti</a:t>
            </a:r>
          </a:p>
        </p:txBody>
      </p:sp>
      <p:sp>
        <p:nvSpPr>
          <p:cNvPr id="43" name="ItemCard"/>
          <p:cNvSpPr txBox="1"/>
          <p:nvPr/>
        </p:nvSpPr>
        <p:spPr>
          <a:xfrm>
            <a:off x="8142717" y="1965960"/>
            <a:ext cx="3325368" cy="1481328"/>
          </a:xfrm>
          <a:prstGeom prst="rect">
            <a:avLst/>
          </a:prstGeom>
          <a:solidFill>
            <a:srgbClr val="F2F2F2"/>
          </a:solidFill>
          <a:ln w="12700">
            <a:solidFill>
              <a:srgbClr val="404040"/>
            </a:solidFill>
          </a:ln>
        </p:spPr>
        <p:txBody>
          <a:bodyPr wrap="square" anchor="ctr">
            <a:noAutofit/>
          </a:bodyPr>
          <a:lstStyle/>
          <a:p>
            <a:pPr algn="ctr"/>
            <a:r>
              <a:rPr lang="en-MY" sz="1500" b="1" dirty="0">
                <a:solidFill>
                  <a:schemeClr val="tx1">
                    <a:lumMod val="85000"/>
                    <a:lumOff val="15000"/>
                  </a:schemeClr>
                </a:solidFill>
              </a:rPr>
              <a:t>Dek Kayu</a:t>
            </a:r>
          </a:p>
        </p:txBody>
      </p:sp>
      <p:sp>
        <p:nvSpPr>
          <p:cNvPr id="44" name="ItemCard"/>
          <p:cNvSpPr txBox="1"/>
          <p:nvPr/>
        </p:nvSpPr>
        <p:spPr>
          <a:xfrm>
            <a:off x="2578593" y="3721608"/>
            <a:ext cx="3325368" cy="1481328"/>
          </a:xfrm>
          <a:prstGeom prst="rect">
            <a:avLst/>
          </a:prstGeom>
          <a:solidFill>
            <a:srgbClr val="F2F2F2"/>
          </a:solidFill>
          <a:ln w="12700">
            <a:solidFill>
              <a:srgbClr val="404040"/>
            </a:solidFill>
          </a:ln>
        </p:spPr>
        <p:txBody>
          <a:bodyPr wrap="square" anchor="ctr">
            <a:noAutofit/>
          </a:bodyPr>
          <a:lstStyle/>
          <a:p>
            <a:pPr algn="ctr"/>
            <a:r>
              <a:rPr lang="en-MY" sz="1500" b="1" dirty="0">
                <a:solidFill>
                  <a:schemeClr val="tx1">
                    <a:lumMod val="85000"/>
                    <a:lumOff val="15000"/>
                  </a:schemeClr>
                </a:solidFill>
              </a:rPr>
              <a:t>Boardwalk</a:t>
            </a:r>
          </a:p>
        </p:txBody>
      </p:sp>
      <p:sp>
        <p:nvSpPr>
          <p:cNvPr id="45" name="ItemCard"/>
          <p:cNvSpPr txBox="1"/>
          <p:nvPr/>
        </p:nvSpPr>
        <p:spPr>
          <a:xfrm>
            <a:off x="6288009" y="3721608"/>
            <a:ext cx="3325368" cy="1481328"/>
          </a:xfrm>
          <a:prstGeom prst="rect">
            <a:avLst/>
          </a:prstGeom>
          <a:solidFill>
            <a:srgbClr val="F2F2F2"/>
          </a:solidFill>
          <a:ln w="12700">
            <a:solidFill>
              <a:srgbClr val="404040"/>
            </a:solidFill>
          </a:ln>
        </p:spPr>
        <p:txBody>
          <a:bodyPr wrap="square" anchor="ctr">
            <a:noAutofit/>
          </a:bodyPr>
          <a:lstStyle/>
          <a:p>
            <a:pPr algn="ctr"/>
            <a:r>
              <a:rPr lang="en-MY" sz="1500" b="1" dirty="0">
                <a:solidFill>
                  <a:schemeClr val="tx1">
                    <a:lumMod val="85000"/>
                    <a:lumOff val="15000"/>
                  </a:schemeClr>
                </a:solidFill>
              </a:rPr>
              <a:t>Footbridge</a:t>
            </a:r>
          </a:p>
        </p:txBody>
      </p:sp>
      <p:sp>
        <p:nvSpPr>
          <p:cNvPr id="200" name="PopupPanel"/>
          <p:cNvSpPr txBox="1"/>
          <p:nvPr/>
        </p:nvSpPr>
        <p:spPr>
          <a:xfrm>
            <a:off x="1234440" y="1737360"/>
            <a:ext cx="9723090" cy="3017520"/>
          </a:xfrm>
          <a:prstGeom prst="rect">
            <a:avLst/>
          </a:prstGeom>
          <a:solidFill>
            <a:srgbClr val="FFFFFF"/>
          </a:solidFill>
          <a:ln w="28575">
            <a:solidFill>
              <a:srgbClr val="1F4E79"/>
            </a:solidFill>
          </a:ln>
        </p:spPr>
        <p:txBody>
          <a:bodyPr wrap="square">
            <a:noAutofit/>
          </a:bodyPr>
          <a:lstStyle/>
        </p:txBody>
      </p:sp>
      <p:sp>
        <p:nvSpPr>
          <p:cNvPr id="201" name="PopupTitle"/>
          <p:cNvSpPr txBox="1"/>
          <p:nvPr/>
        </p:nvSpPr>
        <p:spPr>
          <a:xfrm>
            <a:off x="1490472" y="1883664"/>
            <a:ext cx="8534370" cy="365760"/>
          </a:xfrm>
          <a:prstGeom prst="rect">
            <a:avLst/>
          </a:prstGeom>
          <a:noFill/>
        </p:spPr>
        <p:txBody>
          <a:bodyPr wrap="square">
            <a:noAutofit/>
          </a:bodyPr>
          <a:lstStyle/>
          <a:p>
            <a:pPr/>
            <a:r>
              <a:rPr lang="en-MY" sz="2000" b="1" dirty="0">
                <a:solidFill>
                  <a:schemeClr val="tx1">
                    <a:lumMod val="85000"/>
                    <a:lumOff val="15000"/>
                  </a:schemeClr>
                </a:solidFill>
              </a:rPr>
              <a:t>Promenade</a:t>
            </a:r>
          </a:p>
        </p:txBody>
      </p:sp>
      <p:sp>
        <p:nvSpPr>
          <p:cNvPr id="260" name="CloseIcon"/>
          <p:cNvSpPr/>
          <p:nvPr/>
        </p:nvSpPr>
        <p:spPr>
          <a:xfrm>
            <a:off x="10317450" y="1901952"/>
            <a:ext cx="384048" cy="384048"/>
          </a:xfrm>
          <a:prstGeom prst="ellipse">
            <a:avLst/>
          </a:prstGeom>
          <a:solidFill>
            <a:srgbClr val="1F4E79"/>
          </a:solidFill>
          <a:ln>
            <a:noFill/>
          </a:ln>
        </p:spPr>
        <p:txBody>
          <a:bodyPr/>
          <a:lstStyle/>
          <a:p>
            <a:endParaRPr lang="en-MY"/>
          </a:p>
        </p:txBody>
      </p:sp>
      <p:sp>
        <p:nvSpPr>
          <p:cNvPr id="261" name="CloseGlyph"/>
          <p:cNvSpPr/>
          <p:nvPr/>
        </p:nvSpPr>
        <p:spPr>
          <a:xfrm>
            <a:off x="10421142" y="2005645"/>
            <a:ext cx="176662" cy="176662"/>
          </a:xfrm>
          <a:custGeom>
            <a:avLst/>
            <a:gdLst/>
            <a:ahLst/>
            <a:cxnLst/>
            <a:rect l="0" t="0" r="r" b="b"/>
            <a:pathLst>
              <a:path w="100" h="100">
                <a:moveTo>
                  <a:pt x="25" y="0"/>
                </a:moveTo>
                <a:lnTo>
                  <a:pt x="50" y="25"/>
                </a:lnTo>
                <a:lnTo>
                  <a:pt x="75" y="0"/>
                </a:lnTo>
                <a:lnTo>
                  <a:pt x="100" y="25"/>
                </a:lnTo>
                <a:lnTo>
                  <a:pt x="75" y="50"/>
                </a:lnTo>
                <a:lnTo>
                  <a:pt x="100" y="75"/>
                </a:lnTo>
                <a:lnTo>
                  <a:pt x="75" y="100"/>
                </a:lnTo>
                <a:lnTo>
                  <a:pt x="50" y="75"/>
                </a:lnTo>
                <a:lnTo>
                  <a:pt x="25" y="100"/>
                </a:lnTo>
                <a:lnTo>
                  <a:pt x="0" y="75"/>
                </a:lnTo>
                <a:lnTo>
                  <a:pt x="25" y="50"/>
                </a:lnTo>
                <a:lnTo>
                  <a:pt x="0" y="25"/>
                </a:lnTo>
                <a:close/>
              </a:path>
            </a:pathLst>
          </a:custGeom>
          <a:solidFill>
            <a:srgbClr val="FFFFFF"/>
          </a:solidFill>
          <a:ln>
            <a:noFill/>
          </a:ln>
        </p:spPr>
        <p:txBody>
          <a:bodyPr/>
          <a:lstStyle/>
          <a:p>
            <a:endParaRPr lang="en-MY"/>
          </a:p>
        </p:txBody>
      </p:sp>
      <p:sp>
        <p:nvSpPr>
          <p:cNvPr id="210" name="FHead"/>
          <p:cNvSpPr txBox="1"/>
          <p:nvPr/>
        </p:nvSpPr>
        <p:spPr>
          <a:xfrm>
            <a:off x="1490472" y="2468880"/>
            <a:ext cx="9211026" cy="219456"/>
          </a:xfrm>
          <a:prstGeom prst="rect">
            <a:avLst/>
          </a:prstGeom>
          <a:noFill/>
        </p:spPr>
        <p:txBody>
          <a:bodyPr wrap="square">
            <a:noAutofit/>
          </a:bodyPr>
          <a:lstStyle/>
          <a:p>
            <a:pPr/>
            <a:r>
              <a:rPr lang="en-MY" sz="950" b="1" dirty="0">
                <a:solidFill>
                  <a:srgbClr val="7F6000"/>
                </a:solidFill>
              </a:rPr>
              <a:t>Fungsi dan Penerangan</a:t>
            </a:r>
          </a:p>
        </p:txBody>
      </p:sp>
      <p:sp>
        <p:nvSpPr>
          <p:cNvPr id="211" name="FBody"/>
          <p:cNvSpPr txBox="1"/>
          <p:nvPr/>
        </p:nvSpPr>
        <p:spPr>
          <a:xfrm>
            <a:off x="1490472" y="2706624"/>
            <a:ext cx="9211026" cy="219456"/>
          </a:xfrm>
          <a:prstGeom prst="rect">
            <a:avLst/>
          </a:prstGeom>
          <a:noFill/>
        </p:spPr>
        <p:txBody>
          <a:bodyPr wrap="square">
            <a:noAutofit/>
          </a:bodyPr>
          <a:lstStyle/>
          <a:p>
            <a:pPr/>
            <a:r>
              <a:rPr lang="en-MY" sz="1250" dirty="0">
                <a:solidFill>
                  <a:schemeClr val="tx1">
                    <a:lumMod val="85000"/>
                    <a:lumOff val="15000"/>
                  </a:schemeClr>
                </a:solidFill>
              </a:rPr>
              <a:t>Laluan lebar di sepanjang pinggir air, selesa untuk berjalan dan bersantai.</a:t>
            </a:r>
          </a:p>
        </p:txBody>
      </p:sp>
      <p:sp>
        <p:nvSpPr>
          <p:cNvPr id="212" name="FHead"/>
          <p:cNvSpPr txBox="1"/>
          <p:nvPr/>
        </p:nvSpPr>
        <p:spPr>
          <a:xfrm>
            <a:off x="1490472" y="3086100"/>
            <a:ext cx="9211026" cy="219456"/>
          </a:xfrm>
          <a:prstGeom prst="rect">
            <a:avLst/>
          </a:prstGeom>
          <a:noFill/>
        </p:spPr>
        <p:txBody>
          <a:bodyPr wrap="square">
            <a:noAutofit/>
          </a:bodyPr>
          <a:lstStyle/>
          <a:p>
            <a:pPr/>
            <a:r>
              <a:rPr lang="en-MY" sz="950" b="1" dirty="0">
                <a:solidFill>
                  <a:srgbClr val="7F6000"/>
                </a:solidFill>
              </a:rPr>
              <a:t>Contoh</a:t>
            </a:r>
          </a:p>
        </p:txBody>
      </p:sp>
      <p:sp>
        <p:nvSpPr>
          <p:cNvPr id="213" name="FBody"/>
          <p:cNvSpPr txBox="1"/>
          <p:nvPr/>
        </p:nvSpPr>
        <p:spPr>
          <a:xfrm>
            <a:off x="1490472" y="3323844"/>
            <a:ext cx="9211026" cy="219456"/>
          </a:xfrm>
          <a:prstGeom prst="rect">
            <a:avLst/>
          </a:prstGeom>
          <a:noFill/>
        </p:spPr>
        <p:txBody>
          <a:bodyPr wrap="square">
            <a:noAutofit/>
          </a:bodyPr>
          <a:lstStyle/>
          <a:p>
            <a:pPr/>
            <a:r>
              <a:rPr lang="en-MY" sz="1250" dirty="0">
                <a:solidFill>
                  <a:schemeClr val="tx1">
                    <a:lumMod val="85000"/>
                    <a:lumOff val="15000"/>
                  </a:schemeClr>
                </a:solidFill>
              </a:rPr>
              <a:t>Promenade Tasik Titiwangsa, KL</a:t>
            </a:r>
          </a:p>
        </p:txBody>
      </p:sp>
      <p:sp>
        <p:nvSpPr>
          <p:cNvPr id="214" name="FHead"/>
          <p:cNvSpPr txBox="1"/>
          <p:nvPr/>
        </p:nvSpPr>
        <p:spPr>
          <a:xfrm>
            <a:off x="1490472" y="3703320"/>
            <a:ext cx="9211026" cy="219456"/>
          </a:xfrm>
          <a:prstGeom prst="rect">
            <a:avLst/>
          </a:prstGeom>
          <a:noFill/>
        </p:spPr>
        <p:txBody>
          <a:bodyPr wrap="square">
            <a:noAutofit/>
          </a:bodyPr>
          <a:lstStyle/>
          <a:p>
            <a:pPr/>
            <a:r>
              <a:rPr lang="en-MY" sz="950" b="1" dirty="0">
                <a:solidFill>
                  <a:srgbClr val="7F6000"/>
                </a:solidFill>
              </a:rPr>
              <a:t>ARAHAN VISUAL — TIDAK DIBENAMKAN</a:t>
            </a:r>
          </a:p>
        </p:txBody>
      </p:sp>
      <p:sp>
        <p:nvSpPr>
          <p:cNvPr id="215" name="FBody"/>
          <p:cNvSpPr txBox="1"/>
          <p:nvPr/>
        </p:nvSpPr>
        <p:spPr>
          <a:xfrm>
            <a:off x="1490472" y="3941064"/>
            <a:ext cx="9211026" cy="429768"/>
          </a:xfrm>
          <a:prstGeom prst="rect">
            <a:avLst/>
          </a:prstGeom>
          <a:noFill/>
        </p:spPr>
        <p:txBody>
          <a:bodyPr wrap="square">
            <a:noAutofit/>
          </a:bodyPr>
          <a:lstStyle/>
          <a:p>
            <a:pPr/>
            <a:r>
              <a:rPr lang="en-MY" sz="1250" dirty="0">
                <a:solidFill>
                  <a:schemeClr val="tx1">
                    <a:lumMod val="85000"/>
                    <a:lumOff val="15000"/>
                  </a:schemeClr>
                </a:solidFill>
              </a:rPr>
              <a:t>[Visual: Arahan visual untuk Promenade — spesifikasi teks sahaja, modul ms 238. Tidak</a:t>
            </a:r>
          </a:p>
          <a:p>
            <a:pPr/>
            <a:r>
              <a:rPr lang="en-MY" sz="1250" dirty="0">
                <a:solidFill>
                  <a:schemeClr val="tx1">
                    <a:lumMod val="85000"/>
                    <a:lumOff val="15000"/>
                  </a:schemeClr>
                </a:solidFill>
              </a:rPr>
              <a:t>dibenamkan.]</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Contoh Struktur Persisir Air</a:t>
            </a:r>
          </a:p>
          <a:p>
            <a:r>
              <a:rPr lang="en-MY" sz="900" dirty="0">
                <a:solidFill>
                  <a:schemeClr val="tx1">
                    <a:lumMod val="85000"/>
                    <a:lumOff val="15000"/>
                  </a:schemeClr>
                </a:solidFill>
              </a:rPr>
              <a:t>KELUARGA PELAKSANAAN: FAMILY_S</a:t>
            </a:r>
          </a:p>
          <a:p>
            <a:r>
              <a:rPr lang="en-MY" sz="900" dirty="0">
                <a:solidFill>
                  <a:schemeClr val="tx1">
                    <a:lumMod val="85000"/>
                    <a:lumOff val="15000"/>
                  </a:schemeClr>
                </a:solidFill>
              </a:rPr>
              <a:t>PERANAN HALAMAN SEMAKAN: COMPONENT_EXAMPLE_POPUP</a:t>
            </a:r>
          </a:p>
          <a:p>
            <a:r>
              <a:rPr lang="en-MY" sz="900" dirty="0">
                <a:solidFill>
                  <a:schemeClr val="tx1">
                    <a:lumMod val="85000"/>
                    <a:lumOff val="15000"/>
                  </a:schemeClr>
                </a:solidFill>
              </a:rPr>
              <a:t/>
            </a:r>
          </a:p>
          <a:p>
            <a:r>
              <a:rPr lang="en-MY" sz="900" dirty="0">
                <a:solidFill>
                  <a:schemeClr val="tx1">
                    <a:lumMod val="85000"/>
                    <a:lumOff val="15000"/>
                  </a:schemeClr>
                </a:solidFill>
              </a:rPr>
              <a:t>BUKTI: Family S popup 1 of 5</a:t>
            </a:r>
          </a:p>
          <a:p>
            <a:r>
              <a:rPr lang="en-MY" sz="900" dirty="0">
                <a:solidFill>
                  <a:schemeClr val="tx1">
                    <a:lumMod val="85000"/>
                    <a:lumOff val="15000"/>
                  </a:schemeClr>
                </a:solidFill>
              </a:rPr>
              <a:t>POLISI NOTA: CONTENT_VO_NOTES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NO_CONTROL  [none]</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CLOSE_ICON</a:t>
            </a:r>
          </a:p>
          <a:p>
            <a:r>
              <a:rPr lang="en-MY" sz="900" dirty="0">
                <a:solidFill>
                  <a:schemeClr val="tx1">
                    <a:lumMod val="85000"/>
                    <a:lumOff val="15000"/>
                  </a:schemeClr>
                </a:solidFill>
              </a:rPr>
              <a:t>  return_target = SCR_STRUKTUR_PERSISIR_AIR_EXAMPLES</a:t>
            </a:r>
          </a:p>
          <a:p>
            <a:r>
              <a:rPr lang="en-MY" sz="900" dirty="0">
                <a:solidFill>
                  <a:schemeClr val="tx1">
                    <a:lumMod val="85000"/>
                    <a:lumOff val="15000"/>
                  </a:schemeClr>
                </a:solidFill>
              </a:rPr>
              <a:t>SKOP SELESAI: ITEM</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1 · lapisan skrin 3</a:t>
            </a:r>
          </a:p>
          <a:p>
            <a:r>
              <a:rPr lang="en-MY" sz="900" dirty="0">
                <a:solidFill>
                  <a:schemeClr val="tx1">
                    <a:lumMod val="85000"/>
                    <a:lumOff val="15000"/>
                  </a:schemeClr>
                </a:solidFill>
              </a:rPr>
              <a:t>INDUK: SCR_STRUKTUR_PERSISIR_AIR_EXAMPLES</a:t>
            </a:r>
          </a:p>
          <a:p>
            <a:r>
              <a:rPr lang="en-MY" sz="900" b="1" dirty="0">
                <a:solidFill>
                  <a:schemeClr val="tx1">
                    <a:lumMod val="85000"/>
                    <a:lumOff val="15000"/>
                  </a:schemeClr>
                </a:solidFill>
              </a:rPr>
              <a:t>SUMBER:</a:t>
            </a:r>
          </a:p>
          <a:p>
            <a:r>
              <a:rPr lang="en-MY" sz="900" dirty="0">
                <a:solidFill>
                  <a:schemeClr val="tx1">
                    <a:lumMod val="85000"/>
                    <a:lumOff val="15000"/>
                  </a:schemeClr>
                </a:solidFill>
              </a:rPr>
              <a:t>  K5-PL06-T03-B02-STRUKTUR-PERSISIR-AIR-ROW-01</a:t>
            </a:r>
          </a:p>
          <a:p>
            <a:r>
              <a:rPr lang="en-MY" sz="900" dirty="0">
                <a:solidFill>
                  <a:schemeClr val="tx1">
                    <a:lumMod val="85000"/>
                    <a:lumOff val="15000"/>
                  </a:schemeClr>
                </a:solidFill>
              </a:rPr>
              <a:t>    ms 238 / fizikal 257</a:t>
            </a:r>
          </a:p>
          <a:p>
            <a:r>
              <a:rPr lang="en-MY" sz="900" b="1" dirty="0">
                <a:solidFill>
                  <a:schemeClr val="tx1">
                    <a:lumMod val="85000"/>
                    <a:lumOff val="15000"/>
                  </a:schemeClr>
                </a:solidFill>
              </a:rPr>
              <a:t>ITEM INTERAKSI:</a:t>
            </a:r>
          </a:p>
          <a:p>
            <a:r>
              <a:rPr lang="en-MY" sz="900" dirty="0">
                <a:solidFill>
                  <a:schemeClr val="tx1">
                    <a:lumMod val="85000"/>
                    <a:lumOff val="15000"/>
                  </a:schemeClr>
                </a:solidFill>
              </a:rPr>
              <a:t>  II_STRUKTUR_PERSISIR_AIR_EX01  &lt;-  K5-PL06-T03-B02-STRUKTUR-PERSISIR-AIR-ROW-01</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Contoh boleh diklik dalam sebarang susunan.</a:t>
            </a:r>
          </a:p>
          <a:p>
            <a:r>
              <a:rPr lang="en-MY" sz="900" dirty="0">
                <a:solidFill>
                  <a:schemeClr val="tx1">
                    <a:lumMod val="85000"/>
                    <a:lumOff val="15000"/>
                  </a:schemeClr>
                </a:solidFill>
              </a:rPr>
              <a:t>  Setiap contoh membuka SATU popup. Popup ialah STATE.</a:t>
            </a:r>
          </a:p>
          <a:p>
            <a:r>
              <a:rPr lang="en-MY" sz="900" dirty="0">
                <a:solidFill>
                  <a:schemeClr val="tx1">
                    <a:lumMod val="85000"/>
                    <a:lumOff val="15000"/>
                  </a:schemeClr>
                </a:solidFill>
              </a:rPr>
              <a:t>  Menutup popup (ikon tutup) kembali ke skrin contoh yang sama.</a:t>
            </a:r>
          </a:p>
          <a:p>
            <a:r>
              <a:rPr lang="en-MY" sz="900" dirty="0">
                <a:solidFill>
                  <a:schemeClr val="tx1">
                    <a:lumMod val="85000"/>
                    <a:lumOff val="15000"/>
                  </a:schemeClr>
                </a:solidFill>
              </a:rPr>
              <a:t>  1/5 contoh dilihat.</a:t>
            </a:r>
          </a:p>
          <a:p>
            <a:r>
              <a:rPr lang="en-MY" sz="900" dirty="0">
                <a:solidFill>
                  <a:schemeClr val="tx1">
                    <a:lumMod val="85000"/>
                    <a:lumOff val="15000"/>
                  </a:schemeClr>
                </a:solidFill>
              </a:rPr>
              <a:t>STATUS KEPUTUSAN: B02-D-01, B02-D-05</a:t>
            </a:r>
          </a:p>
          <a:p>
            <a:r>
              <a:rPr lang="en-MY" sz="900" dirty="0">
                <a:solidFill>
                  <a:schemeClr val="tx1">
                    <a:lumMod val="85000"/>
                    <a:lumOff val="15000"/>
                  </a:schemeClr>
                </a:solidFill>
              </a:rPr>
              <a:t>STATUS BELUM SELESAI: NONE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Contoh Struktur Persisir Air</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Contoh Struktur Persisir Air</a:t>
            </a:r>
          </a:p>
        </p:txBody>
      </p:sp>
      <p:sp>
        <p:nvSpPr>
          <p:cNvPr id="25" name="Instr"/>
          <p:cNvSpPr txBox="1"/>
          <p:nvPr/>
        </p:nvSpPr>
        <p:spPr>
          <a:xfrm>
            <a:off x="723930" y="1207008"/>
            <a:ext cx="10744200" cy="384048"/>
          </a:xfrm>
          <a:prstGeom prst="rect">
            <a:avLst/>
          </a:prstGeom>
          <a:noFill/>
        </p:spPr>
        <p:txBody>
          <a:bodyPr wrap="square">
            <a:noAutofit/>
          </a:bodyPr>
          <a:lstStyle/>
          <a:p>
            <a:pPr algn="ctr"/>
            <a:r>
              <a:rPr lang="en-MY" sz="1600" dirty="0">
                <a:solidFill>
                  <a:schemeClr val="tx1">
                    <a:lumMod val="85000"/>
                    <a:lumOff val="15000"/>
                  </a:schemeClr>
                </a:solidFill>
              </a:rPr>
              <a:t>Klik pada setiap contoh untuk penjelasan lanjut.</a:t>
            </a:r>
          </a:p>
        </p:txBody>
      </p:sp>
      <p:sp>
        <p:nvSpPr>
          <p:cNvPr id="40" name="ItemCard"/>
          <p:cNvSpPr txBox="1"/>
          <p:nvPr/>
        </p:nvSpPr>
        <p:spPr>
          <a:xfrm>
            <a:off x="723885" y="1965960"/>
            <a:ext cx="3325368"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Promenade</a:t>
            </a:r>
          </a:p>
        </p:txBody>
      </p:sp>
      <p:sp>
        <p:nvSpPr>
          <p:cNvPr id="41" name="Tick"/>
          <p:cNvSpPr/>
          <p:nvPr/>
        </p:nvSpPr>
        <p:spPr>
          <a:xfrm>
            <a:off x="3646917" y="204825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2" name="ItemCard"/>
          <p:cNvSpPr txBox="1"/>
          <p:nvPr/>
        </p:nvSpPr>
        <p:spPr>
          <a:xfrm>
            <a:off x="4433301" y="1965960"/>
            <a:ext cx="3325368"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Jeti</a:t>
            </a:r>
          </a:p>
        </p:txBody>
      </p:sp>
      <p:sp>
        <p:nvSpPr>
          <p:cNvPr id="43" name="Tick"/>
          <p:cNvSpPr/>
          <p:nvPr/>
        </p:nvSpPr>
        <p:spPr>
          <a:xfrm>
            <a:off x="7356333" y="204825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4" name="ItemCard"/>
          <p:cNvSpPr txBox="1"/>
          <p:nvPr/>
        </p:nvSpPr>
        <p:spPr>
          <a:xfrm>
            <a:off x="8142717" y="1965960"/>
            <a:ext cx="3325368" cy="1481328"/>
          </a:xfrm>
          <a:prstGeom prst="rect">
            <a:avLst/>
          </a:prstGeom>
          <a:solidFill>
            <a:srgbClr val="F2F2F2"/>
          </a:solidFill>
          <a:ln w="12700">
            <a:solidFill>
              <a:srgbClr val="404040"/>
            </a:solidFill>
          </a:ln>
        </p:spPr>
        <p:txBody>
          <a:bodyPr wrap="square" anchor="ctr">
            <a:noAutofit/>
          </a:bodyPr>
          <a:lstStyle/>
          <a:p>
            <a:pPr algn="ctr"/>
            <a:r>
              <a:rPr lang="en-MY" sz="1500" b="1" dirty="0">
                <a:solidFill>
                  <a:schemeClr val="tx1">
                    <a:lumMod val="85000"/>
                    <a:lumOff val="15000"/>
                  </a:schemeClr>
                </a:solidFill>
              </a:rPr>
              <a:t>Dek Kayu</a:t>
            </a:r>
          </a:p>
        </p:txBody>
      </p:sp>
      <p:sp>
        <p:nvSpPr>
          <p:cNvPr id="45" name="ItemCard"/>
          <p:cNvSpPr txBox="1"/>
          <p:nvPr/>
        </p:nvSpPr>
        <p:spPr>
          <a:xfrm>
            <a:off x="2578593" y="3721608"/>
            <a:ext cx="3325368" cy="1481328"/>
          </a:xfrm>
          <a:prstGeom prst="rect">
            <a:avLst/>
          </a:prstGeom>
          <a:solidFill>
            <a:srgbClr val="F2F2F2"/>
          </a:solidFill>
          <a:ln w="12700">
            <a:solidFill>
              <a:srgbClr val="404040"/>
            </a:solidFill>
          </a:ln>
        </p:spPr>
        <p:txBody>
          <a:bodyPr wrap="square" anchor="ctr">
            <a:noAutofit/>
          </a:bodyPr>
          <a:lstStyle/>
          <a:p>
            <a:pPr algn="ctr"/>
            <a:r>
              <a:rPr lang="en-MY" sz="1500" b="1" dirty="0">
                <a:solidFill>
                  <a:schemeClr val="tx1">
                    <a:lumMod val="85000"/>
                    <a:lumOff val="15000"/>
                  </a:schemeClr>
                </a:solidFill>
              </a:rPr>
              <a:t>Boardwalk</a:t>
            </a:r>
          </a:p>
        </p:txBody>
      </p:sp>
      <p:sp>
        <p:nvSpPr>
          <p:cNvPr id="46" name="ItemCard"/>
          <p:cNvSpPr txBox="1"/>
          <p:nvPr/>
        </p:nvSpPr>
        <p:spPr>
          <a:xfrm>
            <a:off x="6288009" y="3721608"/>
            <a:ext cx="3325368" cy="1481328"/>
          </a:xfrm>
          <a:prstGeom prst="rect">
            <a:avLst/>
          </a:prstGeom>
          <a:solidFill>
            <a:srgbClr val="F2F2F2"/>
          </a:solidFill>
          <a:ln w="12700">
            <a:solidFill>
              <a:srgbClr val="404040"/>
            </a:solidFill>
          </a:ln>
        </p:spPr>
        <p:txBody>
          <a:bodyPr wrap="square" anchor="ctr">
            <a:noAutofit/>
          </a:bodyPr>
          <a:lstStyle/>
          <a:p>
            <a:pPr algn="ctr"/>
            <a:r>
              <a:rPr lang="en-MY" sz="1500" b="1" dirty="0">
                <a:solidFill>
                  <a:schemeClr val="tx1">
                    <a:lumMod val="85000"/>
                    <a:lumOff val="15000"/>
                  </a:schemeClr>
                </a:solidFill>
              </a:rPr>
              <a:t>Footbridge</a:t>
            </a:r>
          </a:p>
        </p:txBody>
      </p:sp>
      <p:sp>
        <p:nvSpPr>
          <p:cNvPr id="200" name="PopupPanel"/>
          <p:cNvSpPr txBox="1"/>
          <p:nvPr/>
        </p:nvSpPr>
        <p:spPr>
          <a:xfrm>
            <a:off x="1234440" y="1737360"/>
            <a:ext cx="9723090" cy="2802636"/>
          </a:xfrm>
          <a:prstGeom prst="rect">
            <a:avLst/>
          </a:prstGeom>
          <a:solidFill>
            <a:srgbClr val="FFFFFF"/>
          </a:solidFill>
          <a:ln w="28575">
            <a:solidFill>
              <a:srgbClr val="1F4E79"/>
            </a:solidFill>
          </a:ln>
        </p:spPr>
        <p:txBody>
          <a:bodyPr wrap="square">
            <a:noAutofit/>
          </a:bodyPr>
          <a:lstStyle/>
        </p:txBody>
      </p:sp>
      <p:sp>
        <p:nvSpPr>
          <p:cNvPr id="201" name="PopupTitle"/>
          <p:cNvSpPr txBox="1"/>
          <p:nvPr/>
        </p:nvSpPr>
        <p:spPr>
          <a:xfrm>
            <a:off x="1490472" y="1883664"/>
            <a:ext cx="8534370" cy="365760"/>
          </a:xfrm>
          <a:prstGeom prst="rect">
            <a:avLst/>
          </a:prstGeom>
          <a:noFill/>
        </p:spPr>
        <p:txBody>
          <a:bodyPr wrap="square">
            <a:noAutofit/>
          </a:bodyPr>
          <a:lstStyle/>
          <a:p>
            <a:pPr/>
            <a:r>
              <a:rPr lang="en-MY" sz="2000" b="1" dirty="0">
                <a:solidFill>
                  <a:schemeClr val="tx1">
                    <a:lumMod val="85000"/>
                    <a:lumOff val="15000"/>
                  </a:schemeClr>
                </a:solidFill>
              </a:rPr>
              <a:t>Jeti</a:t>
            </a:r>
          </a:p>
        </p:txBody>
      </p:sp>
      <p:sp>
        <p:nvSpPr>
          <p:cNvPr id="260" name="CloseIcon"/>
          <p:cNvSpPr/>
          <p:nvPr/>
        </p:nvSpPr>
        <p:spPr>
          <a:xfrm>
            <a:off x="10317450" y="1901952"/>
            <a:ext cx="384048" cy="384048"/>
          </a:xfrm>
          <a:prstGeom prst="ellipse">
            <a:avLst/>
          </a:prstGeom>
          <a:solidFill>
            <a:srgbClr val="1F4E79"/>
          </a:solidFill>
          <a:ln>
            <a:noFill/>
          </a:ln>
        </p:spPr>
        <p:txBody>
          <a:bodyPr/>
          <a:lstStyle/>
          <a:p>
            <a:endParaRPr lang="en-MY"/>
          </a:p>
        </p:txBody>
      </p:sp>
      <p:sp>
        <p:nvSpPr>
          <p:cNvPr id="261" name="CloseGlyph"/>
          <p:cNvSpPr/>
          <p:nvPr/>
        </p:nvSpPr>
        <p:spPr>
          <a:xfrm>
            <a:off x="10421142" y="2005645"/>
            <a:ext cx="176662" cy="176662"/>
          </a:xfrm>
          <a:custGeom>
            <a:avLst/>
            <a:gdLst/>
            <a:ahLst/>
            <a:cxnLst/>
            <a:rect l="0" t="0" r="r" b="b"/>
            <a:pathLst>
              <a:path w="100" h="100">
                <a:moveTo>
                  <a:pt x="25" y="0"/>
                </a:moveTo>
                <a:lnTo>
                  <a:pt x="50" y="25"/>
                </a:lnTo>
                <a:lnTo>
                  <a:pt x="75" y="0"/>
                </a:lnTo>
                <a:lnTo>
                  <a:pt x="100" y="25"/>
                </a:lnTo>
                <a:lnTo>
                  <a:pt x="75" y="50"/>
                </a:lnTo>
                <a:lnTo>
                  <a:pt x="100" y="75"/>
                </a:lnTo>
                <a:lnTo>
                  <a:pt x="75" y="100"/>
                </a:lnTo>
                <a:lnTo>
                  <a:pt x="50" y="75"/>
                </a:lnTo>
                <a:lnTo>
                  <a:pt x="25" y="100"/>
                </a:lnTo>
                <a:lnTo>
                  <a:pt x="0" y="75"/>
                </a:lnTo>
                <a:lnTo>
                  <a:pt x="25" y="50"/>
                </a:lnTo>
                <a:lnTo>
                  <a:pt x="0" y="25"/>
                </a:lnTo>
                <a:close/>
              </a:path>
            </a:pathLst>
          </a:custGeom>
          <a:solidFill>
            <a:srgbClr val="FFFFFF"/>
          </a:solidFill>
          <a:ln>
            <a:noFill/>
          </a:ln>
        </p:spPr>
        <p:txBody>
          <a:bodyPr/>
          <a:lstStyle/>
          <a:p>
            <a:endParaRPr lang="en-MY"/>
          </a:p>
        </p:txBody>
      </p:sp>
      <p:sp>
        <p:nvSpPr>
          <p:cNvPr id="210" name="FHead"/>
          <p:cNvSpPr txBox="1"/>
          <p:nvPr/>
        </p:nvSpPr>
        <p:spPr>
          <a:xfrm>
            <a:off x="1490472" y="2468880"/>
            <a:ext cx="9211026" cy="219456"/>
          </a:xfrm>
          <a:prstGeom prst="rect">
            <a:avLst/>
          </a:prstGeom>
          <a:noFill/>
        </p:spPr>
        <p:txBody>
          <a:bodyPr wrap="square">
            <a:noAutofit/>
          </a:bodyPr>
          <a:lstStyle/>
          <a:p>
            <a:pPr/>
            <a:r>
              <a:rPr lang="en-MY" sz="950" b="1" dirty="0">
                <a:solidFill>
                  <a:srgbClr val="7F6000"/>
                </a:solidFill>
              </a:rPr>
              <a:t>Fungsi dan Penerangan</a:t>
            </a:r>
          </a:p>
        </p:txBody>
      </p:sp>
      <p:sp>
        <p:nvSpPr>
          <p:cNvPr id="211" name="FBody"/>
          <p:cNvSpPr txBox="1"/>
          <p:nvPr/>
        </p:nvSpPr>
        <p:spPr>
          <a:xfrm>
            <a:off x="1490472" y="2706624"/>
            <a:ext cx="9211026" cy="219456"/>
          </a:xfrm>
          <a:prstGeom prst="rect">
            <a:avLst/>
          </a:prstGeom>
          <a:noFill/>
        </p:spPr>
        <p:txBody>
          <a:bodyPr wrap="square">
            <a:noAutofit/>
          </a:bodyPr>
          <a:lstStyle/>
          <a:p>
            <a:pPr/>
            <a:r>
              <a:rPr lang="en-MY" sz="1250" dirty="0">
                <a:solidFill>
                  <a:schemeClr val="tx1">
                    <a:lumMod val="85000"/>
                    <a:lumOff val="15000"/>
                  </a:schemeClr>
                </a:solidFill>
              </a:rPr>
              <a:t>Platform atau pelantar panjang untuk akses ke air, sering digunakan untuk bot.</a:t>
            </a:r>
          </a:p>
        </p:txBody>
      </p:sp>
      <p:sp>
        <p:nvSpPr>
          <p:cNvPr id="212" name="FHead"/>
          <p:cNvSpPr txBox="1"/>
          <p:nvPr/>
        </p:nvSpPr>
        <p:spPr>
          <a:xfrm>
            <a:off x="1490472" y="3086100"/>
            <a:ext cx="9211026" cy="219456"/>
          </a:xfrm>
          <a:prstGeom prst="rect">
            <a:avLst/>
          </a:prstGeom>
          <a:noFill/>
        </p:spPr>
        <p:txBody>
          <a:bodyPr wrap="square">
            <a:noAutofit/>
          </a:bodyPr>
          <a:lstStyle/>
          <a:p>
            <a:pPr/>
            <a:r>
              <a:rPr lang="en-MY" sz="950" b="1" dirty="0">
                <a:solidFill>
                  <a:srgbClr val="7F6000"/>
                </a:solidFill>
              </a:rPr>
              <a:t>Contoh</a:t>
            </a:r>
          </a:p>
        </p:txBody>
      </p:sp>
      <p:sp>
        <p:nvSpPr>
          <p:cNvPr id="213" name="FBody"/>
          <p:cNvSpPr txBox="1"/>
          <p:nvPr/>
        </p:nvSpPr>
        <p:spPr>
          <a:xfrm>
            <a:off x="1490472" y="3323844"/>
            <a:ext cx="9211026" cy="219456"/>
          </a:xfrm>
          <a:prstGeom prst="rect">
            <a:avLst/>
          </a:prstGeom>
          <a:noFill/>
        </p:spPr>
        <p:txBody>
          <a:bodyPr wrap="square">
            <a:noAutofit/>
          </a:bodyPr>
          <a:lstStyle/>
          <a:p>
            <a:pPr/>
            <a:r>
              <a:rPr lang="en-MY" sz="1250" dirty="0">
                <a:solidFill>
                  <a:schemeClr val="tx1">
                    <a:lumMod val="85000"/>
                    <a:lumOff val="15000"/>
                  </a:schemeClr>
                </a:solidFill>
              </a:rPr>
              <a:t>Jeti Lumut, Perak</a:t>
            </a:r>
          </a:p>
        </p:txBody>
      </p:sp>
      <p:sp>
        <p:nvSpPr>
          <p:cNvPr id="214" name="FHead"/>
          <p:cNvSpPr txBox="1"/>
          <p:nvPr/>
        </p:nvSpPr>
        <p:spPr>
          <a:xfrm>
            <a:off x="1490472" y="3703320"/>
            <a:ext cx="9211026" cy="219456"/>
          </a:xfrm>
          <a:prstGeom prst="rect">
            <a:avLst/>
          </a:prstGeom>
          <a:noFill/>
        </p:spPr>
        <p:txBody>
          <a:bodyPr wrap="square">
            <a:noAutofit/>
          </a:bodyPr>
          <a:lstStyle/>
          <a:p>
            <a:pPr/>
            <a:r>
              <a:rPr lang="en-MY" sz="950" b="1" dirty="0">
                <a:solidFill>
                  <a:srgbClr val="7F6000"/>
                </a:solidFill>
              </a:rPr>
              <a:t>ARAHAN VISUAL — TIDAK DIBENAMKAN</a:t>
            </a:r>
          </a:p>
        </p:txBody>
      </p:sp>
      <p:sp>
        <p:nvSpPr>
          <p:cNvPr id="215" name="FBody"/>
          <p:cNvSpPr txBox="1"/>
          <p:nvPr/>
        </p:nvSpPr>
        <p:spPr>
          <a:xfrm>
            <a:off x="1490472" y="3941064"/>
            <a:ext cx="9211026" cy="219456"/>
          </a:xfrm>
          <a:prstGeom prst="rect">
            <a:avLst/>
          </a:prstGeom>
          <a:noFill/>
        </p:spPr>
        <p:txBody>
          <a:bodyPr wrap="square">
            <a:noAutofit/>
          </a:bodyPr>
          <a:lstStyle/>
          <a:p>
            <a:pPr/>
            <a:r>
              <a:rPr lang="en-MY" sz="1250" dirty="0">
                <a:solidFill>
                  <a:schemeClr val="tx1">
                    <a:lumMod val="85000"/>
                    <a:lumOff val="15000"/>
                  </a:schemeClr>
                </a:solidFill>
              </a:rPr>
              <a:t>[Visual: Arahan visual untuk Jeti — spesifikasi teks sahaja, modul ms 238. Tidak dibenamkan.]</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Contoh Struktur Persisir Air</a:t>
            </a:r>
          </a:p>
          <a:p>
            <a:r>
              <a:rPr lang="en-MY" sz="900" dirty="0">
                <a:solidFill>
                  <a:schemeClr val="tx1">
                    <a:lumMod val="85000"/>
                    <a:lumOff val="15000"/>
                  </a:schemeClr>
                </a:solidFill>
              </a:rPr>
              <a:t>KELUARGA PELAKSANAAN: FAMILY_S</a:t>
            </a:r>
          </a:p>
          <a:p>
            <a:r>
              <a:rPr lang="en-MY" sz="900" dirty="0">
                <a:solidFill>
                  <a:schemeClr val="tx1">
                    <a:lumMod val="85000"/>
                    <a:lumOff val="15000"/>
                  </a:schemeClr>
                </a:solidFill>
              </a:rPr>
              <a:t>PERANAN HALAMAN SEMAKAN: COMPONENT_EXAMPLE_POPUP</a:t>
            </a:r>
          </a:p>
          <a:p>
            <a:r>
              <a:rPr lang="en-MY" sz="900" dirty="0">
                <a:solidFill>
                  <a:schemeClr val="tx1">
                    <a:lumMod val="85000"/>
                    <a:lumOff val="15000"/>
                  </a:schemeClr>
                </a:solidFill>
              </a:rPr>
              <a:t/>
            </a:r>
          </a:p>
          <a:p>
            <a:r>
              <a:rPr lang="en-MY" sz="900" dirty="0">
                <a:solidFill>
                  <a:schemeClr val="tx1">
                    <a:lumMod val="85000"/>
                    <a:lumOff val="15000"/>
                  </a:schemeClr>
                </a:solidFill>
              </a:rPr>
              <a:t>BUKTI: Family S popup 2 of 5</a:t>
            </a:r>
          </a:p>
          <a:p>
            <a:r>
              <a:rPr lang="en-MY" sz="900" dirty="0">
                <a:solidFill>
                  <a:schemeClr val="tx1">
                    <a:lumMod val="85000"/>
                    <a:lumOff val="15000"/>
                  </a:schemeClr>
                </a:solidFill>
              </a:rPr>
              <a:t>POLISI NOTA: CONTENT_VO_NOTES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NO_CONTROL  [none]</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CLOSE_ICON</a:t>
            </a:r>
          </a:p>
          <a:p>
            <a:r>
              <a:rPr lang="en-MY" sz="900" dirty="0">
                <a:solidFill>
                  <a:schemeClr val="tx1">
                    <a:lumMod val="85000"/>
                    <a:lumOff val="15000"/>
                  </a:schemeClr>
                </a:solidFill>
              </a:rPr>
              <a:t>  return_target = SCR_STRUKTUR_PERSISIR_AIR_EXAMPLES</a:t>
            </a:r>
          </a:p>
          <a:p>
            <a:r>
              <a:rPr lang="en-MY" sz="900" dirty="0">
                <a:solidFill>
                  <a:schemeClr val="tx1">
                    <a:lumMod val="85000"/>
                    <a:lumOff val="15000"/>
                  </a:schemeClr>
                </a:solidFill>
              </a:rPr>
              <a:t>SKOP SELESAI: ITEM</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1 · lapisan skrin 3</a:t>
            </a:r>
          </a:p>
          <a:p>
            <a:r>
              <a:rPr lang="en-MY" sz="900" dirty="0">
                <a:solidFill>
                  <a:schemeClr val="tx1">
                    <a:lumMod val="85000"/>
                    <a:lumOff val="15000"/>
                  </a:schemeClr>
                </a:solidFill>
              </a:rPr>
              <a:t>INDUK: SCR_STRUKTUR_PERSISIR_AIR_EXAMPLES</a:t>
            </a:r>
          </a:p>
          <a:p>
            <a:r>
              <a:rPr lang="en-MY" sz="900" b="1" dirty="0">
                <a:solidFill>
                  <a:schemeClr val="tx1">
                    <a:lumMod val="85000"/>
                    <a:lumOff val="15000"/>
                  </a:schemeClr>
                </a:solidFill>
              </a:rPr>
              <a:t>SUMBER:</a:t>
            </a:r>
          </a:p>
          <a:p>
            <a:r>
              <a:rPr lang="en-MY" sz="900" dirty="0">
                <a:solidFill>
                  <a:schemeClr val="tx1">
                    <a:lumMod val="85000"/>
                    <a:lumOff val="15000"/>
                  </a:schemeClr>
                </a:solidFill>
              </a:rPr>
              <a:t>  K5-PL06-T03-B02-STRUKTUR-PERSISIR-AIR-ROW-02</a:t>
            </a:r>
          </a:p>
          <a:p>
            <a:r>
              <a:rPr lang="en-MY" sz="900" dirty="0">
                <a:solidFill>
                  <a:schemeClr val="tx1">
                    <a:lumMod val="85000"/>
                    <a:lumOff val="15000"/>
                  </a:schemeClr>
                </a:solidFill>
              </a:rPr>
              <a:t>    ms 238 / fizikal 257</a:t>
            </a:r>
          </a:p>
          <a:p>
            <a:r>
              <a:rPr lang="en-MY" sz="900" b="1" dirty="0">
                <a:solidFill>
                  <a:schemeClr val="tx1">
                    <a:lumMod val="85000"/>
                    <a:lumOff val="15000"/>
                  </a:schemeClr>
                </a:solidFill>
              </a:rPr>
              <a:t>ITEM INTERAKSI:</a:t>
            </a:r>
          </a:p>
          <a:p>
            <a:r>
              <a:rPr lang="en-MY" sz="900" dirty="0">
                <a:solidFill>
                  <a:schemeClr val="tx1">
                    <a:lumMod val="85000"/>
                    <a:lumOff val="15000"/>
                  </a:schemeClr>
                </a:solidFill>
              </a:rPr>
              <a:t>  II_STRUKTUR_PERSISIR_AIR_EX02  &lt;-  K5-PL06-T03-B02-STRUKTUR-PERSISIR-AIR-ROW-02</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Contoh boleh diklik dalam sebarang susunan.</a:t>
            </a:r>
          </a:p>
          <a:p>
            <a:r>
              <a:rPr lang="en-MY" sz="900" dirty="0">
                <a:solidFill>
                  <a:schemeClr val="tx1">
                    <a:lumMod val="85000"/>
                    <a:lumOff val="15000"/>
                  </a:schemeClr>
                </a:solidFill>
              </a:rPr>
              <a:t>  Setiap contoh membuka SATU popup. Popup ialah STATE.</a:t>
            </a:r>
          </a:p>
          <a:p>
            <a:r>
              <a:rPr lang="en-MY" sz="900" dirty="0">
                <a:solidFill>
                  <a:schemeClr val="tx1">
                    <a:lumMod val="85000"/>
                    <a:lumOff val="15000"/>
                  </a:schemeClr>
                </a:solidFill>
              </a:rPr>
              <a:t>  Menutup popup (ikon tutup) kembali ke skrin contoh yang sama.</a:t>
            </a:r>
          </a:p>
          <a:p>
            <a:r>
              <a:rPr lang="en-MY" sz="900" dirty="0">
                <a:solidFill>
                  <a:schemeClr val="tx1">
                    <a:lumMod val="85000"/>
                    <a:lumOff val="15000"/>
                  </a:schemeClr>
                </a:solidFill>
              </a:rPr>
              <a:t>  2/5 contoh dilihat.</a:t>
            </a:r>
          </a:p>
          <a:p>
            <a:r>
              <a:rPr lang="en-MY" sz="900" dirty="0">
                <a:solidFill>
                  <a:schemeClr val="tx1">
                    <a:lumMod val="85000"/>
                    <a:lumOff val="15000"/>
                  </a:schemeClr>
                </a:solidFill>
              </a:rPr>
              <a:t>STATUS KEPUTUSAN: B02-D-01, B02-D-05</a:t>
            </a:r>
          </a:p>
          <a:p>
            <a:r>
              <a:rPr lang="en-MY" sz="900" dirty="0">
                <a:solidFill>
                  <a:schemeClr val="tx1">
                    <a:lumMod val="85000"/>
                    <a:lumOff val="15000"/>
                  </a:schemeClr>
                </a:solidFill>
              </a:rPr>
              <a:t>STATUS BELUM SELESAI: NONE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Contoh Struktur Persisir Air</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Contoh Struktur Persisir Air</a:t>
            </a:r>
          </a:p>
        </p:txBody>
      </p:sp>
      <p:sp>
        <p:nvSpPr>
          <p:cNvPr id="25" name="Instr"/>
          <p:cNvSpPr txBox="1"/>
          <p:nvPr/>
        </p:nvSpPr>
        <p:spPr>
          <a:xfrm>
            <a:off x="723930" y="1207008"/>
            <a:ext cx="10744200" cy="384048"/>
          </a:xfrm>
          <a:prstGeom prst="rect">
            <a:avLst/>
          </a:prstGeom>
          <a:noFill/>
        </p:spPr>
        <p:txBody>
          <a:bodyPr wrap="square">
            <a:noAutofit/>
          </a:bodyPr>
          <a:lstStyle/>
          <a:p>
            <a:pPr algn="ctr"/>
            <a:r>
              <a:rPr lang="en-MY" sz="1600" dirty="0">
                <a:solidFill>
                  <a:schemeClr val="tx1">
                    <a:lumMod val="85000"/>
                    <a:lumOff val="15000"/>
                  </a:schemeClr>
                </a:solidFill>
              </a:rPr>
              <a:t>Klik pada setiap contoh untuk penjelasan lanjut.</a:t>
            </a:r>
          </a:p>
        </p:txBody>
      </p:sp>
      <p:sp>
        <p:nvSpPr>
          <p:cNvPr id="40" name="ItemCard"/>
          <p:cNvSpPr txBox="1"/>
          <p:nvPr/>
        </p:nvSpPr>
        <p:spPr>
          <a:xfrm>
            <a:off x="723885" y="1965960"/>
            <a:ext cx="3325368"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Promenade</a:t>
            </a:r>
          </a:p>
        </p:txBody>
      </p:sp>
      <p:sp>
        <p:nvSpPr>
          <p:cNvPr id="41" name="Tick"/>
          <p:cNvSpPr/>
          <p:nvPr/>
        </p:nvSpPr>
        <p:spPr>
          <a:xfrm>
            <a:off x="3646917" y="204825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2" name="ItemCard"/>
          <p:cNvSpPr txBox="1"/>
          <p:nvPr/>
        </p:nvSpPr>
        <p:spPr>
          <a:xfrm>
            <a:off x="4433301" y="1965960"/>
            <a:ext cx="3325368"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Jeti</a:t>
            </a:r>
          </a:p>
        </p:txBody>
      </p:sp>
      <p:sp>
        <p:nvSpPr>
          <p:cNvPr id="43" name="Tick"/>
          <p:cNvSpPr/>
          <p:nvPr/>
        </p:nvSpPr>
        <p:spPr>
          <a:xfrm>
            <a:off x="7356333" y="204825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4" name="ItemCard"/>
          <p:cNvSpPr txBox="1"/>
          <p:nvPr/>
        </p:nvSpPr>
        <p:spPr>
          <a:xfrm>
            <a:off x="8142717" y="1965960"/>
            <a:ext cx="3325368"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Dek Kayu</a:t>
            </a:r>
          </a:p>
        </p:txBody>
      </p:sp>
      <p:sp>
        <p:nvSpPr>
          <p:cNvPr id="45" name="Tick"/>
          <p:cNvSpPr/>
          <p:nvPr/>
        </p:nvSpPr>
        <p:spPr>
          <a:xfrm>
            <a:off x="11065749" y="204825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6" name="ItemCard"/>
          <p:cNvSpPr txBox="1"/>
          <p:nvPr/>
        </p:nvSpPr>
        <p:spPr>
          <a:xfrm>
            <a:off x="2578593" y="3721608"/>
            <a:ext cx="3325368" cy="1481328"/>
          </a:xfrm>
          <a:prstGeom prst="rect">
            <a:avLst/>
          </a:prstGeom>
          <a:solidFill>
            <a:srgbClr val="F2F2F2"/>
          </a:solidFill>
          <a:ln w="12700">
            <a:solidFill>
              <a:srgbClr val="404040"/>
            </a:solidFill>
          </a:ln>
        </p:spPr>
        <p:txBody>
          <a:bodyPr wrap="square" anchor="ctr">
            <a:noAutofit/>
          </a:bodyPr>
          <a:lstStyle/>
          <a:p>
            <a:pPr algn="ctr"/>
            <a:r>
              <a:rPr lang="en-MY" sz="1500" b="1" dirty="0">
                <a:solidFill>
                  <a:schemeClr val="tx1">
                    <a:lumMod val="85000"/>
                    <a:lumOff val="15000"/>
                  </a:schemeClr>
                </a:solidFill>
              </a:rPr>
              <a:t>Boardwalk</a:t>
            </a:r>
          </a:p>
        </p:txBody>
      </p:sp>
      <p:sp>
        <p:nvSpPr>
          <p:cNvPr id="47" name="ItemCard"/>
          <p:cNvSpPr txBox="1"/>
          <p:nvPr/>
        </p:nvSpPr>
        <p:spPr>
          <a:xfrm>
            <a:off x="6288009" y="3721608"/>
            <a:ext cx="3325368" cy="1481328"/>
          </a:xfrm>
          <a:prstGeom prst="rect">
            <a:avLst/>
          </a:prstGeom>
          <a:solidFill>
            <a:srgbClr val="F2F2F2"/>
          </a:solidFill>
          <a:ln w="12700">
            <a:solidFill>
              <a:srgbClr val="404040"/>
            </a:solidFill>
          </a:ln>
        </p:spPr>
        <p:txBody>
          <a:bodyPr wrap="square" anchor="ctr">
            <a:noAutofit/>
          </a:bodyPr>
          <a:lstStyle/>
          <a:p>
            <a:pPr algn="ctr"/>
            <a:r>
              <a:rPr lang="en-MY" sz="1500" b="1" dirty="0">
                <a:solidFill>
                  <a:schemeClr val="tx1">
                    <a:lumMod val="85000"/>
                    <a:lumOff val="15000"/>
                  </a:schemeClr>
                </a:solidFill>
              </a:rPr>
              <a:t>Footbridge</a:t>
            </a:r>
          </a:p>
        </p:txBody>
      </p:sp>
      <p:sp>
        <p:nvSpPr>
          <p:cNvPr id="200" name="PopupPanel"/>
          <p:cNvSpPr txBox="1"/>
          <p:nvPr/>
        </p:nvSpPr>
        <p:spPr>
          <a:xfrm>
            <a:off x="1234440" y="1737360"/>
            <a:ext cx="9723090" cy="3017520"/>
          </a:xfrm>
          <a:prstGeom prst="rect">
            <a:avLst/>
          </a:prstGeom>
          <a:solidFill>
            <a:srgbClr val="FFFFFF"/>
          </a:solidFill>
          <a:ln w="28575">
            <a:solidFill>
              <a:srgbClr val="1F4E79"/>
            </a:solidFill>
          </a:ln>
        </p:spPr>
        <p:txBody>
          <a:bodyPr wrap="square">
            <a:noAutofit/>
          </a:bodyPr>
          <a:lstStyle/>
        </p:txBody>
      </p:sp>
      <p:sp>
        <p:nvSpPr>
          <p:cNvPr id="201" name="PopupTitle"/>
          <p:cNvSpPr txBox="1"/>
          <p:nvPr/>
        </p:nvSpPr>
        <p:spPr>
          <a:xfrm>
            <a:off x="1490472" y="1883664"/>
            <a:ext cx="8534370" cy="365760"/>
          </a:xfrm>
          <a:prstGeom prst="rect">
            <a:avLst/>
          </a:prstGeom>
          <a:noFill/>
        </p:spPr>
        <p:txBody>
          <a:bodyPr wrap="square">
            <a:noAutofit/>
          </a:bodyPr>
          <a:lstStyle/>
          <a:p>
            <a:pPr/>
            <a:r>
              <a:rPr lang="en-MY" sz="2000" b="1" dirty="0">
                <a:solidFill>
                  <a:schemeClr val="tx1">
                    <a:lumMod val="85000"/>
                    <a:lumOff val="15000"/>
                  </a:schemeClr>
                </a:solidFill>
              </a:rPr>
              <a:t>Dek Kayu</a:t>
            </a:r>
          </a:p>
        </p:txBody>
      </p:sp>
      <p:sp>
        <p:nvSpPr>
          <p:cNvPr id="260" name="CloseIcon"/>
          <p:cNvSpPr/>
          <p:nvPr/>
        </p:nvSpPr>
        <p:spPr>
          <a:xfrm>
            <a:off x="10317450" y="1901952"/>
            <a:ext cx="384048" cy="384048"/>
          </a:xfrm>
          <a:prstGeom prst="ellipse">
            <a:avLst/>
          </a:prstGeom>
          <a:solidFill>
            <a:srgbClr val="1F4E79"/>
          </a:solidFill>
          <a:ln>
            <a:noFill/>
          </a:ln>
        </p:spPr>
        <p:txBody>
          <a:bodyPr/>
          <a:lstStyle/>
          <a:p>
            <a:endParaRPr lang="en-MY"/>
          </a:p>
        </p:txBody>
      </p:sp>
      <p:sp>
        <p:nvSpPr>
          <p:cNvPr id="261" name="CloseGlyph"/>
          <p:cNvSpPr/>
          <p:nvPr/>
        </p:nvSpPr>
        <p:spPr>
          <a:xfrm>
            <a:off x="10421142" y="2005645"/>
            <a:ext cx="176662" cy="176662"/>
          </a:xfrm>
          <a:custGeom>
            <a:avLst/>
            <a:gdLst/>
            <a:ahLst/>
            <a:cxnLst/>
            <a:rect l="0" t="0" r="r" b="b"/>
            <a:pathLst>
              <a:path w="100" h="100">
                <a:moveTo>
                  <a:pt x="25" y="0"/>
                </a:moveTo>
                <a:lnTo>
                  <a:pt x="50" y="25"/>
                </a:lnTo>
                <a:lnTo>
                  <a:pt x="75" y="0"/>
                </a:lnTo>
                <a:lnTo>
                  <a:pt x="100" y="25"/>
                </a:lnTo>
                <a:lnTo>
                  <a:pt x="75" y="50"/>
                </a:lnTo>
                <a:lnTo>
                  <a:pt x="100" y="75"/>
                </a:lnTo>
                <a:lnTo>
                  <a:pt x="75" y="100"/>
                </a:lnTo>
                <a:lnTo>
                  <a:pt x="50" y="75"/>
                </a:lnTo>
                <a:lnTo>
                  <a:pt x="25" y="100"/>
                </a:lnTo>
                <a:lnTo>
                  <a:pt x="0" y="75"/>
                </a:lnTo>
                <a:lnTo>
                  <a:pt x="25" y="50"/>
                </a:lnTo>
                <a:lnTo>
                  <a:pt x="0" y="25"/>
                </a:lnTo>
                <a:close/>
              </a:path>
            </a:pathLst>
          </a:custGeom>
          <a:solidFill>
            <a:srgbClr val="FFFFFF"/>
          </a:solidFill>
          <a:ln>
            <a:noFill/>
          </a:ln>
        </p:spPr>
        <p:txBody>
          <a:bodyPr/>
          <a:lstStyle/>
          <a:p>
            <a:endParaRPr lang="en-MY"/>
          </a:p>
        </p:txBody>
      </p:sp>
      <p:sp>
        <p:nvSpPr>
          <p:cNvPr id="210" name="FHead"/>
          <p:cNvSpPr txBox="1"/>
          <p:nvPr/>
        </p:nvSpPr>
        <p:spPr>
          <a:xfrm>
            <a:off x="1490472" y="2468880"/>
            <a:ext cx="9211026" cy="219456"/>
          </a:xfrm>
          <a:prstGeom prst="rect">
            <a:avLst/>
          </a:prstGeom>
          <a:noFill/>
        </p:spPr>
        <p:txBody>
          <a:bodyPr wrap="square">
            <a:noAutofit/>
          </a:bodyPr>
          <a:lstStyle/>
          <a:p>
            <a:pPr/>
            <a:r>
              <a:rPr lang="en-MY" sz="950" b="1" dirty="0">
                <a:solidFill>
                  <a:srgbClr val="7F6000"/>
                </a:solidFill>
              </a:rPr>
              <a:t>Fungsi dan Penerangan</a:t>
            </a:r>
          </a:p>
        </p:txBody>
      </p:sp>
      <p:sp>
        <p:nvSpPr>
          <p:cNvPr id="211" name="FBody"/>
          <p:cNvSpPr txBox="1"/>
          <p:nvPr/>
        </p:nvSpPr>
        <p:spPr>
          <a:xfrm>
            <a:off x="1490472" y="2706624"/>
            <a:ext cx="9211026" cy="219456"/>
          </a:xfrm>
          <a:prstGeom prst="rect">
            <a:avLst/>
          </a:prstGeom>
          <a:noFill/>
        </p:spPr>
        <p:txBody>
          <a:bodyPr wrap="square">
            <a:noAutofit/>
          </a:bodyPr>
          <a:lstStyle/>
          <a:p>
            <a:pPr/>
            <a:r>
              <a:rPr lang="en-MY" sz="1250" dirty="0">
                <a:solidFill>
                  <a:schemeClr val="tx1">
                    <a:lumMod val="85000"/>
                    <a:lumOff val="15000"/>
                  </a:schemeClr>
                </a:solidFill>
              </a:rPr>
              <a:t>Ruang kayu terbuka di atas atau berhampiran air untuk rehat &amp; pemandangan.</a:t>
            </a:r>
          </a:p>
        </p:txBody>
      </p:sp>
      <p:sp>
        <p:nvSpPr>
          <p:cNvPr id="212" name="FHead"/>
          <p:cNvSpPr txBox="1"/>
          <p:nvPr/>
        </p:nvSpPr>
        <p:spPr>
          <a:xfrm>
            <a:off x="1490472" y="3086100"/>
            <a:ext cx="9211026" cy="219456"/>
          </a:xfrm>
          <a:prstGeom prst="rect">
            <a:avLst/>
          </a:prstGeom>
          <a:noFill/>
        </p:spPr>
        <p:txBody>
          <a:bodyPr wrap="square">
            <a:noAutofit/>
          </a:bodyPr>
          <a:lstStyle/>
          <a:p>
            <a:pPr/>
            <a:r>
              <a:rPr lang="en-MY" sz="950" b="1" dirty="0">
                <a:solidFill>
                  <a:srgbClr val="7F6000"/>
                </a:solidFill>
              </a:rPr>
              <a:t>Contoh</a:t>
            </a:r>
          </a:p>
        </p:txBody>
      </p:sp>
      <p:sp>
        <p:nvSpPr>
          <p:cNvPr id="213" name="FBody"/>
          <p:cNvSpPr txBox="1"/>
          <p:nvPr/>
        </p:nvSpPr>
        <p:spPr>
          <a:xfrm>
            <a:off x="1490472" y="3323844"/>
            <a:ext cx="9211026" cy="219456"/>
          </a:xfrm>
          <a:prstGeom prst="rect">
            <a:avLst/>
          </a:prstGeom>
          <a:noFill/>
        </p:spPr>
        <p:txBody>
          <a:bodyPr wrap="square">
            <a:noAutofit/>
          </a:bodyPr>
          <a:lstStyle/>
          <a:p>
            <a:pPr/>
            <a:r>
              <a:rPr lang="en-MY" sz="1250" dirty="0">
                <a:solidFill>
                  <a:schemeClr val="tx1">
                    <a:lumMod val="85000"/>
                    <a:lumOff val="15000"/>
                  </a:schemeClr>
                </a:solidFill>
              </a:rPr>
              <a:t>Wetland Park Putrajaya</a:t>
            </a:r>
          </a:p>
        </p:txBody>
      </p:sp>
      <p:sp>
        <p:nvSpPr>
          <p:cNvPr id="214" name="FHead"/>
          <p:cNvSpPr txBox="1"/>
          <p:nvPr/>
        </p:nvSpPr>
        <p:spPr>
          <a:xfrm>
            <a:off x="1490472" y="3703320"/>
            <a:ext cx="9211026" cy="219456"/>
          </a:xfrm>
          <a:prstGeom prst="rect">
            <a:avLst/>
          </a:prstGeom>
          <a:noFill/>
        </p:spPr>
        <p:txBody>
          <a:bodyPr wrap="square">
            <a:noAutofit/>
          </a:bodyPr>
          <a:lstStyle/>
          <a:p>
            <a:pPr/>
            <a:r>
              <a:rPr lang="en-MY" sz="950" b="1" dirty="0">
                <a:solidFill>
                  <a:srgbClr val="7F6000"/>
                </a:solidFill>
              </a:rPr>
              <a:t>ARAHAN VISUAL — TIDAK DIBENAMKAN</a:t>
            </a:r>
          </a:p>
        </p:txBody>
      </p:sp>
      <p:sp>
        <p:nvSpPr>
          <p:cNvPr id="215" name="FBody"/>
          <p:cNvSpPr txBox="1"/>
          <p:nvPr/>
        </p:nvSpPr>
        <p:spPr>
          <a:xfrm>
            <a:off x="1490472" y="3941064"/>
            <a:ext cx="9211026" cy="429768"/>
          </a:xfrm>
          <a:prstGeom prst="rect">
            <a:avLst/>
          </a:prstGeom>
          <a:noFill/>
        </p:spPr>
        <p:txBody>
          <a:bodyPr wrap="square">
            <a:noAutofit/>
          </a:bodyPr>
          <a:lstStyle/>
          <a:p>
            <a:pPr/>
            <a:r>
              <a:rPr lang="en-MY" sz="1250" dirty="0">
                <a:solidFill>
                  <a:schemeClr val="tx1">
                    <a:lumMod val="85000"/>
                    <a:lumOff val="15000"/>
                  </a:schemeClr>
                </a:solidFill>
              </a:rPr>
              <a:t>[Visual: Arahan visual untuk Dek Kayu — spesifikasi teks sahaja, modul ms 238. Tidak</a:t>
            </a:r>
          </a:p>
          <a:p>
            <a:pPr/>
            <a:r>
              <a:rPr lang="en-MY" sz="1250" dirty="0">
                <a:solidFill>
                  <a:schemeClr val="tx1">
                    <a:lumMod val="85000"/>
                    <a:lumOff val="15000"/>
                  </a:schemeClr>
                </a:solidFill>
              </a:rPr>
              <a:t>dibenamkan.]</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Contoh Struktur Persisir Air</a:t>
            </a:r>
          </a:p>
          <a:p>
            <a:r>
              <a:rPr lang="en-MY" sz="900" dirty="0">
                <a:solidFill>
                  <a:schemeClr val="tx1">
                    <a:lumMod val="85000"/>
                    <a:lumOff val="15000"/>
                  </a:schemeClr>
                </a:solidFill>
              </a:rPr>
              <a:t>KELUARGA PELAKSANAAN: FAMILY_S</a:t>
            </a:r>
          </a:p>
          <a:p>
            <a:r>
              <a:rPr lang="en-MY" sz="900" dirty="0">
                <a:solidFill>
                  <a:schemeClr val="tx1">
                    <a:lumMod val="85000"/>
                    <a:lumOff val="15000"/>
                  </a:schemeClr>
                </a:solidFill>
              </a:rPr>
              <a:t>PERANAN HALAMAN SEMAKAN: COMPONENT_EXAMPLE_POPUP</a:t>
            </a:r>
          </a:p>
          <a:p>
            <a:r>
              <a:rPr lang="en-MY" sz="900" dirty="0">
                <a:solidFill>
                  <a:schemeClr val="tx1">
                    <a:lumMod val="85000"/>
                    <a:lumOff val="15000"/>
                  </a:schemeClr>
                </a:solidFill>
              </a:rPr>
              <a:t/>
            </a:r>
          </a:p>
          <a:p>
            <a:r>
              <a:rPr lang="en-MY" sz="900" dirty="0">
                <a:solidFill>
                  <a:schemeClr val="tx1">
                    <a:lumMod val="85000"/>
                    <a:lumOff val="15000"/>
                  </a:schemeClr>
                </a:solidFill>
              </a:rPr>
              <a:t>BUKTI: Family S popup 3 of 5</a:t>
            </a:r>
          </a:p>
          <a:p>
            <a:r>
              <a:rPr lang="en-MY" sz="900" dirty="0">
                <a:solidFill>
                  <a:schemeClr val="tx1">
                    <a:lumMod val="85000"/>
                    <a:lumOff val="15000"/>
                  </a:schemeClr>
                </a:solidFill>
              </a:rPr>
              <a:t>POLISI NOTA: CONTENT_VO_NOTES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NO_CONTROL  [none]</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CLOSE_ICON</a:t>
            </a:r>
          </a:p>
          <a:p>
            <a:r>
              <a:rPr lang="en-MY" sz="900" dirty="0">
                <a:solidFill>
                  <a:schemeClr val="tx1">
                    <a:lumMod val="85000"/>
                    <a:lumOff val="15000"/>
                  </a:schemeClr>
                </a:solidFill>
              </a:rPr>
              <a:t>  return_target = SCR_STRUKTUR_PERSISIR_AIR_EXAMPLES</a:t>
            </a:r>
          </a:p>
          <a:p>
            <a:r>
              <a:rPr lang="en-MY" sz="900" dirty="0">
                <a:solidFill>
                  <a:schemeClr val="tx1">
                    <a:lumMod val="85000"/>
                    <a:lumOff val="15000"/>
                  </a:schemeClr>
                </a:solidFill>
              </a:rPr>
              <a:t>SKOP SELESAI: ITEM</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1 · lapisan skrin 3</a:t>
            </a:r>
          </a:p>
          <a:p>
            <a:r>
              <a:rPr lang="en-MY" sz="900" dirty="0">
                <a:solidFill>
                  <a:schemeClr val="tx1">
                    <a:lumMod val="85000"/>
                    <a:lumOff val="15000"/>
                  </a:schemeClr>
                </a:solidFill>
              </a:rPr>
              <a:t>INDUK: SCR_STRUKTUR_PERSISIR_AIR_EXAMPLES</a:t>
            </a:r>
          </a:p>
          <a:p>
            <a:r>
              <a:rPr lang="en-MY" sz="900" b="1" dirty="0">
                <a:solidFill>
                  <a:schemeClr val="tx1">
                    <a:lumMod val="85000"/>
                    <a:lumOff val="15000"/>
                  </a:schemeClr>
                </a:solidFill>
              </a:rPr>
              <a:t>SUMBER:</a:t>
            </a:r>
          </a:p>
          <a:p>
            <a:r>
              <a:rPr lang="en-MY" sz="900" dirty="0">
                <a:solidFill>
                  <a:schemeClr val="tx1">
                    <a:lumMod val="85000"/>
                    <a:lumOff val="15000"/>
                  </a:schemeClr>
                </a:solidFill>
              </a:rPr>
              <a:t>  K5-PL06-T03-B02-STRUKTUR-PERSISIR-AIR-ROW-03</a:t>
            </a:r>
          </a:p>
          <a:p>
            <a:r>
              <a:rPr lang="en-MY" sz="900" dirty="0">
                <a:solidFill>
                  <a:schemeClr val="tx1">
                    <a:lumMod val="85000"/>
                    <a:lumOff val="15000"/>
                  </a:schemeClr>
                </a:solidFill>
              </a:rPr>
              <a:t>    ms 238 / fizikal 257</a:t>
            </a:r>
          </a:p>
          <a:p>
            <a:r>
              <a:rPr lang="en-MY" sz="900" b="1" dirty="0">
                <a:solidFill>
                  <a:schemeClr val="tx1">
                    <a:lumMod val="85000"/>
                    <a:lumOff val="15000"/>
                  </a:schemeClr>
                </a:solidFill>
              </a:rPr>
              <a:t>ITEM INTERAKSI:</a:t>
            </a:r>
          </a:p>
          <a:p>
            <a:r>
              <a:rPr lang="en-MY" sz="900" dirty="0">
                <a:solidFill>
                  <a:schemeClr val="tx1">
                    <a:lumMod val="85000"/>
                    <a:lumOff val="15000"/>
                  </a:schemeClr>
                </a:solidFill>
              </a:rPr>
              <a:t>  II_STRUKTUR_PERSISIR_AIR_EX03  &lt;-  K5-PL06-T03-B02-STRUKTUR-PERSISIR-AIR-ROW-03</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Contoh boleh diklik dalam sebarang susunan.</a:t>
            </a:r>
          </a:p>
          <a:p>
            <a:r>
              <a:rPr lang="en-MY" sz="900" dirty="0">
                <a:solidFill>
                  <a:schemeClr val="tx1">
                    <a:lumMod val="85000"/>
                    <a:lumOff val="15000"/>
                  </a:schemeClr>
                </a:solidFill>
              </a:rPr>
              <a:t>  Setiap contoh membuka SATU popup. Popup ialah STATE.</a:t>
            </a:r>
          </a:p>
          <a:p>
            <a:r>
              <a:rPr lang="en-MY" sz="900" dirty="0">
                <a:solidFill>
                  <a:schemeClr val="tx1">
                    <a:lumMod val="85000"/>
                    <a:lumOff val="15000"/>
                  </a:schemeClr>
                </a:solidFill>
              </a:rPr>
              <a:t>  Menutup popup (ikon tutup) kembali ke skrin contoh yang sama.</a:t>
            </a:r>
          </a:p>
          <a:p>
            <a:r>
              <a:rPr lang="en-MY" sz="900" dirty="0">
                <a:solidFill>
                  <a:schemeClr val="tx1">
                    <a:lumMod val="85000"/>
                    <a:lumOff val="15000"/>
                  </a:schemeClr>
                </a:solidFill>
              </a:rPr>
              <a:t>  3/5 contoh dilihat.</a:t>
            </a:r>
          </a:p>
          <a:p>
            <a:r>
              <a:rPr lang="en-MY" sz="900" dirty="0">
                <a:solidFill>
                  <a:schemeClr val="tx1">
                    <a:lumMod val="85000"/>
                    <a:lumOff val="15000"/>
                  </a:schemeClr>
                </a:solidFill>
              </a:rPr>
              <a:t>STATUS KEPUTUSAN: B02-D-01, B02-D-05</a:t>
            </a:r>
          </a:p>
          <a:p>
            <a:r>
              <a:rPr lang="en-MY" sz="900" dirty="0">
                <a:solidFill>
                  <a:schemeClr val="tx1">
                    <a:lumMod val="85000"/>
                    <a:lumOff val="15000"/>
                  </a:schemeClr>
                </a:solidFill>
              </a:rPr>
              <a:t>STATUS BELUM SELESAI: NONE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Contoh Struktur Persisir Air</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Contoh Struktur Persisir Air</a:t>
            </a:r>
          </a:p>
        </p:txBody>
      </p:sp>
      <p:sp>
        <p:nvSpPr>
          <p:cNvPr id="25" name="Instr"/>
          <p:cNvSpPr txBox="1"/>
          <p:nvPr/>
        </p:nvSpPr>
        <p:spPr>
          <a:xfrm>
            <a:off x="723930" y="1207008"/>
            <a:ext cx="10744200" cy="384048"/>
          </a:xfrm>
          <a:prstGeom prst="rect">
            <a:avLst/>
          </a:prstGeom>
          <a:noFill/>
        </p:spPr>
        <p:txBody>
          <a:bodyPr wrap="square">
            <a:noAutofit/>
          </a:bodyPr>
          <a:lstStyle/>
          <a:p>
            <a:pPr algn="ctr"/>
            <a:r>
              <a:rPr lang="en-MY" sz="1600" dirty="0">
                <a:solidFill>
                  <a:schemeClr val="tx1">
                    <a:lumMod val="85000"/>
                    <a:lumOff val="15000"/>
                  </a:schemeClr>
                </a:solidFill>
              </a:rPr>
              <a:t>Klik pada setiap contoh untuk penjelasan lanjut.</a:t>
            </a:r>
          </a:p>
        </p:txBody>
      </p:sp>
      <p:sp>
        <p:nvSpPr>
          <p:cNvPr id="40" name="ItemCard"/>
          <p:cNvSpPr txBox="1"/>
          <p:nvPr/>
        </p:nvSpPr>
        <p:spPr>
          <a:xfrm>
            <a:off x="723885" y="1965960"/>
            <a:ext cx="3325368"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Promenade</a:t>
            </a:r>
          </a:p>
        </p:txBody>
      </p:sp>
      <p:sp>
        <p:nvSpPr>
          <p:cNvPr id="41" name="Tick"/>
          <p:cNvSpPr/>
          <p:nvPr/>
        </p:nvSpPr>
        <p:spPr>
          <a:xfrm>
            <a:off x="3646917" y="204825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2" name="ItemCard"/>
          <p:cNvSpPr txBox="1"/>
          <p:nvPr/>
        </p:nvSpPr>
        <p:spPr>
          <a:xfrm>
            <a:off x="4433301" y="1965960"/>
            <a:ext cx="3325368"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Jeti</a:t>
            </a:r>
          </a:p>
        </p:txBody>
      </p:sp>
      <p:sp>
        <p:nvSpPr>
          <p:cNvPr id="43" name="Tick"/>
          <p:cNvSpPr/>
          <p:nvPr/>
        </p:nvSpPr>
        <p:spPr>
          <a:xfrm>
            <a:off x="7356333" y="204825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4" name="ItemCard"/>
          <p:cNvSpPr txBox="1"/>
          <p:nvPr/>
        </p:nvSpPr>
        <p:spPr>
          <a:xfrm>
            <a:off x="8142717" y="1965960"/>
            <a:ext cx="3325368"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Dek Kayu</a:t>
            </a:r>
          </a:p>
        </p:txBody>
      </p:sp>
      <p:sp>
        <p:nvSpPr>
          <p:cNvPr id="45" name="Tick"/>
          <p:cNvSpPr/>
          <p:nvPr/>
        </p:nvSpPr>
        <p:spPr>
          <a:xfrm>
            <a:off x="11065749" y="204825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6" name="ItemCard"/>
          <p:cNvSpPr txBox="1"/>
          <p:nvPr/>
        </p:nvSpPr>
        <p:spPr>
          <a:xfrm>
            <a:off x="2578593" y="3721608"/>
            <a:ext cx="3325368"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Boardwalk</a:t>
            </a:r>
          </a:p>
        </p:txBody>
      </p:sp>
      <p:sp>
        <p:nvSpPr>
          <p:cNvPr id="47" name="Tick"/>
          <p:cNvSpPr/>
          <p:nvPr/>
        </p:nvSpPr>
        <p:spPr>
          <a:xfrm>
            <a:off x="5501625" y="3803904"/>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8" name="ItemCard"/>
          <p:cNvSpPr txBox="1"/>
          <p:nvPr/>
        </p:nvSpPr>
        <p:spPr>
          <a:xfrm>
            <a:off x="6288009" y="3721608"/>
            <a:ext cx="3325368" cy="1481328"/>
          </a:xfrm>
          <a:prstGeom prst="rect">
            <a:avLst/>
          </a:prstGeom>
          <a:solidFill>
            <a:srgbClr val="F2F2F2"/>
          </a:solidFill>
          <a:ln w="12700">
            <a:solidFill>
              <a:srgbClr val="404040"/>
            </a:solidFill>
          </a:ln>
        </p:spPr>
        <p:txBody>
          <a:bodyPr wrap="square" anchor="ctr">
            <a:noAutofit/>
          </a:bodyPr>
          <a:lstStyle/>
          <a:p>
            <a:pPr algn="ctr"/>
            <a:r>
              <a:rPr lang="en-MY" sz="1500" b="1" dirty="0">
                <a:solidFill>
                  <a:schemeClr val="tx1">
                    <a:lumMod val="85000"/>
                    <a:lumOff val="15000"/>
                  </a:schemeClr>
                </a:solidFill>
              </a:rPr>
              <a:t>Footbridge</a:t>
            </a:r>
          </a:p>
        </p:txBody>
      </p:sp>
      <p:sp>
        <p:nvSpPr>
          <p:cNvPr id="200" name="PopupPanel"/>
          <p:cNvSpPr txBox="1"/>
          <p:nvPr/>
        </p:nvSpPr>
        <p:spPr>
          <a:xfrm>
            <a:off x="1234440" y="1737360"/>
            <a:ext cx="9723090" cy="3017520"/>
          </a:xfrm>
          <a:prstGeom prst="rect">
            <a:avLst/>
          </a:prstGeom>
          <a:solidFill>
            <a:srgbClr val="FFFFFF"/>
          </a:solidFill>
          <a:ln w="28575">
            <a:solidFill>
              <a:srgbClr val="1F4E79"/>
            </a:solidFill>
          </a:ln>
        </p:spPr>
        <p:txBody>
          <a:bodyPr wrap="square">
            <a:noAutofit/>
          </a:bodyPr>
          <a:lstStyle/>
        </p:txBody>
      </p:sp>
      <p:sp>
        <p:nvSpPr>
          <p:cNvPr id="201" name="PopupTitle"/>
          <p:cNvSpPr txBox="1"/>
          <p:nvPr/>
        </p:nvSpPr>
        <p:spPr>
          <a:xfrm>
            <a:off x="1490472" y="1883664"/>
            <a:ext cx="8534370" cy="365760"/>
          </a:xfrm>
          <a:prstGeom prst="rect">
            <a:avLst/>
          </a:prstGeom>
          <a:noFill/>
        </p:spPr>
        <p:txBody>
          <a:bodyPr wrap="square">
            <a:noAutofit/>
          </a:bodyPr>
          <a:lstStyle/>
          <a:p>
            <a:pPr/>
            <a:r>
              <a:rPr lang="en-MY" sz="2000" b="1" dirty="0">
                <a:solidFill>
                  <a:schemeClr val="tx1">
                    <a:lumMod val="85000"/>
                    <a:lumOff val="15000"/>
                  </a:schemeClr>
                </a:solidFill>
              </a:rPr>
              <a:t>Boardwalk</a:t>
            </a:r>
          </a:p>
        </p:txBody>
      </p:sp>
      <p:sp>
        <p:nvSpPr>
          <p:cNvPr id="260" name="CloseIcon"/>
          <p:cNvSpPr/>
          <p:nvPr/>
        </p:nvSpPr>
        <p:spPr>
          <a:xfrm>
            <a:off x="10317450" y="1901952"/>
            <a:ext cx="384048" cy="384048"/>
          </a:xfrm>
          <a:prstGeom prst="ellipse">
            <a:avLst/>
          </a:prstGeom>
          <a:solidFill>
            <a:srgbClr val="1F4E79"/>
          </a:solidFill>
          <a:ln>
            <a:noFill/>
          </a:ln>
        </p:spPr>
        <p:txBody>
          <a:bodyPr/>
          <a:lstStyle/>
          <a:p>
            <a:endParaRPr lang="en-MY"/>
          </a:p>
        </p:txBody>
      </p:sp>
      <p:sp>
        <p:nvSpPr>
          <p:cNvPr id="261" name="CloseGlyph"/>
          <p:cNvSpPr/>
          <p:nvPr/>
        </p:nvSpPr>
        <p:spPr>
          <a:xfrm>
            <a:off x="10421142" y="2005645"/>
            <a:ext cx="176662" cy="176662"/>
          </a:xfrm>
          <a:custGeom>
            <a:avLst/>
            <a:gdLst/>
            <a:ahLst/>
            <a:cxnLst/>
            <a:rect l="0" t="0" r="r" b="b"/>
            <a:pathLst>
              <a:path w="100" h="100">
                <a:moveTo>
                  <a:pt x="25" y="0"/>
                </a:moveTo>
                <a:lnTo>
                  <a:pt x="50" y="25"/>
                </a:lnTo>
                <a:lnTo>
                  <a:pt x="75" y="0"/>
                </a:lnTo>
                <a:lnTo>
                  <a:pt x="100" y="25"/>
                </a:lnTo>
                <a:lnTo>
                  <a:pt x="75" y="50"/>
                </a:lnTo>
                <a:lnTo>
                  <a:pt x="100" y="75"/>
                </a:lnTo>
                <a:lnTo>
                  <a:pt x="75" y="100"/>
                </a:lnTo>
                <a:lnTo>
                  <a:pt x="50" y="75"/>
                </a:lnTo>
                <a:lnTo>
                  <a:pt x="25" y="100"/>
                </a:lnTo>
                <a:lnTo>
                  <a:pt x="0" y="75"/>
                </a:lnTo>
                <a:lnTo>
                  <a:pt x="25" y="50"/>
                </a:lnTo>
                <a:lnTo>
                  <a:pt x="0" y="25"/>
                </a:lnTo>
                <a:close/>
              </a:path>
            </a:pathLst>
          </a:custGeom>
          <a:solidFill>
            <a:srgbClr val="FFFFFF"/>
          </a:solidFill>
          <a:ln>
            <a:noFill/>
          </a:ln>
        </p:spPr>
        <p:txBody>
          <a:bodyPr/>
          <a:lstStyle/>
          <a:p>
            <a:endParaRPr lang="en-MY"/>
          </a:p>
        </p:txBody>
      </p:sp>
      <p:sp>
        <p:nvSpPr>
          <p:cNvPr id="210" name="FHead"/>
          <p:cNvSpPr txBox="1"/>
          <p:nvPr/>
        </p:nvSpPr>
        <p:spPr>
          <a:xfrm>
            <a:off x="1490472" y="2468880"/>
            <a:ext cx="9211026" cy="219456"/>
          </a:xfrm>
          <a:prstGeom prst="rect">
            <a:avLst/>
          </a:prstGeom>
          <a:noFill/>
        </p:spPr>
        <p:txBody>
          <a:bodyPr wrap="square">
            <a:noAutofit/>
          </a:bodyPr>
          <a:lstStyle/>
          <a:p>
            <a:pPr/>
            <a:r>
              <a:rPr lang="en-MY" sz="950" b="1" dirty="0">
                <a:solidFill>
                  <a:srgbClr val="7F6000"/>
                </a:solidFill>
              </a:rPr>
              <a:t>Fungsi dan Penerangan</a:t>
            </a:r>
          </a:p>
        </p:txBody>
      </p:sp>
      <p:sp>
        <p:nvSpPr>
          <p:cNvPr id="211" name="FBody"/>
          <p:cNvSpPr txBox="1"/>
          <p:nvPr/>
        </p:nvSpPr>
        <p:spPr>
          <a:xfrm>
            <a:off x="1490472" y="2706624"/>
            <a:ext cx="9211026" cy="219456"/>
          </a:xfrm>
          <a:prstGeom prst="rect">
            <a:avLst/>
          </a:prstGeom>
          <a:noFill/>
        </p:spPr>
        <p:txBody>
          <a:bodyPr wrap="square">
            <a:noAutofit/>
          </a:bodyPr>
          <a:lstStyle/>
          <a:p>
            <a:pPr/>
            <a:r>
              <a:rPr lang="en-MY" sz="1250" dirty="0">
                <a:solidFill>
                  <a:schemeClr val="tx1">
                    <a:lumMod val="85000"/>
                    <a:lumOff val="15000"/>
                  </a:schemeClr>
                </a:solidFill>
              </a:rPr>
              <a:t>Laluan kayu di atas tanah berpaya/basah, mesra alam dan visual semula jadi.</a:t>
            </a:r>
          </a:p>
        </p:txBody>
      </p:sp>
      <p:sp>
        <p:nvSpPr>
          <p:cNvPr id="212" name="FHead"/>
          <p:cNvSpPr txBox="1"/>
          <p:nvPr/>
        </p:nvSpPr>
        <p:spPr>
          <a:xfrm>
            <a:off x="1490472" y="3086100"/>
            <a:ext cx="9211026" cy="219456"/>
          </a:xfrm>
          <a:prstGeom prst="rect">
            <a:avLst/>
          </a:prstGeom>
          <a:noFill/>
        </p:spPr>
        <p:txBody>
          <a:bodyPr wrap="square">
            <a:noAutofit/>
          </a:bodyPr>
          <a:lstStyle/>
          <a:p>
            <a:pPr/>
            <a:r>
              <a:rPr lang="en-MY" sz="950" b="1" dirty="0">
                <a:solidFill>
                  <a:srgbClr val="7F6000"/>
                </a:solidFill>
              </a:rPr>
              <a:t>Contoh</a:t>
            </a:r>
          </a:p>
        </p:txBody>
      </p:sp>
      <p:sp>
        <p:nvSpPr>
          <p:cNvPr id="213" name="FBody"/>
          <p:cNvSpPr txBox="1"/>
          <p:nvPr/>
        </p:nvSpPr>
        <p:spPr>
          <a:xfrm>
            <a:off x="1490472" y="3323844"/>
            <a:ext cx="9211026" cy="219456"/>
          </a:xfrm>
          <a:prstGeom prst="rect">
            <a:avLst/>
          </a:prstGeom>
          <a:noFill/>
        </p:spPr>
        <p:txBody>
          <a:bodyPr wrap="square">
            <a:noAutofit/>
          </a:bodyPr>
          <a:lstStyle/>
          <a:p>
            <a:pPr/>
            <a:r>
              <a:rPr lang="en-MY" sz="1250" dirty="0">
                <a:solidFill>
                  <a:schemeClr val="tx1">
                    <a:lumMod val="85000"/>
                    <a:lumOff val="15000"/>
                  </a:schemeClr>
                </a:solidFill>
              </a:rPr>
              <a:t>Boardwalk Paya Indah Wetlands</a:t>
            </a:r>
          </a:p>
        </p:txBody>
      </p:sp>
      <p:sp>
        <p:nvSpPr>
          <p:cNvPr id="214" name="FHead"/>
          <p:cNvSpPr txBox="1"/>
          <p:nvPr/>
        </p:nvSpPr>
        <p:spPr>
          <a:xfrm>
            <a:off x="1490472" y="3703320"/>
            <a:ext cx="9211026" cy="219456"/>
          </a:xfrm>
          <a:prstGeom prst="rect">
            <a:avLst/>
          </a:prstGeom>
          <a:noFill/>
        </p:spPr>
        <p:txBody>
          <a:bodyPr wrap="square">
            <a:noAutofit/>
          </a:bodyPr>
          <a:lstStyle/>
          <a:p>
            <a:pPr/>
            <a:r>
              <a:rPr lang="en-MY" sz="950" b="1" dirty="0">
                <a:solidFill>
                  <a:srgbClr val="7F6000"/>
                </a:solidFill>
              </a:rPr>
              <a:t>ARAHAN VISUAL — TIDAK DIBENAMKAN</a:t>
            </a:r>
          </a:p>
        </p:txBody>
      </p:sp>
      <p:sp>
        <p:nvSpPr>
          <p:cNvPr id="215" name="FBody"/>
          <p:cNvSpPr txBox="1"/>
          <p:nvPr/>
        </p:nvSpPr>
        <p:spPr>
          <a:xfrm>
            <a:off x="1490472" y="3941064"/>
            <a:ext cx="9211026" cy="429768"/>
          </a:xfrm>
          <a:prstGeom prst="rect">
            <a:avLst/>
          </a:prstGeom>
          <a:noFill/>
        </p:spPr>
        <p:txBody>
          <a:bodyPr wrap="square">
            <a:noAutofit/>
          </a:bodyPr>
          <a:lstStyle/>
          <a:p>
            <a:pPr/>
            <a:r>
              <a:rPr lang="en-MY" sz="1250" dirty="0">
                <a:solidFill>
                  <a:schemeClr val="tx1">
                    <a:lumMod val="85000"/>
                    <a:lumOff val="15000"/>
                  </a:schemeClr>
                </a:solidFill>
              </a:rPr>
              <a:t>[Visual: Rajah 23 — Contoh Boardwalk dalam Taman Paya Bakau, modul ms 239. Aset</a:t>
            </a:r>
          </a:p>
          <a:p>
            <a:pPr/>
            <a:r>
              <a:rPr lang="en-MY" sz="1250" dirty="0">
                <a:solidFill>
                  <a:schemeClr val="tx1">
                    <a:lumMod val="85000"/>
                    <a:lumOff val="15000"/>
                  </a:schemeClr>
                </a:solidFill>
              </a:rPr>
              <a:t>K5PL06T03-B02-IMG-p239-x20. Tidak dibenamkan.]</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Contoh Struktur Persisir Air</a:t>
            </a:r>
          </a:p>
          <a:p>
            <a:r>
              <a:rPr lang="en-MY" sz="900" dirty="0">
                <a:solidFill>
                  <a:schemeClr val="tx1">
                    <a:lumMod val="85000"/>
                    <a:lumOff val="15000"/>
                  </a:schemeClr>
                </a:solidFill>
              </a:rPr>
              <a:t>KELUARGA PELAKSANAAN: FAMILY_S</a:t>
            </a:r>
          </a:p>
          <a:p>
            <a:r>
              <a:rPr lang="en-MY" sz="900" dirty="0">
                <a:solidFill>
                  <a:schemeClr val="tx1">
                    <a:lumMod val="85000"/>
                    <a:lumOff val="15000"/>
                  </a:schemeClr>
                </a:solidFill>
              </a:rPr>
              <a:t>PERANAN HALAMAN SEMAKAN: COMPONENT_EXAMPLE_POPUP</a:t>
            </a:r>
          </a:p>
          <a:p>
            <a:r>
              <a:rPr lang="en-MY" sz="900" dirty="0">
                <a:solidFill>
                  <a:schemeClr val="tx1">
                    <a:lumMod val="85000"/>
                    <a:lumOff val="15000"/>
                  </a:schemeClr>
                </a:solidFill>
              </a:rPr>
              <a:t/>
            </a:r>
          </a:p>
          <a:p>
            <a:r>
              <a:rPr lang="en-MY" sz="900" dirty="0">
                <a:solidFill>
                  <a:schemeClr val="tx1">
                    <a:lumMod val="85000"/>
                    <a:lumOff val="15000"/>
                  </a:schemeClr>
                </a:solidFill>
              </a:rPr>
              <a:t>BUKTI: Family S popup 4 of 5</a:t>
            </a:r>
          </a:p>
          <a:p>
            <a:r>
              <a:rPr lang="en-MY" sz="900" dirty="0">
                <a:solidFill>
                  <a:schemeClr val="tx1">
                    <a:lumMod val="85000"/>
                    <a:lumOff val="15000"/>
                  </a:schemeClr>
                </a:solidFill>
              </a:rPr>
              <a:t>POLISI NOTA: CONTENT_VO_NOTES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NO_CONTROL  [none]</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CLOSE_ICON</a:t>
            </a:r>
          </a:p>
          <a:p>
            <a:r>
              <a:rPr lang="en-MY" sz="900" dirty="0">
                <a:solidFill>
                  <a:schemeClr val="tx1">
                    <a:lumMod val="85000"/>
                    <a:lumOff val="15000"/>
                  </a:schemeClr>
                </a:solidFill>
              </a:rPr>
              <a:t>  return_target = SCR_STRUKTUR_PERSISIR_AIR_EXAMPLES</a:t>
            </a:r>
          </a:p>
          <a:p>
            <a:r>
              <a:rPr lang="en-MY" sz="900" dirty="0">
                <a:solidFill>
                  <a:schemeClr val="tx1">
                    <a:lumMod val="85000"/>
                    <a:lumOff val="15000"/>
                  </a:schemeClr>
                </a:solidFill>
              </a:rPr>
              <a:t>SKOP SELESAI: ITEM</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1 · lapisan skrin 3</a:t>
            </a:r>
          </a:p>
          <a:p>
            <a:r>
              <a:rPr lang="en-MY" sz="900" dirty="0">
                <a:solidFill>
                  <a:schemeClr val="tx1">
                    <a:lumMod val="85000"/>
                    <a:lumOff val="15000"/>
                  </a:schemeClr>
                </a:solidFill>
              </a:rPr>
              <a:t>INDUK: SCR_STRUKTUR_PERSISIR_AIR_EXAMPLES</a:t>
            </a:r>
          </a:p>
          <a:p>
            <a:r>
              <a:rPr lang="en-MY" sz="900" b="1" dirty="0">
                <a:solidFill>
                  <a:schemeClr val="tx1">
                    <a:lumMod val="85000"/>
                    <a:lumOff val="15000"/>
                  </a:schemeClr>
                </a:solidFill>
              </a:rPr>
              <a:t>SUMBER:</a:t>
            </a:r>
          </a:p>
          <a:p>
            <a:r>
              <a:rPr lang="en-MY" sz="900" dirty="0">
                <a:solidFill>
                  <a:schemeClr val="tx1">
                    <a:lumMod val="85000"/>
                    <a:lumOff val="15000"/>
                  </a:schemeClr>
                </a:solidFill>
              </a:rPr>
              <a:t>  K5-PL06-T03-B02-STRUKTUR-PERSISIR-AIR-ROW-04</a:t>
            </a:r>
          </a:p>
          <a:p>
            <a:r>
              <a:rPr lang="en-MY" sz="900" dirty="0">
                <a:solidFill>
                  <a:schemeClr val="tx1">
                    <a:lumMod val="85000"/>
                    <a:lumOff val="15000"/>
                  </a:schemeClr>
                </a:solidFill>
              </a:rPr>
              <a:t>    ms 238 / fizikal 257</a:t>
            </a:r>
          </a:p>
          <a:p>
            <a:r>
              <a:rPr lang="en-MY" sz="900" b="1" dirty="0">
                <a:solidFill>
                  <a:schemeClr val="tx1">
                    <a:lumMod val="85000"/>
                    <a:lumOff val="15000"/>
                  </a:schemeClr>
                </a:solidFill>
              </a:rPr>
              <a:t>ASET SUMBER (tidak dibenamkan):</a:t>
            </a:r>
          </a:p>
          <a:p>
            <a:r>
              <a:rPr lang="en-MY" sz="900" dirty="0">
                <a:solidFill>
                  <a:schemeClr val="tx1">
                    <a:lumMod val="85000"/>
                    <a:lumOff val="15000"/>
                  </a:schemeClr>
                </a:solidFill>
              </a:rPr>
              <a:t>  K5PL06T03-B02-IMG-p239-x20</a:t>
            </a:r>
          </a:p>
          <a:p>
            <a:r>
              <a:rPr lang="en-MY" sz="900" b="1" dirty="0">
                <a:solidFill>
                  <a:schemeClr val="tx1">
                    <a:lumMod val="85000"/>
                    <a:lumOff val="15000"/>
                  </a:schemeClr>
                </a:solidFill>
              </a:rPr>
              <a:t>ITEM INTERAKSI:</a:t>
            </a:r>
          </a:p>
          <a:p>
            <a:r>
              <a:rPr lang="en-MY" sz="900" dirty="0">
                <a:solidFill>
                  <a:schemeClr val="tx1">
                    <a:lumMod val="85000"/>
                    <a:lumOff val="15000"/>
                  </a:schemeClr>
                </a:solidFill>
              </a:rPr>
              <a:t>  II_STRUKTUR_PERSISIR_AIR_EX04  &lt;-  K5-PL06-T03-B02-STRUKTUR-PERSISIR-AIR-ROW-04</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Contoh boleh diklik dalam sebarang susunan.</a:t>
            </a:r>
          </a:p>
          <a:p>
            <a:r>
              <a:rPr lang="en-MY" sz="900" dirty="0">
                <a:solidFill>
                  <a:schemeClr val="tx1">
                    <a:lumMod val="85000"/>
                    <a:lumOff val="15000"/>
                  </a:schemeClr>
                </a:solidFill>
              </a:rPr>
              <a:t>  Setiap contoh membuka SATU popup. Popup ialah STATE.</a:t>
            </a:r>
          </a:p>
          <a:p>
            <a:r>
              <a:rPr lang="en-MY" sz="900" dirty="0">
                <a:solidFill>
                  <a:schemeClr val="tx1">
                    <a:lumMod val="85000"/>
                    <a:lumOff val="15000"/>
                  </a:schemeClr>
                </a:solidFill>
              </a:rPr>
              <a:t>  Menutup popup (ikon tutup) kembali ke skrin contoh yang sama.</a:t>
            </a:r>
          </a:p>
          <a:p>
            <a:r>
              <a:rPr lang="en-MY" sz="900" dirty="0">
                <a:solidFill>
                  <a:schemeClr val="tx1">
                    <a:lumMod val="85000"/>
                    <a:lumOff val="15000"/>
                  </a:schemeClr>
                </a:solidFill>
              </a:rPr>
              <a:t>  4/5 contoh dilihat.</a:t>
            </a:r>
          </a:p>
          <a:p>
            <a:r>
              <a:rPr lang="en-MY" sz="900" dirty="0">
                <a:solidFill>
                  <a:schemeClr val="tx1">
                    <a:lumMod val="85000"/>
                    <a:lumOff val="15000"/>
                  </a:schemeClr>
                </a:solidFill>
              </a:rPr>
              <a:t>STATUS KEPUTUSAN: B02-D-01, B02-D-05</a:t>
            </a:r>
          </a:p>
          <a:p>
            <a:r>
              <a:rPr lang="en-MY" sz="900" dirty="0">
                <a:solidFill>
                  <a:schemeClr val="tx1">
                    <a:lumMod val="85000"/>
                    <a:lumOff val="15000"/>
                  </a:schemeClr>
                </a:solidFill>
              </a:rPr>
              <a:t>STATUS BELUM SELESAI: NONE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Contoh Struktur Persisir Air</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Contoh Struktur Persisir Air</a:t>
            </a:r>
          </a:p>
        </p:txBody>
      </p:sp>
      <p:sp>
        <p:nvSpPr>
          <p:cNvPr id="25" name="Instr"/>
          <p:cNvSpPr txBox="1"/>
          <p:nvPr/>
        </p:nvSpPr>
        <p:spPr>
          <a:xfrm>
            <a:off x="723930" y="1207008"/>
            <a:ext cx="10744200" cy="384048"/>
          </a:xfrm>
          <a:prstGeom prst="rect">
            <a:avLst/>
          </a:prstGeom>
          <a:noFill/>
        </p:spPr>
        <p:txBody>
          <a:bodyPr wrap="square">
            <a:noAutofit/>
          </a:bodyPr>
          <a:lstStyle/>
          <a:p>
            <a:pPr algn="ctr"/>
            <a:r>
              <a:rPr lang="en-MY" sz="1600" dirty="0">
                <a:solidFill>
                  <a:schemeClr val="tx1">
                    <a:lumMod val="85000"/>
                    <a:lumOff val="15000"/>
                  </a:schemeClr>
                </a:solidFill>
              </a:rPr>
              <a:t>Klik pada setiap contoh untuk penjelasan lanjut.</a:t>
            </a:r>
          </a:p>
        </p:txBody>
      </p:sp>
      <p:sp>
        <p:nvSpPr>
          <p:cNvPr id="40" name="ItemCard"/>
          <p:cNvSpPr txBox="1"/>
          <p:nvPr/>
        </p:nvSpPr>
        <p:spPr>
          <a:xfrm>
            <a:off x="723885" y="1965960"/>
            <a:ext cx="3325368"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Promenade</a:t>
            </a:r>
          </a:p>
        </p:txBody>
      </p:sp>
      <p:sp>
        <p:nvSpPr>
          <p:cNvPr id="41" name="Tick"/>
          <p:cNvSpPr/>
          <p:nvPr/>
        </p:nvSpPr>
        <p:spPr>
          <a:xfrm>
            <a:off x="3646917" y="204825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2" name="ItemCard"/>
          <p:cNvSpPr txBox="1"/>
          <p:nvPr/>
        </p:nvSpPr>
        <p:spPr>
          <a:xfrm>
            <a:off x="4433301" y="1965960"/>
            <a:ext cx="3325368"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Jeti</a:t>
            </a:r>
          </a:p>
        </p:txBody>
      </p:sp>
      <p:sp>
        <p:nvSpPr>
          <p:cNvPr id="43" name="Tick"/>
          <p:cNvSpPr/>
          <p:nvPr/>
        </p:nvSpPr>
        <p:spPr>
          <a:xfrm>
            <a:off x="7356333" y="204825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4" name="ItemCard"/>
          <p:cNvSpPr txBox="1"/>
          <p:nvPr/>
        </p:nvSpPr>
        <p:spPr>
          <a:xfrm>
            <a:off x="8142717" y="1965960"/>
            <a:ext cx="3325368"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Dek Kayu</a:t>
            </a:r>
          </a:p>
        </p:txBody>
      </p:sp>
      <p:sp>
        <p:nvSpPr>
          <p:cNvPr id="45" name="Tick"/>
          <p:cNvSpPr/>
          <p:nvPr/>
        </p:nvSpPr>
        <p:spPr>
          <a:xfrm>
            <a:off x="11065749" y="204825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6" name="ItemCard"/>
          <p:cNvSpPr txBox="1"/>
          <p:nvPr/>
        </p:nvSpPr>
        <p:spPr>
          <a:xfrm>
            <a:off x="2578593" y="3721608"/>
            <a:ext cx="3325368"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Boardwalk</a:t>
            </a:r>
          </a:p>
        </p:txBody>
      </p:sp>
      <p:sp>
        <p:nvSpPr>
          <p:cNvPr id="47" name="Tick"/>
          <p:cNvSpPr/>
          <p:nvPr/>
        </p:nvSpPr>
        <p:spPr>
          <a:xfrm>
            <a:off x="5501625" y="3803904"/>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8" name="ItemCard"/>
          <p:cNvSpPr txBox="1"/>
          <p:nvPr/>
        </p:nvSpPr>
        <p:spPr>
          <a:xfrm>
            <a:off x="6288009" y="3721608"/>
            <a:ext cx="3325368"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Footbridge</a:t>
            </a:r>
          </a:p>
        </p:txBody>
      </p:sp>
      <p:sp>
        <p:nvSpPr>
          <p:cNvPr id="49" name="Tick"/>
          <p:cNvSpPr/>
          <p:nvPr/>
        </p:nvSpPr>
        <p:spPr>
          <a:xfrm>
            <a:off x="9211041" y="3803904"/>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200" name="PopupPanel"/>
          <p:cNvSpPr txBox="1"/>
          <p:nvPr/>
        </p:nvSpPr>
        <p:spPr>
          <a:xfrm>
            <a:off x="1234440" y="1737360"/>
            <a:ext cx="9723090" cy="3017520"/>
          </a:xfrm>
          <a:prstGeom prst="rect">
            <a:avLst/>
          </a:prstGeom>
          <a:solidFill>
            <a:srgbClr val="FFFFFF"/>
          </a:solidFill>
          <a:ln w="28575">
            <a:solidFill>
              <a:srgbClr val="1F4E79"/>
            </a:solidFill>
          </a:ln>
        </p:spPr>
        <p:txBody>
          <a:bodyPr wrap="square">
            <a:noAutofit/>
          </a:bodyPr>
          <a:lstStyle/>
        </p:txBody>
      </p:sp>
      <p:sp>
        <p:nvSpPr>
          <p:cNvPr id="201" name="PopupTitle"/>
          <p:cNvSpPr txBox="1"/>
          <p:nvPr/>
        </p:nvSpPr>
        <p:spPr>
          <a:xfrm>
            <a:off x="1490472" y="1883664"/>
            <a:ext cx="8534370" cy="365760"/>
          </a:xfrm>
          <a:prstGeom prst="rect">
            <a:avLst/>
          </a:prstGeom>
          <a:noFill/>
        </p:spPr>
        <p:txBody>
          <a:bodyPr wrap="square">
            <a:noAutofit/>
          </a:bodyPr>
          <a:lstStyle/>
          <a:p>
            <a:pPr/>
            <a:r>
              <a:rPr lang="en-MY" sz="2000" b="1" dirty="0">
                <a:solidFill>
                  <a:schemeClr val="tx1">
                    <a:lumMod val="85000"/>
                    <a:lumOff val="15000"/>
                  </a:schemeClr>
                </a:solidFill>
              </a:rPr>
              <a:t>Footbridge</a:t>
            </a:r>
          </a:p>
        </p:txBody>
      </p:sp>
      <p:sp>
        <p:nvSpPr>
          <p:cNvPr id="260" name="CloseIcon"/>
          <p:cNvSpPr/>
          <p:nvPr/>
        </p:nvSpPr>
        <p:spPr>
          <a:xfrm>
            <a:off x="10317450" y="1901952"/>
            <a:ext cx="384048" cy="384048"/>
          </a:xfrm>
          <a:prstGeom prst="ellipse">
            <a:avLst/>
          </a:prstGeom>
          <a:solidFill>
            <a:srgbClr val="1F4E79"/>
          </a:solidFill>
          <a:ln>
            <a:noFill/>
          </a:ln>
        </p:spPr>
        <p:txBody>
          <a:bodyPr/>
          <a:lstStyle/>
          <a:p>
            <a:endParaRPr lang="en-MY"/>
          </a:p>
        </p:txBody>
      </p:sp>
      <p:sp>
        <p:nvSpPr>
          <p:cNvPr id="261" name="CloseGlyph"/>
          <p:cNvSpPr/>
          <p:nvPr/>
        </p:nvSpPr>
        <p:spPr>
          <a:xfrm>
            <a:off x="10421142" y="2005645"/>
            <a:ext cx="176662" cy="176662"/>
          </a:xfrm>
          <a:custGeom>
            <a:avLst/>
            <a:gdLst/>
            <a:ahLst/>
            <a:cxnLst/>
            <a:rect l="0" t="0" r="r" b="b"/>
            <a:pathLst>
              <a:path w="100" h="100">
                <a:moveTo>
                  <a:pt x="25" y="0"/>
                </a:moveTo>
                <a:lnTo>
                  <a:pt x="50" y="25"/>
                </a:lnTo>
                <a:lnTo>
                  <a:pt x="75" y="0"/>
                </a:lnTo>
                <a:lnTo>
                  <a:pt x="100" y="25"/>
                </a:lnTo>
                <a:lnTo>
                  <a:pt x="75" y="50"/>
                </a:lnTo>
                <a:lnTo>
                  <a:pt x="100" y="75"/>
                </a:lnTo>
                <a:lnTo>
                  <a:pt x="75" y="100"/>
                </a:lnTo>
                <a:lnTo>
                  <a:pt x="50" y="75"/>
                </a:lnTo>
                <a:lnTo>
                  <a:pt x="25" y="100"/>
                </a:lnTo>
                <a:lnTo>
                  <a:pt x="0" y="75"/>
                </a:lnTo>
                <a:lnTo>
                  <a:pt x="25" y="50"/>
                </a:lnTo>
                <a:lnTo>
                  <a:pt x="0" y="25"/>
                </a:lnTo>
                <a:close/>
              </a:path>
            </a:pathLst>
          </a:custGeom>
          <a:solidFill>
            <a:srgbClr val="FFFFFF"/>
          </a:solidFill>
          <a:ln>
            <a:noFill/>
          </a:ln>
        </p:spPr>
        <p:txBody>
          <a:bodyPr/>
          <a:lstStyle/>
          <a:p>
            <a:endParaRPr lang="en-MY"/>
          </a:p>
        </p:txBody>
      </p:sp>
      <p:sp>
        <p:nvSpPr>
          <p:cNvPr id="210" name="FHead"/>
          <p:cNvSpPr txBox="1"/>
          <p:nvPr/>
        </p:nvSpPr>
        <p:spPr>
          <a:xfrm>
            <a:off x="1490472" y="2468880"/>
            <a:ext cx="9211026" cy="219456"/>
          </a:xfrm>
          <a:prstGeom prst="rect">
            <a:avLst/>
          </a:prstGeom>
          <a:noFill/>
        </p:spPr>
        <p:txBody>
          <a:bodyPr wrap="square">
            <a:noAutofit/>
          </a:bodyPr>
          <a:lstStyle/>
          <a:p>
            <a:pPr/>
            <a:r>
              <a:rPr lang="en-MY" sz="950" b="1" dirty="0">
                <a:solidFill>
                  <a:srgbClr val="7F6000"/>
                </a:solidFill>
              </a:rPr>
              <a:t>Fungsi dan Penerangan</a:t>
            </a:r>
          </a:p>
        </p:txBody>
      </p:sp>
      <p:sp>
        <p:nvSpPr>
          <p:cNvPr id="211" name="FBody"/>
          <p:cNvSpPr txBox="1"/>
          <p:nvPr/>
        </p:nvSpPr>
        <p:spPr>
          <a:xfrm>
            <a:off x="1490472" y="2706624"/>
            <a:ext cx="9211026" cy="219456"/>
          </a:xfrm>
          <a:prstGeom prst="rect">
            <a:avLst/>
          </a:prstGeom>
          <a:noFill/>
        </p:spPr>
        <p:txBody>
          <a:bodyPr wrap="square">
            <a:noAutofit/>
          </a:bodyPr>
          <a:lstStyle/>
          <a:p>
            <a:pPr/>
            <a:r>
              <a:rPr lang="en-MY" sz="1250" dirty="0">
                <a:solidFill>
                  <a:schemeClr val="tx1">
                    <a:lumMod val="85000"/>
                    <a:lumOff val="15000"/>
                  </a:schemeClr>
                </a:solidFill>
              </a:rPr>
              <a:t>Jambatan kecil untuk laluan pejalan kaki melintasi aliran air atau longkang besar.</a:t>
            </a:r>
          </a:p>
        </p:txBody>
      </p:sp>
      <p:sp>
        <p:nvSpPr>
          <p:cNvPr id="212" name="FHead"/>
          <p:cNvSpPr txBox="1"/>
          <p:nvPr/>
        </p:nvSpPr>
        <p:spPr>
          <a:xfrm>
            <a:off x="1490472" y="3086100"/>
            <a:ext cx="9211026" cy="219456"/>
          </a:xfrm>
          <a:prstGeom prst="rect">
            <a:avLst/>
          </a:prstGeom>
          <a:noFill/>
        </p:spPr>
        <p:txBody>
          <a:bodyPr wrap="square">
            <a:noAutofit/>
          </a:bodyPr>
          <a:lstStyle/>
          <a:p>
            <a:pPr/>
            <a:r>
              <a:rPr lang="en-MY" sz="950" b="1" dirty="0">
                <a:solidFill>
                  <a:srgbClr val="7F6000"/>
                </a:solidFill>
              </a:rPr>
              <a:t>Contoh</a:t>
            </a:r>
          </a:p>
        </p:txBody>
      </p:sp>
      <p:sp>
        <p:nvSpPr>
          <p:cNvPr id="213" name="FBody"/>
          <p:cNvSpPr txBox="1"/>
          <p:nvPr/>
        </p:nvSpPr>
        <p:spPr>
          <a:xfrm>
            <a:off x="1490472" y="3323844"/>
            <a:ext cx="9211026" cy="219456"/>
          </a:xfrm>
          <a:prstGeom prst="rect">
            <a:avLst/>
          </a:prstGeom>
          <a:noFill/>
        </p:spPr>
        <p:txBody>
          <a:bodyPr wrap="square">
            <a:noAutofit/>
          </a:bodyPr>
          <a:lstStyle/>
          <a:p>
            <a:pPr/>
            <a:r>
              <a:rPr lang="en-MY" sz="1250" dirty="0">
                <a:solidFill>
                  <a:schemeClr val="tx1">
                    <a:lumMod val="85000"/>
                    <a:lumOff val="15000"/>
                  </a:schemeClr>
                </a:solidFill>
              </a:rPr>
              <a:t>Footbridge Taman Botani Perdana</a:t>
            </a:r>
          </a:p>
        </p:txBody>
      </p:sp>
      <p:sp>
        <p:nvSpPr>
          <p:cNvPr id="214" name="FHead"/>
          <p:cNvSpPr txBox="1"/>
          <p:nvPr/>
        </p:nvSpPr>
        <p:spPr>
          <a:xfrm>
            <a:off x="1490472" y="3703320"/>
            <a:ext cx="9211026" cy="219456"/>
          </a:xfrm>
          <a:prstGeom prst="rect">
            <a:avLst/>
          </a:prstGeom>
          <a:noFill/>
        </p:spPr>
        <p:txBody>
          <a:bodyPr wrap="square">
            <a:noAutofit/>
          </a:bodyPr>
          <a:lstStyle/>
          <a:p>
            <a:pPr/>
            <a:r>
              <a:rPr lang="en-MY" sz="950" b="1" dirty="0">
                <a:solidFill>
                  <a:srgbClr val="7F6000"/>
                </a:solidFill>
              </a:rPr>
              <a:t>ARAHAN VISUAL — TIDAK DIBENAMKAN</a:t>
            </a:r>
          </a:p>
        </p:txBody>
      </p:sp>
      <p:sp>
        <p:nvSpPr>
          <p:cNvPr id="215" name="FBody"/>
          <p:cNvSpPr txBox="1"/>
          <p:nvPr/>
        </p:nvSpPr>
        <p:spPr>
          <a:xfrm>
            <a:off x="1490472" y="3941064"/>
            <a:ext cx="9211026" cy="429768"/>
          </a:xfrm>
          <a:prstGeom prst="rect">
            <a:avLst/>
          </a:prstGeom>
          <a:noFill/>
        </p:spPr>
        <p:txBody>
          <a:bodyPr wrap="square">
            <a:noAutofit/>
          </a:bodyPr>
          <a:lstStyle/>
          <a:p>
            <a:pPr/>
            <a:r>
              <a:rPr lang="en-MY" sz="1250" dirty="0">
                <a:solidFill>
                  <a:schemeClr val="tx1">
                    <a:lumMod val="85000"/>
                    <a:lumOff val="15000"/>
                  </a:schemeClr>
                </a:solidFill>
              </a:rPr>
              <a:t>[Visual: Arahan visual untuk Footbridge — spesifikasi teks sahaja, modul ms 238. Tidak</a:t>
            </a:r>
          </a:p>
          <a:p>
            <a:pPr/>
            <a:r>
              <a:rPr lang="en-MY" sz="1250" dirty="0">
                <a:solidFill>
                  <a:schemeClr val="tx1">
                    <a:lumMod val="85000"/>
                    <a:lumOff val="15000"/>
                  </a:schemeClr>
                </a:solidFill>
              </a:rPr>
              <a:t>dibenamkan.]</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Contoh Struktur Persisir Air</a:t>
            </a:r>
          </a:p>
          <a:p>
            <a:r>
              <a:rPr lang="en-MY" sz="900" dirty="0">
                <a:solidFill>
                  <a:schemeClr val="tx1">
                    <a:lumMod val="85000"/>
                    <a:lumOff val="15000"/>
                  </a:schemeClr>
                </a:solidFill>
              </a:rPr>
              <a:t>KELUARGA PELAKSANAAN: FAMILY_S</a:t>
            </a:r>
          </a:p>
          <a:p>
            <a:r>
              <a:rPr lang="en-MY" sz="900" dirty="0">
                <a:solidFill>
                  <a:schemeClr val="tx1">
                    <a:lumMod val="85000"/>
                    <a:lumOff val="15000"/>
                  </a:schemeClr>
                </a:solidFill>
              </a:rPr>
              <a:t>PERANAN HALAMAN SEMAKAN: COMPONENT_EXAMPLE_POPUP</a:t>
            </a:r>
          </a:p>
          <a:p>
            <a:r>
              <a:rPr lang="en-MY" sz="900" dirty="0">
                <a:solidFill>
                  <a:schemeClr val="tx1">
                    <a:lumMod val="85000"/>
                    <a:lumOff val="15000"/>
                  </a:schemeClr>
                </a:solidFill>
              </a:rPr>
              <a:t/>
            </a:r>
          </a:p>
          <a:p>
            <a:r>
              <a:rPr lang="en-MY" sz="900" dirty="0">
                <a:solidFill>
                  <a:schemeClr val="tx1">
                    <a:lumMod val="85000"/>
                    <a:lumOff val="15000"/>
                  </a:schemeClr>
                </a:solidFill>
              </a:rPr>
              <a:t>BUKTI: Family S popup 5 of 5</a:t>
            </a:r>
          </a:p>
          <a:p>
            <a:r>
              <a:rPr lang="en-MY" sz="900" dirty="0">
                <a:solidFill>
                  <a:schemeClr val="tx1">
                    <a:lumMod val="85000"/>
                    <a:lumOff val="15000"/>
                  </a:schemeClr>
                </a:solidFill>
              </a:rPr>
              <a:t>POLISI NOTA: CONTENT_VO_NOTES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NO_CONTROL  [none]</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CLOSE_ICON</a:t>
            </a:r>
          </a:p>
          <a:p>
            <a:r>
              <a:rPr lang="en-MY" sz="900" dirty="0">
                <a:solidFill>
                  <a:schemeClr val="tx1">
                    <a:lumMod val="85000"/>
                    <a:lumOff val="15000"/>
                  </a:schemeClr>
                </a:solidFill>
              </a:rPr>
              <a:t>  return_target = SCR_STRUKTUR_PERSISIR_AIR_EXAMPLES</a:t>
            </a:r>
          </a:p>
          <a:p>
            <a:r>
              <a:rPr lang="en-MY" sz="900" dirty="0">
                <a:solidFill>
                  <a:schemeClr val="tx1">
                    <a:lumMod val="85000"/>
                    <a:lumOff val="15000"/>
                  </a:schemeClr>
                </a:solidFill>
              </a:rPr>
              <a:t>SKOP SELESAI: ITEM</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1 · lapisan skrin 3</a:t>
            </a:r>
          </a:p>
          <a:p>
            <a:r>
              <a:rPr lang="en-MY" sz="900" dirty="0">
                <a:solidFill>
                  <a:schemeClr val="tx1">
                    <a:lumMod val="85000"/>
                    <a:lumOff val="15000"/>
                  </a:schemeClr>
                </a:solidFill>
              </a:rPr>
              <a:t>INDUK: SCR_STRUKTUR_PERSISIR_AIR_EXAMPLES</a:t>
            </a:r>
          </a:p>
          <a:p>
            <a:r>
              <a:rPr lang="en-MY" sz="900" b="1" dirty="0">
                <a:solidFill>
                  <a:schemeClr val="tx1">
                    <a:lumMod val="85000"/>
                    <a:lumOff val="15000"/>
                  </a:schemeClr>
                </a:solidFill>
              </a:rPr>
              <a:t>SUMBER:</a:t>
            </a:r>
          </a:p>
          <a:p>
            <a:r>
              <a:rPr lang="en-MY" sz="900" dirty="0">
                <a:solidFill>
                  <a:schemeClr val="tx1">
                    <a:lumMod val="85000"/>
                    <a:lumOff val="15000"/>
                  </a:schemeClr>
                </a:solidFill>
              </a:rPr>
              <a:t>  K5-PL06-T03-B02-STRUKTUR-PERSISIR-AIR-ROW-05</a:t>
            </a:r>
          </a:p>
          <a:p>
            <a:r>
              <a:rPr lang="en-MY" sz="900" dirty="0">
                <a:solidFill>
                  <a:schemeClr val="tx1">
                    <a:lumMod val="85000"/>
                    <a:lumOff val="15000"/>
                  </a:schemeClr>
                </a:solidFill>
              </a:rPr>
              <a:t>    ms 238 / fizikal 257</a:t>
            </a:r>
          </a:p>
          <a:p>
            <a:r>
              <a:rPr lang="en-MY" sz="900" b="1" dirty="0">
                <a:solidFill>
                  <a:schemeClr val="tx1">
                    <a:lumMod val="85000"/>
                    <a:lumOff val="15000"/>
                  </a:schemeClr>
                </a:solidFill>
              </a:rPr>
              <a:t>ITEM INTERAKSI:</a:t>
            </a:r>
          </a:p>
          <a:p>
            <a:r>
              <a:rPr lang="en-MY" sz="900" dirty="0">
                <a:solidFill>
                  <a:schemeClr val="tx1">
                    <a:lumMod val="85000"/>
                    <a:lumOff val="15000"/>
                  </a:schemeClr>
                </a:solidFill>
              </a:rPr>
              <a:t>  II_STRUKTUR_PERSISIR_AIR_EX05  &lt;-  K5-PL06-T03-B02-STRUKTUR-PERSISIR-AIR-ROW-05</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Contoh boleh diklik dalam sebarang susunan.</a:t>
            </a:r>
          </a:p>
          <a:p>
            <a:r>
              <a:rPr lang="en-MY" sz="900" dirty="0">
                <a:solidFill>
                  <a:schemeClr val="tx1">
                    <a:lumMod val="85000"/>
                    <a:lumOff val="15000"/>
                  </a:schemeClr>
                </a:solidFill>
              </a:rPr>
              <a:t>  Setiap contoh membuka SATU popup. Popup ialah STATE.</a:t>
            </a:r>
          </a:p>
          <a:p>
            <a:r>
              <a:rPr lang="en-MY" sz="900" dirty="0">
                <a:solidFill>
                  <a:schemeClr val="tx1">
                    <a:lumMod val="85000"/>
                    <a:lumOff val="15000"/>
                  </a:schemeClr>
                </a:solidFill>
              </a:rPr>
              <a:t>  Menutup popup (ikon tutup) kembali ke skrin contoh yang sama.</a:t>
            </a:r>
          </a:p>
          <a:p>
            <a:r>
              <a:rPr lang="en-MY" sz="900" dirty="0">
                <a:solidFill>
                  <a:schemeClr val="tx1">
                    <a:lumMod val="85000"/>
                    <a:lumOff val="15000"/>
                  </a:schemeClr>
                </a:solidFill>
              </a:rPr>
              <a:t>  5/5 contoh dilihat.</a:t>
            </a:r>
          </a:p>
          <a:p>
            <a:r>
              <a:rPr lang="en-MY" sz="900" dirty="0">
                <a:solidFill>
                  <a:schemeClr val="tx1">
                    <a:lumMod val="85000"/>
                    <a:lumOff val="15000"/>
                  </a:schemeClr>
                </a:solidFill>
              </a:rPr>
              <a:t>STATUS KEPUTUSAN: B02-D-01, B02-D-05</a:t>
            </a:r>
          </a:p>
          <a:p>
            <a:r>
              <a:rPr lang="en-MY" sz="900" dirty="0">
                <a:solidFill>
                  <a:schemeClr val="tx1">
                    <a:lumMod val="85000"/>
                    <a:lumOff val="15000"/>
                  </a:schemeClr>
                </a:solidFill>
              </a:rPr>
              <a:t>STATUS BELUM SELESAI: NONE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Contoh Struktur Persisir Air</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Contoh Struktur Persisir Air</a:t>
            </a:r>
          </a:p>
        </p:txBody>
      </p:sp>
      <p:sp>
        <p:nvSpPr>
          <p:cNvPr id="25" name="Instr"/>
          <p:cNvSpPr txBox="1"/>
          <p:nvPr/>
        </p:nvSpPr>
        <p:spPr>
          <a:xfrm>
            <a:off x="723930" y="1207008"/>
            <a:ext cx="10744200" cy="384048"/>
          </a:xfrm>
          <a:prstGeom prst="rect">
            <a:avLst/>
          </a:prstGeom>
          <a:noFill/>
        </p:spPr>
        <p:txBody>
          <a:bodyPr wrap="square">
            <a:noAutofit/>
          </a:bodyPr>
          <a:lstStyle/>
          <a:p>
            <a:pPr algn="ctr"/>
            <a:r>
              <a:rPr lang="en-MY" sz="1600" dirty="0">
                <a:solidFill>
                  <a:schemeClr val="tx1">
                    <a:lumMod val="85000"/>
                    <a:lumOff val="15000"/>
                  </a:schemeClr>
                </a:solidFill>
              </a:rPr>
              <a:t>Klik pada setiap contoh untuk penjelasan lanjut.</a:t>
            </a:r>
          </a:p>
        </p:txBody>
      </p:sp>
      <p:sp>
        <p:nvSpPr>
          <p:cNvPr id="40" name="ItemCard"/>
          <p:cNvSpPr txBox="1"/>
          <p:nvPr/>
        </p:nvSpPr>
        <p:spPr>
          <a:xfrm>
            <a:off x="723885" y="1965960"/>
            <a:ext cx="3325368"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Promenade</a:t>
            </a:r>
          </a:p>
        </p:txBody>
      </p:sp>
      <p:sp>
        <p:nvSpPr>
          <p:cNvPr id="41" name="Tick"/>
          <p:cNvSpPr/>
          <p:nvPr/>
        </p:nvSpPr>
        <p:spPr>
          <a:xfrm>
            <a:off x="3646917" y="204825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2" name="ItemCard"/>
          <p:cNvSpPr txBox="1"/>
          <p:nvPr/>
        </p:nvSpPr>
        <p:spPr>
          <a:xfrm>
            <a:off x="4433301" y="1965960"/>
            <a:ext cx="3325368"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Jeti</a:t>
            </a:r>
          </a:p>
        </p:txBody>
      </p:sp>
      <p:sp>
        <p:nvSpPr>
          <p:cNvPr id="43" name="Tick"/>
          <p:cNvSpPr/>
          <p:nvPr/>
        </p:nvSpPr>
        <p:spPr>
          <a:xfrm>
            <a:off x="7356333" y="204825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4" name="ItemCard"/>
          <p:cNvSpPr txBox="1"/>
          <p:nvPr/>
        </p:nvSpPr>
        <p:spPr>
          <a:xfrm>
            <a:off x="8142717" y="1965960"/>
            <a:ext cx="3325368"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Dek Kayu</a:t>
            </a:r>
          </a:p>
        </p:txBody>
      </p:sp>
      <p:sp>
        <p:nvSpPr>
          <p:cNvPr id="45" name="Tick"/>
          <p:cNvSpPr/>
          <p:nvPr/>
        </p:nvSpPr>
        <p:spPr>
          <a:xfrm>
            <a:off x="11065749" y="204825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6" name="ItemCard"/>
          <p:cNvSpPr txBox="1"/>
          <p:nvPr/>
        </p:nvSpPr>
        <p:spPr>
          <a:xfrm>
            <a:off x="2578593" y="3721608"/>
            <a:ext cx="3325368"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Boardwalk</a:t>
            </a:r>
          </a:p>
        </p:txBody>
      </p:sp>
      <p:sp>
        <p:nvSpPr>
          <p:cNvPr id="47" name="Tick"/>
          <p:cNvSpPr/>
          <p:nvPr/>
        </p:nvSpPr>
        <p:spPr>
          <a:xfrm>
            <a:off x="5501625" y="3803904"/>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8" name="ItemCard"/>
          <p:cNvSpPr txBox="1"/>
          <p:nvPr/>
        </p:nvSpPr>
        <p:spPr>
          <a:xfrm>
            <a:off x="6288009" y="3721608"/>
            <a:ext cx="3325368"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Footbridge</a:t>
            </a:r>
          </a:p>
        </p:txBody>
      </p:sp>
      <p:sp>
        <p:nvSpPr>
          <p:cNvPr id="49" name="Tick"/>
          <p:cNvSpPr/>
          <p:nvPr/>
        </p:nvSpPr>
        <p:spPr>
          <a:xfrm>
            <a:off x="9211041" y="3803904"/>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95" name="Btn"/>
          <p:cNvSpPr txBox="1"/>
          <p:nvPr/>
        </p:nvSpPr>
        <p:spPr>
          <a:xfrm>
            <a:off x="5295885" y="6419088"/>
            <a:ext cx="1600200" cy="347472"/>
          </a:xfrm>
          <a:prstGeom prst="rect">
            <a:avLst/>
          </a:prstGeom>
          <a:solidFill>
            <a:srgbClr val="1F4E79"/>
          </a:solidFill>
          <a:ln w="12700">
            <a:solidFill>
              <a:srgbClr val="1F4E79"/>
            </a:solidFill>
          </a:ln>
        </p:spPr>
        <p:txBody>
          <a:bodyPr wrap="square" anchor="ctr">
            <a:noAutofit/>
          </a:bodyPr>
          <a:lstStyle/>
          <a:p>
            <a:pPr algn="ctr"/>
            <a:r>
              <a:rPr lang="en-MY" sz="1600" b="1" dirty="0">
                <a:solidFill>
                  <a:srgbClr val="FFFFFF"/>
                </a:solidFill>
              </a:rPr>
              <a:t>Kembali</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Contoh Struktur Persisir Air</a:t>
            </a:r>
          </a:p>
          <a:p>
            <a:r>
              <a:rPr lang="en-MY" sz="900" dirty="0">
                <a:solidFill>
                  <a:schemeClr val="tx1">
                    <a:lumMod val="85000"/>
                    <a:lumOff val="15000"/>
                  </a:schemeClr>
                </a:solidFill>
              </a:rPr>
              <a:t>KELUARGA PELAKSANAAN: FAMILY_S</a:t>
            </a:r>
          </a:p>
          <a:p>
            <a:r>
              <a:rPr lang="en-MY" sz="900" dirty="0">
                <a:solidFill>
                  <a:schemeClr val="tx1">
                    <a:lumMod val="85000"/>
                    <a:lumOff val="15000"/>
                  </a:schemeClr>
                </a:solidFill>
              </a:rPr>
              <a:t>PERANAN HALAMAN SEMAKAN: COMPONENT_EXAMPLES_ALL_VIEWED</a:t>
            </a:r>
          </a:p>
          <a:p>
            <a:r>
              <a:rPr lang="en-MY" sz="900" dirty="0">
                <a:solidFill>
                  <a:schemeClr val="tx1">
                    <a:lumMod val="85000"/>
                    <a:lumOff val="15000"/>
                  </a:schemeClr>
                </a:solidFill>
              </a:rPr>
              <a:t/>
            </a:r>
          </a:p>
          <a:p>
            <a:r>
              <a:rPr lang="en-MY" sz="900" dirty="0">
                <a:solidFill>
                  <a:schemeClr val="tx1">
                    <a:lumMod val="85000"/>
                    <a:lumOff val="15000"/>
                  </a:schemeClr>
                </a:solidFill>
              </a:rPr>
              <a:t>BUKTI: Family S all-viewed, Kembali enabled</a:t>
            </a:r>
          </a:p>
          <a:p>
            <a:r>
              <a:rPr lang="en-MY" sz="900" dirty="0">
                <a:solidFill>
                  <a:schemeClr val="tx1">
                    <a:lumMod val="85000"/>
                    <a:lumOff val="15000"/>
                  </a:schemeClr>
                </a:solidFill>
              </a:rPr>
              <a:t>POLISI NOTA: SILENT_STATE_NOTES  (SILENT)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NO_CONTROL  [none]</a:t>
            </a:r>
          </a:p>
          <a:p>
            <a:r>
              <a:rPr lang="en-MY" sz="900" dirty="0">
                <a:solidFill>
                  <a:schemeClr val="tx1">
                    <a:lumMod val="85000"/>
                    <a:lumOff val="15000"/>
                  </a:schemeClr>
                </a:solidFill>
              </a:rPr>
              <a:t>  back  = KEMBALI_BUTTON  [enabled — all examples viewed]</a:t>
            </a:r>
          </a:p>
          <a:p>
            <a:r>
              <a:rPr lang="en-MY" sz="900" dirty="0">
                <a:solidFill>
                  <a:schemeClr val="tx1">
                    <a:lumMod val="85000"/>
                    <a:lumOff val="15000"/>
                  </a:schemeClr>
                </a:solidFill>
              </a:rPr>
              <a:t>  close = NO_CONTROL</a:t>
            </a:r>
          </a:p>
          <a:p>
            <a:r>
              <a:rPr lang="en-MY" sz="900" dirty="0">
                <a:solidFill>
                  <a:schemeClr val="tx1">
                    <a:lumMod val="85000"/>
                    <a:lumOff val="15000"/>
                  </a:schemeClr>
                </a:solidFill>
              </a:rPr>
              <a:t>  return_target = SCR_GM_STRUKTUR</a:t>
            </a:r>
          </a:p>
          <a:p>
            <a:r>
              <a:rPr lang="en-MY" sz="900" dirty="0">
                <a:solidFill>
                  <a:schemeClr val="tx1">
                    <a:lumMod val="85000"/>
                    <a:lumOff val="15000"/>
                  </a:schemeClr>
                </a:solidFill>
              </a:rPr>
              <a:t>SKOP SELESAI: COMPONENT</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0 · lapisan skrin 2</a:t>
            </a:r>
          </a:p>
          <a:p>
            <a:r>
              <a:rPr lang="en-MY" sz="900" dirty="0">
                <a:solidFill>
                  <a:schemeClr val="tx1">
                    <a:lumMod val="85000"/>
                    <a:lumOff val="15000"/>
                  </a:schemeClr>
                </a:solidFill>
              </a:rPr>
              <a:t>INDUK: SCR_STRUKTUR_PERSISIR_AIR_EXAMPLES</a:t>
            </a:r>
          </a:p>
          <a:p>
            <a:r>
              <a:rPr lang="en-MY" sz="900" b="1" dirty="0">
                <a:solidFill>
                  <a:schemeClr val="tx1">
                    <a:lumMod val="85000"/>
                    <a:lumOff val="15000"/>
                  </a:schemeClr>
                </a:solidFill>
              </a:rPr>
              <a:t>SUMBER:</a:t>
            </a:r>
          </a:p>
          <a:p>
            <a:r>
              <a:rPr lang="en-MY" sz="900" dirty="0">
                <a:solidFill>
                  <a:schemeClr val="tx1">
                    <a:lumMod val="85000"/>
                    <a:lumOff val="15000"/>
                  </a:schemeClr>
                </a:solidFill>
              </a:rPr>
              <a:t>  K5-PL06-T03-B02-STRUKTUR-PERSISIR-AIR-ROW-01</a:t>
            </a:r>
          </a:p>
          <a:p>
            <a:r>
              <a:rPr lang="en-MY" sz="900" dirty="0">
                <a:solidFill>
                  <a:schemeClr val="tx1">
                    <a:lumMod val="85000"/>
                    <a:lumOff val="15000"/>
                  </a:schemeClr>
                </a:solidFill>
              </a:rPr>
              <a:t>    ms 238 / fizikal 257</a:t>
            </a:r>
          </a:p>
          <a:p>
            <a:r>
              <a:rPr lang="en-MY" sz="900" dirty="0">
                <a:solidFill>
                  <a:schemeClr val="tx1">
                    <a:lumMod val="85000"/>
                    <a:lumOff val="15000"/>
                  </a:schemeClr>
                </a:solidFill>
              </a:rPr>
              <a:t>  K5-PL06-T03-B02-STRUKTUR-PERSISIR-AIR-ROW-02</a:t>
            </a:r>
          </a:p>
          <a:p>
            <a:r>
              <a:rPr lang="en-MY" sz="900" dirty="0">
                <a:solidFill>
                  <a:schemeClr val="tx1">
                    <a:lumMod val="85000"/>
                    <a:lumOff val="15000"/>
                  </a:schemeClr>
                </a:solidFill>
              </a:rPr>
              <a:t>    ms 238 / fizikal 257</a:t>
            </a:r>
          </a:p>
          <a:p>
            <a:r>
              <a:rPr lang="en-MY" sz="900" dirty="0">
                <a:solidFill>
                  <a:schemeClr val="tx1">
                    <a:lumMod val="85000"/>
                    <a:lumOff val="15000"/>
                  </a:schemeClr>
                </a:solidFill>
              </a:rPr>
              <a:t>  K5-PL06-T03-B02-STRUKTUR-PERSISIR-AIR-ROW-03</a:t>
            </a:r>
          </a:p>
          <a:p>
            <a:r>
              <a:rPr lang="en-MY" sz="900" dirty="0">
                <a:solidFill>
                  <a:schemeClr val="tx1">
                    <a:lumMod val="85000"/>
                    <a:lumOff val="15000"/>
                  </a:schemeClr>
                </a:solidFill>
              </a:rPr>
              <a:t>    ms 238 / fizikal 257</a:t>
            </a:r>
          </a:p>
          <a:p>
            <a:r>
              <a:rPr lang="en-MY" sz="900" dirty="0">
                <a:solidFill>
                  <a:schemeClr val="tx1">
                    <a:lumMod val="85000"/>
                    <a:lumOff val="15000"/>
                  </a:schemeClr>
                </a:solidFill>
              </a:rPr>
              <a:t>  K5-PL06-T03-B02-STRUKTUR-PERSISIR-AIR-ROW-04</a:t>
            </a:r>
          </a:p>
          <a:p>
            <a:r>
              <a:rPr lang="en-MY" sz="900" dirty="0">
                <a:solidFill>
                  <a:schemeClr val="tx1">
                    <a:lumMod val="85000"/>
                    <a:lumOff val="15000"/>
                  </a:schemeClr>
                </a:solidFill>
              </a:rPr>
              <a:t>    ms 238 / fizikal 257</a:t>
            </a:r>
          </a:p>
          <a:p>
            <a:r>
              <a:rPr lang="en-MY" sz="900" dirty="0">
                <a:solidFill>
                  <a:schemeClr val="tx1">
                    <a:lumMod val="85000"/>
                    <a:lumOff val="15000"/>
                  </a:schemeClr>
                </a:solidFill>
              </a:rPr>
              <a:t>  K5-PL06-T03-B02-STRUKTUR-PERSISIR-AIR-ROW-05</a:t>
            </a:r>
          </a:p>
          <a:p>
            <a:r>
              <a:rPr lang="en-MY" sz="900" dirty="0">
                <a:solidFill>
                  <a:schemeClr val="tx1">
                    <a:lumMod val="85000"/>
                    <a:lumOff val="15000"/>
                  </a:schemeClr>
                </a:solidFill>
              </a:rPr>
              <a:t>    ms 238 / fizikal 257</a:t>
            </a:r>
          </a:p>
          <a:p>
            <a:r>
              <a:rPr lang="en-MY" sz="900" b="1" dirty="0">
                <a:solidFill>
                  <a:schemeClr val="tx1">
                    <a:lumMod val="85000"/>
                    <a:lumOff val="15000"/>
                  </a:schemeClr>
                </a:solidFill>
              </a:rPr>
              <a:t>ITEM INTERAKSI:</a:t>
            </a:r>
          </a:p>
          <a:p>
            <a:r>
              <a:rPr lang="en-MY" sz="900" dirty="0">
                <a:solidFill>
                  <a:schemeClr val="tx1">
                    <a:lumMod val="85000"/>
                    <a:lumOff val="15000"/>
                  </a:schemeClr>
                </a:solidFill>
              </a:rPr>
              <a:t>  II_STRUKTUR_PERSISIR_AIR_EX01  &lt;-  K5-PL06-T03-B02-STRUKTUR-PERSISIR-AIR-ROW-01</a:t>
            </a:r>
          </a:p>
          <a:p>
            <a:r>
              <a:rPr lang="en-MY" sz="900" dirty="0">
                <a:solidFill>
                  <a:schemeClr val="tx1">
                    <a:lumMod val="85000"/>
                    <a:lumOff val="15000"/>
                  </a:schemeClr>
                </a:solidFill>
              </a:rPr>
              <a:t>  II_STRUKTUR_PERSISIR_AIR_EX02  &lt;-  K5-PL06-T03-B02-STRUKTUR-PERSISIR-AIR-ROW-02</a:t>
            </a:r>
          </a:p>
          <a:p>
            <a:r>
              <a:rPr lang="en-MY" sz="900" dirty="0">
                <a:solidFill>
                  <a:schemeClr val="tx1">
                    <a:lumMod val="85000"/>
                    <a:lumOff val="15000"/>
                  </a:schemeClr>
                </a:solidFill>
              </a:rPr>
              <a:t>  II_STRUKTUR_PERSISIR_AIR_EX03  &lt;-  K5-PL06-T03-B02-STRUKTUR-PERSISIR-AIR-ROW-03</a:t>
            </a:r>
          </a:p>
          <a:p>
            <a:r>
              <a:rPr lang="en-MY" sz="900" dirty="0">
                <a:solidFill>
                  <a:schemeClr val="tx1">
                    <a:lumMod val="85000"/>
                    <a:lumOff val="15000"/>
                  </a:schemeClr>
                </a:solidFill>
              </a:rPr>
              <a:t>  II_STRUKTUR_PERSISIR_AIR_EX04  &lt;-  K5-PL06-T03-B02-STRUKTUR-PERSISIR-AIR-ROW-04</a:t>
            </a:r>
          </a:p>
          <a:p>
            <a:r>
              <a:rPr lang="en-MY" sz="900" dirty="0">
                <a:solidFill>
                  <a:schemeClr val="tx1">
                    <a:lumMod val="85000"/>
                    <a:lumOff val="15000"/>
                  </a:schemeClr>
                </a:solidFill>
              </a:rPr>
              <a:t>  II_STRUKTUR_PERSISIR_AIR_EX05  &lt;-  K5-PL06-T03-B02-STRUKTUR-PERSISIR-AIR-ROW-05</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Contoh boleh diklik dalam sebarang susunan.</a:t>
            </a:r>
          </a:p>
          <a:p>
            <a:r>
              <a:rPr lang="en-MY" sz="900" dirty="0">
                <a:solidFill>
                  <a:schemeClr val="tx1">
                    <a:lumMod val="85000"/>
                    <a:lumOff val="15000"/>
                  </a:schemeClr>
                </a:solidFill>
              </a:rPr>
              <a:t>  Setiap contoh membuka SATU popup. Popup ialah STATE.</a:t>
            </a:r>
          </a:p>
          <a:p>
            <a:r>
              <a:rPr lang="en-MY" sz="900" dirty="0">
                <a:solidFill>
                  <a:schemeClr val="tx1">
                    <a:lumMod val="85000"/>
                    <a:lumOff val="15000"/>
                  </a:schemeClr>
                </a:solidFill>
              </a:rPr>
              <a:t>  Menutup popup (ikon tutup) kembali ke skrin contoh yang sama.</a:t>
            </a:r>
          </a:p>
          <a:p>
            <a:r>
              <a:rPr lang="en-MY" sz="900" dirty="0">
                <a:solidFill>
                  <a:schemeClr val="tx1">
                    <a:lumMod val="85000"/>
                    <a:lumOff val="15000"/>
                  </a:schemeClr>
                </a:solidFill>
              </a:rPr>
              <a:t>  5/5 contoh dilihat.</a:t>
            </a:r>
          </a:p>
          <a:p>
            <a:r>
              <a:rPr lang="en-MY" sz="900" dirty="0">
                <a:solidFill>
                  <a:schemeClr val="tx1">
                    <a:lumMod val="85000"/>
                    <a:lumOff val="15000"/>
                  </a:schemeClr>
                </a:solidFill>
              </a:rPr>
              <a:t>STATUS KEPUTUSAN: B02-D-01, B02-D-07</a:t>
            </a:r>
          </a:p>
          <a:p>
            <a:r>
              <a:rPr lang="en-MY" sz="900" dirty="0">
                <a:solidFill>
                  <a:schemeClr val="tx1">
                    <a:lumMod val="85000"/>
                    <a:lumOff val="15000"/>
                  </a:schemeClr>
                </a:solidFill>
              </a:rPr>
              <a:t>STATUS BELUM SELESAI: NONE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Struktur Taman</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Struktur Taman</a:t>
            </a:r>
          </a:p>
        </p:txBody>
      </p:sp>
      <p:sp>
        <p:nvSpPr>
          <p:cNvPr id="25" name="Instr"/>
          <p:cNvSpPr txBox="1"/>
          <p:nvPr/>
        </p:nvSpPr>
        <p:spPr>
          <a:xfrm>
            <a:off x="723930" y="1051560"/>
            <a:ext cx="10744200" cy="365760"/>
          </a:xfrm>
          <a:prstGeom prst="rect">
            <a:avLst/>
          </a:prstGeom>
          <a:noFill/>
        </p:spPr>
        <p:txBody>
          <a:bodyPr wrap="square">
            <a:noAutofit/>
          </a:bodyPr>
          <a:lstStyle/>
          <a:p>
            <a:pPr algn="ctr"/>
            <a:r>
              <a:rPr lang="en-MY" sz="1600" dirty="0">
                <a:solidFill>
                  <a:schemeClr val="tx1">
                    <a:lumMod val="85000"/>
                    <a:lumOff val="15000"/>
                  </a:schemeClr>
                </a:solidFill>
              </a:rPr>
              <a:t>Klik pada setiap struktur untuk penjelasan lanjut.</a:t>
            </a:r>
          </a:p>
        </p:txBody>
      </p:sp>
      <p:sp>
        <p:nvSpPr>
          <p:cNvPr id="40" name="ItemCard"/>
          <p:cNvSpPr txBox="1"/>
          <p:nvPr/>
        </p:nvSpPr>
        <p:spPr>
          <a:xfrm>
            <a:off x="2174397" y="1508760"/>
            <a:ext cx="3598164" cy="1819747"/>
          </a:xfrm>
          <a:prstGeom prst="rect">
            <a:avLst/>
          </a:prstGeom>
          <a:solidFill>
            <a:srgbClr val="E8F5E9"/>
          </a:solidFill>
          <a:ln w="28575">
            <a:solidFill>
              <a:srgbClr val="2E7D32"/>
            </a:solidFill>
          </a:ln>
        </p:spPr>
        <p:txBody>
          <a:bodyPr wrap="square" anchor="ctr">
            <a:noAutofit/>
          </a:bodyPr>
          <a:lstStyle/>
          <a:p>
            <a:pPr algn="ctr"/>
            <a:r>
              <a:rPr lang="en-MY" sz="1600" b="1" dirty="0">
                <a:solidFill>
                  <a:schemeClr val="tx1">
                    <a:lumMod val="85000"/>
                    <a:lumOff val="15000"/>
                  </a:schemeClr>
                </a:solidFill>
              </a:rPr>
              <a:t>Struktur Persisir Air</a:t>
            </a:r>
          </a:p>
        </p:txBody>
      </p:sp>
      <p:sp>
        <p:nvSpPr>
          <p:cNvPr id="41" name="Tick"/>
          <p:cNvSpPr/>
          <p:nvPr/>
        </p:nvSpPr>
        <p:spPr>
          <a:xfrm>
            <a:off x="5297073" y="1618488"/>
            <a:ext cx="359999" cy="359999"/>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2" name="ItemCard"/>
          <p:cNvSpPr txBox="1"/>
          <p:nvPr/>
        </p:nvSpPr>
        <p:spPr>
          <a:xfrm>
            <a:off x="6419408" y="1508760"/>
            <a:ext cx="3598164" cy="1819747"/>
          </a:xfrm>
          <a:prstGeom prst="rect">
            <a:avLst/>
          </a:prstGeom>
          <a:solidFill>
            <a:srgbClr val="F2F2F2"/>
          </a:solidFill>
          <a:ln w="12700">
            <a:solidFill>
              <a:srgbClr val="404040"/>
            </a:solidFill>
          </a:ln>
        </p:spPr>
        <p:txBody>
          <a:bodyPr wrap="square" anchor="ctr">
            <a:noAutofit/>
          </a:bodyPr>
          <a:lstStyle/>
          <a:p>
            <a:pPr algn="ctr"/>
            <a:r>
              <a:rPr lang="en-MY" sz="1600" b="1" dirty="0">
                <a:solidFill>
                  <a:schemeClr val="tx1">
                    <a:lumMod val="85000"/>
                    <a:lumOff val="15000"/>
                  </a:schemeClr>
                </a:solidFill>
              </a:rPr>
              <a:t>Struktur Teduhan</a:t>
            </a:r>
          </a:p>
        </p:txBody>
      </p:sp>
      <p:sp>
        <p:nvSpPr>
          <p:cNvPr id="43" name="ItemCard"/>
          <p:cNvSpPr txBox="1"/>
          <p:nvPr/>
        </p:nvSpPr>
        <p:spPr>
          <a:xfrm>
            <a:off x="2174397" y="4031224"/>
            <a:ext cx="3598164" cy="1819747"/>
          </a:xfrm>
          <a:prstGeom prst="rect">
            <a:avLst/>
          </a:prstGeom>
          <a:solidFill>
            <a:srgbClr val="F2F2F2"/>
          </a:solidFill>
          <a:ln w="12700">
            <a:solidFill>
              <a:srgbClr val="404040"/>
            </a:solidFill>
          </a:ln>
        </p:spPr>
        <p:txBody>
          <a:bodyPr wrap="square" anchor="ctr">
            <a:noAutofit/>
          </a:bodyPr>
          <a:lstStyle/>
          <a:p>
            <a:pPr algn="ctr"/>
            <a:r>
              <a:rPr lang="en-MY" sz="1600" b="1" dirty="0">
                <a:solidFill>
                  <a:schemeClr val="tx1">
                    <a:lumMod val="85000"/>
                    <a:lumOff val="15000"/>
                  </a:schemeClr>
                </a:solidFill>
              </a:rPr>
              <a:t>Kemudahan Awam</a:t>
            </a:r>
          </a:p>
        </p:txBody>
      </p:sp>
      <p:sp>
        <p:nvSpPr>
          <p:cNvPr id="44" name="ItemCard"/>
          <p:cNvSpPr txBox="1"/>
          <p:nvPr/>
        </p:nvSpPr>
        <p:spPr>
          <a:xfrm>
            <a:off x="6419408" y="4031224"/>
            <a:ext cx="3598164" cy="1819747"/>
          </a:xfrm>
          <a:prstGeom prst="rect">
            <a:avLst/>
          </a:prstGeom>
          <a:solidFill>
            <a:srgbClr val="F2F2F2"/>
          </a:solidFill>
          <a:ln w="12700">
            <a:solidFill>
              <a:srgbClr val="404040"/>
            </a:solidFill>
          </a:ln>
        </p:spPr>
        <p:txBody>
          <a:bodyPr wrap="square" anchor="ctr">
            <a:noAutofit/>
          </a:bodyPr>
          <a:lstStyle/>
          <a:p>
            <a:pPr algn="ctr"/>
            <a:r>
              <a:rPr lang="en-MY" sz="1600" b="1" i="1" dirty="0">
                <a:solidFill>
                  <a:schemeClr val="tx1">
                    <a:lumMod val="85000"/>
                    <a:lumOff val="15000"/>
                  </a:schemeClr>
                </a:solidFill>
              </a:rPr>
              <a:t>Water Feature</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Struktur Taman — papan kumpulan</a:t>
            </a:r>
          </a:p>
          <a:p>
            <a:r>
              <a:rPr lang="en-MY" sz="900" dirty="0">
                <a:solidFill>
                  <a:schemeClr val="tx1">
                    <a:lumMod val="85000"/>
                    <a:lumOff val="15000"/>
                  </a:schemeClr>
                </a:solidFill>
              </a:rPr>
              <a:t>KELUARGA PELAKSANAAN: FAMILY_S</a:t>
            </a:r>
          </a:p>
          <a:p>
            <a:r>
              <a:rPr lang="en-MY" sz="900" dirty="0">
                <a:solidFill>
                  <a:schemeClr val="tx1">
                    <a:lumMod val="85000"/>
                    <a:lumOff val="15000"/>
                  </a:schemeClr>
                </a:solidFill>
              </a:rPr>
              <a:t>PERANAN HALAMAN SEMAKAN: GROUP_MASTER_BASE</a:t>
            </a:r>
          </a:p>
          <a:p>
            <a:r>
              <a:rPr lang="en-MY" sz="900" dirty="0">
                <a:solidFill>
                  <a:schemeClr val="tx1">
                    <a:lumMod val="85000"/>
                    <a:lumOff val="15000"/>
                  </a:schemeClr>
                </a:solidFill>
              </a:rPr>
              <a:t/>
            </a:r>
          </a:p>
          <a:p>
            <a:r>
              <a:rPr lang="en-MY" sz="900" dirty="0">
                <a:solidFill>
                  <a:schemeClr val="tx1">
                    <a:lumMod val="85000"/>
                    <a:lumOff val="15000"/>
                  </a:schemeClr>
                </a:solidFill>
              </a:rPr>
              <a:t>BUKTI: Family S return target: component complete, group NOT complete</a:t>
            </a:r>
          </a:p>
          <a:p>
            <a:r>
              <a:rPr lang="en-MY" sz="900" dirty="0">
                <a:solidFill>
                  <a:schemeClr val="tx1">
                    <a:lumMod val="85000"/>
                    <a:lumOff val="15000"/>
                  </a:schemeClr>
                </a:solidFill>
              </a:rPr>
              <a:t>POLISI NOTA: CONTENT_VO_NOTES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LMS_SHELL_NEXT  [group_complete[STRUKTUR_TAMAN]]</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NO_CONTROL</a:t>
            </a:r>
          </a:p>
          <a:p>
            <a:r>
              <a:rPr lang="en-MY" sz="900" dirty="0">
                <a:solidFill>
                  <a:schemeClr val="tx1">
                    <a:lumMod val="85000"/>
                    <a:lumOff val="15000"/>
                  </a:schemeClr>
                </a:solidFill>
              </a:rPr>
              <a:t>  return_target = —</a:t>
            </a:r>
          </a:p>
          <a:p>
            <a:r>
              <a:rPr lang="en-MY" sz="900" dirty="0">
                <a:solidFill>
                  <a:schemeClr val="tx1">
                    <a:lumMod val="85000"/>
                    <a:lumOff val="15000"/>
                  </a:schemeClr>
                </a:solidFill>
              </a:rPr>
              <a:t>SKOP SELESAI: GROUP</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0 · lapisan skrin 0</a:t>
            </a:r>
          </a:p>
          <a:p>
            <a:r>
              <a:rPr lang="en-MY" sz="900" dirty="0">
                <a:solidFill>
                  <a:schemeClr val="tx1">
                    <a:lumMod val="85000"/>
                    <a:lumOff val="15000"/>
                  </a:schemeClr>
                </a:solidFill>
              </a:rPr>
              <a:t>INDUK: SCR_GM_STRUKTUR</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Empat kad komponen. Boleh diklik dalam sebarang susunan.</a:t>
            </a:r>
          </a:p>
          <a:p>
            <a:r>
              <a:rPr lang="en-MY" sz="900" dirty="0">
                <a:solidFill>
                  <a:schemeClr val="tx1">
                    <a:lumMod val="85000"/>
                    <a:lumOff val="15000"/>
                  </a:schemeClr>
                </a:solidFill>
              </a:rPr>
              <a:t>  Setiap komponen yang selesai menerima tik.</a:t>
            </a:r>
          </a:p>
          <a:p>
            <a:r>
              <a:rPr lang="en-MY" sz="900" dirty="0">
                <a:solidFill>
                  <a:schemeClr val="tx1">
                    <a:lumMod val="85000"/>
                    <a:lumOff val="15000"/>
                  </a:schemeClr>
                </a:solidFill>
              </a:rPr>
              <a:t>  Kemajuan kumpulan dikawal oleh Seterusnya shell LMS.</a:t>
            </a:r>
          </a:p>
          <a:p>
            <a:r>
              <a:rPr lang="en-MY" sz="900" dirty="0">
                <a:solidFill>
                  <a:schemeClr val="tx1">
                    <a:lumMod val="85000"/>
                    <a:lumOff val="15000"/>
                  </a:schemeClr>
                </a:solidFill>
              </a:rPr>
              <a:t>  TIADA butang Seterusnya tersuai dilukis pada kanvas pelajar.</a:t>
            </a:r>
          </a:p>
          <a:p>
            <a:r>
              <a:rPr lang="en-MY" sz="900" b="1" dirty="0">
                <a:solidFill>
                  <a:schemeClr val="tx1">
                    <a:lumMod val="85000"/>
                    <a:lumOff val="15000"/>
                  </a:schemeClr>
                </a:solidFill>
              </a:rPr>
              <a:t>SASARAN KEMBALI:</a:t>
            </a:r>
          </a:p>
          <a:p>
            <a:r>
              <a:rPr lang="en-MY" sz="900" dirty="0">
                <a:solidFill>
                  <a:schemeClr val="tx1">
                    <a:lumMod val="85000"/>
                    <a:lumOff val="15000"/>
                  </a:schemeClr>
                </a:solidFill>
              </a:rPr>
              <a:t>  Skrin contoh Family S kembali ke sini.</a:t>
            </a:r>
          </a:p>
          <a:p>
            <a:r>
              <a:rPr lang="en-MY" sz="900" dirty="0">
                <a:solidFill>
                  <a:schemeClr val="tx1">
                    <a:lumMod val="85000"/>
                    <a:lumOff val="15000"/>
                  </a:schemeClr>
                </a:solidFill>
              </a:rPr>
              <a:t>STATUS KEPUTUSAN: B02-D-01, B02-D-04</a:t>
            </a:r>
          </a:p>
          <a:p>
            <a:r>
              <a:rPr lang="en-MY" sz="900" dirty="0">
                <a:solidFill>
                  <a:schemeClr val="tx1">
                    <a:lumMod val="85000"/>
                    <a:lumOff val="15000"/>
                  </a:schemeClr>
                </a:solidFill>
              </a:rPr>
              <a:t>STATUS BELUM SELESAI: NONE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Perabot Taman</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Perabot Taman</a:t>
            </a:r>
          </a:p>
        </p:txBody>
      </p:sp>
      <p:sp>
        <p:nvSpPr>
          <p:cNvPr id="22" name="Body"/>
          <p:cNvSpPr txBox="1"/>
          <p:nvPr/>
        </p:nvSpPr>
        <p:spPr>
          <a:xfrm>
            <a:off x="723930" y="1225296"/>
            <a:ext cx="10744200" cy="1828800"/>
          </a:xfrm>
          <a:prstGeom prst="rect">
            <a:avLst/>
          </a:prstGeom>
          <a:noFill/>
        </p:spPr>
        <p:txBody>
          <a:bodyPr wrap="square">
            <a:noAutofit/>
          </a:bodyPr>
          <a:lstStyle/>
          <a:p>
            <a:pPr marL="285750" indent="-285750">
              <a:spcBef>
                <a:spcPts val="300"/>
              </a:spcBef>
              <a:buFont typeface="Arial" panose="020B0604020202020204" pitchFamily="34" charset="0"/>
              <a:buChar char="•"/>
            </a:pPr>
            <a:r>
              <a:rPr lang="en-MY" sz="1300" dirty="0">
                <a:solidFill>
                  <a:schemeClr val="tx1">
                    <a:lumMod val="85000"/>
                    <a:lumOff val="15000"/>
                  </a:schemeClr>
                </a:solidFill>
              </a:rPr>
              <a:t>Perabot taman merujuk kepada elemen-elemen boleh alih atau kekal yang ditempatkan di ruang landskap untuk</a:t>
            </a:r>
          </a:p>
          <a:p>
            <a:pPr marL="285750" indent="-285750">
              <a:spcBef>
                <a:spcPts val="300"/>
              </a:spcBef>
              <a:buFont typeface="Arial" panose="020B0604020202020204" pitchFamily="34" charset="0"/>
              <a:buChar char="•"/>
            </a:pPr>
            <a:r>
              <a:rPr lang="en-MY" sz="1300" dirty="0">
                <a:solidFill>
                  <a:schemeClr val="tx1">
                    <a:lumMod val="85000"/>
                    <a:lumOff val="15000"/>
                  </a:schemeClr>
                </a:solidFill>
              </a:rPr>
              <a:t>meningkatkan fungsi, keselesaan, dan estetika. Ini melibatkan pemahaman tentang bahan, ketahanan, ergonomik,</a:t>
            </a:r>
          </a:p>
          <a:p>
            <a:pPr marL="285750" indent="-285750">
              <a:spcBef>
                <a:spcPts val="300"/>
              </a:spcBef>
              <a:buFont typeface="Arial" panose="020B0604020202020204" pitchFamily="34" charset="0"/>
              <a:buChar char="•"/>
            </a:pPr>
            <a:r>
              <a:rPr lang="en-MY" sz="1300" dirty="0">
                <a:solidFill>
                  <a:schemeClr val="tx1">
                    <a:lumMod val="85000"/>
                    <a:lumOff val="15000"/>
                  </a:schemeClr>
                </a:solidFill>
              </a:rPr>
              <a:t>dan kesesuaian reka bentuk dengan tema keseluruhan landskap. Terdapat lima jenis perabot taman: Kerusi Taman,</a:t>
            </a:r>
          </a:p>
          <a:p>
            <a:pPr marL="285750" indent="-285750">
              <a:spcBef>
                <a:spcPts val="300"/>
              </a:spcBef>
              <a:buFont typeface="Arial" panose="020B0604020202020204" pitchFamily="34" charset="0"/>
              <a:buChar char="•"/>
            </a:pPr>
            <a:r>
              <a:rPr lang="en-MY" sz="1300" dirty="0">
                <a:solidFill>
                  <a:schemeClr val="tx1">
                    <a:lumMod val="85000"/>
                    <a:lumOff val="15000"/>
                  </a:schemeClr>
                </a:solidFill>
              </a:rPr>
              <a:t>Papan Tanda, Tong Sampah, </a:t>
            </a:r>
            <a:r>
              <a:rPr lang="en-MY" sz="1300" i="1" dirty="0">
                <a:solidFill>
                  <a:schemeClr val="tx1">
                    <a:lumMod val="85000"/>
                    <a:lumOff val="15000"/>
                  </a:schemeClr>
                </a:solidFill>
              </a:rPr>
              <a:t>Drinking Fountain</a:t>
            </a:r>
            <a:r>
              <a:rPr lang="en-MY" sz="1300" dirty="0">
                <a:solidFill>
                  <a:schemeClr val="tx1">
                    <a:lumMod val="85000"/>
                    <a:lumOff val="15000"/>
                  </a:schemeClr>
                </a:solidFill>
              </a:rPr>
              <a:t>, dan </a:t>
            </a:r>
            <a:r>
              <a:rPr lang="en-MY" sz="1300" i="1" dirty="0">
                <a:solidFill>
                  <a:schemeClr val="tx1">
                    <a:lumMod val="85000"/>
                    <a:lumOff val="15000"/>
                  </a:schemeClr>
                </a:solidFill>
              </a:rPr>
              <a:t>BBQ Pit</a:t>
            </a:r>
            <a:r>
              <a:rPr lang="en-MY" sz="1300" dirty="0">
                <a:solidFill>
                  <a:schemeClr val="tx1">
                    <a:lumMod val="85000"/>
                    <a:lumOff val="15000"/>
                  </a:schemeClr>
                </a:solidFill>
              </a:rPr>
              <a:t>.</a:t>
            </a:r>
          </a:p>
        </p:txBody>
      </p:sp>
      <p:sp>
        <p:nvSpPr>
          <p:cNvPr id="80" name="PerLbl"/>
          <p:cNvSpPr txBox="1"/>
          <p:nvPr/>
        </p:nvSpPr>
        <p:spPr>
          <a:xfrm>
            <a:off x="723930" y="3383280"/>
            <a:ext cx="5852160" cy="329184"/>
          </a:xfrm>
          <a:prstGeom prst="rect">
            <a:avLst/>
          </a:prstGeom>
          <a:noFill/>
        </p:spPr>
        <p:txBody>
          <a:bodyPr wrap="square">
            <a:noAutofit/>
          </a:bodyPr>
          <a:lstStyle/>
          <a:p>
            <a:pPr/>
            <a:r>
              <a:rPr lang="en-MY" sz="1600" b="1" dirty="0">
                <a:solidFill>
                  <a:schemeClr val="tx1">
                    <a:lumMod val="85000"/>
                    <a:lumOff val="15000"/>
                  </a:schemeClr>
                </a:solidFill>
              </a:rPr>
              <a:t>Kerusi Taman</a:t>
            </a:r>
          </a:p>
        </p:txBody>
      </p:sp>
      <p:sp>
        <p:nvSpPr>
          <p:cNvPr id="81" name="PerFam"/>
          <p:cNvSpPr txBox="1"/>
          <p:nvPr/>
        </p:nvSpPr>
        <p:spPr>
          <a:xfrm>
            <a:off x="6758970" y="3410712"/>
            <a:ext cx="4572000" cy="292608"/>
          </a:xfrm>
          <a:prstGeom prst="rect">
            <a:avLst/>
          </a:prstGeom>
          <a:noFill/>
        </p:spPr>
        <p:txBody>
          <a:bodyPr wrap="square">
            <a:noAutofit/>
          </a:bodyPr>
          <a:lstStyle/>
          <a:p>
            <a:pPr/>
            <a:r>
              <a:rPr lang="en-MY" sz="1100" dirty="0">
                <a:solidFill>
                  <a:srgbClr val="808080"/>
                </a:solidFill>
              </a:rPr>
              <a:t>FAMILY_P1</a:t>
            </a:r>
          </a:p>
        </p:txBody>
      </p:sp>
      <p:sp>
        <p:nvSpPr>
          <p:cNvPr id="82" name="PerLbl"/>
          <p:cNvSpPr txBox="1"/>
          <p:nvPr/>
        </p:nvSpPr>
        <p:spPr>
          <a:xfrm>
            <a:off x="723930" y="3858768"/>
            <a:ext cx="5852160" cy="329184"/>
          </a:xfrm>
          <a:prstGeom prst="rect">
            <a:avLst/>
          </a:prstGeom>
          <a:noFill/>
        </p:spPr>
        <p:txBody>
          <a:bodyPr wrap="square">
            <a:noAutofit/>
          </a:bodyPr>
          <a:lstStyle/>
          <a:p>
            <a:pPr/>
            <a:r>
              <a:rPr lang="en-MY" sz="1600" b="1" dirty="0">
                <a:solidFill>
                  <a:schemeClr val="tx1">
                    <a:lumMod val="85000"/>
                    <a:lumOff val="15000"/>
                  </a:schemeClr>
                </a:solidFill>
              </a:rPr>
              <a:t>Papan Tanda</a:t>
            </a:r>
          </a:p>
        </p:txBody>
      </p:sp>
      <p:sp>
        <p:nvSpPr>
          <p:cNvPr id="83" name="PerFam"/>
          <p:cNvSpPr txBox="1"/>
          <p:nvPr/>
        </p:nvSpPr>
        <p:spPr>
          <a:xfrm>
            <a:off x="6758970" y="3886200"/>
            <a:ext cx="4572000" cy="292608"/>
          </a:xfrm>
          <a:prstGeom prst="rect">
            <a:avLst/>
          </a:prstGeom>
          <a:noFill/>
        </p:spPr>
        <p:txBody>
          <a:bodyPr wrap="square">
            <a:noAutofit/>
          </a:bodyPr>
          <a:lstStyle/>
          <a:p>
            <a:pPr/>
            <a:r>
              <a:rPr lang="en-MY" sz="1100" dirty="0">
                <a:solidFill>
                  <a:srgbClr val="808080"/>
                </a:solidFill>
              </a:rPr>
              <a:t>FAMILY_P2</a:t>
            </a:r>
          </a:p>
        </p:txBody>
      </p:sp>
      <p:sp>
        <p:nvSpPr>
          <p:cNvPr id="84" name="PerLbl"/>
          <p:cNvSpPr txBox="1"/>
          <p:nvPr/>
        </p:nvSpPr>
        <p:spPr>
          <a:xfrm>
            <a:off x="723930" y="4334256"/>
            <a:ext cx="5852160" cy="329184"/>
          </a:xfrm>
          <a:prstGeom prst="rect">
            <a:avLst/>
          </a:prstGeom>
          <a:noFill/>
        </p:spPr>
        <p:txBody>
          <a:bodyPr wrap="square">
            <a:noAutofit/>
          </a:bodyPr>
          <a:lstStyle/>
          <a:p>
            <a:pPr/>
            <a:r>
              <a:rPr lang="en-MY" sz="1600" b="1" dirty="0">
                <a:solidFill>
                  <a:schemeClr val="tx1">
                    <a:lumMod val="85000"/>
                    <a:lumOff val="15000"/>
                  </a:schemeClr>
                </a:solidFill>
              </a:rPr>
              <a:t>Tong Sampah</a:t>
            </a:r>
          </a:p>
        </p:txBody>
      </p:sp>
      <p:sp>
        <p:nvSpPr>
          <p:cNvPr id="85" name="PerFam"/>
          <p:cNvSpPr txBox="1"/>
          <p:nvPr/>
        </p:nvSpPr>
        <p:spPr>
          <a:xfrm>
            <a:off x="6758970" y="4361688"/>
            <a:ext cx="4572000" cy="292608"/>
          </a:xfrm>
          <a:prstGeom prst="rect">
            <a:avLst/>
          </a:prstGeom>
          <a:noFill/>
        </p:spPr>
        <p:txBody>
          <a:bodyPr wrap="square">
            <a:noAutofit/>
          </a:bodyPr>
          <a:lstStyle/>
          <a:p>
            <a:pPr/>
            <a:r>
              <a:rPr lang="en-MY" sz="1100" dirty="0">
                <a:solidFill>
                  <a:srgbClr val="808080"/>
                </a:solidFill>
              </a:rPr>
              <a:t>FAMILY_P1</a:t>
            </a:r>
          </a:p>
        </p:txBody>
      </p:sp>
      <p:sp>
        <p:nvSpPr>
          <p:cNvPr id="86" name="PerLbl"/>
          <p:cNvSpPr txBox="1"/>
          <p:nvPr/>
        </p:nvSpPr>
        <p:spPr>
          <a:xfrm>
            <a:off x="723930" y="4809744"/>
            <a:ext cx="5852160" cy="329184"/>
          </a:xfrm>
          <a:prstGeom prst="rect">
            <a:avLst/>
          </a:prstGeom>
          <a:noFill/>
        </p:spPr>
        <p:txBody>
          <a:bodyPr wrap="square">
            <a:noAutofit/>
          </a:bodyPr>
          <a:lstStyle/>
          <a:p>
            <a:pPr/>
            <a:r>
              <a:rPr lang="en-MY" sz="1600" b="1" i="1" dirty="0">
                <a:solidFill>
                  <a:schemeClr val="tx1">
                    <a:lumMod val="85000"/>
                    <a:lumOff val="15000"/>
                  </a:schemeClr>
                </a:solidFill>
              </a:rPr>
              <a:t>Drinking Fountain</a:t>
            </a:r>
          </a:p>
        </p:txBody>
      </p:sp>
      <p:sp>
        <p:nvSpPr>
          <p:cNvPr id="87" name="PerFam"/>
          <p:cNvSpPr txBox="1"/>
          <p:nvPr/>
        </p:nvSpPr>
        <p:spPr>
          <a:xfrm>
            <a:off x="6758970" y="4837176"/>
            <a:ext cx="4572000" cy="292608"/>
          </a:xfrm>
          <a:prstGeom prst="rect">
            <a:avLst/>
          </a:prstGeom>
          <a:noFill/>
        </p:spPr>
        <p:txBody>
          <a:bodyPr wrap="square">
            <a:noAutofit/>
          </a:bodyPr>
          <a:lstStyle/>
          <a:p>
            <a:pPr/>
            <a:r>
              <a:rPr lang="en-MY" sz="1100" dirty="0">
                <a:solidFill>
                  <a:srgbClr val="808080"/>
                </a:solidFill>
              </a:rPr>
              <a:t>FAMILY_P1</a:t>
            </a:r>
          </a:p>
        </p:txBody>
      </p:sp>
      <p:sp>
        <p:nvSpPr>
          <p:cNvPr id="88" name="PerLbl"/>
          <p:cNvSpPr txBox="1"/>
          <p:nvPr/>
        </p:nvSpPr>
        <p:spPr>
          <a:xfrm>
            <a:off x="723930" y="5285232"/>
            <a:ext cx="5852160" cy="329184"/>
          </a:xfrm>
          <a:prstGeom prst="rect">
            <a:avLst/>
          </a:prstGeom>
          <a:noFill/>
        </p:spPr>
        <p:txBody>
          <a:bodyPr wrap="square">
            <a:noAutofit/>
          </a:bodyPr>
          <a:lstStyle/>
          <a:p>
            <a:pPr/>
            <a:r>
              <a:rPr lang="en-MY" sz="1600" b="1" i="1" dirty="0">
                <a:solidFill>
                  <a:schemeClr val="tx1">
                    <a:lumMod val="85000"/>
                    <a:lumOff val="15000"/>
                  </a:schemeClr>
                </a:solidFill>
              </a:rPr>
              <a:t>BBQ Pit</a:t>
            </a:r>
          </a:p>
        </p:txBody>
      </p:sp>
      <p:sp>
        <p:nvSpPr>
          <p:cNvPr id="89" name="PerFam"/>
          <p:cNvSpPr txBox="1"/>
          <p:nvPr/>
        </p:nvSpPr>
        <p:spPr>
          <a:xfrm>
            <a:off x="6758970" y="5312664"/>
            <a:ext cx="4572000" cy="292608"/>
          </a:xfrm>
          <a:prstGeom prst="rect">
            <a:avLst/>
          </a:prstGeom>
          <a:noFill/>
        </p:spPr>
        <p:txBody>
          <a:bodyPr wrap="square">
            <a:noAutofit/>
          </a:bodyPr>
          <a:lstStyle/>
          <a:p>
            <a:pPr/>
            <a:r>
              <a:rPr lang="en-MY" sz="1100" dirty="0">
                <a:solidFill>
                  <a:srgbClr val="808080"/>
                </a:solidFill>
              </a:rPr>
              <a:t>FAMILY_P2</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Perabot Taman — gambaran keseluruhan</a:t>
            </a:r>
          </a:p>
          <a:p>
            <a:r>
              <a:rPr lang="en-MY" sz="900" dirty="0">
                <a:solidFill>
                  <a:schemeClr val="tx1">
                    <a:lumMod val="85000"/>
                    <a:lumOff val="15000"/>
                  </a:schemeClr>
                </a:solidFill>
              </a:rPr>
              <a:t>KELUARGA PELAKSANAAN: FAMILY_P1+FAMILY_P2</a:t>
            </a:r>
          </a:p>
          <a:p>
            <a:r>
              <a:rPr lang="en-MY" sz="900" dirty="0">
                <a:solidFill>
                  <a:schemeClr val="tx1">
                    <a:lumMod val="85000"/>
                    <a:lumOff val="15000"/>
                  </a:schemeClr>
                </a:solidFill>
              </a:rPr>
              <a:t>PERANAN HALAMAN SEMAKAN: GROUP_OVERVIEW_BASE</a:t>
            </a:r>
          </a:p>
          <a:p>
            <a:r>
              <a:rPr lang="en-MY" sz="900" dirty="0">
                <a:solidFill>
                  <a:schemeClr val="tx1">
                    <a:lumMod val="85000"/>
                    <a:lumOff val="15000"/>
                  </a:schemeClr>
                </a:solidFill>
              </a:rPr>
              <a:t/>
            </a:r>
          </a:p>
          <a:p>
            <a:r>
              <a:rPr lang="en-MY" sz="900" dirty="0">
                <a:solidFill>
                  <a:schemeClr val="tx1">
                    <a:lumMod val="85000"/>
                    <a:lumOff val="15000"/>
                  </a:schemeClr>
                </a:solidFill>
              </a:rPr>
              <a:t>BUKTI: Perabot gateway, no click level</a:t>
            </a:r>
          </a:p>
          <a:p>
            <a:r>
              <a:rPr lang="en-MY" sz="900" dirty="0">
                <a:solidFill>
                  <a:schemeClr val="tx1">
                    <a:lumMod val="85000"/>
                    <a:lumOff val="15000"/>
                  </a:schemeClr>
                </a:solidFill>
              </a:rPr>
              <a:t>POLISI NOTA: CONTENT_VO_NOTES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LMS_SHELL_NEXT  [vo_complete]</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NO_CONTROL</a:t>
            </a:r>
          </a:p>
          <a:p>
            <a:r>
              <a:rPr lang="en-MY" sz="900" dirty="0">
                <a:solidFill>
                  <a:schemeClr val="tx1">
                    <a:lumMod val="85000"/>
                    <a:lumOff val="15000"/>
                  </a:schemeClr>
                </a:solidFill>
              </a:rPr>
              <a:t>  return_target = —</a:t>
            </a:r>
          </a:p>
          <a:p>
            <a:r>
              <a:rPr lang="en-MY" sz="900" dirty="0">
                <a:solidFill>
                  <a:schemeClr val="tx1">
                    <a:lumMod val="85000"/>
                    <a:lumOff val="15000"/>
                  </a:schemeClr>
                </a:solidFill>
              </a:rPr>
              <a:t>SKOP SELESAI: NONE</a:t>
            </a:r>
          </a:p>
          <a:p>
            <a:r>
              <a:rPr lang="en-MY" sz="900" dirty="0">
                <a:solidFill>
                  <a:schemeClr val="tx1">
                    <a:lumMod val="85000"/>
                    <a:lumOff val="15000"/>
                  </a:schemeClr>
                </a:solidFill>
              </a:rPr>
              <a:t>PERSISTEN: NOT_APPLICABLE</a:t>
            </a:r>
          </a:p>
          <a:p>
            <a:r>
              <a:rPr lang="en-MY" sz="900" dirty="0">
                <a:solidFill>
                  <a:schemeClr val="tx1">
                    <a:lumMod val="85000"/>
                    <a:lumOff val="15000"/>
                  </a:schemeClr>
                </a:solidFill>
              </a:rPr>
              <a:t>LEVEL: pilihan interaksi 0 · lapisan skrin 0</a:t>
            </a:r>
          </a:p>
          <a:p>
            <a:r>
              <a:rPr lang="en-MY" sz="900" dirty="0">
                <a:solidFill>
                  <a:schemeClr val="tx1">
                    <a:lumMod val="85000"/>
                    <a:lumOff val="15000"/>
                  </a:schemeClr>
                </a:solidFill>
              </a:rPr>
              <a:t>INDUK: SCR_PERABOT_OVERVIEW</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TIADA klik dan TIADA aras interaksi. Ini gerbang penerangan sahaja.</a:t>
            </a:r>
          </a:p>
          <a:p>
            <a:r>
              <a:rPr lang="en-MY" sz="900" dirty="0">
                <a:solidFill>
                  <a:schemeClr val="tx1">
                    <a:lumMod val="85000"/>
                    <a:lumOff val="15000"/>
                  </a:schemeClr>
                </a:solidFill>
              </a:rPr>
              <a:t>  Pelajar memasuki setiap komponen melalui navigasi shell.</a:t>
            </a:r>
          </a:p>
          <a:p>
            <a:r>
              <a:rPr lang="en-MY" sz="900" b="1" dirty="0">
                <a:solidFill>
                  <a:schemeClr val="tx1">
                    <a:lumMod val="85000"/>
                    <a:lumOff val="15000"/>
                  </a:schemeClr>
                </a:solidFill>
              </a:rPr>
              <a:t>AGIHAN KELUARGA:</a:t>
            </a:r>
          </a:p>
          <a:p>
            <a:r>
              <a:rPr lang="en-MY" sz="900" dirty="0">
                <a:solidFill>
                  <a:schemeClr val="tx1">
                    <a:lumMod val="85000"/>
                    <a:lumOff val="15000"/>
                  </a:schemeClr>
                </a:solidFill>
              </a:rPr>
              <a:t>  Kerusi Taman -&gt; FAMILY_P1</a:t>
            </a:r>
          </a:p>
          <a:p>
            <a:r>
              <a:rPr lang="en-MY" sz="900" dirty="0">
                <a:solidFill>
                  <a:schemeClr val="tx1">
                    <a:lumMod val="85000"/>
                    <a:lumOff val="15000"/>
                  </a:schemeClr>
                </a:solidFill>
              </a:rPr>
              <a:t>  Papan Tanda -&gt; FAMILY_P2</a:t>
            </a:r>
          </a:p>
          <a:p>
            <a:r>
              <a:rPr lang="en-MY" sz="900" dirty="0">
                <a:solidFill>
                  <a:schemeClr val="tx1">
                    <a:lumMod val="85000"/>
                    <a:lumOff val="15000"/>
                  </a:schemeClr>
                </a:solidFill>
              </a:rPr>
              <a:t>  Tong Sampah -&gt; FAMILY_P1</a:t>
            </a:r>
          </a:p>
          <a:p>
            <a:r>
              <a:rPr lang="en-MY" sz="900" dirty="0">
                <a:solidFill>
                  <a:schemeClr val="tx1">
                    <a:lumMod val="85000"/>
                    <a:lumOff val="15000"/>
                  </a:schemeClr>
                </a:solidFill>
              </a:rPr>
              <a:t>  Drinking Fountain -&gt; FAMILY_P1</a:t>
            </a:r>
          </a:p>
          <a:p>
            <a:r>
              <a:rPr lang="en-MY" sz="900" dirty="0">
                <a:solidFill>
                  <a:schemeClr val="tx1">
                    <a:lumMod val="85000"/>
                    <a:lumOff val="15000"/>
                  </a:schemeClr>
                </a:solidFill>
              </a:rPr>
              <a:t>  BBQ Pit -&gt; FAMILY_P2</a:t>
            </a:r>
          </a:p>
          <a:p>
            <a:r>
              <a:rPr lang="en-MY" sz="900" dirty="0">
                <a:solidFill>
                  <a:schemeClr val="tx1">
                    <a:lumMod val="85000"/>
                    <a:lumOff val="15000"/>
                  </a:schemeClr>
                </a:solidFill>
              </a:rPr>
              <a:t>STATUS KEPUTUSAN: B02-D-02</a:t>
            </a:r>
          </a:p>
          <a:p>
            <a:r>
              <a:rPr lang="en-MY" sz="900" dirty="0">
                <a:solidFill>
                  <a:schemeClr val="tx1">
                    <a:lumMod val="85000"/>
                    <a:lumOff val="15000"/>
                  </a:schemeClr>
                </a:solidFill>
              </a:rPr>
              <a:t>STATUS BELUM SELESAI: NONE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Kerusi Taman</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Perabot Taman</a:t>
            </a:r>
          </a:p>
        </p:txBody>
      </p:sp>
      <p:sp>
        <p:nvSpPr>
          <p:cNvPr id="20" name="Head"/>
          <p:cNvSpPr txBox="1"/>
          <p:nvPr/>
        </p:nvSpPr>
        <p:spPr>
          <a:xfrm>
            <a:off x="723930" y="1115568"/>
            <a:ext cx="10744200" cy="402336"/>
          </a:xfrm>
          <a:prstGeom prst="rect">
            <a:avLst/>
          </a:prstGeom>
          <a:noFill/>
        </p:spPr>
        <p:txBody>
          <a:bodyPr wrap="square">
            <a:noAutofit/>
          </a:bodyPr>
          <a:lstStyle/>
          <a:p>
            <a:pPr/>
            <a:r>
              <a:rPr lang="en-MY" sz="2000" b="1" dirty="0">
                <a:solidFill>
                  <a:schemeClr val="tx1">
                    <a:lumMod val="85000"/>
                    <a:lumOff val="15000"/>
                  </a:schemeClr>
                </a:solidFill>
              </a:rPr>
              <a:t>Kerusi Taman</a:t>
            </a:r>
          </a:p>
        </p:txBody>
      </p:sp>
      <p:sp>
        <p:nvSpPr>
          <p:cNvPr id="25" name="Instr"/>
          <p:cNvSpPr txBox="1"/>
          <p:nvPr/>
        </p:nvSpPr>
        <p:spPr>
          <a:xfrm>
            <a:off x="723930" y="1591056"/>
            <a:ext cx="10744200" cy="365760"/>
          </a:xfrm>
          <a:prstGeom prst="rect">
            <a:avLst/>
          </a:prstGeom>
          <a:noFill/>
        </p:spPr>
        <p:txBody>
          <a:bodyPr wrap="square">
            <a:noAutofit/>
          </a:bodyPr>
          <a:lstStyle/>
          <a:p>
            <a:pPr algn="ctr"/>
            <a:r>
              <a:rPr lang="en-MY" sz="1500" dirty="0">
                <a:solidFill>
                  <a:schemeClr val="tx1">
                    <a:lumMod val="85000"/>
                    <a:lumOff val="15000"/>
                  </a:schemeClr>
                </a:solidFill>
              </a:rPr>
              <a:t>Klik pada setiap contoh untuk penjelasan lanjut.</a:t>
            </a:r>
          </a:p>
        </p:txBody>
      </p:sp>
      <p:sp>
        <p:nvSpPr>
          <p:cNvPr id="40" name="ItemCard"/>
          <p:cNvSpPr txBox="1"/>
          <p:nvPr/>
        </p:nvSpPr>
        <p:spPr>
          <a:xfrm>
            <a:off x="723885" y="2157984"/>
            <a:ext cx="3325368" cy="1481328"/>
          </a:xfrm>
          <a:prstGeom prst="rect">
            <a:avLst/>
          </a:prstGeom>
          <a:solidFill>
            <a:srgbClr val="F2F2F2"/>
          </a:solidFill>
          <a:ln w="12700">
            <a:solidFill>
              <a:srgbClr val="404040"/>
            </a:solidFill>
          </a:ln>
        </p:spPr>
        <p:txBody>
          <a:bodyPr wrap="square" anchor="ctr">
            <a:noAutofit/>
          </a:bodyPr>
          <a:lstStyle/>
          <a:p>
            <a:pPr algn="ctr"/>
            <a:r>
              <a:rPr lang="en-MY" sz="1500" b="1" dirty="0">
                <a:solidFill>
                  <a:schemeClr val="tx1">
                    <a:lumMod val="85000"/>
                    <a:lumOff val="15000"/>
                  </a:schemeClr>
                </a:solidFill>
              </a:rPr>
              <a:t>Kerusi Kayu Keras</a:t>
            </a:r>
          </a:p>
        </p:txBody>
      </p:sp>
      <p:sp>
        <p:nvSpPr>
          <p:cNvPr id="41" name="ItemCard"/>
          <p:cNvSpPr txBox="1"/>
          <p:nvPr/>
        </p:nvSpPr>
        <p:spPr>
          <a:xfrm>
            <a:off x="4433301" y="2157984"/>
            <a:ext cx="3325368" cy="1481328"/>
          </a:xfrm>
          <a:prstGeom prst="rect">
            <a:avLst/>
          </a:prstGeom>
          <a:solidFill>
            <a:srgbClr val="F2F2F2"/>
          </a:solidFill>
          <a:ln w="12700">
            <a:solidFill>
              <a:srgbClr val="404040"/>
            </a:solidFill>
          </a:ln>
        </p:spPr>
        <p:txBody>
          <a:bodyPr wrap="square" anchor="ctr">
            <a:noAutofit/>
          </a:bodyPr>
          <a:lstStyle/>
          <a:p>
            <a:pPr algn="ctr"/>
            <a:r>
              <a:rPr lang="en-MY" sz="1500" b="1" dirty="0">
                <a:solidFill>
                  <a:schemeClr val="tx1">
                    <a:lumMod val="85000"/>
                    <a:lumOff val="15000"/>
                  </a:schemeClr>
                </a:solidFill>
              </a:rPr>
              <a:t>Kerusi Konkrit</a:t>
            </a:r>
          </a:p>
        </p:txBody>
      </p:sp>
      <p:sp>
        <p:nvSpPr>
          <p:cNvPr id="42" name="ItemCard"/>
          <p:cNvSpPr txBox="1"/>
          <p:nvPr/>
        </p:nvSpPr>
        <p:spPr>
          <a:xfrm>
            <a:off x="8142717" y="2157984"/>
            <a:ext cx="3325368" cy="1481328"/>
          </a:xfrm>
          <a:prstGeom prst="rect">
            <a:avLst/>
          </a:prstGeom>
          <a:solidFill>
            <a:srgbClr val="F2F2F2"/>
          </a:solidFill>
          <a:ln w="12700">
            <a:solidFill>
              <a:srgbClr val="404040"/>
            </a:solidFill>
          </a:ln>
        </p:spPr>
        <p:txBody>
          <a:bodyPr wrap="square" anchor="ctr">
            <a:noAutofit/>
          </a:bodyPr>
          <a:lstStyle/>
          <a:p>
            <a:pPr algn="ctr"/>
            <a:r>
              <a:rPr lang="en-MY" sz="1500" b="1" dirty="0">
                <a:solidFill>
                  <a:schemeClr val="tx1">
                    <a:lumMod val="85000"/>
                    <a:lumOff val="15000"/>
                  </a:schemeClr>
                </a:solidFill>
              </a:rPr>
              <a:t>Kerusi Komposit</a:t>
            </a:r>
          </a:p>
        </p:txBody>
      </p:sp>
      <p:sp>
        <p:nvSpPr>
          <p:cNvPr id="30" name="VisualDir"/>
          <p:cNvSpPr txBox="1"/>
          <p:nvPr/>
        </p:nvSpPr>
        <p:spPr>
          <a:xfrm>
            <a:off x="723930" y="5394960"/>
            <a:ext cx="10744200" cy="365760"/>
          </a:xfrm>
          <a:prstGeom prst="rect">
            <a:avLst/>
          </a:prstGeom>
          <a:noFill/>
        </p:spPr>
        <p:txBody>
          <a:bodyPr wrap="square">
            <a:noAutofit/>
          </a:bodyPr>
          <a:lstStyle/>
          <a:p>
            <a:pPr/>
            <a:r>
              <a:rPr lang="en-MY" sz="1100" dirty="0">
                <a:solidFill>
                  <a:srgbClr val="808080"/>
                </a:solidFill>
              </a:rPr>
              <a:t>[Visual: Foto jadual spesifikasi kerusi taman, modul ms 242–243. Tidak dibenamkan.]</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Kerusi Taman — penerangan + senarai contoh</a:t>
            </a:r>
          </a:p>
          <a:p>
            <a:r>
              <a:rPr lang="en-MY" sz="900" dirty="0">
                <a:solidFill>
                  <a:schemeClr val="tx1">
                    <a:lumMod val="85000"/>
                    <a:lumOff val="15000"/>
                  </a:schemeClr>
                </a:solidFill>
              </a:rPr>
              <a:t>KELUARGA PELAKSANAAN: FAMILY_P1</a:t>
            </a:r>
          </a:p>
          <a:p>
            <a:r>
              <a:rPr lang="en-MY" sz="900" dirty="0">
                <a:solidFill>
                  <a:schemeClr val="tx1">
                    <a:lumMod val="85000"/>
                    <a:lumOff val="15000"/>
                  </a:schemeClr>
                </a:solidFill>
              </a:rPr>
              <a:t>PERANAN HALAMAN SEMAKAN: COMPONENT_EXPLANATION_LIST_BASE</a:t>
            </a:r>
          </a:p>
          <a:p>
            <a:r>
              <a:rPr lang="en-MY" sz="900" dirty="0">
                <a:solidFill>
                  <a:schemeClr val="tx1">
                    <a:lumMod val="85000"/>
                    <a:lumOff val="15000"/>
                  </a:schemeClr>
                </a:solidFill>
              </a:rPr>
              <a:t/>
            </a:r>
          </a:p>
          <a:p>
            <a:r>
              <a:rPr lang="en-MY" sz="900" dirty="0">
                <a:solidFill>
                  <a:schemeClr val="tx1">
                    <a:lumMod val="85000"/>
                    <a:lumOff val="15000"/>
                  </a:schemeClr>
                </a:solidFill>
              </a:rPr>
              <a:t>BUKTI: Family P1 component overview + example list</a:t>
            </a:r>
          </a:p>
          <a:p>
            <a:r>
              <a:rPr lang="en-MY" sz="900" dirty="0">
                <a:solidFill>
                  <a:schemeClr val="tx1">
                    <a:lumMod val="85000"/>
                    <a:lumOff val="15000"/>
                  </a:schemeClr>
                </a:solidFill>
              </a:rPr>
              <a:t>POLISI NOTA: CONTENT_VO_NOTES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LMS_SHELL_NEXT  [component_complete[KERUSI_TAMAN]]</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NO_CONTROL</a:t>
            </a:r>
          </a:p>
          <a:p>
            <a:r>
              <a:rPr lang="en-MY" sz="900" dirty="0">
                <a:solidFill>
                  <a:schemeClr val="tx1">
                    <a:lumMod val="85000"/>
                    <a:lumOff val="15000"/>
                  </a:schemeClr>
                </a:solidFill>
              </a:rPr>
              <a:t>  return_target = —</a:t>
            </a:r>
          </a:p>
          <a:p>
            <a:r>
              <a:rPr lang="en-MY" sz="900" dirty="0">
                <a:solidFill>
                  <a:schemeClr val="tx1">
                    <a:lumMod val="85000"/>
                    <a:lumOff val="15000"/>
                  </a:schemeClr>
                </a:solidFill>
              </a:rPr>
              <a:t>SKOP SELESAI: COMPONENT</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0 · lapisan skrin 1</a:t>
            </a:r>
          </a:p>
          <a:p>
            <a:r>
              <a:rPr lang="en-MY" sz="900" dirty="0">
                <a:solidFill>
                  <a:schemeClr val="tx1">
                    <a:lumMod val="85000"/>
                    <a:lumOff val="15000"/>
                  </a:schemeClr>
                </a:solidFill>
              </a:rPr>
              <a:t>INDUK: SCR_KERUSI_TAMAN_MAIN</a:t>
            </a:r>
          </a:p>
          <a:p>
            <a:r>
              <a:rPr lang="en-MY" sz="900" b="1" dirty="0">
                <a:solidFill>
                  <a:schemeClr val="tx1">
                    <a:lumMod val="85000"/>
                    <a:lumOff val="15000"/>
                  </a:schemeClr>
                </a:solidFill>
              </a:rPr>
              <a:t>SUMBER:</a:t>
            </a:r>
          </a:p>
          <a:p>
            <a:r>
              <a:rPr lang="en-MY" sz="900" dirty="0">
                <a:solidFill>
                  <a:schemeClr val="tx1">
                    <a:lumMod val="85000"/>
                    <a:lumOff val="15000"/>
                  </a:schemeClr>
                </a:solidFill>
              </a:rPr>
              <a:t>  K5-PL06-T03-B02-KERUSI-TAMAN-ROW-01</a:t>
            </a:r>
          </a:p>
          <a:p>
            <a:r>
              <a:rPr lang="en-MY" sz="900" dirty="0">
                <a:solidFill>
                  <a:schemeClr val="tx1">
                    <a:lumMod val="85000"/>
                    <a:lumOff val="15000"/>
                  </a:schemeClr>
                </a:solidFill>
              </a:rPr>
              <a:t>    ms 242 / fizikal 261</a:t>
            </a:r>
          </a:p>
          <a:p>
            <a:r>
              <a:rPr lang="en-MY" sz="900" dirty="0">
                <a:solidFill>
                  <a:schemeClr val="tx1">
                    <a:lumMod val="85000"/>
                    <a:lumOff val="15000"/>
                  </a:schemeClr>
                </a:solidFill>
              </a:rPr>
              <a:t>  K5-PL06-T03-B02-KERUSI-TAMAN-ROW-02</a:t>
            </a:r>
          </a:p>
          <a:p>
            <a:r>
              <a:rPr lang="en-MY" sz="900" dirty="0">
                <a:solidFill>
                  <a:schemeClr val="tx1">
                    <a:lumMod val="85000"/>
                    <a:lumOff val="15000"/>
                  </a:schemeClr>
                </a:solidFill>
              </a:rPr>
              <a:t>    ms 243 / fizikal 262</a:t>
            </a:r>
          </a:p>
          <a:p>
            <a:r>
              <a:rPr lang="en-MY" sz="900" dirty="0">
                <a:solidFill>
                  <a:schemeClr val="tx1">
                    <a:lumMod val="85000"/>
                    <a:lumOff val="15000"/>
                  </a:schemeClr>
                </a:solidFill>
              </a:rPr>
              <a:t>  K5-PL06-T03-B02-KERUSI-TAMAN-ROW-03</a:t>
            </a:r>
          </a:p>
          <a:p>
            <a:r>
              <a:rPr lang="en-MY" sz="900" dirty="0">
                <a:solidFill>
                  <a:schemeClr val="tx1">
                    <a:lumMod val="85000"/>
                    <a:lumOff val="15000"/>
                  </a:schemeClr>
                </a:solidFill>
              </a:rPr>
              <a:t>    ms 243 / fizikal 262</a:t>
            </a:r>
          </a:p>
          <a:p>
            <a:r>
              <a:rPr lang="en-MY" sz="900" b="1" dirty="0">
                <a:solidFill>
                  <a:schemeClr val="tx1">
                    <a:lumMod val="85000"/>
                    <a:lumOff val="15000"/>
                  </a:schemeClr>
                </a:solidFill>
              </a:rPr>
              <a:t>ITEM INTERAKSI:</a:t>
            </a:r>
          </a:p>
          <a:p>
            <a:r>
              <a:rPr lang="en-MY" sz="900" dirty="0">
                <a:solidFill>
                  <a:schemeClr val="tx1">
                    <a:lumMod val="85000"/>
                    <a:lumOff val="15000"/>
                  </a:schemeClr>
                </a:solidFill>
              </a:rPr>
              <a:t>  II_KERUSI_TAMAN_EX01  &lt;-  K5-PL06-T03-B02-KERUSI-TAMAN-ROW-01</a:t>
            </a:r>
          </a:p>
          <a:p>
            <a:r>
              <a:rPr lang="en-MY" sz="900" dirty="0">
                <a:solidFill>
                  <a:schemeClr val="tx1">
                    <a:lumMod val="85000"/>
                    <a:lumOff val="15000"/>
                  </a:schemeClr>
                </a:solidFill>
              </a:rPr>
              <a:t>  II_KERUSI_TAMAN_EX02  &lt;-  K5-PL06-T03-B02-KERUSI-TAMAN-ROW-02</a:t>
            </a:r>
          </a:p>
          <a:p>
            <a:r>
              <a:rPr lang="en-MY" sz="900" dirty="0">
                <a:solidFill>
                  <a:schemeClr val="tx1">
                    <a:lumMod val="85000"/>
                    <a:lumOff val="15000"/>
                  </a:schemeClr>
                </a:solidFill>
              </a:rPr>
              <a:t>  II_KERUSI_TAMAN_EX03  &lt;-  K5-PL06-T03-B02-KERUSI-TAMAN-ROW-03</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Klik contoh = Bariah Level 1. Membuka skrin penuh, bukan popup.</a:t>
            </a:r>
          </a:p>
          <a:p>
            <a:r>
              <a:rPr lang="en-MY" sz="900" dirty="0">
                <a:solidFill>
                  <a:schemeClr val="tx1">
                    <a:lumMod val="85000"/>
                    <a:lumOff val="15000"/>
                  </a:schemeClr>
                </a:solidFill>
              </a:rPr>
              <a:t>  0/3 contoh dilihat.</a:t>
            </a:r>
          </a:p>
          <a:p>
            <a:r>
              <a:rPr lang="en-MY" sz="900" dirty="0">
                <a:solidFill>
                  <a:schemeClr val="tx1">
                    <a:lumMod val="85000"/>
                    <a:lumOff val="15000"/>
                  </a:schemeClr>
                </a:solidFill>
              </a:rPr>
              <a:t>  component_complete hanya benar apabila SEMUA contoh selesai.</a:t>
            </a:r>
          </a:p>
          <a:p>
            <a:r>
              <a:rPr lang="en-MY" sz="900" dirty="0">
                <a:solidFill>
                  <a:schemeClr val="tx1">
                    <a:lumMod val="85000"/>
                    <a:lumOff val="15000"/>
                  </a:schemeClr>
                </a:solidFill>
              </a:rPr>
              <a:t>STATUS KEPUTUSAN: B02-D-03</a:t>
            </a:r>
          </a:p>
          <a:p>
            <a:r>
              <a:rPr lang="en-MY" sz="900" dirty="0">
                <a:solidFill>
                  <a:schemeClr val="tx1">
                    <a:lumMod val="85000"/>
                    <a:lumOff val="15000"/>
                  </a:schemeClr>
                </a:solidFill>
              </a:rPr>
              <a:t>STATUS BELUM SELESAI: NONE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Kerusi Kayu Keras</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Kerusi Taman</a:t>
            </a:r>
          </a:p>
        </p:txBody>
      </p:sp>
      <p:sp>
        <p:nvSpPr>
          <p:cNvPr id="20" name="ExHead"/>
          <p:cNvSpPr txBox="1"/>
          <p:nvPr/>
        </p:nvSpPr>
        <p:spPr>
          <a:xfrm>
            <a:off x="723930" y="1115568"/>
            <a:ext cx="10744200" cy="402336"/>
          </a:xfrm>
          <a:prstGeom prst="rect">
            <a:avLst/>
          </a:prstGeom>
          <a:noFill/>
        </p:spPr>
        <p:txBody>
          <a:bodyPr wrap="square">
            <a:noAutofit/>
          </a:bodyPr>
          <a:lstStyle/>
          <a:p>
            <a:pPr/>
            <a:r>
              <a:rPr lang="en-MY" sz="2200" b="1" dirty="0">
                <a:solidFill>
                  <a:schemeClr val="tx1">
                    <a:lumMod val="85000"/>
                    <a:lumOff val="15000"/>
                  </a:schemeClr>
                </a:solidFill>
              </a:rPr>
              <a:t>Kerusi Kayu Keras</a:t>
            </a:r>
          </a:p>
        </p:txBody>
      </p:sp>
      <p:sp>
        <p:nvSpPr>
          <p:cNvPr id="25" name="Instr"/>
          <p:cNvSpPr txBox="1"/>
          <p:nvPr/>
        </p:nvSpPr>
        <p:spPr>
          <a:xfrm>
            <a:off x="723930" y="1609344"/>
            <a:ext cx="10744200" cy="365760"/>
          </a:xfrm>
          <a:prstGeom prst="rect">
            <a:avLst/>
          </a:prstGeom>
          <a:noFill/>
        </p:spPr>
        <p:txBody>
          <a:bodyPr wrap="square">
            <a:noAutofit/>
          </a:bodyPr>
          <a:lstStyle/>
          <a:p>
            <a:pPr algn="ctr"/>
            <a:r>
              <a:rPr lang="en-MY" sz="1500" dirty="0">
                <a:solidFill>
                  <a:schemeClr val="tx1">
                    <a:lumMod val="85000"/>
                    <a:lumOff val="15000"/>
                  </a:schemeClr>
                </a:solidFill>
              </a:rPr>
              <a:t>Klik pada setiap spesifikasi untuk penjelasan lanjut.</a:t>
            </a:r>
          </a:p>
        </p:txBody>
      </p:sp>
      <p:sp>
        <p:nvSpPr>
          <p:cNvPr id="40" name="ItemCard"/>
          <p:cNvSpPr txBox="1"/>
          <p:nvPr/>
        </p:nvSpPr>
        <p:spPr>
          <a:xfrm>
            <a:off x="723885" y="2103120"/>
            <a:ext cx="2398014" cy="969264"/>
          </a:xfrm>
          <a:prstGeom prst="rect">
            <a:avLst/>
          </a:prstGeom>
          <a:solidFill>
            <a:srgbClr val="F2F2F2"/>
          </a:solidFill>
          <a:ln w="12700">
            <a:solidFill>
              <a:srgbClr val="404040"/>
            </a:solidFill>
          </a:ln>
        </p:spPr>
        <p:txBody>
          <a:bodyPr wrap="square" anchor="ctr">
            <a:noAutofit/>
          </a:bodyPr>
          <a:lstStyle/>
          <a:p>
            <a:pPr algn="ctr"/>
            <a:r>
              <a:rPr lang="en-MY" sz="1350" b="1" dirty="0">
                <a:solidFill>
                  <a:schemeClr val="tx1">
                    <a:lumMod val="85000"/>
                    <a:lumOff val="15000"/>
                  </a:schemeClr>
                </a:solidFill>
              </a:rPr>
              <a:t>Bahan</a:t>
            </a:r>
          </a:p>
        </p:txBody>
      </p:sp>
      <p:sp>
        <p:nvSpPr>
          <p:cNvPr id="41" name="ItemCard"/>
          <p:cNvSpPr txBox="1"/>
          <p:nvPr/>
        </p:nvSpPr>
        <p:spPr>
          <a:xfrm>
            <a:off x="3505947" y="2103120"/>
            <a:ext cx="2398014" cy="969264"/>
          </a:xfrm>
          <a:prstGeom prst="rect">
            <a:avLst/>
          </a:prstGeom>
          <a:solidFill>
            <a:srgbClr val="F2F2F2"/>
          </a:solidFill>
          <a:ln w="12700">
            <a:solidFill>
              <a:srgbClr val="404040"/>
            </a:solidFill>
          </a:ln>
        </p:spPr>
        <p:txBody>
          <a:bodyPr wrap="square" anchor="ctr">
            <a:noAutofit/>
          </a:bodyPr>
          <a:lstStyle/>
          <a:p>
            <a:pPr algn="ctr"/>
            <a:r>
              <a:rPr lang="en-MY" sz="1350" b="1" dirty="0">
                <a:solidFill>
                  <a:schemeClr val="tx1">
                    <a:lumMod val="85000"/>
                    <a:lumOff val="15000"/>
                  </a:schemeClr>
                </a:solidFill>
              </a:rPr>
              <a:t>Dimensi</a:t>
            </a:r>
          </a:p>
        </p:txBody>
      </p:sp>
      <p:sp>
        <p:nvSpPr>
          <p:cNvPr id="42" name="ItemCard"/>
          <p:cNvSpPr txBox="1"/>
          <p:nvPr/>
        </p:nvSpPr>
        <p:spPr>
          <a:xfrm>
            <a:off x="6288009" y="2103120"/>
            <a:ext cx="2398014" cy="969264"/>
          </a:xfrm>
          <a:prstGeom prst="rect">
            <a:avLst/>
          </a:prstGeom>
          <a:solidFill>
            <a:srgbClr val="F2F2F2"/>
          </a:solidFill>
          <a:ln w="12700">
            <a:solidFill>
              <a:srgbClr val="404040"/>
            </a:solidFill>
          </a:ln>
        </p:spPr>
        <p:txBody>
          <a:bodyPr wrap="square" anchor="ctr">
            <a:noAutofit/>
          </a:bodyPr>
          <a:lstStyle/>
          <a:p>
            <a:pPr algn="ctr"/>
            <a:r>
              <a:rPr lang="en-MY" sz="1350" b="1" dirty="0">
                <a:solidFill>
                  <a:schemeClr val="tx1">
                    <a:lumMod val="85000"/>
                    <a:lumOff val="15000"/>
                  </a:schemeClr>
                </a:solidFill>
              </a:rPr>
              <a:t>Penyambungan</a:t>
            </a:r>
          </a:p>
        </p:txBody>
      </p:sp>
      <p:sp>
        <p:nvSpPr>
          <p:cNvPr id="43" name="ItemCard"/>
          <p:cNvSpPr txBox="1"/>
          <p:nvPr/>
        </p:nvSpPr>
        <p:spPr>
          <a:xfrm>
            <a:off x="9070071" y="2103120"/>
            <a:ext cx="2398014" cy="969264"/>
          </a:xfrm>
          <a:prstGeom prst="rect">
            <a:avLst/>
          </a:prstGeom>
          <a:solidFill>
            <a:srgbClr val="F2F2F2"/>
          </a:solidFill>
          <a:ln w="12700">
            <a:solidFill>
              <a:srgbClr val="404040"/>
            </a:solidFill>
          </a:ln>
        </p:spPr>
        <p:txBody>
          <a:bodyPr wrap="square" anchor="ctr">
            <a:noAutofit/>
          </a:bodyPr>
          <a:lstStyle/>
          <a:p>
            <a:pPr algn="ctr"/>
            <a:r>
              <a:rPr lang="en-MY" sz="1350" b="1" dirty="0">
                <a:solidFill>
                  <a:schemeClr val="tx1">
                    <a:lumMod val="85000"/>
                    <a:lumOff val="15000"/>
                  </a:schemeClr>
                </a:solidFill>
              </a:rPr>
              <a:t>Kemasan</a:t>
            </a:r>
          </a:p>
        </p:txBody>
      </p:sp>
      <p:sp>
        <p:nvSpPr>
          <p:cNvPr id="70" name="ExContoh"/>
          <p:cNvSpPr txBox="1"/>
          <p:nvPr/>
        </p:nvSpPr>
        <p:spPr>
          <a:xfrm>
            <a:off x="723930" y="3383280"/>
            <a:ext cx="10744200" cy="365760"/>
          </a:xfrm>
          <a:prstGeom prst="rect">
            <a:avLst/>
          </a:prstGeom>
          <a:noFill/>
        </p:spPr>
        <p:txBody>
          <a:bodyPr wrap="square">
            <a:noAutofit/>
          </a:bodyPr>
          <a:lstStyle/>
          <a:p>
            <a:pPr/>
            <a:r>
              <a:rPr lang="en-MY" sz="1400" b="1" dirty="0">
                <a:solidFill>
                  <a:schemeClr val="tx1">
                    <a:lumMod val="85000"/>
                    <a:lumOff val="15000"/>
                  </a:schemeClr>
                </a:solidFill>
              </a:rPr>
              <a:t>Contoh: Jati, Cengal, Balau</a:t>
            </a:r>
          </a:p>
        </p:txBody>
      </p:sp>
      <p:sp>
        <p:nvSpPr>
          <p:cNvPr id="30" name="VisualDir"/>
          <p:cNvSpPr txBox="1"/>
          <p:nvPr/>
        </p:nvSpPr>
        <p:spPr>
          <a:xfrm>
            <a:off x="723930" y="3858768"/>
            <a:ext cx="10744200" cy="621792"/>
          </a:xfrm>
          <a:prstGeom prst="rect">
            <a:avLst/>
          </a:prstGeom>
          <a:noFill/>
        </p:spPr>
        <p:txBody>
          <a:bodyPr wrap="square">
            <a:noAutofit/>
          </a:bodyPr>
          <a:lstStyle/>
          <a:p>
            <a:pPr/>
            <a:r>
              <a:rPr lang="en-MY" sz="1100" dirty="0">
                <a:solidFill>
                  <a:srgbClr val="808080"/>
                </a:solidFill>
              </a:rPr>
              <a:t>[Visual: Foto jadual spesifikasi Kerusi Kayu Keras, modul ms 242. Aset K5PL06T03-B02-IMG-p242-x28. Tidak</a:t>
            </a:r>
          </a:p>
          <a:p>
            <a:pPr/>
            <a:r>
              <a:rPr lang="en-MY" sz="1100" dirty="0">
                <a:solidFill>
                  <a:srgbClr val="808080"/>
                </a:solidFill>
              </a:rPr>
              <a:t>dibenamkan.]</a:t>
            </a:r>
          </a:p>
        </p:txBody>
      </p:sp>
      <p:sp>
        <p:nvSpPr>
          <p:cNvPr id="95" name="Btn"/>
          <p:cNvSpPr txBox="1"/>
          <p:nvPr/>
        </p:nvSpPr>
        <p:spPr>
          <a:xfrm>
            <a:off x="5295885" y="6419088"/>
            <a:ext cx="1600200" cy="347472"/>
          </a:xfrm>
          <a:prstGeom prst="rect">
            <a:avLst/>
          </a:prstGeom>
          <a:solidFill>
            <a:srgbClr val="D9D9D9"/>
          </a:solidFill>
          <a:ln w="12700">
            <a:solidFill>
              <a:srgbClr val="BFBFBF"/>
            </a:solidFill>
          </a:ln>
        </p:spPr>
        <p:txBody>
          <a:bodyPr wrap="square" anchor="ctr">
            <a:noAutofit/>
          </a:bodyPr>
          <a:lstStyle/>
          <a:p>
            <a:pPr algn="ctr"/>
            <a:r>
              <a:rPr lang="en-MY" sz="1600" b="1" dirty="0">
                <a:solidFill>
                  <a:srgbClr val="808080"/>
                </a:solidFill>
              </a:rPr>
              <a:t>Kembali</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Kerusi Taman — Kerusi Kayu Keras</a:t>
            </a:r>
          </a:p>
          <a:p>
            <a:r>
              <a:rPr lang="en-MY" sz="900" dirty="0">
                <a:solidFill>
                  <a:schemeClr val="tx1">
                    <a:lumMod val="85000"/>
                    <a:lumOff val="15000"/>
                  </a:schemeClr>
                </a:solidFill>
              </a:rPr>
              <a:t>KELUARGA PELAKSANAAN: FAMILY_P1</a:t>
            </a:r>
          </a:p>
          <a:p>
            <a:r>
              <a:rPr lang="en-MY" sz="900" dirty="0">
                <a:solidFill>
                  <a:schemeClr val="tx1">
                    <a:lumMod val="85000"/>
                    <a:lumOff val="15000"/>
                  </a:schemeClr>
                </a:solidFill>
              </a:rPr>
              <a:t>PERANAN HALAMAN SEMAKAN: EXAMPLE_DETAIL_BASE</a:t>
            </a:r>
          </a:p>
          <a:p>
            <a:r>
              <a:rPr lang="en-MY" sz="900" dirty="0">
                <a:solidFill>
                  <a:schemeClr val="tx1">
                    <a:lumMod val="85000"/>
                    <a:lumOff val="15000"/>
                  </a:schemeClr>
                </a:solidFill>
              </a:rPr>
              <a:t/>
            </a:r>
          </a:p>
          <a:p>
            <a:r>
              <a:rPr lang="en-MY" sz="900" dirty="0">
                <a:solidFill>
                  <a:schemeClr val="tx1">
                    <a:lumMod val="85000"/>
                    <a:lumOff val="15000"/>
                  </a:schemeClr>
                </a:solidFill>
              </a:rPr>
              <a:t>BUKTI: Family P1 Level 1 full-slide example detail</a:t>
            </a:r>
          </a:p>
          <a:p>
            <a:r>
              <a:rPr lang="en-MY" sz="900" dirty="0">
                <a:solidFill>
                  <a:schemeClr val="tx1">
                    <a:lumMod val="85000"/>
                    <a:lumOff val="15000"/>
                  </a:schemeClr>
                </a:solidFill>
              </a:rPr>
              <a:t>POLISI NOTA: CONTENT_VO_NOTES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NO_CONTROL  [none]</a:t>
            </a:r>
          </a:p>
          <a:p>
            <a:r>
              <a:rPr lang="en-MY" sz="900" dirty="0">
                <a:solidFill>
                  <a:schemeClr val="tx1">
                    <a:lumMod val="85000"/>
                    <a:lumOff val="15000"/>
                  </a:schemeClr>
                </a:solidFill>
              </a:rPr>
              <a:t>  back  = KEMBALI_BUTTON  [example_complete[K5-PL06-T03-B02-KERUSI-TAMAN-ROW-01]]</a:t>
            </a:r>
          </a:p>
          <a:p>
            <a:r>
              <a:rPr lang="en-MY" sz="900" dirty="0">
                <a:solidFill>
                  <a:schemeClr val="tx1">
                    <a:lumMod val="85000"/>
                    <a:lumOff val="15000"/>
                  </a:schemeClr>
                </a:solidFill>
              </a:rPr>
              <a:t>  close = NO_CONTROL</a:t>
            </a:r>
          </a:p>
          <a:p>
            <a:r>
              <a:rPr lang="en-MY" sz="900" dirty="0">
                <a:solidFill>
                  <a:schemeClr val="tx1">
                    <a:lumMod val="85000"/>
                    <a:lumOff val="15000"/>
                  </a:schemeClr>
                </a:solidFill>
              </a:rPr>
              <a:t>  return_target = SCR_KERUSI_TAMAN_MAIN</a:t>
            </a:r>
          </a:p>
          <a:p>
            <a:r>
              <a:rPr lang="en-MY" sz="900" dirty="0">
                <a:solidFill>
                  <a:schemeClr val="tx1">
                    <a:lumMod val="85000"/>
                    <a:lumOff val="15000"/>
                  </a:schemeClr>
                </a:solidFill>
              </a:rPr>
              <a:t>SKOP SELESAI: EXAMPLE</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1 · lapisan skrin 2</a:t>
            </a:r>
          </a:p>
          <a:p>
            <a:r>
              <a:rPr lang="en-MY" sz="900" dirty="0">
                <a:solidFill>
                  <a:schemeClr val="tx1">
                    <a:lumMod val="85000"/>
                    <a:lumOff val="15000"/>
                  </a:schemeClr>
                </a:solidFill>
              </a:rPr>
              <a:t>INDUK: SCR_KERUSI_TAMAN_EX01_DETAIL</a:t>
            </a:r>
          </a:p>
          <a:p>
            <a:r>
              <a:rPr lang="en-MY" sz="900" b="1" dirty="0">
                <a:solidFill>
                  <a:schemeClr val="tx1">
                    <a:lumMod val="85000"/>
                    <a:lumOff val="15000"/>
                  </a:schemeClr>
                </a:solidFill>
              </a:rPr>
              <a:t>SUMBER:</a:t>
            </a:r>
          </a:p>
          <a:p>
            <a:r>
              <a:rPr lang="en-MY" sz="900" dirty="0">
                <a:solidFill>
                  <a:schemeClr val="tx1">
                    <a:lumMod val="85000"/>
                    <a:lumOff val="15000"/>
                  </a:schemeClr>
                </a:solidFill>
              </a:rPr>
              <a:t>  K5-PL06-T03-B02-KERUSI-TAMAN-ROW-01</a:t>
            </a:r>
          </a:p>
          <a:p>
            <a:r>
              <a:rPr lang="en-MY" sz="900" dirty="0">
                <a:solidFill>
                  <a:schemeClr val="tx1">
                    <a:lumMod val="85000"/>
                    <a:lumOff val="15000"/>
                  </a:schemeClr>
                </a:solidFill>
              </a:rPr>
              <a:t>    ms 242 / fizikal 261</a:t>
            </a:r>
          </a:p>
          <a:p>
            <a:r>
              <a:rPr lang="en-MY" sz="900" b="1" dirty="0">
                <a:solidFill>
                  <a:schemeClr val="tx1">
                    <a:lumMod val="85000"/>
                    <a:lumOff val="15000"/>
                  </a:schemeClr>
                </a:solidFill>
              </a:rPr>
              <a:t>ASET SUMBER (tidak dibenamkan):</a:t>
            </a:r>
          </a:p>
          <a:p>
            <a:r>
              <a:rPr lang="en-MY" sz="900" dirty="0">
                <a:solidFill>
                  <a:schemeClr val="tx1">
                    <a:lumMod val="85000"/>
                    <a:lumOff val="15000"/>
                  </a:schemeClr>
                </a:solidFill>
              </a:rPr>
              <a:t>  K5PL06T03-B02-IMG-p242-x28</a:t>
            </a:r>
          </a:p>
          <a:p>
            <a:r>
              <a:rPr lang="en-MY" sz="900" b="1" dirty="0">
                <a:solidFill>
                  <a:schemeClr val="tx1">
                    <a:lumMod val="85000"/>
                    <a:lumOff val="15000"/>
                  </a:schemeClr>
                </a:solidFill>
              </a:rPr>
              <a:t>ITEM INTERAKSI:</a:t>
            </a:r>
          </a:p>
          <a:p>
            <a:r>
              <a:rPr lang="en-MY" sz="900" dirty="0">
                <a:solidFill>
                  <a:schemeClr val="tx1">
                    <a:lumMod val="85000"/>
                    <a:lumOff val="15000"/>
                  </a:schemeClr>
                </a:solidFill>
              </a:rPr>
              <a:t>  II_KERUSI_TAMAN_R01_SPEC01  &lt;-  K5-PL06-T03-B02-KERUSI-TAMAN-ROW-01</a:t>
            </a:r>
          </a:p>
          <a:p>
            <a:r>
              <a:rPr lang="en-MY" sz="900" dirty="0">
                <a:solidFill>
                  <a:schemeClr val="tx1">
                    <a:lumMod val="85000"/>
                    <a:lumOff val="15000"/>
                  </a:schemeClr>
                </a:solidFill>
              </a:rPr>
              <a:t>  II_KERUSI_TAMAN_R01_SPEC02  &lt;-  K5-PL06-T03-B02-KERUSI-TAMAN-ROW-01</a:t>
            </a:r>
          </a:p>
          <a:p>
            <a:r>
              <a:rPr lang="en-MY" sz="900" dirty="0">
                <a:solidFill>
                  <a:schemeClr val="tx1">
                    <a:lumMod val="85000"/>
                    <a:lumOff val="15000"/>
                  </a:schemeClr>
                </a:solidFill>
              </a:rPr>
              <a:t>  II_KERUSI_TAMAN_R01_SPEC03  &lt;-  K5-PL06-T03-B02-KERUSI-TAMAN-ROW-01</a:t>
            </a:r>
          </a:p>
          <a:p>
            <a:r>
              <a:rPr lang="en-MY" sz="900" dirty="0">
                <a:solidFill>
                  <a:schemeClr val="tx1">
                    <a:lumMod val="85000"/>
                    <a:lumOff val="15000"/>
                  </a:schemeClr>
                </a:solidFill>
              </a:rPr>
              <a:t>  II_KERUSI_TAMAN_R01_SPEC04  &lt;-  K5-PL06-T03-B02-KERUSI-TAMAN-ROW-01</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Skrin penuh ini ialah hasil Level 1 (klik contoh).</a:t>
            </a:r>
          </a:p>
          <a:p>
            <a:r>
              <a:rPr lang="en-MY" sz="900" dirty="0">
                <a:solidFill>
                  <a:schemeClr val="tx1">
                    <a:lumMod val="85000"/>
                    <a:lumOff val="15000"/>
                  </a:schemeClr>
                </a:solidFill>
              </a:rPr>
              <a:t>  Klik spesifikasi = Bariah Level 2. Membuka popup (STATE).</a:t>
            </a:r>
          </a:p>
          <a:p>
            <a:r>
              <a:rPr lang="en-MY" sz="900" dirty="0">
                <a:solidFill>
                  <a:schemeClr val="tx1">
                    <a:lumMod val="85000"/>
                    <a:lumOff val="15000"/>
                  </a:schemeClr>
                </a:solidFill>
              </a:rPr>
              <a:t>  Ikon tutup kembali ke skrin contoh penuh yang SAMA.</a:t>
            </a:r>
          </a:p>
          <a:p>
            <a:r>
              <a:rPr lang="en-MY" sz="900" dirty="0">
                <a:solidFill>
                  <a:schemeClr val="tx1">
                    <a:lumMod val="85000"/>
                    <a:lumOff val="15000"/>
                  </a:schemeClr>
                </a:solidFill>
              </a:rPr>
              <a:t>  Kembali -&gt; SCR_KERUSI_TAMAN_MAIN (senarai contoh komponen).</a:t>
            </a:r>
          </a:p>
          <a:p>
            <a:r>
              <a:rPr lang="en-MY" sz="900" dirty="0">
                <a:solidFill>
                  <a:schemeClr val="tx1">
                    <a:lumMod val="85000"/>
                    <a:lumOff val="15000"/>
                  </a:schemeClr>
                </a:solidFill>
              </a:rPr>
              <a:t>  0/4 spesifikasi dilihat.</a:t>
            </a:r>
          </a:p>
          <a:p>
            <a:r>
              <a:rPr lang="en-MY" sz="900" b="1" dirty="0">
                <a:solidFill>
                  <a:schemeClr val="tx1">
                    <a:lumMod val="85000"/>
                    <a:lumOff val="15000"/>
                  </a:schemeClr>
                </a:solidFill>
              </a:rPr>
              <a:t>IDENTITI SUMBER:</a:t>
            </a:r>
          </a:p>
          <a:p>
            <a:r>
              <a:rPr lang="en-MY" sz="900" dirty="0">
                <a:solidFill>
                  <a:schemeClr val="tx1">
                    <a:lumMod val="85000"/>
                    <a:lumOff val="15000"/>
                  </a:schemeClr>
                </a:solidFill>
              </a:rPr>
              <a:t>  4 item interaksi daripada SATU baris sumber: K5-PL06-T03-B02-KERUSI-TAMAN-ROW-01</a:t>
            </a:r>
          </a:p>
          <a:p>
            <a:r>
              <a:rPr lang="en-MY" sz="900" dirty="0">
                <a:solidFill>
                  <a:schemeClr val="tx1">
                    <a:lumMod val="85000"/>
                    <a:lumOff val="15000"/>
                  </a:schemeClr>
                </a:solidFill>
              </a:rPr>
              <a:t>  Tiada baris sumber baharu dicipta.</a:t>
            </a:r>
          </a:p>
          <a:p>
            <a:r>
              <a:rPr lang="en-MY" sz="900" dirty="0">
                <a:solidFill>
                  <a:schemeClr val="tx1">
                    <a:lumMod val="85000"/>
                    <a:lumOff val="15000"/>
                  </a:schemeClr>
                </a:solidFill>
              </a:rPr>
              <a:t>STATUS KEPUTUSAN: B02-D-03</a:t>
            </a:r>
          </a:p>
          <a:p>
            <a:r>
              <a:rPr lang="en-MY" sz="900" dirty="0">
                <a:solidFill>
                  <a:schemeClr val="tx1">
                    <a:lumMod val="85000"/>
                    <a:lumOff val="15000"/>
                  </a:schemeClr>
                </a:solidFill>
              </a:rPr>
              <a:t>STATUS BELUM SELESAI: NONE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Kerusi Kayu Keras</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Kerusi Taman</a:t>
            </a:r>
          </a:p>
        </p:txBody>
      </p:sp>
      <p:sp>
        <p:nvSpPr>
          <p:cNvPr id="20" name="ExHead"/>
          <p:cNvSpPr txBox="1"/>
          <p:nvPr/>
        </p:nvSpPr>
        <p:spPr>
          <a:xfrm>
            <a:off x="723930" y="1115568"/>
            <a:ext cx="10744200" cy="402336"/>
          </a:xfrm>
          <a:prstGeom prst="rect">
            <a:avLst/>
          </a:prstGeom>
          <a:noFill/>
        </p:spPr>
        <p:txBody>
          <a:bodyPr wrap="square">
            <a:noAutofit/>
          </a:bodyPr>
          <a:lstStyle/>
          <a:p>
            <a:pPr/>
            <a:r>
              <a:rPr lang="en-MY" sz="2200" b="1" dirty="0">
                <a:solidFill>
                  <a:schemeClr val="tx1">
                    <a:lumMod val="85000"/>
                    <a:lumOff val="15000"/>
                  </a:schemeClr>
                </a:solidFill>
              </a:rPr>
              <a:t>Kerusi Kayu Keras</a:t>
            </a:r>
          </a:p>
        </p:txBody>
      </p:sp>
      <p:sp>
        <p:nvSpPr>
          <p:cNvPr id="25" name="Instr"/>
          <p:cNvSpPr txBox="1"/>
          <p:nvPr/>
        </p:nvSpPr>
        <p:spPr>
          <a:xfrm>
            <a:off x="723930" y="1609344"/>
            <a:ext cx="10744200" cy="365760"/>
          </a:xfrm>
          <a:prstGeom prst="rect">
            <a:avLst/>
          </a:prstGeom>
          <a:noFill/>
        </p:spPr>
        <p:txBody>
          <a:bodyPr wrap="square">
            <a:noAutofit/>
          </a:bodyPr>
          <a:lstStyle/>
          <a:p>
            <a:pPr algn="ctr"/>
            <a:r>
              <a:rPr lang="en-MY" sz="1500" dirty="0">
                <a:solidFill>
                  <a:schemeClr val="tx1">
                    <a:lumMod val="85000"/>
                    <a:lumOff val="15000"/>
                  </a:schemeClr>
                </a:solidFill>
              </a:rPr>
              <a:t>Klik pada setiap spesifikasi untuk penjelasan lanjut.</a:t>
            </a:r>
          </a:p>
        </p:txBody>
      </p:sp>
      <p:sp>
        <p:nvSpPr>
          <p:cNvPr id="40" name="ItemCard"/>
          <p:cNvSpPr txBox="1"/>
          <p:nvPr/>
        </p:nvSpPr>
        <p:spPr>
          <a:xfrm>
            <a:off x="723885" y="2103120"/>
            <a:ext cx="2398014" cy="969264"/>
          </a:xfrm>
          <a:prstGeom prst="rect">
            <a:avLst/>
          </a:prstGeom>
          <a:solidFill>
            <a:srgbClr val="E8F5E9"/>
          </a:solidFill>
          <a:ln w="28575">
            <a:solidFill>
              <a:srgbClr val="2E7D32"/>
            </a:solidFill>
          </a:ln>
        </p:spPr>
        <p:txBody>
          <a:bodyPr wrap="square" anchor="ctr">
            <a:noAutofit/>
          </a:bodyPr>
          <a:lstStyle/>
          <a:p>
            <a:pPr algn="ctr"/>
            <a:r>
              <a:rPr lang="en-MY" sz="1350" b="1" dirty="0">
                <a:solidFill>
                  <a:schemeClr val="tx1">
                    <a:lumMod val="85000"/>
                    <a:lumOff val="15000"/>
                  </a:schemeClr>
                </a:solidFill>
              </a:rPr>
              <a:t>Bahan</a:t>
            </a:r>
          </a:p>
        </p:txBody>
      </p:sp>
      <p:sp>
        <p:nvSpPr>
          <p:cNvPr id="41" name="Tick"/>
          <p:cNvSpPr/>
          <p:nvPr/>
        </p:nvSpPr>
        <p:spPr>
          <a:xfrm>
            <a:off x="2719563" y="218541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2" name="ItemCard"/>
          <p:cNvSpPr txBox="1"/>
          <p:nvPr/>
        </p:nvSpPr>
        <p:spPr>
          <a:xfrm>
            <a:off x="3505947" y="2103120"/>
            <a:ext cx="2398014" cy="969264"/>
          </a:xfrm>
          <a:prstGeom prst="rect">
            <a:avLst/>
          </a:prstGeom>
          <a:solidFill>
            <a:srgbClr val="F2F2F2"/>
          </a:solidFill>
          <a:ln w="12700">
            <a:solidFill>
              <a:srgbClr val="404040"/>
            </a:solidFill>
          </a:ln>
        </p:spPr>
        <p:txBody>
          <a:bodyPr wrap="square" anchor="ctr">
            <a:noAutofit/>
          </a:bodyPr>
          <a:lstStyle/>
          <a:p>
            <a:pPr algn="ctr"/>
            <a:r>
              <a:rPr lang="en-MY" sz="1350" b="1" dirty="0">
                <a:solidFill>
                  <a:schemeClr val="tx1">
                    <a:lumMod val="85000"/>
                    <a:lumOff val="15000"/>
                  </a:schemeClr>
                </a:solidFill>
              </a:rPr>
              <a:t>Dimensi</a:t>
            </a:r>
          </a:p>
        </p:txBody>
      </p:sp>
      <p:sp>
        <p:nvSpPr>
          <p:cNvPr id="43" name="ItemCard"/>
          <p:cNvSpPr txBox="1"/>
          <p:nvPr/>
        </p:nvSpPr>
        <p:spPr>
          <a:xfrm>
            <a:off x="6288009" y="2103120"/>
            <a:ext cx="2398014" cy="969264"/>
          </a:xfrm>
          <a:prstGeom prst="rect">
            <a:avLst/>
          </a:prstGeom>
          <a:solidFill>
            <a:srgbClr val="F2F2F2"/>
          </a:solidFill>
          <a:ln w="12700">
            <a:solidFill>
              <a:srgbClr val="404040"/>
            </a:solidFill>
          </a:ln>
        </p:spPr>
        <p:txBody>
          <a:bodyPr wrap="square" anchor="ctr">
            <a:noAutofit/>
          </a:bodyPr>
          <a:lstStyle/>
          <a:p>
            <a:pPr algn="ctr"/>
            <a:r>
              <a:rPr lang="en-MY" sz="1350" b="1" dirty="0">
                <a:solidFill>
                  <a:schemeClr val="tx1">
                    <a:lumMod val="85000"/>
                    <a:lumOff val="15000"/>
                  </a:schemeClr>
                </a:solidFill>
              </a:rPr>
              <a:t>Penyambungan</a:t>
            </a:r>
          </a:p>
        </p:txBody>
      </p:sp>
      <p:sp>
        <p:nvSpPr>
          <p:cNvPr id="44" name="ItemCard"/>
          <p:cNvSpPr txBox="1"/>
          <p:nvPr/>
        </p:nvSpPr>
        <p:spPr>
          <a:xfrm>
            <a:off x="9070071" y="2103120"/>
            <a:ext cx="2398014" cy="969264"/>
          </a:xfrm>
          <a:prstGeom prst="rect">
            <a:avLst/>
          </a:prstGeom>
          <a:solidFill>
            <a:srgbClr val="F2F2F2"/>
          </a:solidFill>
          <a:ln w="12700">
            <a:solidFill>
              <a:srgbClr val="404040"/>
            </a:solidFill>
          </a:ln>
        </p:spPr>
        <p:txBody>
          <a:bodyPr wrap="square" anchor="ctr">
            <a:noAutofit/>
          </a:bodyPr>
          <a:lstStyle/>
          <a:p>
            <a:pPr algn="ctr"/>
            <a:r>
              <a:rPr lang="en-MY" sz="1350" b="1" dirty="0">
                <a:solidFill>
                  <a:schemeClr val="tx1">
                    <a:lumMod val="85000"/>
                    <a:lumOff val="15000"/>
                  </a:schemeClr>
                </a:solidFill>
              </a:rPr>
              <a:t>Kemasan</a:t>
            </a:r>
          </a:p>
        </p:txBody>
      </p:sp>
      <p:sp>
        <p:nvSpPr>
          <p:cNvPr id="70" name="ExContoh"/>
          <p:cNvSpPr txBox="1"/>
          <p:nvPr/>
        </p:nvSpPr>
        <p:spPr>
          <a:xfrm>
            <a:off x="723930" y="3383280"/>
            <a:ext cx="10744200" cy="365760"/>
          </a:xfrm>
          <a:prstGeom prst="rect">
            <a:avLst/>
          </a:prstGeom>
          <a:noFill/>
        </p:spPr>
        <p:txBody>
          <a:bodyPr wrap="square">
            <a:noAutofit/>
          </a:bodyPr>
          <a:lstStyle/>
          <a:p>
            <a:pPr/>
            <a:r>
              <a:rPr lang="en-MY" sz="1400" b="1" dirty="0">
                <a:solidFill>
                  <a:schemeClr val="tx1">
                    <a:lumMod val="85000"/>
                    <a:lumOff val="15000"/>
                  </a:schemeClr>
                </a:solidFill>
              </a:rPr>
              <a:t>Contoh: Jati, Cengal, Balau</a:t>
            </a:r>
          </a:p>
        </p:txBody>
      </p:sp>
      <p:sp>
        <p:nvSpPr>
          <p:cNvPr id="30" name="VisualDir"/>
          <p:cNvSpPr txBox="1"/>
          <p:nvPr/>
        </p:nvSpPr>
        <p:spPr>
          <a:xfrm>
            <a:off x="723930" y="3858768"/>
            <a:ext cx="10744200" cy="621792"/>
          </a:xfrm>
          <a:prstGeom prst="rect">
            <a:avLst/>
          </a:prstGeom>
          <a:noFill/>
        </p:spPr>
        <p:txBody>
          <a:bodyPr wrap="square">
            <a:noAutofit/>
          </a:bodyPr>
          <a:lstStyle/>
          <a:p>
            <a:pPr/>
            <a:r>
              <a:rPr lang="en-MY" sz="1100" dirty="0">
                <a:solidFill>
                  <a:srgbClr val="808080"/>
                </a:solidFill>
              </a:rPr>
              <a:t>[Visual: Foto jadual spesifikasi Kerusi Kayu Keras, modul ms 242. Aset K5PL06T03-B02-IMG-p242-x28. Tidak</a:t>
            </a:r>
          </a:p>
          <a:p>
            <a:pPr/>
            <a:r>
              <a:rPr lang="en-MY" sz="1100" dirty="0">
                <a:solidFill>
                  <a:srgbClr val="808080"/>
                </a:solidFill>
              </a:rPr>
              <a:t>dibenamkan.]</a:t>
            </a:r>
          </a:p>
        </p:txBody>
      </p:sp>
      <p:sp>
        <p:nvSpPr>
          <p:cNvPr id="200" name="PopupPanel"/>
          <p:cNvSpPr txBox="1"/>
          <p:nvPr/>
        </p:nvSpPr>
        <p:spPr>
          <a:xfrm>
            <a:off x="1234440" y="1737360"/>
            <a:ext cx="9723090" cy="2002536"/>
          </a:xfrm>
          <a:prstGeom prst="rect">
            <a:avLst/>
          </a:prstGeom>
          <a:solidFill>
            <a:srgbClr val="FFFFFF"/>
          </a:solidFill>
          <a:ln w="28575">
            <a:solidFill>
              <a:srgbClr val="1F4E79"/>
            </a:solidFill>
          </a:ln>
        </p:spPr>
        <p:txBody>
          <a:bodyPr wrap="square">
            <a:noAutofit/>
          </a:bodyPr>
          <a:lstStyle/>
        </p:txBody>
      </p:sp>
      <p:sp>
        <p:nvSpPr>
          <p:cNvPr id="202" name="PopupKicker"/>
          <p:cNvSpPr txBox="1"/>
          <p:nvPr/>
        </p:nvSpPr>
        <p:spPr>
          <a:xfrm>
            <a:off x="1490472" y="1883664"/>
            <a:ext cx="8534370" cy="201168"/>
          </a:xfrm>
          <a:prstGeom prst="rect">
            <a:avLst/>
          </a:prstGeom>
          <a:noFill/>
        </p:spPr>
        <p:txBody>
          <a:bodyPr wrap="square">
            <a:noAutofit/>
          </a:bodyPr>
          <a:lstStyle/>
          <a:p>
            <a:pPr/>
            <a:r>
              <a:rPr lang="en-MY" sz="1100" b="1" dirty="0">
                <a:solidFill>
                  <a:srgbClr val="7F6000"/>
                </a:solidFill>
              </a:rPr>
              <a:t>Kerusi Kayu Keras</a:t>
            </a:r>
          </a:p>
        </p:txBody>
      </p:sp>
      <p:sp>
        <p:nvSpPr>
          <p:cNvPr id="201" name="PopupTitle"/>
          <p:cNvSpPr txBox="1"/>
          <p:nvPr/>
        </p:nvSpPr>
        <p:spPr>
          <a:xfrm>
            <a:off x="1490472" y="2103120"/>
            <a:ext cx="8534370" cy="365760"/>
          </a:xfrm>
          <a:prstGeom prst="rect">
            <a:avLst/>
          </a:prstGeom>
          <a:noFill/>
        </p:spPr>
        <p:txBody>
          <a:bodyPr wrap="square">
            <a:noAutofit/>
          </a:bodyPr>
          <a:lstStyle/>
          <a:p>
            <a:pPr/>
            <a:r>
              <a:rPr lang="en-MY" sz="2000" b="1" dirty="0">
                <a:solidFill>
                  <a:schemeClr val="tx1">
                    <a:lumMod val="85000"/>
                    <a:lumOff val="15000"/>
                  </a:schemeClr>
                </a:solidFill>
              </a:rPr>
              <a:t>Bahan</a:t>
            </a:r>
          </a:p>
        </p:txBody>
      </p:sp>
      <p:sp>
        <p:nvSpPr>
          <p:cNvPr id="260" name="CloseIcon"/>
          <p:cNvSpPr/>
          <p:nvPr/>
        </p:nvSpPr>
        <p:spPr>
          <a:xfrm>
            <a:off x="10317450" y="1901952"/>
            <a:ext cx="384048" cy="384048"/>
          </a:xfrm>
          <a:prstGeom prst="ellipse">
            <a:avLst/>
          </a:prstGeom>
          <a:solidFill>
            <a:srgbClr val="1F4E79"/>
          </a:solidFill>
          <a:ln>
            <a:noFill/>
          </a:ln>
        </p:spPr>
        <p:txBody>
          <a:bodyPr/>
          <a:lstStyle/>
          <a:p>
            <a:endParaRPr lang="en-MY"/>
          </a:p>
        </p:txBody>
      </p:sp>
      <p:sp>
        <p:nvSpPr>
          <p:cNvPr id="261" name="CloseGlyph"/>
          <p:cNvSpPr/>
          <p:nvPr/>
        </p:nvSpPr>
        <p:spPr>
          <a:xfrm>
            <a:off x="10421142" y="2005645"/>
            <a:ext cx="176662" cy="176662"/>
          </a:xfrm>
          <a:custGeom>
            <a:avLst/>
            <a:gdLst/>
            <a:ahLst/>
            <a:cxnLst/>
            <a:rect l="0" t="0" r="r" b="b"/>
            <a:pathLst>
              <a:path w="100" h="100">
                <a:moveTo>
                  <a:pt x="25" y="0"/>
                </a:moveTo>
                <a:lnTo>
                  <a:pt x="50" y="25"/>
                </a:lnTo>
                <a:lnTo>
                  <a:pt x="75" y="0"/>
                </a:lnTo>
                <a:lnTo>
                  <a:pt x="100" y="25"/>
                </a:lnTo>
                <a:lnTo>
                  <a:pt x="75" y="50"/>
                </a:lnTo>
                <a:lnTo>
                  <a:pt x="100" y="75"/>
                </a:lnTo>
                <a:lnTo>
                  <a:pt x="75" y="100"/>
                </a:lnTo>
                <a:lnTo>
                  <a:pt x="50" y="75"/>
                </a:lnTo>
                <a:lnTo>
                  <a:pt x="25" y="100"/>
                </a:lnTo>
                <a:lnTo>
                  <a:pt x="0" y="75"/>
                </a:lnTo>
                <a:lnTo>
                  <a:pt x="25" y="50"/>
                </a:lnTo>
                <a:lnTo>
                  <a:pt x="0" y="25"/>
                </a:lnTo>
                <a:close/>
              </a:path>
            </a:pathLst>
          </a:custGeom>
          <a:solidFill>
            <a:srgbClr val="FFFFFF"/>
          </a:solidFill>
          <a:ln>
            <a:noFill/>
          </a:ln>
        </p:spPr>
        <p:txBody>
          <a:bodyPr/>
          <a:lstStyle/>
          <a:p>
            <a:endParaRPr lang="en-MY"/>
          </a:p>
        </p:txBody>
      </p:sp>
      <p:sp>
        <p:nvSpPr>
          <p:cNvPr id="211" name="FBody"/>
          <p:cNvSpPr txBox="1"/>
          <p:nvPr/>
        </p:nvSpPr>
        <p:spPr>
          <a:xfrm>
            <a:off x="1490472" y="2688336"/>
            <a:ext cx="9211026" cy="429768"/>
          </a:xfrm>
          <a:prstGeom prst="rect">
            <a:avLst/>
          </a:prstGeom>
          <a:noFill/>
        </p:spPr>
        <p:txBody>
          <a:bodyPr wrap="square">
            <a:noAutofit/>
          </a:bodyPr>
          <a:lstStyle/>
          <a:p>
            <a:pPr/>
            <a:r>
              <a:rPr lang="en-MY" sz="1250" dirty="0">
                <a:solidFill>
                  <a:schemeClr val="tx1">
                    <a:lumMod val="85000"/>
                    <a:lumOff val="15000"/>
                  </a:schemeClr>
                </a:solidFill>
              </a:rPr>
              <a:t>Kayu padu gred perabot luar dengan ketahanan semula jadi tinggi terhadap serangga dan reput,</a:t>
            </a:r>
          </a:p>
          <a:p>
            <a:pPr/>
            <a:r>
              <a:rPr lang="en-MY" sz="1250" dirty="0">
                <a:solidFill>
                  <a:schemeClr val="tx1">
                    <a:lumMod val="85000"/>
                    <a:lumOff val="15000"/>
                  </a:schemeClr>
                </a:solidFill>
              </a:rPr>
              <a:t>atau kayu dirawat tekanan (pressure-treated).</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Kerusi Taman — Kerusi Kayu Keras</a:t>
            </a:r>
          </a:p>
          <a:p>
            <a:r>
              <a:rPr lang="en-MY" sz="900" dirty="0">
                <a:solidFill>
                  <a:schemeClr val="tx1">
                    <a:lumMod val="85000"/>
                    <a:lumOff val="15000"/>
                  </a:schemeClr>
                </a:solidFill>
              </a:rPr>
              <a:t>KELUARGA PELAKSANAAN: FAMILY_P1</a:t>
            </a:r>
          </a:p>
          <a:p>
            <a:r>
              <a:rPr lang="en-MY" sz="900" dirty="0">
                <a:solidFill>
                  <a:schemeClr val="tx1">
                    <a:lumMod val="85000"/>
                    <a:lumOff val="15000"/>
                  </a:schemeClr>
                </a:solidFill>
              </a:rPr>
              <a:t>PERANAN HALAMAN SEMAKAN: SPECIFICATION_POPUP</a:t>
            </a:r>
          </a:p>
          <a:p>
            <a:r>
              <a:rPr lang="en-MY" sz="900" dirty="0">
                <a:solidFill>
                  <a:schemeClr val="tx1">
                    <a:lumMod val="85000"/>
                    <a:lumOff val="15000"/>
                  </a:schemeClr>
                </a:solidFill>
              </a:rPr>
              <a:t/>
            </a:r>
          </a:p>
          <a:p>
            <a:r>
              <a:rPr lang="en-MY" sz="900" dirty="0">
                <a:solidFill>
                  <a:schemeClr val="tx1">
                    <a:lumMod val="85000"/>
                    <a:lumOff val="15000"/>
                  </a:schemeClr>
                </a:solidFill>
              </a:rPr>
              <a:t>BUKTI: Family P1 Level 2 specification popup 1 of 4</a:t>
            </a:r>
          </a:p>
          <a:p>
            <a:r>
              <a:rPr lang="en-MY" sz="900" dirty="0">
                <a:solidFill>
                  <a:schemeClr val="tx1">
                    <a:lumMod val="85000"/>
                    <a:lumOff val="15000"/>
                  </a:schemeClr>
                </a:solidFill>
              </a:rPr>
              <a:t>POLISI NOTA: CONTENT_VO_NOTES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NO_CONTROL  [none]</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CLOSE_ICON</a:t>
            </a:r>
          </a:p>
          <a:p>
            <a:r>
              <a:rPr lang="en-MY" sz="900" dirty="0">
                <a:solidFill>
                  <a:schemeClr val="tx1">
                    <a:lumMod val="85000"/>
                    <a:lumOff val="15000"/>
                  </a:schemeClr>
                </a:solidFill>
              </a:rPr>
              <a:t>  return_target = SCR_KERUSI_TAMAN_EX01_DETAIL</a:t>
            </a:r>
          </a:p>
          <a:p>
            <a:r>
              <a:rPr lang="en-MY" sz="900" dirty="0">
                <a:solidFill>
                  <a:schemeClr val="tx1">
                    <a:lumMod val="85000"/>
                    <a:lumOff val="15000"/>
                  </a:schemeClr>
                </a:solidFill>
              </a:rPr>
              <a:t>SKOP SELESAI: ITEM</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2 · lapisan skrin 3</a:t>
            </a:r>
          </a:p>
          <a:p>
            <a:r>
              <a:rPr lang="en-MY" sz="900" dirty="0">
                <a:solidFill>
                  <a:schemeClr val="tx1">
                    <a:lumMod val="85000"/>
                    <a:lumOff val="15000"/>
                  </a:schemeClr>
                </a:solidFill>
              </a:rPr>
              <a:t>INDUK: SCR_KERUSI_TAMAN_EX01_DETAIL</a:t>
            </a:r>
          </a:p>
          <a:p>
            <a:r>
              <a:rPr lang="en-MY" sz="900" b="1" dirty="0">
                <a:solidFill>
                  <a:schemeClr val="tx1">
                    <a:lumMod val="85000"/>
                    <a:lumOff val="15000"/>
                  </a:schemeClr>
                </a:solidFill>
              </a:rPr>
              <a:t>SUMBER:</a:t>
            </a:r>
          </a:p>
          <a:p>
            <a:r>
              <a:rPr lang="en-MY" sz="900" dirty="0">
                <a:solidFill>
                  <a:schemeClr val="tx1">
                    <a:lumMod val="85000"/>
                    <a:lumOff val="15000"/>
                  </a:schemeClr>
                </a:solidFill>
              </a:rPr>
              <a:t>  K5-PL06-T03-B02-KERUSI-TAMAN-ROW-01</a:t>
            </a:r>
          </a:p>
          <a:p>
            <a:r>
              <a:rPr lang="en-MY" sz="900" dirty="0">
                <a:solidFill>
                  <a:schemeClr val="tx1">
                    <a:lumMod val="85000"/>
                    <a:lumOff val="15000"/>
                  </a:schemeClr>
                </a:solidFill>
              </a:rPr>
              <a:t>    ms 242 / fizikal 261</a:t>
            </a:r>
          </a:p>
          <a:p>
            <a:r>
              <a:rPr lang="en-MY" sz="900" b="1" dirty="0">
                <a:solidFill>
                  <a:schemeClr val="tx1">
                    <a:lumMod val="85000"/>
                    <a:lumOff val="15000"/>
                  </a:schemeClr>
                </a:solidFill>
              </a:rPr>
              <a:t>ITEM INTERAKSI:</a:t>
            </a:r>
          </a:p>
          <a:p>
            <a:r>
              <a:rPr lang="en-MY" sz="900" dirty="0">
                <a:solidFill>
                  <a:schemeClr val="tx1">
                    <a:lumMod val="85000"/>
                    <a:lumOff val="15000"/>
                  </a:schemeClr>
                </a:solidFill>
              </a:rPr>
              <a:t>  II_KERUSI_TAMAN_R01_SPEC01  &lt;-  K5-PL06-T03-B02-KERUSI-TAMAN-ROW-01</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Skrin penuh ini ialah hasil Level 1 (klik contoh).</a:t>
            </a:r>
          </a:p>
          <a:p>
            <a:r>
              <a:rPr lang="en-MY" sz="900" dirty="0">
                <a:solidFill>
                  <a:schemeClr val="tx1">
                    <a:lumMod val="85000"/>
                    <a:lumOff val="15000"/>
                  </a:schemeClr>
                </a:solidFill>
              </a:rPr>
              <a:t>  Klik spesifikasi = Bariah Level 2. Membuka popup (STATE).</a:t>
            </a:r>
          </a:p>
          <a:p>
            <a:r>
              <a:rPr lang="en-MY" sz="900" dirty="0">
                <a:solidFill>
                  <a:schemeClr val="tx1">
                    <a:lumMod val="85000"/>
                    <a:lumOff val="15000"/>
                  </a:schemeClr>
                </a:solidFill>
              </a:rPr>
              <a:t>  Ikon tutup kembali ke skrin contoh penuh yang SAMA.</a:t>
            </a:r>
          </a:p>
          <a:p>
            <a:r>
              <a:rPr lang="en-MY" sz="900" dirty="0">
                <a:solidFill>
                  <a:schemeClr val="tx1">
                    <a:lumMod val="85000"/>
                    <a:lumOff val="15000"/>
                  </a:schemeClr>
                </a:solidFill>
              </a:rPr>
              <a:t>  Kembali -&gt; SCR_KERUSI_TAMAN_EX01_DETAIL (senarai contoh komponen).</a:t>
            </a:r>
          </a:p>
          <a:p>
            <a:r>
              <a:rPr lang="en-MY" sz="900" dirty="0">
                <a:solidFill>
                  <a:schemeClr val="tx1">
                    <a:lumMod val="85000"/>
                    <a:lumOff val="15000"/>
                  </a:schemeClr>
                </a:solidFill>
              </a:rPr>
              <a:t>  1/4 spesifikasi dilihat.</a:t>
            </a:r>
          </a:p>
          <a:p>
            <a:r>
              <a:rPr lang="en-MY" sz="900" b="1" dirty="0">
                <a:solidFill>
                  <a:schemeClr val="tx1">
                    <a:lumMod val="85000"/>
                    <a:lumOff val="15000"/>
                  </a:schemeClr>
                </a:solidFill>
              </a:rPr>
              <a:t>IDENTITI SUMBER:</a:t>
            </a:r>
          </a:p>
          <a:p>
            <a:r>
              <a:rPr lang="en-MY" sz="900" dirty="0">
                <a:solidFill>
                  <a:schemeClr val="tx1">
                    <a:lumMod val="85000"/>
                    <a:lumOff val="15000"/>
                  </a:schemeClr>
                </a:solidFill>
              </a:rPr>
              <a:t>  4 item interaksi daripada SATU baris sumber: K5-PL06-T03-B02-KERUSI-TAMAN-ROW-01</a:t>
            </a:r>
          </a:p>
          <a:p>
            <a:r>
              <a:rPr lang="en-MY" sz="900" dirty="0">
                <a:solidFill>
                  <a:schemeClr val="tx1">
                    <a:lumMod val="85000"/>
                    <a:lumOff val="15000"/>
                  </a:schemeClr>
                </a:solidFill>
              </a:rPr>
              <a:t>  Tiada baris sumber baharu dicipta.</a:t>
            </a:r>
          </a:p>
          <a:p>
            <a:r>
              <a:rPr lang="en-MY" sz="900" dirty="0">
                <a:solidFill>
                  <a:schemeClr val="tx1">
                    <a:lumMod val="85000"/>
                    <a:lumOff val="15000"/>
                  </a:schemeClr>
                </a:solidFill>
              </a:rPr>
              <a:t>STATUS KEPUTUSAN: B02-D-03, B02-D-05</a:t>
            </a:r>
          </a:p>
          <a:p>
            <a:r>
              <a:rPr lang="en-MY" sz="900" dirty="0">
                <a:solidFill>
                  <a:schemeClr val="tx1">
                    <a:lumMod val="85000"/>
                    <a:lumOff val="15000"/>
                  </a:schemeClr>
                </a:solidFill>
              </a:rPr>
              <a:t>STATUS BELUM SELESAI: NONE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Kerusi Kayu Keras</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Kerusi Taman</a:t>
            </a:r>
          </a:p>
        </p:txBody>
      </p:sp>
      <p:sp>
        <p:nvSpPr>
          <p:cNvPr id="20" name="ExHead"/>
          <p:cNvSpPr txBox="1"/>
          <p:nvPr/>
        </p:nvSpPr>
        <p:spPr>
          <a:xfrm>
            <a:off x="723930" y="1115568"/>
            <a:ext cx="10744200" cy="402336"/>
          </a:xfrm>
          <a:prstGeom prst="rect">
            <a:avLst/>
          </a:prstGeom>
          <a:noFill/>
        </p:spPr>
        <p:txBody>
          <a:bodyPr wrap="square">
            <a:noAutofit/>
          </a:bodyPr>
          <a:lstStyle/>
          <a:p>
            <a:pPr/>
            <a:r>
              <a:rPr lang="en-MY" sz="2200" b="1" dirty="0">
                <a:solidFill>
                  <a:schemeClr val="tx1">
                    <a:lumMod val="85000"/>
                    <a:lumOff val="15000"/>
                  </a:schemeClr>
                </a:solidFill>
              </a:rPr>
              <a:t>Kerusi Kayu Keras</a:t>
            </a:r>
          </a:p>
        </p:txBody>
      </p:sp>
      <p:sp>
        <p:nvSpPr>
          <p:cNvPr id="25" name="Instr"/>
          <p:cNvSpPr txBox="1"/>
          <p:nvPr/>
        </p:nvSpPr>
        <p:spPr>
          <a:xfrm>
            <a:off x="723930" y="1609344"/>
            <a:ext cx="10744200" cy="365760"/>
          </a:xfrm>
          <a:prstGeom prst="rect">
            <a:avLst/>
          </a:prstGeom>
          <a:noFill/>
        </p:spPr>
        <p:txBody>
          <a:bodyPr wrap="square">
            <a:noAutofit/>
          </a:bodyPr>
          <a:lstStyle/>
          <a:p>
            <a:pPr algn="ctr"/>
            <a:r>
              <a:rPr lang="en-MY" sz="1500" dirty="0">
                <a:solidFill>
                  <a:schemeClr val="tx1">
                    <a:lumMod val="85000"/>
                    <a:lumOff val="15000"/>
                  </a:schemeClr>
                </a:solidFill>
              </a:rPr>
              <a:t>Klik pada setiap spesifikasi untuk penjelasan lanjut.</a:t>
            </a:r>
          </a:p>
        </p:txBody>
      </p:sp>
      <p:sp>
        <p:nvSpPr>
          <p:cNvPr id="40" name="ItemCard"/>
          <p:cNvSpPr txBox="1"/>
          <p:nvPr/>
        </p:nvSpPr>
        <p:spPr>
          <a:xfrm>
            <a:off x="723885" y="2103120"/>
            <a:ext cx="2398014" cy="969264"/>
          </a:xfrm>
          <a:prstGeom prst="rect">
            <a:avLst/>
          </a:prstGeom>
          <a:solidFill>
            <a:srgbClr val="E8F5E9"/>
          </a:solidFill>
          <a:ln w="28575">
            <a:solidFill>
              <a:srgbClr val="2E7D32"/>
            </a:solidFill>
          </a:ln>
        </p:spPr>
        <p:txBody>
          <a:bodyPr wrap="square" anchor="ctr">
            <a:noAutofit/>
          </a:bodyPr>
          <a:lstStyle/>
          <a:p>
            <a:pPr algn="ctr"/>
            <a:r>
              <a:rPr lang="en-MY" sz="1350" b="1" dirty="0">
                <a:solidFill>
                  <a:schemeClr val="tx1">
                    <a:lumMod val="85000"/>
                    <a:lumOff val="15000"/>
                  </a:schemeClr>
                </a:solidFill>
              </a:rPr>
              <a:t>Bahan</a:t>
            </a:r>
          </a:p>
        </p:txBody>
      </p:sp>
      <p:sp>
        <p:nvSpPr>
          <p:cNvPr id="41" name="Tick"/>
          <p:cNvSpPr/>
          <p:nvPr/>
        </p:nvSpPr>
        <p:spPr>
          <a:xfrm>
            <a:off x="2719563" y="218541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2" name="ItemCard"/>
          <p:cNvSpPr txBox="1"/>
          <p:nvPr/>
        </p:nvSpPr>
        <p:spPr>
          <a:xfrm>
            <a:off x="3505947" y="2103120"/>
            <a:ext cx="2398014" cy="969264"/>
          </a:xfrm>
          <a:prstGeom prst="rect">
            <a:avLst/>
          </a:prstGeom>
          <a:solidFill>
            <a:srgbClr val="E8F5E9"/>
          </a:solidFill>
          <a:ln w="28575">
            <a:solidFill>
              <a:srgbClr val="2E7D32"/>
            </a:solidFill>
          </a:ln>
        </p:spPr>
        <p:txBody>
          <a:bodyPr wrap="square" anchor="ctr">
            <a:noAutofit/>
          </a:bodyPr>
          <a:lstStyle/>
          <a:p>
            <a:pPr algn="ctr"/>
            <a:r>
              <a:rPr lang="en-MY" sz="1350" b="1" dirty="0">
                <a:solidFill>
                  <a:schemeClr val="tx1">
                    <a:lumMod val="85000"/>
                    <a:lumOff val="15000"/>
                  </a:schemeClr>
                </a:solidFill>
              </a:rPr>
              <a:t>Dimensi</a:t>
            </a:r>
          </a:p>
        </p:txBody>
      </p:sp>
      <p:sp>
        <p:nvSpPr>
          <p:cNvPr id="43" name="Tick"/>
          <p:cNvSpPr/>
          <p:nvPr/>
        </p:nvSpPr>
        <p:spPr>
          <a:xfrm>
            <a:off x="5501625" y="218541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4" name="ItemCard"/>
          <p:cNvSpPr txBox="1"/>
          <p:nvPr/>
        </p:nvSpPr>
        <p:spPr>
          <a:xfrm>
            <a:off x="6288009" y="2103120"/>
            <a:ext cx="2398014" cy="969264"/>
          </a:xfrm>
          <a:prstGeom prst="rect">
            <a:avLst/>
          </a:prstGeom>
          <a:solidFill>
            <a:srgbClr val="F2F2F2"/>
          </a:solidFill>
          <a:ln w="12700">
            <a:solidFill>
              <a:srgbClr val="404040"/>
            </a:solidFill>
          </a:ln>
        </p:spPr>
        <p:txBody>
          <a:bodyPr wrap="square" anchor="ctr">
            <a:noAutofit/>
          </a:bodyPr>
          <a:lstStyle/>
          <a:p>
            <a:pPr algn="ctr"/>
            <a:r>
              <a:rPr lang="en-MY" sz="1350" b="1" dirty="0">
                <a:solidFill>
                  <a:schemeClr val="tx1">
                    <a:lumMod val="85000"/>
                    <a:lumOff val="15000"/>
                  </a:schemeClr>
                </a:solidFill>
              </a:rPr>
              <a:t>Penyambungan</a:t>
            </a:r>
          </a:p>
        </p:txBody>
      </p:sp>
      <p:sp>
        <p:nvSpPr>
          <p:cNvPr id="45" name="ItemCard"/>
          <p:cNvSpPr txBox="1"/>
          <p:nvPr/>
        </p:nvSpPr>
        <p:spPr>
          <a:xfrm>
            <a:off x="9070071" y="2103120"/>
            <a:ext cx="2398014" cy="969264"/>
          </a:xfrm>
          <a:prstGeom prst="rect">
            <a:avLst/>
          </a:prstGeom>
          <a:solidFill>
            <a:srgbClr val="F2F2F2"/>
          </a:solidFill>
          <a:ln w="12700">
            <a:solidFill>
              <a:srgbClr val="404040"/>
            </a:solidFill>
          </a:ln>
        </p:spPr>
        <p:txBody>
          <a:bodyPr wrap="square" anchor="ctr">
            <a:noAutofit/>
          </a:bodyPr>
          <a:lstStyle/>
          <a:p>
            <a:pPr algn="ctr"/>
            <a:r>
              <a:rPr lang="en-MY" sz="1350" b="1" dirty="0">
                <a:solidFill>
                  <a:schemeClr val="tx1">
                    <a:lumMod val="85000"/>
                    <a:lumOff val="15000"/>
                  </a:schemeClr>
                </a:solidFill>
              </a:rPr>
              <a:t>Kemasan</a:t>
            </a:r>
          </a:p>
        </p:txBody>
      </p:sp>
      <p:sp>
        <p:nvSpPr>
          <p:cNvPr id="70" name="ExContoh"/>
          <p:cNvSpPr txBox="1"/>
          <p:nvPr/>
        </p:nvSpPr>
        <p:spPr>
          <a:xfrm>
            <a:off x="723930" y="3383280"/>
            <a:ext cx="10744200" cy="365760"/>
          </a:xfrm>
          <a:prstGeom prst="rect">
            <a:avLst/>
          </a:prstGeom>
          <a:noFill/>
        </p:spPr>
        <p:txBody>
          <a:bodyPr wrap="square">
            <a:noAutofit/>
          </a:bodyPr>
          <a:lstStyle/>
          <a:p>
            <a:pPr/>
            <a:r>
              <a:rPr lang="en-MY" sz="1400" b="1" dirty="0">
                <a:solidFill>
                  <a:schemeClr val="tx1">
                    <a:lumMod val="85000"/>
                    <a:lumOff val="15000"/>
                  </a:schemeClr>
                </a:solidFill>
              </a:rPr>
              <a:t>Contoh: Jati, Cengal, Balau</a:t>
            </a:r>
          </a:p>
        </p:txBody>
      </p:sp>
      <p:sp>
        <p:nvSpPr>
          <p:cNvPr id="30" name="VisualDir"/>
          <p:cNvSpPr txBox="1"/>
          <p:nvPr/>
        </p:nvSpPr>
        <p:spPr>
          <a:xfrm>
            <a:off x="723930" y="3858768"/>
            <a:ext cx="10744200" cy="621792"/>
          </a:xfrm>
          <a:prstGeom prst="rect">
            <a:avLst/>
          </a:prstGeom>
          <a:noFill/>
        </p:spPr>
        <p:txBody>
          <a:bodyPr wrap="square">
            <a:noAutofit/>
          </a:bodyPr>
          <a:lstStyle/>
          <a:p>
            <a:pPr/>
            <a:r>
              <a:rPr lang="en-MY" sz="1100" dirty="0">
                <a:solidFill>
                  <a:srgbClr val="808080"/>
                </a:solidFill>
              </a:rPr>
              <a:t>[Visual: Foto jadual spesifikasi Kerusi Kayu Keras, modul ms 242. Aset K5PL06T03-B02-IMG-p242-x28. Tidak</a:t>
            </a:r>
          </a:p>
          <a:p>
            <a:pPr/>
            <a:r>
              <a:rPr lang="en-MY" sz="1100" dirty="0">
                <a:solidFill>
                  <a:srgbClr val="808080"/>
                </a:solidFill>
              </a:rPr>
              <a:t>dibenamkan.]</a:t>
            </a:r>
          </a:p>
        </p:txBody>
      </p:sp>
      <p:sp>
        <p:nvSpPr>
          <p:cNvPr id="200" name="PopupPanel"/>
          <p:cNvSpPr txBox="1"/>
          <p:nvPr/>
        </p:nvSpPr>
        <p:spPr>
          <a:xfrm>
            <a:off x="1234440" y="1737360"/>
            <a:ext cx="9723090" cy="1920240"/>
          </a:xfrm>
          <a:prstGeom prst="rect">
            <a:avLst/>
          </a:prstGeom>
          <a:solidFill>
            <a:srgbClr val="FFFFFF"/>
          </a:solidFill>
          <a:ln w="28575">
            <a:solidFill>
              <a:srgbClr val="1F4E79"/>
            </a:solidFill>
          </a:ln>
        </p:spPr>
        <p:txBody>
          <a:bodyPr wrap="square">
            <a:noAutofit/>
          </a:bodyPr>
          <a:lstStyle/>
        </p:txBody>
      </p:sp>
      <p:sp>
        <p:nvSpPr>
          <p:cNvPr id="202" name="PopupKicker"/>
          <p:cNvSpPr txBox="1"/>
          <p:nvPr/>
        </p:nvSpPr>
        <p:spPr>
          <a:xfrm>
            <a:off x="1490472" y="1883664"/>
            <a:ext cx="8534370" cy="201168"/>
          </a:xfrm>
          <a:prstGeom prst="rect">
            <a:avLst/>
          </a:prstGeom>
          <a:noFill/>
        </p:spPr>
        <p:txBody>
          <a:bodyPr wrap="square">
            <a:noAutofit/>
          </a:bodyPr>
          <a:lstStyle/>
          <a:p>
            <a:pPr/>
            <a:r>
              <a:rPr lang="en-MY" sz="1100" b="1" dirty="0">
                <a:solidFill>
                  <a:srgbClr val="7F6000"/>
                </a:solidFill>
              </a:rPr>
              <a:t>Kerusi Kayu Keras</a:t>
            </a:r>
          </a:p>
        </p:txBody>
      </p:sp>
      <p:sp>
        <p:nvSpPr>
          <p:cNvPr id="201" name="PopupTitle"/>
          <p:cNvSpPr txBox="1"/>
          <p:nvPr/>
        </p:nvSpPr>
        <p:spPr>
          <a:xfrm>
            <a:off x="1490472" y="2103120"/>
            <a:ext cx="8534370" cy="365760"/>
          </a:xfrm>
          <a:prstGeom prst="rect">
            <a:avLst/>
          </a:prstGeom>
          <a:noFill/>
        </p:spPr>
        <p:txBody>
          <a:bodyPr wrap="square">
            <a:noAutofit/>
          </a:bodyPr>
          <a:lstStyle/>
          <a:p>
            <a:pPr/>
            <a:r>
              <a:rPr lang="en-MY" sz="2000" b="1" dirty="0">
                <a:solidFill>
                  <a:schemeClr val="tx1">
                    <a:lumMod val="85000"/>
                    <a:lumOff val="15000"/>
                  </a:schemeClr>
                </a:solidFill>
              </a:rPr>
              <a:t>Dimensi</a:t>
            </a:r>
          </a:p>
        </p:txBody>
      </p:sp>
      <p:sp>
        <p:nvSpPr>
          <p:cNvPr id="260" name="CloseIcon"/>
          <p:cNvSpPr/>
          <p:nvPr/>
        </p:nvSpPr>
        <p:spPr>
          <a:xfrm>
            <a:off x="10317450" y="1901952"/>
            <a:ext cx="384048" cy="384048"/>
          </a:xfrm>
          <a:prstGeom prst="ellipse">
            <a:avLst/>
          </a:prstGeom>
          <a:solidFill>
            <a:srgbClr val="1F4E79"/>
          </a:solidFill>
          <a:ln>
            <a:noFill/>
          </a:ln>
        </p:spPr>
        <p:txBody>
          <a:bodyPr/>
          <a:lstStyle/>
          <a:p>
            <a:endParaRPr lang="en-MY"/>
          </a:p>
        </p:txBody>
      </p:sp>
      <p:sp>
        <p:nvSpPr>
          <p:cNvPr id="261" name="CloseGlyph"/>
          <p:cNvSpPr/>
          <p:nvPr/>
        </p:nvSpPr>
        <p:spPr>
          <a:xfrm>
            <a:off x="10421142" y="2005645"/>
            <a:ext cx="176662" cy="176662"/>
          </a:xfrm>
          <a:custGeom>
            <a:avLst/>
            <a:gdLst/>
            <a:ahLst/>
            <a:cxnLst/>
            <a:rect l="0" t="0" r="r" b="b"/>
            <a:pathLst>
              <a:path w="100" h="100">
                <a:moveTo>
                  <a:pt x="25" y="0"/>
                </a:moveTo>
                <a:lnTo>
                  <a:pt x="50" y="25"/>
                </a:lnTo>
                <a:lnTo>
                  <a:pt x="75" y="0"/>
                </a:lnTo>
                <a:lnTo>
                  <a:pt x="100" y="25"/>
                </a:lnTo>
                <a:lnTo>
                  <a:pt x="75" y="50"/>
                </a:lnTo>
                <a:lnTo>
                  <a:pt x="100" y="75"/>
                </a:lnTo>
                <a:lnTo>
                  <a:pt x="75" y="100"/>
                </a:lnTo>
                <a:lnTo>
                  <a:pt x="50" y="75"/>
                </a:lnTo>
                <a:lnTo>
                  <a:pt x="25" y="100"/>
                </a:lnTo>
                <a:lnTo>
                  <a:pt x="0" y="75"/>
                </a:lnTo>
                <a:lnTo>
                  <a:pt x="25" y="50"/>
                </a:lnTo>
                <a:lnTo>
                  <a:pt x="0" y="25"/>
                </a:lnTo>
                <a:close/>
              </a:path>
            </a:pathLst>
          </a:custGeom>
          <a:solidFill>
            <a:srgbClr val="FFFFFF"/>
          </a:solidFill>
          <a:ln>
            <a:noFill/>
          </a:ln>
        </p:spPr>
        <p:txBody>
          <a:bodyPr/>
          <a:lstStyle/>
          <a:p>
            <a:endParaRPr lang="en-MY"/>
          </a:p>
        </p:txBody>
      </p:sp>
      <p:sp>
        <p:nvSpPr>
          <p:cNvPr id="211" name="FBody"/>
          <p:cNvSpPr txBox="1"/>
          <p:nvPr/>
        </p:nvSpPr>
        <p:spPr>
          <a:xfrm>
            <a:off x="1490472" y="2688336"/>
            <a:ext cx="9211026" cy="219456"/>
          </a:xfrm>
          <a:prstGeom prst="rect">
            <a:avLst/>
          </a:prstGeom>
          <a:noFill/>
        </p:spPr>
        <p:txBody>
          <a:bodyPr wrap="square">
            <a:noAutofit/>
          </a:bodyPr>
          <a:lstStyle/>
          <a:p>
            <a:pPr/>
            <a:r>
              <a:rPr lang="en-MY" sz="1250" dirty="0">
                <a:solidFill>
                  <a:schemeClr val="tx1">
                    <a:lumMod val="85000"/>
                    <a:lumOff val="15000"/>
                  </a:schemeClr>
                </a:solidFill>
              </a:rPr>
              <a:t>Ketebalan minimum komponen utama 25mm–50mm.</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Kerusi Taman — Kerusi Kayu Keras</a:t>
            </a:r>
          </a:p>
          <a:p>
            <a:r>
              <a:rPr lang="en-MY" sz="900" dirty="0">
                <a:solidFill>
                  <a:schemeClr val="tx1">
                    <a:lumMod val="85000"/>
                    <a:lumOff val="15000"/>
                  </a:schemeClr>
                </a:solidFill>
              </a:rPr>
              <a:t>KELUARGA PELAKSANAAN: FAMILY_P1</a:t>
            </a:r>
          </a:p>
          <a:p>
            <a:r>
              <a:rPr lang="en-MY" sz="900" dirty="0">
                <a:solidFill>
                  <a:schemeClr val="tx1">
                    <a:lumMod val="85000"/>
                    <a:lumOff val="15000"/>
                  </a:schemeClr>
                </a:solidFill>
              </a:rPr>
              <a:t>PERANAN HALAMAN SEMAKAN: SPECIFICATION_POPUP</a:t>
            </a:r>
          </a:p>
          <a:p>
            <a:r>
              <a:rPr lang="en-MY" sz="900" dirty="0">
                <a:solidFill>
                  <a:schemeClr val="tx1">
                    <a:lumMod val="85000"/>
                    <a:lumOff val="15000"/>
                  </a:schemeClr>
                </a:solidFill>
              </a:rPr>
              <a:t/>
            </a:r>
          </a:p>
          <a:p>
            <a:r>
              <a:rPr lang="en-MY" sz="900" dirty="0">
                <a:solidFill>
                  <a:schemeClr val="tx1">
                    <a:lumMod val="85000"/>
                    <a:lumOff val="15000"/>
                  </a:schemeClr>
                </a:solidFill>
              </a:rPr>
              <a:t>BUKTI: Family P1 Level 2 specification popup 2 of 4</a:t>
            </a:r>
          </a:p>
          <a:p>
            <a:r>
              <a:rPr lang="en-MY" sz="900" dirty="0">
                <a:solidFill>
                  <a:schemeClr val="tx1">
                    <a:lumMod val="85000"/>
                    <a:lumOff val="15000"/>
                  </a:schemeClr>
                </a:solidFill>
              </a:rPr>
              <a:t>POLISI NOTA: CONTENT_VO_NOTES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NO_CONTROL  [none]</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CLOSE_ICON</a:t>
            </a:r>
          </a:p>
          <a:p>
            <a:r>
              <a:rPr lang="en-MY" sz="900" dirty="0">
                <a:solidFill>
                  <a:schemeClr val="tx1">
                    <a:lumMod val="85000"/>
                    <a:lumOff val="15000"/>
                  </a:schemeClr>
                </a:solidFill>
              </a:rPr>
              <a:t>  return_target = SCR_KERUSI_TAMAN_EX01_DETAIL</a:t>
            </a:r>
          </a:p>
          <a:p>
            <a:r>
              <a:rPr lang="en-MY" sz="900" dirty="0">
                <a:solidFill>
                  <a:schemeClr val="tx1">
                    <a:lumMod val="85000"/>
                    <a:lumOff val="15000"/>
                  </a:schemeClr>
                </a:solidFill>
              </a:rPr>
              <a:t>SKOP SELESAI: ITEM</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2 · lapisan skrin 3</a:t>
            </a:r>
          </a:p>
          <a:p>
            <a:r>
              <a:rPr lang="en-MY" sz="900" dirty="0">
                <a:solidFill>
                  <a:schemeClr val="tx1">
                    <a:lumMod val="85000"/>
                    <a:lumOff val="15000"/>
                  </a:schemeClr>
                </a:solidFill>
              </a:rPr>
              <a:t>INDUK: SCR_KERUSI_TAMAN_EX01_DETAIL</a:t>
            </a:r>
          </a:p>
          <a:p>
            <a:r>
              <a:rPr lang="en-MY" sz="900" b="1" dirty="0">
                <a:solidFill>
                  <a:schemeClr val="tx1">
                    <a:lumMod val="85000"/>
                    <a:lumOff val="15000"/>
                  </a:schemeClr>
                </a:solidFill>
              </a:rPr>
              <a:t>SUMBER:</a:t>
            </a:r>
          </a:p>
          <a:p>
            <a:r>
              <a:rPr lang="en-MY" sz="900" dirty="0">
                <a:solidFill>
                  <a:schemeClr val="tx1">
                    <a:lumMod val="85000"/>
                    <a:lumOff val="15000"/>
                  </a:schemeClr>
                </a:solidFill>
              </a:rPr>
              <a:t>  K5-PL06-T03-B02-KERUSI-TAMAN-ROW-01</a:t>
            </a:r>
          </a:p>
          <a:p>
            <a:r>
              <a:rPr lang="en-MY" sz="900" dirty="0">
                <a:solidFill>
                  <a:schemeClr val="tx1">
                    <a:lumMod val="85000"/>
                    <a:lumOff val="15000"/>
                  </a:schemeClr>
                </a:solidFill>
              </a:rPr>
              <a:t>    ms 242 / fizikal 261</a:t>
            </a:r>
          </a:p>
          <a:p>
            <a:r>
              <a:rPr lang="en-MY" sz="900" b="1" dirty="0">
                <a:solidFill>
                  <a:schemeClr val="tx1">
                    <a:lumMod val="85000"/>
                    <a:lumOff val="15000"/>
                  </a:schemeClr>
                </a:solidFill>
              </a:rPr>
              <a:t>ITEM INTERAKSI:</a:t>
            </a:r>
          </a:p>
          <a:p>
            <a:r>
              <a:rPr lang="en-MY" sz="900" dirty="0">
                <a:solidFill>
                  <a:schemeClr val="tx1">
                    <a:lumMod val="85000"/>
                    <a:lumOff val="15000"/>
                  </a:schemeClr>
                </a:solidFill>
              </a:rPr>
              <a:t>  II_KERUSI_TAMAN_R01_SPEC02  &lt;-  K5-PL06-T03-B02-KERUSI-TAMAN-ROW-01</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Skrin penuh ini ialah hasil Level 1 (klik contoh).</a:t>
            </a:r>
          </a:p>
          <a:p>
            <a:r>
              <a:rPr lang="en-MY" sz="900" dirty="0">
                <a:solidFill>
                  <a:schemeClr val="tx1">
                    <a:lumMod val="85000"/>
                    <a:lumOff val="15000"/>
                  </a:schemeClr>
                </a:solidFill>
              </a:rPr>
              <a:t>  Klik spesifikasi = Bariah Level 2. Membuka popup (STATE).</a:t>
            </a:r>
          </a:p>
          <a:p>
            <a:r>
              <a:rPr lang="en-MY" sz="900" dirty="0">
                <a:solidFill>
                  <a:schemeClr val="tx1">
                    <a:lumMod val="85000"/>
                    <a:lumOff val="15000"/>
                  </a:schemeClr>
                </a:solidFill>
              </a:rPr>
              <a:t>  Ikon tutup kembali ke skrin contoh penuh yang SAMA.</a:t>
            </a:r>
          </a:p>
          <a:p>
            <a:r>
              <a:rPr lang="en-MY" sz="900" dirty="0">
                <a:solidFill>
                  <a:schemeClr val="tx1">
                    <a:lumMod val="85000"/>
                    <a:lumOff val="15000"/>
                  </a:schemeClr>
                </a:solidFill>
              </a:rPr>
              <a:t>  Kembali -&gt; SCR_KERUSI_TAMAN_EX01_DETAIL (senarai contoh komponen).</a:t>
            </a:r>
          </a:p>
          <a:p>
            <a:r>
              <a:rPr lang="en-MY" sz="900" dirty="0">
                <a:solidFill>
                  <a:schemeClr val="tx1">
                    <a:lumMod val="85000"/>
                    <a:lumOff val="15000"/>
                  </a:schemeClr>
                </a:solidFill>
              </a:rPr>
              <a:t>  2/4 spesifikasi dilihat.</a:t>
            </a:r>
          </a:p>
          <a:p>
            <a:r>
              <a:rPr lang="en-MY" sz="900" b="1" dirty="0">
                <a:solidFill>
                  <a:schemeClr val="tx1">
                    <a:lumMod val="85000"/>
                    <a:lumOff val="15000"/>
                  </a:schemeClr>
                </a:solidFill>
              </a:rPr>
              <a:t>IDENTITI SUMBER:</a:t>
            </a:r>
          </a:p>
          <a:p>
            <a:r>
              <a:rPr lang="en-MY" sz="900" dirty="0">
                <a:solidFill>
                  <a:schemeClr val="tx1">
                    <a:lumMod val="85000"/>
                    <a:lumOff val="15000"/>
                  </a:schemeClr>
                </a:solidFill>
              </a:rPr>
              <a:t>  4 item interaksi daripada SATU baris sumber: K5-PL06-T03-B02-KERUSI-TAMAN-ROW-01</a:t>
            </a:r>
          </a:p>
          <a:p>
            <a:r>
              <a:rPr lang="en-MY" sz="900" dirty="0">
                <a:solidFill>
                  <a:schemeClr val="tx1">
                    <a:lumMod val="85000"/>
                    <a:lumOff val="15000"/>
                  </a:schemeClr>
                </a:solidFill>
              </a:rPr>
              <a:t>  Tiada baris sumber baharu dicipta.</a:t>
            </a:r>
          </a:p>
          <a:p>
            <a:r>
              <a:rPr lang="en-MY" sz="900" dirty="0">
                <a:solidFill>
                  <a:schemeClr val="tx1">
                    <a:lumMod val="85000"/>
                    <a:lumOff val="15000"/>
                  </a:schemeClr>
                </a:solidFill>
              </a:rPr>
              <a:t>STATUS KEPUTUSAN: B02-D-03, B02-D-05</a:t>
            </a:r>
          </a:p>
          <a:p>
            <a:r>
              <a:rPr lang="en-MY" sz="900" dirty="0">
                <a:solidFill>
                  <a:schemeClr val="tx1">
                    <a:lumMod val="85000"/>
                    <a:lumOff val="15000"/>
                  </a:schemeClr>
                </a:solidFill>
              </a:rPr>
              <a:t>STATUS BELUM SELESAI: NONE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Kerusi Kayu Keras</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Kerusi Taman</a:t>
            </a:r>
          </a:p>
        </p:txBody>
      </p:sp>
      <p:sp>
        <p:nvSpPr>
          <p:cNvPr id="20" name="ExHead"/>
          <p:cNvSpPr txBox="1"/>
          <p:nvPr/>
        </p:nvSpPr>
        <p:spPr>
          <a:xfrm>
            <a:off x="723930" y="1115568"/>
            <a:ext cx="10744200" cy="402336"/>
          </a:xfrm>
          <a:prstGeom prst="rect">
            <a:avLst/>
          </a:prstGeom>
          <a:noFill/>
        </p:spPr>
        <p:txBody>
          <a:bodyPr wrap="square">
            <a:noAutofit/>
          </a:bodyPr>
          <a:lstStyle/>
          <a:p>
            <a:pPr/>
            <a:r>
              <a:rPr lang="en-MY" sz="2200" b="1" dirty="0">
                <a:solidFill>
                  <a:schemeClr val="tx1">
                    <a:lumMod val="85000"/>
                    <a:lumOff val="15000"/>
                  </a:schemeClr>
                </a:solidFill>
              </a:rPr>
              <a:t>Kerusi Kayu Keras</a:t>
            </a:r>
          </a:p>
        </p:txBody>
      </p:sp>
      <p:sp>
        <p:nvSpPr>
          <p:cNvPr id="25" name="Instr"/>
          <p:cNvSpPr txBox="1"/>
          <p:nvPr/>
        </p:nvSpPr>
        <p:spPr>
          <a:xfrm>
            <a:off x="723930" y="1609344"/>
            <a:ext cx="10744200" cy="365760"/>
          </a:xfrm>
          <a:prstGeom prst="rect">
            <a:avLst/>
          </a:prstGeom>
          <a:noFill/>
        </p:spPr>
        <p:txBody>
          <a:bodyPr wrap="square">
            <a:noAutofit/>
          </a:bodyPr>
          <a:lstStyle/>
          <a:p>
            <a:pPr algn="ctr"/>
            <a:r>
              <a:rPr lang="en-MY" sz="1500" dirty="0">
                <a:solidFill>
                  <a:schemeClr val="tx1">
                    <a:lumMod val="85000"/>
                    <a:lumOff val="15000"/>
                  </a:schemeClr>
                </a:solidFill>
              </a:rPr>
              <a:t>Klik pada setiap spesifikasi untuk penjelasan lanjut.</a:t>
            </a:r>
          </a:p>
        </p:txBody>
      </p:sp>
      <p:sp>
        <p:nvSpPr>
          <p:cNvPr id="40" name="ItemCard"/>
          <p:cNvSpPr txBox="1"/>
          <p:nvPr/>
        </p:nvSpPr>
        <p:spPr>
          <a:xfrm>
            <a:off x="723885" y="2103120"/>
            <a:ext cx="2398014" cy="969264"/>
          </a:xfrm>
          <a:prstGeom prst="rect">
            <a:avLst/>
          </a:prstGeom>
          <a:solidFill>
            <a:srgbClr val="E8F5E9"/>
          </a:solidFill>
          <a:ln w="28575">
            <a:solidFill>
              <a:srgbClr val="2E7D32"/>
            </a:solidFill>
          </a:ln>
        </p:spPr>
        <p:txBody>
          <a:bodyPr wrap="square" anchor="ctr">
            <a:noAutofit/>
          </a:bodyPr>
          <a:lstStyle/>
          <a:p>
            <a:pPr algn="ctr"/>
            <a:r>
              <a:rPr lang="en-MY" sz="1350" b="1" dirty="0">
                <a:solidFill>
                  <a:schemeClr val="tx1">
                    <a:lumMod val="85000"/>
                    <a:lumOff val="15000"/>
                  </a:schemeClr>
                </a:solidFill>
              </a:rPr>
              <a:t>Bahan</a:t>
            </a:r>
          </a:p>
        </p:txBody>
      </p:sp>
      <p:sp>
        <p:nvSpPr>
          <p:cNvPr id="41" name="Tick"/>
          <p:cNvSpPr/>
          <p:nvPr/>
        </p:nvSpPr>
        <p:spPr>
          <a:xfrm>
            <a:off x="2719563" y="218541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2" name="ItemCard"/>
          <p:cNvSpPr txBox="1"/>
          <p:nvPr/>
        </p:nvSpPr>
        <p:spPr>
          <a:xfrm>
            <a:off x="3505947" y="2103120"/>
            <a:ext cx="2398014" cy="969264"/>
          </a:xfrm>
          <a:prstGeom prst="rect">
            <a:avLst/>
          </a:prstGeom>
          <a:solidFill>
            <a:srgbClr val="E8F5E9"/>
          </a:solidFill>
          <a:ln w="28575">
            <a:solidFill>
              <a:srgbClr val="2E7D32"/>
            </a:solidFill>
          </a:ln>
        </p:spPr>
        <p:txBody>
          <a:bodyPr wrap="square" anchor="ctr">
            <a:noAutofit/>
          </a:bodyPr>
          <a:lstStyle/>
          <a:p>
            <a:pPr algn="ctr"/>
            <a:r>
              <a:rPr lang="en-MY" sz="1350" b="1" dirty="0">
                <a:solidFill>
                  <a:schemeClr val="tx1">
                    <a:lumMod val="85000"/>
                    <a:lumOff val="15000"/>
                  </a:schemeClr>
                </a:solidFill>
              </a:rPr>
              <a:t>Dimensi</a:t>
            </a:r>
          </a:p>
        </p:txBody>
      </p:sp>
      <p:sp>
        <p:nvSpPr>
          <p:cNvPr id="43" name="Tick"/>
          <p:cNvSpPr/>
          <p:nvPr/>
        </p:nvSpPr>
        <p:spPr>
          <a:xfrm>
            <a:off x="5501625" y="218541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4" name="ItemCard"/>
          <p:cNvSpPr txBox="1"/>
          <p:nvPr/>
        </p:nvSpPr>
        <p:spPr>
          <a:xfrm>
            <a:off x="6288009" y="2103120"/>
            <a:ext cx="2398014" cy="969264"/>
          </a:xfrm>
          <a:prstGeom prst="rect">
            <a:avLst/>
          </a:prstGeom>
          <a:solidFill>
            <a:srgbClr val="E8F5E9"/>
          </a:solidFill>
          <a:ln w="28575">
            <a:solidFill>
              <a:srgbClr val="2E7D32"/>
            </a:solidFill>
          </a:ln>
        </p:spPr>
        <p:txBody>
          <a:bodyPr wrap="square" anchor="ctr">
            <a:noAutofit/>
          </a:bodyPr>
          <a:lstStyle/>
          <a:p>
            <a:pPr algn="ctr"/>
            <a:r>
              <a:rPr lang="en-MY" sz="1350" b="1" dirty="0">
                <a:solidFill>
                  <a:schemeClr val="tx1">
                    <a:lumMod val="85000"/>
                    <a:lumOff val="15000"/>
                  </a:schemeClr>
                </a:solidFill>
              </a:rPr>
              <a:t>Penyambungan</a:t>
            </a:r>
          </a:p>
        </p:txBody>
      </p:sp>
      <p:sp>
        <p:nvSpPr>
          <p:cNvPr id="45" name="Tick"/>
          <p:cNvSpPr/>
          <p:nvPr/>
        </p:nvSpPr>
        <p:spPr>
          <a:xfrm>
            <a:off x="8283687" y="218541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6" name="ItemCard"/>
          <p:cNvSpPr txBox="1"/>
          <p:nvPr/>
        </p:nvSpPr>
        <p:spPr>
          <a:xfrm>
            <a:off x="9070071" y="2103120"/>
            <a:ext cx="2398014" cy="969264"/>
          </a:xfrm>
          <a:prstGeom prst="rect">
            <a:avLst/>
          </a:prstGeom>
          <a:solidFill>
            <a:srgbClr val="F2F2F2"/>
          </a:solidFill>
          <a:ln w="12700">
            <a:solidFill>
              <a:srgbClr val="404040"/>
            </a:solidFill>
          </a:ln>
        </p:spPr>
        <p:txBody>
          <a:bodyPr wrap="square" anchor="ctr">
            <a:noAutofit/>
          </a:bodyPr>
          <a:lstStyle/>
          <a:p>
            <a:pPr algn="ctr"/>
            <a:r>
              <a:rPr lang="en-MY" sz="1350" b="1" dirty="0">
                <a:solidFill>
                  <a:schemeClr val="tx1">
                    <a:lumMod val="85000"/>
                    <a:lumOff val="15000"/>
                  </a:schemeClr>
                </a:solidFill>
              </a:rPr>
              <a:t>Kemasan</a:t>
            </a:r>
          </a:p>
        </p:txBody>
      </p:sp>
      <p:sp>
        <p:nvSpPr>
          <p:cNvPr id="70" name="ExContoh"/>
          <p:cNvSpPr txBox="1"/>
          <p:nvPr/>
        </p:nvSpPr>
        <p:spPr>
          <a:xfrm>
            <a:off x="723930" y="3383280"/>
            <a:ext cx="10744200" cy="365760"/>
          </a:xfrm>
          <a:prstGeom prst="rect">
            <a:avLst/>
          </a:prstGeom>
          <a:noFill/>
        </p:spPr>
        <p:txBody>
          <a:bodyPr wrap="square">
            <a:noAutofit/>
          </a:bodyPr>
          <a:lstStyle/>
          <a:p>
            <a:pPr/>
            <a:r>
              <a:rPr lang="en-MY" sz="1400" b="1" dirty="0">
                <a:solidFill>
                  <a:schemeClr val="tx1">
                    <a:lumMod val="85000"/>
                    <a:lumOff val="15000"/>
                  </a:schemeClr>
                </a:solidFill>
              </a:rPr>
              <a:t>Contoh: Jati, Cengal, Balau</a:t>
            </a:r>
          </a:p>
        </p:txBody>
      </p:sp>
      <p:sp>
        <p:nvSpPr>
          <p:cNvPr id="30" name="VisualDir"/>
          <p:cNvSpPr txBox="1"/>
          <p:nvPr/>
        </p:nvSpPr>
        <p:spPr>
          <a:xfrm>
            <a:off x="723930" y="3858768"/>
            <a:ext cx="10744200" cy="621792"/>
          </a:xfrm>
          <a:prstGeom prst="rect">
            <a:avLst/>
          </a:prstGeom>
          <a:noFill/>
        </p:spPr>
        <p:txBody>
          <a:bodyPr wrap="square">
            <a:noAutofit/>
          </a:bodyPr>
          <a:lstStyle/>
          <a:p>
            <a:pPr/>
            <a:r>
              <a:rPr lang="en-MY" sz="1100" dirty="0">
                <a:solidFill>
                  <a:srgbClr val="808080"/>
                </a:solidFill>
              </a:rPr>
              <a:t>[Visual: Foto jadual spesifikasi Kerusi Kayu Keras, modul ms 242. Aset K5PL06T03-B02-IMG-p242-x28. Tidak</a:t>
            </a:r>
          </a:p>
          <a:p>
            <a:pPr/>
            <a:r>
              <a:rPr lang="en-MY" sz="1100" dirty="0">
                <a:solidFill>
                  <a:srgbClr val="808080"/>
                </a:solidFill>
              </a:rPr>
              <a:t>dibenamkan.]</a:t>
            </a:r>
          </a:p>
        </p:txBody>
      </p:sp>
      <p:sp>
        <p:nvSpPr>
          <p:cNvPr id="200" name="PopupPanel"/>
          <p:cNvSpPr txBox="1"/>
          <p:nvPr/>
        </p:nvSpPr>
        <p:spPr>
          <a:xfrm>
            <a:off x="1234440" y="1737360"/>
            <a:ext cx="9723090" cy="1920240"/>
          </a:xfrm>
          <a:prstGeom prst="rect">
            <a:avLst/>
          </a:prstGeom>
          <a:solidFill>
            <a:srgbClr val="FFFFFF"/>
          </a:solidFill>
          <a:ln w="28575">
            <a:solidFill>
              <a:srgbClr val="1F4E79"/>
            </a:solidFill>
          </a:ln>
        </p:spPr>
        <p:txBody>
          <a:bodyPr wrap="square">
            <a:noAutofit/>
          </a:bodyPr>
          <a:lstStyle/>
        </p:txBody>
      </p:sp>
      <p:sp>
        <p:nvSpPr>
          <p:cNvPr id="202" name="PopupKicker"/>
          <p:cNvSpPr txBox="1"/>
          <p:nvPr/>
        </p:nvSpPr>
        <p:spPr>
          <a:xfrm>
            <a:off x="1490472" y="1883664"/>
            <a:ext cx="8534370" cy="201168"/>
          </a:xfrm>
          <a:prstGeom prst="rect">
            <a:avLst/>
          </a:prstGeom>
          <a:noFill/>
        </p:spPr>
        <p:txBody>
          <a:bodyPr wrap="square">
            <a:noAutofit/>
          </a:bodyPr>
          <a:lstStyle/>
          <a:p>
            <a:pPr/>
            <a:r>
              <a:rPr lang="en-MY" sz="1100" b="1" dirty="0">
                <a:solidFill>
                  <a:srgbClr val="7F6000"/>
                </a:solidFill>
              </a:rPr>
              <a:t>Kerusi Kayu Keras</a:t>
            </a:r>
          </a:p>
        </p:txBody>
      </p:sp>
      <p:sp>
        <p:nvSpPr>
          <p:cNvPr id="201" name="PopupTitle"/>
          <p:cNvSpPr txBox="1"/>
          <p:nvPr/>
        </p:nvSpPr>
        <p:spPr>
          <a:xfrm>
            <a:off x="1490472" y="2103120"/>
            <a:ext cx="8534370" cy="365760"/>
          </a:xfrm>
          <a:prstGeom prst="rect">
            <a:avLst/>
          </a:prstGeom>
          <a:noFill/>
        </p:spPr>
        <p:txBody>
          <a:bodyPr wrap="square">
            <a:noAutofit/>
          </a:bodyPr>
          <a:lstStyle/>
          <a:p>
            <a:pPr/>
            <a:r>
              <a:rPr lang="en-MY" sz="2000" b="1" dirty="0">
                <a:solidFill>
                  <a:schemeClr val="tx1">
                    <a:lumMod val="85000"/>
                    <a:lumOff val="15000"/>
                  </a:schemeClr>
                </a:solidFill>
              </a:rPr>
              <a:t>Penyambungan</a:t>
            </a:r>
          </a:p>
        </p:txBody>
      </p:sp>
      <p:sp>
        <p:nvSpPr>
          <p:cNvPr id="260" name="CloseIcon"/>
          <p:cNvSpPr/>
          <p:nvPr/>
        </p:nvSpPr>
        <p:spPr>
          <a:xfrm>
            <a:off x="10317450" y="1901952"/>
            <a:ext cx="384048" cy="384048"/>
          </a:xfrm>
          <a:prstGeom prst="ellipse">
            <a:avLst/>
          </a:prstGeom>
          <a:solidFill>
            <a:srgbClr val="1F4E79"/>
          </a:solidFill>
          <a:ln>
            <a:noFill/>
          </a:ln>
        </p:spPr>
        <p:txBody>
          <a:bodyPr/>
          <a:lstStyle/>
          <a:p>
            <a:endParaRPr lang="en-MY"/>
          </a:p>
        </p:txBody>
      </p:sp>
      <p:sp>
        <p:nvSpPr>
          <p:cNvPr id="261" name="CloseGlyph"/>
          <p:cNvSpPr/>
          <p:nvPr/>
        </p:nvSpPr>
        <p:spPr>
          <a:xfrm>
            <a:off x="10421142" y="2005645"/>
            <a:ext cx="176662" cy="176662"/>
          </a:xfrm>
          <a:custGeom>
            <a:avLst/>
            <a:gdLst/>
            <a:ahLst/>
            <a:cxnLst/>
            <a:rect l="0" t="0" r="r" b="b"/>
            <a:pathLst>
              <a:path w="100" h="100">
                <a:moveTo>
                  <a:pt x="25" y="0"/>
                </a:moveTo>
                <a:lnTo>
                  <a:pt x="50" y="25"/>
                </a:lnTo>
                <a:lnTo>
                  <a:pt x="75" y="0"/>
                </a:lnTo>
                <a:lnTo>
                  <a:pt x="100" y="25"/>
                </a:lnTo>
                <a:lnTo>
                  <a:pt x="75" y="50"/>
                </a:lnTo>
                <a:lnTo>
                  <a:pt x="100" y="75"/>
                </a:lnTo>
                <a:lnTo>
                  <a:pt x="75" y="100"/>
                </a:lnTo>
                <a:lnTo>
                  <a:pt x="50" y="75"/>
                </a:lnTo>
                <a:lnTo>
                  <a:pt x="25" y="100"/>
                </a:lnTo>
                <a:lnTo>
                  <a:pt x="0" y="75"/>
                </a:lnTo>
                <a:lnTo>
                  <a:pt x="25" y="50"/>
                </a:lnTo>
                <a:lnTo>
                  <a:pt x="0" y="25"/>
                </a:lnTo>
                <a:close/>
              </a:path>
            </a:pathLst>
          </a:custGeom>
          <a:solidFill>
            <a:srgbClr val="FFFFFF"/>
          </a:solidFill>
          <a:ln>
            <a:noFill/>
          </a:ln>
        </p:spPr>
        <p:txBody>
          <a:bodyPr/>
          <a:lstStyle/>
          <a:p>
            <a:endParaRPr lang="en-MY"/>
          </a:p>
        </p:txBody>
      </p:sp>
      <p:sp>
        <p:nvSpPr>
          <p:cNvPr id="211" name="FBody"/>
          <p:cNvSpPr txBox="1"/>
          <p:nvPr/>
        </p:nvSpPr>
        <p:spPr>
          <a:xfrm>
            <a:off x="1490472" y="2688336"/>
            <a:ext cx="9211026" cy="219456"/>
          </a:xfrm>
          <a:prstGeom prst="rect">
            <a:avLst/>
          </a:prstGeom>
          <a:noFill/>
        </p:spPr>
        <p:txBody>
          <a:bodyPr wrap="square">
            <a:noAutofit/>
          </a:bodyPr>
          <a:lstStyle/>
          <a:p>
            <a:pPr/>
            <a:r>
              <a:rPr lang="en-MY" sz="1250" dirty="0">
                <a:solidFill>
                  <a:schemeClr val="tx1">
                    <a:lumMod val="85000"/>
                    <a:lumOff val="15000"/>
                  </a:schemeClr>
                </a:solidFill>
              </a:rPr>
              <a:t>Skru tahan karat (stainless steel), bolt, atau tanggam kayu (mortise and tenon joints).</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Kerusi Taman — Kerusi Kayu Keras</a:t>
            </a:r>
          </a:p>
          <a:p>
            <a:r>
              <a:rPr lang="en-MY" sz="900" dirty="0">
                <a:solidFill>
                  <a:schemeClr val="tx1">
                    <a:lumMod val="85000"/>
                    <a:lumOff val="15000"/>
                  </a:schemeClr>
                </a:solidFill>
              </a:rPr>
              <a:t>KELUARGA PELAKSANAAN: FAMILY_P1</a:t>
            </a:r>
          </a:p>
          <a:p>
            <a:r>
              <a:rPr lang="en-MY" sz="900" dirty="0">
                <a:solidFill>
                  <a:schemeClr val="tx1">
                    <a:lumMod val="85000"/>
                    <a:lumOff val="15000"/>
                  </a:schemeClr>
                </a:solidFill>
              </a:rPr>
              <a:t>PERANAN HALAMAN SEMAKAN: SPECIFICATION_POPUP</a:t>
            </a:r>
          </a:p>
          <a:p>
            <a:r>
              <a:rPr lang="en-MY" sz="900" dirty="0">
                <a:solidFill>
                  <a:schemeClr val="tx1">
                    <a:lumMod val="85000"/>
                    <a:lumOff val="15000"/>
                  </a:schemeClr>
                </a:solidFill>
              </a:rPr>
              <a:t/>
            </a:r>
          </a:p>
          <a:p>
            <a:r>
              <a:rPr lang="en-MY" sz="900" dirty="0">
                <a:solidFill>
                  <a:schemeClr val="tx1">
                    <a:lumMod val="85000"/>
                    <a:lumOff val="15000"/>
                  </a:schemeClr>
                </a:solidFill>
              </a:rPr>
              <a:t>BUKTI: Family P1 Level 2 specification popup 3 of 4</a:t>
            </a:r>
          </a:p>
          <a:p>
            <a:r>
              <a:rPr lang="en-MY" sz="900" dirty="0">
                <a:solidFill>
                  <a:schemeClr val="tx1">
                    <a:lumMod val="85000"/>
                    <a:lumOff val="15000"/>
                  </a:schemeClr>
                </a:solidFill>
              </a:rPr>
              <a:t>POLISI NOTA: CONTENT_VO_NOTES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NO_CONTROL  [none]</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CLOSE_ICON</a:t>
            </a:r>
          </a:p>
          <a:p>
            <a:r>
              <a:rPr lang="en-MY" sz="900" dirty="0">
                <a:solidFill>
                  <a:schemeClr val="tx1">
                    <a:lumMod val="85000"/>
                    <a:lumOff val="15000"/>
                  </a:schemeClr>
                </a:solidFill>
              </a:rPr>
              <a:t>  return_target = SCR_KERUSI_TAMAN_EX01_DETAIL</a:t>
            </a:r>
          </a:p>
          <a:p>
            <a:r>
              <a:rPr lang="en-MY" sz="900" dirty="0">
                <a:solidFill>
                  <a:schemeClr val="tx1">
                    <a:lumMod val="85000"/>
                    <a:lumOff val="15000"/>
                  </a:schemeClr>
                </a:solidFill>
              </a:rPr>
              <a:t>SKOP SELESAI: ITEM</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2 · lapisan skrin 3</a:t>
            </a:r>
          </a:p>
          <a:p>
            <a:r>
              <a:rPr lang="en-MY" sz="900" dirty="0">
                <a:solidFill>
                  <a:schemeClr val="tx1">
                    <a:lumMod val="85000"/>
                    <a:lumOff val="15000"/>
                  </a:schemeClr>
                </a:solidFill>
              </a:rPr>
              <a:t>INDUK: SCR_KERUSI_TAMAN_EX01_DETAIL</a:t>
            </a:r>
          </a:p>
          <a:p>
            <a:r>
              <a:rPr lang="en-MY" sz="900" b="1" dirty="0">
                <a:solidFill>
                  <a:schemeClr val="tx1">
                    <a:lumMod val="85000"/>
                    <a:lumOff val="15000"/>
                  </a:schemeClr>
                </a:solidFill>
              </a:rPr>
              <a:t>SUMBER:</a:t>
            </a:r>
          </a:p>
          <a:p>
            <a:r>
              <a:rPr lang="en-MY" sz="900" dirty="0">
                <a:solidFill>
                  <a:schemeClr val="tx1">
                    <a:lumMod val="85000"/>
                    <a:lumOff val="15000"/>
                  </a:schemeClr>
                </a:solidFill>
              </a:rPr>
              <a:t>  K5-PL06-T03-B02-KERUSI-TAMAN-ROW-01</a:t>
            </a:r>
          </a:p>
          <a:p>
            <a:r>
              <a:rPr lang="en-MY" sz="900" dirty="0">
                <a:solidFill>
                  <a:schemeClr val="tx1">
                    <a:lumMod val="85000"/>
                    <a:lumOff val="15000"/>
                  </a:schemeClr>
                </a:solidFill>
              </a:rPr>
              <a:t>    ms 242 / fizikal 261</a:t>
            </a:r>
          </a:p>
          <a:p>
            <a:r>
              <a:rPr lang="en-MY" sz="900" b="1" dirty="0">
                <a:solidFill>
                  <a:schemeClr val="tx1">
                    <a:lumMod val="85000"/>
                    <a:lumOff val="15000"/>
                  </a:schemeClr>
                </a:solidFill>
              </a:rPr>
              <a:t>ITEM INTERAKSI:</a:t>
            </a:r>
          </a:p>
          <a:p>
            <a:r>
              <a:rPr lang="en-MY" sz="900" dirty="0">
                <a:solidFill>
                  <a:schemeClr val="tx1">
                    <a:lumMod val="85000"/>
                    <a:lumOff val="15000"/>
                  </a:schemeClr>
                </a:solidFill>
              </a:rPr>
              <a:t>  II_KERUSI_TAMAN_R01_SPEC03  &lt;-  K5-PL06-T03-B02-KERUSI-TAMAN-ROW-01</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Skrin penuh ini ialah hasil Level 1 (klik contoh).</a:t>
            </a:r>
          </a:p>
          <a:p>
            <a:r>
              <a:rPr lang="en-MY" sz="900" dirty="0">
                <a:solidFill>
                  <a:schemeClr val="tx1">
                    <a:lumMod val="85000"/>
                    <a:lumOff val="15000"/>
                  </a:schemeClr>
                </a:solidFill>
              </a:rPr>
              <a:t>  Klik spesifikasi = Bariah Level 2. Membuka popup (STATE).</a:t>
            </a:r>
          </a:p>
          <a:p>
            <a:r>
              <a:rPr lang="en-MY" sz="900" dirty="0">
                <a:solidFill>
                  <a:schemeClr val="tx1">
                    <a:lumMod val="85000"/>
                    <a:lumOff val="15000"/>
                  </a:schemeClr>
                </a:solidFill>
              </a:rPr>
              <a:t>  Ikon tutup kembali ke skrin contoh penuh yang SAMA.</a:t>
            </a:r>
          </a:p>
          <a:p>
            <a:r>
              <a:rPr lang="en-MY" sz="900" dirty="0">
                <a:solidFill>
                  <a:schemeClr val="tx1">
                    <a:lumMod val="85000"/>
                    <a:lumOff val="15000"/>
                  </a:schemeClr>
                </a:solidFill>
              </a:rPr>
              <a:t>  Kembali -&gt; SCR_KERUSI_TAMAN_EX01_DETAIL (senarai contoh komponen).</a:t>
            </a:r>
          </a:p>
          <a:p>
            <a:r>
              <a:rPr lang="en-MY" sz="900" dirty="0">
                <a:solidFill>
                  <a:schemeClr val="tx1">
                    <a:lumMod val="85000"/>
                    <a:lumOff val="15000"/>
                  </a:schemeClr>
                </a:solidFill>
              </a:rPr>
              <a:t>  3/4 spesifikasi dilihat.</a:t>
            </a:r>
          </a:p>
          <a:p>
            <a:r>
              <a:rPr lang="en-MY" sz="900" b="1" dirty="0">
                <a:solidFill>
                  <a:schemeClr val="tx1">
                    <a:lumMod val="85000"/>
                    <a:lumOff val="15000"/>
                  </a:schemeClr>
                </a:solidFill>
              </a:rPr>
              <a:t>IDENTITI SUMBER:</a:t>
            </a:r>
          </a:p>
          <a:p>
            <a:r>
              <a:rPr lang="en-MY" sz="900" dirty="0">
                <a:solidFill>
                  <a:schemeClr val="tx1">
                    <a:lumMod val="85000"/>
                    <a:lumOff val="15000"/>
                  </a:schemeClr>
                </a:solidFill>
              </a:rPr>
              <a:t>  4 item interaksi daripada SATU baris sumber: K5-PL06-T03-B02-KERUSI-TAMAN-ROW-01</a:t>
            </a:r>
          </a:p>
          <a:p>
            <a:r>
              <a:rPr lang="en-MY" sz="900" dirty="0">
                <a:solidFill>
                  <a:schemeClr val="tx1">
                    <a:lumMod val="85000"/>
                    <a:lumOff val="15000"/>
                  </a:schemeClr>
                </a:solidFill>
              </a:rPr>
              <a:t>  Tiada baris sumber baharu dicipta.</a:t>
            </a:r>
          </a:p>
          <a:p>
            <a:r>
              <a:rPr lang="en-MY" sz="900" dirty="0">
                <a:solidFill>
                  <a:schemeClr val="tx1">
                    <a:lumMod val="85000"/>
                    <a:lumOff val="15000"/>
                  </a:schemeClr>
                </a:solidFill>
              </a:rPr>
              <a:t>STATUS KEPUTUSAN: B02-D-03, B02-D-05</a:t>
            </a:r>
          </a:p>
          <a:p>
            <a:r>
              <a:rPr lang="en-MY" sz="900" dirty="0">
                <a:solidFill>
                  <a:schemeClr val="tx1">
                    <a:lumMod val="85000"/>
                    <a:lumOff val="15000"/>
                  </a:schemeClr>
                </a:solidFill>
              </a:rPr>
              <a:t>STATUS BELUM SELESAI: NONE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Kerusi Kayu Keras</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Kerusi Taman</a:t>
            </a:r>
          </a:p>
        </p:txBody>
      </p:sp>
      <p:sp>
        <p:nvSpPr>
          <p:cNvPr id="20" name="ExHead"/>
          <p:cNvSpPr txBox="1"/>
          <p:nvPr/>
        </p:nvSpPr>
        <p:spPr>
          <a:xfrm>
            <a:off x="723930" y="1115568"/>
            <a:ext cx="10744200" cy="402336"/>
          </a:xfrm>
          <a:prstGeom prst="rect">
            <a:avLst/>
          </a:prstGeom>
          <a:noFill/>
        </p:spPr>
        <p:txBody>
          <a:bodyPr wrap="square">
            <a:noAutofit/>
          </a:bodyPr>
          <a:lstStyle/>
          <a:p>
            <a:pPr/>
            <a:r>
              <a:rPr lang="en-MY" sz="2200" b="1" dirty="0">
                <a:solidFill>
                  <a:schemeClr val="tx1">
                    <a:lumMod val="85000"/>
                    <a:lumOff val="15000"/>
                  </a:schemeClr>
                </a:solidFill>
              </a:rPr>
              <a:t>Kerusi Kayu Keras</a:t>
            </a:r>
          </a:p>
        </p:txBody>
      </p:sp>
      <p:sp>
        <p:nvSpPr>
          <p:cNvPr id="25" name="Instr"/>
          <p:cNvSpPr txBox="1"/>
          <p:nvPr/>
        </p:nvSpPr>
        <p:spPr>
          <a:xfrm>
            <a:off x="723930" y="1609344"/>
            <a:ext cx="10744200" cy="365760"/>
          </a:xfrm>
          <a:prstGeom prst="rect">
            <a:avLst/>
          </a:prstGeom>
          <a:noFill/>
        </p:spPr>
        <p:txBody>
          <a:bodyPr wrap="square">
            <a:noAutofit/>
          </a:bodyPr>
          <a:lstStyle/>
          <a:p>
            <a:pPr algn="ctr"/>
            <a:r>
              <a:rPr lang="en-MY" sz="1500" dirty="0">
                <a:solidFill>
                  <a:schemeClr val="tx1">
                    <a:lumMod val="85000"/>
                    <a:lumOff val="15000"/>
                  </a:schemeClr>
                </a:solidFill>
              </a:rPr>
              <a:t>Klik pada setiap spesifikasi untuk penjelasan lanjut.</a:t>
            </a:r>
          </a:p>
        </p:txBody>
      </p:sp>
      <p:sp>
        <p:nvSpPr>
          <p:cNvPr id="40" name="ItemCard"/>
          <p:cNvSpPr txBox="1"/>
          <p:nvPr/>
        </p:nvSpPr>
        <p:spPr>
          <a:xfrm>
            <a:off x="723885" y="2103120"/>
            <a:ext cx="2398014" cy="969264"/>
          </a:xfrm>
          <a:prstGeom prst="rect">
            <a:avLst/>
          </a:prstGeom>
          <a:solidFill>
            <a:srgbClr val="E8F5E9"/>
          </a:solidFill>
          <a:ln w="28575">
            <a:solidFill>
              <a:srgbClr val="2E7D32"/>
            </a:solidFill>
          </a:ln>
        </p:spPr>
        <p:txBody>
          <a:bodyPr wrap="square" anchor="ctr">
            <a:noAutofit/>
          </a:bodyPr>
          <a:lstStyle/>
          <a:p>
            <a:pPr algn="ctr"/>
            <a:r>
              <a:rPr lang="en-MY" sz="1350" b="1" dirty="0">
                <a:solidFill>
                  <a:schemeClr val="tx1">
                    <a:lumMod val="85000"/>
                    <a:lumOff val="15000"/>
                  </a:schemeClr>
                </a:solidFill>
              </a:rPr>
              <a:t>Bahan</a:t>
            </a:r>
          </a:p>
        </p:txBody>
      </p:sp>
      <p:sp>
        <p:nvSpPr>
          <p:cNvPr id="41" name="Tick"/>
          <p:cNvSpPr/>
          <p:nvPr/>
        </p:nvSpPr>
        <p:spPr>
          <a:xfrm>
            <a:off x="2719563" y="218541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2" name="ItemCard"/>
          <p:cNvSpPr txBox="1"/>
          <p:nvPr/>
        </p:nvSpPr>
        <p:spPr>
          <a:xfrm>
            <a:off x="3505947" y="2103120"/>
            <a:ext cx="2398014" cy="969264"/>
          </a:xfrm>
          <a:prstGeom prst="rect">
            <a:avLst/>
          </a:prstGeom>
          <a:solidFill>
            <a:srgbClr val="E8F5E9"/>
          </a:solidFill>
          <a:ln w="28575">
            <a:solidFill>
              <a:srgbClr val="2E7D32"/>
            </a:solidFill>
          </a:ln>
        </p:spPr>
        <p:txBody>
          <a:bodyPr wrap="square" anchor="ctr">
            <a:noAutofit/>
          </a:bodyPr>
          <a:lstStyle/>
          <a:p>
            <a:pPr algn="ctr"/>
            <a:r>
              <a:rPr lang="en-MY" sz="1350" b="1" dirty="0">
                <a:solidFill>
                  <a:schemeClr val="tx1">
                    <a:lumMod val="85000"/>
                    <a:lumOff val="15000"/>
                  </a:schemeClr>
                </a:solidFill>
              </a:rPr>
              <a:t>Dimensi</a:t>
            </a:r>
          </a:p>
        </p:txBody>
      </p:sp>
      <p:sp>
        <p:nvSpPr>
          <p:cNvPr id="43" name="Tick"/>
          <p:cNvSpPr/>
          <p:nvPr/>
        </p:nvSpPr>
        <p:spPr>
          <a:xfrm>
            <a:off x="5501625" y="218541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4" name="ItemCard"/>
          <p:cNvSpPr txBox="1"/>
          <p:nvPr/>
        </p:nvSpPr>
        <p:spPr>
          <a:xfrm>
            <a:off x="6288009" y="2103120"/>
            <a:ext cx="2398014" cy="969264"/>
          </a:xfrm>
          <a:prstGeom prst="rect">
            <a:avLst/>
          </a:prstGeom>
          <a:solidFill>
            <a:srgbClr val="E8F5E9"/>
          </a:solidFill>
          <a:ln w="28575">
            <a:solidFill>
              <a:srgbClr val="2E7D32"/>
            </a:solidFill>
          </a:ln>
        </p:spPr>
        <p:txBody>
          <a:bodyPr wrap="square" anchor="ctr">
            <a:noAutofit/>
          </a:bodyPr>
          <a:lstStyle/>
          <a:p>
            <a:pPr algn="ctr"/>
            <a:r>
              <a:rPr lang="en-MY" sz="1350" b="1" dirty="0">
                <a:solidFill>
                  <a:schemeClr val="tx1">
                    <a:lumMod val="85000"/>
                    <a:lumOff val="15000"/>
                  </a:schemeClr>
                </a:solidFill>
              </a:rPr>
              <a:t>Penyambungan</a:t>
            </a:r>
          </a:p>
        </p:txBody>
      </p:sp>
      <p:sp>
        <p:nvSpPr>
          <p:cNvPr id="45" name="Tick"/>
          <p:cNvSpPr/>
          <p:nvPr/>
        </p:nvSpPr>
        <p:spPr>
          <a:xfrm>
            <a:off x="8283687" y="218541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6" name="ItemCard"/>
          <p:cNvSpPr txBox="1"/>
          <p:nvPr/>
        </p:nvSpPr>
        <p:spPr>
          <a:xfrm>
            <a:off x="9070071" y="2103120"/>
            <a:ext cx="2398014" cy="969264"/>
          </a:xfrm>
          <a:prstGeom prst="rect">
            <a:avLst/>
          </a:prstGeom>
          <a:solidFill>
            <a:srgbClr val="E8F5E9"/>
          </a:solidFill>
          <a:ln w="28575">
            <a:solidFill>
              <a:srgbClr val="2E7D32"/>
            </a:solidFill>
          </a:ln>
        </p:spPr>
        <p:txBody>
          <a:bodyPr wrap="square" anchor="ctr">
            <a:noAutofit/>
          </a:bodyPr>
          <a:lstStyle/>
          <a:p>
            <a:pPr algn="ctr"/>
            <a:r>
              <a:rPr lang="en-MY" sz="1350" b="1" dirty="0">
                <a:solidFill>
                  <a:schemeClr val="tx1">
                    <a:lumMod val="85000"/>
                    <a:lumOff val="15000"/>
                  </a:schemeClr>
                </a:solidFill>
              </a:rPr>
              <a:t>Kemasan</a:t>
            </a:r>
          </a:p>
        </p:txBody>
      </p:sp>
      <p:sp>
        <p:nvSpPr>
          <p:cNvPr id="47" name="Tick"/>
          <p:cNvSpPr/>
          <p:nvPr/>
        </p:nvSpPr>
        <p:spPr>
          <a:xfrm>
            <a:off x="11065749" y="218541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70" name="ExContoh"/>
          <p:cNvSpPr txBox="1"/>
          <p:nvPr/>
        </p:nvSpPr>
        <p:spPr>
          <a:xfrm>
            <a:off x="723930" y="3383280"/>
            <a:ext cx="10744200" cy="365760"/>
          </a:xfrm>
          <a:prstGeom prst="rect">
            <a:avLst/>
          </a:prstGeom>
          <a:noFill/>
        </p:spPr>
        <p:txBody>
          <a:bodyPr wrap="square">
            <a:noAutofit/>
          </a:bodyPr>
          <a:lstStyle/>
          <a:p>
            <a:pPr/>
            <a:r>
              <a:rPr lang="en-MY" sz="1400" b="1" dirty="0">
                <a:solidFill>
                  <a:schemeClr val="tx1">
                    <a:lumMod val="85000"/>
                    <a:lumOff val="15000"/>
                  </a:schemeClr>
                </a:solidFill>
              </a:rPr>
              <a:t>Contoh: Jati, Cengal, Balau</a:t>
            </a:r>
          </a:p>
        </p:txBody>
      </p:sp>
      <p:sp>
        <p:nvSpPr>
          <p:cNvPr id="30" name="VisualDir"/>
          <p:cNvSpPr txBox="1"/>
          <p:nvPr/>
        </p:nvSpPr>
        <p:spPr>
          <a:xfrm>
            <a:off x="723930" y="3858768"/>
            <a:ext cx="10744200" cy="621792"/>
          </a:xfrm>
          <a:prstGeom prst="rect">
            <a:avLst/>
          </a:prstGeom>
          <a:noFill/>
        </p:spPr>
        <p:txBody>
          <a:bodyPr wrap="square">
            <a:noAutofit/>
          </a:bodyPr>
          <a:lstStyle/>
          <a:p>
            <a:pPr/>
            <a:r>
              <a:rPr lang="en-MY" sz="1100" dirty="0">
                <a:solidFill>
                  <a:srgbClr val="808080"/>
                </a:solidFill>
              </a:rPr>
              <a:t>[Visual: Foto jadual spesifikasi Kerusi Kayu Keras, modul ms 242. Aset K5PL06T03-B02-IMG-p242-x28. Tidak</a:t>
            </a:r>
          </a:p>
          <a:p>
            <a:pPr/>
            <a:r>
              <a:rPr lang="en-MY" sz="1100" dirty="0">
                <a:solidFill>
                  <a:srgbClr val="808080"/>
                </a:solidFill>
              </a:rPr>
              <a:t>dibenamkan.]</a:t>
            </a:r>
          </a:p>
        </p:txBody>
      </p:sp>
      <p:sp>
        <p:nvSpPr>
          <p:cNvPr id="200" name="PopupPanel"/>
          <p:cNvSpPr txBox="1"/>
          <p:nvPr/>
        </p:nvSpPr>
        <p:spPr>
          <a:xfrm>
            <a:off x="1234440" y="1737360"/>
            <a:ext cx="9723090" cy="1920240"/>
          </a:xfrm>
          <a:prstGeom prst="rect">
            <a:avLst/>
          </a:prstGeom>
          <a:solidFill>
            <a:srgbClr val="FFFFFF"/>
          </a:solidFill>
          <a:ln w="28575">
            <a:solidFill>
              <a:srgbClr val="1F4E79"/>
            </a:solidFill>
          </a:ln>
        </p:spPr>
        <p:txBody>
          <a:bodyPr wrap="square">
            <a:noAutofit/>
          </a:bodyPr>
          <a:lstStyle/>
        </p:txBody>
      </p:sp>
      <p:sp>
        <p:nvSpPr>
          <p:cNvPr id="202" name="PopupKicker"/>
          <p:cNvSpPr txBox="1"/>
          <p:nvPr/>
        </p:nvSpPr>
        <p:spPr>
          <a:xfrm>
            <a:off x="1490472" y="1883664"/>
            <a:ext cx="8534370" cy="201168"/>
          </a:xfrm>
          <a:prstGeom prst="rect">
            <a:avLst/>
          </a:prstGeom>
          <a:noFill/>
        </p:spPr>
        <p:txBody>
          <a:bodyPr wrap="square">
            <a:noAutofit/>
          </a:bodyPr>
          <a:lstStyle/>
          <a:p>
            <a:pPr/>
            <a:r>
              <a:rPr lang="en-MY" sz="1100" b="1" dirty="0">
                <a:solidFill>
                  <a:srgbClr val="7F6000"/>
                </a:solidFill>
              </a:rPr>
              <a:t>Kerusi Kayu Keras</a:t>
            </a:r>
          </a:p>
        </p:txBody>
      </p:sp>
      <p:sp>
        <p:nvSpPr>
          <p:cNvPr id="201" name="PopupTitle"/>
          <p:cNvSpPr txBox="1"/>
          <p:nvPr/>
        </p:nvSpPr>
        <p:spPr>
          <a:xfrm>
            <a:off x="1490472" y="2103120"/>
            <a:ext cx="8534370" cy="365760"/>
          </a:xfrm>
          <a:prstGeom prst="rect">
            <a:avLst/>
          </a:prstGeom>
          <a:noFill/>
        </p:spPr>
        <p:txBody>
          <a:bodyPr wrap="square">
            <a:noAutofit/>
          </a:bodyPr>
          <a:lstStyle/>
          <a:p>
            <a:pPr/>
            <a:r>
              <a:rPr lang="en-MY" sz="2000" b="1" dirty="0">
                <a:solidFill>
                  <a:schemeClr val="tx1">
                    <a:lumMod val="85000"/>
                    <a:lumOff val="15000"/>
                  </a:schemeClr>
                </a:solidFill>
              </a:rPr>
              <a:t>Kemasan</a:t>
            </a:r>
          </a:p>
        </p:txBody>
      </p:sp>
      <p:sp>
        <p:nvSpPr>
          <p:cNvPr id="260" name="CloseIcon"/>
          <p:cNvSpPr/>
          <p:nvPr/>
        </p:nvSpPr>
        <p:spPr>
          <a:xfrm>
            <a:off x="10317450" y="1901952"/>
            <a:ext cx="384048" cy="384048"/>
          </a:xfrm>
          <a:prstGeom prst="ellipse">
            <a:avLst/>
          </a:prstGeom>
          <a:solidFill>
            <a:srgbClr val="1F4E79"/>
          </a:solidFill>
          <a:ln>
            <a:noFill/>
          </a:ln>
        </p:spPr>
        <p:txBody>
          <a:bodyPr/>
          <a:lstStyle/>
          <a:p>
            <a:endParaRPr lang="en-MY"/>
          </a:p>
        </p:txBody>
      </p:sp>
      <p:sp>
        <p:nvSpPr>
          <p:cNvPr id="261" name="CloseGlyph"/>
          <p:cNvSpPr/>
          <p:nvPr/>
        </p:nvSpPr>
        <p:spPr>
          <a:xfrm>
            <a:off x="10421142" y="2005645"/>
            <a:ext cx="176662" cy="176662"/>
          </a:xfrm>
          <a:custGeom>
            <a:avLst/>
            <a:gdLst/>
            <a:ahLst/>
            <a:cxnLst/>
            <a:rect l="0" t="0" r="r" b="b"/>
            <a:pathLst>
              <a:path w="100" h="100">
                <a:moveTo>
                  <a:pt x="25" y="0"/>
                </a:moveTo>
                <a:lnTo>
                  <a:pt x="50" y="25"/>
                </a:lnTo>
                <a:lnTo>
                  <a:pt x="75" y="0"/>
                </a:lnTo>
                <a:lnTo>
                  <a:pt x="100" y="25"/>
                </a:lnTo>
                <a:lnTo>
                  <a:pt x="75" y="50"/>
                </a:lnTo>
                <a:lnTo>
                  <a:pt x="100" y="75"/>
                </a:lnTo>
                <a:lnTo>
                  <a:pt x="75" y="100"/>
                </a:lnTo>
                <a:lnTo>
                  <a:pt x="50" y="75"/>
                </a:lnTo>
                <a:lnTo>
                  <a:pt x="25" y="100"/>
                </a:lnTo>
                <a:lnTo>
                  <a:pt x="0" y="75"/>
                </a:lnTo>
                <a:lnTo>
                  <a:pt x="25" y="50"/>
                </a:lnTo>
                <a:lnTo>
                  <a:pt x="0" y="25"/>
                </a:lnTo>
                <a:close/>
              </a:path>
            </a:pathLst>
          </a:custGeom>
          <a:solidFill>
            <a:srgbClr val="FFFFFF"/>
          </a:solidFill>
          <a:ln>
            <a:noFill/>
          </a:ln>
        </p:spPr>
        <p:txBody>
          <a:bodyPr/>
          <a:lstStyle/>
          <a:p>
            <a:endParaRPr lang="en-MY"/>
          </a:p>
        </p:txBody>
      </p:sp>
      <p:sp>
        <p:nvSpPr>
          <p:cNvPr id="211" name="FBody"/>
          <p:cNvSpPr txBox="1"/>
          <p:nvPr/>
        </p:nvSpPr>
        <p:spPr>
          <a:xfrm>
            <a:off x="1490472" y="2688336"/>
            <a:ext cx="9211026" cy="219456"/>
          </a:xfrm>
          <a:prstGeom prst="rect">
            <a:avLst/>
          </a:prstGeom>
          <a:noFill/>
        </p:spPr>
        <p:txBody>
          <a:bodyPr wrap="square">
            <a:noAutofit/>
          </a:bodyPr>
          <a:lstStyle/>
          <a:p>
            <a:pPr/>
            <a:r>
              <a:rPr lang="en-MY" sz="1250" dirty="0">
                <a:solidFill>
                  <a:schemeClr val="tx1">
                    <a:lumMod val="85000"/>
                    <a:lumOff val="15000"/>
                  </a:schemeClr>
                </a:solidFill>
              </a:rPr>
              <a:t>Sealant luaran, minyak kayu, atau varnis tahan UV dan kelembapan.</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Kerusi Taman — Kerusi Kayu Keras</a:t>
            </a:r>
          </a:p>
          <a:p>
            <a:r>
              <a:rPr lang="en-MY" sz="900" dirty="0">
                <a:solidFill>
                  <a:schemeClr val="tx1">
                    <a:lumMod val="85000"/>
                    <a:lumOff val="15000"/>
                  </a:schemeClr>
                </a:solidFill>
              </a:rPr>
              <a:t>KELUARGA PELAKSANAAN: FAMILY_P1</a:t>
            </a:r>
          </a:p>
          <a:p>
            <a:r>
              <a:rPr lang="en-MY" sz="900" dirty="0">
                <a:solidFill>
                  <a:schemeClr val="tx1">
                    <a:lumMod val="85000"/>
                    <a:lumOff val="15000"/>
                  </a:schemeClr>
                </a:solidFill>
              </a:rPr>
              <a:t>PERANAN HALAMAN SEMAKAN: SPECIFICATION_POPUP</a:t>
            </a:r>
          </a:p>
          <a:p>
            <a:r>
              <a:rPr lang="en-MY" sz="900" dirty="0">
                <a:solidFill>
                  <a:schemeClr val="tx1">
                    <a:lumMod val="85000"/>
                    <a:lumOff val="15000"/>
                  </a:schemeClr>
                </a:solidFill>
              </a:rPr>
              <a:t/>
            </a:r>
          </a:p>
          <a:p>
            <a:r>
              <a:rPr lang="en-MY" sz="900" dirty="0">
                <a:solidFill>
                  <a:schemeClr val="tx1">
                    <a:lumMod val="85000"/>
                    <a:lumOff val="15000"/>
                  </a:schemeClr>
                </a:solidFill>
              </a:rPr>
              <a:t>BUKTI: Family P1 Level 2 specification popup 4 of 4</a:t>
            </a:r>
          </a:p>
          <a:p>
            <a:r>
              <a:rPr lang="en-MY" sz="900" dirty="0">
                <a:solidFill>
                  <a:schemeClr val="tx1">
                    <a:lumMod val="85000"/>
                    <a:lumOff val="15000"/>
                  </a:schemeClr>
                </a:solidFill>
              </a:rPr>
              <a:t>POLISI NOTA: CONTENT_VO_NOTES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NO_CONTROL  [none]</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CLOSE_ICON</a:t>
            </a:r>
          </a:p>
          <a:p>
            <a:r>
              <a:rPr lang="en-MY" sz="900" dirty="0">
                <a:solidFill>
                  <a:schemeClr val="tx1">
                    <a:lumMod val="85000"/>
                    <a:lumOff val="15000"/>
                  </a:schemeClr>
                </a:solidFill>
              </a:rPr>
              <a:t>  return_target = SCR_KERUSI_TAMAN_EX01_DETAIL</a:t>
            </a:r>
          </a:p>
          <a:p>
            <a:r>
              <a:rPr lang="en-MY" sz="900" dirty="0">
                <a:solidFill>
                  <a:schemeClr val="tx1">
                    <a:lumMod val="85000"/>
                    <a:lumOff val="15000"/>
                  </a:schemeClr>
                </a:solidFill>
              </a:rPr>
              <a:t>SKOP SELESAI: ITEM</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2 · lapisan skrin 3</a:t>
            </a:r>
          </a:p>
          <a:p>
            <a:r>
              <a:rPr lang="en-MY" sz="900" dirty="0">
                <a:solidFill>
                  <a:schemeClr val="tx1">
                    <a:lumMod val="85000"/>
                    <a:lumOff val="15000"/>
                  </a:schemeClr>
                </a:solidFill>
              </a:rPr>
              <a:t>INDUK: SCR_KERUSI_TAMAN_EX01_DETAIL</a:t>
            </a:r>
          </a:p>
          <a:p>
            <a:r>
              <a:rPr lang="en-MY" sz="900" b="1" dirty="0">
                <a:solidFill>
                  <a:schemeClr val="tx1">
                    <a:lumMod val="85000"/>
                    <a:lumOff val="15000"/>
                  </a:schemeClr>
                </a:solidFill>
              </a:rPr>
              <a:t>SUMBER:</a:t>
            </a:r>
          </a:p>
          <a:p>
            <a:r>
              <a:rPr lang="en-MY" sz="900" dirty="0">
                <a:solidFill>
                  <a:schemeClr val="tx1">
                    <a:lumMod val="85000"/>
                    <a:lumOff val="15000"/>
                  </a:schemeClr>
                </a:solidFill>
              </a:rPr>
              <a:t>  K5-PL06-T03-B02-KERUSI-TAMAN-ROW-01</a:t>
            </a:r>
          </a:p>
          <a:p>
            <a:r>
              <a:rPr lang="en-MY" sz="900" dirty="0">
                <a:solidFill>
                  <a:schemeClr val="tx1">
                    <a:lumMod val="85000"/>
                    <a:lumOff val="15000"/>
                  </a:schemeClr>
                </a:solidFill>
              </a:rPr>
              <a:t>    ms 242 / fizikal 261</a:t>
            </a:r>
          </a:p>
          <a:p>
            <a:r>
              <a:rPr lang="en-MY" sz="900" b="1" dirty="0">
                <a:solidFill>
                  <a:schemeClr val="tx1">
                    <a:lumMod val="85000"/>
                    <a:lumOff val="15000"/>
                  </a:schemeClr>
                </a:solidFill>
              </a:rPr>
              <a:t>ITEM INTERAKSI:</a:t>
            </a:r>
          </a:p>
          <a:p>
            <a:r>
              <a:rPr lang="en-MY" sz="900" dirty="0">
                <a:solidFill>
                  <a:schemeClr val="tx1">
                    <a:lumMod val="85000"/>
                    <a:lumOff val="15000"/>
                  </a:schemeClr>
                </a:solidFill>
              </a:rPr>
              <a:t>  II_KERUSI_TAMAN_R01_SPEC04  &lt;-  K5-PL06-T03-B02-KERUSI-TAMAN-ROW-01</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Skrin penuh ini ialah hasil Level 1 (klik contoh).</a:t>
            </a:r>
          </a:p>
          <a:p>
            <a:r>
              <a:rPr lang="en-MY" sz="900" dirty="0">
                <a:solidFill>
                  <a:schemeClr val="tx1">
                    <a:lumMod val="85000"/>
                    <a:lumOff val="15000"/>
                  </a:schemeClr>
                </a:solidFill>
              </a:rPr>
              <a:t>  Klik spesifikasi = Bariah Level 2. Membuka popup (STATE).</a:t>
            </a:r>
          </a:p>
          <a:p>
            <a:r>
              <a:rPr lang="en-MY" sz="900" dirty="0">
                <a:solidFill>
                  <a:schemeClr val="tx1">
                    <a:lumMod val="85000"/>
                    <a:lumOff val="15000"/>
                  </a:schemeClr>
                </a:solidFill>
              </a:rPr>
              <a:t>  Ikon tutup kembali ke skrin contoh penuh yang SAMA.</a:t>
            </a:r>
          </a:p>
          <a:p>
            <a:r>
              <a:rPr lang="en-MY" sz="900" dirty="0">
                <a:solidFill>
                  <a:schemeClr val="tx1">
                    <a:lumMod val="85000"/>
                    <a:lumOff val="15000"/>
                  </a:schemeClr>
                </a:solidFill>
              </a:rPr>
              <a:t>  Kembali -&gt; SCR_KERUSI_TAMAN_EX01_DETAIL (senarai contoh komponen).</a:t>
            </a:r>
          </a:p>
          <a:p>
            <a:r>
              <a:rPr lang="en-MY" sz="900" dirty="0">
                <a:solidFill>
                  <a:schemeClr val="tx1">
                    <a:lumMod val="85000"/>
                    <a:lumOff val="15000"/>
                  </a:schemeClr>
                </a:solidFill>
              </a:rPr>
              <a:t>  4/4 spesifikasi dilihat.</a:t>
            </a:r>
          </a:p>
          <a:p>
            <a:r>
              <a:rPr lang="en-MY" sz="900" b="1" dirty="0">
                <a:solidFill>
                  <a:schemeClr val="tx1">
                    <a:lumMod val="85000"/>
                    <a:lumOff val="15000"/>
                  </a:schemeClr>
                </a:solidFill>
              </a:rPr>
              <a:t>IDENTITI SUMBER:</a:t>
            </a:r>
          </a:p>
          <a:p>
            <a:r>
              <a:rPr lang="en-MY" sz="900" dirty="0">
                <a:solidFill>
                  <a:schemeClr val="tx1">
                    <a:lumMod val="85000"/>
                    <a:lumOff val="15000"/>
                  </a:schemeClr>
                </a:solidFill>
              </a:rPr>
              <a:t>  4 item interaksi daripada SATU baris sumber: K5-PL06-T03-B02-KERUSI-TAMAN-ROW-01</a:t>
            </a:r>
          </a:p>
          <a:p>
            <a:r>
              <a:rPr lang="en-MY" sz="900" dirty="0">
                <a:solidFill>
                  <a:schemeClr val="tx1">
                    <a:lumMod val="85000"/>
                    <a:lumOff val="15000"/>
                  </a:schemeClr>
                </a:solidFill>
              </a:rPr>
              <a:t>  Tiada baris sumber baharu dicipta.</a:t>
            </a:r>
          </a:p>
          <a:p>
            <a:r>
              <a:rPr lang="en-MY" sz="900" dirty="0">
                <a:solidFill>
                  <a:schemeClr val="tx1">
                    <a:lumMod val="85000"/>
                    <a:lumOff val="15000"/>
                  </a:schemeClr>
                </a:solidFill>
              </a:rPr>
              <a:t>STATUS KEPUTUSAN: B02-D-03, B02-D-05</a:t>
            </a:r>
          </a:p>
          <a:p>
            <a:r>
              <a:rPr lang="en-MY" sz="900" dirty="0">
                <a:solidFill>
                  <a:schemeClr val="tx1">
                    <a:lumMod val="85000"/>
                    <a:lumOff val="15000"/>
                  </a:schemeClr>
                </a:solidFill>
              </a:rPr>
              <a:t>STATUS BELUM SELESAI: NONE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Kerusi Kayu Keras</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Kerusi Taman</a:t>
            </a:r>
          </a:p>
        </p:txBody>
      </p:sp>
      <p:sp>
        <p:nvSpPr>
          <p:cNvPr id="20" name="ExHead"/>
          <p:cNvSpPr txBox="1"/>
          <p:nvPr/>
        </p:nvSpPr>
        <p:spPr>
          <a:xfrm>
            <a:off x="723930" y="1115568"/>
            <a:ext cx="10744200" cy="402336"/>
          </a:xfrm>
          <a:prstGeom prst="rect">
            <a:avLst/>
          </a:prstGeom>
          <a:noFill/>
        </p:spPr>
        <p:txBody>
          <a:bodyPr wrap="square">
            <a:noAutofit/>
          </a:bodyPr>
          <a:lstStyle/>
          <a:p>
            <a:pPr/>
            <a:r>
              <a:rPr lang="en-MY" sz="2200" b="1" dirty="0">
                <a:solidFill>
                  <a:schemeClr val="tx1">
                    <a:lumMod val="85000"/>
                    <a:lumOff val="15000"/>
                  </a:schemeClr>
                </a:solidFill>
              </a:rPr>
              <a:t>Kerusi Kayu Keras</a:t>
            </a:r>
          </a:p>
        </p:txBody>
      </p:sp>
      <p:sp>
        <p:nvSpPr>
          <p:cNvPr id="25" name="Instr"/>
          <p:cNvSpPr txBox="1"/>
          <p:nvPr/>
        </p:nvSpPr>
        <p:spPr>
          <a:xfrm>
            <a:off x="723930" y="1609344"/>
            <a:ext cx="10744200" cy="365760"/>
          </a:xfrm>
          <a:prstGeom prst="rect">
            <a:avLst/>
          </a:prstGeom>
          <a:noFill/>
        </p:spPr>
        <p:txBody>
          <a:bodyPr wrap="square">
            <a:noAutofit/>
          </a:bodyPr>
          <a:lstStyle/>
          <a:p>
            <a:pPr algn="ctr"/>
            <a:r>
              <a:rPr lang="en-MY" sz="1500" dirty="0">
                <a:solidFill>
                  <a:schemeClr val="tx1">
                    <a:lumMod val="85000"/>
                    <a:lumOff val="15000"/>
                  </a:schemeClr>
                </a:solidFill>
              </a:rPr>
              <a:t>Klik pada setiap spesifikasi untuk penjelasan lanjut.</a:t>
            </a:r>
          </a:p>
        </p:txBody>
      </p:sp>
      <p:sp>
        <p:nvSpPr>
          <p:cNvPr id="40" name="ItemCard"/>
          <p:cNvSpPr txBox="1"/>
          <p:nvPr/>
        </p:nvSpPr>
        <p:spPr>
          <a:xfrm>
            <a:off x="723885" y="2103120"/>
            <a:ext cx="2398014" cy="969264"/>
          </a:xfrm>
          <a:prstGeom prst="rect">
            <a:avLst/>
          </a:prstGeom>
          <a:solidFill>
            <a:srgbClr val="E8F5E9"/>
          </a:solidFill>
          <a:ln w="28575">
            <a:solidFill>
              <a:srgbClr val="2E7D32"/>
            </a:solidFill>
          </a:ln>
        </p:spPr>
        <p:txBody>
          <a:bodyPr wrap="square" anchor="ctr">
            <a:noAutofit/>
          </a:bodyPr>
          <a:lstStyle/>
          <a:p>
            <a:pPr algn="ctr"/>
            <a:r>
              <a:rPr lang="en-MY" sz="1350" b="1" dirty="0">
                <a:solidFill>
                  <a:schemeClr val="tx1">
                    <a:lumMod val="85000"/>
                    <a:lumOff val="15000"/>
                  </a:schemeClr>
                </a:solidFill>
              </a:rPr>
              <a:t>Bahan</a:t>
            </a:r>
          </a:p>
        </p:txBody>
      </p:sp>
      <p:sp>
        <p:nvSpPr>
          <p:cNvPr id="41" name="Tick"/>
          <p:cNvSpPr/>
          <p:nvPr/>
        </p:nvSpPr>
        <p:spPr>
          <a:xfrm>
            <a:off x="2719563" y="218541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2" name="ItemCard"/>
          <p:cNvSpPr txBox="1"/>
          <p:nvPr/>
        </p:nvSpPr>
        <p:spPr>
          <a:xfrm>
            <a:off x="3505947" y="2103120"/>
            <a:ext cx="2398014" cy="969264"/>
          </a:xfrm>
          <a:prstGeom prst="rect">
            <a:avLst/>
          </a:prstGeom>
          <a:solidFill>
            <a:srgbClr val="E8F5E9"/>
          </a:solidFill>
          <a:ln w="28575">
            <a:solidFill>
              <a:srgbClr val="2E7D32"/>
            </a:solidFill>
          </a:ln>
        </p:spPr>
        <p:txBody>
          <a:bodyPr wrap="square" anchor="ctr">
            <a:noAutofit/>
          </a:bodyPr>
          <a:lstStyle/>
          <a:p>
            <a:pPr algn="ctr"/>
            <a:r>
              <a:rPr lang="en-MY" sz="1350" b="1" dirty="0">
                <a:solidFill>
                  <a:schemeClr val="tx1">
                    <a:lumMod val="85000"/>
                    <a:lumOff val="15000"/>
                  </a:schemeClr>
                </a:solidFill>
              </a:rPr>
              <a:t>Dimensi</a:t>
            </a:r>
          </a:p>
        </p:txBody>
      </p:sp>
      <p:sp>
        <p:nvSpPr>
          <p:cNvPr id="43" name="Tick"/>
          <p:cNvSpPr/>
          <p:nvPr/>
        </p:nvSpPr>
        <p:spPr>
          <a:xfrm>
            <a:off x="5501625" y="218541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4" name="ItemCard"/>
          <p:cNvSpPr txBox="1"/>
          <p:nvPr/>
        </p:nvSpPr>
        <p:spPr>
          <a:xfrm>
            <a:off x="6288009" y="2103120"/>
            <a:ext cx="2398014" cy="969264"/>
          </a:xfrm>
          <a:prstGeom prst="rect">
            <a:avLst/>
          </a:prstGeom>
          <a:solidFill>
            <a:srgbClr val="E8F5E9"/>
          </a:solidFill>
          <a:ln w="28575">
            <a:solidFill>
              <a:srgbClr val="2E7D32"/>
            </a:solidFill>
          </a:ln>
        </p:spPr>
        <p:txBody>
          <a:bodyPr wrap="square" anchor="ctr">
            <a:noAutofit/>
          </a:bodyPr>
          <a:lstStyle/>
          <a:p>
            <a:pPr algn="ctr"/>
            <a:r>
              <a:rPr lang="en-MY" sz="1350" b="1" dirty="0">
                <a:solidFill>
                  <a:schemeClr val="tx1">
                    <a:lumMod val="85000"/>
                    <a:lumOff val="15000"/>
                  </a:schemeClr>
                </a:solidFill>
              </a:rPr>
              <a:t>Penyambungan</a:t>
            </a:r>
          </a:p>
        </p:txBody>
      </p:sp>
      <p:sp>
        <p:nvSpPr>
          <p:cNvPr id="45" name="Tick"/>
          <p:cNvSpPr/>
          <p:nvPr/>
        </p:nvSpPr>
        <p:spPr>
          <a:xfrm>
            <a:off x="8283687" y="218541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6" name="ItemCard"/>
          <p:cNvSpPr txBox="1"/>
          <p:nvPr/>
        </p:nvSpPr>
        <p:spPr>
          <a:xfrm>
            <a:off x="9070071" y="2103120"/>
            <a:ext cx="2398014" cy="969264"/>
          </a:xfrm>
          <a:prstGeom prst="rect">
            <a:avLst/>
          </a:prstGeom>
          <a:solidFill>
            <a:srgbClr val="E8F5E9"/>
          </a:solidFill>
          <a:ln w="28575">
            <a:solidFill>
              <a:srgbClr val="2E7D32"/>
            </a:solidFill>
          </a:ln>
        </p:spPr>
        <p:txBody>
          <a:bodyPr wrap="square" anchor="ctr">
            <a:noAutofit/>
          </a:bodyPr>
          <a:lstStyle/>
          <a:p>
            <a:pPr algn="ctr"/>
            <a:r>
              <a:rPr lang="en-MY" sz="1350" b="1" dirty="0">
                <a:solidFill>
                  <a:schemeClr val="tx1">
                    <a:lumMod val="85000"/>
                    <a:lumOff val="15000"/>
                  </a:schemeClr>
                </a:solidFill>
              </a:rPr>
              <a:t>Kemasan</a:t>
            </a:r>
          </a:p>
        </p:txBody>
      </p:sp>
      <p:sp>
        <p:nvSpPr>
          <p:cNvPr id="47" name="Tick"/>
          <p:cNvSpPr/>
          <p:nvPr/>
        </p:nvSpPr>
        <p:spPr>
          <a:xfrm>
            <a:off x="11065749" y="218541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70" name="ExContoh"/>
          <p:cNvSpPr txBox="1"/>
          <p:nvPr/>
        </p:nvSpPr>
        <p:spPr>
          <a:xfrm>
            <a:off x="723930" y="3383280"/>
            <a:ext cx="10744200" cy="365760"/>
          </a:xfrm>
          <a:prstGeom prst="rect">
            <a:avLst/>
          </a:prstGeom>
          <a:noFill/>
        </p:spPr>
        <p:txBody>
          <a:bodyPr wrap="square">
            <a:noAutofit/>
          </a:bodyPr>
          <a:lstStyle/>
          <a:p>
            <a:pPr/>
            <a:r>
              <a:rPr lang="en-MY" sz="1400" b="1" dirty="0">
                <a:solidFill>
                  <a:schemeClr val="tx1">
                    <a:lumMod val="85000"/>
                    <a:lumOff val="15000"/>
                  </a:schemeClr>
                </a:solidFill>
              </a:rPr>
              <a:t>Contoh: Jati, Cengal, Balau</a:t>
            </a:r>
          </a:p>
        </p:txBody>
      </p:sp>
      <p:sp>
        <p:nvSpPr>
          <p:cNvPr id="30" name="VisualDir"/>
          <p:cNvSpPr txBox="1"/>
          <p:nvPr/>
        </p:nvSpPr>
        <p:spPr>
          <a:xfrm>
            <a:off x="723930" y="3858768"/>
            <a:ext cx="10744200" cy="621792"/>
          </a:xfrm>
          <a:prstGeom prst="rect">
            <a:avLst/>
          </a:prstGeom>
          <a:noFill/>
        </p:spPr>
        <p:txBody>
          <a:bodyPr wrap="square">
            <a:noAutofit/>
          </a:bodyPr>
          <a:lstStyle/>
          <a:p>
            <a:pPr/>
            <a:r>
              <a:rPr lang="en-MY" sz="1100" dirty="0">
                <a:solidFill>
                  <a:srgbClr val="808080"/>
                </a:solidFill>
              </a:rPr>
              <a:t>[Visual: Foto jadual spesifikasi Kerusi Kayu Keras, modul ms 242. Aset K5PL06T03-B02-IMG-p242-x28. Tidak</a:t>
            </a:r>
          </a:p>
          <a:p>
            <a:pPr/>
            <a:r>
              <a:rPr lang="en-MY" sz="1100" dirty="0">
                <a:solidFill>
                  <a:srgbClr val="808080"/>
                </a:solidFill>
              </a:rPr>
              <a:t>dibenamkan.]</a:t>
            </a:r>
          </a:p>
        </p:txBody>
      </p:sp>
      <p:sp>
        <p:nvSpPr>
          <p:cNvPr id="95" name="Btn"/>
          <p:cNvSpPr txBox="1"/>
          <p:nvPr/>
        </p:nvSpPr>
        <p:spPr>
          <a:xfrm>
            <a:off x="5295885" y="6419088"/>
            <a:ext cx="1600200" cy="347472"/>
          </a:xfrm>
          <a:prstGeom prst="rect">
            <a:avLst/>
          </a:prstGeom>
          <a:solidFill>
            <a:srgbClr val="1F4E79"/>
          </a:solidFill>
          <a:ln w="12700">
            <a:solidFill>
              <a:srgbClr val="1F4E79"/>
            </a:solidFill>
          </a:ln>
        </p:spPr>
        <p:txBody>
          <a:bodyPr wrap="square" anchor="ctr">
            <a:noAutofit/>
          </a:bodyPr>
          <a:lstStyle/>
          <a:p>
            <a:pPr algn="ctr"/>
            <a:r>
              <a:rPr lang="en-MY" sz="1600" b="1" dirty="0">
                <a:solidFill>
                  <a:srgbClr val="FFFFFF"/>
                </a:solidFill>
              </a:rPr>
              <a:t>Kembali</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Kerusi Taman — Kerusi Kayu Keras</a:t>
            </a:r>
          </a:p>
          <a:p>
            <a:r>
              <a:rPr lang="en-MY" sz="900" dirty="0">
                <a:solidFill>
                  <a:schemeClr val="tx1">
                    <a:lumMod val="85000"/>
                    <a:lumOff val="15000"/>
                  </a:schemeClr>
                </a:solidFill>
              </a:rPr>
              <a:t>KELUARGA PELAKSANAAN: FAMILY_P1</a:t>
            </a:r>
          </a:p>
          <a:p>
            <a:r>
              <a:rPr lang="en-MY" sz="900" dirty="0">
                <a:solidFill>
                  <a:schemeClr val="tx1">
                    <a:lumMod val="85000"/>
                    <a:lumOff val="15000"/>
                  </a:schemeClr>
                </a:solidFill>
              </a:rPr>
              <a:t>PERANAN HALAMAN SEMAKAN: EXAMPLE_DETAIL_ALL_VIEWED</a:t>
            </a:r>
          </a:p>
          <a:p>
            <a:r>
              <a:rPr lang="en-MY" sz="900" dirty="0">
                <a:solidFill>
                  <a:schemeClr val="tx1">
                    <a:lumMod val="85000"/>
                    <a:lumOff val="15000"/>
                  </a:schemeClr>
                </a:solidFill>
              </a:rPr>
              <a:t/>
            </a:r>
          </a:p>
          <a:p>
            <a:r>
              <a:rPr lang="en-MY" sz="900" dirty="0">
                <a:solidFill>
                  <a:schemeClr val="tx1">
                    <a:lumMod val="85000"/>
                    <a:lumOff val="15000"/>
                  </a:schemeClr>
                </a:solidFill>
              </a:rPr>
              <a:t>BUKTI: Family P1 example complete</a:t>
            </a:r>
          </a:p>
          <a:p>
            <a:r>
              <a:rPr lang="en-MY" sz="900" dirty="0">
                <a:solidFill>
                  <a:schemeClr val="tx1">
                    <a:lumMod val="85000"/>
                    <a:lumOff val="15000"/>
                  </a:schemeClr>
                </a:solidFill>
              </a:rPr>
              <a:t>POLISI NOTA: SILENT_STATE_NOTES  (SILENT)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NO_CONTROL  [none]</a:t>
            </a:r>
          </a:p>
          <a:p>
            <a:r>
              <a:rPr lang="en-MY" sz="900" dirty="0">
                <a:solidFill>
                  <a:schemeClr val="tx1">
                    <a:lumMod val="85000"/>
                    <a:lumOff val="15000"/>
                  </a:schemeClr>
                </a:solidFill>
              </a:rPr>
              <a:t>  back  = KEMBALI_BUTTON  [enabled — all specification items viewed]</a:t>
            </a:r>
          </a:p>
          <a:p>
            <a:r>
              <a:rPr lang="en-MY" sz="900" dirty="0">
                <a:solidFill>
                  <a:schemeClr val="tx1">
                    <a:lumMod val="85000"/>
                    <a:lumOff val="15000"/>
                  </a:schemeClr>
                </a:solidFill>
              </a:rPr>
              <a:t>  close = NO_CONTROL</a:t>
            </a:r>
          </a:p>
          <a:p>
            <a:r>
              <a:rPr lang="en-MY" sz="900" dirty="0">
                <a:solidFill>
                  <a:schemeClr val="tx1">
                    <a:lumMod val="85000"/>
                    <a:lumOff val="15000"/>
                  </a:schemeClr>
                </a:solidFill>
              </a:rPr>
              <a:t>  return_target = SCR_KERUSI_TAMAN_MAIN</a:t>
            </a:r>
          </a:p>
          <a:p>
            <a:r>
              <a:rPr lang="en-MY" sz="900" dirty="0">
                <a:solidFill>
                  <a:schemeClr val="tx1">
                    <a:lumMod val="85000"/>
                    <a:lumOff val="15000"/>
                  </a:schemeClr>
                </a:solidFill>
              </a:rPr>
              <a:t>SKOP SELESAI: EXAMPLE</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1 · lapisan skrin 2</a:t>
            </a:r>
          </a:p>
          <a:p>
            <a:r>
              <a:rPr lang="en-MY" sz="900" dirty="0">
                <a:solidFill>
                  <a:schemeClr val="tx1">
                    <a:lumMod val="85000"/>
                    <a:lumOff val="15000"/>
                  </a:schemeClr>
                </a:solidFill>
              </a:rPr>
              <a:t>INDUK: SCR_KERUSI_TAMAN_EX01_DETAIL</a:t>
            </a:r>
          </a:p>
          <a:p>
            <a:r>
              <a:rPr lang="en-MY" sz="900" b="1" dirty="0">
                <a:solidFill>
                  <a:schemeClr val="tx1">
                    <a:lumMod val="85000"/>
                    <a:lumOff val="15000"/>
                  </a:schemeClr>
                </a:solidFill>
              </a:rPr>
              <a:t>SUMBER:</a:t>
            </a:r>
          </a:p>
          <a:p>
            <a:r>
              <a:rPr lang="en-MY" sz="900" dirty="0">
                <a:solidFill>
                  <a:schemeClr val="tx1">
                    <a:lumMod val="85000"/>
                    <a:lumOff val="15000"/>
                  </a:schemeClr>
                </a:solidFill>
              </a:rPr>
              <a:t>  K5-PL06-T03-B02-KERUSI-TAMAN-ROW-01</a:t>
            </a:r>
          </a:p>
          <a:p>
            <a:r>
              <a:rPr lang="en-MY" sz="900" dirty="0">
                <a:solidFill>
                  <a:schemeClr val="tx1">
                    <a:lumMod val="85000"/>
                    <a:lumOff val="15000"/>
                  </a:schemeClr>
                </a:solidFill>
              </a:rPr>
              <a:t>    ms 242 / fizikal 261</a:t>
            </a:r>
          </a:p>
          <a:p>
            <a:r>
              <a:rPr lang="en-MY" sz="900" b="1" dirty="0">
                <a:solidFill>
                  <a:schemeClr val="tx1">
                    <a:lumMod val="85000"/>
                    <a:lumOff val="15000"/>
                  </a:schemeClr>
                </a:solidFill>
              </a:rPr>
              <a:t>ITEM INTERAKSI:</a:t>
            </a:r>
          </a:p>
          <a:p>
            <a:r>
              <a:rPr lang="en-MY" sz="900" dirty="0">
                <a:solidFill>
                  <a:schemeClr val="tx1">
                    <a:lumMod val="85000"/>
                    <a:lumOff val="15000"/>
                  </a:schemeClr>
                </a:solidFill>
              </a:rPr>
              <a:t>  II_KERUSI_TAMAN_R01_SPEC01  &lt;-  K5-PL06-T03-B02-KERUSI-TAMAN-ROW-01</a:t>
            </a:r>
          </a:p>
          <a:p>
            <a:r>
              <a:rPr lang="en-MY" sz="900" dirty="0">
                <a:solidFill>
                  <a:schemeClr val="tx1">
                    <a:lumMod val="85000"/>
                    <a:lumOff val="15000"/>
                  </a:schemeClr>
                </a:solidFill>
              </a:rPr>
              <a:t>  II_KERUSI_TAMAN_R01_SPEC02  &lt;-  K5-PL06-T03-B02-KERUSI-TAMAN-ROW-01</a:t>
            </a:r>
          </a:p>
          <a:p>
            <a:r>
              <a:rPr lang="en-MY" sz="900" dirty="0">
                <a:solidFill>
                  <a:schemeClr val="tx1">
                    <a:lumMod val="85000"/>
                    <a:lumOff val="15000"/>
                  </a:schemeClr>
                </a:solidFill>
              </a:rPr>
              <a:t>  II_KERUSI_TAMAN_R01_SPEC03  &lt;-  K5-PL06-T03-B02-KERUSI-TAMAN-ROW-01</a:t>
            </a:r>
          </a:p>
          <a:p>
            <a:r>
              <a:rPr lang="en-MY" sz="900" dirty="0">
                <a:solidFill>
                  <a:schemeClr val="tx1">
                    <a:lumMod val="85000"/>
                    <a:lumOff val="15000"/>
                  </a:schemeClr>
                </a:solidFill>
              </a:rPr>
              <a:t>  II_KERUSI_TAMAN_R01_SPEC04  &lt;-  K5-PL06-T03-B02-KERUSI-TAMAN-ROW-01</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Skrin penuh ini ialah hasil Level 1 (klik contoh).</a:t>
            </a:r>
          </a:p>
          <a:p>
            <a:r>
              <a:rPr lang="en-MY" sz="900" dirty="0">
                <a:solidFill>
                  <a:schemeClr val="tx1">
                    <a:lumMod val="85000"/>
                    <a:lumOff val="15000"/>
                  </a:schemeClr>
                </a:solidFill>
              </a:rPr>
              <a:t>  Klik spesifikasi = Bariah Level 2. Membuka popup (STATE).</a:t>
            </a:r>
          </a:p>
          <a:p>
            <a:r>
              <a:rPr lang="en-MY" sz="900" dirty="0">
                <a:solidFill>
                  <a:schemeClr val="tx1">
                    <a:lumMod val="85000"/>
                    <a:lumOff val="15000"/>
                  </a:schemeClr>
                </a:solidFill>
              </a:rPr>
              <a:t>  Ikon tutup kembali ke skrin contoh penuh yang SAMA.</a:t>
            </a:r>
          </a:p>
          <a:p>
            <a:r>
              <a:rPr lang="en-MY" sz="900" dirty="0">
                <a:solidFill>
                  <a:schemeClr val="tx1">
                    <a:lumMod val="85000"/>
                    <a:lumOff val="15000"/>
                  </a:schemeClr>
                </a:solidFill>
              </a:rPr>
              <a:t>  Kembali -&gt; SCR_KERUSI_TAMAN_MAIN (senarai contoh komponen).</a:t>
            </a:r>
          </a:p>
          <a:p>
            <a:r>
              <a:rPr lang="en-MY" sz="900" dirty="0">
                <a:solidFill>
                  <a:schemeClr val="tx1">
                    <a:lumMod val="85000"/>
                    <a:lumOff val="15000"/>
                  </a:schemeClr>
                </a:solidFill>
              </a:rPr>
              <a:t>  4/4 spesifikasi dilihat.</a:t>
            </a:r>
          </a:p>
          <a:p>
            <a:r>
              <a:rPr lang="en-MY" sz="900" b="1" dirty="0">
                <a:solidFill>
                  <a:schemeClr val="tx1">
                    <a:lumMod val="85000"/>
                    <a:lumOff val="15000"/>
                  </a:schemeClr>
                </a:solidFill>
              </a:rPr>
              <a:t>IDENTITI SUMBER:</a:t>
            </a:r>
          </a:p>
          <a:p>
            <a:r>
              <a:rPr lang="en-MY" sz="900" dirty="0">
                <a:solidFill>
                  <a:schemeClr val="tx1">
                    <a:lumMod val="85000"/>
                    <a:lumOff val="15000"/>
                  </a:schemeClr>
                </a:solidFill>
              </a:rPr>
              <a:t>  4 item interaksi daripada SATU baris sumber: K5-PL06-T03-B02-KERUSI-TAMAN-ROW-01</a:t>
            </a:r>
          </a:p>
          <a:p>
            <a:r>
              <a:rPr lang="en-MY" sz="900" dirty="0">
                <a:solidFill>
                  <a:schemeClr val="tx1">
                    <a:lumMod val="85000"/>
                    <a:lumOff val="15000"/>
                  </a:schemeClr>
                </a:solidFill>
              </a:rPr>
              <a:t>  Tiada baris sumber baharu dicipta.</a:t>
            </a:r>
          </a:p>
          <a:p>
            <a:r>
              <a:rPr lang="en-MY" sz="900" dirty="0">
                <a:solidFill>
                  <a:schemeClr val="tx1">
                    <a:lumMod val="85000"/>
                    <a:lumOff val="15000"/>
                  </a:schemeClr>
                </a:solidFill>
              </a:rPr>
              <a:t>STATUS KEPUTUSAN: B02-D-03, B02-D-07</a:t>
            </a:r>
          </a:p>
          <a:p>
            <a:r>
              <a:rPr lang="en-MY" sz="900" dirty="0">
                <a:solidFill>
                  <a:schemeClr val="tx1">
                    <a:lumMod val="85000"/>
                    <a:lumOff val="15000"/>
                  </a:schemeClr>
                </a:solidFill>
              </a:rPr>
              <a:t>STATUS BELUM SELESAI: NONE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Kerusi Taman</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Perabot Taman</a:t>
            </a:r>
          </a:p>
        </p:txBody>
      </p:sp>
      <p:sp>
        <p:nvSpPr>
          <p:cNvPr id="20" name="Head"/>
          <p:cNvSpPr txBox="1"/>
          <p:nvPr/>
        </p:nvSpPr>
        <p:spPr>
          <a:xfrm>
            <a:off x="723930" y="1115568"/>
            <a:ext cx="10744200" cy="402336"/>
          </a:xfrm>
          <a:prstGeom prst="rect">
            <a:avLst/>
          </a:prstGeom>
          <a:noFill/>
        </p:spPr>
        <p:txBody>
          <a:bodyPr wrap="square">
            <a:noAutofit/>
          </a:bodyPr>
          <a:lstStyle/>
          <a:p>
            <a:pPr/>
            <a:r>
              <a:rPr lang="en-MY" sz="2000" b="1" dirty="0">
                <a:solidFill>
                  <a:schemeClr val="tx1">
                    <a:lumMod val="85000"/>
                    <a:lumOff val="15000"/>
                  </a:schemeClr>
                </a:solidFill>
              </a:rPr>
              <a:t>Kerusi Taman</a:t>
            </a:r>
          </a:p>
        </p:txBody>
      </p:sp>
      <p:sp>
        <p:nvSpPr>
          <p:cNvPr id="25" name="Instr"/>
          <p:cNvSpPr txBox="1"/>
          <p:nvPr/>
        </p:nvSpPr>
        <p:spPr>
          <a:xfrm>
            <a:off x="723930" y="1591056"/>
            <a:ext cx="10744200" cy="365760"/>
          </a:xfrm>
          <a:prstGeom prst="rect">
            <a:avLst/>
          </a:prstGeom>
          <a:noFill/>
        </p:spPr>
        <p:txBody>
          <a:bodyPr wrap="square">
            <a:noAutofit/>
          </a:bodyPr>
          <a:lstStyle/>
          <a:p>
            <a:pPr algn="ctr"/>
            <a:r>
              <a:rPr lang="en-MY" sz="1500" dirty="0">
                <a:solidFill>
                  <a:schemeClr val="tx1">
                    <a:lumMod val="85000"/>
                    <a:lumOff val="15000"/>
                  </a:schemeClr>
                </a:solidFill>
              </a:rPr>
              <a:t>Klik pada setiap contoh untuk penjelasan lanjut.</a:t>
            </a:r>
          </a:p>
        </p:txBody>
      </p:sp>
      <p:sp>
        <p:nvSpPr>
          <p:cNvPr id="40" name="ItemCard"/>
          <p:cNvSpPr txBox="1"/>
          <p:nvPr/>
        </p:nvSpPr>
        <p:spPr>
          <a:xfrm>
            <a:off x="723885" y="2157984"/>
            <a:ext cx="3325368"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Kerusi Kayu Keras</a:t>
            </a:r>
          </a:p>
        </p:txBody>
      </p:sp>
      <p:sp>
        <p:nvSpPr>
          <p:cNvPr id="41" name="Tick"/>
          <p:cNvSpPr/>
          <p:nvPr/>
        </p:nvSpPr>
        <p:spPr>
          <a:xfrm>
            <a:off x="3646917" y="2240280"/>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2" name="ItemCard"/>
          <p:cNvSpPr txBox="1"/>
          <p:nvPr/>
        </p:nvSpPr>
        <p:spPr>
          <a:xfrm>
            <a:off x="4433301" y="2157984"/>
            <a:ext cx="3325368" cy="1481328"/>
          </a:xfrm>
          <a:prstGeom prst="rect">
            <a:avLst/>
          </a:prstGeom>
          <a:solidFill>
            <a:srgbClr val="F2F2F2"/>
          </a:solidFill>
          <a:ln w="12700">
            <a:solidFill>
              <a:srgbClr val="404040"/>
            </a:solidFill>
          </a:ln>
        </p:spPr>
        <p:txBody>
          <a:bodyPr wrap="square" anchor="ctr">
            <a:noAutofit/>
          </a:bodyPr>
          <a:lstStyle/>
          <a:p>
            <a:pPr algn="ctr"/>
            <a:r>
              <a:rPr lang="en-MY" sz="1500" b="1" dirty="0">
                <a:solidFill>
                  <a:schemeClr val="tx1">
                    <a:lumMod val="85000"/>
                    <a:lumOff val="15000"/>
                  </a:schemeClr>
                </a:solidFill>
              </a:rPr>
              <a:t>Kerusi Konkrit</a:t>
            </a:r>
          </a:p>
        </p:txBody>
      </p:sp>
      <p:sp>
        <p:nvSpPr>
          <p:cNvPr id="43" name="ItemCard"/>
          <p:cNvSpPr txBox="1"/>
          <p:nvPr/>
        </p:nvSpPr>
        <p:spPr>
          <a:xfrm>
            <a:off x="8142717" y="2157984"/>
            <a:ext cx="3325368" cy="1481328"/>
          </a:xfrm>
          <a:prstGeom prst="rect">
            <a:avLst/>
          </a:prstGeom>
          <a:solidFill>
            <a:srgbClr val="F2F2F2"/>
          </a:solidFill>
          <a:ln w="12700">
            <a:solidFill>
              <a:srgbClr val="404040"/>
            </a:solidFill>
          </a:ln>
        </p:spPr>
        <p:txBody>
          <a:bodyPr wrap="square" anchor="ctr">
            <a:noAutofit/>
          </a:bodyPr>
          <a:lstStyle/>
          <a:p>
            <a:pPr algn="ctr"/>
            <a:r>
              <a:rPr lang="en-MY" sz="1500" b="1" dirty="0">
                <a:solidFill>
                  <a:schemeClr val="tx1">
                    <a:lumMod val="85000"/>
                    <a:lumOff val="15000"/>
                  </a:schemeClr>
                </a:solidFill>
              </a:rPr>
              <a:t>Kerusi Komposit</a:t>
            </a:r>
          </a:p>
        </p:txBody>
      </p:sp>
      <p:sp>
        <p:nvSpPr>
          <p:cNvPr id="30" name="VisualDir"/>
          <p:cNvSpPr txBox="1"/>
          <p:nvPr/>
        </p:nvSpPr>
        <p:spPr>
          <a:xfrm>
            <a:off x="723930" y="5394960"/>
            <a:ext cx="10744200" cy="365760"/>
          </a:xfrm>
          <a:prstGeom prst="rect">
            <a:avLst/>
          </a:prstGeom>
          <a:noFill/>
        </p:spPr>
        <p:txBody>
          <a:bodyPr wrap="square">
            <a:noAutofit/>
          </a:bodyPr>
          <a:lstStyle/>
          <a:p>
            <a:pPr/>
            <a:r>
              <a:rPr lang="en-MY" sz="1100" dirty="0">
                <a:solidFill>
                  <a:srgbClr val="808080"/>
                </a:solidFill>
              </a:rPr>
              <a:t>[Visual: Foto jadual spesifikasi kerusi taman, modul ms 242–243. Tidak dibenamkan.]</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Kerusi Taman — penerangan + senarai contoh</a:t>
            </a:r>
          </a:p>
          <a:p>
            <a:r>
              <a:rPr lang="en-MY" sz="900" dirty="0">
                <a:solidFill>
                  <a:schemeClr val="tx1">
                    <a:lumMod val="85000"/>
                    <a:lumOff val="15000"/>
                  </a:schemeClr>
                </a:solidFill>
              </a:rPr>
              <a:t>KELUARGA PELAKSANAAN: FAMILY_P1</a:t>
            </a:r>
          </a:p>
          <a:p>
            <a:r>
              <a:rPr lang="en-MY" sz="900" dirty="0">
                <a:solidFill>
                  <a:schemeClr val="tx1">
                    <a:lumMod val="85000"/>
                    <a:lumOff val="15000"/>
                  </a:schemeClr>
                </a:solidFill>
              </a:rPr>
              <a:t>PERANAN HALAMAN SEMAKAN: COMPONENT_EXPLANATION_LIST_BASE</a:t>
            </a:r>
          </a:p>
          <a:p>
            <a:r>
              <a:rPr lang="en-MY" sz="900" dirty="0">
                <a:solidFill>
                  <a:schemeClr val="tx1">
                    <a:lumMod val="85000"/>
                    <a:lumOff val="15000"/>
                  </a:schemeClr>
                </a:solidFill>
              </a:rPr>
              <a:t/>
            </a:r>
          </a:p>
          <a:p>
            <a:r>
              <a:rPr lang="en-MY" sz="900" dirty="0">
                <a:solidFill>
                  <a:schemeClr val="tx1">
                    <a:lumMod val="85000"/>
                    <a:lumOff val="15000"/>
                  </a:schemeClr>
                </a:solidFill>
              </a:rPr>
              <a:t>BUKTI: Family P1 return target, one example ticked, component NOT yet complete</a:t>
            </a:r>
          </a:p>
          <a:p>
            <a:r>
              <a:rPr lang="en-MY" sz="900" dirty="0">
                <a:solidFill>
                  <a:schemeClr val="tx1">
                    <a:lumMod val="85000"/>
                    <a:lumOff val="15000"/>
                  </a:schemeClr>
                </a:solidFill>
              </a:rPr>
              <a:t>POLISI NOTA: CONTENT_VO_NOTES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LMS_SHELL_NEXT  [component_complete[KERUSI_TAMAN]]</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NO_CONTROL</a:t>
            </a:r>
          </a:p>
          <a:p>
            <a:r>
              <a:rPr lang="en-MY" sz="900" dirty="0">
                <a:solidFill>
                  <a:schemeClr val="tx1">
                    <a:lumMod val="85000"/>
                    <a:lumOff val="15000"/>
                  </a:schemeClr>
                </a:solidFill>
              </a:rPr>
              <a:t>  return_target = —</a:t>
            </a:r>
          </a:p>
          <a:p>
            <a:r>
              <a:rPr lang="en-MY" sz="900" dirty="0">
                <a:solidFill>
                  <a:schemeClr val="tx1">
                    <a:lumMod val="85000"/>
                    <a:lumOff val="15000"/>
                  </a:schemeClr>
                </a:solidFill>
              </a:rPr>
              <a:t>SKOP SELESAI: COMPONENT</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0 · lapisan skrin 1</a:t>
            </a:r>
          </a:p>
          <a:p>
            <a:r>
              <a:rPr lang="en-MY" sz="900" dirty="0">
                <a:solidFill>
                  <a:schemeClr val="tx1">
                    <a:lumMod val="85000"/>
                    <a:lumOff val="15000"/>
                  </a:schemeClr>
                </a:solidFill>
              </a:rPr>
              <a:t>INDUK: SCR_KERUSI_TAMAN_MAIN</a:t>
            </a:r>
          </a:p>
          <a:p>
            <a:r>
              <a:rPr lang="en-MY" sz="900" b="1" dirty="0">
                <a:solidFill>
                  <a:schemeClr val="tx1">
                    <a:lumMod val="85000"/>
                    <a:lumOff val="15000"/>
                  </a:schemeClr>
                </a:solidFill>
              </a:rPr>
              <a:t>SUMBER:</a:t>
            </a:r>
          </a:p>
          <a:p>
            <a:r>
              <a:rPr lang="en-MY" sz="900" dirty="0">
                <a:solidFill>
                  <a:schemeClr val="tx1">
                    <a:lumMod val="85000"/>
                    <a:lumOff val="15000"/>
                  </a:schemeClr>
                </a:solidFill>
              </a:rPr>
              <a:t>  K5-PL06-T03-B02-KERUSI-TAMAN-ROW-01</a:t>
            </a:r>
          </a:p>
          <a:p>
            <a:r>
              <a:rPr lang="en-MY" sz="900" dirty="0">
                <a:solidFill>
                  <a:schemeClr val="tx1">
                    <a:lumMod val="85000"/>
                    <a:lumOff val="15000"/>
                  </a:schemeClr>
                </a:solidFill>
              </a:rPr>
              <a:t>    ms 242 / fizikal 261</a:t>
            </a:r>
          </a:p>
          <a:p>
            <a:r>
              <a:rPr lang="en-MY" sz="900" dirty="0">
                <a:solidFill>
                  <a:schemeClr val="tx1">
                    <a:lumMod val="85000"/>
                    <a:lumOff val="15000"/>
                  </a:schemeClr>
                </a:solidFill>
              </a:rPr>
              <a:t>  K5-PL06-T03-B02-KERUSI-TAMAN-ROW-02</a:t>
            </a:r>
          </a:p>
          <a:p>
            <a:r>
              <a:rPr lang="en-MY" sz="900" dirty="0">
                <a:solidFill>
                  <a:schemeClr val="tx1">
                    <a:lumMod val="85000"/>
                    <a:lumOff val="15000"/>
                  </a:schemeClr>
                </a:solidFill>
              </a:rPr>
              <a:t>    ms 243 / fizikal 262</a:t>
            </a:r>
          </a:p>
          <a:p>
            <a:r>
              <a:rPr lang="en-MY" sz="900" dirty="0">
                <a:solidFill>
                  <a:schemeClr val="tx1">
                    <a:lumMod val="85000"/>
                    <a:lumOff val="15000"/>
                  </a:schemeClr>
                </a:solidFill>
              </a:rPr>
              <a:t>  K5-PL06-T03-B02-KERUSI-TAMAN-ROW-03</a:t>
            </a:r>
          </a:p>
          <a:p>
            <a:r>
              <a:rPr lang="en-MY" sz="900" dirty="0">
                <a:solidFill>
                  <a:schemeClr val="tx1">
                    <a:lumMod val="85000"/>
                    <a:lumOff val="15000"/>
                  </a:schemeClr>
                </a:solidFill>
              </a:rPr>
              <a:t>    ms 243 / fizikal 262</a:t>
            </a:r>
          </a:p>
          <a:p>
            <a:r>
              <a:rPr lang="en-MY" sz="900" b="1" dirty="0">
                <a:solidFill>
                  <a:schemeClr val="tx1">
                    <a:lumMod val="85000"/>
                    <a:lumOff val="15000"/>
                  </a:schemeClr>
                </a:solidFill>
              </a:rPr>
              <a:t>ITEM INTERAKSI:</a:t>
            </a:r>
          </a:p>
          <a:p>
            <a:r>
              <a:rPr lang="en-MY" sz="900" dirty="0">
                <a:solidFill>
                  <a:schemeClr val="tx1">
                    <a:lumMod val="85000"/>
                    <a:lumOff val="15000"/>
                  </a:schemeClr>
                </a:solidFill>
              </a:rPr>
              <a:t>  II_KERUSI_TAMAN_EX01  &lt;-  K5-PL06-T03-B02-KERUSI-TAMAN-ROW-01</a:t>
            </a:r>
          </a:p>
          <a:p>
            <a:r>
              <a:rPr lang="en-MY" sz="900" dirty="0">
                <a:solidFill>
                  <a:schemeClr val="tx1">
                    <a:lumMod val="85000"/>
                    <a:lumOff val="15000"/>
                  </a:schemeClr>
                </a:solidFill>
              </a:rPr>
              <a:t>  II_KERUSI_TAMAN_EX02  &lt;-  K5-PL06-T03-B02-KERUSI-TAMAN-ROW-02</a:t>
            </a:r>
          </a:p>
          <a:p>
            <a:r>
              <a:rPr lang="en-MY" sz="900" dirty="0">
                <a:solidFill>
                  <a:schemeClr val="tx1">
                    <a:lumMod val="85000"/>
                    <a:lumOff val="15000"/>
                  </a:schemeClr>
                </a:solidFill>
              </a:rPr>
              <a:t>  II_KERUSI_TAMAN_EX03  &lt;-  K5-PL06-T03-B02-KERUSI-TAMAN-ROW-03</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Klik contoh = Bariah Level 1. Membuka skrin penuh, bukan popup.</a:t>
            </a:r>
          </a:p>
          <a:p>
            <a:r>
              <a:rPr lang="en-MY" sz="900" dirty="0">
                <a:solidFill>
                  <a:schemeClr val="tx1">
                    <a:lumMod val="85000"/>
                    <a:lumOff val="15000"/>
                  </a:schemeClr>
                </a:solidFill>
              </a:rPr>
              <a:t>  1/3 contoh dilihat.</a:t>
            </a:r>
          </a:p>
          <a:p>
            <a:r>
              <a:rPr lang="en-MY" sz="900" dirty="0">
                <a:solidFill>
                  <a:schemeClr val="tx1">
                    <a:lumMod val="85000"/>
                    <a:lumOff val="15000"/>
                  </a:schemeClr>
                </a:solidFill>
              </a:rPr>
              <a:t>  component_complete hanya benar apabila SEMUA contoh selesai.</a:t>
            </a:r>
          </a:p>
          <a:p>
            <a:r>
              <a:rPr lang="en-MY" sz="900" dirty="0">
                <a:solidFill>
                  <a:schemeClr val="tx1">
                    <a:lumMod val="85000"/>
                    <a:lumOff val="15000"/>
                  </a:schemeClr>
                </a:solidFill>
              </a:rPr>
              <a:t>STATUS KEPUTUSAN: B02-D-03</a:t>
            </a:r>
          </a:p>
          <a:p>
            <a:r>
              <a:rPr lang="en-MY" sz="900" dirty="0">
                <a:solidFill>
                  <a:schemeClr val="tx1">
                    <a:lumMod val="85000"/>
                    <a:lumOff val="15000"/>
                  </a:schemeClr>
                </a:solidFill>
              </a:rPr>
              <a:t>STATUS BELUM SELESAI: NONE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Papan Tanda</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Perabot Taman</a:t>
            </a:r>
          </a:p>
        </p:txBody>
      </p:sp>
      <p:sp>
        <p:nvSpPr>
          <p:cNvPr id="20" name="Head"/>
          <p:cNvSpPr txBox="1"/>
          <p:nvPr/>
        </p:nvSpPr>
        <p:spPr>
          <a:xfrm>
            <a:off x="723930" y="1115568"/>
            <a:ext cx="10744200" cy="402336"/>
          </a:xfrm>
          <a:prstGeom prst="rect">
            <a:avLst/>
          </a:prstGeom>
          <a:noFill/>
        </p:spPr>
        <p:txBody>
          <a:bodyPr wrap="square">
            <a:noAutofit/>
          </a:bodyPr>
          <a:lstStyle/>
          <a:p>
            <a:pPr/>
            <a:r>
              <a:rPr lang="en-MY" sz="2000" b="1" dirty="0">
                <a:solidFill>
                  <a:schemeClr val="tx1">
                    <a:lumMod val="85000"/>
                    <a:lumOff val="15000"/>
                  </a:schemeClr>
                </a:solidFill>
              </a:rPr>
              <a:t>Papan Tanda</a:t>
            </a:r>
          </a:p>
        </p:txBody>
      </p:sp>
      <p:sp>
        <p:nvSpPr>
          <p:cNvPr id="21" name="Sub"/>
          <p:cNvSpPr txBox="1"/>
          <p:nvPr/>
        </p:nvSpPr>
        <p:spPr>
          <a:xfrm>
            <a:off x="723930" y="1572768"/>
            <a:ext cx="10744200" cy="329184"/>
          </a:xfrm>
          <a:prstGeom prst="rect">
            <a:avLst/>
          </a:prstGeom>
          <a:noFill/>
        </p:spPr>
        <p:txBody>
          <a:bodyPr wrap="square">
            <a:noAutofit/>
          </a:bodyPr>
          <a:lstStyle/>
          <a:p>
            <a:pPr/>
            <a:r>
              <a:rPr lang="en-MY" sz="1400" b="1" dirty="0">
                <a:solidFill>
                  <a:srgbClr val="7F6000"/>
                </a:solidFill>
              </a:rPr>
              <a:t>Papan Tanda Arah / Papan Tanda Interpretatif</a:t>
            </a:r>
          </a:p>
        </p:txBody>
      </p:sp>
      <p:sp>
        <p:nvSpPr>
          <p:cNvPr id="25" name="Instr"/>
          <p:cNvSpPr txBox="1"/>
          <p:nvPr/>
        </p:nvSpPr>
        <p:spPr>
          <a:xfrm>
            <a:off x="723930" y="1920240"/>
            <a:ext cx="10744200" cy="365760"/>
          </a:xfrm>
          <a:prstGeom prst="rect">
            <a:avLst/>
          </a:prstGeom>
          <a:noFill/>
        </p:spPr>
        <p:txBody>
          <a:bodyPr wrap="square">
            <a:noAutofit/>
          </a:bodyPr>
          <a:lstStyle/>
          <a:p>
            <a:pPr algn="ctr"/>
            <a:r>
              <a:rPr lang="en-MY" sz="1500" dirty="0">
                <a:solidFill>
                  <a:schemeClr val="tx1">
                    <a:lumMod val="85000"/>
                    <a:lumOff val="15000"/>
                  </a:schemeClr>
                </a:solidFill>
              </a:rPr>
              <a:t>Klik pada setiap spesifikasi untuk penjelasan lanjut.</a:t>
            </a:r>
          </a:p>
        </p:txBody>
      </p:sp>
      <p:sp>
        <p:nvSpPr>
          <p:cNvPr id="40" name="ItemCard"/>
          <p:cNvSpPr txBox="1"/>
          <p:nvPr/>
        </p:nvSpPr>
        <p:spPr>
          <a:xfrm>
            <a:off x="723885" y="2450592"/>
            <a:ext cx="2398014" cy="1481328"/>
          </a:xfrm>
          <a:prstGeom prst="rect">
            <a:avLst/>
          </a:prstGeom>
          <a:solidFill>
            <a:srgbClr val="F2F2F2"/>
          </a:solidFill>
          <a:ln w="12700">
            <a:solidFill>
              <a:srgbClr val="404040"/>
            </a:solidFill>
          </a:ln>
        </p:spPr>
        <p:txBody>
          <a:bodyPr wrap="square" anchor="ctr">
            <a:noAutofit/>
          </a:bodyPr>
          <a:lstStyle/>
          <a:p>
            <a:pPr algn="ctr"/>
            <a:r>
              <a:rPr lang="en-MY" sz="1500" b="1" dirty="0">
                <a:solidFill>
                  <a:schemeClr val="tx1">
                    <a:lumMod val="85000"/>
                    <a:lumOff val="15000"/>
                  </a:schemeClr>
                </a:solidFill>
              </a:rPr>
              <a:t>Bahan Panel</a:t>
            </a:r>
          </a:p>
        </p:txBody>
      </p:sp>
      <p:sp>
        <p:nvSpPr>
          <p:cNvPr id="41" name="ItemCard"/>
          <p:cNvSpPr txBox="1"/>
          <p:nvPr/>
        </p:nvSpPr>
        <p:spPr>
          <a:xfrm>
            <a:off x="3505947" y="2450592"/>
            <a:ext cx="2398014" cy="1481328"/>
          </a:xfrm>
          <a:prstGeom prst="rect">
            <a:avLst/>
          </a:prstGeom>
          <a:solidFill>
            <a:srgbClr val="F2F2F2"/>
          </a:solidFill>
          <a:ln w="12700">
            <a:solidFill>
              <a:srgbClr val="404040"/>
            </a:solidFill>
          </a:ln>
        </p:spPr>
        <p:txBody>
          <a:bodyPr wrap="square" anchor="ctr">
            <a:noAutofit/>
          </a:bodyPr>
          <a:lstStyle/>
          <a:p>
            <a:pPr algn="ctr"/>
            <a:r>
              <a:rPr lang="en-MY" sz="1500" b="1" dirty="0">
                <a:solidFill>
                  <a:schemeClr val="tx1">
                    <a:lumMod val="85000"/>
                    <a:lumOff val="15000"/>
                  </a:schemeClr>
                </a:solidFill>
              </a:rPr>
              <a:t>Bahan Struktur/Tiang</a:t>
            </a:r>
          </a:p>
        </p:txBody>
      </p:sp>
      <p:sp>
        <p:nvSpPr>
          <p:cNvPr id="42" name="ItemCard"/>
          <p:cNvSpPr txBox="1"/>
          <p:nvPr/>
        </p:nvSpPr>
        <p:spPr>
          <a:xfrm>
            <a:off x="6288009" y="2450592"/>
            <a:ext cx="2398014" cy="1481328"/>
          </a:xfrm>
          <a:prstGeom prst="rect">
            <a:avLst/>
          </a:prstGeom>
          <a:solidFill>
            <a:srgbClr val="F2F2F2"/>
          </a:solidFill>
          <a:ln w="12700">
            <a:solidFill>
              <a:srgbClr val="404040"/>
            </a:solidFill>
          </a:ln>
        </p:spPr>
        <p:txBody>
          <a:bodyPr wrap="square" anchor="ctr">
            <a:noAutofit/>
          </a:bodyPr>
          <a:lstStyle/>
          <a:p>
            <a:pPr algn="ctr"/>
            <a:r>
              <a:rPr lang="en-MY" sz="1500" b="1" dirty="0">
                <a:solidFill>
                  <a:schemeClr val="tx1">
                    <a:lumMod val="85000"/>
                    <a:lumOff val="15000"/>
                  </a:schemeClr>
                </a:solidFill>
              </a:rPr>
              <a:t>Grafik</a:t>
            </a:r>
          </a:p>
        </p:txBody>
      </p:sp>
      <p:sp>
        <p:nvSpPr>
          <p:cNvPr id="43" name="ItemCard"/>
          <p:cNvSpPr txBox="1"/>
          <p:nvPr/>
        </p:nvSpPr>
        <p:spPr>
          <a:xfrm>
            <a:off x="9070071" y="2450592"/>
            <a:ext cx="2398014" cy="1481328"/>
          </a:xfrm>
          <a:prstGeom prst="rect">
            <a:avLst/>
          </a:prstGeom>
          <a:solidFill>
            <a:srgbClr val="F2F2F2"/>
          </a:solidFill>
          <a:ln w="12700">
            <a:solidFill>
              <a:srgbClr val="404040"/>
            </a:solidFill>
          </a:ln>
        </p:spPr>
        <p:txBody>
          <a:bodyPr wrap="square" anchor="ctr">
            <a:noAutofit/>
          </a:bodyPr>
          <a:lstStyle/>
          <a:p>
            <a:pPr algn="ctr"/>
            <a:r>
              <a:rPr lang="en-MY" sz="1500" b="1" dirty="0">
                <a:solidFill>
                  <a:schemeClr val="tx1">
                    <a:lumMod val="85000"/>
                    <a:lumOff val="15000"/>
                  </a:schemeClr>
                </a:solidFill>
              </a:rPr>
              <a:t>Rekaan</a:t>
            </a:r>
          </a:p>
        </p:txBody>
      </p:sp>
      <p:sp>
        <p:nvSpPr>
          <p:cNvPr id="30" name="VisualDir"/>
          <p:cNvSpPr txBox="1"/>
          <p:nvPr/>
        </p:nvSpPr>
        <p:spPr>
          <a:xfrm>
            <a:off x="723930" y="5394960"/>
            <a:ext cx="10744200" cy="877824"/>
          </a:xfrm>
          <a:prstGeom prst="rect">
            <a:avLst/>
          </a:prstGeom>
          <a:noFill/>
        </p:spPr>
        <p:txBody>
          <a:bodyPr wrap="square">
            <a:noAutofit/>
          </a:bodyPr>
          <a:lstStyle/>
          <a:p>
            <a:pPr/>
            <a:r>
              <a:rPr lang="en-MY" sz="1100" dirty="0">
                <a:solidFill>
                  <a:srgbClr val="808080"/>
                </a:solidFill>
              </a:rPr>
              <a:t>[Visual: Rajah 25 — Lukisan Spesifikasi Papan Tanda Informasi, dan Rajah 26 — Spesifikasi Papan Tanda</a:t>
            </a:r>
          </a:p>
          <a:p>
            <a:pPr/>
            <a:r>
              <a:rPr lang="en-MY" sz="1100" dirty="0">
                <a:solidFill>
                  <a:srgbClr val="808080"/>
                </a:solidFill>
              </a:rPr>
              <a:t>Penunjuk Arah, kedua-duanya modul ms 245. Aset K5PL06T03-B02-IMG-p245-x37 dan K5PL06T03-B02-IMG-p245-x38.</a:t>
            </a:r>
          </a:p>
          <a:p>
            <a:pPr/>
            <a:r>
              <a:rPr lang="en-MY" sz="1100" dirty="0">
                <a:solidFill>
                  <a:srgbClr val="808080"/>
                </a:solidFill>
              </a:rPr>
              <a:t>Tidak dibenamkan.]</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Papan Tanda — penerangan + senarai spesifikasi</a:t>
            </a:r>
          </a:p>
          <a:p>
            <a:r>
              <a:rPr lang="en-MY" sz="900" dirty="0">
                <a:solidFill>
                  <a:schemeClr val="tx1">
                    <a:lumMod val="85000"/>
                    <a:lumOff val="15000"/>
                  </a:schemeClr>
                </a:solidFill>
              </a:rPr>
              <a:t>KELUARGA PELAKSANAAN: FAMILY_P2</a:t>
            </a:r>
          </a:p>
          <a:p>
            <a:r>
              <a:rPr lang="en-MY" sz="900" dirty="0">
                <a:solidFill>
                  <a:schemeClr val="tx1">
                    <a:lumMod val="85000"/>
                    <a:lumOff val="15000"/>
                  </a:schemeClr>
                </a:solidFill>
              </a:rPr>
              <a:t>PERANAN HALAMAN SEMAKAN: COMPONENT_SPEC_LIST_BASE</a:t>
            </a:r>
          </a:p>
          <a:p>
            <a:r>
              <a:rPr lang="en-MY" sz="900" dirty="0">
                <a:solidFill>
                  <a:schemeClr val="tx1">
                    <a:lumMod val="85000"/>
                    <a:lumOff val="15000"/>
                  </a:schemeClr>
                </a:solidFill>
              </a:rPr>
              <a:t/>
            </a:r>
          </a:p>
          <a:p>
            <a:r>
              <a:rPr lang="en-MY" sz="900" dirty="0">
                <a:solidFill>
                  <a:schemeClr val="tx1">
                    <a:lumMod val="85000"/>
                    <a:lumOff val="15000"/>
                  </a:schemeClr>
                </a:solidFill>
              </a:rPr>
              <a:t>BUKTI: Family P2 explanation + specification-category list</a:t>
            </a:r>
          </a:p>
          <a:p>
            <a:r>
              <a:rPr lang="en-MY" sz="900" dirty="0">
                <a:solidFill>
                  <a:schemeClr val="tx1">
                    <a:lumMod val="85000"/>
                    <a:lumOff val="15000"/>
                  </a:schemeClr>
                </a:solidFill>
              </a:rPr>
              <a:t>POLISI NOTA: CONTENT_VO_NOTES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LMS_SHELL_NEXT  [component_complete[PAPAN_TANDA]]</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NO_CONTROL</a:t>
            </a:r>
          </a:p>
          <a:p>
            <a:r>
              <a:rPr lang="en-MY" sz="900" dirty="0">
                <a:solidFill>
                  <a:schemeClr val="tx1">
                    <a:lumMod val="85000"/>
                    <a:lumOff val="15000"/>
                  </a:schemeClr>
                </a:solidFill>
              </a:rPr>
              <a:t>  return_target = —</a:t>
            </a:r>
          </a:p>
          <a:p>
            <a:r>
              <a:rPr lang="en-MY" sz="900" dirty="0">
                <a:solidFill>
                  <a:schemeClr val="tx1">
                    <a:lumMod val="85000"/>
                    <a:lumOff val="15000"/>
                  </a:schemeClr>
                </a:solidFill>
              </a:rPr>
              <a:t>SKOP SELESAI: COMPONENT</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0 · lapisan skrin 1</a:t>
            </a:r>
          </a:p>
          <a:p>
            <a:r>
              <a:rPr lang="en-MY" sz="900" dirty="0">
                <a:solidFill>
                  <a:schemeClr val="tx1">
                    <a:lumMod val="85000"/>
                    <a:lumOff val="15000"/>
                  </a:schemeClr>
                </a:solidFill>
              </a:rPr>
              <a:t>INDUK: SCR_PAPAN_TANDA_MAIN</a:t>
            </a:r>
          </a:p>
          <a:p>
            <a:r>
              <a:rPr lang="en-MY" sz="900" b="1" dirty="0">
                <a:solidFill>
                  <a:schemeClr val="tx1">
                    <a:lumMod val="85000"/>
                    <a:lumOff val="15000"/>
                  </a:schemeClr>
                </a:solidFill>
              </a:rPr>
              <a:t>SUMBER:</a:t>
            </a:r>
          </a:p>
          <a:p>
            <a:r>
              <a:rPr lang="en-MY" sz="900" dirty="0">
                <a:solidFill>
                  <a:schemeClr val="tx1">
                    <a:lumMod val="85000"/>
                    <a:lumOff val="15000"/>
                  </a:schemeClr>
                </a:solidFill>
              </a:rPr>
              <a:t>  K5-PL06-T03-B02-PAPAN-TANDA-ROW-01</a:t>
            </a:r>
          </a:p>
          <a:p>
            <a:r>
              <a:rPr lang="en-MY" sz="900" dirty="0">
                <a:solidFill>
                  <a:schemeClr val="tx1">
                    <a:lumMod val="85000"/>
                    <a:lumOff val="15000"/>
                  </a:schemeClr>
                </a:solidFill>
              </a:rPr>
              <a:t>    ms 244 / fizikal 263</a:t>
            </a:r>
          </a:p>
          <a:p>
            <a:r>
              <a:rPr lang="en-MY" sz="900" b="1" dirty="0">
                <a:solidFill>
                  <a:schemeClr val="tx1">
                    <a:lumMod val="85000"/>
                    <a:lumOff val="15000"/>
                  </a:schemeClr>
                </a:solidFill>
              </a:rPr>
              <a:t>ASET SUMBER (tidak dibenamkan):</a:t>
            </a:r>
          </a:p>
          <a:p>
            <a:r>
              <a:rPr lang="en-MY" sz="900" dirty="0">
                <a:solidFill>
                  <a:schemeClr val="tx1">
                    <a:lumMod val="85000"/>
                    <a:lumOff val="15000"/>
                  </a:schemeClr>
                </a:solidFill>
              </a:rPr>
              <a:t>  K5PL06T03-B02-IMG-p245-x37</a:t>
            </a:r>
          </a:p>
          <a:p>
            <a:r>
              <a:rPr lang="en-MY" sz="900" dirty="0">
                <a:solidFill>
                  <a:schemeClr val="tx1">
                    <a:lumMod val="85000"/>
                    <a:lumOff val="15000"/>
                  </a:schemeClr>
                </a:solidFill>
              </a:rPr>
              <a:t>  K5PL06T03-B02-IMG-p245-x38</a:t>
            </a:r>
          </a:p>
          <a:p>
            <a:r>
              <a:rPr lang="en-MY" sz="900" b="1" dirty="0">
                <a:solidFill>
                  <a:schemeClr val="tx1">
                    <a:lumMod val="85000"/>
                    <a:lumOff val="15000"/>
                  </a:schemeClr>
                </a:solidFill>
              </a:rPr>
              <a:t>ITEM INTERAKSI:</a:t>
            </a:r>
          </a:p>
          <a:p>
            <a:r>
              <a:rPr lang="en-MY" sz="900" dirty="0">
                <a:solidFill>
                  <a:schemeClr val="tx1">
                    <a:lumMod val="85000"/>
                    <a:lumOff val="15000"/>
                  </a:schemeClr>
                </a:solidFill>
              </a:rPr>
              <a:t>  II_PAPAN_TANDA_CAT01  &lt;-  K5-PL06-T03-B02-PAPAN-TANDA-ROW-01</a:t>
            </a:r>
          </a:p>
          <a:p>
            <a:r>
              <a:rPr lang="en-MY" sz="900" dirty="0">
                <a:solidFill>
                  <a:schemeClr val="tx1">
                    <a:lumMod val="85000"/>
                    <a:lumOff val="15000"/>
                  </a:schemeClr>
                </a:solidFill>
              </a:rPr>
              <a:t>  II_PAPAN_TANDA_CAT02  &lt;-  K5-PL06-T03-B02-PAPAN-TANDA-ROW-01</a:t>
            </a:r>
          </a:p>
          <a:p>
            <a:r>
              <a:rPr lang="en-MY" sz="900" dirty="0">
                <a:solidFill>
                  <a:schemeClr val="tx1">
                    <a:lumMod val="85000"/>
                    <a:lumOff val="15000"/>
                  </a:schemeClr>
                </a:solidFill>
              </a:rPr>
              <a:t>  II_PAPAN_TANDA_CAT03  &lt;-  K5-PL06-T03-B02-PAPAN-TANDA-ROW-01</a:t>
            </a:r>
          </a:p>
          <a:p>
            <a:r>
              <a:rPr lang="en-MY" sz="900" dirty="0">
                <a:solidFill>
                  <a:schemeClr val="tx1">
                    <a:lumMod val="85000"/>
                    <a:lumOff val="15000"/>
                  </a:schemeClr>
                </a:solidFill>
              </a:rPr>
              <a:t>  II_PAPAN_TANDA_CAT04  &lt;-  K5-PL06-T03-B02-PAPAN-TANDA-ROW-01</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Klik kategori spesifikasi = Level 1. Membuka popup (STATE).</a:t>
            </a:r>
          </a:p>
          <a:p>
            <a:r>
              <a:rPr lang="en-MY" sz="900" dirty="0">
                <a:solidFill>
                  <a:schemeClr val="tx1">
                    <a:lumMod val="85000"/>
                    <a:lumOff val="15000"/>
                  </a:schemeClr>
                </a:solidFill>
              </a:rPr>
              <a:t>  Ikon tutup kembali ke senarai spesifikasi (None).</a:t>
            </a:r>
          </a:p>
          <a:p>
            <a:r>
              <a:rPr lang="en-MY" sz="900" dirty="0">
                <a:solidFill>
                  <a:schemeClr val="tx1">
                    <a:lumMod val="85000"/>
                    <a:lumOff val="15000"/>
                  </a:schemeClr>
                </a:solidFill>
              </a:rPr>
              <a:t>  TIADA skrin Contoh satu item untuk komponen ini.</a:t>
            </a:r>
          </a:p>
          <a:p>
            <a:r>
              <a:rPr lang="en-MY" sz="900" dirty="0">
                <a:solidFill>
                  <a:schemeClr val="tx1">
                    <a:lumMod val="85000"/>
                    <a:lumOff val="15000"/>
                  </a:schemeClr>
                </a:solidFill>
              </a:rPr>
              <a:t>  0/4 kategori dilihat.</a:t>
            </a:r>
          </a:p>
          <a:p>
            <a:r>
              <a:rPr lang="en-MY" sz="900" b="1" dirty="0">
                <a:solidFill>
                  <a:schemeClr val="tx1">
                    <a:lumMod val="85000"/>
                    <a:lumOff val="15000"/>
                  </a:schemeClr>
                </a:solidFill>
              </a:rPr>
              <a:t>IDENTITI SUMBER:</a:t>
            </a:r>
          </a:p>
          <a:p>
            <a:r>
              <a:rPr lang="en-MY" sz="900" dirty="0">
                <a:solidFill>
                  <a:schemeClr val="tx1">
                    <a:lumMod val="85000"/>
                    <a:lumOff val="15000"/>
                  </a:schemeClr>
                </a:solidFill>
              </a:rPr>
              <a:t>  4 kategori interaksi daripada SATU baris sumber: K5-PL06-T03-B02-PAPAN-TANDA-ROW-01</a:t>
            </a:r>
          </a:p>
          <a:p>
            <a:r>
              <a:rPr lang="en-MY" sz="900" dirty="0">
                <a:solidFill>
                  <a:schemeClr val="tx1">
                    <a:lumMod val="85000"/>
                    <a:lumOff val="15000"/>
                  </a:schemeClr>
                </a:solidFill>
              </a:rPr>
              <a:t>  Tiada baris sumber baharu dicipta.</a:t>
            </a:r>
          </a:p>
          <a:p>
            <a:r>
              <a:rPr lang="en-MY" sz="900" dirty="0">
                <a:solidFill>
                  <a:schemeClr val="tx1">
                    <a:lumMod val="85000"/>
                    <a:lumOff val="15000"/>
                  </a:schemeClr>
                </a:solidFill>
              </a:rPr>
              <a:t>STATUS KEPUTUSAN: B02-D-03</a:t>
            </a:r>
          </a:p>
          <a:p>
            <a:r>
              <a:rPr lang="en-MY" sz="900" dirty="0">
                <a:solidFill>
                  <a:schemeClr val="tx1">
                    <a:lumMod val="85000"/>
                    <a:lumOff val="15000"/>
                  </a:schemeClr>
                </a:solidFill>
              </a:rPr>
              <a:t>STATUS BELUM SELESAI: NONE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Papan Tanda</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Perabot Taman</a:t>
            </a:r>
          </a:p>
        </p:txBody>
      </p:sp>
      <p:sp>
        <p:nvSpPr>
          <p:cNvPr id="20" name="Head"/>
          <p:cNvSpPr txBox="1"/>
          <p:nvPr/>
        </p:nvSpPr>
        <p:spPr>
          <a:xfrm>
            <a:off x="723930" y="1115568"/>
            <a:ext cx="10744200" cy="402336"/>
          </a:xfrm>
          <a:prstGeom prst="rect">
            <a:avLst/>
          </a:prstGeom>
          <a:noFill/>
        </p:spPr>
        <p:txBody>
          <a:bodyPr wrap="square">
            <a:noAutofit/>
          </a:bodyPr>
          <a:lstStyle/>
          <a:p>
            <a:pPr/>
            <a:r>
              <a:rPr lang="en-MY" sz="2000" b="1" dirty="0">
                <a:solidFill>
                  <a:schemeClr val="tx1">
                    <a:lumMod val="85000"/>
                    <a:lumOff val="15000"/>
                  </a:schemeClr>
                </a:solidFill>
              </a:rPr>
              <a:t>Papan Tanda</a:t>
            </a:r>
          </a:p>
        </p:txBody>
      </p:sp>
      <p:sp>
        <p:nvSpPr>
          <p:cNvPr id="21" name="Sub"/>
          <p:cNvSpPr txBox="1"/>
          <p:nvPr/>
        </p:nvSpPr>
        <p:spPr>
          <a:xfrm>
            <a:off x="723930" y="1572768"/>
            <a:ext cx="10744200" cy="329184"/>
          </a:xfrm>
          <a:prstGeom prst="rect">
            <a:avLst/>
          </a:prstGeom>
          <a:noFill/>
        </p:spPr>
        <p:txBody>
          <a:bodyPr wrap="square">
            <a:noAutofit/>
          </a:bodyPr>
          <a:lstStyle/>
          <a:p>
            <a:pPr/>
            <a:r>
              <a:rPr lang="en-MY" sz="1400" b="1" dirty="0">
                <a:solidFill>
                  <a:srgbClr val="7F6000"/>
                </a:solidFill>
              </a:rPr>
              <a:t>Papan Tanda Arah / Papan Tanda Interpretatif</a:t>
            </a:r>
          </a:p>
        </p:txBody>
      </p:sp>
      <p:sp>
        <p:nvSpPr>
          <p:cNvPr id="25" name="Instr"/>
          <p:cNvSpPr txBox="1"/>
          <p:nvPr/>
        </p:nvSpPr>
        <p:spPr>
          <a:xfrm>
            <a:off x="723930" y="1920240"/>
            <a:ext cx="10744200" cy="365760"/>
          </a:xfrm>
          <a:prstGeom prst="rect">
            <a:avLst/>
          </a:prstGeom>
          <a:noFill/>
        </p:spPr>
        <p:txBody>
          <a:bodyPr wrap="square">
            <a:noAutofit/>
          </a:bodyPr>
          <a:lstStyle/>
          <a:p>
            <a:pPr algn="ctr"/>
            <a:r>
              <a:rPr lang="en-MY" sz="1500" dirty="0">
                <a:solidFill>
                  <a:schemeClr val="tx1">
                    <a:lumMod val="85000"/>
                    <a:lumOff val="15000"/>
                  </a:schemeClr>
                </a:solidFill>
              </a:rPr>
              <a:t>Klik pada setiap spesifikasi untuk penjelasan lanjut.</a:t>
            </a:r>
          </a:p>
        </p:txBody>
      </p:sp>
      <p:sp>
        <p:nvSpPr>
          <p:cNvPr id="40" name="ItemCard"/>
          <p:cNvSpPr txBox="1"/>
          <p:nvPr/>
        </p:nvSpPr>
        <p:spPr>
          <a:xfrm>
            <a:off x="723885" y="2450592"/>
            <a:ext cx="2398014"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Bahan Panel</a:t>
            </a:r>
          </a:p>
        </p:txBody>
      </p:sp>
      <p:sp>
        <p:nvSpPr>
          <p:cNvPr id="41" name="Tick"/>
          <p:cNvSpPr/>
          <p:nvPr/>
        </p:nvSpPr>
        <p:spPr>
          <a:xfrm>
            <a:off x="2719563" y="2532888"/>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2" name="ItemCard"/>
          <p:cNvSpPr txBox="1"/>
          <p:nvPr/>
        </p:nvSpPr>
        <p:spPr>
          <a:xfrm>
            <a:off x="3505947" y="2450592"/>
            <a:ext cx="2398014" cy="1481328"/>
          </a:xfrm>
          <a:prstGeom prst="rect">
            <a:avLst/>
          </a:prstGeom>
          <a:solidFill>
            <a:srgbClr val="F2F2F2"/>
          </a:solidFill>
          <a:ln w="12700">
            <a:solidFill>
              <a:srgbClr val="404040"/>
            </a:solidFill>
          </a:ln>
        </p:spPr>
        <p:txBody>
          <a:bodyPr wrap="square" anchor="ctr">
            <a:noAutofit/>
          </a:bodyPr>
          <a:lstStyle/>
          <a:p>
            <a:pPr algn="ctr"/>
            <a:r>
              <a:rPr lang="en-MY" sz="1500" b="1" dirty="0">
                <a:solidFill>
                  <a:schemeClr val="tx1">
                    <a:lumMod val="85000"/>
                    <a:lumOff val="15000"/>
                  </a:schemeClr>
                </a:solidFill>
              </a:rPr>
              <a:t>Bahan Struktur/Tiang</a:t>
            </a:r>
          </a:p>
        </p:txBody>
      </p:sp>
      <p:sp>
        <p:nvSpPr>
          <p:cNvPr id="43" name="ItemCard"/>
          <p:cNvSpPr txBox="1"/>
          <p:nvPr/>
        </p:nvSpPr>
        <p:spPr>
          <a:xfrm>
            <a:off x="6288009" y="2450592"/>
            <a:ext cx="2398014" cy="1481328"/>
          </a:xfrm>
          <a:prstGeom prst="rect">
            <a:avLst/>
          </a:prstGeom>
          <a:solidFill>
            <a:srgbClr val="F2F2F2"/>
          </a:solidFill>
          <a:ln w="12700">
            <a:solidFill>
              <a:srgbClr val="404040"/>
            </a:solidFill>
          </a:ln>
        </p:spPr>
        <p:txBody>
          <a:bodyPr wrap="square" anchor="ctr">
            <a:noAutofit/>
          </a:bodyPr>
          <a:lstStyle/>
          <a:p>
            <a:pPr algn="ctr"/>
            <a:r>
              <a:rPr lang="en-MY" sz="1500" b="1" dirty="0">
                <a:solidFill>
                  <a:schemeClr val="tx1">
                    <a:lumMod val="85000"/>
                    <a:lumOff val="15000"/>
                  </a:schemeClr>
                </a:solidFill>
              </a:rPr>
              <a:t>Grafik</a:t>
            </a:r>
          </a:p>
        </p:txBody>
      </p:sp>
      <p:sp>
        <p:nvSpPr>
          <p:cNvPr id="44" name="ItemCard"/>
          <p:cNvSpPr txBox="1"/>
          <p:nvPr/>
        </p:nvSpPr>
        <p:spPr>
          <a:xfrm>
            <a:off x="9070071" y="2450592"/>
            <a:ext cx="2398014" cy="1481328"/>
          </a:xfrm>
          <a:prstGeom prst="rect">
            <a:avLst/>
          </a:prstGeom>
          <a:solidFill>
            <a:srgbClr val="F2F2F2"/>
          </a:solidFill>
          <a:ln w="12700">
            <a:solidFill>
              <a:srgbClr val="404040"/>
            </a:solidFill>
          </a:ln>
        </p:spPr>
        <p:txBody>
          <a:bodyPr wrap="square" anchor="ctr">
            <a:noAutofit/>
          </a:bodyPr>
          <a:lstStyle/>
          <a:p>
            <a:pPr algn="ctr"/>
            <a:r>
              <a:rPr lang="en-MY" sz="1500" b="1" dirty="0">
                <a:solidFill>
                  <a:schemeClr val="tx1">
                    <a:lumMod val="85000"/>
                    <a:lumOff val="15000"/>
                  </a:schemeClr>
                </a:solidFill>
              </a:rPr>
              <a:t>Rekaan</a:t>
            </a:r>
          </a:p>
        </p:txBody>
      </p:sp>
      <p:sp>
        <p:nvSpPr>
          <p:cNvPr id="30" name="VisualDir"/>
          <p:cNvSpPr txBox="1"/>
          <p:nvPr/>
        </p:nvSpPr>
        <p:spPr>
          <a:xfrm>
            <a:off x="723930" y="5394960"/>
            <a:ext cx="10744200" cy="877824"/>
          </a:xfrm>
          <a:prstGeom prst="rect">
            <a:avLst/>
          </a:prstGeom>
          <a:noFill/>
        </p:spPr>
        <p:txBody>
          <a:bodyPr wrap="square">
            <a:noAutofit/>
          </a:bodyPr>
          <a:lstStyle/>
          <a:p>
            <a:pPr/>
            <a:r>
              <a:rPr lang="en-MY" sz="1100" dirty="0">
                <a:solidFill>
                  <a:srgbClr val="808080"/>
                </a:solidFill>
              </a:rPr>
              <a:t>[Visual: Rajah 25 — Lukisan Spesifikasi Papan Tanda Informasi, dan Rajah 26 — Spesifikasi Papan Tanda</a:t>
            </a:r>
          </a:p>
          <a:p>
            <a:pPr/>
            <a:r>
              <a:rPr lang="en-MY" sz="1100" dirty="0">
                <a:solidFill>
                  <a:srgbClr val="808080"/>
                </a:solidFill>
              </a:rPr>
              <a:t>Penunjuk Arah, kedua-duanya modul ms 245. Aset K5PL06T03-B02-IMG-p245-x37 dan K5PL06T03-B02-IMG-p245-x38.</a:t>
            </a:r>
          </a:p>
          <a:p>
            <a:pPr/>
            <a:r>
              <a:rPr lang="en-MY" sz="1100" dirty="0">
                <a:solidFill>
                  <a:srgbClr val="808080"/>
                </a:solidFill>
              </a:rPr>
              <a:t>Tidak dibenamkan.]</a:t>
            </a:r>
          </a:p>
        </p:txBody>
      </p:sp>
      <p:sp>
        <p:nvSpPr>
          <p:cNvPr id="200" name="PopupPanel"/>
          <p:cNvSpPr txBox="1"/>
          <p:nvPr/>
        </p:nvSpPr>
        <p:spPr>
          <a:xfrm>
            <a:off x="1234440" y="1737360"/>
            <a:ext cx="9723090" cy="2002536"/>
          </a:xfrm>
          <a:prstGeom prst="rect">
            <a:avLst/>
          </a:prstGeom>
          <a:solidFill>
            <a:srgbClr val="FFFFFF"/>
          </a:solidFill>
          <a:ln w="28575">
            <a:solidFill>
              <a:srgbClr val="1F4E79"/>
            </a:solidFill>
          </a:ln>
        </p:spPr>
        <p:txBody>
          <a:bodyPr wrap="square">
            <a:noAutofit/>
          </a:bodyPr>
          <a:lstStyle/>
        </p:txBody>
      </p:sp>
      <p:sp>
        <p:nvSpPr>
          <p:cNvPr id="202" name="PopupKicker"/>
          <p:cNvSpPr txBox="1"/>
          <p:nvPr/>
        </p:nvSpPr>
        <p:spPr>
          <a:xfrm>
            <a:off x="1490472" y="1883664"/>
            <a:ext cx="8534370" cy="201168"/>
          </a:xfrm>
          <a:prstGeom prst="rect">
            <a:avLst/>
          </a:prstGeom>
          <a:noFill/>
        </p:spPr>
        <p:txBody>
          <a:bodyPr wrap="square">
            <a:noAutofit/>
          </a:bodyPr>
          <a:lstStyle/>
          <a:p>
            <a:pPr/>
            <a:r>
              <a:rPr lang="en-MY" sz="1100" b="1" dirty="0">
                <a:solidFill>
                  <a:srgbClr val="7F6000"/>
                </a:solidFill>
              </a:rPr>
              <a:t>Papan Tanda Arah / Papan Tanda Interpretatif</a:t>
            </a:r>
          </a:p>
        </p:txBody>
      </p:sp>
      <p:sp>
        <p:nvSpPr>
          <p:cNvPr id="201" name="PopupTitle"/>
          <p:cNvSpPr txBox="1"/>
          <p:nvPr/>
        </p:nvSpPr>
        <p:spPr>
          <a:xfrm>
            <a:off x="1490472" y="2103120"/>
            <a:ext cx="8534370" cy="365760"/>
          </a:xfrm>
          <a:prstGeom prst="rect">
            <a:avLst/>
          </a:prstGeom>
          <a:noFill/>
        </p:spPr>
        <p:txBody>
          <a:bodyPr wrap="square">
            <a:noAutofit/>
          </a:bodyPr>
          <a:lstStyle/>
          <a:p>
            <a:pPr/>
            <a:r>
              <a:rPr lang="en-MY" sz="2000" b="1" dirty="0">
                <a:solidFill>
                  <a:schemeClr val="tx1">
                    <a:lumMod val="85000"/>
                    <a:lumOff val="15000"/>
                  </a:schemeClr>
                </a:solidFill>
              </a:rPr>
              <a:t>Bahan Panel</a:t>
            </a:r>
          </a:p>
        </p:txBody>
      </p:sp>
      <p:sp>
        <p:nvSpPr>
          <p:cNvPr id="260" name="CloseIcon"/>
          <p:cNvSpPr/>
          <p:nvPr/>
        </p:nvSpPr>
        <p:spPr>
          <a:xfrm>
            <a:off x="10317450" y="1901952"/>
            <a:ext cx="384048" cy="384048"/>
          </a:xfrm>
          <a:prstGeom prst="ellipse">
            <a:avLst/>
          </a:prstGeom>
          <a:solidFill>
            <a:srgbClr val="1F4E79"/>
          </a:solidFill>
          <a:ln>
            <a:noFill/>
          </a:ln>
        </p:spPr>
        <p:txBody>
          <a:bodyPr/>
          <a:lstStyle/>
          <a:p>
            <a:endParaRPr lang="en-MY"/>
          </a:p>
        </p:txBody>
      </p:sp>
      <p:sp>
        <p:nvSpPr>
          <p:cNvPr id="261" name="CloseGlyph"/>
          <p:cNvSpPr/>
          <p:nvPr/>
        </p:nvSpPr>
        <p:spPr>
          <a:xfrm>
            <a:off x="10421142" y="2005645"/>
            <a:ext cx="176662" cy="176662"/>
          </a:xfrm>
          <a:custGeom>
            <a:avLst/>
            <a:gdLst/>
            <a:ahLst/>
            <a:cxnLst/>
            <a:rect l="0" t="0" r="r" b="b"/>
            <a:pathLst>
              <a:path w="100" h="100">
                <a:moveTo>
                  <a:pt x="25" y="0"/>
                </a:moveTo>
                <a:lnTo>
                  <a:pt x="50" y="25"/>
                </a:lnTo>
                <a:lnTo>
                  <a:pt x="75" y="0"/>
                </a:lnTo>
                <a:lnTo>
                  <a:pt x="100" y="25"/>
                </a:lnTo>
                <a:lnTo>
                  <a:pt x="75" y="50"/>
                </a:lnTo>
                <a:lnTo>
                  <a:pt x="100" y="75"/>
                </a:lnTo>
                <a:lnTo>
                  <a:pt x="75" y="100"/>
                </a:lnTo>
                <a:lnTo>
                  <a:pt x="50" y="75"/>
                </a:lnTo>
                <a:lnTo>
                  <a:pt x="25" y="100"/>
                </a:lnTo>
                <a:lnTo>
                  <a:pt x="0" y="75"/>
                </a:lnTo>
                <a:lnTo>
                  <a:pt x="25" y="50"/>
                </a:lnTo>
                <a:lnTo>
                  <a:pt x="0" y="25"/>
                </a:lnTo>
                <a:close/>
              </a:path>
            </a:pathLst>
          </a:custGeom>
          <a:solidFill>
            <a:srgbClr val="FFFFFF"/>
          </a:solidFill>
          <a:ln>
            <a:noFill/>
          </a:ln>
        </p:spPr>
        <p:txBody>
          <a:bodyPr/>
          <a:lstStyle/>
          <a:p>
            <a:endParaRPr lang="en-MY"/>
          </a:p>
        </p:txBody>
      </p:sp>
      <p:sp>
        <p:nvSpPr>
          <p:cNvPr id="211" name="FBody"/>
          <p:cNvSpPr txBox="1"/>
          <p:nvPr/>
        </p:nvSpPr>
        <p:spPr>
          <a:xfrm>
            <a:off x="1490472" y="2688336"/>
            <a:ext cx="9211026" cy="429768"/>
          </a:xfrm>
          <a:prstGeom prst="rect">
            <a:avLst/>
          </a:prstGeom>
          <a:noFill/>
        </p:spPr>
        <p:txBody>
          <a:bodyPr wrap="square">
            <a:noAutofit/>
          </a:bodyPr>
          <a:lstStyle/>
          <a:p>
            <a:pPr/>
            <a:r>
              <a:rPr lang="en-MY" sz="1250" dirty="0">
                <a:solidFill>
                  <a:schemeClr val="tx1">
                    <a:lumMod val="85000"/>
                    <a:lumOff val="15000"/>
                  </a:schemeClr>
                </a:solidFill>
              </a:rPr>
              <a:t>Aluminium Komposit (ACP) 3–4mm; HPL gred luar 6–10mm; Akrilik terstabil UV 5–10mm; Kayu dirawat</a:t>
            </a:r>
          </a:p>
          <a:p>
            <a:pPr/>
            <a:r>
              <a:rPr lang="en-MY" sz="1250" dirty="0">
                <a:solidFill>
                  <a:schemeClr val="tx1">
                    <a:lumMod val="85000"/>
                    <a:lumOff val="15000"/>
                  </a:schemeClr>
                </a:solidFill>
              </a:rPr>
              <a:t>tekanan/kayu keras min. 20mm.</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Papan Tanda — penerangan + senarai spesifikasi</a:t>
            </a:r>
          </a:p>
          <a:p>
            <a:r>
              <a:rPr lang="en-MY" sz="900" dirty="0">
                <a:solidFill>
                  <a:schemeClr val="tx1">
                    <a:lumMod val="85000"/>
                    <a:lumOff val="15000"/>
                  </a:schemeClr>
                </a:solidFill>
              </a:rPr>
              <a:t>KELUARGA PELAKSANAAN: FAMILY_P2</a:t>
            </a:r>
          </a:p>
          <a:p>
            <a:r>
              <a:rPr lang="en-MY" sz="900" dirty="0">
                <a:solidFill>
                  <a:schemeClr val="tx1">
                    <a:lumMod val="85000"/>
                    <a:lumOff val="15000"/>
                  </a:schemeClr>
                </a:solidFill>
              </a:rPr>
              <a:t>PERANAN HALAMAN SEMAKAN: SPECIFICATION_CATEGORY_POPUP</a:t>
            </a:r>
          </a:p>
          <a:p>
            <a:r>
              <a:rPr lang="en-MY" sz="900" dirty="0">
                <a:solidFill>
                  <a:schemeClr val="tx1">
                    <a:lumMod val="85000"/>
                    <a:lumOff val="15000"/>
                  </a:schemeClr>
                </a:solidFill>
              </a:rPr>
              <a:t/>
            </a:r>
          </a:p>
          <a:p>
            <a:r>
              <a:rPr lang="en-MY" sz="900" dirty="0">
                <a:solidFill>
                  <a:schemeClr val="tx1">
                    <a:lumMod val="85000"/>
                    <a:lumOff val="15000"/>
                  </a:schemeClr>
                </a:solidFill>
              </a:rPr>
              <a:t>BUKTI: Family P2 category popup 1 of 4</a:t>
            </a:r>
          </a:p>
          <a:p>
            <a:r>
              <a:rPr lang="en-MY" sz="900" dirty="0">
                <a:solidFill>
                  <a:schemeClr val="tx1">
                    <a:lumMod val="85000"/>
                    <a:lumOff val="15000"/>
                  </a:schemeClr>
                </a:solidFill>
              </a:rPr>
              <a:t>POLISI NOTA: CONTENT_VO_NOTES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NO_CONTROL  [none]</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CLOSE_ICON</a:t>
            </a:r>
          </a:p>
          <a:p>
            <a:r>
              <a:rPr lang="en-MY" sz="900" dirty="0">
                <a:solidFill>
                  <a:schemeClr val="tx1">
                    <a:lumMod val="85000"/>
                    <a:lumOff val="15000"/>
                  </a:schemeClr>
                </a:solidFill>
              </a:rPr>
              <a:t>  return_target = SCR_PAPAN_TANDA_MAIN</a:t>
            </a:r>
          </a:p>
          <a:p>
            <a:r>
              <a:rPr lang="en-MY" sz="900" dirty="0">
                <a:solidFill>
                  <a:schemeClr val="tx1">
                    <a:lumMod val="85000"/>
                    <a:lumOff val="15000"/>
                  </a:schemeClr>
                </a:solidFill>
              </a:rPr>
              <a:t>SKOP SELESAI: ITEM</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1 · lapisan skrin 2</a:t>
            </a:r>
          </a:p>
          <a:p>
            <a:r>
              <a:rPr lang="en-MY" sz="900" dirty="0">
                <a:solidFill>
                  <a:schemeClr val="tx1">
                    <a:lumMod val="85000"/>
                    <a:lumOff val="15000"/>
                  </a:schemeClr>
                </a:solidFill>
              </a:rPr>
              <a:t>INDUK: SCR_PAPAN_TANDA_MAIN</a:t>
            </a:r>
          </a:p>
          <a:p>
            <a:r>
              <a:rPr lang="en-MY" sz="900" b="1" dirty="0">
                <a:solidFill>
                  <a:schemeClr val="tx1">
                    <a:lumMod val="85000"/>
                    <a:lumOff val="15000"/>
                  </a:schemeClr>
                </a:solidFill>
              </a:rPr>
              <a:t>SUMBER:</a:t>
            </a:r>
          </a:p>
          <a:p>
            <a:r>
              <a:rPr lang="en-MY" sz="900" dirty="0">
                <a:solidFill>
                  <a:schemeClr val="tx1">
                    <a:lumMod val="85000"/>
                    <a:lumOff val="15000"/>
                  </a:schemeClr>
                </a:solidFill>
              </a:rPr>
              <a:t>  K5-PL06-T03-B02-PAPAN-TANDA-ROW-01</a:t>
            </a:r>
          </a:p>
          <a:p>
            <a:r>
              <a:rPr lang="en-MY" sz="900" dirty="0">
                <a:solidFill>
                  <a:schemeClr val="tx1">
                    <a:lumMod val="85000"/>
                    <a:lumOff val="15000"/>
                  </a:schemeClr>
                </a:solidFill>
              </a:rPr>
              <a:t>    ms 244 / fizikal 263</a:t>
            </a:r>
          </a:p>
          <a:p>
            <a:r>
              <a:rPr lang="en-MY" sz="900" b="1" dirty="0">
                <a:solidFill>
                  <a:schemeClr val="tx1">
                    <a:lumMod val="85000"/>
                    <a:lumOff val="15000"/>
                  </a:schemeClr>
                </a:solidFill>
              </a:rPr>
              <a:t>ITEM INTERAKSI:</a:t>
            </a:r>
          </a:p>
          <a:p>
            <a:r>
              <a:rPr lang="en-MY" sz="900" dirty="0">
                <a:solidFill>
                  <a:schemeClr val="tx1">
                    <a:lumMod val="85000"/>
                    <a:lumOff val="15000"/>
                  </a:schemeClr>
                </a:solidFill>
              </a:rPr>
              <a:t>  II_PAPAN_TANDA_CAT01  &lt;-  K5-PL06-T03-B02-PAPAN-TANDA-ROW-01</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Klik kategori spesifikasi = Level 1. Membuka popup (STATE).</a:t>
            </a:r>
          </a:p>
          <a:p>
            <a:r>
              <a:rPr lang="en-MY" sz="900" dirty="0">
                <a:solidFill>
                  <a:schemeClr val="tx1">
                    <a:lumMod val="85000"/>
                    <a:lumOff val="15000"/>
                  </a:schemeClr>
                </a:solidFill>
              </a:rPr>
              <a:t>  Ikon tutup kembali ke senarai spesifikasi (SCR_PAPAN_TANDA_MAIN).</a:t>
            </a:r>
          </a:p>
          <a:p>
            <a:r>
              <a:rPr lang="en-MY" sz="900" dirty="0">
                <a:solidFill>
                  <a:schemeClr val="tx1">
                    <a:lumMod val="85000"/>
                    <a:lumOff val="15000"/>
                  </a:schemeClr>
                </a:solidFill>
              </a:rPr>
              <a:t>  TIADA skrin Contoh satu item untuk komponen ini.</a:t>
            </a:r>
          </a:p>
          <a:p>
            <a:r>
              <a:rPr lang="en-MY" sz="900" dirty="0">
                <a:solidFill>
                  <a:schemeClr val="tx1">
                    <a:lumMod val="85000"/>
                    <a:lumOff val="15000"/>
                  </a:schemeClr>
                </a:solidFill>
              </a:rPr>
              <a:t>  1/4 kategori dilihat.</a:t>
            </a:r>
          </a:p>
          <a:p>
            <a:r>
              <a:rPr lang="en-MY" sz="900" b="1" dirty="0">
                <a:solidFill>
                  <a:schemeClr val="tx1">
                    <a:lumMod val="85000"/>
                    <a:lumOff val="15000"/>
                  </a:schemeClr>
                </a:solidFill>
              </a:rPr>
              <a:t>IDENTITI SUMBER:</a:t>
            </a:r>
          </a:p>
          <a:p>
            <a:r>
              <a:rPr lang="en-MY" sz="900" dirty="0">
                <a:solidFill>
                  <a:schemeClr val="tx1">
                    <a:lumMod val="85000"/>
                    <a:lumOff val="15000"/>
                  </a:schemeClr>
                </a:solidFill>
              </a:rPr>
              <a:t>  4 kategori interaksi daripada SATU baris sumber: K5-PL06-T03-B02-PAPAN-TANDA-ROW-01</a:t>
            </a:r>
          </a:p>
          <a:p>
            <a:r>
              <a:rPr lang="en-MY" sz="900" dirty="0">
                <a:solidFill>
                  <a:schemeClr val="tx1">
                    <a:lumMod val="85000"/>
                    <a:lumOff val="15000"/>
                  </a:schemeClr>
                </a:solidFill>
              </a:rPr>
              <a:t>  Tiada baris sumber baharu dicipta.</a:t>
            </a:r>
          </a:p>
          <a:p>
            <a:r>
              <a:rPr lang="en-MY" sz="900" dirty="0">
                <a:solidFill>
                  <a:schemeClr val="tx1">
                    <a:lumMod val="85000"/>
                    <a:lumOff val="15000"/>
                  </a:schemeClr>
                </a:solidFill>
              </a:rPr>
              <a:t>STATUS KEPUTUSAN: B02-D-03, B02-D-05</a:t>
            </a:r>
          </a:p>
          <a:p>
            <a:r>
              <a:rPr lang="en-MY" sz="900" dirty="0">
                <a:solidFill>
                  <a:schemeClr val="tx1">
                    <a:lumMod val="85000"/>
                    <a:lumOff val="15000"/>
                  </a:schemeClr>
                </a:solidFill>
              </a:rPr>
              <a:t>STATUS BELUM SELESAI: NONE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Papan Tanda</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Perabot Taman</a:t>
            </a:r>
          </a:p>
        </p:txBody>
      </p:sp>
      <p:sp>
        <p:nvSpPr>
          <p:cNvPr id="20" name="Head"/>
          <p:cNvSpPr txBox="1"/>
          <p:nvPr/>
        </p:nvSpPr>
        <p:spPr>
          <a:xfrm>
            <a:off x="723930" y="1115568"/>
            <a:ext cx="10744200" cy="402336"/>
          </a:xfrm>
          <a:prstGeom prst="rect">
            <a:avLst/>
          </a:prstGeom>
          <a:noFill/>
        </p:spPr>
        <p:txBody>
          <a:bodyPr wrap="square">
            <a:noAutofit/>
          </a:bodyPr>
          <a:lstStyle/>
          <a:p>
            <a:pPr/>
            <a:r>
              <a:rPr lang="en-MY" sz="2000" b="1" dirty="0">
                <a:solidFill>
                  <a:schemeClr val="tx1">
                    <a:lumMod val="85000"/>
                    <a:lumOff val="15000"/>
                  </a:schemeClr>
                </a:solidFill>
              </a:rPr>
              <a:t>Papan Tanda</a:t>
            </a:r>
          </a:p>
        </p:txBody>
      </p:sp>
      <p:sp>
        <p:nvSpPr>
          <p:cNvPr id="21" name="Sub"/>
          <p:cNvSpPr txBox="1"/>
          <p:nvPr/>
        </p:nvSpPr>
        <p:spPr>
          <a:xfrm>
            <a:off x="723930" y="1572768"/>
            <a:ext cx="10744200" cy="329184"/>
          </a:xfrm>
          <a:prstGeom prst="rect">
            <a:avLst/>
          </a:prstGeom>
          <a:noFill/>
        </p:spPr>
        <p:txBody>
          <a:bodyPr wrap="square">
            <a:noAutofit/>
          </a:bodyPr>
          <a:lstStyle/>
          <a:p>
            <a:pPr/>
            <a:r>
              <a:rPr lang="en-MY" sz="1400" b="1" dirty="0">
                <a:solidFill>
                  <a:srgbClr val="7F6000"/>
                </a:solidFill>
              </a:rPr>
              <a:t>Papan Tanda Arah / Papan Tanda Interpretatif</a:t>
            </a:r>
          </a:p>
        </p:txBody>
      </p:sp>
      <p:sp>
        <p:nvSpPr>
          <p:cNvPr id="25" name="Instr"/>
          <p:cNvSpPr txBox="1"/>
          <p:nvPr/>
        </p:nvSpPr>
        <p:spPr>
          <a:xfrm>
            <a:off x="723930" y="1920240"/>
            <a:ext cx="10744200" cy="365760"/>
          </a:xfrm>
          <a:prstGeom prst="rect">
            <a:avLst/>
          </a:prstGeom>
          <a:noFill/>
        </p:spPr>
        <p:txBody>
          <a:bodyPr wrap="square">
            <a:noAutofit/>
          </a:bodyPr>
          <a:lstStyle/>
          <a:p>
            <a:pPr algn="ctr"/>
            <a:r>
              <a:rPr lang="en-MY" sz="1500" dirty="0">
                <a:solidFill>
                  <a:schemeClr val="tx1">
                    <a:lumMod val="85000"/>
                    <a:lumOff val="15000"/>
                  </a:schemeClr>
                </a:solidFill>
              </a:rPr>
              <a:t>Klik pada setiap spesifikasi untuk penjelasan lanjut.</a:t>
            </a:r>
          </a:p>
        </p:txBody>
      </p:sp>
      <p:sp>
        <p:nvSpPr>
          <p:cNvPr id="40" name="ItemCard"/>
          <p:cNvSpPr txBox="1"/>
          <p:nvPr/>
        </p:nvSpPr>
        <p:spPr>
          <a:xfrm>
            <a:off x="723885" y="2450592"/>
            <a:ext cx="2398014"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Bahan Panel</a:t>
            </a:r>
          </a:p>
        </p:txBody>
      </p:sp>
      <p:sp>
        <p:nvSpPr>
          <p:cNvPr id="41" name="Tick"/>
          <p:cNvSpPr/>
          <p:nvPr/>
        </p:nvSpPr>
        <p:spPr>
          <a:xfrm>
            <a:off x="2719563" y="2532888"/>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2" name="ItemCard"/>
          <p:cNvSpPr txBox="1"/>
          <p:nvPr/>
        </p:nvSpPr>
        <p:spPr>
          <a:xfrm>
            <a:off x="3505947" y="2450592"/>
            <a:ext cx="2398014"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Bahan Struktur/Tiang</a:t>
            </a:r>
          </a:p>
        </p:txBody>
      </p:sp>
      <p:sp>
        <p:nvSpPr>
          <p:cNvPr id="43" name="Tick"/>
          <p:cNvSpPr/>
          <p:nvPr/>
        </p:nvSpPr>
        <p:spPr>
          <a:xfrm>
            <a:off x="5501625" y="2532888"/>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4" name="ItemCard"/>
          <p:cNvSpPr txBox="1"/>
          <p:nvPr/>
        </p:nvSpPr>
        <p:spPr>
          <a:xfrm>
            <a:off x="6288009" y="2450592"/>
            <a:ext cx="2398014" cy="1481328"/>
          </a:xfrm>
          <a:prstGeom prst="rect">
            <a:avLst/>
          </a:prstGeom>
          <a:solidFill>
            <a:srgbClr val="F2F2F2"/>
          </a:solidFill>
          <a:ln w="12700">
            <a:solidFill>
              <a:srgbClr val="404040"/>
            </a:solidFill>
          </a:ln>
        </p:spPr>
        <p:txBody>
          <a:bodyPr wrap="square" anchor="ctr">
            <a:noAutofit/>
          </a:bodyPr>
          <a:lstStyle/>
          <a:p>
            <a:pPr algn="ctr"/>
            <a:r>
              <a:rPr lang="en-MY" sz="1500" b="1" dirty="0">
                <a:solidFill>
                  <a:schemeClr val="tx1">
                    <a:lumMod val="85000"/>
                    <a:lumOff val="15000"/>
                  </a:schemeClr>
                </a:solidFill>
              </a:rPr>
              <a:t>Grafik</a:t>
            </a:r>
          </a:p>
        </p:txBody>
      </p:sp>
      <p:sp>
        <p:nvSpPr>
          <p:cNvPr id="45" name="ItemCard"/>
          <p:cNvSpPr txBox="1"/>
          <p:nvPr/>
        </p:nvSpPr>
        <p:spPr>
          <a:xfrm>
            <a:off x="9070071" y="2450592"/>
            <a:ext cx="2398014" cy="1481328"/>
          </a:xfrm>
          <a:prstGeom prst="rect">
            <a:avLst/>
          </a:prstGeom>
          <a:solidFill>
            <a:srgbClr val="F2F2F2"/>
          </a:solidFill>
          <a:ln w="12700">
            <a:solidFill>
              <a:srgbClr val="404040"/>
            </a:solidFill>
          </a:ln>
        </p:spPr>
        <p:txBody>
          <a:bodyPr wrap="square" anchor="ctr">
            <a:noAutofit/>
          </a:bodyPr>
          <a:lstStyle/>
          <a:p>
            <a:pPr algn="ctr"/>
            <a:r>
              <a:rPr lang="en-MY" sz="1500" b="1" dirty="0">
                <a:solidFill>
                  <a:schemeClr val="tx1">
                    <a:lumMod val="85000"/>
                    <a:lumOff val="15000"/>
                  </a:schemeClr>
                </a:solidFill>
              </a:rPr>
              <a:t>Rekaan</a:t>
            </a:r>
          </a:p>
        </p:txBody>
      </p:sp>
      <p:sp>
        <p:nvSpPr>
          <p:cNvPr id="30" name="VisualDir"/>
          <p:cNvSpPr txBox="1"/>
          <p:nvPr/>
        </p:nvSpPr>
        <p:spPr>
          <a:xfrm>
            <a:off x="723930" y="5394960"/>
            <a:ext cx="10744200" cy="877824"/>
          </a:xfrm>
          <a:prstGeom prst="rect">
            <a:avLst/>
          </a:prstGeom>
          <a:noFill/>
        </p:spPr>
        <p:txBody>
          <a:bodyPr wrap="square">
            <a:noAutofit/>
          </a:bodyPr>
          <a:lstStyle/>
          <a:p>
            <a:pPr/>
            <a:r>
              <a:rPr lang="en-MY" sz="1100" dirty="0">
                <a:solidFill>
                  <a:srgbClr val="808080"/>
                </a:solidFill>
              </a:rPr>
              <a:t>[Visual: Rajah 25 — Lukisan Spesifikasi Papan Tanda Informasi, dan Rajah 26 — Spesifikasi Papan Tanda</a:t>
            </a:r>
          </a:p>
          <a:p>
            <a:pPr/>
            <a:r>
              <a:rPr lang="en-MY" sz="1100" dirty="0">
                <a:solidFill>
                  <a:srgbClr val="808080"/>
                </a:solidFill>
              </a:rPr>
              <a:t>Penunjuk Arah, kedua-duanya modul ms 245. Aset K5PL06T03-B02-IMG-p245-x37 dan K5PL06T03-B02-IMG-p245-x38.</a:t>
            </a:r>
          </a:p>
          <a:p>
            <a:pPr/>
            <a:r>
              <a:rPr lang="en-MY" sz="1100" dirty="0">
                <a:solidFill>
                  <a:srgbClr val="808080"/>
                </a:solidFill>
              </a:rPr>
              <a:t>Tidak dibenamkan.]</a:t>
            </a:r>
          </a:p>
        </p:txBody>
      </p:sp>
      <p:sp>
        <p:nvSpPr>
          <p:cNvPr id="200" name="PopupPanel"/>
          <p:cNvSpPr txBox="1"/>
          <p:nvPr/>
        </p:nvSpPr>
        <p:spPr>
          <a:xfrm>
            <a:off x="1234440" y="1737360"/>
            <a:ext cx="9723090" cy="2002536"/>
          </a:xfrm>
          <a:prstGeom prst="rect">
            <a:avLst/>
          </a:prstGeom>
          <a:solidFill>
            <a:srgbClr val="FFFFFF"/>
          </a:solidFill>
          <a:ln w="28575">
            <a:solidFill>
              <a:srgbClr val="1F4E79"/>
            </a:solidFill>
          </a:ln>
        </p:spPr>
        <p:txBody>
          <a:bodyPr wrap="square">
            <a:noAutofit/>
          </a:bodyPr>
          <a:lstStyle/>
        </p:txBody>
      </p:sp>
      <p:sp>
        <p:nvSpPr>
          <p:cNvPr id="202" name="PopupKicker"/>
          <p:cNvSpPr txBox="1"/>
          <p:nvPr/>
        </p:nvSpPr>
        <p:spPr>
          <a:xfrm>
            <a:off x="1490472" y="1883664"/>
            <a:ext cx="8534370" cy="201168"/>
          </a:xfrm>
          <a:prstGeom prst="rect">
            <a:avLst/>
          </a:prstGeom>
          <a:noFill/>
        </p:spPr>
        <p:txBody>
          <a:bodyPr wrap="square">
            <a:noAutofit/>
          </a:bodyPr>
          <a:lstStyle/>
          <a:p>
            <a:pPr/>
            <a:r>
              <a:rPr lang="en-MY" sz="1100" b="1" dirty="0">
                <a:solidFill>
                  <a:srgbClr val="7F6000"/>
                </a:solidFill>
              </a:rPr>
              <a:t>Papan Tanda Arah / Papan Tanda Interpretatif</a:t>
            </a:r>
          </a:p>
        </p:txBody>
      </p:sp>
      <p:sp>
        <p:nvSpPr>
          <p:cNvPr id="201" name="PopupTitle"/>
          <p:cNvSpPr txBox="1"/>
          <p:nvPr/>
        </p:nvSpPr>
        <p:spPr>
          <a:xfrm>
            <a:off x="1490472" y="2103120"/>
            <a:ext cx="8534370" cy="365760"/>
          </a:xfrm>
          <a:prstGeom prst="rect">
            <a:avLst/>
          </a:prstGeom>
          <a:noFill/>
        </p:spPr>
        <p:txBody>
          <a:bodyPr wrap="square">
            <a:noAutofit/>
          </a:bodyPr>
          <a:lstStyle/>
          <a:p>
            <a:pPr/>
            <a:r>
              <a:rPr lang="en-MY" sz="2000" b="1" dirty="0">
                <a:solidFill>
                  <a:schemeClr val="tx1">
                    <a:lumMod val="85000"/>
                    <a:lumOff val="15000"/>
                  </a:schemeClr>
                </a:solidFill>
              </a:rPr>
              <a:t>Bahan Struktur/Tiang</a:t>
            </a:r>
          </a:p>
        </p:txBody>
      </p:sp>
      <p:sp>
        <p:nvSpPr>
          <p:cNvPr id="260" name="CloseIcon"/>
          <p:cNvSpPr/>
          <p:nvPr/>
        </p:nvSpPr>
        <p:spPr>
          <a:xfrm>
            <a:off x="10317450" y="1901952"/>
            <a:ext cx="384048" cy="384048"/>
          </a:xfrm>
          <a:prstGeom prst="ellipse">
            <a:avLst/>
          </a:prstGeom>
          <a:solidFill>
            <a:srgbClr val="1F4E79"/>
          </a:solidFill>
          <a:ln>
            <a:noFill/>
          </a:ln>
        </p:spPr>
        <p:txBody>
          <a:bodyPr/>
          <a:lstStyle/>
          <a:p>
            <a:endParaRPr lang="en-MY"/>
          </a:p>
        </p:txBody>
      </p:sp>
      <p:sp>
        <p:nvSpPr>
          <p:cNvPr id="261" name="CloseGlyph"/>
          <p:cNvSpPr/>
          <p:nvPr/>
        </p:nvSpPr>
        <p:spPr>
          <a:xfrm>
            <a:off x="10421142" y="2005645"/>
            <a:ext cx="176662" cy="176662"/>
          </a:xfrm>
          <a:custGeom>
            <a:avLst/>
            <a:gdLst/>
            <a:ahLst/>
            <a:cxnLst/>
            <a:rect l="0" t="0" r="r" b="b"/>
            <a:pathLst>
              <a:path w="100" h="100">
                <a:moveTo>
                  <a:pt x="25" y="0"/>
                </a:moveTo>
                <a:lnTo>
                  <a:pt x="50" y="25"/>
                </a:lnTo>
                <a:lnTo>
                  <a:pt x="75" y="0"/>
                </a:lnTo>
                <a:lnTo>
                  <a:pt x="100" y="25"/>
                </a:lnTo>
                <a:lnTo>
                  <a:pt x="75" y="50"/>
                </a:lnTo>
                <a:lnTo>
                  <a:pt x="100" y="75"/>
                </a:lnTo>
                <a:lnTo>
                  <a:pt x="75" y="100"/>
                </a:lnTo>
                <a:lnTo>
                  <a:pt x="50" y="75"/>
                </a:lnTo>
                <a:lnTo>
                  <a:pt x="25" y="100"/>
                </a:lnTo>
                <a:lnTo>
                  <a:pt x="0" y="75"/>
                </a:lnTo>
                <a:lnTo>
                  <a:pt x="25" y="50"/>
                </a:lnTo>
                <a:lnTo>
                  <a:pt x="0" y="25"/>
                </a:lnTo>
                <a:close/>
              </a:path>
            </a:pathLst>
          </a:custGeom>
          <a:solidFill>
            <a:srgbClr val="FFFFFF"/>
          </a:solidFill>
          <a:ln>
            <a:noFill/>
          </a:ln>
        </p:spPr>
        <p:txBody>
          <a:bodyPr/>
          <a:lstStyle/>
          <a:p>
            <a:endParaRPr lang="en-MY"/>
          </a:p>
        </p:txBody>
      </p:sp>
      <p:sp>
        <p:nvSpPr>
          <p:cNvPr id="211" name="FBody"/>
          <p:cNvSpPr txBox="1"/>
          <p:nvPr/>
        </p:nvSpPr>
        <p:spPr>
          <a:xfrm>
            <a:off x="1490472" y="2688336"/>
            <a:ext cx="9211026" cy="429768"/>
          </a:xfrm>
          <a:prstGeom prst="rect">
            <a:avLst/>
          </a:prstGeom>
          <a:noFill/>
        </p:spPr>
        <p:txBody>
          <a:bodyPr wrap="square">
            <a:noAutofit/>
          </a:bodyPr>
          <a:lstStyle/>
          <a:p>
            <a:pPr/>
            <a:r>
              <a:rPr lang="en-MY" sz="1250" dirty="0">
                <a:solidFill>
                  <a:schemeClr val="tx1">
                    <a:lumMod val="85000"/>
                    <a:lumOff val="15000"/>
                  </a:schemeClr>
                </a:solidFill>
              </a:rPr>
              <a:t>Keluli bersalut serbuk atau tahan karat, profil 50mm × 50mm ke atas; kayu keras min. 75mm ×</a:t>
            </a:r>
          </a:p>
          <a:p>
            <a:pPr/>
            <a:r>
              <a:rPr lang="en-MY" sz="1250" dirty="0">
                <a:solidFill>
                  <a:schemeClr val="tx1">
                    <a:lumMod val="85000"/>
                    <a:lumOff val="15000"/>
                  </a:schemeClr>
                </a:solidFill>
              </a:rPr>
              <a:t>75mm.</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Papan Tanda — penerangan + senarai spesifikasi</a:t>
            </a:r>
          </a:p>
          <a:p>
            <a:r>
              <a:rPr lang="en-MY" sz="900" dirty="0">
                <a:solidFill>
                  <a:schemeClr val="tx1">
                    <a:lumMod val="85000"/>
                    <a:lumOff val="15000"/>
                  </a:schemeClr>
                </a:solidFill>
              </a:rPr>
              <a:t>KELUARGA PELAKSANAAN: FAMILY_P2</a:t>
            </a:r>
          </a:p>
          <a:p>
            <a:r>
              <a:rPr lang="en-MY" sz="900" dirty="0">
                <a:solidFill>
                  <a:schemeClr val="tx1">
                    <a:lumMod val="85000"/>
                    <a:lumOff val="15000"/>
                  </a:schemeClr>
                </a:solidFill>
              </a:rPr>
              <a:t>PERANAN HALAMAN SEMAKAN: SPECIFICATION_CATEGORY_POPUP</a:t>
            </a:r>
          </a:p>
          <a:p>
            <a:r>
              <a:rPr lang="en-MY" sz="900" dirty="0">
                <a:solidFill>
                  <a:schemeClr val="tx1">
                    <a:lumMod val="85000"/>
                    <a:lumOff val="15000"/>
                  </a:schemeClr>
                </a:solidFill>
              </a:rPr>
              <a:t/>
            </a:r>
          </a:p>
          <a:p>
            <a:r>
              <a:rPr lang="en-MY" sz="900" dirty="0">
                <a:solidFill>
                  <a:schemeClr val="tx1">
                    <a:lumMod val="85000"/>
                    <a:lumOff val="15000"/>
                  </a:schemeClr>
                </a:solidFill>
              </a:rPr>
              <a:t>BUKTI: Family P2 category popup 2 of 4</a:t>
            </a:r>
          </a:p>
          <a:p>
            <a:r>
              <a:rPr lang="en-MY" sz="900" dirty="0">
                <a:solidFill>
                  <a:schemeClr val="tx1">
                    <a:lumMod val="85000"/>
                    <a:lumOff val="15000"/>
                  </a:schemeClr>
                </a:solidFill>
              </a:rPr>
              <a:t>POLISI NOTA: CONTENT_VO_NOTES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NO_CONTROL  [none]</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CLOSE_ICON</a:t>
            </a:r>
          </a:p>
          <a:p>
            <a:r>
              <a:rPr lang="en-MY" sz="900" dirty="0">
                <a:solidFill>
                  <a:schemeClr val="tx1">
                    <a:lumMod val="85000"/>
                    <a:lumOff val="15000"/>
                  </a:schemeClr>
                </a:solidFill>
              </a:rPr>
              <a:t>  return_target = SCR_PAPAN_TANDA_MAIN</a:t>
            </a:r>
          </a:p>
          <a:p>
            <a:r>
              <a:rPr lang="en-MY" sz="900" dirty="0">
                <a:solidFill>
                  <a:schemeClr val="tx1">
                    <a:lumMod val="85000"/>
                    <a:lumOff val="15000"/>
                  </a:schemeClr>
                </a:solidFill>
              </a:rPr>
              <a:t>SKOP SELESAI: ITEM</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1 · lapisan skrin 2</a:t>
            </a:r>
          </a:p>
          <a:p>
            <a:r>
              <a:rPr lang="en-MY" sz="900" dirty="0">
                <a:solidFill>
                  <a:schemeClr val="tx1">
                    <a:lumMod val="85000"/>
                    <a:lumOff val="15000"/>
                  </a:schemeClr>
                </a:solidFill>
              </a:rPr>
              <a:t>INDUK: SCR_PAPAN_TANDA_MAIN</a:t>
            </a:r>
          </a:p>
          <a:p>
            <a:r>
              <a:rPr lang="en-MY" sz="900" b="1" dirty="0">
                <a:solidFill>
                  <a:schemeClr val="tx1">
                    <a:lumMod val="85000"/>
                    <a:lumOff val="15000"/>
                  </a:schemeClr>
                </a:solidFill>
              </a:rPr>
              <a:t>SUMBER:</a:t>
            </a:r>
          </a:p>
          <a:p>
            <a:r>
              <a:rPr lang="en-MY" sz="900" dirty="0">
                <a:solidFill>
                  <a:schemeClr val="tx1">
                    <a:lumMod val="85000"/>
                    <a:lumOff val="15000"/>
                  </a:schemeClr>
                </a:solidFill>
              </a:rPr>
              <a:t>  K5-PL06-T03-B02-PAPAN-TANDA-ROW-01</a:t>
            </a:r>
          </a:p>
          <a:p>
            <a:r>
              <a:rPr lang="en-MY" sz="900" dirty="0">
                <a:solidFill>
                  <a:schemeClr val="tx1">
                    <a:lumMod val="85000"/>
                    <a:lumOff val="15000"/>
                  </a:schemeClr>
                </a:solidFill>
              </a:rPr>
              <a:t>    ms 244 / fizikal 263</a:t>
            </a:r>
          </a:p>
          <a:p>
            <a:r>
              <a:rPr lang="en-MY" sz="900" b="1" dirty="0">
                <a:solidFill>
                  <a:schemeClr val="tx1">
                    <a:lumMod val="85000"/>
                    <a:lumOff val="15000"/>
                  </a:schemeClr>
                </a:solidFill>
              </a:rPr>
              <a:t>ITEM INTERAKSI:</a:t>
            </a:r>
          </a:p>
          <a:p>
            <a:r>
              <a:rPr lang="en-MY" sz="900" dirty="0">
                <a:solidFill>
                  <a:schemeClr val="tx1">
                    <a:lumMod val="85000"/>
                    <a:lumOff val="15000"/>
                  </a:schemeClr>
                </a:solidFill>
              </a:rPr>
              <a:t>  II_PAPAN_TANDA_CAT02  &lt;-  K5-PL06-T03-B02-PAPAN-TANDA-ROW-01</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Klik kategori spesifikasi = Level 1. Membuka popup (STATE).</a:t>
            </a:r>
          </a:p>
          <a:p>
            <a:r>
              <a:rPr lang="en-MY" sz="900" dirty="0">
                <a:solidFill>
                  <a:schemeClr val="tx1">
                    <a:lumMod val="85000"/>
                    <a:lumOff val="15000"/>
                  </a:schemeClr>
                </a:solidFill>
              </a:rPr>
              <a:t>  Ikon tutup kembali ke senarai spesifikasi (SCR_PAPAN_TANDA_MAIN).</a:t>
            </a:r>
          </a:p>
          <a:p>
            <a:r>
              <a:rPr lang="en-MY" sz="900" dirty="0">
                <a:solidFill>
                  <a:schemeClr val="tx1">
                    <a:lumMod val="85000"/>
                    <a:lumOff val="15000"/>
                  </a:schemeClr>
                </a:solidFill>
              </a:rPr>
              <a:t>  TIADA skrin Contoh satu item untuk komponen ini.</a:t>
            </a:r>
          </a:p>
          <a:p>
            <a:r>
              <a:rPr lang="en-MY" sz="900" dirty="0">
                <a:solidFill>
                  <a:schemeClr val="tx1">
                    <a:lumMod val="85000"/>
                    <a:lumOff val="15000"/>
                  </a:schemeClr>
                </a:solidFill>
              </a:rPr>
              <a:t>  2/4 kategori dilihat.</a:t>
            </a:r>
          </a:p>
          <a:p>
            <a:r>
              <a:rPr lang="en-MY" sz="900" b="1" dirty="0">
                <a:solidFill>
                  <a:schemeClr val="tx1">
                    <a:lumMod val="85000"/>
                    <a:lumOff val="15000"/>
                  </a:schemeClr>
                </a:solidFill>
              </a:rPr>
              <a:t>IDENTITI SUMBER:</a:t>
            </a:r>
          </a:p>
          <a:p>
            <a:r>
              <a:rPr lang="en-MY" sz="900" dirty="0">
                <a:solidFill>
                  <a:schemeClr val="tx1">
                    <a:lumMod val="85000"/>
                    <a:lumOff val="15000"/>
                  </a:schemeClr>
                </a:solidFill>
              </a:rPr>
              <a:t>  4 kategori interaksi daripada SATU baris sumber: K5-PL06-T03-B02-PAPAN-TANDA-ROW-01</a:t>
            </a:r>
          </a:p>
          <a:p>
            <a:r>
              <a:rPr lang="en-MY" sz="900" dirty="0">
                <a:solidFill>
                  <a:schemeClr val="tx1">
                    <a:lumMod val="85000"/>
                    <a:lumOff val="15000"/>
                  </a:schemeClr>
                </a:solidFill>
              </a:rPr>
              <a:t>  Tiada baris sumber baharu dicipta.</a:t>
            </a:r>
          </a:p>
          <a:p>
            <a:r>
              <a:rPr lang="en-MY" sz="900" dirty="0">
                <a:solidFill>
                  <a:schemeClr val="tx1">
                    <a:lumMod val="85000"/>
                    <a:lumOff val="15000"/>
                  </a:schemeClr>
                </a:solidFill>
              </a:rPr>
              <a:t>STATUS KEPUTUSAN: B02-D-03, B02-D-05</a:t>
            </a:r>
          </a:p>
          <a:p>
            <a:r>
              <a:rPr lang="en-MY" sz="900" dirty="0">
                <a:solidFill>
                  <a:schemeClr val="tx1">
                    <a:lumMod val="85000"/>
                    <a:lumOff val="15000"/>
                  </a:schemeClr>
                </a:solidFill>
              </a:rPr>
              <a:t>STATUS BELUM SELESAI: NONE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Papan Tanda</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Perabot Taman</a:t>
            </a:r>
          </a:p>
        </p:txBody>
      </p:sp>
      <p:sp>
        <p:nvSpPr>
          <p:cNvPr id="20" name="Head"/>
          <p:cNvSpPr txBox="1"/>
          <p:nvPr/>
        </p:nvSpPr>
        <p:spPr>
          <a:xfrm>
            <a:off x="723930" y="1115568"/>
            <a:ext cx="10744200" cy="402336"/>
          </a:xfrm>
          <a:prstGeom prst="rect">
            <a:avLst/>
          </a:prstGeom>
          <a:noFill/>
        </p:spPr>
        <p:txBody>
          <a:bodyPr wrap="square">
            <a:noAutofit/>
          </a:bodyPr>
          <a:lstStyle/>
          <a:p>
            <a:pPr/>
            <a:r>
              <a:rPr lang="en-MY" sz="2000" b="1" dirty="0">
                <a:solidFill>
                  <a:schemeClr val="tx1">
                    <a:lumMod val="85000"/>
                    <a:lumOff val="15000"/>
                  </a:schemeClr>
                </a:solidFill>
              </a:rPr>
              <a:t>Papan Tanda</a:t>
            </a:r>
          </a:p>
        </p:txBody>
      </p:sp>
      <p:sp>
        <p:nvSpPr>
          <p:cNvPr id="21" name="Sub"/>
          <p:cNvSpPr txBox="1"/>
          <p:nvPr/>
        </p:nvSpPr>
        <p:spPr>
          <a:xfrm>
            <a:off x="723930" y="1572768"/>
            <a:ext cx="10744200" cy="329184"/>
          </a:xfrm>
          <a:prstGeom prst="rect">
            <a:avLst/>
          </a:prstGeom>
          <a:noFill/>
        </p:spPr>
        <p:txBody>
          <a:bodyPr wrap="square">
            <a:noAutofit/>
          </a:bodyPr>
          <a:lstStyle/>
          <a:p>
            <a:pPr/>
            <a:r>
              <a:rPr lang="en-MY" sz="1400" b="1" dirty="0">
                <a:solidFill>
                  <a:srgbClr val="7F6000"/>
                </a:solidFill>
              </a:rPr>
              <a:t>Papan Tanda Arah / Papan Tanda Interpretatif</a:t>
            </a:r>
          </a:p>
        </p:txBody>
      </p:sp>
      <p:sp>
        <p:nvSpPr>
          <p:cNvPr id="25" name="Instr"/>
          <p:cNvSpPr txBox="1"/>
          <p:nvPr/>
        </p:nvSpPr>
        <p:spPr>
          <a:xfrm>
            <a:off x="723930" y="1920240"/>
            <a:ext cx="10744200" cy="365760"/>
          </a:xfrm>
          <a:prstGeom prst="rect">
            <a:avLst/>
          </a:prstGeom>
          <a:noFill/>
        </p:spPr>
        <p:txBody>
          <a:bodyPr wrap="square">
            <a:noAutofit/>
          </a:bodyPr>
          <a:lstStyle/>
          <a:p>
            <a:pPr algn="ctr"/>
            <a:r>
              <a:rPr lang="en-MY" sz="1500" dirty="0">
                <a:solidFill>
                  <a:schemeClr val="tx1">
                    <a:lumMod val="85000"/>
                    <a:lumOff val="15000"/>
                  </a:schemeClr>
                </a:solidFill>
              </a:rPr>
              <a:t>Klik pada setiap spesifikasi untuk penjelasan lanjut.</a:t>
            </a:r>
          </a:p>
        </p:txBody>
      </p:sp>
      <p:sp>
        <p:nvSpPr>
          <p:cNvPr id="40" name="ItemCard"/>
          <p:cNvSpPr txBox="1"/>
          <p:nvPr/>
        </p:nvSpPr>
        <p:spPr>
          <a:xfrm>
            <a:off x="723885" y="2450592"/>
            <a:ext cx="2398014"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Bahan Panel</a:t>
            </a:r>
          </a:p>
        </p:txBody>
      </p:sp>
      <p:sp>
        <p:nvSpPr>
          <p:cNvPr id="41" name="Tick"/>
          <p:cNvSpPr/>
          <p:nvPr/>
        </p:nvSpPr>
        <p:spPr>
          <a:xfrm>
            <a:off x="2719563" y="2532888"/>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2" name="ItemCard"/>
          <p:cNvSpPr txBox="1"/>
          <p:nvPr/>
        </p:nvSpPr>
        <p:spPr>
          <a:xfrm>
            <a:off x="3505947" y="2450592"/>
            <a:ext cx="2398014"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Bahan Struktur/Tiang</a:t>
            </a:r>
          </a:p>
        </p:txBody>
      </p:sp>
      <p:sp>
        <p:nvSpPr>
          <p:cNvPr id="43" name="Tick"/>
          <p:cNvSpPr/>
          <p:nvPr/>
        </p:nvSpPr>
        <p:spPr>
          <a:xfrm>
            <a:off x="5501625" y="2532888"/>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4" name="ItemCard"/>
          <p:cNvSpPr txBox="1"/>
          <p:nvPr/>
        </p:nvSpPr>
        <p:spPr>
          <a:xfrm>
            <a:off x="6288009" y="2450592"/>
            <a:ext cx="2398014"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Grafik</a:t>
            </a:r>
          </a:p>
        </p:txBody>
      </p:sp>
      <p:sp>
        <p:nvSpPr>
          <p:cNvPr id="45" name="Tick"/>
          <p:cNvSpPr/>
          <p:nvPr/>
        </p:nvSpPr>
        <p:spPr>
          <a:xfrm>
            <a:off x="8283687" y="2532888"/>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6" name="ItemCard"/>
          <p:cNvSpPr txBox="1"/>
          <p:nvPr/>
        </p:nvSpPr>
        <p:spPr>
          <a:xfrm>
            <a:off x="9070071" y="2450592"/>
            <a:ext cx="2398014" cy="1481328"/>
          </a:xfrm>
          <a:prstGeom prst="rect">
            <a:avLst/>
          </a:prstGeom>
          <a:solidFill>
            <a:srgbClr val="F2F2F2"/>
          </a:solidFill>
          <a:ln w="12700">
            <a:solidFill>
              <a:srgbClr val="404040"/>
            </a:solidFill>
          </a:ln>
        </p:spPr>
        <p:txBody>
          <a:bodyPr wrap="square" anchor="ctr">
            <a:noAutofit/>
          </a:bodyPr>
          <a:lstStyle/>
          <a:p>
            <a:pPr algn="ctr"/>
            <a:r>
              <a:rPr lang="en-MY" sz="1500" b="1" dirty="0">
                <a:solidFill>
                  <a:schemeClr val="tx1">
                    <a:lumMod val="85000"/>
                    <a:lumOff val="15000"/>
                  </a:schemeClr>
                </a:solidFill>
              </a:rPr>
              <a:t>Rekaan</a:t>
            </a:r>
          </a:p>
        </p:txBody>
      </p:sp>
      <p:sp>
        <p:nvSpPr>
          <p:cNvPr id="30" name="VisualDir"/>
          <p:cNvSpPr txBox="1"/>
          <p:nvPr/>
        </p:nvSpPr>
        <p:spPr>
          <a:xfrm>
            <a:off x="723930" y="5394960"/>
            <a:ext cx="10744200" cy="877824"/>
          </a:xfrm>
          <a:prstGeom prst="rect">
            <a:avLst/>
          </a:prstGeom>
          <a:noFill/>
        </p:spPr>
        <p:txBody>
          <a:bodyPr wrap="square">
            <a:noAutofit/>
          </a:bodyPr>
          <a:lstStyle/>
          <a:p>
            <a:pPr/>
            <a:r>
              <a:rPr lang="en-MY" sz="1100" dirty="0">
                <a:solidFill>
                  <a:srgbClr val="808080"/>
                </a:solidFill>
              </a:rPr>
              <a:t>[Visual: Rajah 25 — Lukisan Spesifikasi Papan Tanda Informasi, dan Rajah 26 — Spesifikasi Papan Tanda</a:t>
            </a:r>
          </a:p>
          <a:p>
            <a:pPr/>
            <a:r>
              <a:rPr lang="en-MY" sz="1100" dirty="0">
                <a:solidFill>
                  <a:srgbClr val="808080"/>
                </a:solidFill>
              </a:rPr>
              <a:t>Penunjuk Arah, kedua-duanya modul ms 245. Aset K5PL06T03-B02-IMG-p245-x37 dan K5PL06T03-B02-IMG-p245-x38.</a:t>
            </a:r>
          </a:p>
          <a:p>
            <a:pPr/>
            <a:r>
              <a:rPr lang="en-MY" sz="1100" dirty="0">
                <a:solidFill>
                  <a:srgbClr val="808080"/>
                </a:solidFill>
              </a:rPr>
              <a:t>Tidak dibenamkan.]</a:t>
            </a:r>
          </a:p>
        </p:txBody>
      </p:sp>
      <p:sp>
        <p:nvSpPr>
          <p:cNvPr id="200" name="PopupPanel"/>
          <p:cNvSpPr txBox="1"/>
          <p:nvPr/>
        </p:nvSpPr>
        <p:spPr>
          <a:xfrm>
            <a:off x="1234440" y="1737360"/>
            <a:ext cx="9723090" cy="1920240"/>
          </a:xfrm>
          <a:prstGeom prst="rect">
            <a:avLst/>
          </a:prstGeom>
          <a:solidFill>
            <a:srgbClr val="FFFFFF"/>
          </a:solidFill>
          <a:ln w="28575">
            <a:solidFill>
              <a:srgbClr val="1F4E79"/>
            </a:solidFill>
          </a:ln>
        </p:spPr>
        <p:txBody>
          <a:bodyPr wrap="square">
            <a:noAutofit/>
          </a:bodyPr>
          <a:lstStyle/>
        </p:txBody>
      </p:sp>
      <p:sp>
        <p:nvSpPr>
          <p:cNvPr id="202" name="PopupKicker"/>
          <p:cNvSpPr txBox="1"/>
          <p:nvPr/>
        </p:nvSpPr>
        <p:spPr>
          <a:xfrm>
            <a:off x="1490472" y="1883664"/>
            <a:ext cx="8534370" cy="201168"/>
          </a:xfrm>
          <a:prstGeom prst="rect">
            <a:avLst/>
          </a:prstGeom>
          <a:noFill/>
        </p:spPr>
        <p:txBody>
          <a:bodyPr wrap="square">
            <a:noAutofit/>
          </a:bodyPr>
          <a:lstStyle/>
          <a:p>
            <a:pPr/>
            <a:r>
              <a:rPr lang="en-MY" sz="1100" b="1" dirty="0">
                <a:solidFill>
                  <a:srgbClr val="7F6000"/>
                </a:solidFill>
              </a:rPr>
              <a:t>Papan Tanda Arah / Papan Tanda Interpretatif</a:t>
            </a:r>
          </a:p>
        </p:txBody>
      </p:sp>
      <p:sp>
        <p:nvSpPr>
          <p:cNvPr id="201" name="PopupTitle"/>
          <p:cNvSpPr txBox="1"/>
          <p:nvPr/>
        </p:nvSpPr>
        <p:spPr>
          <a:xfrm>
            <a:off x="1490472" y="2103120"/>
            <a:ext cx="8534370" cy="365760"/>
          </a:xfrm>
          <a:prstGeom prst="rect">
            <a:avLst/>
          </a:prstGeom>
          <a:noFill/>
        </p:spPr>
        <p:txBody>
          <a:bodyPr wrap="square">
            <a:noAutofit/>
          </a:bodyPr>
          <a:lstStyle/>
          <a:p>
            <a:pPr/>
            <a:r>
              <a:rPr lang="en-MY" sz="2000" b="1" dirty="0">
                <a:solidFill>
                  <a:schemeClr val="tx1">
                    <a:lumMod val="85000"/>
                    <a:lumOff val="15000"/>
                  </a:schemeClr>
                </a:solidFill>
              </a:rPr>
              <a:t>Grafik</a:t>
            </a:r>
          </a:p>
        </p:txBody>
      </p:sp>
      <p:sp>
        <p:nvSpPr>
          <p:cNvPr id="260" name="CloseIcon"/>
          <p:cNvSpPr/>
          <p:nvPr/>
        </p:nvSpPr>
        <p:spPr>
          <a:xfrm>
            <a:off x="10317450" y="1901952"/>
            <a:ext cx="384048" cy="384048"/>
          </a:xfrm>
          <a:prstGeom prst="ellipse">
            <a:avLst/>
          </a:prstGeom>
          <a:solidFill>
            <a:srgbClr val="1F4E79"/>
          </a:solidFill>
          <a:ln>
            <a:noFill/>
          </a:ln>
        </p:spPr>
        <p:txBody>
          <a:bodyPr/>
          <a:lstStyle/>
          <a:p>
            <a:endParaRPr lang="en-MY"/>
          </a:p>
        </p:txBody>
      </p:sp>
      <p:sp>
        <p:nvSpPr>
          <p:cNvPr id="261" name="CloseGlyph"/>
          <p:cNvSpPr/>
          <p:nvPr/>
        </p:nvSpPr>
        <p:spPr>
          <a:xfrm>
            <a:off x="10421142" y="2005645"/>
            <a:ext cx="176662" cy="176662"/>
          </a:xfrm>
          <a:custGeom>
            <a:avLst/>
            <a:gdLst/>
            <a:ahLst/>
            <a:cxnLst/>
            <a:rect l="0" t="0" r="r" b="b"/>
            <a:pathLst>
              <a:path w="100" h="100">
                <a:moveTo>
                  <a:pt x="25" y="0"/>
                </a:moveTo>
                <a:lnTo>
                  <a:pt x="50" y="25"/>
                </a:lnTo>
                <a:lnTo>
                  <a:pt x="75" y="0"/>
                </a:lnTo>
                <a:lnTo>
                  <a:pt x="100" y="25"/>
                </a:lnTo>
                <a:lnTo>
                  <a:pt x="75" y="50"/>
                </a:lnTo>
                <a:lnTo>
                  <a:pt x="100" y="75"/>
                </a:lnTo>
                <a:lnTo>
                  <a:pt x="75" y="100"/>
                </a:lnTo>
                <a:lnTo>
                  <a:pt x="50" y="75"/>
                </a:lnTo>
                <a:lnTo>
                  <a:pt x="25" y="100"/>
                </a:lnTo>
                <a:lnTo>
                  <a:pt x="0" y="75"/>
                </a:lnTo>
                <a:lnTo>
                  <a:pt x="25" y="50"/>
                </a:lnTo>
                <a:lnTo>
                  <a:pt x="0" y="25"/>
                </a:lnTo>
                <a:close/>
              </a:path>
            </a:pathLst>
          </a:custGeom>
          <a:solidFill>
            <a:srgbClr val="FFFFFF"/>
          </a:solidFill>
          <a:ln>
            <a:noFill/>
          </a:ln>
        </p:spPr>
        <p:txBody>
          <a:bodyPr/>
          <a:lstStyle/>
          <a:p>
            <a:endParaRPr lang="en-MY"/>
          </a:p>
        </p:txBody>
      </p:sp>
      <p:sp>
        <p:nvSpPr>
          <p:cNvPr id="211" name="FBody"/>
          <p:cNvSpPr txBox="1"/>
          <p:nvPr/>
        </p:nvSpPr>
        <p:spPr>
          <a:xfrm>
            <a:off x="1490472" y="2688336"/>
            <a:ext cx="9211026" cy="219456"/>
          </a:xfrm>
          <a:prstGeom prst="rect">
            <a:avLst/>
          </a:prstGeom>
          <a:noFill/>
        </p:spPr>
        <p:txBody>
          <a:bodyPr wrap="square">
            <a:noAutofit/>
          </a:bodyPr>
          <a:lstStyle/>
          <a:p>
            <a:pPr/>
            <a:r>
              <a:rPr lang="en-MY" sz="1250" dirty="0">
                <a:solidFill>
                  <a:schemeClr val="tx1">
                    <a:lumMod val="85000"/>
                    <a:lumOff val="15000"/>
                  </a:schemeClr>
                </a:solidFill>
              </a:rPr>
              <a:t>Cetakan UV langsung, cetakan digital pada vinil gred luar, atau ukiran laser. Mesti tahan pudar.</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Papan Tanda — penerangan + senarai spesifikasi</a:t>
            </a:r>
          </a:p>
          <a:p>
            <a:r>
              <a:rPr lang="en-MY" sz="900" dirty="0">
                <a:solidFill>
                  <a:schemeClr val="tx1">
                    <a:lumMod val="85000"/>
                    <a:lumOff val="15000"/>
                  </a:schemeClr>
                </a:solidFill>
              </a:rPr>
              <a:t>KELUARGA PELAKSANAAN: FAMILY_P2</a:t>
            </a:r>
          </a:p>
          <a:p>
            <a:r>
              <a:rPr lang="en-MY" sz="900" dirty="0">
                <a:solidFill>
                  <a:schemeClr val="tx1">
                    <a:lumMod val="85000"/>
                    <a:lumOff val="15000"/>
                  </a:schemeClr>
                </a:solidFill>
              </a:rPr>
              <a:t>PERANAN HALAMAN SEMAKAN: SPECIFICATION_CATEGORY_POPUP</a:t>
            </a:r>
          </a:p>
          <a:p>
            <a:r>
              <a:rPr lang="en-MY" sz="900" dirty="0">
                <a:solidFill>
                  <a:schemeClr val="tx1">
                    <a:lumMod val="85000"/>
                    <a:lumOff val="15000"/>
                  </a:schemeClr>
                </a:solidFill>
              </a:rPr>
              <a:t/>
            </a:r>
          </a:p>
          <a:p>
            <a:r>
              <a:rPr lang="en-MY" sz="900" dirty="0">
                <a:solidFill>
                  <a:schemeClr val="tx1">
                    <a:lumMod val="85000"/>
                    <a:lumOff val="15000"/>
                  </a:schemeClr>
                </a:solidFill>
              </a:rPr>
              <a:t>BUKTI: Family P2 category popup 3 of 4</a:t>
            </a:r>
          </a:p>
          <a:p>
            <a:r>
              <a:rPr lang="en-MY" sz="900" dirty="0">
                <a:solidFill>
                  <a:schemeClr val="tx1">
                    <a:lumMod val="85000"/>
                    <a:lumOff val="15000"/>
                  </a:schemeClr>
                </a:solidFill>
              </a:rPr>
              <a:t>POLISI NOTA: CONTENT_VO_NOTES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NO_CONTROL  [none]</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CLOSE_ICON</a:t>
            </a:r>
          </a:p>
          <a:p>
            <a:r>
              <a:rPr lang="en-MY" sz="900" dirty="0">
                <a:solidFill>
                  <a:schemeClr val="tx1">
                    <a:lumMod val="85000"/>
                    <a:lumOff val="15000"/>
                  </a:schemeClr>
                </a:solidFill>
              </a:rPr>
              <a:t>  return_target = SCR_PAPAN_TANDA_MAIN</a:t>
            </a:r>
          </a:p>
          <a:p>
            <a:r>
              <a:rPr lang="en-MY" sz="900" dirty="0">
                <a:solidFill>
                  <a:schemeClr val="tx1">
                    <a:lumMod val="85000"/>
                    <a:lumOff val="15000"/>
                  </a:schemeClr>
                </a:solidFill>
              </a:rPr>
              <a:t>SKOP SELESAI: ITEM</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1 · lapisan skrin 2</a:t>
            </a:r>
          </a:p>
          <a:p>
            <a:r>
              <a:rPr lang="en-MY" sz="900" dirty="0">
                <a:solidFill>
                  <a:schemeClr val="tx1">
                    <a:lumMod val="85000"/>
                    <a:lumOff val="15000"/>
                  </a:schemeClr>
                </a:solidFill>
              </a:rPr>
              <a:t>INDUK: SCR_PAPAN_TANDA_MAIN</a:t>
            </a:r>
          </a:p>
          <a:p>
            <a:r>
              <a:rPr lang="en-MY" sz="900" b="1" dirty="0">
                <a:solidFill>
                  <a:schemeClr val="tx1">
                    <a:lumMod val="85000"/>
                    <a:lumOff val="15000"/>
                  </a:schemeClr>
                </a:solidFill>
              </a:rPr>
              <a:t>SUMBER:</a:t>
            </a:r>
          </a:p>
          <a:p>
            <a:r>
              <a:rPr lang="en-MY" sz="900" dirty="0">
                <a:solidFill>
                  <a:schemeClr val="tx1">
                    <a:lumMod val="85000"/>
                    <a:lumOff val="15000"/>
                  </a:schemeClr>
                </a:solidFill>
              </a:rPr>
              <a:t>  K5-PL06-T03-B02-PAPAN-TANDA-ROW-01</a:t>
            </a:r>
          </a:p>
          <a:p>
            <a:r>
              <a:rPr lang="en-MY" sz="900" dirty="0">
                <a:solidFill>
                  <a:schemeClr val="tx1">
                    <a:lumMod val="85000"/>
                    <a:lumOff val="15000"/>
                  </a:schemeClr>
                </a:solidFill>
              </a:rPr>
              <a:t>    ms 244 / fizikal 263</a:t>
            </a:r>
          </a:p>
          <a:p>
            <a:r>
              <a:rPr lang="en-MY" sz="900" b="1" dirty="0">
                <a:solidFill>
                  <a:schemeClr val="tx1">
                    <a:lumMod val="85000"/>
                    <a:lumOff val="15000"/>
                  </a:schemeClr>
                </a:solidFill>
              </a:rPr>
              <a:t>ITEM INTERAKSI:</a:t>
            </a:r>
          </a:p>
          <a:p>
            <a:r>
              <a:rPr lang="en-MY" sz="900" dirty="0">
                <a:solidFill>
                  <a:schemeClr val="tx1">
                    <a:lumMod val="85000"/>
                    <a:lumOff val="15000"/>
                  </a:schemeClr>
                </a:solidFill>
              </a:rPr>
              <a:t>  II_PAPAN_TANDA_CAT03  &lt;-  K5-PL06-T03-B02-PAPAN-TANDA-ROW-01</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Klik kategori spesifikasi = Level 1. Membuka popup (STATE).</a:t>
            </a:r>
          </a:p>
          <a:p>
            <a:r>
              <a:rPr lang="en-MY" sz="900" dirty="0">
                <a:solidFill>
                  <a:schemeClr val="tx1">
                    <a:lumMod val="85000"/>
                    <a:lumOff val="15000"/>
                  </a:schemeClr>
                </a:solidFill>
              </a:rPr>
              <a:t>  Ikon tutup kembali ke senarai spesifikasi (SCR_PAPAN_TANDA_MAIN).</a:t>
            </a:r>
          </a:p>
          <a:p>
            <a:r>
              <a:rPr lang="en-MY" sz="900" dirty="0">
                <a:solidFill>
                  <a:schemeClr val="tx1">
                    <a:lumMod val="85000"/>
                    <a:lumOff val="15000"/>
                  </a:schemeClr>
                </a:solidFill>
              </a:rPr>
              <a:t>  TIADA skrin Contoh satu item untuk komponen ini.</a:t>
            </a:r>
          </a:p>
          <a:p>
            <a:r>
              <a:rPr lang="en-MY" sz="900" dirty="0">
                <a:solidFill>
                  <a:schemeClr val="tx1">
                    <a:lumMod val="85000"/>
                    <a:lumOff val="15000"/>
                  </a:schemeClr>
                </a:solidFill>
              </a:rPr>
              <a:t>  3/4 kategori dilihat.</a:t>
            </a:r>
          </a:p>
          <a:p>
            <a:r>
              <a:rPr lang="en-MY" sz="900" b="1" dirty="0">
                <a:solidFill>
                  <a:schemeClr val="tx1">
                    <a:lumMod val="85000"/>
                    <a:lumOff val="15000"/>
                  </a:schemeClr>
                </a:solidFill>
              </a:rPr>
              <a:t>IDENTITI SUMBER:</a:t>
            </a:r>
          </a:p>
          <a:p>
            <a:r>
              <a:rPr lang="en-MY" sz="900" dirty="0">
                <a:solidFill>
                  <a:schemeClr val="tx1">
                    <a:lumMod val="85000"/>
                    <a:lumOff val="15000"/>
                  </a:schemeClr>
                </a:solidFill>
              </a:rPr>
              <a:t>  4 kategori interaksi daripada SATU baris sumber: K5-PL06-T03-B02-PAPAN-TANDA-ROW-01</a:t>
            </a:r>
          </a:p>
          <a:p>
            <a:r>
              <a:rPr lang="en-MY" sz="900" dirty="0">
                <a:solidFill>
                  <a:schemeClr val="tx1">
                    <a:lumMod val="85000"/>
                    <a:lumOff val="15000"/>
                  </a:schemeClr>
                </a:solidFill>
              </a:rPr>
              <a:t>  Tiada baris sumber baharu dicipta.</a:t>
            </a:r>
          </a:p>
          <a:p>
            <a:r>
              <a:rPr lang="en-MY" sz="900" dirty="0">
                <a:solidFill>
                  <a:schemeClr val="tx1">
                    <a:lumMod val="85000"/>
                    <a:lumOff val="15000"/>
                  </a:schemeClr>
                </a:solidFill>
              </a:rPr>
              <a:t>STATUS KEPUTUSAN: B02-D-03, B02-D-05</a:t>
            </a:r>
          </a:p>
          <a:p>
            <a:r>
              <a:rPr lang="en-MY" sz="900" dirty="0">
                <a:solidFill>
                  <a:schemeClr val="tx1">
                    <a:lumMod val="85000"/>
                    <a:lumOff val="15000"/>
                  </a:schemeClr>
                </a:solidFill>
              </a:rPr>
              <a:t>STATUS BELUM SELESAI: NONE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Papan Tanda</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Perabot Taman</a:t>
            </a:r>
          </a:p>
        </p:txBody>
      </p:sp>
      <p:sp>
        <p:nvSpPr>
          <p:cNvPr id="20" name="Head"/>
          <p:cNvSpPr txBox="1"/>
          <p:nvPr/>
        </p:nvSpPr>
        <p:spPr>
          <a:xfrm>
            <a:off x="723930" y="1115568"/>
            <a:ext cx="10744200" cy="402336"/>
          </a:xfrm>
          <a:prstGeom prst="rect">
            <a:avLst/>
          </a:prstGeom>
          <a:noFill/>
        </p:spPr>
        <p:txBody>
          <a:bodyPr wrap="square">
            <a:noAutofit/>
          </a:bodyPr>
          <a:lstStyle/>
          <a:p>
            <a:pPr/>
            <a:r>
              <a:rPr lang="en-MY" sz="2000" b="1" dirty="0">
                <a:solidFill>
                  <a:schemeClr val="tx1">
                    <a:lumMod val="85000"/>
                    <a:lumOff val="15000"/>
                  </a:schemeClr>
                </a:solidFill>
              </a:rPr>
              <a:t>Papan Tanda</a:t>
            </a:r>
          </a:p>
        </p:txBody>
      </p:sp>
      <p:sp>
        <p:nvSpPr>
          <p:cNvPr id="21" name="Sub"/>
          <p:cNvSpPr txBox="1"/>
          <p:nvPr/>
        </p:nvSpPr>
        <p:spPr>
          <a:xfrm>
            <a:off x="723930" y="1572768"/>
            <a:ext cx="10744200" cy="329184"/>
          </a:xfrm>
          <a:prstGeom prst="rect">
            <a:avLst/>
          </a:prstGeom>
          <a:noFill/>
        </p:spPr>
        <p:txBody>
          <a:bodyPr wrap="square">
            <a:noAutofit/>
          </a:bodyPr>
          <a:lstStyle/>
          <a:p>
            <a:pPr/>
            <a:r>
              <a:rPr lang="en-MY" sz="1400" b="1" dirty="0">
                <a:solidFill>
                  <a:srgbClr val="7F6000"/>
                </a:solidFill>
              </a:rPr>
              <a:t>Papan Tanda Arah / Papan Tanda Interpretatif</a:t>
            </a:r>
          </a:p>
        </p:txBody>
      </p:sp>
      <p:sp>
        <p:nvSpPr>
          <p:cNvPr id="25" name="Instr"/>
          <p:cNvSpPr txBox="1"/>
          <p:nvPr/>
        </p:nvSpPr>
        <p:spPr>
          <a:xfrm>
            <a:off x="723930" y="1920240"/>
            <a:ext cx="10744200" cy="365760"/>
          </a:xfrm>
          <a:prstGeom prst="rect">
            <a:avLst/>
          </a:prstGeom>
          <a:noFill/>
        </p:spPr>
        <p:txBody>
          <a:bodyPr wrap="square">
            <a:noAutofit/>
          </a:bodyPr>
          <a:lstStyle/>
          <a:p>
            <a:pPr algn="ctr"/>
            <a:r>
              <a:rPr lang="en-MY" sz="1500" dirty="0">
                <a:solidFill>
                  <a:schemeClr val="tx1">
                    <a:lumMod val="85000"/>
                    <a:lumOff val="15000"/>
                  </a:schemeClr>
                </a:solidFill>
              </a:rPr>
              <a:t>Klik pada setiap spesifikasi untuk penjelasan lanjut.</a:t>
            </a:r>
          </a:p>
        </p:txBody>
      </p:sp>
      <p:sp>
        <p:nvSpPr>
          <p:cNvPr id="40" name="ItemCard"/>
          <p:cNvSpPr txBox="1"/>
          <p:nvPr/>
        </p:nvSpPr>
        <p:spPr>
          <a:xfrm>
            <a:off x="723885" y="2450592"/>
            <a:ext cx="2398014"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Bahan Panel</a:t>
            </a:r>
          </a:p>
        </p:txBody>
      </p:sp>
      <p:sp>
        <p:nvSpPr>
          <p:cNvPr id="41" name="Tick"/>
          <p:cNvSpPr/>
          <p:nvPr/>
        </p:nvSpPr>
        <p:spPr>
          <a:xfrm>
            <a:off x="2719563" y="2532888"/>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2" name="ItemCard"/>
          <p:cNvSpPr txBox="1"/>
          <p:nvPr/>
        </p:nvSpPr>
        <p:spPr>
          <a:xfrm>
            <a:off x="3505947" y="2450592"/>
            <a:ext cx="2398014"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Bahan Struktur/Tiang</a:t>
            </a:r>
          </a:p>
        </p:txBody>
      </p:sp>
      <p:sp>
        <p:nvSpPr>
          <p:cNvPr id="43" name="Tick"/>
          <p:cNvSpPr/>
          <p:nvPr/>
        </p:nvSpPr>
        <p:spPr>
          <a:xfrm>
            <a:off x="5501625" y="2532888"/>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4" name="ItemCard"/>
          <p:cNvSpPr txBox="1"/>
          <p:nvPr/>
        </p:nvSpPr>
        <p:spPr>
          <a:xfrm>
            <a:off x="6288009" y="2450592"/>
            <a:ext cx="2398014"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Grafik</a:t>
            </a:r>
          </a:p>
        </p:txBody>
      </p:sp>
      <p:sp>
        <p:nvSpPr>
          <p:cNvPr id="45" name="Tick"/>
          <p:cNvSpPr/>
          <p:nvPr/>
        </p:nvSpPr>
        <p:spPr>
          <a:xfrm>
            <a:off x="8283687" y="2532888"/>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6" name="ItemCard"/>
          <p:cNvSpPr txBox="1"/>
          <p:nvPr/>
        </p:nvSpPr>
        <p:spPr>
          <a:xfrm>
            <a:off x="9070071" y="2450592"/>
            <a:ext cx="2398014"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Rekaan</a:t>
            </a:r>
          </a:p>
        </p:txBody>
      </p:sp>
      <p:sp>
        <p:nvSpPr>
          <p:cNvPr id="47" name="Tick"/>
          <p:cNvSpPr/>
          <p:nvPr/>
        </p:nvSpPr>
        <p:spPr>
          <a:xfrm>
            <a:off x="11065749" y="2532888"/>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30" name="VisualDir"/>
          <p:cNvSpPr txBox="1"/>
          <p:nvPr/>
        </p:nvSpPr>
        <p:spPr>
          <a:xfrm>
            <a:off x="723930" y="5394960"/>
            <a:ext cx="10744200" cy="877824"/>
          </a:xfrm>
          <a:prstGeom prst="rect">
            <a:avLst/>
          </a:prstGeom>
          <a:noFill/>
        </p:spPr>
        <p:txBody>
          <a:bodyPr wrap="square">
            <a:noAutofit/>
          </a:bodyPr>
          <a:lstStyle/>
          <a:p>
            <a:pPr/>
            <a:r>
              <a:rPr lang="en-MY" sz="1100" dirty="0">
                <a:solidFill>
                  <a:srgbClr val="808080"/>
                </a:solidFill>
              </a:rPr>
              <a:t>[Visual: Rajah 25 — Lukisan Spesifikasi Papan Tanda Informasi, dan Rajah 26 — Spesifikasi Papan Tanda</a:t>
            </a:r>
          </a:p>
          <a:p>
            <a:pPr/>
            <a:r>
              <a:rPr lang="en-MY" sz="1100" dirty="0">
                <a:solidFill>
                  <a:srgbClr val="808080"/>
                </a:solidFill>
              </a:rPr>
              <a:t>Penunjuk Arah, kedua-duanya modul ms 245. Aset K5PL06T03-B02-IMG-p245-x37 dan K5PL06T03-B02-IMG-p245-x38.</a:t>
            </a:r>
          </a:p>
          <a:p>
            <a:pPr/>
            <a:r>
              <a:rPr lang="en-MY" sz="1100" dirty="0">
                <a:solidFill>
                  <a:srgbClr val="808080"/>
                </a:solidFill>
              </a:rPr>
              <a:t>Tidak dibenamkan.]</a:t>
            </a:r>
          </a:p>
        </p:txBody>
      </p:sp>
      <p:sp>
        <p:nvSpPr>
          <p:cNvPr id="200" name="PopupPanel"/>
          <p:cNvSpPr txBox="1"/>
          <p:nvPr/>
        </p:nvSpPr>
        <p:spPr>
          <a:xfrm>
            <a:off x="1234440" y="1737360"/>
            <a:ext cx="9723090" cy="1920240"/>
          </a:xfrm>
          <a:prstGeom prst="rect">
            <a:avLst/>
          </a:prstGeom>
          <a:solidFill>
            <a:srgbClr val="FFFFFF"/>
          </a:solidFill>
          <a:ln w="28575">
            <a:solidFill>
              <a:srgbClr val="1F4E79"/>
            </a:solidFill>
          </a:ln>
        </p:spPr>
        <p:txBody>
          <a:bodyPr wrap="square">
            <a:noAutofit/>
          </a:bodyPr>
          <a:lstStyle/>
        </p:txBody>
      </p:sp>
      <p:sp>
        <p:nvSpPr>
          <p:cNvPr id="202" name="PopupKicker"/>
          <p:cNvSpPr txBox="1"/>
          <p:nvPr/>
        </p:nvSpPr>
        <p:spPr>
          <a:xfrm>
            <a:off x="1490472" y="1883664"/>
            <a:ext cx="8534370" cy="201168"/>
          </a:xfrm>
          <a:prstGeom prst="rect">
            <a:avLst/>
          </a:prstGeom>
          <a:noFill/>
        </p:spPr>
        <p:txBody>
          <a:bodyPr wrap="square">
            <a:noAutofit/>
          </a:bodyPr>
          <a:lstStyle/>
          <a:p>
            <a:pPr/>
            <a:r>
              <a:rPr lang="en-MY" sz="1100" b="1" dirty="0">
                <a:solidFill>
                  <a:srgbClr val="7F6000"/>
                </a:solidFill>
              </a:rPr>
              <a:t>Papan Tanda Arah / Papan Tanda Interpretatif</a:t>
            </a:r>
          </a:p>
        </p:txBody>
      </p:sp>
      <p:sp>
        <p:nvSpPr>
          <p:cNvPr id="201" name="PopupTitle"/>
          <p:cNvSpPr txBox="1"/>
          <p:nvPr/>
        </p:nvSpPr>
        <p:spPr>
          <a:xfrm>
            <a:off x="1490472" y="2103120"/>
            <a:ext cx="8534370" cy="365760"/>
          </a:xfrm>
          <a:prstGeom prst="rect">
            <a:avLst/>
          </a:prstGeom>
          <a:noFill/>
        </p:spPr>
        <p:txBody>
          <a:bodyPr wrap="square">
            <a:noAutofit/>
          </a:bodyPr>
          <a:lstStyle/>
          <a:p>
            <a:pPr/>
            <a:r>
              <a:rPr lang="en-MY" sz="2000" b="1" dirty="0">
                <a:solidFill>
                  <a:schemeClr val="tx1">
                    <a:lumMod val="85000"/>
                    <a:lumOff val="15000"/>
                  </a:schemeClr>
                </a:solidFill>
              </a:rPr>
              <a:t>Rekaan</a:t>
            </a:r>
          </a:p>
        </p:txBody>
      </p:sp>
      <p:sp>
        <p:nvSpPr>
          <p:cNvPr id="260" name="CloseIcon"/>
          <p:cNvSpPr/>
          <p:nvPr/>
        </p:nvSpPr>
        <p:spPr>
          <a:xfrm>
            <a:off x="10317450" y="1901952"/>
            <a:ext cx="384048" cy="384048"/>
          </a:xfrm>
          <a:prstGeom prst="ellipse">
            <a:avLst/>
          </a:prstGeom>
          <a:solidFill>
            <a:srgbClr val="1F4E79"/>
          </a:solidFill>
          <a:ln>
            <a:noFill/>
          </a:ln>
        </p:spPr>
        <p:txBody>
          <a:bodyPr/>
          <a:lstStyle/>
          <a:p>
            <a:endParaRPr lang="en-MY"/>
          </a:p>
        </p:txBody>
      </p:sp>
      <p:sp>
        <p:nvSpPr>
          <p:cNvPr id="261" name="CloseGlyph"/>
          <p:cNvSpPr/>
          <p:nvPr/>
        </p:nvSpPr>
        <p:spPr>
          <a:xfrm>
            <a:off x="10421142" y="2005645"/>
            <a:ext cx="176662" cy="176662"/>
          </a:xfrm>
          <a:custGeom>
            <a:avLst/>
            <a:gdLst/>
            <a:ahLst/>
            <a:cxnLst/>
            <a:rect l="0" t="0" r="r" b="b"/>
            <a:pathLst>
              <a:path w="100" h="100">
                <a:moveTo>
                  <a:pt x="25" y="0"/>
                </a:moveTo>
                <a:lnTo>
                  <a:pt x="50" y="25"/>
                </a:lnTo>
                <a:lnTo>
                  <a:pt x="75" y="0"/>
                </a:lnTo>
                <a:lnTo>
                  <a:pt x="100" y="25"/>
                </a:lnTo>
                <a:lnTo>
                  <a:pt x="75" y="50"/>
                </a:lnTo>
                <a:lnTo>
                  <a:pt x="100" y="75"/>
                </a:lnTo>
                <a:lnTo>
                  <a:pt x="75" y="100"/>
                </a:lnTo>
                <a:lnTo>
                  <a:pt x="50" y="75"/>
                </a:lnTo>
                <a:lnTo>
                  <a:pt x="25" y="100"/>
                </a:lnTo>
                <a:lnTo>
                  <a:pt x="0" y="75"/>
                </a:lnTo>
                <a:lnTo>
                  <a:pt x="25" y="50"/>
                </a:lnTo>
                <a:lnTo>
                  <a:pt x="0" y="25"/>
                </a:lnTo>
                <a:close/>
              </a:path>
            </a:pathLst>
          </a:custGeom>
          <a:solidFill>
            <a:srgbClr val="FFFFFF"/>
          </a:solidFill>
          <a:ln>
            <a:noFill/>
          </a:ln>
        </p:spPr>
        <p:txBody>
          <a:bodyPr/>
          <a:lstStyle/>
          <a:p>
            <a:endParaRPr lang="en-MY"/>
          </a:p>
        </p:txBody>
      </p:sp>
      <p:sp>
        <p:nvSpPr>
          <p:cNvPr id="211" name="FBody"/>
          <p:cNvSpPr txBox="1"/>
          <p:nvPr/>
        </p:nvSpPr>
        <p:spPr>
          <a:xfrm>
            <a:off x="1490472" y="2688336"/>
            <a:ext cx="9211026" cy="219456"/>
          </a:xfrm>
          <a:prstGeom prst="rect">
            <a:avLst/>
          </a:prstGeom>
          <a:noFill/>
        </p:spPr>
        <p:txBody>
          <a:bodyPr wrap="square">
            <a:noAutofit/>
          </a:bodyPr>
          <a:lstStyle/>
          <a:p>
            <a:pPr/>
            <a:r>
              <a:rPr lang="en-MY" sz="1250" dirty="0">
                <a:solidFill>
                  <a:schemeClr val="tx1">
                    <a:lumMod val="85000"/>
                    <a:lumOff val="15000"/>
                  </a:schemeClr>
                </a:solidFill>
              </a:rPr>
              <a:t>Font jelas, saiz teks sesuai jarak pandang, kontras warna tinggi.</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Papan Tanda — penerangan + senarai spesifikasi</a:t>
            </a:r>
          </a:p>
          <a:p>
            <a:r>
              <a:rPr lang="en-MY" sz="900" dirty="0">
                <a:solidFill>
                  <a:schemeClr val="tx1">
                    <a:lumMod val="85000"/>
                    <a:lumOff val="15000"/>
                  </a:schemeClr>
                </a:solidFill>
              </a:rPr>
              <a:t>KELUARGA PELAKSANAAN: FAMILY_P2</a:t>
            </a:r>
          </a:p>
          <a:p>
            <a:r>
              <a:rPr lang="en-MY" sz="900" dirty="0">
                <a:solidFill>
                  <a:schemeClr val="tx1">
                    <a:lumMod val="85000"/>
                    <a:lumOff val="15000"/>
                  </a:schemeClr>
                </a:solidFill>
              </a:rPr>
              <a:t>PERANAN HALAMAN SEMAKAN: SPECIFICATION_CATEGORY_POPUP</a:t>
            </a:r>
          </a:p>
          <a:p>
            <a:r>
              <a:rPr lang="en-MY" sz="900" dirty="0">
                <a:solidFill>
                  <a:schemeClr val="tx1">
                    <a:lumMod val="85000"/>
                    <a:lumOff val="15000"/>
                  </a:schemeClr>
                </a:solidFill>
              </a:rPr>
              <a:t/>
            </a:r>
          </a:p>
          <a:p>
            <a:r>
              <a:rPr lang="en-MY" sz="900" dirty="0">
                <a:solidFill>
                  <a:schemeClr val="tx1">
                    <a:lumMod val="85000"/>
                    <a:lumOff val="15000"/>
                  </a:schemeClr>
                </a:solidFill>
              </a:rPr>
              <a:t>BUKTI: Family P2 category popup 4 of 4</a:t>
            </a:r>
          </a:p>
          <a:p>
            <a:r>
              <a:rPr lang="en-MY" sz="900" dirty="0">
                <a:solidFill>
                  <a:schemeClr val="tx1">
                    <a:lumMod val="85000"/>
                    <a:lumOff val="15000"/>
                  </a:schemeClr>
                </a:solidFill>
              </a:rPr>
              <a:t>POLISI NOTA: CONTENT_VO_NOTES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NO_CONTROL  [none]</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CLOSE_ICON</a:t>
            </a:r>
          </a:p>
          <a:p>
            <a:r>
              <a:rPr lang="en-MY" sz="900" dirty="0">
                <a:solidFill>
                  <a:schemeClr val="tx1">
                    <a:lumMod val="85000"/>
                    <a:lumOff val="15000"/>
                  </a:schemeClr>
                </a:solidFill>
              </a:rPr>
              <a:t>  return_target = SCR_PAPAN_TANDA_MAIN</a:t>
            </a:r>
          </a:p>
          <a:p>
            <a:r>
              <a:rPr lang="en-MY" sz="900" dirty="0">
                <a:solidFill>
                  <a:schemeClr val="tx1">
                    <a:lumMod val="85000"/>
                    <a:lumOff val="15000"/>
                  </a:schemeClr>
                </a:solidFill>
              </a:rPr>
              <a:t>SKOP SELESAI: ITEM</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1 · lapisan skrin 2</a:t>
            </a:r>
          </a:p>
          <a:p>
            <a:r>
              <a:rPr lang="en-MY" sz="900" dirty="0">
                <a:solidFill>
                  <a:schemeClr val="tx1">
                    <a:lumMod val="85000"/>
                    <a:lumOff val="15000"/>
                  </a:schemeClr>
                </a:solidFill>
              </a:rPr>
              <a:t>INDUK: SCR_PAPAN_TANDA_MAIN</a:t>
            </a:r>
          </a:p>
          <a:p>
            <a:r>
              <a:rPr lang="en-MY" sz="900" b="1" dirty="0">
                <a:solidFill>
                  <a:schemeClr val="tx1">
                    <a:lumMod val="85000"/>
                    <a:lumOff val="15000"/>
                  </a:schemeClr>
                </a:solidFill>
              </a:rPr>
              <a:t>SUMBER:</a:t>
            </a:r>
          </a:p>
          <a:p>
            <a:r>
              <a:rPr lang="en-MY" sz="900" dirty="0">
                <a:solidFill>
                  <a:schemeClr val="tx1">
                    <a:lumMod val="85000"/>
                    <a:lumOff val="15000"/>
                  </a:schemeClr>
                </a:solidFill>
              </a:rPr>
              <a:t>  K5-PL06-T03-B02-PAPAN-TANDA-ROW-01</a:t>
            </a:r>
          </a:p>
          <a:p>
            <a:r>
              <a:rPr lang="en-MY" sz="900" dirty="0">
                <a:solidFill>
                  <a:schemeClr val="tx1">
                    <a:lumMod val="85000"/>
                    <a:lumOff val="15000"/>
                  </a:schemeClr>
                </a:solidFill>
              </a:rPr>
              <a:t>    ms 244 / fizikal 263</a:t>
            </a:r>
          </a:p>
          <a:p>
            <a:r>
              <a:rPr lang="en-MY" sz="900" b="1" dirty="0">
                <a:solidFill>
                  <a:schemeClr val="tx1">
                    <a:lumMod val="85000"/>
                    <a:lumOff val="15000"/>
                  </a:schemeClr>
                </a:solidFill>
              </a:rPr>
              <a:t>ITEM INTERAKSI:</a:t>
            </a:r>
          </a:p>
          <a:p>
            <a:r>
              <a:rPr lang="en-MY" sz="900" dirty="0">
                <a:solidFill>
                  <a:schemeClr val="tx1">
                    <a:lumMod val="85000"/>
                    <a:lumOff val="15000"/>
                  </a:schemeClr>
                </a:solidFill>
              </a:rPr>
              <a:t>  II_PAPAN_TANDA_CAT04  &lt;-  K5-PL06-T03-B02-PAPAN-TANDA-ROW-01</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Klik kategori spesifikasi = Level 1. Membuka popup (STATE).</a:t>
            </a:r>
          </a:p>
          <a:p>
            <a:r>
              <a:rPr lang="en-MY" sz="900" dirty="0">
                <a:solidFill>
                  <a:schemeClr val="tx1">
                    <a:lumMod val="85000"/>
                    <a:lumOff val="15000"/>
                  </a:schemeClr>
                </a:solidFill>
              </a:rPr>
              <a:t>  Ikon tutup kembali ke senarai spesifikasi (SCR_PAPAN_TANDA_MAIN).</a:t>
            </a:r>
          </a:p>
          <a:p>
            <a:r>
              <a:rPr lang="en-MY" sz="900" dirty="0">
                <a:solidFill>
                  <a:schemeClr val="tx1">
                    <a:lumMod val="85000"/>
                    <a:lumOff val="15000"/>
                  </a:schemeClr>
                </a:solidFill>
              </a:rPr>
              <a:t>  TIADA skrin Contoh satu item untuk komponen ini.</a:t>
            </a:r>
          </a:p>
          <a:p>
            <a:r>
              <a:rPr lang="en-MY" sz="900" dirty="0">
                <a:solidFill>
                  <a:schemeClr val="tx1">
                    <a:lumMod val="85000"/>
                    <a:lumOff val="15000"/>
                  </a:schemeClr>
                </a:solidFill>
              </a:rPr>
              <a:t>  4/4 kategori dilihat.</a:t>
            </a:r>
          </a:p>
          <a:p>
            <a:r>
              <a:rPr lang="en-MY" sz="900" b="1" dirty="0">
                <a:solidFill>
                  <a:schemeClr val="tx1">
                    <a:lumMod val="85000"/>
                    <a:lumOff val="15000"/>
                  </a:schemeClr>
                </a:solidFill>
              </a:rPr>
              <a:t>IDENTITI SUMBER:</a:t>
            </a:r>
          </a:p>
          <a:p>
            <a:r>
              <a:rPr lang="en-MY" sz="900" dirty="0">
                <a:solidFill>
                  <a:schemeClr val="tx1">
                    <a:lumMod val="85000"/>
                    <a:lumOff val="15000"/>
                  </a:schemeClr>
                </a:solidFill>
              </a:rPr>
              <a:t>  4 kategori interaksi daripada SATU baris sumber: K5-PL06-T03-B02-PAPAN-TANDA-ROW-01</a:t>
            </a:r>
          </a:p>
          <a:p>
            <a:r>
              <a:rPr lang="en-MY" sz="900" dirty="0">
                <a:solidFill>
                  <a:schemeClr val="tx1">
                    <a:lumMod val="85000"/>
                    <a:lumOff val="15000"/>
                  </a:schemeClr>
                </a:solidFill>
              </a:rPr>
              <a:t>  Tiada baris sumber baharu dicipta.</a:t>
            </a:r>
          </a:p>
          <a:p>
            <a:r>
              <a:rPr lang="en-MY" sz="900" dirty="0">
                <a:solidFill>
                  <a:schemeClr val="tx1">
                    <a:lumMod val="85000"/>
                    <a:lumOff val="15000"/>
                  </a:schemeClr>
                </a:solidFill>
              </a:rPr>
              <a:t>STATUS KEPUTUSAN: B02-D-03, B02-D-05</a:t>
            </a:r>
          </a:p>
          <a:p>
            <a:r>
              <a:rPr lang="en-MY" sz="900" dirty="0">
                <a:solidFill>
                  <a:schemeClr val="tx1">
                    <a:lumMod val="85000"/>
                    <a:lumOff val="15000"/>
                  </a:schemeClr>
                </a:solidFill>
              </a:rPr>
              <a:t>STATUS BELUM SELESAI: NONE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Papan Tanda</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Perabot Taman</a:t>
            </a:r>
          </a:p>
        </p:txBody>
      </p:sp>
      <p:sp>
        <p:nvSpPr>
          <p:cNvPr id="20" name="Head"/>
          <p:cNvSpPr txBox="1"/>
          <p:nvPr/>
        </p:nvSpPr>
        <p:spPr>
          <a:xfrm>
            <a:off x="723930" y="1115568"/>
            <a:ext cx="10744200" cy="402336"/>
          </a:xfrm>
          <a:prstGeom prst="rect">
            <a:avLst/>
          </a:prstGeom>
          <a:noFill/>
        </p:spPr>
        <p:txBody>
          <a:bodyPr wrap="square">
            <a:noAutofit/>
          </a:bodyPr>
          <a:lstStyle/>
          <a:p>
            <a:pPr/>
            <a:r>
              <a:rPr lang="en-MY" sz="2000" b="1" dirty="0">
                <a:solidFill>
                  <a:schemeClr val="tx1">
                    <a:lumMod val="85000"/>
                    <a:lumOff val="15000"/>
                  </a:schemeClr>
                </a:solidFill>
              </a:rPr>
              <a:t>Papan Tanda</a:t>
            </a:r>
          </a:p>
        </p:txBody>
      </p:sp>
      <p:sp>
        <p:nvSpPr>
          <p:cNvPr id="21" name="Sub"/>
          <p:cNvSpPr txBox="1"/>
          <p:nvPr/>
        </p:nvSpPr>
        <p:spPr>
          <a:xfrm>
            <a:off x="723930" y="1572768"/>
            <a:ext cx="10744200" cy="329184"/>
          </a:xfrm>
          <a:prstGeom prst="rect">
            <a:avLst/>
          </a:prstGeom>
          <a:noFill/>
        </p:spPr>
        <p:txBody>
          <a:bodyPr wrap="square">
            <a:noAutofit/>
          </a:bodyPr>
          <a:lstStyle/>
          <a:p>
            <a:pPr/>
            <a:r>
              <a:rPr lang="en-MY" sz="1400" b="1" dirty="0">
                <a:solidFill>
                  <a:srgbClr val="7F6000"/>
                </a:solidFill>
              </a:rPr>
              <a:t>Papan Tanda Arah / Papan Tanda Interpretatif</a:t>
            </a:r>
          </a:p>
        </p:txBody>
      </p:sp>
      <p:sp>
        <p:nvSpPr>
          <p:cNvPr id="25" name="Instr"/>
          <p:cNvSpPr txBox="1"/>
          <p:nvPr/>
        </p:nvSpPr>
        <p:spPr>
          <a:xfrm>
            <a:off x="723930" y="1920240"/>
            <a:ext cx="10744200" cy="365760"/>
          </a:xfrm>
          <a:prstGeom prst="rect">
            <a:avLst/>
          </a:prstGeom>
          <a:noFill/>
        </p:spPr>
        <p:txBody>
          <a:bodyPr wrap="square">
            <a:noAutofit/>
          </a:bodyPr>
          <a:lstStyle/>
          <a:p>
            <a:pPr algn="ctr"/>
            <a:r>
              <a:rPr lang="en-MY" sz="1500" dirty="0">
                <a:solidFill>
                  <a:schemeClr val="tx1">
                    <a:lumMod val="85000"/>
                    <a:lumOff val="15000"/>
                  </a:schemeClr>
                </a:solidFill>
              </a:rPr>
              <a:t>Klik pada setiap spesifikasi untuk penjelasan lanjut.</a:t>
            </a:r>
          </a:p>
        </p:txBody>
      </p:sp>
      <p:sp>
        <p:nvSpPr>
          <p:cNvPr id="40" name="ItemCard"/>
          <p:cNvSpPr txBox="1"/>
          <p:nvPr/>
        </p:nvSpPr>
        <p:spPr>
          <a:xfrm>
            <a:off x="723885" y="2450592"/>
            <a:ext cx="2398014"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Bahan Panel</a:t>
            </a:r>
          </a:p>
        </p:txBody>
      </p:sp>
      <p:sp>
        <p:nvSpPr>
          <p:cNvPr id="41" name="Tick"/>
          <p:cNvSpPr/>
          <p:nvPr/>
        </p:nvSpPr>
        <p:spPr>
          <a:xfrm>
            <a:off x="2719563" y="2532888"/>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2" name="ItemCard"/>
          <p:cNvSpPr txBox="1"/>
          <p:nvPr/>
        </p:nvSpPr>
        <p:spPr>
          <a:xfrm>
            <a:off x="3505947" y="2450592"/>
            <a:ext cx="2398014"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Bahan Struktur/Tiang</a:t>
            </a:r>
          </a:p>
        </p:txBody>
      </p:sp>
      <p:sp>
        <p:nvSpPr>
          <p:cNvPr id="43" name="Tick"/>
          <p:cNvSpPr/>
          <p:nvPr/>
        </p:nvSpPr>
        <p:spPr>
          <a:xfrm>
            <a:off x="5501625" y="2532888"/>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4" name="ItemCard"/>
          <p:cNvSpPr txBox="1"/>
          <p:nvPr/>
        </p:nvSpPr>
        <p:spPr>
          <a:xfrm>
            <a:off x="6288009" y="2450592"/>
            <a:ext cx="2398014"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Grafik</a:t>
            </a:r>
          </a:p>
        </p:txBody>
      </p:sp>
      <p:sp>
        <p:nvSpPr>
          <p:cNvPr id="45" name="Tick"/>
          <p:cNvSpPr/>
          <p:nvPr/>
        </p:nvSpPr>
        <p:spPr>
          <a:xfrm>
            <a:off x="8283687" y="2532888"/>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6" name="ItemCard"/>
          <p:cNvSpPr txBox="1"/>
          <p:nvPr/>
        </p:nvSpPr>
        <p:spPr>
          <a:xfrm>
            <a:off x="9070071" y="2450592"/>
            <a:ext cx="2398014"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Rekaan</a:t>
            </a:r>
          </a:p>
        </p:txBody>
      </p:sp>
      <p:sp>
        <p:nvSpPr>
          <p:cNvPr id="47" name="Tick"/>
          <p:cNvSpPr/>
          <p:nvPr/>
        </p:nvSpPr>
        <p:spPr>
          <a:xfrm>
            <a:off x="11065749" y="2532888"/>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30" name="VisualDir"/>
          <p:cNvSpPr txBox="1"/>
          <p:nvPr/>
        </p:nvSpPr>
        <p:spPr>
          <a:xfrm>
            <a:off x="723930" y="5394960"/>
            <a:ext cx="10744200" cy="877824"/>
          </a:xfrm>
          <a:prstGeom prst="rect">
            <a:avLst/>
          </a:prstGeom>
          <a:noFill/>
        </p:spPr>
        <p:txBody>
          <a:bodyPr wrap="square">
            <a:noAutofit/>
          </a:bodyPr>
          <a:lstStyle/>
          <a:p>
            <a:pPr/>
            <a:r>
              <a:rPr lang="en-MY" sz="1100" dirty="0">
                <a:solidFill>
                  <a:srgbClr val="808080"/>
                </a:solidFill>
              </a:rPr>
              <a:t>[Visual: Rajah 25 — Lukisan Spesifikasi Papan Tanda Informasi, dan Rajah 26 — Spesifikasi Papan Tanda</a:t>
            </a:r>
          </a:p>
          <a:p>
            <a:pPr/>
            <a:r>
              <a:rPr lang="en-MY" sz="1100" dirty="0">
                <a:solidFill>
                  <a:srgbClr val="808080"/>
                </a:solidFill>
              </a:rPr>
              <a:t>Penunjuk Arah, kedua-duanya modul ms 245. Aset K5PL06T03-B02-IMG-p245-x37 dan K5PL06T03-B02-IMG-p245-x38.</a:t>
            </a:r>
          </a:p>
          <a:p>
            <a:pPr/>
            <a:r>
              <a:rPr lang="en-MY" sz="1100" dirty="0">
                <a:solidFill>
                  <a:srgbClr val="808080"/>
                </a:solidFill>
              </a:rPr>
              <a:t>Tidak dibenamkan.]</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Papan Tanda — penerangan + senarai spesifikasi</a:t>
            </a:r>
          </a:p>
          <a:p>
            <a:r>
              <a:rPr lang="en-MY" sz="900" dirty="0">
                <a:solidFill>
                  <a:schemeClr val="tx1">
                    <a:lumMod val="85000"/>
                    <a:lumOff val="15000"/>
                  </a:schemeClr>
                </a:solidFill>
              </a:rPr>
              <a:t>KELUARGA PELAKSANAAN: FAMILY_P2</a:t>
            </a:r>
          </a:p>
          <a:p>
            <a:r>
              <a:rPr lang="en-MY" sz="900" dirty="0">
                <a:solidFill>
                  <a:schemeClr val="tx1">
                    <a:lumMod val="85000"/>
                    <a:lumOff val="15000"/>
                  </a:schemeClr>
                </a:solidFill>
              </a:rPr>
              <a:t>PERANAN HALAMAN SEMAKAN: COMPONENT_SPEC_LIST_ALL_VIEWED</a:t>
            </a:r>
          </a:p>
          <a:p>
            <a:r>
              <a:rPr lang="en-MY" sz="900" dirty="0">
                <a:solidFill>
                  <a:schemeClr val="tx1">
                    <a:lumMod val="85000"/>
                    <a:lumOff val="15000"/>
                  </a:schemeClr>
                </a:solidFill>
              </a:rPr>
              <a:t/>
            </a:r>
          </a:p>
          <a:p>
            <a:r>
              <a:rPr lang="en-MY" sz="900" dirty="0">
                <a:solidFill>
                  <a:schemeClr val="tx1">
                    <a:lumMod val="85000"/>
                    <a:lumOff val="15000"/>
                  </a:schemeClr>
                </a:solidFill>
              </a:rPr>
              <a:t>BUKTI: Family P2 component complete</a:t>
            </a:r>
          </a:p>
          <a:p>
            <a:r>
              <a:rPr lang="en-MY" sz="900" dirty="0">
                <a:solidFill>
                  <a:schemeClr val="tx1">
                    <a:lumMod val="85000"/>
                    <a:lumOff val="15000"/>
                  </a:schemeClr>
                </a:solidFill>
              </a:rPr>
              <a:t>POLISI NOTA: SILENT_STATE_NOTES  (SILENT)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LMS_SHELL_NEXT  [enabled — component complete]</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NO_CONTROL</a:t>
            </a:r>
          </a:p>
          <a:p>
            <a:r>
              <a:rPr lang="en-MY" sz="900" dirty="0">
                <a:solidFill>
                  <a:schemeClr val="tx1">
                    <a:lumMod val="85000"/>
                    <a:lumOff val="15000"/>
                  </a:schemeClr>
                </a:solidFill>
              </a:rPr>
              <a:t>  return_target = —</a:t>
            </a:r>
          </a:p>
          <a:p>
            <a:r>
              <a:rPr lang="en-MY" sz="900" dirty="0">
                <a:solidFill>
                  <a:schemeClr val="tx1">
                    <a:lumMod val="85000"/>
                    <a:lumOff val="15000"/>
                  </a:schemeClr>
                </a:solidFill>
              </a:rPr>
              <a:t>SKOP SELESAI: COMPONENT</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0 · lapisan skrin 1</a:t>
            </a:r>
          </a:p>
          <a:p>
            <a:r>
              <a:rPr lang="en-MY" sz="900" dirty="0">
                <a:solidFill>
                  <a:schemeClr val="tx1">
                    <a:lumMod val="85000"/>
                    <a:lumOff val="15000"/>
                  </a:schemeClr>
                </a:solidFill>
              </a:rPr>
              <a:t>INDUK: SCR_PAPAN_TANDA_MAIN</a:t>
            </a:r>
          </a:p>
          <a:p>
            <a:r>
              <a:rPr lang="en-MY" sz="900" b="1" dirty="0">
                <a:solidFill>
                  <a:schemeClr val="tx1">
                    <a:lumMod val="85000"/>
                    <a:lumOff val="15000"/>
                  </a:schemeClr>
                </a:solidFill>
              </a:rPr>
              <a:t>SUMBER:</a:t>
            </a:r>
          </a:p>
          <a:p>
            <a:r>
              <a:rPr lang="en-MY" sz="900" dirty="0">
                <a:solidFill>
                  <a:schemeClr val="tx1">
                    <a:lumMod val="85000"/>
                    <a:lumOff val="15000"/>
                  </a:schemeClr>
                </a:solidFill>
              </a:rPr>
              <a:t>  K5-PL06-T03-B02-PAPAN-TANDA-ROW-01</a:t>
            </a:r>
          </a:p>
          <a:p>
            <a:r>
              <a:rPr lang="en-MY" sz="900" dirty="0">
                <a:solidFill>
                  <a:schemeClr val="tx1">
                    <a:lumMod val="85000"/>
                    <a:lumOff val="15000"/>
                  </a:schemeClr>
                </a:solidFill>
              </a:rPr>
              <a:t>    ms 244 / fizikal 263</a:t>
            </a:r>
          </a:p>
          <a:p>
            <a:r>
              <a:rPr lang="en-MY" sz="900" b="1" dirty="0">
                <a:solidFill>
                  <a:schemeClr val="tx1">
                    <a:lumMod val="85000"/>
                    <a:lumOff val="15000"/>
                  </a:schemeClr>
                </a:solidFill>
              </a:rPr>
              <a:t>ITEM INTERAKSI:</a:t>
            </a:r>
          </a:p>
          <a:p>
            <a:r>
              <a:rPr lang="en-MY" sz="900" dirty="0">
                <a:solidFill>
                  <a:schemeClr val="tx1">
                    <a:lumMod val="85000"/>
                    <a:lumOff val="15000"/>
                  </a:schemeClr>
                </a:solidFill>
              </a:rPr>
              <a:t>  II_PAPAN_TANDA_CAT01  &lt;-  K5-PL06-T03-B02-PAPAN-TANDA-ROW-01</a:t>
            </a:r>
          </a:p>
          <a:p>
            <a:r>
              <a:rPr lang="en-MY" sz="900" dirty="0">
                <a:solidFill>
                  <a:schemeClr val="tx1">
                    <a:lumMod val="85000"/>
                    <a:lumOff val="15000"/>
                  </a:schemeClr>
                </a:solidFill>
              </a:rPr>
              <a:t>  II_PAPAN_TANDA_CAT02  &lt;-  K5-PL06-T03-B02-PAPAN-TANDA-ROW-01</a:t>
            </a:r>
          </a:p>
          <a:p>
            <a:r>
              <a:rPr lang="en-MY" sz="900" dirty="0">
                <a:solidFill>
                  <a:schemeClr val="tx1">
                    <a:lumMod val="85000"/>
                    <a:lumOff val="15000"/>
                  </a:schemeClr>
                </a:solidFill>
              </a:rPr>
              <a:t>  II_PAPAN_TANDA_CAT03  &lt;-  K5-PL06-T03-B02-PAPAN-TANDA-ROW-01</a:t>
            </a:r>
          </a:p>
          <a:p>
            <a:r>
              <a:rPr lang="en-MY" sz="900" dirty="0">
                <a:solidFill>
                  <a:schemeClr val="tx1">
                    <a:lumMod val="85000"/>
                    <a:lumOff val="15000"/>
                  </a:schemeClr>
                </a:solidFill>
              </a:rPr>
              <a:t>  II_PAPAN_TANDA_CAT04  &lt;-  K5-PL06-T03-B02-PAPAN-TANDA-ROW-01</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Klik kategori spesifikasi = Level 1. Membuka popup (STATE).</a:t>
            </a:r>
          </a:p>
          <a:p>
            <a:r>
              <a:rPr lang="en-MY" sz="900" dirty="0">
                <a:solidFill>
                  <a:schemeClr val="tx1">
                    <a:lumMod val="85000"/>
                    <a:lumOff val="15000"/>
                  </a:schemeClr>
                </a:solidFill>
              </a:rPr>
              <a:t>  Ikon tutup kembali ke senarai spesifikasi (None).</a:t>
            </a:r>
          </a:p>
          <a:p>
            <a:r>
              <a:rPr lang="en-MY" sz="900" dirty="0">
                <a:solidFill>
                  <a:schemeClr val="tx1">
                    <a:lumMod val="85000"/>
                    <a:lumOff val="15000"/>
                  </a:schemeClr>
                </a:solidFill>
              </a:rPr>
              <a:t>  TIADA skrin Contoh satu item untuk komponen ini.</a:t>
            </a:r>
          </a:p>
          <a:p>
            <a:r>
              <a:rPr lang="en-MY" sz="900" dirty="0">
                <a:solidFill>
                  <a:schemeClr val="tx1">
                    <a:lumMod val="85000"/>
                    <a:lumOff val="15000"/>
                  </a:schemeClr>
                </a:solidFill>
              </a:rPr>
              <a:t>  4/4 kategori dilihat.</a:t>
            </a:r>
          </a:p>
          <a:p>
            <a:r>
              <a:rPr lang="en-MY" sz="900" b="1" dirty="0">
                <a:solidFill>
                  <a:schemeClr val="tx1">
                    <a:lumMod val="85000"/>
                    <a:lumOff val="15000"/>
                  </a:schemeClr>
                </a:solidFill>
              </a:rPr>
              <a:t>IDENTITI SUMBER:</a:t>
            </a:r>
          </a:p>
          <a:p>
            <a:r>
              <a:rPr lang="en-MY" sz="900" dirty="0">
                <a:solidFill>
                  <a:schemeClr val="tx1">
                    <a:lumMod val="85000"/>
                    <a:lumOff val="15000"/>
                  </a:schemeClr>
                </a:solidFill>
              </a:rPr>
              <a:t>  4 kategori interaksi daripada SATU baris sumber: K5-PL06-T03-B02-PAPAN-TANDA-ROW-01</a:t>
            </a:r>
          </a:p>
          <a:p>
            <a:r>
              <a:rPr lang="en-MY" sz="900" dirty="0">
                <a:solidFill>
                  <a:schemeClr val="tx1">
                    <a:lumMod val="85000"/>
                    <a:lumOff val="15000"/>
                  </a:schemeClr>
                </a:solidFill>
              </a:rPr>
              <a:t>  Tiada baris sumber baharu dicipta.</a:t>
            </a:r>
          </a:p>
          <a:p>
            <a:r>
              <a:rPr lang="en-MY" sz="900" dirty="0">
                <a:solidFill>
                  <a:schemeClr val="tx1">
                    <a:lumMod val="85000"/>
                    <a:lumOff val="15000"/>
                  </a:schemeClr>
                </a:solidFill>
              </a:rPr>
              <a:t>STATUS KEPUTUSAN: B02-D-03, B02-D-07</a:t>
            </a:r>
          </a:p>
          <a:p>
            <a:r>
              <a:rPr lang="en-MY" sz="900" dirty="0">
                <a:solidFill>
                  <a:schemeClr val="tx1">
                    <a:lumMod val="85000"/>
                    <a:lumOff val="15000"/>
                  </a:schemeClr>
                </a:solidFill>
              </a:rPr>
              <a:t>STATUS BELUM SELESAI: NONE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Rumusan</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Rumusan</a:t>
            </a:r>
          </a:p>
        </p:txBody>
      </p:sp>
      <p:sp>
        <p:nvSpPr>
          <p:cNvPr id="30" name="VisualDir"/>
          <p:cNvSpPr txBox="1"/>
          <p:nvPr/>
        </p:nvSpPr>
        <p:spPr>
          <a:xfrm>
            <a:off x="723930" y="1188720"/>
            <a:ext cx="10744200" cy="877824"/>
          </a:xfrm>
          <a:prstGeom prst="rect">
            <a:avLst/>
          </a:prstGeom>
          <a:noFill/>
        </p:spPr>
        <p:txBody>
          <a:bodyPr wrap="square">
            <a:noAutofit/>
          </a:bodyPr>
          <a:lstStyle/>
          <a:p>
            <a:pPr/>
            <a:r>
              <a:rPr lang="en-MY" sz="1100" dirty="0">
                <a:solidFill>
                  <a:srgbClr val="808080"/>
                </a:solidFill>
              </a:rPr>
              <a:t>ARAHAN VISUAL</a:t>
            </a:r>
          </a:p>
          <a:p>
            <a:pPr/>
            <a:r>
              <a:rPr lang="en-MY" sz="1100" dirty="0">
                <a:solidFill>
                  <a:srgbClr val="808080"/>
                </a:solidFill>
              </a:rPr>
              <a:t>[Visual: Papan rumusan — dua kumpulan komponen bersebelahan,</a:t>
            </a:r>
          </a:p>
          <a:p>
            <a:pPr/>
            <a:r>
              <a:rPr lang="en-MY" sz="1100" dirty="0">
                <a:solidFill>
                  <a:srgbClr val="808080"/>
                </a:solidFill>
              </a:rPr>
              <a:t>empat dan lima item. Tidak dibenamkan.]</a:t>
            </a:r>
          </a:p>
        </p:txBody>
      </p:sp>
      <p:sp>
        <p:nvSpPr>
          <p:cNvPr id="40" name="RumLine"/>
          <p:cNvSpPr txBox="1"/>
          <p:nvPr/>
        </p:nvSpPr>
        <p:spPr>
          <a:xfrm>
            <a:off x="723930" y="2011680"/>
            <a:ext cx="10744200" cy="640080"/>
          </a:xfrm>
          <a:prstGeom prst="rect">
            <a:avLst/>
          </a:prstGeom>
          <a:noFill/>
        </p:spPr>
        <p:txBody>
          <a:bodyPr wrap="square">
            <a:noAutofit/>
          </a:bodyPr>
          <a:lstStyle/>
          <a:p>
            <a:pPr/>
            <a:r>
              <a:rPr lang="en-MY" sz="1450" dirty="0">
                <a:solidFill>
                  <a:schemeClr val="tx1">
                    <a:lumMod val="85000"/>
                    <a:lumOff val="15000"/>
                  </a:schemeClr>
                </a:solidFill>
              </a:rPr>
              <a:t>Mengenal pasti struktur dan elemen landskap - kerja pembinaan, penyeliaan dan penyelenggaraan</a:t>
            </a:r>
          </a:p>
          <a:p>
            <a:pPr/>
            <a:r>
              <a:rPr lang="en-MY" sz="1450" dirty="0">
                <a:solidFill>
                  <a:schemeClr val="tx1">
                    <a:lumMod val="85000"/>
                    <a:lumOff val="15000"/>
                  </a:schemeClr>
                </a:solidFill>
              </a:rPr>
              <a:t>dirancang dengan tepat</a:t>
            </a:r>
          </a:p>
        </p:txBody>
      </p:sp>
      <p:sp>
        <p:nvSpPr>
          <p:cNvPr id="41" name="RumLine"/>
          <p:cNvSpPr txBox="1"/>
          <p:nvPr/>
        </p:nvSpPr>
        <p:spPr>
          <a:xfrm>
            <a:off x="723930" y="2889504"/>
            <a:ext cx="10744200" cy="365760"/>
          </a:xfrm>
          <a:prstGeom prst="rect">
            <a:avLst/>
          </a:prstGeom>
          <a:noFill/>
        </p:spPr>
        <p:txBody>
          <a:bodyPr wrap="square">
            <a:noAutofit/>
          </a:bodyPr>
          <a:lstStyle/>
          <a:p>
            <a:pPr/>
            <a:r>
              <a:rPr lang="en-MY" sz="1450" dirty="0">
                <a:solidFill>
                  <a:schemeClr val="tx1">
                    <a:lumMod val="85000"/>
                    <a:lumOff val="15000"/>
                  </a:schemeClr>
                </a:solidFill>
              </a:rPr>
              <a:t>Struktur Taman - Struktur Persisir Air, Struktur Teduhan, Kemudahan Awam, </a:t>
            </a:r>
            <a:r>
              <a:rPr lang="en-MY" sz="1450" i="1" dirty="0">
                <a:solidFill>
                  <a:schemeClr val="tx1">
                    <a:lumMod val="85000"/>
                    <a:lumOff val="15000"/>
                  </a:schemeClr>
                </a:solidFill>
              </a:rPr>
              <a:t>Water Feature</a:t>
            </a:r>
          </a:p>
        </p:txBody>
      </p:sp>
      <p:sp>
        <p:nvSpPr>
          <p:cNvPr id="42" name="RumLine"/>
          <p:cNvSpPr txBox="1"/>
          <p:nvPr/>
        </p:nvSpPr>
        <p:spPr>
          <a:xfrm>
            <a:off x="723930" y="3493008"/>
            <a:ext cx="10744200" cy="365760"/>
          </a:xfrm>
          <a:prstGeom prst="rect">
            <a:avLst/>
          </a:prstGeom>
          <a:noFill/>
        </p:spPr>
        <p:txBody>
          <a:bodyPr wrap="square">
            <a:noAutofit/>
          </a:bodyPr>
          <a:lstStyle/>
          <a:p>
            <a:pPr/>
            <a:r>
              <a:rPr lang="en-MY" sz="1450" dirty="0">
                <a:solidFill>
                  <a:schemeClr val="tx1">
                    <a:lumMod val="85000"/>
                    <a:lumOff val="15000"/>
                  </a:schemeClr>
                </a:solidFill>
              </a:rPr>
              <a:t>Perabot Taman - Kerusi Taman, Papan Tanda, Tong Sampah, </a:t>
            </a:r>
            <a:r>
              <a:rPr lang="en-MY" sz="1450" i="1" dirty="0">
                <a:solidFill>
                  <a:schemeClr val="tx1">
                    <a:lumMod val="85000"/>
                    <a:lumOff val="15000"/>
                  </a:schemeClr>
                </a:solidFill>
              </a:rPr>
              <a:t>Drinking Fountain</a:t>
            </a:r>
            <a:r>
              <a:rPr lang="en-MY" sz="1450" dirty="0">
                <a:solidFill>
                  <a:schemeClr val="tx1">
                    <a:lumMod val="85000"/>
                    <a:lumOff val="15000"/>
                  </a:schemeClr>
                </a:solidFill>
              </a:rPr>
              <a:t> dan </a:t>
            </a:r>
            <a:r>
              <a:rPr lang="en-MY" sz="1450" i="1" dirty="0">
                <a:solidFill>
                  <a:schemeClr val="tx1">
                    <a:lumMod val="85000"/>
                    <a:lumOff val="15000"/>
                  </a:schemeClr>
                </a:solidFill>
              </a:rPr>
              <a:t>BBQ Pit</a:t>
            </a:r>
          </a:p>
        </p:txBody>
      </p:sp>
      <p:sp>
        <p:nvSpPr>
          <p:cNvPr id="43" name="RumLine"/>
          <p:cNvSpPr txBox="1"/>
          <p:nvPr/>
        </p:nvSpPr>
        <p:spPr>
          <a:xfrm>
            <a:off x="723930" y="4096512"/>
            <a:ext cx="10744200" cy="640080"/>
          </a:xfrm>
          <a:prstGeom prst="rect">
            <a:avLst/>
          </a:prstGeom>
          <a:noFill/>
        </p:spPr>
        <p:txBody>
          <a:bodyPr wrap="square">
            <a:noAutofit/>
          </a:bodyPr>
          <a:lstStyle/>
          <a:p>
            <a:pPr/>
            <a:r>
              <a:rPr lang="en-MY" sz="1450" dirty="0">
                <a:solidFill>
                  <a:schemeClr val="tx1">
                    <a:lumMod val="85000"/>
                    <a:lumOff val="15000"/>
                  </a:schemeClr>
                </a:solidFill>
              </a:rPr>
              <a:t>Kontraktor dapat merancang, melaksana dan menyelenggara setiap komponen landskap mengikut</a:t>
            </a:r>
          </a:p>
          <a:p>
            <a:pPr/>
            <a:r>
              <a:rPr lang="en-MY" sz="1450" dirty="0">
                <a:solidFill>
                  <a:schemeClr val="tx1">
                    <a:lumMod val="85000"/>
                    <a:lumOff val="15000"/>
                  </a:schemeClr>
                </a:solidFill>
              </a:rPr>
              <a:t>fungsinya di tapak</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Rumusan</a:t>
            </a:r>
          </a:p>
          <a:p>
            <a:r>
              <a:rPr lang="en-MY" sz="900" dirty="0">
                <a:solidFill>
                  <a:schemeClr val="tx1">
                    <a:lumMod val="85000"/>
                    <a:lumOff val="15000"/>
                  </a:schemeClr>
                </a:solidFill>
              </a:rPr>
              <a:t>KELUARGA PELAKSANAAN: FRAME</a:t>
            </a:r>
          </a:p>
          <a:p>
            <a:r>
              <a:rPr lang="en-MY" sz="900" dirty="0">
                <a:solidFill>
                  <a:schemeClr val="tx1">
                    <a:lumMod val="85000"/>
                    <a:lumOff val="15000"/>
                  </a:schemeClr>
                </a:solidFill>
              </a:rPr>
              <a:t>PERANAN HALAMAN SEMAKAN: FRAME_SUMMARY_BASE</a:t>
            </a:r>
          </a:p>
          <a:p>
            <a:r>
              <a:rPr lang="en-MY" sz="900" dirty="0">
                <a:solidFill>
                  <a:schemeClr val="tx1">
                    <a:lumMod val="85000"/>
                    <a:lumOff val="15000"/>
                  </a:schemeClr>
                </a:solidFill>
              </a:rPr>
              <a:t/>
            </a:r>
          </a:p>
          <a:p>
            <a:r>
              <a:rPr lang="en-MY" sz="900" dirty="0">
                <a:solidFill>
                  <a:schemeClr val="tx1">
                    <a:lumMod val="85000"/>
                    <a:lumOff val="15000"/>
                  </a:schemeClr>
                </a:solidFill>
              </a:rPr>
              <a:t>BUKTI: Rumusan</a:t>
            </a:r>
          </a:p>
          <a:p>
            <a:r>
              <a:rPr lang="en-MY" sz="900" dirty="0">
                <a:solidFill>
                  <a:schemeClr val="tx1">
                    <a:lumMod val="85000"/>
                    <a:lumOff val="15000"/>
                  </a:schemeClr>
                </a:solidFill>
              </a:rPr>
              <a:t>POLISI NOTA: CONTENT_VO_NOTES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LMS_SHELL_NEXT  [vo_complete]</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NO_CONTROL</a:t>
            </a:r>
          </a:p>
          <a:p>
            <a:r>
              <a:rPr lang="en-MY" sz="900" dirty="0">
                <a:solidFill>
                  <a:schemeClr val="tx1">
                    <a:lumMod val="85000"/>
                    <a:lumOff val="15000"/>
                  </a:schemeClr>
                </a:solidFill>
              </a:rPr>
              <a:t>  return_target = —</a:t>
            </a:r>
          </a:p>
          <a:p>
            <a:r>
              <a:rPr lang="en-MY" sz="900" dirty="0">
                <a:solidFill>
                  <a:schemeClr val="tx1">
                    <a:lumMod val="85000"/>
                    <a:lumOff val="15000"/>
                  </a:schemeClr>
                </a:solidFill>
              </a:rPr>
              <a:t>SKOP SELESAI: NONE</a:t>
            </a:r>
          </a:p>
          <a:p>
            <a:r>
              <a:rPr lang="en-MY" sz="900" dirty="0">
                <a:solidFill>
                  <a:schemeClr val="tx1">
                    <a:lumMod val="85000"/>
                    <a:lumOff val="15000"/>
                  </a:schemeClr>
                </a:solidFill>
              </a:rPr>
              <a:t>PERSISTEN: NOT_APPLICABLE</a:t>
            </a:r>
          </a:p>
          <a:p>
            <a:r>
              <a:rPr lang="en-MY" sz="900" dirty="0">
                <a:solidFill>
                  <a:schemeClr val="tx1">
                    <a:lumMod val="85000"/>
                    <a:lumOff val="15000"/>
                  </a:schemeClr>
                </a:solidFill>
              </a:rPr>
              <a:t>LEVEL: pilihan interaksi 0 · lapisan skrin 0</a:t>
            </a:r>
          </a:p>
          <a:p>
            <a:r>
              <a:rPr lang="en-MY" sz="900" dirty="0">
                <a:solidFill>
                  <a:schemeClr val="tx1">
                    <a:lumMod val="85000"/>
                    <a:lumOff val="15000"/>
                  </a:schemeClr>
                </a:solidFill>
              </a:rPr>
              <a:t>INDUK: SCR_RUMUSAN</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Tiada. Rumusan aras Bahagian.</a:t>
            </a:r>
          </a:p>
          <a:p>
            <a:r>
              <a:rPr lang="en-MY" sz="900" b="1" dirty="0">
                <a:solidFill>
                  <a:schemeClr val="tx1">
                    <a:lumMod val="85000"/>
                    <a:lumOff val="15000"/>
                  </a:schemeClr>
                </a:solidFill>
              </a:rPr>
              <a:t>LABEL DILARANG DIPAPARKAN:</a:t>
            </a:r>
          </a:p>
          <a:p>
            <a:r>
              <a:rPr lang="en-MY" sz="900" dirty="0">
                <a:solidFill>
                  <a:schemeClr val="tx1">
                    <a:lumMod val="85000"/>
                    <a:lumOff val="15000"/>
                  </a:schemeClr>
                </a:solidFill>
              </a:rPr>
              <a:t>  Kepentingan, Isi Utama, Apa Yang Dipelajari, Manfaat</a:t>
            </a:r>
          </a:p>
          <a:p>
            <a:r>
              <a:rPr lang="en-MY" sz="900" b="1" dirty="0">
                <a:solidFill>
                  <a:schemeClr val="tx1">
                    <a:lumMod val="85000"/>
                    <a:lumOff val="15000"/>
                  </a:schemeClr>
                </a:solidFill>
              </a:rPr>
              <a:t>NOTA PRODUKSI:</a:t>
            </a:r>
          </a:p>
          <a:p>
            <a:r>
              <a:rPr lang="en-MY" sz="900" dirty="0">
                <a:solidFill>
                  <a:schemeClr val="tx1">
                    <a:lumMod val="85000"/>
                    <a:lumOff val="15000"/>
                  </a:schemeClr>
                </a:solidFill>
              </a:rPr>
              <a:t>  VO omits the redundant opening label "Komponen Landskap — Struktur Taman dan Perabot Taman."</a:t>
            </a:r>
          </a:p>
          <a:p>
            <a:r>
              <a:rPr lang="en-MY" sz="900" dirty="0">
                <a:solidFill>
                  <a:schemeClr val="tx1">
                    <a:lumMod val="85000"/>
                    <a:lumOff val="15000"/>
                  </a:schemeClr>
                </a:solidFill>
              </a:rPr>
              <a:t>STATUS KEPUTUSAN: B02-D-09</a:t>
            </a:r>
          </a:p>
          <a:p>
            <a:r>
              <a:rPr lang="en-MY" sz="900" dirty="0">
                <a:solidFill>
                  <a:schemeClr val="tx1">
                    <a:lumMod val="85000"/>
                    <a:lumOff val="15000"/>
                  </a:schemeClr>
                </a:solidFill>
              </a:rPr>
              <a:t>STATUS BELUM SELESAI: NONE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Kuiz</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Kuiz</a:t>
            </a:r>
          </a:p>
        </p:txBody>
      </p:sp>
      <p:sp>
        <p:nvSpPr>
          <p:cNvPr id="20" name="Strap"/>
          <p:cNvSpPr txBox="1"/>
          <p:nvPr/>
        </p:nvSpPr>
        <p:spPr>
          <a:xfrm>
            <a:off x="723930" y="1152144"/>
            <a:ext cx="10744200" cy="329184"/>
          </a:xfrm>
          <a:prstGeom prst="rect">
            <a:avLst/>
          </a:prstGeom>
          <a:noFill/>
        </p:spPr>
        <p:txBody>
          <a:bodyPr wrap="square">
            <a:noAutofit/>
          </a:bodyPr>
          <a:lstStyle/>
          <a:p>
            <a:pPr/>
            <a:r>
              <a:rPr lang="en-MY" sz="1300" dirty="0">
                <a:solidFill>
                  <a:srgbClr val="7F6000"/>
                </a:solidFill>
              </a:rPr>
              <a:t>5 soalan — 4 MCQ + 1 Multiple Response   ·   Lulus: 3/5 = 60%</a:t>
            </a:r>
          </a:p>
        </p:txBody>
      </p:sp>
      <p:sp>
        <p:nvSpPr>
          <p:cNvPr id="30" name="Purpose"/>
          <p:cNvSpPr txBox="1"/>
          <p:nvPr/>
        </p:nvSpPr>
        <p:spPr>
          <a:xfrm>
            <a:off x="723930" y="1700784"/>
            <a:ext cx="10744200" cy="658368"/>
          </a:xfrm>
          <a:prstGeom prst="rect">
            <a:avLst/>
          </a:prstGeom>
          <a:noFill/>
        </p:spPr>
        <p:txBody>
          <a:bodyPr wrap="square">
            <a:noAutofit/>
          </a:bodyPr>
          <a:lstStyle/>
          <a:p>
            <a:pPr/>
            <a:r>
              <a:rPr lang="en-MY" sz="1500" dirty="0">
                <a:solidFill>
                  <a:schemeClr val="tx1">
                    <a:lumMod val="85000"/>
                    <a:lumOff val="15000"/>
                  </a:schemeClr>
                </a:solidFill>
              </a:rPr>
              <a:t>Tujuan kuiz ini adalah untuk menguji kefahaman semata-mata dan bukan sebahagian daripada</a:t>
            </a:r>
          </a:p>
          <a:p>
            <a:pPr/>
            <a:r>
              <a:rPr lang="en-MY" sz="1500" dirty="0">
                <a:solidFill>
                  <a:schemeClr val="tx1">
                    <a:lumMod val="85000"/>
                    <a:lumOff val="15000"/>
                  </a:schemeClr>
                </a:solidFill>
              </a:rPr>
              <a:t>peperiksaan akhir kursus.</a:t>
            </a:r>
          </a:p>
        </p:txBody>
      </p:sp>
      <p:sp>
        <p:nvSpPr>
          <p:cNvPr id="31" name="Purpose"/>
          <p:cNvSpPr txBox="1"/>
          <p:nvPr/>
        </p:nvSpPr>
        <p:spPr>
          <a:xfrm>
            <a:off x="723930" y="2505456"/>
            <a:ext cx="10744200" cy="365760"/>
          </a:xfrm>
          <a:prstGeom prst="rect">
            <a:avLst/>
          </a:prstGeom>
          <a:noFill/>
        </p:spPr>
        <p:txBody>
          <a:bodyPr wrap="square">
            <a:noAutofit/>
          </a:bodyPr>
          <a:lstStyle/>
          <a:p>
            <a:pPr/>
            <a:r>
              <a:rPr lang="en-MY" sz="1500" dirty="0">
                <a:solidFill>
                  <a:schemeClr val="tx1">
                    <a:lumMod val="85000"/>
                    <a:lumOff val="15000"/>
                  </a:schemeClr>
                </a:solidFill>
              </a:rPr>
              <a:t>Markah tidak akan dinilai sebagai gred peperiksaan akhir kursus.</a:t>
            </a:r>
          </a:p>
        </p:txBody>
      </p:sp>
      <p:sp>
        <p:nvSpPr>
          <p:cNvPr id="40" name="Instr"/>
          <p:cNvSpPr txBox="1"/>
          <p:nvPr/>
        </p:nvSpPr>
        <p:spPr>
          <a:xfrm>
            <a:off x="723930" y="3200400"/>
            <a:ext cx="10744200" cy="365760"/>
          </a:xfrm>
          <a:prstGeom prst="rect">
            <a:avLst/>
          </a:prstGeom>
          <a:noFill/>
        </p:spPr>
        <p:txBody>
          <a:bodyPr wrap="square">
            <a:noAutofit/>
          </a:bodyPr>
          <a:lstStyle/>
          <a:p>
            <a:pPr/>
            <a:r>
              <a:rPr lang="en-MY" sz="1600" dirty="0">
                <a:solidFill>
                  <a:schemeClr val="tx1">
                    <a:lumMod val="85000"/>
                    <a:lumOff val="15000"/>
                  </a:schemeClr>
                </a:solidFill>
              </a:rPr>
              <a:t>Jawab semua soalan dengan pilihan jawapan yang betul.</a:t>
            </a:r>
          </a:p>
        </p:txBody>
      </p:sp>
      <p:sp>
        <p:nvSpPr>
          <p:cNvPr id="41" name="Instr"/>
          <p:cNvSpPr txBox="1"/>
          <p:nvPr/>
        </p:nvSpPr>
        <p:spPr>
          <a:xfrm>
            <a:off x="723930" y="3602736"/>
            <a:ext cx="10744200" cy="365760"/>
          </a:xfrm>
          <a:prstGeom prst="rect">
            <a:avLst/>
          </a:prstGeom>
          <a:noFill/>
        </p:spPr>
        <p:txBody>
          <a:bodyPr wrap="square">
            <a:noAutofit/>
          </a:bodyPr>
          <a:lstStyle/>
          <a:p>
            <a:pPr/>
            <a:r>
              <a:rPr lang="en-MY" sz="1600" b="1" dirty="0">
                <a:solidFill>
                  <a:schemeClr val="tx1">
                    <a:lumMod val="85000"/>
                    <a:lumOff val="15000"/>
                  </a:schemeClr>
                </a:solidFill>
              </a:rPr>
              <a:t>Klik butang “MULA KUIZ” untuk mula.</a:t>
            </a:r>
          </a:p>
        </p:txBody>
      </p:sp>
      <p:sp>
        <p:nvSpPr>
          <p:cNvPr id="50" name="Ctl"/>
          <p:cNvSpPr txBox="1"/>
          <p:nvPr/>
        </p:nvSpPr>
        <p:spPr>
          <a:xfrm>
            <a:off x="723930" y="5120640"/>
            <a:ext cx="2743200" cy="329184"/>
          </a:xfrm>
          <a:prstGeom prst="rect">
            <a:avLst/>
          </a:prstGeom>
          <a:noFill/>
        </p:spPr>
        <p:txBody>
          <a:bodyPr wrap="square">
            <a:noAutofit/>
          </a:bodyPr>
          <a:lstStyle/>
          <a:p>
            <a:pPr/>
            <a:r>
              <a:rPr lang="en-MY" sz="1300" dirty="0">
                <a:solidFill>
                  <a:srgbClr val="808080"/>
                </a:solidFill>
              </a:rPr>
              <a:t>Semak Jawapan</a:t>
            </a:r>
          </a:p>
        </p:txBody>
      </p:sp>
      <p:sp>
        <p:nvSpPr>
          <p:cNvPr id="51" name="Ctl"/>
          <p:cNvSpPr txBox="1"/>
          <p:nvPr/>
        </p:nvSpPr>
        <p:spPr>
          <a:xfrm>
            <a:off x="3650010" y="5120640"/>
            <a:ext cx="2743200" cy="329184"/>
          </a:xfrm>
          <a:prstGeom prst="rect">
            <a:avLst/>
          </a:prstGeom>
          <a:noFill/>
        </p:spPr>
        <p:txBody>
          <a:bodyPr wrap="square">
            <a:noAutofit/>
          </a:bodyPr>
          <a:lstStyle/>
          <a:p>
            <a:pPr/>
            <a:r>
              <a:rPr lang="en-MY" sz="1300" dirty="0">
                <a:solidFill>
                  <a:srgbClr val="808080"/>
                </a:solidFill>
              </a:rPr>
              <a:t>Ulang Kuiz</a:t>
            </a:r>
          </a:p>
        </p:txBody>
      </p:sp>
      <p:sp>
        <p:nvSpPr>
          <p:cNvPr id="96" name="Btn"/>
          <p:cNvSpPr txBox="1"/>
          <p:nvPr/>
        </p:nvSpPr>
        <p:spPr>
          <a:xfrm>
            <a:off x="4998705" y="6419088"/>
            <a:ext cx="2194560" cy="347472"/>
          </a:xfrm>
          <a:prstGeom prst="rect">
            <a:avLst/>
          </a:prstGeom>
          <a:solidFill>
            <a:srgbClr val="1F4E79"/>
          </a:solidFill>
          <a:ln w="12700">
            <a:solidFill>
              <a:srgbClr val="1F4E79"/>
            </a:solidFill>
          </a:ln>
        </p:spPr>
        <p:txBody>
          <a:bodyPr wrap="square" anchor="ctr">
            <a:noAutofit/>
          </a:bodyPr>
          <a:lstStyle/>
          <a:p>
            <a:pPr algn="ctr"/>
            <a:r>
              <a:rPr lang="en-MY" sz="1600" b="1" dirty="0">
                <a:solidFill>
                  <a:srgbClr val="FFFFFF"/>
                </a:solidFill>
              </a:rPr>
              <a:t>MULA KUIZ</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Kuiz — semakan pengetahuan</a:t>
            </a:r>
          </a:p>
          <a:p>
            <a:r>
              <a:rPr lang="en-MY" sz="900" dirty="0">
                <a:solidFill>
                  <a:schemeClr val="tx1">
                    <a:lumMod val="85000"/>
                    <a:lumOff val="15000"/>
                  </a:schemeClr>
                </a:solidFill>
              </a:rPr>
              <a:t>KELUARGA PELAKSANAAN: FRAME</a:t>
            </a:r>
          </a:p>
          <a:p>
            <a:r>
              <a:rPr lang="en-MY" sz="900" dirty="0">
                <a:solidFill>
                  <a:schemeClr val="tx1">
                    <a:lumMod val="85000"/>
                    <a:lumOff val="15000"/>
                  </a:schemeClr>
                </a:solidFill>
              </a:rPr>
              <a:t>PERANAN HALAMAN SEMAKAN: QUIZ_INTRO</a:t>
            </a:r>
          </a:p>
          <a:p>
            <a:r>
              <a:rPr lang="en-MY" sz="900" dirty="0">
                <a:solidFill>
                  <a:schemeClr val="tx1">
                    <a:lumMod val="85000"/>
                    <a:lumOff val="15000"/>
                  </a:schemeClr>
                </a:solidFill>
              </a:rPr>
              <a:t/>
            </a:r>
          </a:p>
          <a:p>
            <a:r>
              <a:rPr lang="en-MY" sz="900" dirty="0">
                <a:solidFill>
                  <a:schemeClr val="tx1">
                    <a:lumMod val="85000"/>
                    <a:lumOff val="15000"/>
                  </a:schemeClr>
                </a:solidFill>
              </a:rPr>
              <a:t>BUKTI: Kuiz entry, MULA KUIZ</a:t>
            </a:r>
          </a:p>
          <a:p>
            <a:r>
              <a:rPr lang="en-MY" sz="900" dirty="0">
                <a:solidFill>
                  <a:schemeClr val="tx1">
                    <a:lumMod val="85000"/>
                    <a:lumOff val="15000"/>
                  </a:schemeClr>
                </a:solidFill>
              </a:rPr>
              <a:t>POLISI NOTA: QUIZ_NOTES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MULA_KUIZ_BUTTON  [always_enabled]</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NO_CONTROL</a:t>
            </a:r>
          </a:p>
          <a:p>
            <a:r>
              <a:rPr lang="en-MY" sz="900" dirty="0">
                <a:solidFill>
                  <a:schemeClr val="tx1">
                    <a:lumMod val="85000"/>
                    <a:lumOff val="15000"/>
                  </a:schemeClr>
                </a:solidFill>
              </a:rPr>
              <a:t>  return_target = —</a:t>
            </a:r>
          </a:p>
          <a:p>
            <a:r>
              <a:rPr lang="en-MY" sz="900" dirty="0">
                <a:solidFill>
                  <a:schemeClr val="tx1">
                    <a:lumMod val="85000"/>
                    <a:lumOff val="15000"/>
                  </a:schemeClr>
                </a:solidFill>
              </a:rPr>
              <a:t>SKOP SELESAI: QUIZ</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0 · lapisan skrin 0</a:t>
            </a:r>
          </a:p>
          <a:p>
            <a:r>
              <a:rPr lang="en-MY" sz="900" dirty="0">
                <a:solidFill>
                  <a:schemeClr val="tx1">
                    <a:lumMod val="85000"/>
                    <a:lumOff val="15000"/>
                  </a:schemeClr>
                </a:solidFill>
              </a:rPr>
              <a:t>INDUK: SCR_KUIZ</a:t>
            </a:r>
          </a:p>
          <a:p>
            <a:r>
              <a:rPr lang="en-MY" sz="900" b="1" dirty="0">
                <a:solidFill>
                  <a:schemeClr val="tx1">
                    <a:lumMod val="85000"/>
                    <a:lumOff val="15000"/>
                  </a:schemeClr>
                </a:solidFill>
              </a:rPr>
              <a:t>KUIZ:</a:t>
            </a:r>
          </a:p>
          <a:p>
            <a:r>
              <a:rPr lang="en-MY" sz="900" dirty="0">
                <a:solidFill>
                  <a:schemeClr val="tx1">
                    <a:lumMod val="85000"/>
                    <a:lumOff val="15000"/>
                  </a:schemeClr>
                </a:solidFill>
              </a:rPr>
              <a:t>  5 soalan — 4 MCQ + 1 Multiple Response</a:t>
            </a:r>
          </a:p>
          <a:p>
            <a:r>
              <a:rPr lang="en-MY" sz="900" dirty="0">
                <a:solidFill>
                  <a:schemeClr val="tx1">
                    <a:lumMod val="85000"/>
                    <a:lumOff val="15000"/>
                  </a:schemeClr>
                </a:solidFill>
              </a:rPr>
              <a:t>  Lulus: 3/5 = 60%   Menyekat kemajuan: TIDAK</a:t>
            </a:r>
          </a:p>
          <a:p>
            <a:r>
              <a:rPr lang="en-MY" sz="900" dirty="0">
                <a:solidFill>
                  <a:schemeClr val="tx1">
                    <a:lumMod val="85000"/>
                    <a:lumOff val="15000"/>
                  </a:schemeClr>
                </a:solidFill>
              </a:rPr>
              <a:t>  Cuba semula: voluntary — Ulang Kuiz</a:t>
            </a:r>
          </a:p>
          <a:p>
            <a:r>
              <a:rPr lang="en-MY" sz="900" dirty="0">
                <a:solidFill>
                  <a:schemeClr val="tx1">
                    <a:lumMod val="85000"/>
                    <a:lumOff val="15000"/>
                  </a:schemeClr>
                </a:solidFill>
              </a:rPr>
              <a:t>  Semakan pengetahuan sahaja, bukan gred peperiksaan akhir kursus.</a:t>
            </a:r>
          </a:p>
          <a:p>
            <a:r>
              <a:rPr lang="en-MY" sz="900" dirty="0">
                <a:solidFill>
                  <a:schemeClr val="tx1">
                    <a:lumMod val="85000"/>
                    <a:lumOff val="15000"/>
                  </a:schemeClr>
                </a:solidFill>
              </a:rPr>
              <a:t>STATUS KEPUTUSAN: B02-D-11</a:t>
            </a:r>
          </a:p>
          <a:p>
            <a:r>
              <a:rPr lang="en-MY" sz="900" dirty="0">
                <a:solidFill>
                  <a:schemeClr val="tx1">
                    <a:lumMod val="85000"/>
                    <a:lumOff val="15000"/>
                  </a:schemeClr>
                </a:solidFill>
              </a:rPr>
              <a:t>STATUS BELUM SELESAI: NONE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Kuiz — Soalan 1</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Soalan 1</a:t>
            </a:r>
          </a:p>
        </p:txBody>
      </p:sp>
      <p:sp>
        <p:nvSpPr>
          <p:cNvPr id="20" name="Kind"/>
          <p:cNvSpPr txBox="1"/>
          <p:nvPr/>
        </p:nvSpPr>
        <p:spPr>
          <a:xfrm>
            <a:off x="723930" y="1152144"/>
            <a:ext cx="10744200" cy="292608"/>
          </a:xfrm>
          <a:prstGeom prst="rect">
            <a:avLst/>
          </a:prstGeom>
          <a:noFill/>
        </p:spPr>
        <p:txBody>
          <a:bodyPr wrap="square">
            <a:noAutofit/>
          </a:bodyPr>
          <a:lstStyle/>
          <a:p>
            <a:pPr/>
            <a:r>
              <a:rPr lang="en-MY" sz="1150" dirty="0">
                <a:solidFill>
                  <a:srgbClr val="808080"/>
                </a:solidFill>
              </a:rPr>
              <a:t>MCQ   ·   sumber: modul ms 238 (3.3.1)</a:t>
            </a:r>
          </a:p>
        </p:txBody>
      </p:sp>
      <p:sp>
        <p:nvSpPr>
          <p:cNvPr id="22" name="Stem"/>
          <p:cNvSpPr txBox="1"/>
          <p:nvPr/>
        </p:nvSpPr>
        <p:spPr>
          <a:xfrm>
            <a:off x="723930" y="1517904"/>
            <a:ext cx="10744200" cy="713232"/>
          </a:xfrm>
          <a:prstGeom prst="rect">
            <a:avLst/>
          </a:prstGeom>
          <a:noFill/>
        </p:spPr>
        <p:txBody>
          <a:bodyPr wrap="square">
            <a:noAutofit/>
          </a:bodyPr>
          <a:lstStyle/>
          <a:p>
            <a:pPr/>
            <a:r>
              <a:rPr lang="en-MY" sz="1600" b="1" dirty="0">
                <a:solidFill>
                  <a:schemeClr val="tx1">
                    <a:lumMod val="85000"/>
                    <a:lumOff val="15000"/>
                  </a:schemeClr>
                </a:solidFill>
              </a:rPr>
              <a:t>Struktur persisir air dibina di tepi badan air seperti tasik, sungai atau pantai. Apakah</a:t>
            </a:r>
          </a:p>
          <a:p>
            <a:pPr/>
            <a:r>
              <a:rPr lang="en-MY" sz="1600" b="1" dirty="0">
                <a:solidFill>
                  <a:schemeClr val="tx1">
                    <a:lumMod val="85000"/>
                    <a:lumOff val="15000"/>
                  </a:schemeClr>
                </a:solidFill>
              </a:rPr>
              <a:t>keperluan pembinaan yang paling kritikal bagi struktur ini?</a:t>
            </a:r>
          </a:p>
        </p:txBody>
      </p:sp>
      <p:sp>
        <p:nvSpPr>
          <p:cNvPr id="40" name="Opt"/>
          <p:cNvSpPr txBox="1"/>
          <p:nvPr/>
        </p:nvSpPr>
        <p:spPr>
          <a:xfrm>
            <a:off x="998250" y="2468880"/>
            <a:ext cx="10195560" cy="365760"/>
          </a:xfrm>
          <a:prstGeom prst="rect">
            <a:avLst/>
          </a:prstGeom>
          <a:noFill/>
        </p:spPr>
        <p:txBody>
          <a:bodyPr wrap="square">
            <a:noAutofit/>
          </a:bodyPr>
          <a:lstStyle/>
          <a:p>
            <a:pPr/>
            <a:r>
              <a:rPr lang="en-MY" sz="1500" dirty="0">
                <a:solidFill>
                  <a:schemeClr val="tx1">
                    <a:lumMod val="85000"/>
                    <a:lumOff val="15000"/>
                  </a:schemeClr>
                </a:solidFill>
              </a:rPr>
              <a:t>A.  Warna permukaan yang menarik</a:t>
            </a:r>
          </a:p>
        </p:txBody>
      </p:sp>
      <p:sp>
        <p:nvSpPr>
          <p:cNvPr id="41" name="Opt"/>
          <p:cNvSpPr txBox="1"/>
          <p:nvPr/>
        </p:nvSpPr>
        <p:spPr>
          <a:xfrm>
            <a:off x="998250" y="2889504"/>
            <a:ext cx="10195560" cy="365760"/>
          </a:xfrm>
          <a:prstGeom prst="rect">
            <a:avLst/>
          </a:prstGeom>
          <a:noFill/>
        </p:spPr>
        <p:txBody>
          <a:bodyPr wrap="square">
            <a:noAutofit/>
          </a:bodyPr>
          <a:lstStyle/>
          <a:p>
            <a:pPr/>
            <a:r>
              <a:rPr lang="en-MY" sz="1500" dirty="0">
                <a:solidFill>
                  <a:schemeClr val="tx1">
                    <a:lumMod val="85000"/>
                    <a:lumOff val="15000"/>
                  </a:schemeClr>
                </a:solidFill>
              </a:rPr>
              <a:t>B.  Asas yang stabil dan rata dengan saliran permukaan yang berkesan</a:t>
            </a:r>
          </a:p>
        </p:txBody>
      </p:sp>
      <p:sp>
        <p:nvSpPr>
          <p:cNvPr id="42" name="Opt"/>
          <p:cNvSpPr txBox="1"/>
          <p:nvPr/>
        </p:nvSpPr>
        <p:spPr>
          <a:xfrm>
            <a:off x="998250" y="3310128"/>
            <a:ext cx="10195560" cy="365760"/>
          </a:xfrm>
          <a:prstGeom prst="rect">
            <a:avLst/>
          </a:prstGeom>
          <a:noFill/>
        </p:spPr>
        <p:txBody>
          <a:bodyPr wrap="square">
            <a:noAutofit/>
          </a:bodyPr>
          <a:lstStyle/>
          <a:p>
            <a:pPr/>
            <a:r>
              <a:rPr lang="en-MY" sz="1500" dirty="0">
                <a:solidFill>
                  <a:schemeClr val="tx1">
                    <a:lumMod val="85000"/>
                    <a:lumOff val="15000"/>
                  </a:schemeClr>
                </a:solidFill>
              </a:rPr>
              <a:t>C.  Ketinggian struktur melebihi dua meter</a:t>
            </a:r>
          </a:p>
        </p:txBody>
      </p:sp>
      <p:sp>
        <p:nvSpPr>
          <p:cNvPr id="43" name="Opt"/>
          <p:cNvSpPr txBox="1"/>
          <p:nvPr/>
        </p:nvSpPr>
        <p:spPr>
          <a:xfrm>
            <a:off x="998250" y="3730752"/>
            <a:ext cx="10195560" cy="365760"/>
          </a:xfrm>
          <a:prstGeom prst="rect">
            <a:avLst/>
          </a:prstGeom>
          <a:noFill/>
        </p:spPr>
        <p:txBody>
          <a:bodyPr wrap="square">
            <a:noAutofit/>
          </a:bodyPr>
          <a:lstStyle/>
          <a:p>
            <a:pPr/>
            <a:r>
              <a:rPr lang="en-MY" sz="1500" dirty="0">
                <a:solidFill>
                  <a:schemeClr val="tx1">
                    <a:lumMod val="85000"/>
                    <a:lumOff val="15000"/>
                  </a:schemeClr>
                </a:solidFill>
              </a:rPr>
              <a:t>D.  Penggunaan bahan import</a:t>
            </a:r>
          </a:p>
        </p:txBody>
      </p:sp>
      <p:sp>
        <p:nvSpPr>
          <p:cNvPr id="70" name="FbC"/>
          <p:cNvSpPr txBox="1"/>
          <p:nvPr/>
        </p:nvSpPr>
        <p:spPr>
          <a:xfrm>
            <a:off x="723930" y="5760720"/>
            <a:ext cx="5120640" cy="292608"/>
          </a:xfrm>
          <a:prstGeom prst="rect">
            <a:avLst/>
          </a:prstGeom>
          <a:noFill/>
        </p:spPr>
        <p:txBody>
          <a:bodyPr wrap="square">
            <a:noAutofit/>
          </a:bodyPr>
          <a:lstStyle/>
          <a:p>
            <a:pPr/>
            <a:r>
              <a:rPr lang="en-MY" sz="1300" dirty="0">
                <a:solidFill>
                  <a:srgbClr val="2E7D32"/>
                </a:solidFill>
              </a:rPr>
              <a:t>Pilihan jawapan tepat.</a:t>
            </a:r>
          </a:p>
        </p:txBody>
      </p:sp>
      <p:sp>
        <p:nvSpPr>
          <p:cNvPr id="71" name="FbW"/>
          <p:cNvSpPr txBox="1"/>
          <p:nvPr/>
        </p:nvSpPr>
        <p:spPr>
          <a:xfrm>
            <a:off x="6210330" y="5760720"/>
            <a:ext cx="5120640" cy="292608"/>
          </a:xfrm>
          <a:prstGeom prst="rect">
            <a:avLst/>
          </a:prstGeom>
          <a:noFill/>
        </p:spPr>
        <p:txBody>
          <a:bodyPr wrap="square">
            <a:noAutofit/>
          </a:bodyPr>
          <a:lstStyle/>
          <a:p>
            <a:pPr/>
            <a:r>
              <a:rPr lang="en-MY" sz="1300" dirty="0">
                <a:solidFill>
                  <a:srgbClr val="C0392B"/>
                </a:solidFill>
              </a:rPr>
              <a:t>Pilihan jawapan tidak tepat.</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Kuiz — semakan pengetahuan</a:t>
            </a:r>
          </a:p>
          <a:p>
            <a:r>
              <a:rPr lang="en-MY" sz="900" dirty="0">
                <a:solidFill>
                  <a:schemeClr val="tx1">
                    <a:lumMod val="85000"/>
                    <a:lumOff val="15000"/>
                  </a:schemeClr>
                </a:solidFill>
              </a:rPr>
              <a:t>KELUARGA PELAKSANAAN: FRAME</a:t>
            </a:r>
          </a:p>
          <a:p>
            <a:r>
              <a:rPr lang="en-MY" sz="900" dirty="0">
                <a:solidFill>
                  <a:schemeClr val="tx1">
                    <a:lumMod val="85000"/>
                    <a:lumOff val="15000"/>
                  </a:schemeClr>
                </a:solidFill>
              </a:rPr>
              <a:t>PERANAN HALAMAN SEMAKAN: QUIZ_QUESTION_1</a:t>
            </a:r>
          </a:p>
          <a:p>
            <a:r>
              <a:rPr lang="en-MY" sz="900" dirty="0">
                <a:solidFill>
                  <a:schemeClr val="tx1">
                    <a:lumMod val="85000"/>
                    <a:lumOff val="15000"/>
                  </a:schemeClr>
                </a:solidFill>
              </a:rPr>
              <a:t/>
            </a:r>
          </a:p>
          <a:p>
            <a:r>
              <a:rPr lang="en-MY" sz="900" dirty="0">
                <a:solidFill>
                  <a:schemeClr val="tx1">
                    <a:lumMod val="85000"/>
                    <a:lumOff val="15000"/>
                  </a:schemeClr>
                </a:solidFill>
              </a:rPr>
              <a:t>BUKTI: MCQ proof</a:t>
            </a:r>
          </a:p>
          <a:p>
            <a:r>
              <a:rPr lang="en-MY" sz="900" dirty="0">
                <a:solidFill>
                  <a:schemeClr val="tx1">
                    <a:lumMod val="85000"/>
                    <a:lumOff val="15000"/>
                  </a:schemeClr>
                </a:solidFill>
              </a:rPr>
              <a:t>POLISI NOTA: QUIZ_NOTES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LMS_SHELL_NEXT  [answer_submitted]</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NO_CONTROL</a:t>
            </a:r>
          </a:p>
          <a:p>
            <a:r>
              <a:rPr lang="en-MY" sz="900" dirty="0">
                <a:solidFill>
                  <a:schemeClr val="tx1">
                    <a:lumMod val="85000"/>
                    <a:lumOff val="15000"/>
                  </a:schemeClr>
                </a:solidFill>
              </a:rPr>
              <a:t>  return_target = —</a:t>
            </a:r>
          </a:p>
          <a:p>
            <a:r>
              <a:rPr lang="en-MY" sz="900" dirty="0">
                <a:solidFill>
                  <a:schemeClr val="tx1">
                    <a:lumMod val="85000"/>
                    <a:lumOff val="15000"/>
                  </a:schemeClr>
                </a:solidFill>
              </a:rPr>
              <a:t>SKOP SELESAI: ITEM</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0 · lapisan skrin 0</a:t>
            </a:r>
          </a:p>
          <a:p>
            <a:r>
              <a:rPr lang="en-MY" sz="900" dirty="0">
                <a:solidFill>
                  <a:schemeClr val="tx1">
                    <a:lumMod val="85000"/>
                    <a:lumOff val="15000"/>
                  </a:schemeClr>
                </a:solidFill>
              </a:rPr>
              <a:t>INDUK: SCR_KUIZ</a:t>
            </a:r>
          </a:p>
          <a:p>
            <a:r>
              <a:rPr lang="en-MY" sz="900" b="1" dirty="0">
                <a:solidFill>
                  <a:schemeClr val="tx1">
                    <a:lumMod val="85000"/>
                    <a:lumOff val="15000"/>
                  </a:schemeClr>
                </a:solidFill>
              </a:rPr>
              <a:t>MAKLUM BALAS SERTA-MERTA:</a:t>
            </a:r>
          </a:p>
          <a:p>
            <a:r>
              <a:rPr lang="en-MY" sz="900" dirty="0">
                <a:solidFill>
                  <a:schemeClr val="tx1">
                    <a:lumMod val="85000"/>
                    <a:lumOff val="15000"/>
                  </a:schemeClr>
                </a:solidFill>
              </a:rPr>
              <a:t>  betul: teks "Pilihan jawapan tepat." · SFX SFX_CORRECT · VO sama</a:t>
            </a:r>
          </a:p>
          <a:p>
            <a:r>
              <a:rPr lang="en-MY" sz="900" dirty="0">
                <a:solidFill>
                  <a:schemeClr val="tx1">
                    <a:lumMod val="85000"/>
                    <a:lumOff val="15000"/>
                  </a:schemeClr>
                </a:solidFill>
              </a:rPr>
              <a:t>  salah: teks "Pilihan jawapan tidak tepat." · SFX SFX_WRONG · VO sama</a:t>
            </a:r>
          </a:p>
          <a:p>
            <a:r>
              <a:rPr lang="en-MY" sz="900" b="1" dirty="0">
                <a:solidFill>
                  <a:schemeClr val="tx1">
                    <a:lumMod val="85000"/>
                    <a:lumOff val="15000"/>
                  </a:schemeClr>
                </a:solidFill>
              </a:rPr>
              <a:t>JAWAPAN (metadata sahaja, tidak dilihat pelajar):</a:t>
            </a:r>
          </a:p>
          <a:p>
            <a:r>
              <a:rPr lang="en-MY" sz="900" dirty="0">
                <a:solidFill>
                  <a:schemeClr val="tx1">
                    <a:lumMod val="85000"/>
                    <a:lumOff val="15000"/>
                  </a:schemeClr>
                </a:solidFill>
              </a:rPr>
              <a:t>  B</a:t>
            </a:r>
          </a:p>
          <a:p>
            <a:r>
              <a:rPr lang="en-MY" sz="900" b="1" dirty="0">
                <a:solidFill>
                  <a:schemeClr val="tx1">
                    <a:lumMod val="85000"/>
                    <a:lumOff val="15000"/>
                  </a:schemeClr>
                </a:solidFill>
              </a:rPr>
              <a:t>RASIONAL TERPERINCI (metadata sahaja):</a:t>
            </a:r>
          </a:p>
          <a:p>
            <a:r>
              <a:rPr lang="en-MY" sz="900" dirty="0">
                <a:solidFill>
                  <a:schemeClr val="tx1">
                    <a:lumMod val="85000"/>
                    <a:lumOff val="15000"/>
                  </a:schemeClr>
                </a:solidFill>
              </a:rPr>
              <a:t>  Modul ms 238 menyatakan asas yang sangat stabil dan rata dengan</a:t>
            </a:r>
          </a:p>
          <a:p>
            <a:r>
              <a:rPr lang="en-MY" sz="900" dirty="0">
                <a:solidFill>
                  <a:schemeClr val="tx1">
                    <a:lumMod val="85000"/>
                    <a:lumOff val="15000"/>
                  </a:schemeClr>
                </a:solidFill>
              </a:rPr>
              <a:t>  sistem saliran permukaan yang berkesan untuk mengelakkan genangan</a:t>
            </a:r>
          </a:p>
          <a:p>
            <a:r>
              <a:rPr lang="en-MY" sz="900" dirty="0">
                <a:solidFill>
                  <a:schemeClr val="tx1">
                    <a:lumMod val="85000"/>
                    <a:lumOff val="15000"/>
                  </a:schemeClr>
                </a:solidFill>
              </a:rPr>
              <a:t>  air.</a:t>
            </a:r>
          </a:p>
          <a:p>
            <a:r>
              <a:rPr lang="en-MY" sz="900" dirty="0">
                <a:solidFill>
                  <a:schemeClr val="tx1">
                    <a:lumMod val="85000"/>
                    <a:lumOff val="15000"/>
                  </a:schemeClr>
                </a:solidFill>
              </a:rPr>
              <a:t>STATUS KEPUTUSAN: B02-D-11, B02-D-12, B02-D-13</a:t>
            </a:r>
          </a:p>
          <a:p>
            <a:r>
              <a:rPr lang="en-MY" sz="900" dirty="0">
                <a:solidFill>
                  <a:schemeClr val="tx1">
                    <a:lumMod val="85000"/>
                    <a:lumOff val="15000"/>
                  </a:schemeClr>
                </a:solidFill>
              </a:rPr>
              <a:t>STATUS BELUM SELESAI: NONE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Kuiz — Soalan 5</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Soalan 5</a:t>
            </a:r>
          </a:p>
        </p:txBody>
      </p:sp>
      <p:sp>
        <p:nvSpPr>
          <p:cNvPr id="20" name="Kind"/>
          <p:cNvSpPr txBox="1"/>
          <p:nvPr/>
        </p:nvSpPr>
        <p:spPr>
          <a:xfrm>
            <a:off x="723930" y="1152144"/>
            <a:ext cx="10744200" cy="292608"/>
          </a:xfrm>
          <a:prstGeom prst="rect">
            <a:avLst/>
          </a:prstGeom>
          <a:noFill/>
        </p:spPr>
        <p:txBody>
          <a:bodyPr wrap="square">
            <a:noAutofit/>
          </a:bodyPr>
          <a:lstStyle/>
          <a:p>
            <a:pPr/>
            <a:r>
              <a:rPr lang="en-MY" sz="1150" dirty="0">
                <a:solidFill>
                  <a:srgbClr val="808080"/>
                </a:solidFill>
              </a:rPr>
              <a:t>MULTIPLE RESPONSE   ·   sumber: modul ms 242-249 (3.4.1-3.4.3)</a:t>
            </a:r>
          </a:p>
        </p:txBody>
      </p:sp>
      <p:sp>
        <p:nvSpPr>
          <p:cNvPr id="22" name="Stem"/>
          <p:cNvSpPr txBox="1"/>
          <p:nvPr/>
        </p:nvSpPr>
        <p:spPr>
          <a:xfrm>
            <a:off x="723930" y="1517904"/>
            <a:ext cx="10744200" cy="402336"/>
          </a:xfrm>
          <a:prstGeom prst="rect">
            <a:avLst/>
          </a:prstGeom>
          <a:noFill/>
        </p:spPr>
        <p:txBody>
          <a:bodyPr wrap="square">
            <a:noAutofit/>
          </a:bodyPr>
          <a:lstStyle/>
          <a:p>
            <a:pPr/>
            <a:r>
              <a:rPr lang="en-MY" sz="1600" b="1" dirty="0">
                <a:solidFill>
                  <a:schemeClr val="tx1">
                    <a:lumMod val="85000"/>
                    <a:lumOff val="15000"/>
                  </a:schemeClr>
                </a:solidFill>
              </a:rPr>
              <a:t>Pilih SEMUA perabot yang tergolong dalam Perabot Taman.</a:t>
            </a:r>
          </a:p>
        </p:txBody>
      </p:sp>
      <p:sp>
        <p:nvSpPr>
          <p:cNvPr id="40" name="Opt"/>
          <p:cNvSpPr txBox="1"/>
          <p:nvPr/>
        </p:nvSpPr>
        <p:spPr>
          <a:xfrm>
            <a:off x="998250" y="2157984"/>
            <a:ext cx="10195560" cy="329184"/>
          </a:xfrm>
          <a:prstGeom prst="rect">
            <a:avLst/>
          </a:prstGeom>
          <a:noFill/>
        </p:spPr>
        <p:txBody>
          <a:bodyPr wrap="square">
            <a:noAutofit/>
          </a:bodyPr>
          <a:lstStyle/>
          <a:p>
            <a:pPr/>
            <a:r>
              <a:rPr lang="en-MY" sz="1450" dirty="0">
                <a:solidFill>
                  <a:schemeClr val="tx1">
                    <a:lumMod val="85000"/>
                    <a:lumOff val="15000"/>
                  </a:schemeClr>
                </a:solidFill>
              </a:rPr>
              <a:t>Kerusi Taman</a:t>
            </a:r>
          </a:p>
        </p:txBody>
      </p:sp>
      <p:sp>
        <p:nvSpPr>
          <p:cNvPr id="41" name="Opt"/>
          <p:cNvSpPr txBox="1"/>
          <p:nvPr/>
        </p:nvSpPr>
        <p:spPr>
          <a:xfrm>
            <a:off x="998250" y="2523744"/>
            <a:ext cx="10195560" cy="329184"/>
          </a:xfrm>
          <a:prstGeom prst="rect">
            <a:avLst/>
          </a:prstGeom>
          <a:noFill/>
        </p:spPr>
        <p:txBody>
          <a:bodyPr wrap="square">
            <a:noAutofit/>
          </a:bodyPr>
          <a:lstStyle/>
          <a:p>
            <a:pPr/>
            <a:r>
              <a:rPr lang="en-MY" sz="1450" dirty="0">
                <a:solidFill>
                  <a:schemeClr val="tx1">
                    <a:lumMod val="85000"/>
                    <a:lumOff val="15000"/>
                  </a:schemeClr>
                </a:solidFill>
              </a:rPr>
              <a:t>Papan Tanda</a:t>
            </a:r>
          </a:p>
        </p:txBody>
      </p:sp>
      <p:sp>
        <p:nvSpPr>
          <p:cNvPr id="42" name="Opt"/>
          <p:cNvSpPr txBox="1"/>
          <p:nvPr/>
        </p:nvSpPr>
        <p:spPr>
          <a:xfrm>
            <a:off x="998250" y="2889504"/>
            <a:ext cx="10195560" cy="329184"/>
          </a:xfrm>
          <a:prstGeom prst="rect">
            <a:avLst/>
          </a:prstGeom>
          <a:noFill/>
        </p:spPr>
        <p:txBody>
          <a:bodyPr wrap="square">
            <a:noAutofit/>
          </a:bodyPr>
          <a:lstStyle/>
          <a:p>
            <a:pPr/>
            <a:r>
              <a:rPr lang="en-MY" sz="1450" dirty="0">
                <a:solidFill>
                  <a:schemeClr val="tx1">
                    <a:lumMod val="85000"/>
                    <a:lumOff val="15000"/>
                  </a:schemeClr>
                </a:solidFill>
              </a:rPr>
              <a:t>Boardwalk</a:t>
            </a:r>
          </a:p>
        </p:txBody>
      </p:sp>
      <p:sp>
        <p:nvSpPr>
          <p:cNvPr id="43" name="Opt"/>
          <p:cNvSpPr txBox="1"/>
          <p:nvPr/>
        </p:nvSpPr>
        <p:spPr>
          <a:xfrm>
            <a:off x="998250" y="3255264"/>
            <a:ext cx="10195560" cy="329184"/>
          </a:xfrm>
          <a:prstGeom prst="rect">
            <a:avLst/>
          </a:prstGeom>
          <a:noFill/>
        </p:spPr>
        <p:txBody>
          <a:bodyPr wrap="square">
            <a:noAutofit/>
          </a:bodyPr>
          <a:lstStyle/>
          <a:p>
            <a:pPr/>
            <a:r>
              <a:rPr lang="en-MY" sz="1450" dirty="0">
                <a:solidFill>
                  <a:schemeClr val="tx1">
                    <a:lumMod val="85000"/>
                    <a:lumOff val="15000"/>
                  </a:schemeClr>
                </a:solidFill>
              </a:rPr>
              <a:t>Tong Sampah</a:t>
            </a:r>
          </a:p>
        </p:txBody>
      </p:sp>
      <p:sp>
        <p:nvSpPr>
          <p:cNvPr id="44" name="Opt"/>
          <p:cNvSpPr txBox="1"/>
          <p:nvPr/>
        </p:nvSpPr>
        <p:spPr>
          <a:xfrm>
            <a:off x="998250" y="3621024"/>
            <a:ext cx="10195560" cy="329184"/>
          </a:xfrm>
          <a:prstGeom prst="rect">
            <a:avLst/>
          </a:prstGeom>
          <a:noFill/>
        </p:spPr>
        <p:txBody>
          <a:bodyPr wrap="square">
            <a:noAutofit/>
          </a:bodyPr>
          <a:lstStyle/>
          <a:p>
            <a:pPr/>
            <a:r>
              <a:rPr lang="en-MY" sz="1450" i="1" dirty="0">
                <a:solidFill>
                  <a:schemeClr val="tx1">
                    <a:lumMod val="85000"/>
                    <a:lumOff val="15000"/>
                  </a:schemeClr>
                </a:solidFill>
              </a:rPr>
              <a:t>Drinking Fountain</a:t>
            </a:r>
          </a:p>
        </p:txBody>
      </p:sp>
      <p:sp>
        <p:nvSpPr>
          <p:cNvPr id="45" name="Opt"/>
          <p:cNvSpPr txBox="1"/>
          <p:nvPr/>
        </p:nvSpPr>
        <p:spPr>
          <a:xfrm>
            <a:off x="998250" y="3986784"/>
            <a:ext cx="10195560" cy="329184"/>
          </a:xfrm>
          <a:prstGeom prst="rect">
            <a:avLst/>
          </a:prstGeom>
          <a:noFill/>
        </p:spPr>
        <p:txBody>
          <a:bodyPr wrap="square">
            <a:noAutofit/>
          </a:bodyPr>
          <a:lstStyle/>
          <a:p>
            <a:pPr/>
            <a:r>
              <a:rPr lang="en-MY" sz="1450" i="1" dirty="0">
                <a:solidFill>
                  <a:schemeClr val="tx1">
                    <a:lumMod val="85000"/>
                    <a:lumOff val="15000"/>
                  </a:schemeClr>
                </a:solidFill>
              </a:rPr>
              <a:t>BBQ Pit</a:t>
            </a:r>
          </a:p>
        </p:txBody>
      </p:sp>
      <p:sp>
        <p:nvSpPr>
          <p:cNvPr id="46" name="Opt"/>
          <p:cNvSpPr txBox="1"/>
          <p:nvPr/>
        </p:nvSpPr>
        <p:spPr>
          <a:xfrm>
            <a:off x="998250" y="4352544"/>
            <a:ext cx="10195560" cy="329184"/>
          </a:xfrm>
          <a:prstGeom prst="rect">
            <a:avLst/>
          </a:prstGeom>
          <a:noFill/>
        </p:spPr>
        <p:txBody>
          <a:bodyPr wrap="square">
            <a:noAutofit/>
          </a:bodyPr>
          <a:lstStyle/>
          <a:p>
            <a:pPr/>
            <a:r>
              <a:rPr lang="en-MY" sz="1450" dirty="0">
                <a:solidFill>
                  <a:schemeClr val="tx1">
                    <a:lumMod val="85000"/>
                    <a:lumOff val="15000"/>
                  </a:schemeClr>
                </a:solidFill>
              </a:rPr>
              <a:t>Gazebo</a:t>
            </a:r>
          </a:p>
        </p:txBody>
      </p:sp>
      <p:sp>
        <p:nvSpPr>
          <p:cNvPr id="70" name="FbC"/>
          <p:cNvSpPr txBox="1"/>
          <p:nvPr/>
        </p:nvSpPr>
        <p:spPr>
          <a:xfrm>
            <a:off x="723930" y="5760720"/>
            <a:ext cx="5120640" cy="292608"/>
          </a:xfrm>
          <a:prstGeom prst="rect">
            <a:avLst/>
          </a:prstGeom>
          <a:noFill/>
        </p:spPr>
        <p:txBody>
          <a:bodyPr wrap="square">
            <a:noAutofit/>
          </a:bodyPr>
          <a:lstStyle/>
          <a:p>
            <a:pPr/>
            <a:r>
              <a:rPr lang="en-MY" sz="1300" dirty="0">
                <a:solidFill>
                  <a:srgbClr val="2E7D32"/>
                </a:solidFill>
              </a:rPr>
              <a:t>Pilihan jawapan tepat.</a:t>
            </a:r>
          </a:p>
        </p:txBody>
      </p:sp>
      <p:sp>
        <p:nvSpPr>
          <p:cNvPr id="71" name="FbW"/>
          <p:cNvSpPr txBox="1"/>
          <p:nvPr/>
        </p:nvSpPr>
        <p:spPr>
          <a:xfrm>
            <a:off x="6210330" y="5760720"/>
            <a:ext cx="5120640" cy="292608"/>
          </a:xfrm>
          <a:prstGeom prst="rect">
            <a:avLst/>
          </a:prstGeom>
          <a:noFill/>
        </p:spPr>
        <p:txBody>
          <a:bodyPr wrap="square">
            <a:noAutofit/>
          </a:bodyPr>
          <a:lstStyle/>
          <a:p>
            <a:pPr/>
            <a:r>
              <a:rPr lang="en-MY" sz="1300" dirty="0">
                <a:solidFill>
                  <a:srgbClr val="C0392B"/>
                </a:solidFill>
              </a:rPr>
              <a:t>Pilihan jawapan tidak tepat.</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Kuiz — semakan pengetahuan</a:t>
            </a:r>
          </a:p>
          <a:p>
            <a:r>
              <a:rPr lang="en-MY" sz="900" dirty="0">
                <a:solidFill>
                  <a:schemeClr val="tx1">
                    <a:lumMod val="85000"/>
                    <a:lumOff val="15000"/>
                  </a:schemeClr>
                </a:solidFill>
              </a:rPr>
              <a:t>KELUARGA PELAKSANAAN: FRAME</a:t>
            </a:r>
          </a:p>
          <a:p>
            <a:r>
              <a:rPr lang="en-MY" sz="900" dirty="0">
                <a:solidFill>
                  <a:schemeClr val="tx1">
                    <a:lumMod val="85000"/>
                    <a:lumOff val="15000"/>
                  </a:schemeClr>
                </a:solidFill>
              </a:rPr>
              <a:t>PERANAN HALAMAN SEMAKAN: QUIZ_QUESTION_5</a:t>
            </a:r>
          </a:p>
          <a:p>
            <a:r>
              <a:rPr lang="en-MY" sz="900" dirty="0">
                <a:solidFill>
                  <a:schemeClr val="tx1">
                    <a:lumMod val="85000"/>
                    <a:lumOff val="15000"/>
                  </a:schemeClr>
                </a:solidFill>
              </a:rPr>
              <a:t/>
            </a:r>
          </a:p>
          <a:p>
            <a:r>
              <a:rPr lang="en-MY" sz="900" dirty="0">
                <a:solidFill>
                  <a:schemeClr val="tx1">
                    <a:lumMod val="85000"/>
                    <a:lumOff val="15000"/>
                  </a:schemeClr>
                </a:solidFill>
              </a:rPr>
              <a:t>BUKTI: Multiple Response proof</a:t>
            </a:r>
          </a:p>
          <a:p>
            <a:r>
              <a:rPr lang="en-MY" sz="900" dirty="0">
                <a:solidFill>
                  <a:schemeClr val="tx1">
                    <a:lumMod val="85000"/>
                    <a:lumOff val="15000"/>
                  </a:schemeClr>
                </a:solidFill>
              </a:rPr>
              <a:t>POLISI NOTA: QUIZ_NOTES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LMS_SHELL_NEXT  [answer_submitted]</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NO_CONTROL</a:t>
            </a:r>
          </a:p>
          <a:p>
            <a:r>
              <a:rPr lang="en-MY" sz="900" dirty="0">
                <a:solidFill>
                  <a:schemeClr val="tx1">
                    <a:lumMod val="85000"/>
                    <a:lumOff val="15000"/>
                  </a:schemeClr>
                </a:solidFill>
              </a:rPr>
              <a:t>  return_target = —</a:t>
            </a:r>
          </a:p>
          <a:p>
            <a:r>
              <a:rPr lang="en-MY" sz="900" dirty="0">
                <a:solidFill>
                  <a:schemeClr val="tx1">
                    <a:lumMod val="85000"/>
                    <a:lumOff val="15000"/>
                  </a:schemeClr>
                </a:solidFill>
              </a:rPr>
              <a:t>SKOP SELESAI: ITEM</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0 · lapisan skrin 0</a:t>
            </a:r>
          </a:p>
          <a:p>
            <a:r>
              <a:rPr lang="en-MY" sz="900" dirty="0">
                <a:solidFill>
                  <a:schemeClr val="tx1">
                    <a:lumMod val="85000"/>
                    <a:lumOff val="15000"/>
                  </a:schemeClr>
                </a:solidFill>
              </a:rPr>
              <a:t>INDUK: SCR_KUIZ</a:t>
            </a:r>
          </a:p>
          <a:p>
            <a:r>
              <a:rPr lang="en-MY" sz="900" b="1" dirty="0">
                <a:solidFill>
                  <a:schemeClr val="tx1">
                    <a:lumMod val="85000"/>
                    <a:lumOff val="15000"/>
                  </a:schemeClr>
                </a:solidFill>
              </a:rPr>
              <a:t>MAKLUM BALAS SERTA-MERTA:</a:t>
            </a:r>
          </a:p>
          <a:p>
            <a:r>
              <a:rPr lang="en-MY" sz="900" dirty="0">
                <a:solidFill>
                  <a:schemeClr val="tx1">
                    <a:lumMod val="85000"/>
                    <a:lumOff val="15000"/>
                  </a:schemeClr>
                </a:solidFill>
              </a:rPr>
              <a:t>  betul: teks "Pilihan jawapan tepat." · SFX SFX_CORRECT · VO sama</a:t>
            </a:r>
          </a:p>
          <a:p>
            <a:r>
              <a:rPr lang="en-MY" sz="900" dirty="0">
                <a:solidFill>
                  <a:schemeClr val="tx1">
                    <a:lumMod val="85000"/>
                    <a:lumOff val="15000"/>
                  </a:schemeClr>
                </a:solidFill>
              </a:rPr>
              <a:t>  salah: teks "Pilihan jawapan tidak tepat." · SFX SFX_WRONG · VO sama</a:t>
            </a:r>
          </a:p>
          <a:p>
            <a:r>
              <a:rPr lang="en-MY" sz="900" b="1" dirty="0">
                <a:solidFill>
                  <a:schemeClr val="tx1">
                    <a:lumMod val="85000"/>
                    <a:lumOff val="15000"/>
                  </a:schemeClr>
                </a:solidFill>
              </a:rPr>
              <a:t>JAWAPAN (metadata sahaja, tidak dilihat pelajar):</a:t>
            </a:r>
          </a:p>
          <a:p>
            <a:r>
              <a:rPr lang="en-MY" sz="900" dirty="0">
                <a:solidFill>
                  <a:schemeClr val="tx1">
                    <a:lumMod val="85000"/>
                    <a:lumOff val="15000"/>
                  </a:schemeClr>
                </a:solidFill>
              </a:rPr>
              <a:t>  Kerusi Taman, Papan Tanda, Tong Sampah, Drinking Fountain, BBQ Pit</a:t>
            </a:r>
          </a:p>
          <a:p>
            <a:r>
              <a:rPr lang="en-MY" sz="900" b="1" dirty="0">
                <a:solidFill>
                  <a:schemeClr val="tx1">
                    <a:lumMod val="85000"/>
                    <a:lumOff val="15000"/>
                  </a:schemeClr>
                </a:solidFill>
              </a:rPr>
              <a:t>RASIONAL TERPERINCI (metadata sahaja):</a:t>
            </a:r>
          </a:p>
          <a:p>
            <a:r>
              <a:rPr lang="en-MY" sz="900" dirty="0">
                <a:solidFill>
                  <a:schemeClr val="tx1">
                    <a:lumMod val="85000"/>
                    <a:lumOff val="15000"/>
                  </a:schemeClr>
                </a:solidFill>
              </a:rPr>
              <a:t>  Boardwalk ialah struktur persisir air dan Gazebo ialah struktur</a:t>
            </a:r>
          </a:p>
          <a:p>
            <a:r>
              <a:rPr lang="en-MY" sz="900" dirty="0">
                <a:solidFill>
                  <a:schemeClr val="tx1">
                    <a:lumMod val="85000"/>
                    <a:lumOff val="15000"/>
                  </a:schemeClr>
                </a:solidFill>
              </a:rPr>
              <a:t>  teduhan; kedua-duanya tergolong dalam Struktur Taman, bukan</a:t>
            </a:r>
          </a:p>
          <a:p>
            <a:r>
              <a:rPr lang="en-MY" sz="900" dirty="0">
                <a:solidFill>
                  <a:schemeClr val="tx1">
                    <a:lumMod val="85000"/>
                    <a:lumOff val="15000"/>
                  </a:schemeClr>
                </a:solidFill>
              </a:rPr>
              <a:t>  Perabot Taman.</a:t>
            </a:r>
          </a:p>
          <a:p>
            <a:r>
              <a:rPr lang="en-MY" sz="900" dirty="0">
                <a:solidFill>
                  <a:schemeClr val="tx1">
                    <a:lumMod val="85000"/>
                    <a:lumOff val="15000"/>
                  </a:schemeClr>
                </a:solidFill>
              </a:rPr>
              <a:t>  status: U-05</a:t>
            </a:r>
          </a:p>
          <a:p>
            <a:r>
              <a:rPr lang="en-MY" sz="900" b="1" dirty="0">
                <a:solidFill>
                  <a:schemeClr val="tx1">
                    <a:lumMod val="85000"/>
                    <a:lumOff val="15000"/>
                  </a:schemeClr>
                </a:solidFill>
              </a:rPr>
              <a:t>LABEL PILIHAN:</a:t>
            </a:r>
          </a:p>
          <a:p>
            <a:r>
              <a:rPr lang="en-MY" sz="900" dirty="0">
                <a:solidFill>
                  <a:schemeClr val="tx1">
                    <a:lumMod val="85000"/>
                    <a:lumOff val="15000"/>
                  </a:schemeClr>
                </a:solidFill>
              </a:rPr>
              <a:t>  TIADA label A/B/C. Teks pilihan dipaparkan terus.</a:t>
            </a:r>
          </a:p>
          <a:p>
            <a:r>
              <a:rPr lang="en-MY" sz="900" dirty="0">
                <a:solidFill>
                  <a:schemeClr val="tx1">
                    <a:lumMod val="85000"/>
                    <a:lumOff val="15000"/>
                  </a:schemeClr>
                </a:solidFill>
              </a:rPr>
              <a:t>STATUS KEPUTUSAN: B02-D-11, B02-D-12, B02-D-13</a:t>
            </a:r>
          </a:p>
          <a:p>
            <a:r>
              <a:rPr lang="en-MY" sz="900" dirty="0">
                <a:solidFill>
                  <a:schemeClr val="tx1">
                    <a:lumMod val="85000"/>
                    <a:lumOff val="15000"/>
                  </a:schemeClr>
                </a:solidFill>
              </a:rPr>
              <a:t>STATUS BELUM SELESAI: U-05</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Kuiz — Keputusan</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Kuiz — Keputusan</a:t>
            </a:r>
          </a:p>
        </p:txBody>
      </p:sp>
      <p:sp>
        <p:nvSpPr>
          <p:cNvPr id="20" name="Score"/>
          <p:cNvSpPr txBox="1"/>
          <p:nvPr/>
        </p:nvSpPr>
        <p:spPr>
          <a:xfrm>
            <a:off x="723930" y="1463040"/>
            <a:ext cx="10744200" cy="731520"/>
          </a:xfrm>
          <a:prstGeom prst="rect">
            <a:avLst/>
          </a:prstGeom>
          <a:noFill/>
        </p:spPr>
        <p:txBody>
          <a:bodyPr wrap="square">
            <a:noAutofit/>
          </a:bodyPr>
          <a:lstStyle/>
          <a:p>
            <a:pPr/>
            <a:r>
              <a:rPr lang="en-MY" sz="2800" b="1" dirty="0">
                <a:solidFill>
                  <a:schemeClr val="tx1">
                    <a:lumMod val="85000"/>
                    <a:lumOff val="15000"/>
                  </a:schemeClr>
                </a:solidFill>
              </a:rPr>
              <a:t>Markah: 4 / 5</a:t>
            </a:r>
          </a:p>
        </p:txBody>
      </p:sp>
      <p:sp>
        <p:nvSpPr>
          <p:cNvPr id="21" name="Verdict"/>
          <p:cNvSpPr txBox="1"/>
          <p:nvPr/>
        </p:nvSpPr>
        <p:spPr>
          <a:xfrm>
            <a:off x="723930" y="2286000"/>
            <a:ext cx="10744200" cy="457200"/>
          </a:xfrm>
          <a:prstGeom prst="rect">
            <a:avLst/>
          </a:prstGeom>
          <a:noFill/>
        </p:spPr>
        <p:txBody>
          <a:bodyPr wrap="square">
            <a:noAutofit/>
          </a:bodyPr>
          <a:lstStyle/>
          <a:p>
            <a:pPr/>
            <a:r>
              <a:rPr lang="en-MY" sz="2200" b="1" dirty="0">
                <a:solidFill>
                  <a:srgbClr val="2E7D32"/>
                </a:solidFill>
              </a:rPr>
              <a:t>Lulus</a:t>
            </a:r>
          </a:p>
        </p:txBody>
      </p:sp>
      <p:sp>
        <p:nvSpPr>
          <p:cNvPr id="22" name="Pass"/>
          <p:cNvSpPr txBox="1"/>
          <p:nvPr/>
        </p:nvSpPr>
        <p:spPr>
          <a:xfrm>
            <a:off x="723930" y="2834640"/>
            <a:ext cx="10744200" cy="329184"/>
          </a:xfrm>
          <a:prstGeom prst="rect">
            <a:avLst/>
          </a:prstGeom>
          <a:noFill/>
        </p:spPr>
        <p:txBody>
          <a:bodyPr wrap="square">
            <a:noAutofit/>
          </a:bodyPr>
          <a:lstStyle/>
          <a:p>
            <a:pPr/>
            <a:r>
              <a:rPr lang="en-MY" sz="1300" dirty="0">
                <a:solidFill>
                  <a:srgbClr val="808080"/>
                </a:solidFill>
              </a:rPr>
              <a:t>Lulus: 3/5 = 60%</a:t>
            </a:r>
          </a:p>
        </p:txBody>
      </p:sp>
      <p:sp>
        <p:nvSpPr>
          <p:cNvPr id="60" name="Btn"/>
          <p:cNvSpPr txBox="1"/>
          <p:nvPr/>
        </p:nvSpPr>
        <p:spPr>
          <a:xfrm>
            <a:off x="723930" y="3749040"/>
            <a:ext cx="2103120" cy="420624"/>
          </a:xfrm>
          <a:prstGeom prst="rect">
            <a:avLst/>
          </a:prstGeom>
          <a:solidFill>
            <a:srgbClr val="1F4E79"/>
          </a:solidFill>
          <a:ln w="12700">
            <a:solidFill>
              <a:srgbClr val="1F4E79"/>
            </a:solidFill>
          </a:ln>
        </p:spPr>
        <p:txBody>
          <a:bodyPr wrap="square" anchor="ctr">
            <a:noAutofit/>
          </a:bodyPr>
          <a:lstStyle/>
          <a:p>
            <a:pPr algn="ctr"/>
            <a:r>
              <a:rPr lang="en-MY" sz="1600" b="1" dirty="0">
                <a:solidFill>
                  <a:srgbClr val="FFFFFF"/>
                </a:solidFill>
              </a:rPr>
              <a:t>Semak Jawapan</a:t>
            </a:r>
          </a:p>
        </p:txBody>
      </p:sp>
      <p:sp>
        <p:nvSpPr>
          <p:cNvPr id="61" name="Btn"/>
          <p:cNvSpPr txBox="1"/>
          <p:nvPr/>
        </p:nvSpPr>
        <p:spPr>
          <a:xfrm>
            <a:off x="3101370" y="3749040"/>
            <a:ext cx="2103120" cy="420624"/>
          </a:xfrm>
          <a:prstGeom prst="rect">
            <a:avLst/>
          </a:prstGeom>
          <a:solidFill>
            <a:srgbClr val="1F4E79"/>
          </a:solidFill>
          <a:ln w="12700">
            <a:solidFill>
              <a:srgbClr val="1F4E79"/>
            </a:solidFill>
          </a:ln>
        </p:spPr>
        <p:txBody>
          <a:bodyPr wrap="square" anchor="ctr">
            <a:noAutofit/>
          </a:bodyPr>
          <a:lstStyle/>
          <a:p>
            <a:pPr algn="ctr"/>
            <a:r>
              <a:rPr lang="en-MY" sz="1600" b="1" dirty="0">
                <a:solidFill>
                  <a:srgbClr val="FFFFFF"/>
                </a:solidFill>
              </a:rPr>
              <a:t>Ulang Kuiz</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Kuiz — semakan pengetahuan</a:t>
            </a:r>
          </a:p>
          <a:p>
            <a:r>
              <a:rPr lang="en-MY" sz="900" dirty="0">
                <a:solidFill>
                  <a:schemeClr val="tx1">
                    <a:lumMod val="85000"/>
                    <a:lumOff val="15000"/>
                  </a:schemeClr>
                </a:solidFill>
              </a:rPr>
              <a:t>KELUARGA PELAKSANAAN: FRAME</a:t>
            </a:r>
          </a:p>
          <a:p>
            <a:r>
              <a:rPr lang="en-MY" sz="900" dirty="0">
                <a:solidFill>
                  <a:schemeClr val="tx1">
                    <a:lumMod val="85000"/>
                    <a:lumOff val="15000"/>
                  </a:schemeClr>
                </a:solidFill>
              </a:rPr>
              <a:t>PERANAN HALAMAN SEMAKAN: QUIZ_RESULT</a:t>
            </a:r>
          </a:p>
          <a:p>
            <a:r>
              <a:rPr lang="en-MY" sz="900" dirty="0">
                <a:solidFill>
                  <a:schemeClr val="tx1">
                    <a:lumMod val="85000"/>
                    <a:lumOff val="15000"/>
                  </a:schemeClr>
                </a:solidFill>
              </a:rPr>
              <a:t/>
            </a:r>
          </a:p>
          <a:p>
            <a:r>
              <a:rPr lang="en-MY" sz="900" dirty="0">
                <a:solidFill>
                  <a:schemeClr val="tx1">
                    <a:lumMod val="85000"/>
                    <a:lumOff val="15000"/>
                  </a:schemeClr>
                </a:solidFill>
              </a:rPr>
              <a:t>BUKTI: Quiz result</a:t>
            </a:r>
          </a:p>
          <a:p>
            <a:r>
              <a:rPr lang="en-MY" sz="900" dirty="0">
                <a:solidFill>
                  <a:schemeClr val="tx1">
                    <a:lumMod val="85000"/>
                    <a:lumOff val="15000"/>
                  </a:schemeClr>
                </a:solidFill>
              </a:rPr>
              <a:t>POLISI NOTA: QUIZ_NOTES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LMS_SHELL_NEXT  [always_enabled — score does not gate progression]</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NO_CONTROL</a:t>
            </a:r>
          </a:p>
          <a:p>
            <a:r>
              <a:rPr lang="en-MY" sz="900" dirty="0">
                <a:solidFill>
                  <a:schemeClr val="tx1">
                    <a:lumMod val="85000"/>
                    <a:lumOff val="15000"/>
                  </a:schemeClr>
                </a:solidFill>
              </a:rPr>
              <a:t>  return_target = —</a:t>
            </a:r>
          </a:p>
          <a:p>
            <a:r>
              <a:rPr lang="en-MY" sz="900" dirty="0">
                <a:solidFill>
                  <a:schemeClr val="tx1">
                    <a:lumMod val="85000"/>
                    <a:lumOff val="15000"/>
                  </a:schemeClr>
                </a:solidFill>
              </a:rPr>
              <a:t>SKOP SELESAI: QUIZ</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0 · lapisan skrin 0</a:t>
            </a:r>
          </a:p>
          <a:p>
            <a:r>
              <a:rPr lang="en-MY" sz="900" dirty="0">
                <a:solidFill>
                  <a:schemeClr val="tx1">
                    <a:lumMod val="85000"/>
                    <a:lumOff val="15000"/>
                  </a:schemeClr>
                </a:solidFill>
              </a:rPr>
              <a:t>INDUK: SCR_KUIZ</a:t>
            </a:r>
          </a:p>
          <a:p>
            <a:r>
              <a:rPr lang="en-MY" sz="900" b="1" dirty="0">
                <a:solidFill>
                  <a:schemeClr val="tx1">
                    <a:lumMod val="85000"/>
                    <a:lumOff val="15000"/>
                  </a:schemeClr>
                </a:solidFill>
              </a:rPr>
              <a:t>KEPUTUSAN:</a:t>
            </a:r>
          </a:p>
          <a:p>
            <a:r>
              <a:rPr lang="en-MY" sz="900" dirty="0">
                <a:solidFill>
                  <a:schemeClr val="tx1">
                    <a:lumMod val="85000"/>
                    <a:lumOff val="15000"/>
                  </a:schemeClr>
                </a:solidFill>
              </a:rPr>
              <a:t>  Markah dipaparkan. Keputusan: Lulus / Tidak Lulus. Lulus: 3/5 = 60%.</a:t>
            </a:r>
          </a:p>
          <a:p>
            <a:r>
              <a:rPr lang="en-MY" sz="900" dirty="0">
                <a:solidFill>
                  <a:schemeClr val="tx1">
                    <a:lumMod val="85000"/>
                    <a:lumOff val="15000"/>
                  </a:schemeClr>
                </a:solidFill>
              </a:rPr>
              <a:t>  Kawalan: Semak Jawapan, Ulang Kuiz. Cuba semula: sukarela.</a:t>
            </a:r>
          </a:p>
          <a:p>
            <a:r>
              <a:rPr lang="en-MY" sz="900" dirty="0">
                <a:solidFill>
                  <a:schemeClr val="tx1">
                    <a:lumMod val="85000"/>
                    <a:lumOff val="15000"/>
                  </a:schemeClr>
                </a:solidFill>
              </a:rPr>
              <a:t>  Markah di bawah 60% TIDAK menyekat kemajuan yang lebih luas.</a:t>
            </a:r>
          </a:p>
          <a:p>
            <a:r>
              <a:rPr lang="en-MY" sz="900" b="1" dirty="0">
                <a:solidFill>
                  <a:schemeClr val="tx1">
                    <a:lumMod val="85000"/>
                    <a:lumOff val="15000"/>
                  </a:schemeClr>
                </a:solidFill>
              </a:rPr>
              <a:t>RASIONAL TERPERINCI:</a:t>
            </a:r>
          </a:p>
          <a:p>
            <a:r>
              <a:rPr lang="en-MY" sz="900" dirty="0">
                <a:solidFill>
                  <a:schemeClr val="tx1">
                    <a:lumMod val="85000"/>
                    <a:lumOff val="15000"/>
                  </a:schemeClr>
                </a:solidFill>
              </a:rPr>
              <a:t>  Kekal sebagai metadata produksi sahaja sehingga Bariah mengesahkan</a:t>
            </a:r>
          </a:p>
          <a:p>
            <a:r>
              <a:rPr lang="en-MY" sz="900" dirty="0">
                <a:solidFill>
                  <a:schemeClr val="tx1">
                    <a:lumMod val="85000"/>
                    <a:lumOff val="15000"/>
                  </a:schemeClr>
                </a:solidFill>
              </a:rPr>
              <a:t>  penempatan akhirnya (U-05).</a:t>
            </a:r>
          </a:p>
          <a:p>
            <a:r>
              <a:rPr lang="en-MY" sz="900" dirty="0">
                <a:solidFill>
                  <a:schemeClr val="tx1">
                    <a:lumMod val="85000"/>
                    <a:lumOff val="15000"/>
                  </a:schemeClr>
                </a:solidFill>
              </a:rPr>
              <a:t>STATUS KEPUTUSAN: B02-D-11</a:t>
            </a:r>
          </a:p>
          <a:p>
            <a:r>
              <a:rPr lang="en-MY" sz="900" dirty="0">
                <a:solidFill>
                  <a:schemeClr val="tx1">
                    <a:lumMod val="85000"/>
                    <a:lumOff val="15000"/>
                  </a:schemeClr>
                </a:solidFill>
              </a:rPr>
              <a:t>STATUS BELUM SELESAI: NONE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Tamat</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Tamat</a:t>
            </a:r>
          </a:p>
        </p:txBody>
      </p:sp>
      <p:sp>
        <p:nvSpPr>
          <p:cNvPr id="20" name="Course"/>
          <p:cNvSpPr txBox="1"/>
          <p:nvPr/>
        </p:nvSpPr>
        <p:spPr>
          <a:xfrm>
            <a:off x="723930" y="1243584"/>
            <a:ext cx="10744200" cy="347472"/>
          </a:xfrm>
          <a:prstGeom prst="rect">
            <a:avLst/>
          </a:prstGeom>
          <a:noFill/>
        </p:spPr>
        <p:txBody>
          <a:bodyPr wrap="square">
            <a:noAutofit/>
          </a:bodyPr>
          <a:lstStyle/>
          <a:p>
            <a:pPr/>
            <a:r>
              <a:rPr lang="en-MY" sz="1400" b="1" dirty="0">
                <a:solidFill>
                  <a:srgbClr val="7F6000"/>
                </a:solidFill>
              </a:rPr>
              <a:t>KURSUS KERJA BANGUNAN – PEMBINAAN LANDSKAP LUAR</a:t>
            </a:r>
          </a:p>
        </p:txBody>
      </p:sp>
      <p:sp>
        <p:nvSpPr>
          <p:cNvPr id="21" name="PL"/>
          <p:cNvSpPr txBox="1"/>
          <p:nvPr/>
        </p:nvSpPr>
        <p:spPr>
          <a:xfrm>
            <a:off x="723930" y="1682496"/>
            <a:ext cx="10744200" cy="384048"/>
          </a:xfrm>
          <a:prstGeom prst="rect">
            <a:avLst/>
          </a:prstGeom>
          <a:noFill/>
        </p:spPr>
        <p:txBody>
          <a:bodyPr wrap="square">
            <a:noAutofit/>
          </a:bodyPr>
          <a:lstStyle/>
          <a:p>
            <a:pPr/>
            <a:r>
              <a:rPr lang="en-MY" sz="1600" b="1" dirty="0">
                <a:solidFill>
                  <a:schemeClr val="tx1">
                    <a:lumMod val="85000"/>
                    <a:lumOff val="15000"/>
                  </a:schemeClr>
                </a:solidFill>
              </a:rPr>
              <a:t>PL06: Pengurusan Operasi Pembinaan Landskap</a:t>
            </a:r>
          </a:p>
        </p:txBody>
      </p:sp>
      <p:sp>
        <p:nvSpPr>
          <p:cNvPr id="22" name="Head"/>
          <p:cNvSpPr txBox="1"/>
          <p:nvPr/>
        </p:nvSpPr>
        <p:spPr>
          <a:xfrm>
            <a:off x="723930" y="2304288"/>
            <a:ext cx="10744200" cy="548640"/>
          </a:xfrm>
          <a:prstGeom prst="rect">
            <a:avLst/>
          </a:prstGeom>
          <a:noFill/>
        </p:spPr>
        <p:txBody>
          <a:bodyPr wrap="square">
            <a:noAutofit/>
          </a:bodyPr>
          <a:lstStyle/>
          <a:p>
            <a:pPr/>
            <a:r>
              <a:rPr lang="en-MY" sz="2400" b="1" dirty="0">
                <a:solidFill>
                  <a:schemeClr val="tx1">
                    <a:lumMod val="85000"/>
                    <a:lumOff val="15000"/>
                  </a:schemeClr>
                </a:solidFill>
              </a:rPr>
              <a:t>Tamat Topik 3 Bahagian 2: Komponen Landskap</a:t>
            </a:r>
          </a:p>
        </p:txBody>
      </p:sp>
      <p:sp>
        <p:nvSpPr>
          <p:cNvPr id="23" name="Status"/>
          <p:cNvSpPr txBox="1"/>
          <p:nvPr/>
        </p:nvSpPr>
        <p:spPr>
          <a:xfrm>
            <a:off x="723930" y="3200400"/>
            <a:ext cx="10744200" cy="384048"/>
          </a:xfrm>
          <a:prstGeom prst="rect">
            <a:avLst/>
          </a:prstGeom>
          <a:noFill/>
        </p:spPr>
        <p:txBody>
          <a:bodyPr wrap="square">
            <a:noAutofit/>
          </a:bodyPr>
          <a:lstStyle/>
          <a:p>
            <a:pPr/>
            <a:r>
              <a:rPr lang="en-MY" sz="1600" dirty="0">
                <a:solidFill>
                  <a:schemeClr val="tx1">
                    <a:lumMod val="85000"/>
                    <a:lumOff val="15000"/>
                  </a:schemeClr>
                </a:solidFill>
              </a:rPr>
              <a:t>Bahagian ini telah selesai.</a:t>
            </a:r>
          </a:p>
        </p:txBody>
      </p:sp>
      <p:sp>
        <p:nvSpPr>
          <p:cNvPr id="24" name="Instr"/>
          <p:cNvSpPr txBox="1"/>
          <p:nvPr/>
        </p:nvSpPr>
        <p:spPr>
          <a:xfrm>
            <a:off x="723930" y="3749040"/>
            <a:ext cx="10744200" cy="384048"/>
          </a:xfrm>
          <a:prstGeom prst="rect">
            <a:avLst/>
          </a:prstGeom>
          <a:noFill/>
        </p:spPr>
        <p:txBody>
          <a:bodyPr wrap="square">
            <a:noAutofit/>
          </a:bodyPr>
          <a:lstStyle/>
          <a:p>
            <a:pPr/>
            <a:r>
              <a:rPr lang="en-MY" sz="1600" b="1" dirty="0">
                <a:solidFill>
                  <a:schemeClr val="tx1">
                    <a:lumMod val="85000"/>
                    <a:lumOff val="15000"/>
                  </a:schemeClr>
                </a:solidFill>
              </a:rPr>
              <a:t>Tutup tetingkap pelajaran untuk keluar.</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Tamat Topik 3 Bahagian 2</a:t>
            </a:r>
          </a:p>
          <a:p>
            <a:r>
              <a:rPr lang="en-MY" sz="900" dirty="0">
                <a:solidFill>
                  <a:schemeClr val="tx1">
                    <a:lumMod val="85000"/>
                    <a:lumOff val="15000"/>
                  </a:schemeClr>
                </a:solidFill>
              </a:rPr>
              <a:t>KELUARGA PELAKSANAAN: FRAME</a:t>
            </a:r>
          </a:p>
          <a:p>
            <a:r>
              <a:rPr lang="en-MY" sz="900" dirty="0">
                <a:solidFill>
                  <a:schemeClr val="tx1">
                    <a:lumMod val="85000"/>
                    <a:lumOff val="15000"/>
                  </a:schemeClr>
                </a:solidFill>
              </a:rPr>
              <a:t>PERANAN HALAMAN SEMAKAN: FRAME_END_BASE</a:t>
            </a:r>
          </a:p>
          <a:p>
            <a:r>
              <a:rPr lang="en-MY" sz="900" dirty="0">
                <a:solidFill>
                  <a:schemeClr val="tx1">
                    <a:lumMod val="85000"/>
                    <a:lumOff val="15000"/>
                  </a:schemeClr>
                </a:solidFill>
              </a:rPr>
              <a:t/>
            </a:r>
          </a:p>
          <a:p>
            <a:r>
              <a:rPr lang="en-MY" sz="900" dirty="0">
                <a:solidFill>
                  <a:schemeClr val="tx1">
                    <a:lumMod val="85000"/>
                    <a:lumOff val="15000"/>
                  </a:schemeClr>
                </a:solidFill>
              </a:rPr>
              <a:t>BUKTI: Tamat, shell Next disabled</a:t>
            </a:r>
          </a:p>
          <a:p>
            <a:r>
              <a:rPr lang="en-MY" sz="900" dirty="0">
                <a:solidFill>
                  <a:schemeClr val="tx1">
                    <a:lumMod val="85000"/>
                    <a:lumOff val="15000"/>
                  </a:schemeClr>
                </a:solidFill>
              </a:rPr>
              <a:t>POLISI NOTA: CONTENT_VO_NOTES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LMS_SHELL_NEXT  [DISABLED on this screen]</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NO_CONTROL</a:t>
            </a:r>
          </a:p>
          <a:p>
            <a:r>
              <a:rPr lang="en-MY" sz="900" dirty="0">
                <a:solidFill>
                  <a:schemeClr val="tx1">
                    <a:lumMod val="85000"/>
                    <a:lumOff val="15000"/>
                  </a:schemeClr>
                </a:solidFill>
              </a:rPr>
              <a:t>  return_target = —</a:t>
            </a:r>
          </a:p>
          <a:p>
            <a:r>
              <a:rPr lang="en-MY" sz="900" dirty="0">
                <a:solidFill>
                  <a:schemeClr val="tx1">
                    <a:lumMod val="85000"/>
                    <a:lumOff val="15000"/>
                  </a:schemeClr>
                </a:solidFill>
              </a:rPr>
              <a:t>SKOP SELESAI: NONE</a:t>
            </a:r>
          </a:p>
          <a:p>
            <a:r>
              <a:rPr lang="en-MY" sz="900" dirty="0">
                <a:solidFill>
                  <a:schemeClr val="tx1">
                    <a:lumMod val="85000"/>
                    <a:lumOff val="15000"/>
                  </a:schemeClr>
                </a:solidFill>
              </a:rPr>
              <a:t>PERSISTEN: NOT_APPLICABLE</a:t>
            </a:r>
          </a:p>
          <a:p>
            <a:r>
              <a:rPr lang="en-MY" sz="900" dirty="0">
                <a:solidFill>
                  <a:schemeClr val="tx1">
                    <a:lumMod val="85000"/>
                    <a:lumOff val="15000"/>
                  </a:schemeClr>
                </a:solidFill>
              </a:rPr>
              <a:t>LEVEL: pilihan interaksi 0 · lapisan skrin 0</a:t>
            </a:r>
          </a:p>
          <a:p>
            <a:r>
              <a:rPr lang="en-MY" sz="900" dirty="0">
                <a:solidFill>
                  <a:schemeClr val="tx1">
                    <a:lumMod val="85000"/>
                    <a:lumOff val="15000"/>
                  </a:schemeClr>
                </a:solidFill>
              </a:rPr>
              <a:t>INDUK: SCR_TAMAT</a:t>
            </a:r>
          </a:p>
          <a:p>
            <a:r>
              <a:rPr lang="en-MY" sz="900" b="1" dirty="0">
                <a:solidFill>
                  <a:schemeClr val="tx1">
                    <a:lumMod val="85000"/>
                    <a:lumOff val="15000"/>
                  </a:schemeClr>
                </a:solidFill>
              </a:rPr>
              <a:t>KELUAR LMS:</a:t>
            </a:r>
          </a:p>
          <a:p>
            <a:r>
              <a:rPr lang="en-MY" sz="900" dirty="0">
                <a:solidFill>
                  <a:schemeClr val="tx1">
                    <a:lumMod val="85000"/>
                    <a:lumOff val="15000"/>
                  </a:schemeClr>
                </a:solidFill>
              </a:rPr>
              <a:t>  destinasi logik: next Bahagian in Topik 3</a:t>
            </a:r>
          </a:p>
          <a:p>
            <a:r>
              <a:rPr lang="en-MY" sz="900" dirty="0">
                <a:solidFill>
                  <a:schemeClr val="tx1">
                    <a:lumMod val="85000"/>
                    <a:lumOff val="15000"/>
                  </a:schemeClr>
                </a:solidFill>
              </a:rPr>
              <a:t>  kelakuan keluar fizikal: learner closes the lesson / window</a:t>
            </a:r>
          </a:p>
          <a:p>
            <a:r>
              <a:rPr lang="en-MY" sz="900" dirty="0">
                <a:solidFill>
                  <a:schemeClr val="tx1">
                    <a:lumMod val="85000"/>
                    <a:lumOff val="15000"/>
                  </a:schemeClr>
                </a:solidFill>
              </a:rPr>
              <a:t>  keadaan Seterusnya shell: disabled on Tamat</a:t>
            </a:r>
          </a:p>
          <a:p>
            <a:r>
              <a:rPr lang="en-MY" sz="900" dirty="0">
                <a:solidFill>
                  <a:schemeClr val="tx1">
                    <a:lumMod val="85000"/>
                    <a:lumOff val="15000"/>
                  </a:schemeClr>
                </a:solidFill>
              </a:rPr>
              <a:t>  status: PENDING_FIRDAUS_CONFIRMATION</a:t>
            </a:r>
          </a:p>
          <a:p>
            <a:r>
              <a:rPr lang="en-MY" sz="900" dirty="0">
                <a:solidFill>
                  <a:schemeClr val="tx1">
                    <a:lumMod val="85000"/>
                    <a:lumOff val="15000"/>
                  </a:schemeClr>
                </a:solidFill>
              </a:rPr>
              <a:t>  logical destination is NOT displayed on the learner canvas; it is retained in production metadata only</a:t>
            </a:r>
          </a:p>
          <a:p>
            <a:r>
              <a:rPr lang="en-MY" sz="900" dirty="0">
                <a:solidFill>
                  <a:schemeClr val="tx1">
                    <a:lumMod val="85000"/>
                    <a:lumOff val="15000"/>
                  </a:schemeClr>
                </a:solidFill>
              </a:rPr>
              <a:t>STATUS KEPUTUSAN: B02-D-14, B02-D-15</a:t>
            </a:r>
          </a:p>
          <a:p>
            <a:r>
              <a:rPr lang="en-MY" sz="900" dirty="0">
                <a:solidFill>
                  <a:schemeClr val="tx1">
                    <a:lumMod val="85000"/>
                    <a:lumOff val="15000"/>
                  </a:schemeClr>
                </a:solidFill>
              </a:rPr>
              <a:t>STATUS BELUM SELESAI: U-03</a:t>
            </a:r>
          </a:p>
        </p:txBody>
      </p:sp>
    </p:spTree>
  </p:cSld>
  <p:clrMapOvr>
    <a:masterClrMapping/>
  </p:clrMapOvr>
</p:sld>
</file>

<file path=ppt/theme/theme1.xml><?xml version="1.0" encoding="utf-8"?>
<a:theme xmlns:a="http://schemas.openxmlformats.org/drawingml/2006/main" name="Office Theme">
  <a:themeElements>
    <a:clrScheme name="Custom 505">
      <a:dk1>
        <a:srgbClr val="000000"/>
      </a:dk1>
      <a:lt1>
        <a:srgbClr val="FFFFFF"/>
      </a:lt1>
      <a:dk2>
        <a:srgbClr val="3F403F"/>
      </a:dk2>
      <a:lt2>
        <a:srgbClr val="FFFFFF"/>
      </a:lt2>
      <a:accent1>
        <a:srgbClr val="17B164"/>
      </a:accent1>
      <a:accent2>
        <a:srgbClr val="003E3B"/>
      </a:accent2>
      <a:accent3>
        <a:srgbClr val="181818"/>
      </a:accent3>
      <a:accent4>
        <a:srgbClr val="13764B"/>
      </a:accent4>
      <a:accent5>
        <a:srgbClr val="21C190"/>
      </a:accent5>
      <a:accent6>
        <a:srgbClr val="83EAB1"/>
      </a:accent6>
      <a:hlink>
        <a:srgbClr val="1EE27F"/>
      </a:hlink>
      <a:folHlink>
        <a:srgbClr val="1EE27F"/>
      </a:folHlink>
    </a:clrScheme>
    <a:fontScheme name="CIDB">
      <a:majorFont>
        <a:latin typeface="Raleway"/>
        <a:ea typeface=""/>
        <a:cs typeface=""/>
      </a:majorFont>
      <a:minorFont>
        <a:latin typeface="Ebrim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Application>CAIR compiler</Application>
  <PresentationFormat>Widescreen</PresentationFormat>
  <Slides>19</Slides>
  <Notes>19</Notes>
  <HiddenSlides>0</HiddenSlides>
  <MMClips>0</MMClips>
  <ScaleCrop>false</ScaleCrop>
  <LinksUpToDate>false</LinksUpToDate>
  <SharedDoc>false</SharedDoc>
  <HyperlinksChanged>false</HyperlinksChanged>
  <HeadingPairs>
    <vt:vector size="4" baseType="variant">
      <vt:variant>
        <vt:lpstr>Theme</vt:lpstr>
      </vt:variant>
      <vt:variant>
        <vt:i4>1</vt:i4>
      </vt:variant>
      <vt:variant>
        <vt:lpstr>Slide Titles</vt:lpstr>
      </vt:variant>
      <vt:variant>
        <vt:i4>19</vt:i4>
      </vt:variant>
    </vt:vector>
  </HeadingPairs>
  <TitlesOfParts>
    <vt:vector size="20" baseType="lpstr">
      <vt:lpstr>Theme</vt:lpstr>
      <vt:lpstr>S01 TAJUK</vt:lpstr>
      <vt:lpstr>S02 DIALOG</vt:lpstr>
      <vt:lpstr>S03 OVERVIEW</vt:lpstr>
      <vt:lpstr>S04 CR_BASE</vt:lpstr>
      <vt:lpstr>S05 FULL</vt:lpstr>
      <vt:lpstr>S06 FULL</vt:lpstr>
      <vt:lpstr>S07 FULL</vt:lpstr>
      <vt:lpstr>S08 FULL</vt:lpstr>
      <vt:lpstr>S09 TICK</vt:lpstr>
      <vt:lpstr>S10 CR_BASE</vt:lpstr>
      <vt:lpstr>S11 FULL</vt:lpstr>
      <vt:lpstr>S12 FULL</vt:lpstr>
      <vt:lpstr>S13 FULL</vt:lpstr>
      <vt:lpstr>S14 FULL</vt:lpstr>
      <vt:lpstr>S15 FULL</vt:lpstr>
      <vt:lpstr>S16 TICK</vt:lpstr>
      <vt:lpstr>S17 RUMUSAN</vt:lpstr>
      <vt:lpstr>S18 KUIZ</vt:lpstr>
      <vt:lpstr>S19 TAMAT</vt:lpstr>
    </vt:vector>
  </TitlesOfPart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Contoh Treatment — 4 slaid — bukan storyboard penuh</dc:title>
  <dc:creator>SMEC courseware.my</dc:creator>
  <cp:lastModifiedBy>CAIR compiler</cp:lastModifiedBy>
  <cp:revision>1</cp:revision>
  <dcterms:created xsi:type="dcterms:W3CDTF">2021-11-01T02:42:52Z</dcterms:created>
  <dcterms:modified xsi:type="dcterms:W3CDTF">2026-07-25T19:09:29Z</dcterms:modified>
  <dc:subject>Treatment probe. Not a storyboard. Output-only, disposable.</dc:subject>
  <dc:description>Hand-built from 4 slides of the Tier-1 storyboard specification. Not regenerable, not a baseline, must never be promoted.</dc:description>
  <cp:keywords>storyboard; K5; source-bound</cp:keywords>
  <cp:category>Storyboard Specification</cp:category>
</cp:coreProperties>
</file>