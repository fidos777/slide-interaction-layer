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9401" r:id="rId101"/>
    <p:sldId id="9402" r:id="rId102"/>
    <p:sldId id="9403" r:id="rId103"/>
    <p:sldId id="9404" r:id="rId104"/>
    <p:sldId id="9405" r:id="rId105"/>
    <p:sldId id="9406" r:id="rId106"/>
    <p:sldId id="9407" r:id="rId107"/>
    <p:sldId id="9408" r:id="rId108"/>
    <p:sldId id="9409" r:id="rId109"/>
    <p:sldId id="9410" r:id="rId110"/>
    <p:sldId id="9411" r:id="rId111"/>
    <p:sldId id="9412" r:id="rId112"/>
    <p:sldId id="9413" r:id="rId113"/>
    <p:sldId id="9414" r:id="rId114"/>
    <p:sldId id="9415" r:id="rId115"/>
    <p:sldId id="9416" r:id="rId116"/>
    <p:sldId id="9417" r:id="rId117"/>
    <p:sldId id="9418" r:id="rId118"/>
    <p:sldId id="9419" r:id="rId119"/>
    <p:sldId id="9420" r:id="rId120"/>
    <p:sldId id="9421" r:id="rId121"/>
    <p:sldId id="9422" r:id="rId122"/>
    <p:sldId id="9423" r:id="rId123"/>
    <p:sldId id="9424" r:id="rId124"/>
    <p:sldId id="9425" r:id="rId125"/>
    <p:sldId id="9426" r:id="rId126"/>
    <p:sldId id="9427" r:id="rId127"/>
    <p:sldId id="9428" r:id="rId128"/>
    <p:sldId id="9429" r:id="rId129"/>
    <p:sldId id="9430" r:id="rId130"/>
    <p:sldId id="9431" r:id="rId131"/>
    <p:sldId id="9432" r:id="rId132"/>
    <p:sldId id="9433" r:id="rId133"/>
    <p:sldId id="9434" r:id="rId134"/>
    <p:sldId id="9435" r:id="rId135"/>
    <p:sldId id="9436" r:id="rId136"/>
    <p:sldId id="9437" r:id="rId137"/>
    <p:sldId id="9438" r:id="rId138"/>
    <p:sldId id="9439" r:id="rId139"/>
    <p:sldId id="9440" r:id="rId140"/>
    <p:sldId id="9441" r:id="rId141"/>
    <p:sldId id="9442" r:id="rId142"/>
    <p:sldId id="9443" r:id="rId143"/>
    <p:sldId id="9444" r:id="rId144"/>
    <p:sldId id="9445" r:id="rId145"/>
    <p:sldId id="9446" r:id="rId146"/>
    <p:sldId id="9447" r:id="rId147"/>
    <p:sldId id="9448" r:id="rId148"/>
    <p:sldId id="9449" r:id="rId149"/>
    <p:sldId id="9450" r:id="rId150"/>
    <p:sldId id="9451" r:id="rId151"/>
    <p:sldId id="9452" r:id="rId152"/>
    <p:sldId id="9453" r:id="rId153"/>
    <p:sldId id="9454" r:id="rId154"/>
    <p:sldId id="9455" r:id="rId155"/>
    <p:sldId id="9456" r:id="rId156"/>
    <p:sldId id="9457" r:id="rId157"/>
    <p:sldId id="9458" r:id="rId158"/>
    <p:sldId id="9459" r:id="rId159"/>
    <p:sldId id="9460" r:id="rId160"/>
    <p:sldId id="9461" r:id="rId161"/>
    <p:sldId id="9462" r:id="rId162"/>
    <p:sldId id="9463" r:id="rId1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9F9E"/>
    <a:srgbClr val="DFE0D1"/>
    <a:srgbClr val="AC8300"/>
    <a:srgbClr val="F6D4CF"/>
    <a:srgbClr val="D8928B"/>
    <a:srgbClr val="98768E"/>
    <a:srgbClr val="D3B8C5"/>
    <a:srgbClr val="4E7189"/>
    <a:srgbClr val="385F77"/>
    <a:srgbClr val="244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91" autoAdjust="0"/>
    <p:restoredTop sz="35546" autoAdjust="0"/>
  </p:normalViewPr>
  <p:slideViewPr>
    <p:cSldViewPr snapToGrid="0" snapToObjects="1">
      <p:cViewPr>
        <p:scale>
          <a:sx n="50" d="100"/>
          <a:sy n="50" d="100"/>
        </p:scale>
        <p:origin x="1930" y="264"/>
      </p:cViewPr>
      <p:guideLst>
        <p:guide orient="horz" pos="1026"/>
        <p:guide pos="384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70" d="100"/>
        <a:sy n="70" d="100"/>
      </p:scale>
      <p:origin x="0" y="-6198"/>
    </p:cViewPr>
  </p:sorterViewPr>
  <p:notesViewPr>
    <p:cSldViewPr snapToGrid="0" snapToObjects="1">
      <p:cViewPr varScale="1">
        <p:scale>
          <a:sx n="50" d="100"/>
          <a:sy n="50" d="100"/>
        </p:scale>
        <p:origin x="2016" y="6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120" Type="http://schemas.openxmlformats.org/officeDocument/2006/relationships/slide" Target="slides/slide20.xml"/><Relationship Id="rId121" Type="http://schemas.openxmlformats.org/officeDocument/2006/relationships/slide" Target="slides/slide21.xml"/><Relationship Id="rId122" Type="http://schemas.openxmlformats.org/officeDocument/2006/relationships/slide" Target="slides/slide22.xml"/><Relationship Id="rId123" Type="http://schemas.openxmlformats.org/officeDocument/2006/relationships/slide" Target="slides/slide23.xml"/><Relationship Id="rId124" Type="http://schemas.openxmlformats.org/officeDocument/2006/relationships/slide" Target="slides/slide24.xml"/><Relationship Id="rId125" Type="http://schemas.openxmlformats.org/officeDocument/2006/relationships/slide" Target="slides/slide25.xml"/><Relationship Id="rId126" Type="http://schemas.openxmlformats.org/officeDocument/2006/relationships/slide" Target="slides/slide26.xml"/><Relationship Id="rId127" Type="http://schemas.openxmlformats.org/officeDocument/2006/relationships/slide" Target="slides/slide27.xml"/><Relationship Id="rId128" Type="http://schemas.openxmlformats.org/officeDocument/2006/relationships/slide" Target="slides/slide28.xml"/><Relationship Id="rId129" Type="http://schemas.openxmlformats.org/officeDocument/2006/relationships/slide" Target="slides/slide29.xml"/><Relationship Id="rId130" Type="http://schemas.openxmlformats.org/officeDocument/2006/relationships/slide" Target="slides/slide30.xml"/><Relationship Id="rId131" Type="http://schemas.openxmlformats.org/officeDocument/2006/relationships/slide" Target="slides/slide31.xml"/><Relationship Id="rId132" Type="http://schemas.openxmlformats.org/officeDocument/2006/relationships/slide" Target="slides/slide32.xml"/><Relationship Id="rId133" Type="http://schemas.openxmlformats.org/officeDocument/2006/relationships/slide" Target="slides/slide33.xml"/><Relationship Id="rId134" Type="http://schemas.openxmlformats.org/officeDocument/2006/relationships/slide" Target="slides/slide34.xml"/><Relationship Id="rId135" Type="http://schemas.openxmlformats.org/officeDocument/2006/relationships/slide" Target="slides/slide35.xml"/><Relationship Id="rId136" Type="http://schemas.openxmlformats.org/officeDocument/2006/relationships/slide" Target="slides/slide36.xml"/><Relationship Id="rId137" Type="http://schemas.openxmlformats.org/officeDocument/2006/relationships/slide" Target="slides/slide37.xml"/><Relationship Id="rId138" Type="http://schemas.openxmlformats.org/officeDocument/2006/relationships/slide" Target="slides/slide38.xml"/><Relationship Id="rId139" Type="http://schemas.openxmlformats.org/officeDocument/2006/relationships/slide" Target="slides/slide39.xml"/><Relationship Id="rId140" Type="http://schemas.openxmlformats.org/officeDocument/2006/relationships/slide" Target="slides/slide40.xml"/><Relationship Id="rId141" Type="http://schemas.openxmlformats.org/officeDocument/2006/relationships/slide" Target="slides/slide41.xml"/><Relationship Id="rId142" Type="http://schemas.openxmlformats.org/officeDocument/2006/relationships/slide" Target="slides/slide42.xml"/><Relationship Id="rId143" Type="http://schemas.openxmlformats.org/officeDocument/2006/relationships/slide" Target="slides/slide43.xml"/><Relationship Id="rId144" Type="http://schemas.openxmlformats.org/officeDocument/2006/relationships/slide" Target="slides/slide44.xml"/><Relationship Id="rId145" Type="http://schemas.openxmlformats.org/officeDocument/2006/relationships/slide" Target="slides/slide45.xml"/><Relationship Id="rId146" Type="http://schemas.openxmlformats.org/officeDocument/2006/relationships/slide" Target="slides/slide46.xml"/><Relationship Id="rId147" Type="http://schemas.openxmlformats.org/officeDocument/2006/relationships/slide" Target="slides/slide47.xml"/><Relationship Id="rId148" Type="http://schemas.openxmlformats.org/officeDocument/2006/relationships/slide" Target="slides/slide48.xml"/><Relationship Id="rId149" Type="http://schemas.openxmlformats.org/officeDocument/2006/relationships/slide" Target="slides/slide49.xml"/><Relationship Id="rId150" Type="http://schemas.openxmlformats.org/officeDocument/2006/relationships/slide" Target="slides/slide50.xml"/><Relationship Id="rId151" Type="http://schemas.openxmlformats.org/officeDocument/2006/relationships/slide" Target="slides/slide51.xml"/><Relationship Id="rId152" Type="http://schemas.openxmlformats.org/officeDocument/2006/relationships/slide" Target="slides/slide52.xml"/><Relationship Id="rId153" Type="http://schemas.openxmlformats.org/officeDocument/2006/relationships/slide" Target="slides/slide53.xml"/><Relationship Id="rId154" Type="http://schemas.openxmlformats.org/officeDocument/2006/relationships/slide" Target="slides/slide54.xml"/><Relationship Id="rId155" Type="http://schemas.openxmlformats.org/officeDocument/2006/relationships/slide" Target="slides/slide55.xml"/><Relationship Id="rId156" Type="http://schemas.openxmlformats.org/officeDocument/2006/relationships/slide" Target="slides/slide56.xml"/><Relationship Id="rId157" Type="http://schemas.openxmlformats.org/officeDocument/2006/relationships/slide" Target="slides/slide57.xml"/><Relationship Id="rId158" Type="http://schemas.openxmlformats.org/officeDocument/2006/relationships/slide" Target="slides/slide58.xml"/><Relationship Id="rId159" Type="http://schemas.openxmlformats.org/officeDocument/2006/relationships/slide" Target="slides/slide59.xml"/><Relationship Id="rId160" Type="http://schemas.openxmlformats.org/officeDocument/2006/relationships/slide" Target="slides/slide60.xml"/><Relationship Id="rId161" Type="http://schemas.openxmlformats.org/officeDocument/2006/relationships/slide" Target="slides/slide61.xml"/><Relationship Id="rId162" Type="http://schemas.openxmlformats.org/officeDocument/2006/relationships/slide" Target="slides/slide62.xml"/><Relationship Id="rId163" Type="http://schemas.openxmlformats.org/officeDocument/2006/relationships/slide" Target="slides/slide63.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CA8EA-268C-9240-A93C-AAC79D8999C8}"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C05A5-7321-AF4F-BADD-6247ABA70E9B}" type="slidenum">
              <a:rPr lang="en-US" smtClean="0"/>
              <a:t>‹#›</a:t>
            </a:fld>
            <a:endParaRPr lang="en-US"/>
          </a:p>
        </p:txBody>
      </p:sp>
    </p:spTree>
    <p:extLst>
      <p:ext uri="{BB962C8B-B14F-4D97-AF65-F5344CB8AC3E}">
        <p14:creationId xmlns:p14="http://schemas.microsoft.com/office/powerpoint/2010/main" val="257999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Selamat datang ke Pakej Latihan enam, Pengurusan Operasi Pembinaan Landskap. Topik tiga, Bahagian dua: Komponen Landskap. Klik butang MULA untuk memulakan pembelajaran.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PELATIH: Encik, kerja tanaman di tapak ini dah siap. Apa lagi yang tinggal?</a:t>
            </a:r>
          </a:p>
          <a:p>
            <a:r>
              <a:rPr lang="en-MY" dirty="0"/>
              <a:t>PENYELIA TAPAK: Tinggal komponen binaan. Dua kumpulan — struktur taman dan perabot taman.</a:t>
            </a:r>
          </a:p>
          <a:p>
            <a:r>
              <a:rPr lang="en-MY" dirty="0"/>
              <a:t>PELATIH: Saya faham struktur taman itu binaan seperti dek dan teduhan. Perabot taman pula kelengkapan, betul?</a:t>
            </a:r>
          </a:p>
          <a:p>
            <a:r>
              <a:rPr lang="en-MY" dirty="0"/>
              <a:t>PENYELIA TAPAK: Betul. Dan fungsi serta kaedah pemasangannya berbeza. Itu yang menentukan cara kita merancang kerja.</a:t>
            </a:r>
          </a:p>
          <a:p>
            <a:r>
              <a:rPr lang="en-MY" dirty="0"/>
              <a:t>PELATIH: Jadi saya perlu tahu bezanya sebelum menyusun jadual kerja di tapak.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Hilmi: Tadi anda mendengar perbualan di tapak tentang apa yang tinggal selepas kerja tanaman siap. Bahagian ini meneliti dua kumpulan komponen landskap. Kumpulan pertama ialah Struktur Taman, yang merangkumi Struktur Persisir Air, Struktur Teduhan, Kemudahan Awam, dan Water Feature. Kumpulan kedua ialah Perabot Taman, yang merangkumi Kerusi Taman, Papan Tanda, Tong Sampah, Drinking Fountain, dan BBQ Pit. Cuba fikirkan — jika anda perlu memilih bahan untuk sebuah kerusi taman di tepi tasik, bahan manakah yang anda pilih, dan mengapa? Mari teliti setiap komponen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dan Water Feature.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Struktur persisir air direka untuk meningkatkan akses dan pengalaman pengguna di tepi badan air seperti tasik, sungai, atau pantai. Ia memerlukan kepakaran dalam pembinaan di persekitaran yang lembap dan berpotensi hakisan. Pembinaannya memerlukan asas yang sangat stabil dan rata, dengan sistem saliran permukaan yang berkesan untuk mengelakkan genangan air. Pemilihan bahan permukaan bergantung pada fungsi utama ruang tersebut. Mari lihat contoh bagi Struktur Persisir Air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Promenade ialah laluan lebar di sepanjang pinggir air, selesa untuk berjalan dan bersantai. Contohnya Promenade Tasik Titiwangsa di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Jeti ialah platform atau pelantar panjang untuk akses ke air, dan sering digunakan untuk bot. Contohnya Jeti Lumut di Perak.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Dek kayu ialah ruang kayu terbuka di atas atau berhampiran air, untuk rehat dan menikmati pemandangan. Contohnya Wetland Park Putrajaya.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Boardwalk ialah laluan kayu di atas tanah berpaya atau basah. Ia mesra alam dan mengekalkan visual semula jadi. Contohnya Boardwalk Paya Indah Wetlands.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Footbridge ialah jambatan kecil untuk laluan pejalan kaki melintasi aliran air atau longkang besar. Contohnya Footbridge Taman Botani Perdana.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Struktur teduhan direka untuk memberikan perlindungan daripada matahari dan hujan, dan mewujudkan ruang yang selesa untuk bersantai atau berinteraksi. Mari lihat contoh bagi Struktur Teduhan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Gazebo ialah struktur berbumbung terbuka untuk bersantai atau menikmati pemandangan. Contohnya di Taman Tasik Shah Alam.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Wakaf ialah struktur tradisional Melayu yang digunakan sebagai tempat berehat. Contohnya wakaf di Taman Desa,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Pergola ialah rangka struktur terbuka yang biasanya ditumbuhi tanaman pemanjat seperti bougainvillea. Contohnya pergola di Laman Herba Putrajaya.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Canopy ialah struktur kain atau polikarbonat ringan untuk meneduhi kawasan aktiviti. Contohnya canopy rekreasi di Taman Jaya.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Struktur teduhan moden mempunyai reka bentuk kontemporari. Ia menggunakan bahan seperti keluli dan panel lutsinar atau berlubang untuk mencipta corak cahaya dan bayangan. Ia banyak digunakan di kawasan awam di Putrajaya.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Kemudahan awam ialah bangunan atau struktur yang menyediakan perkhidmatan asas untuk keselesaan dan pendidikan pengguna taman. Ia memerlukan reka bentuk yang berfungsi, tahan lasak, dan mudah diselenggara. Aksesibiliti untuk orang kurang upaya adalah pertimbangan penting, dan bahan yang digunakan harus tahan vandalisme dan cuaca. Mari lihat contoh bagi Kemudahan Awam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Tandas awam ialah kemudahan sanitasi yang bersih dan boleh diakses. Pembinaannya perlu mematuhi piawaian kebersihan dan mempunyai sistem bekalan air serta saliran yang cekap.</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Surau ialah ruang ibadah yang disediakan untuk umat Islam menunaikan solat. Reka bentuknya biasanya ringkas tetapi memenuhi keperluan keagamaan.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Bangunan interpretatif ialah struktur yang menyediakan maklumat pendidikan tentang persekitaran — flora, fauna, sejarah dan geologi — melalui pameran, paparan, atau papan tanda.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Ciri air ialah elemen landskap yang menggunakan air untuk tujuan estetika, bunyi, atau sebagai titik tumpuan. Pembinaannya memerlukan sistem paip, pam air, penapisan, dan sistem saliran yang betul. Kawalan kualiti air, termasuk pencegahan alga, adalah penting. Aspek keselamatan seperti kedalaman dan permukaan yang tidak licin juga perlu diambil kira. Mari lihat contoh bagi Water Feature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Air pancut ialah struktur yang mengeluarkan air dalam corak tertentu. Ia mewujudkan bunyi yang menenangkan dan pergerakan visual.</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Kolam ialah kawasan air statik atau perlahan. Ia boleh menjadi kolam hiasan, kolam ikan, atau kolam refleksi.</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Kolam renang atau kolam hiasan besar ialah kolam berskala lebih besar, sama ada untuk berenang atau sebagai kolam hiasan dengan ciri-ciri reka bentuk yang kompleks.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Perabot taman merujuk kepada elemen-elemen boleh alih atau kekal yang ditempatkan di ruang landskap untuk meningkatkan fungsi, keselesaan, dan estetika. Ini melibatkan pemahaman tentang bahan, ketahanan, ergonomik, dan kesesuaian reka bentuk dengan tema keseluruhan landskap. Terdapat lima jenis perabot taman: Kerusi Taman, Papan Tanda, Tong Sampah, Drinking Fountain, dan BBQ Pit.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Kerusi taman menyediakan tempat duduk untuk pengguna berehat dan menikmati persekitaran. Ia merupakan elemen asas untuk keselesaan di mana-mana ruang awam atau peribadi. Pemilihan kerusi yang betul mengambil kira faktor seperti keselesaan, ketahanan terhadap cuaca, dan estetika yang sepadan dengan gaya landskap. Pemasangan mungkin melibatkan penetapan ke tanah untuk mengelakkan kecurian atau pergerakan. Mari lihat contoh bagi Kerusi Taman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Kerusi kayu keras menggunakan kayu padu gred perabot luar dengan ketahanan semula jadi yang tinggi terhadap serangga dan reput, atau kayu yang telah dirawat tekanan. Ketebalan minimum komponen utama, iaitu kaki, tempat duduk dan sandaran, adalah sekitar dua puluh lima hingga lima puluh milimeter untuk kestabilan dan kekuatan. Penyambungan menggunakan skru tahan karat, bolt, atau tanggam kayu yang kuat. Kemasannya menggunakan sealant luaran, minyak kayu, atau varnis yang tahan ultraungu dan kelembapan. Contoh kayunya termasuk jati, cengal dan balau.</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Kerusi konkrit menggunakan konkrit bertetulang gentian atau konkrit pratuang. Pembesaran mungkin diperlukan untuk mengelakkan keretakan akibat perubahan suhu. Kemasannya boleh dibiarkan asli, digilap, dicat, atau mempunyai kemasan tekstur. Permukaannya mestilah licin untuk keselesaan, tanpa tepi tajam.</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Kerusi komposit dihasilkan daripada campuran gentian kayu atau selulosa dan plastik kitar semula. Ia tahan ultraungu, kalis air, tidak reput dan kalis serangga. Warnanya disepadukan dalam bahan, jadi ia tidak memerlukan cat atau varnis, dan tekstur permukaannya mungkin meniru urat kayu.</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Papan tanda ialah elemen penting untuk navigasi, maklumat, dan keselamatan dalam ruang landskap. Papan tanda mesti jelas, mudah dibaca, dan diletakkan di lokasi yang strategik. Ia boleh berupa penunjuk arah, peta taman, informasi tentang tumbuhan atau ciri landskap, atau peraturan taman. Bahan yang digunakan harus tahan cuaca dan tahan luntur. Mari lihat contoh bagi Papan Tanda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Papan tanda arah dan papan tanda interpretatif menggunakan beberapa pilihan bahan panel. Aluminium komposit ialah panel sandwic dengan teras polietilena, ringan, tahan cuaca dan stabil dimensi, pada ketebalan tiga hingga empat milimeter. HPL gred luar tahan luntur ultraungu, calar dan lelasan, pada ketebalan enam hingga sepuluh milimeter. Akrilik terstabil ultraungu pula jernih dan ringan, pada ketebalan lima hingga sepuluh milimeter. Kayu dirawat tekanan atau kayu keras digunakan pada ketebalan minimum dua puluh milimeter, dengan ukiran atau cetakan laser. Bagi struktur dan tiang, keluli bersalut serbuk atau tahan karat digunakan dalam profil lima puluh milimeter persegi atau lebih besar dengan salutan anti-karat, manakala tiang kayu keras berukuran minimum tujuh puluh lima milimeter persegi. Grafiknya menggunakan cetakan ultraungu langsung, cetakan digital pada vinil gred luar, atau ukiran laser, dan mesti tahan pudar. Rekaannya memerlukan font yang jelas, saiz teks yang sesuai untuk jarak pandang, dan kontras warna yang tinggi.</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Tong sampah ialah kemudahan asas untuk pengurusan sisa dan menjaga kebersihan ruang landskap. Tong sampah harus mencukupi dari segi bilangan dan diletakkan di lokasi yang mudah diakses. Reka bentuknya perlu tahan lama, mudah dikosongkan, dan dapat menghalang haiwan daripada mengusik sampah. Sesetengah tong sampah direka untuk pengasingan sisa kitar semula. Mari lihat contoh bagi Tong Sampah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Tong sampah logam menggunakan keluli lembut yang digalvani dan disalut serbuk, atau keluli tahan karat, dengan ketebalan dinding badan minimum satu perpuluhan dua milimeter. Penutupnya tahan cuaca dan tahan haiwan, dengan pembukaan pembuangan sampah yang ergonomik. Ia dilengkapi tong dalam yang mudah dikeluarkan untuk pengosongan yang mudah.</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Tong sampah konkrit atau batu menggunakan konkrit bertetulang atau batu asli atau tiruan. Beratnya mencukupi untuk mengelakkan kecurian atau pergerakan yang tidak disengajakan. Pembukaannya sesuai untuk sampah, dengan atau tanpa tong dalam logam.</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Tong sampah plastik kitar semula menggunakan plastik berketumpatan tinggi yang tahan ultraungu, tidak reput dan mudah dibersihkan. Ia ringan dan mudah dialihkan jika tidak dipasang tetap, dan tersedia dalam pelbagai warna untuk tujuan pengasingan sisa.</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Pancutan air minum menyediakan akses mudah kepada air bersih untuk pengguna taman. Ia harus dibina dengan bahan yang bersih dan tahan lasak, serta memerlukan sambungan paip air yang bersih dan sistem saliran yang berkesan untuk air buangan. Ketinggian yang berbeza mungkin diperlukan untuk kanak-kanak dan orang dewasa, serta akses untuk kerusi roda. Mari lihat contoh bagi Drinking Fountain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Pancutan air minum keluli tahan karat menggunakan keluli gred tiga kosong empat atau tiga satu enam, dengan gred tiga satu enam lebih tahan kakisan untuk persekitaran pantai, pada ketebalan minimum satu perpuluhan lima milimeter. Injapnya ialah injap tekan yang tahan lasak dan tahan vandalisme, dan mekanisme pancutan yang membersihkan diri adalah satu kelebihan. Kepala pancutan direka untuk aliran air yang stabil dan bersih, serta dilindungi daripada sentuhan langsung dengan mulut pengguna. Sistem penapisan karbon atau sedimen adalah pilihan untuk meningkatkan kualiti air. Perpaipannya menggunakan paip air bersih dan sistem saliran air buangan yang cekap, dengan injap tutup untuk penyelenggaraan. Aksesibilitinya mengikut piawaian reka bentuk universal, termasuk ketinggian berbeza untuk kanak-kanak dan akses bagi kerusi roda.</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Pancutan air minum konkrit atau batu menggunakan struktur asas daripada konkrit bertetulang atau batu asli atau tiruan. Bahagian pancutan airnya biasanya masih keluli tahan karat untuk kebersihan. Ia mesti mematuhi piawaian kualiti air minuman yang ditetapkan oleh Kementerian Kesihatan Malaysia atau badan berkaitan.</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BBQ pit atau kawasan barbeku menyediakan kemudahan untuk aktiviti memasak dan bersosial di luar. Biasanya ia dibina daripada bata, blok konkrit, atau batu tahan api. Ia memerlukan reka bentuk yang selamat untuk mengandungi api, dengan ruang untuk memanggang dan seringkali kawasan kerja yang berdekatan. Saliran yang baik dan jarak selamat dari bahan mudah terbakar adalah kritikal. Mari lihat contoh bagi BBQ Pit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BBQ pit struktur kekal dibina daripada bata, konkrit atau batu. Dinding dalam ruang pembakaran menggunakan bata tahan api atau blok konkrit yang tahan suhu tinggi, dengan mortar tahan api. Dinding luar pula menggunakan bata biasa, blok konkrit, atau batu semula jadi atau tiruan, manakala permukaan kerja menggunakan konkrit, jubin seramik tahan haba, atau batu granit. Ketinggian memanggang lazimnya tujuh ratus lima puluh hingga sembilan ratus milimeter dari aras tanah, dan saiz lubang api bergantung pada saiz gril yang digunakan. Grilnya menggunakan keluli tahan karat gred makanan atau besi tuang, dengan tebal palang minimum enam milimeter. Dari segi keselamatan, ia memerlukan pengudaraan di bahagian bawah ruang pembakaran, saliran air hujan di dasar, cerobong asap jika perlu, ruang persediaan bersebelahan, dan jarak selamat dari bahan mudah terbakar mengikut piawaian keselamatan kebakaran.</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Komponen Landskap — Struktur Taman dan Perabot Taman. Mengenal pasti struktur dan elemen landskap membolehkan kerja pembinaan, penyeliaan dan penyelenggaraan dirancang dengan tepat. Struktur taman merangkumi Struktur Persisir Air, Struktur Teduhan, Kemudahan Awam dan Water Feature, manakala perabot taman merangkumi Kerusi Taman, Papan Tanda, Tong Sampah, Drinking Fountain dan BBQ Pit. Dengan memahami komponen-komponen ini, kontraktor dapat merancang, melaksana dan menyelenggara setiap komponen landskap mengikut fungsinya di tapak.</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Sekarang mari kita uji kefahaman anda. Terdapat lima soalan berdasarkan komponen landskap yang baru diteliti. Empat soalan pertama adalah aneka pilihan dengan satu jawapan sahaja, dan soalan kelima memerlukan lebih daripada satu jawapan. Bacalah setiap soalan dengan teliti sebelum menghantar jawapan anda.</a:t>
            </a:r>
          </a:p>
          <a:p>
            <a:endParaRPr lang="en-MY" dirty="0"/>
          </a:p>
          <a:p>
            <a:r>
              <a:rPr lang="en-MY" dirty="0"/>
              <a:t>Soalan 1 — MCQ (sumber: modul ms 238)</a:t>
            </a:r>
          </a:p>
          <a:p>
            <a:r>
              <a:rPr lang="en-MY" dirty="0"/>
              <a:t>Struktur persisir air dibina di tepi badan air seperti tasik, sungai atau pantai. Apakah keperluan pembinaan yang paling kritikal bagi struktur ini?</a:t>
            </a:r>
          </a:p>
          <a:p>
            <a:r>
              <a:rPr lang="en-MY" dirty="0"/>
              <a:t>   A. Warna permukaan yang menarik</a:t>
            </a:r>
          </a:p>
          <a:p>
            <a:r>
              <a:rPr lang="en-MY" dirty="0"/>
              <a:t>   B. Asas yang stabil dan rata dengan saliran permukaan yang berkesan</a:t>
            </a:r>
          </a:p>
          <a:p>
            <a:r>
              <a:rPr lang="en-MY" dirty="0"/>
              <a:t>   C. Ketinggian struktur melebihi dua meter</a:t>
            </a:r>
          </a:p>
          <a:p>
            <a:r>
              <a:rPr lang="en-MY" dirty="0"/>
              <a:t>   D. Penggunaan bahan import</a:t>
            </a:r>
          </a:p>
          <a:p>
            <a:r>
              <a:rPr lang="en-MY" dirty="0"/>
              <a:t>Jawapan betul: B</a:t>
            </a:r>
          </a:p>
          <a:p>
            <a:r>
              <a:rPr lang="en-MY" dirty="0"/>
              <a:t>Maklum balas betul: Betul. Persekitaran lembap dan berpotensi hakisan memerlukan asas yang stabil dan rata, serta saliran permukaan yang berkesan.</a:t>
            </a:r>
          </a:p>
          <a:p>
            <a:r>
              <a:rPr lang="en-MY" dirty="0"/>
              <a:t>Maklum balas salah: Belum tepat. Rujuk semula Struktur Persisir Air — asas yang stabil dan saliran permukaan yang berkesan adalah keperluan kritikal.</a:t>
            </a:r>
          </a:p>
          <a:p>
            <a:endParaRPr lang="en-MY" dirty="0"/>
          </a:p>
          <a:p>
            <a:r>
              <a:rPr lang="en-MY" dirty="0"/>
              <a:t>Soalan 2 — MCQ (sumber: modul ms 239)</a:t>
            </a:r>
          </a:p>
          <a:p>
            <a:r>
              <a:rPr lang="en-MY" dirty="0"/>
              <a:t>Manakah antara berikut merupakan struktur teduhan tradisional Melayu yang digunakan sebagai tempat berehat?</a:t>
            </a:r>
          </a:p>
          <a:p>
            <a:r>
              <a:rPr lang="en-MY" dirty="0"/>
              <a:t>   A. Pergola</a:t>
            </a:r>
          </a:p>
          <a:p>
            <a:r>
              <a:rPr lang="en-MY" dirty="0"/>
              <a:t>   B. Canopy</a:t>
            </a:r>
          </a:p>
          <a:p>
            <a:r>
              <a:rPr lang="en-MY" dirty="0"/>
              <a:t>   C. Wakaf</a:t>
            </a:r>
          </a:p>
          <a:p>
            <a:r>
              <a:rPr lang="en-MY" dirty="0"/>
              <a:t>   D. Gazebo</a:t>
            </a:r>
          </a:p>
          <a:p>
            <a:r>
              <a:rPr lang="en-MY" dirty="0"/>
              <a:t>Jawapan betul: C</a:t>
            </a:r>
          </a:p>
          <a:p>
            <a:r>
              <a:rPr lang="en-MY" dirty="0"/>
              <a:t>Maklum balas betul: Betul. Wakaf ialah struktur tradisional Melayu yang digunakan sebagai tempat berehat.</a:t>
            </a:r>
          </a:p>
          <a:p>
            <a:r>
              <a:rPr lang="en-MY" dirty="0"/>
              <a:t>Maklum balas salah: Belum tepat. Pergola ialah rangka struktur terbuka yang ditumbuhi tanaman pemanjat. Wakaf ialah struktur tradisional Melayu.</a:t>
            </a:r>
          </a:p>
          <a:p>
            <a:endParaRPr lang="en-MY" dirty="0"/>
          </a:p>
          <a:p>
            <a:r>
              <a:rPr lang="en-MY" dirty="0"/>
              <a:t>Soalan 3 — MCQ (sumber: modul ms 240)</a:t>
            </a:r>
          </a:p>
          <a:p>
            <a:r>
              <a:rPr lang="en-MY" dirty="0"/>
              <a:t>Apakah pertimbangan utama dalam pemilihan bahan bagi kemudahan awam seperti tandas dan surau di taman?</a:t>
            </a:r>
          </a:p>
          <a:p>
            <a:r>
              <a:rPr lang="en-MY" dirty="0"/>
              <a:t>   A. Bahan yang tahan vandalisme dan cuaca</a:t>
            </a:r>
          </a:p>
          <a:p>
            <a:r>
              <a:rPr lang="en-MY" dirty="0"/>
              <a:t>   B. Bahan yang paling murah di pasaran</a:t>
            </a:r>
          </a:p>
          <a:p>
            <a:r>
              <a:rPr lang="en-MY" dirty="0"/>
              <a:t>   C. Bahan yang perlu dicat semula setiap bulan</a:t>
            </a:r>
          </a:p>
          <a:p>
            <a:r>
              <a:rPr lang="en-MY" dirty="0"/>
              <a:t>   D. Bahan yang seragam dengan perabot taman</a:t>
            </a:r>
          </a:p>
          <a:p>
            <a:r>
              <a:rPr lang="en-MY" dirty="0"/>
              <a:t>Jawapan betul: A</a:t>
            </a:r>
          </a:p>
          <a:p>
            <a:r>
              <a:rPr lang="en-MY" dirty="0"/>
              <a:t>Maklum balas betul: Betul. Kemudahan awam memerlukan bahan yang tahan vandalisme dan cuaca, serta mudah diselenggara.</a:t>
            </a:r>
          </a:p>
          <a:p>
            <a:r>
              <a:rPr lang="en-MY" dirty="0"/>
              <a:t>Maklum balas salah: Belum tepat. Rujuk semula Kemudahan Awam — ketahanan terhadap vandalisme dan cuaca adalah pertimbangan utama.</a:t>
            </a:r>
          </a:p>
          <a:p>
            <a:endParaRPr lang="en-MY" dirty="0"/>
          </a:p>
          <a:p>
            <a:r>
              <a:rPr lang="en-MY" dirty="0"/>
              <a:t>Soalan 4 — MCQ (sumber: modul ms 241)</a:t>
            </a:r>
          </a:p>
          <a:p>
            <a:r>
              <a:rPr lang="en-MY" dirty="0"/>
              <a:t>Dalam pembinaan water feature, apakah aspek kawalan kualiti air yang dinyatakan dalam modul?</a:t>
            </a:r>
          </a:p>
          <a:p>
            <a:r>
              <a:rPr lang="en-MY" dirty="0"/>
              <a:t>   A. Penambahan garam</a:t>
            </a:r>
          </a:p>
          <a:p>
            <a:r>
              <a:rPr lang="en-MY" dirty="0"/>
              <a:t>   B. Pencegahan alga</a:t>
            </a:r>
          </a:p>
          <a:p>
            <a:r>
              <a:rPr lang="en-MY" dirty="0"/>
              <a:t>   C. Pemanasan air</a:t>
            </a:r>
          </a:p>
          <a:p>
            <a:r>
              <a:rPr lang="en-MY" dirty="0"/>
              <a:t>   D. Pewarnaan air</a:t>
            </a:r>
          </a:p>
          <a:p>
            <a:r>
              <a:rPr lang="en-MY" dirty="0"/>
              <a:t>Jawapan betul: B</a:t>
            </a:r>
          </a:p>
          <a:p>
            <a:r>
              <a:rPr lang="en-MY" dirty="0"/>
              <a:t>Maklum balas betul: Betul. Kawalan kualiti air termasuk pencegahan alga.</a:t>
            </a:r>
          </a:p>
          <a:p>
            <a:r>
              <a:rPr lang="en-MY" dirty="0"/>
              <a:t>Maklum balas salah: Belum tepat. Pencegahan alga adalah sebahagian daripada kawalan kualiti air bagi water feature.</a:t>
            </a:r>
          </a:p>
          <a:p>
            <a:endParaRPr lang="en-MY" dirty="0"/>
          </a:p>
          <a:p>
            <a:r>
              <a:rPr lang="en-MY" dirty="0"/>
              <a:t>Soalan 5 — MULTIPLE RESPONSE (sumber: modul ms 242–249)</a:t>
            </a:r>
          </a:p>
          <a:p>
            <a:r>
              <a:rPr lang="en-MY" dirty="0"/>
              <a:t>Pilih SEMUA komponen yang tergolong dalam Perabot Taman.</a:t>
            </a:r>
          </a:p>
          <a:p>
            <a:r>
              <a:rPr lang="en-MY" dirty="0"/>
              <a:t>   A. Kerusi Taman</a:t>
            </a:r>
          </a:p>
          <a:p>
            <a:r>
              <a:rPr lang="en-MY" dirty="0"/>
              <a:t>   B. Papan Tanda</a:t>
            </a:r>
          </a:p>
          <a:p>
            <a:r>
              <a:rPr lang="en-MY" dirty="0"/>
              <a:t>   C. Boardwalk</a:t>
            </a:r>
          </a:p>
          <a:p>
            <a:r>
              <a:rPr lang="en-MY" dirty="0"/>
              <a:t>   D. Tong Sampah</a:t>
            </a:r>
          </a:p>
          <a:p>
            <a:r>
              <a:rPr lang="en-MY" dirty="0"/>
              <a:t>   E. Drinking Fountain</a:t>
            </a:r>
          </a:p>
          <a:p>
            <a:r>
              <a:rPr lang="en-MY" dirty="0"/>
              <a:t>   F. BBQ Pit</a:t>
            </a:r>
          </a:p>
          <a:p>
            <a:r>
              <a:rPr lang="en-MY" dirty="0"/>
              <a:t>   G. Gazebo</a:t>
            </a:r>
          </a:p>
          <a:p>
            <a:r>
              <a:rPr lang="en-MY" dirty="0"/>
              <a:t>Jawapan betul: A, B, D, E, F</a:t>
            </a:r>
          </a:p>
          <a:p>
            <a:r>
              <a:rPr lang="en-MY" dirty="0"/>
              <a:t>Maklum balas betul: Betul. Perabot taman merangkumi Kerusi Taman, Papan Tanda, Tong Sampah, Drinking Fountain dan BBQ Pit.</a:t>
            </a:r>
          </a:p>
          <a:p>
            <a:r>
              <a:rPr lang="en-MY" dirty="0"/>
              <a:t>Maklum balas salah: Belum tepat. Boardwalk ialah struktur persisir air dan Gazebo ialah struktur teduhan — kedua-duanya struktur taman, bukan perabot taman.</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Anda telah melengkapkan Topik tiga Bahagian dua, Komponen Landskap. Struktur taman dan perabot taman telah diteroka sepenuhnya.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3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3B2182B-4038-41C3-019B-38E13D6A2C11}"/>
              </a:ext>
            </a:extLst>
          </p:cNvPr>
          <p:cNvSpPr>
            <a:spLocks noGrp="1"/>
          </p:cNvSpPr>
          <p:nvPr>
            <p:ph type="pic" sz="quarter" idx="10"/>
          </p:nvPr>
        </p:nvSpPr>
        <p:spPr>
          <a:xfrm>
            <a:off x="4818997" y="591208"/>
            <a:ext cx="8787275" cy="5675584"/>
          </a:xfrm>
          <a:custGeom>
            <a:avLst/>
            <a:gdLst>
              <a:gd name="connsiteX0" fmla="*/ 0 w 8787275"/>
              <a:gd name="connsiteY0" fmla="*/ 0 h 5675584"/>
              <a:gd name="connsiteX1" fmla="*/ 8787275 w 8787275"/>
              <a:gd name="connsiteY1" fmla="*/ 0 h 5675584"/>
              <a:gd name="connsiteX2" fmla="*/ 8787275 w 8787275"/>
              <a:gd name="connsiteY2" fmla="*/ 5675584 h 5675584"/>
              <a:gd name="connsiteX3" fmla="*/ 0 w 8787275"/>
              <a:gd name="connsiteY3" fmla="*/ 5675584 h 5675584"/>
            </a:gdLst>
            <a:ahLst/>
            <a:cxnLst>
              <a:cxn ang="0">
                <a:pos x="connsiteX0" y="connsiteY0"/>
              </a:cxn>
              <a:cxn ang="0">
                <a:pos x="connsiteX1" y="connsiteY1"/>
              </a:cxn>
              <a:cxn ang="0">
                <a:pos x="connsiteX2" y="connsiteY2"/>
              </a:cxn>
              <a:cxn ang="0">
                <a:pos x="connsiteX3" y="connsiteY3"/>
              </a:cxn>
            </a:cxnLst>
            <a:rect l="l" t="t" r="r" b="b"/>
            <a:pathLst>
              <a:path w="8787275" h="5675584">
                <a:moveTo>
                  <a:pt x="0" y="0"/>
                </a:moveTo>
                <a:lnTo>
                  <a:pt x="8787275" y="0"/>
                </a:lnTo>
                <a:lnTo>
                  <a:pt x="8787275" y="5675584"/>
                </a:lnTo>
                <a:lnTo>
                  <a:pt x="0" y="5675584"/>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9657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35" presetClass="path" presetSubtype="0" repeatCount="indefinite" autoRev="1" fill="hold" grpId="1" nodeType="withEffect">
                                  <p:stCondLst>
                                    <p:cond delay="16500"/>
                                  </p:stCondLst>
                                  <p:childTnLst>
                                    <p:animMotion origin="layout" path="M 1.04167E-6 0 L -0.06172 0 " pathEditMode="relative" rAng="0" ptsTypes="AA">
                                      <p:cBhvr>
                                        <p:cTn id="10" dur="20000" fill="hold"/>
                                        <p:tgtEl>
                                          <p:spTgt spid="4"/>
                                        </p:tgtEl>
                                        <p:attrNameLst>
                                          <p:attrName>ppt_x</p:attrName>
                                          <p:attrName>ppt_y</p:attrName>
                                        </p:attrNameLst>
                                      </p:cBhvr>
                                      <p:rCtr x="-308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33088B3-81DD-FB17-13BE-90F7249765F2}"/>
              </a:ext>
            </a:extLst>
          </p:cNvPr>
          <p:cNvSpPr>
            <a:spLocks noGrp="1"/>
          </p:cNvSpPr>
          <p:nvPr>
            <p:ph type="pic" sz="quarter" idx="11"/>
          </p:nvPr>
        </p:nvSpPr>
        <p:spPr>
          <a:xfrm>
            <a:off x="3748903" y="3428997"/>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325C6063-1B18-34DC-B266-32D60EBB74E3}"/>
              </a:ext>
            </a:extLst>
          </p:cNvPr>
          <p:cNvSpPr>
            <a:spLocks noGrp="1"/>
          </p:cNvSpPr>
          <p:nvPr>
            <p:ph type="pic" sz="quarter" idx="10"/>
          </p:nvPr>
        </p:nvSpPr>
        <p:spPr>
          <a:xfrm>
            <a:off x="605120" y="-1"/>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1501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97700D-0768-84DB-CFE2-F86F2CE2011F}"/>
              </a:ext>
            </a:extLst>
          </p:cNvPr>
          <p:cNvSpPr>
            <a:spLocks noGrp="1"/>
          </p:cNvSpPr>
          <p:nvPr>
            <p:ph type="pic" sz="quarter" idx="11"/>
          </p:nvPr>
        </p:nvSpPr>
        <p:spPr>
          <a:xfrm>
            <a:off x="8666206" y="3429000"/>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4">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91546D6E-F5E7-12C9-9BA0-07418A64A194}"/>
              </a:ext>
            </a:extLst>
          </p:cNvPr>
          <p:cNvSpPr>
            <a:spLocks noGrp="1"/>
          </p:cNvSpPr>
          <p:nvPr>
            <p:ph type="pic" sz="quarter" idx="10"/>
          </p:nvPr>
        </p:nvSpPr>
        <p:spPr>
          <a:xfrm>
            <a:off x="8666206" y="868162"/>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99109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17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1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23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182" lvl="0" indent="-342886" algn="l">
              <a:lnSpc>
                <a:spcPct val="90000"/>
              </a:lnSpc>
              <a:spcBef>
                <a:spcPts val="1000"/>
              </a:spcBef>
              <a:spcAft>
                <a:spcPts val="0"/>
              </a:spcAft>
              <a:buClr>
                <a:schemeClr val="dk1"/>
              </a:buClr>
              <a:buSzPts val="1800"/>
              <a:buChar char="•"/>
              <a:defRPr/>
            </a:lvl1pPr>
            <a:lvl2pPr marL="914363" lvl="1" indent="-342886" algn="l">
              <a:lnSpc>
                <a:spcPct val="90000"/>
              </a:lnSpc>
              <a:spcBef>
                <a:spcPts val="500"/>
              </a:spcBef>
              <a:spcAft>
                <a:spcPts val="0"/>
              </a:spcAft>
              <a:buClr>
                <a:schemeClr val="dk1"/>
              </a:buClr>
              <a:buSzPts val="1800"/>
              <a:buChar char="•"/>
              <a:defRPr/>
            </a:lvl2pPr>
            <a:lvl3pPr marL="1371545" lvl="2" indent="-342886" algn="l">
              <a:lnSpc>
                <a:spcPct val="90000"/>
              </a:lnSpc>
              <a:spcBef>
                <a:spcPts val="500"/>
              </a:spcBef>
              <a:spcAft>
                <a:spcPts val="0"/>
              </a:spcAft>
              <a:buClr>
                <a:schemeClr val="dk1"/>
              </a:buClr>
              <a:buSzPts val="1800"/>
              <a:buChar char="•"/>
              <a:defRPr/>
            </a:lvl3pPr>
            <a:lvl4pPr marL="1828727" lvl="3" indent="-342886" algn="l">
              <a:lnSpc>
                <a:spcPct val="90000"/>
              </a:lnSpc>
              <a:spcBef>
                <a:spcPts val="500"/>
              </a:spcBef>
              <a:spcAft>
                <a:spcPts val="0"/>
              </a:spcAft>
              <a:buClr>
                <a:schemeClr val="dk1"/>
              </a:buClr>
              <a:buSzPts val="1800"/>
              <a:buChar char="•"/>
              <a:defRPr/>
            </a:lvl4pPr>
            <a:lvl5pPr marL="2285909" lvl="4" indent="-342886" algn="l">
              <a:lnSpc>
                <a:spcPct val="90000"/>
              </a:lnSpc>
              <a:spcBef>
                <a:spcPts val="500"/>
              </a:spcBef>
              <a:spcAft>
                <a:spcPts val="0"/>
              </a:spcAft>
              <a:buClr>
                <a:schemeClr val="dk1"/>
              </a:buClr>
              <a:buSzPts val="1800"/>
              <a:buChar char="•"/>
              <a:defRPr/>
            </a:lvl5pPr>
            <a:lvl6pPr marL="2743090" lvl="5" indent="-342886" algn="l">
              <a:lnSpc>
                <a:spcPct val="90000"/>
              </a:lnSpc>
              <a:spcBef>
                <a:spcPts val="500"/>
              </a:spcBef>
              <a:spcAft>
                <a:spcPts val="0"/>
              </a:spcAft>
              <a:buClr>
                <a:schemeClr val="dk1"/>
              </a:buClr>
              <a:buSzPts val="1800"/>
              <a:buChar char="•"/>
              <a:defRPr/>
            </a:lvl6pPr>
            <a:lvl7pPr marL="3200272" lvl="6" indent="-342886" algn="l">
              <a:lnSpc>
                <a:spcPct val="90000"/>
              </a:lnSpc>
              <a:spcBef>
                <a:spcPts val="500"/>
              </a:spcBef>
              <a:spcAft>
                <a:spcPts val="0"/>
              </a:spcAft>
              <a:buClr>
                <a:schemeClr val="dk1"/>
              </a:buClr>
              <a:buSzPts val="1800"/>
              <a:buChar char="•"/>
              <a:defRPr/>
            </a:lvl7pPr>
            <a:lvl8pPr marL="3657454" lvl="7" indent="-342886" algn="l">
              <a:lnSpc>
                <a:spcPct val="90000"/>
              </a:lnSpc>
              <a:spcBef>
                <a:spcPts val="500"/>
              </a:spcBef>
              <a:spcAft>
                <a:spcPts val="0"/>
              </a:spcAft>
              <a:buClr>
                <a:schemeClr val="dk1"/>
              </a:buClr>
              <a:buSzPts val="1800"/>
              <a:buChar char="•"/>
              <a:defRPr/>
            </a:lvl8pPr>
            <a:lvl9pPr marL="4114635" lvl="8" indent="-342886" algn="l">
              <a:lnSpc>
                <a:spcPct val="90000"/>
              </a:lnSpc>
              <a:spcBef>
                <a:spcPts val="500"/>
              </a:spcBef>
              <a:spcAft>
                <a:spcPts val="0"/>
              </a:spcAft>
              <a:buClr>
                <a:schemeClr val="dk1"/>
              </a:buClr>
              <a:buSzPts val="1800"/>
              <a:buChar char="•"/>
              <a:defRPr/>
            </a:lvl9pPr>
          </a:lstStyle>
          <a:p>
            <a:endParaRPr/>
          </a:p>
        </p:txBody>
      </p:sp>
      <p:sp>
        <p:nvSpPr>
          <p:cNvPr id="18" name="Google Shape;18;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MY" smtClean="0"/>
              <a:pPr/>
              <a:t>‹#›</a:t>
            </a:fld>
            <a:endParaRPr lang="en-MY"/>
          </a:p>
        </p:txBody>
      </p:sp>
    </p:spTree>
    <p:extLst>
      <p:ext uri="{BB962C8B-B14F-4D97-AF65-F5344CB8AC3E}">
        <p14:creationId xmlns:p14="http://schemas.microsoft.com/office/powerpoint/2010/main" val="11459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8F1E2742-D414-F4F1-C791-24DC8FA6BC89}"/>
              </a:ext>
            </a:extLst>
          </p:cNvPr>
          <p:cNvSpPr>
            <a:spLocks noGrp="1"/>
          </p:cNvSpPr>
          <p:nvPr>
            <p:ph type="title"/>
          </p:nvPr>
        </p:nvSpPr>
        <p:spPr>
          <a:xfrm>
            <a:off x="1" y="-622575"/>
            <a:ext cx="11125200" cy="463985"/>
          </a:xfrm>
          <a:prstGeom prst="rect">
            <a:avLst/>
          </a:prstGeom>
        </p:spPr>
        <p:txBody>
          <a:bodyPr vert="horz" lIns="0" tIns="0" rIns="0" bIns="0" rtlCol="0" anchor="ctr" anchorCtr="0">
            <a:noAutofit/>
          </a:bodyPr>
          <a:lstStyle>
            <a:lvl1pPr>
              <a:defRPr sz="16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20541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A2C1-868B-E048-BC42-05B15F482131}"/>
              </a:ext>
            </a:extLst>
          </p:cNvPr>
          <p:cNvSpPr>
            <a:spLocks noGrp="1"/>
          </p:cNvSpPr>
          <p:nvPr>
            <p:ph type="title"/>
          </p:nvPr>
        </p:nvSpPr>
        <p:spPr>
          <a:xfrm>
            <a:off x="533400" y="419099"/>
            <a:ext cx="11125200" cy="463985"/>
          </a:xfrm>
          <a:prstGeom prst="rect">
            <a:avLst/>
          </a:prstGeom>
        </p:spPr>
        <p:txBody>
          <a:bodyPr vert="horz" lIns="0" tIns="0" rIns="0" bIns="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2E175A4-F8EA-2E4A-A9FC-8E6DA130CB25}"/>
              </a:ext>
            </a:extLst>
          </p:cNvPr>
          <p:cNvSpPr>
            <a:spLocks noGrp="1"/>
          </p:cNvSpPr>
          <p:nvPr>
            <p:ph type="body" idx="1"/>
          </p:nvPr>
        </p:nvSpPr>
        <p:spPr>
          <a:xfrm>
            <a:off x="533400" y="1460500"/>
            <a:ext cx="11125200" cy="43513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FFFA472-F704-9D4A-AE43-BF8DA1CC6404}"/>
              </a:ext>
            </a:extLst>
          </p:cNvPr>
          <p:cNvSpPr>
            <a:spLocks noGrp="1"/>
          </p:cNvSpPr>
          <p:nvPr>
            <p:ph type="dt" sz="half" idx="2"/>
          </p:nvPr>
        </p:nvSpPr>
        <p:spPr>
          <a:xfrm>
            <a:off x="9896606" y="6445229"/>
            <a:ext cx="756781" cy="187367"/>
          </a:xfrm>
          <a:prstGeom prst="rect">
            <a:avLst/>
          </a:prstGeom>
        </p:spPr>
        <p:txBody>
          <a:bodyPr vert="horz" lIns="0" tIns="0" rIns="0" bIns="0" rtlCol="0" anchor="ctr"/>
          <a:lstStyle>
            <a:lvl1pPr algn="ctr">
              <a:defRPr sz="1000">
                <a:solidFill>
                  <a:schemeClr val="bg1">
                    <a:lumMod val="50000"/>
                  </a:schemeClr>
                </a:solidFill>
              </a:defRPr>
            </a:lvl1pPr>
          </a:lstStyle>
          <a:p>
            <a:fld id="{B2896C5E-20F6-5143-9F77-A8D16BC84A78}" type="datetimeFigureOut">
              <a:rPr lang="en-US" smtClean="0"/>
              <a:pPr/>
              <a:t>7/26/2026</a:t>
            </a:fld>
            <a:endParaRPr lang="en-US" dirty="0"/>
          </a:p>
        </p:txBody>
      </p:sp>
      <p:sp>
        <p:nvSpPr>
          <p:cNvPr id="5" name="Footer Placeholder 4">
            <a:extLst>
              <a:ext uri="{FF2B5EF4-FFF2-40B4-BE49-F238E27FC236}">
                <a16:creationId xmlns:a16="http://schemas.microsoft.com/office/drawing/2014/main" id="{F537EDD9-B49B-1342-9401-0E870BD269D0}"/>
              </a:ext>
            </a:extLst>
          </p:cNvPr>
          <p:cNvSpPr>
            <a:spLocks noGrp="1"/>
          </p:cNvSpPr>
          <p:nvPr>
            <p:ph type="ftr" sz="quarter" idx="3"/>
          </p:nvPr>
        </p:nvSpPr>
        <p:spPr>
          <a:xfrm>
            <a:off x="533399" y="6445229"/>
            <a:ext cx="9237947" cy="187367"/>
          </a:xfrm>
          <a:prstGeom prst="rect">
            <a:avLst/>
          </a:prstGeom>
        </p:spPr>
        <p:txBody>
          <a:bodyPr vert="horz" lIns="0" tIns="0" rIns="0" bIns="0" rtlCol="0" anchor="ctr"/>
          <a:lstStyle>
            <a:lvl1pPr algn="l">
              <a:defRPr sz="10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id="{A80051E2-0E41-A34C-8D98-2FD15D190DD1}"/>
              </a:ext>
            </a:extLst>
          </p:cNvPr>
          <p:cNvSpPr>
            <a:spLocks noGrp="1"/>
          </p:cNvSpPr>
          <p:nvPr>
            <p:ph type="sldNum" sz="quarter" idx="4"/>
          </p:nvPr>
        </p:nvSpPr>
        <p:spPr>
          <a:xfrm>
            <a:off x="10778646" y="6445229"/>
            <a:ext cx="879953" cy="187367"/>
          </a:xfrm>
          <a:prstGeom prst="rect">
            <a:avLst/>
          </a:prstGeom>
        </p:spPr>
        <p:txBody>
          <a:bodyPr vert="horz" lIns="0" tIns="0" rIns="0" bIns="0" rtlCol="0" anchor="ctr"/>
          <a:lstStyle>
            <a:lvl1pPr algn="r">
              <a:defRPr sz="1000">
                <a:solidFill>
                  <a:schemeClr val="bg1">
                    <a:lumMod val="50000"/>
                  </a:schemeClr>
                </a:solidFill>
              </a:defRPr>
            </a:lvl1pPr>
          </a:lstStyle>
          <a:p>
            <a:fld id="{914EC2E2-0820-654D-85EB-EBA0A2E7E8B4}" type="slidenum">
              <a:rPr lang="en-US" smtClean="0"/>
              <a:pPr/>
              <a:t>‹#›</a:t>
            </a:fld>
            <a:endParaRPr lang="en-US"/>
          </a:p>
        </p:txBody>
      </p:sp>
    </p:spTree>
    <p:extLst>
      <p:ext uri="{BB962C8B-B14F-4D97-AF65-F5344CB8AC3E}">
        <p14:creationId xmlns:p14="http://schemas.microsoft.com/office/powerpoint/2010/main" val="391422578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 id="2147483663" r:id="rId4"/>
    <p:sldLayoutId id="2147483666" r:id="rId5"/>
    <p:sldLayoutId id="2147483687" r:id="rId6"/>
    <p:sldLayoutId id="2147483703" r:id="rId7"/>
  </p:sldLayoutIdLst>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56" userDrawn="1">
          <p15:clr>
            <a:srgbClr val="F26B43"/>
          </p15:clr>
        </p15:guide>
        <p15:guide id="3" pos="7224" userDrawn="1">
          <p15:clr>
            <a:srgbClr val="F26B43"/>
          </p15:clr>
        </p15:guide>
        <p15:guide id="4" orient="horz" pos="26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Komponen Landskap</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Komponen Landskap</a:t>
            </a:r>
          </a:p>
        </p:txBody>
      </p:sp>
      <p:sp>
        <p:nvSpPr>
          <p:cNvPr id="20" name="Course"/>
          <p:cNvSpPr txBox="1"/>
          <p:nvPr/>
        </p:nvSpPr>
        <p:spPr>
          <a:xfrm>
            <a:off x="723930" y="2103120"/>
            <a:ext cx="10744200" cy="548640"/>
          </a:xfrm>
          <a:prstGeom prst="rect">
            <a:avLst/>
          </a:prstGeom>
          <a:noFill/>
        </p:spPr>
        <p:txBody>
          <a:bodyPr wrap="square">
            <a:noAutofit/>
          </a:bodyPr>
          <a:lstStyle/>
          <a:p>
            <a:pPr algn="ctr"/>
            <a:r>
              <a:rPr lang="en-MY" sz="2600" b="1" dirty="0">
                <a:solidFill>
                  <a:schemeClr val="tx1">
                    <a:lumMod val="85000"/>
                    <a:lumOff val="15000"/>
                  </a:schemeClr>
                </a:solidFill>
              </a:rPr>
              <a:t>PL06: Pengurusan Operasi Pembinaan Landskap</a:t>
            </a:r>
          </a:p>
        </p:txBody>
      </p:sp>
      <p:sp>
        <p:nvSpPr>
          <p:cNvPr id="21" name="Topic"/>
          <p:cNvSpPr txBox="1"/>
          <p:nvPr/>
        </p:nvSpPr>
        <p:spPr>
          <a:xfrm>
            <a:off x="723930" y="2788920"/>
            <a:ext cx="10744200" cy="457200"/>
          </a:xfrm>
          <a:prstGeom prst="rect">
            <a:avLst/>
          </a:prstGeom>
          <a:noFill/>
        </p:spPr>
        <p:txBody>
          <a:bodyPr wrap="square">
            <a:noAutofit/>
          </a:bodyPr>
          <a:lstStyle/>
          <a:p>
            <a:pPr algn="ctr"/>
            <a:r>
              <a:rPr lang="en-MY" sz="2000" dirty="0">
                <a:solidFill>
                  <a:schemeClr val="tx1">
                    <a:lumMod val="85000"/>
                    <a:lumOff val="15000"/>
                  </a:schemeClr>
                </a:solidFill>
              </a:rPr>
              <a:t>Topik 3 Bahagian 2: Komponen Landskap</a:t>
            </a:r>
          </a:p>
        </p:txBody>
      </p:sp>
      <p:sp>
        <p:nvSpPr>
          <p:cNvPr id="22" name="Rectangle 9"/>
          <p:cNvSpPr/>
          <p:nvPr/>
        </p:nvSpPr>
        <p:spPr>
          <a:xfrm>
            <a:off x="723930" y="3611880"/>
            <a:ext cx="10744200" cy="118872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SPESIFIKASI SAHAJA</a:t>
            </a:r>
          </a:p>
          <a:p>
            <a:r>
              <a:rPr lang="en-MY" sz="1200" dirty="0">
                <a:solidFill>
                  <a:schemeClr val="tx1">
                    <a:lumMod val="85000"/>
                    <a:lumOff val="15000"/>
                  </a:schemeClr>
                </a:solidFill>
              </a:rPr>
              <a:t>[Visual: Imej pembuka bahagian — foto tapak landskap siap yang memaparkan</a:t>
            </a:r>
          </a:p>
          <a:p>
            <a:r>
              <a:rPr lang="en-MY" sz="1200" dirty="0">
                <a:solidFill>
                  <a:schemeClr val="tx1">
                    <a:lumMod val="85000"/>
                    <a:lumOff val="15000"/>
                  </a:schemeClr>
                </a:solidFill>
              </a:rPr>
              <a:t>struktur taman dan perabot taman dalam satu bingkai. Tidak dibenamkan.]</a:t>
            </a:r>
          </a:p>
        </p:txBody>
      </p:sp>
      <p:sp>
        <p:nvSpPr>
          <p:cNvPr id="24" name="Btn"/>
          <p:cNvSpPr txBox="1"/>
          <p:nvPr/>
        </p:nvSpPr>
        <p:spPr>
          <a:xfrm>
            <a:off x="4998705" y="5257800"/>
            <a:ext cx="2194560" cy="566928"/>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RP-001  (BASE)</a:t>
            </a:r>
          </a:p>
          <a:p>
            <a:r>
              <a:rPr lang="en-MY" sz="900" b="1" dirty="0">
                <a:solidFill>
                  <a:schemeClr val="tx1">
                    <a:lumMod val="85000"/>
                    <a:lumOff val="15000"/>
                  </a:schemeClr>
                </a:solidFill>
              </a:rPr>
              <a:t>PHYSICAL LEARNER SCREEN: S01  [FRAME]</a:t>
            </a:r>
          </a:p>
          <a:p>
            <a:r>
              <a:rPr lang="en-MY" sz="900" dirty="0">
                <a:solidFill>
                  <a:schemeClr val="tx1">
                    <a:lumMod val="85000"/>
                    <a:lumOff val="15000"/>
                  </a:schemeClr>
                </a:solidFill>
              </a:rPr>
              <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Butang MULA. Tiada auto-advance.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MULA -&gt; S02.</a:t>
            </a:r>
          </a:p>
          <a:p>
            <a:r>
              <a:rPr lang="en-MY" sz="900" b="1" dirty="0">
                <a:solidFill>
                  <a:schemeClr val="tx1">
                    <a:lumMod val="85000"/>
                    <a:lumOff val="15000"/>
                  </a:schemeClr>
                </a:solidFill>
              </a:rPr>
              <a:t>SUMBER:</a:t>
            </a:r>
          </a:p>
          <a:p>
            <a:r>
              <a:rPr lang="en-MY" sz="900" dirty="0">
                <a:solidFill>
                  <a:schemeClr val="tx1">
                    <a:lumMod val="85000"/>
                    <a:lumOff val="15000"/>
                  </a:schemeClr>
                </a:solidFill>
              </a:rPr>
              <a:t>  Rentetan kursus/topik disahkan. Tiada halaman modul khusus.</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PL satu, bukan PL kosong satu, dan seterusnya.</a:t>
            </a:r>
          </a:p>
          <a:p>
            <a:r>
              <a:rPr lang="en-MY" sz="900" dirty="0">
                <a:solidFill>
                  <a:schemeClr val="tx1">
                    <a:lumMod val="85000"/>
                    <a:lumOff val="15000"/>
                  </a:schemeClr>
                </a:solidFill>
              </a:rPr>
              <a:t>  Tiada aset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PENDING_FINAL_BARIAH_CONFIRMATION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 / Komponen Landskap</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 / Komponen Landskap</a:t>
            </a:r>
          </a:p>
        </p:txBody>
      </p:sp>
      <p:sp>
        <p:nvSpPr>
          <p:cNvPr id="19" name="Rectangle 9"/>
          <p:cNvSpPr/>
          <p:nvPr/>
        </p:nvSpPr>
        <p:spPr>
          <a:xfrm>
            <a:off x="723930" y="1325880"/>
            <a:ext cx="10744200" cy="96012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SPESIFIKASI SAHAJA</a:t>
            </a:r>
          </a:p>
          <a:p>
            <a:r>
              <a:rPr lang="en-MY" sz="1200" dirty="0">
                <a:solidFill>
                  <a:schemeClr val="tx1">
                    <a:lumMod val="85000"/>
                    <a:lumOff val="15000"/>
                  </a:schemeClr>
                </a:solidFill>
              </a:rPr>
              <a:t>[Visual: Latar tapak landskap dalam pembinaan. Dua watak neutral peranan</a:t>
            </a:r>
          </a:p>
          <a:p>
            <a:r>
              <a:rPr lang="en-MY" sz="1200" dirty="0">
                <a:solidFill>
                  <a:schemeClr val="tx1">
                    <a:lumMod val="85000"/>
                    <a:lumOff val="15000"/>
                  </a:schemeClr>
                </a:solidFill>
              </a:rPr>
              <a:t>berdiri di kawasan yang sudah ditanam, struktur taman di latar belakang.]</a:t>
            </a:r>
          </a:p>
        </p:txBody>
      </p:sp>
      <p:sp>
        <p:nvSpPr>
          <p:cNvPr id="30" name="Char"/>
          <p:cNvSpPr txBox="1"/>
          <p:nvPr/>
        </p:nvSpPr>
        <p:spPr>
          <a:xfrm>
            <a:off x="723930" y="2606040"/>
            <a:ext cx="5097780" cy="1691640"/>
          </a:xfrm>
          <a:prstGeom prst="rect">
            <a:avLst/>
          </a:prstGeom>
          <a:solidFill>
            <a:srgbClr val="F2F2F2"/>
          </a:solidFill>
          <a:ln w="12700">
            <a:solidFill>
              <a:srgbClr val="404040"/>
            </a:solidFill>
          </a:ln>
        </p:spPr>
        <p:txBody>
          <a:bodyPr wrap="square" anchor="ctr">
            <a:noAutofit/>
          </a:bodyPr>
          <a:lstStyle/>
          <a:p>
            <a:pPr algn="ctr"/>
            <a:r>
              <a:rPr lang="en-MY" sz="1800" b="1" dirty="0">
                <a:solidFill>
                  <a:schemeClr val="tx1">
                    <a:lumMod val="85000"/>
                    <a:lumOff val="15000"/>
                  </a:schemeClr>
                </a:solidFill>
              </a:rPr>
              <a:t/>
            </a:r>
          </a:p>
          <a:p>
            <a:pPr algn="ctr"/>
            <a:r>
              <a:rPr lang="en-MY" sz="1800" b="1" dirty="0">
                <a:solidFill>
                  <a:schemeClr val="tx1">
                    <a:lumMod val="85000"/>
                    <a:lumOff val="15000"/>
                  </a:schemeClr>
                </a:solidFill>
              </a:rPr>
              <a:t>PELATIH</a:t>
            </a:r>
          </a:p>
        </p:txBody>
      </p:sp>
      <p:sp>
        <p:nvSpPr>
          <p:cNvPr id="31" name="Char"/>
          <p:cNvSpPr txBox="1"/>
          <p:nvPr/>
        </p:nvSpPr>
        <p:spPr>
          <a:xfrm>
            <a:off x="6370350" y="2606040"/>
            <a:ext cx="5097780" cy="1691640"/>
          </a:xfrm>
          <a:prstGeom prst="rect">
            <a:avLst/>
          </a:prstGeom>
          <a:solidFill>
            <a:srgbClr val="F2F2F2"/>
          </a:solidFill>
          <a:ln w="12700">
            <a:solidFill>
              <a:srgbClr val="404040"/>
            </a:solidFill>
          </a:ln>
        </p:spPr>
        <p:txBody>
          <a:bodyPr wrap="square" anchor="ctr">
            <a:noAutofit/>
          </a:bodyPr>
          <a:lstStyle/>
          <a:p>
            <a:pPr algn="ctr"/>
            <a:r>
              <a:rPr lang="en-MY" sz="1800" b="1" dirty="0">
                <a:solidFill>
                  <a:schemeClr val="tx1">
                    <a:lumMod val="85000"/>
                    <a:lumOff val="15000"/>
                  </a:schemeClr>
                </a:solidFill>
              </a:rPr>
              <a:t/>
            </a:r>
          </a:p>
          <a:p>
            <a:pPr algn="ctr"/>
            <a:r>
              <a:rPr lang="en-MY" sz="1800" b="1" dirty="0">
                <a:solidFill>
                  <a:schemeClr val="tx1">
                    <a:lumMod val="85000"/>
                    <a:lumOff val="15000"/>
                  </a:schemeClr>
                </a:solidFill>
              </a:rPr>
              <a:t>PENYELIA TAPAK</a:t>
            </a:r>
          </a:p>
        </p:txBody>
      </p:sp>
      <p:sp>
        <p:nvSpPr>
          <p:cNvPr id="40" name="CharNote"/>
          <p:cNvSpPr txBox="1"/>
          <p:nvPr/>
        </p:nvSpPr>
        <p:spPr>
          <a:xfrm>
            <a:off x="723930" y="4526280"/>
            <a:ext cx="10744200" cy="384048"/>
          </a:xfrm>
          <a:prstGeom prst="rect">
            <a:avLst/>
          </a:prstGeom>
          <a:noFill/>
        </p:spPr>
        <p:txBody>
          <a:bodyPr wrap="square">
            <a:noAutofit/>
          </a:bodyPr>
          <a:lstStyle/>
          <a:p>
            <a:pPr algn="ctr"/>
            <a:r>
              <a:rPr lang="en-MY" sz="1300" dirty="0">
                <a:solidFill>
                  <a:srgbClr val="7F6000"/>
                </a:solidFill>
              </a:rPr>
              <a:t>Dialog penuh dimainkan sebagai video watak. Teks dialog berada dalam Notes.</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RP-002  (BASE)</a:t>
            </a:r>
          </a:p>
          <a:p>
            <a:r>
              <a:rPr lang="en-MY" sz="900" b="1" dirty="0">
                <a:solidFill>
                  <a:schemeClr val="tx1">
                    <a:lumMod val="85000"/>
                    <a:lumOff val="15000"/>
                  </a:schemeClr>
                </a:solidFill>
              </a:rPr>
              <a:t>PHYSICAL LEARNER SCREEN: S02  [FRAME]</a:t>
            </a:r>
          </a:p>
          <a:p>
            <a:r>
              <a:rPr lang="en-MY" sz="900" dirty="0">
                <a:solidFill>
                  <a:schemeClr val="tx1">
                    <a:lumMod val="85000"/>
                    <a:lumOff val="15000"/>
                  </a:schemeClr>
                </a:solidFill>
              </a:rPr>
              <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pengguna. Video watak dimainkan, kemudian auto ke S03.</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S02 -&gt; S03.</a:t>
            </a:r>
          </a:p>
          <a:p>
            <a:r>
              <a:rPr lang="en-MY" sz="900" b="1" dirty="0">
                <a:solidFill>
                  <a:schemeClr val="tx1">
                    <a:lumMod val="85000"/>
                    <a:lumOff val="15000"/>
                  </a:schemeClr>
                </a:solidFill>
              </a:rPr>
              <a:t>SUMBER:</a:t>
            </a:r>
          </a:p>
          <a:p>
            <a:r>
              <a:rPr lang="en-MY" sz="900" dirty="0">
                <a:solidFill>
                  <a:schemeClr val="tx1">
                    <a:lumMod val="85000"/>
                    <a:lumOff val="15000"/>
                  </a:schemeClr>
                </a:solidFill>
              </a:rPr>
              <a:t>  Premis diterbitkan daripada modul ms 237 dan ms 242. Dialog ditulis, bukan petikan.</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Watak NEUTRAL PERANAN. Nama watak belum diluluskan.</a:t>
            </a:r>
          </a:p>
          <a:p>
            <a:r>
              <a:rPr lang="en-MY" sz="900" dirty="0">
                <a:solidFill>
                  <a:schemeClr val="tx1">
                    <a:lumMod val="85000"/>
                    <a:lumOff val="15000"/>
                  </a:schemeClr>
                </a:solidFill>
              </a:rPr>
              <a:t>  Tiada dakwaan MS2680 dibuat pada skrin ini.</a:t>
            </a:r>
          </a:p>
          <a:p>
            <a:r>
              <a:rPr lang="en-MY" sz="900" b="1" dirty="0">
                <a:solidFill>
                  <a:schemeClr val="tx1">
                    <a:lumMod val="85000"/>
                    <a:lumOff val="15000"/>
                  </a:schemeClr>
                </a:solidFill>
              </a:rPr>
              <a:t>STATUS:</a:t>
            </a:r>
          </a:p>
          <a:p>
            <a:r>
              <a:rPr lang="en-MY" sz="900" dirty="0">
                <a:solidFill>
                  <a:schemeClr val="tx1">
                    <a:lumMod val="85000"/>
                    <a:lumOff val="15000"/>
                  </a:schemeClr>
                </a:solidFill>
              </a:rPr>
              <a:t>  PENDING_FINAL_BARIAH_CONFIRMATION — penamaan watak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Gambaran Keseluruhan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Gambaran Keseluruhan</a:t>
            </a:r>
          </a:p>
        </p:txBody>
      </p:sp>
      <p:sp>
        <p:nvSpPr>
          <p:cNvPr id="19" name="Rectangle 9"/>
          <p:cNvSpPr/>
          <p:nvPr/>
        </p:nvSpPr>
        <p:spPr>
          <a:xfrm>
            <a:off x="723930" y="1298448"/>
            <a:ext cx="3977640" cy="210312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Kad narator Hilmi —</a:t>
            </a:r>
          </a:p>
          <a:p>
            <a:r>
              <a:rPr lang="en-MY" sz="1200" dirty="0">
                <a:solidFill>
                  <a:schemeClr val="tx1">
                    <a:lumMod val="85000"/>
                    <a:lumOff val="15000"/>
                  </a:schemeClr>
                </a:solidFill>
              </a:rPr>
              <a:t>potret separuh badan, pakaian</a:t>
            </a:r>
          </a:p>
          <a:p>
            <a:r>
              <a:rPr lang="en-MY" sz="1200" dirty="0">
                <a:solidFill>
                  <a:schemeClr val="tx1">
                    <a:lumMod val="85000"/>
                    <a:lumOff val="15000"/>
                  </a:schemeClr>
                </a:solidFill>
              </a:rPr>
              <a:t>kerja lapangan, latar tapak</a:t>
            </a:r>
          </a:p>
          <a:p>
            <a:r>
              <a:rPr lang="en-MY" sz="1200" dirty="0">
                <a:solidFill>
                  <a:schemeClr val="tx1">
                    <a:lumMod val="85000"/>
                    <a:lumOff val="15000"/>
                  </a:schemeClr>
                </a:solidFill>
              </a:rPr>
              <a:t>landskap kabur.]</a:t>
            </a:r>
          </a:p>
        </p:txBody>
      </p:sp>
      <p:sp>
        <p:nvSpPr>
          <p:cNvPr id="20" name="Narr"/>
          <p:cNvSpPr txBox="1"/>
          <p:nvPr/>
        </p:nvSpPr>
        <p:spPr>
          <a:xfrm>
            <a:off x="4983480" y="1298448"/>
            <a:ext cx="6492240" cy="411480"/>
          </a:xfrm>
          <a:prstGeom prst="rect">
            <a:avLst/>
          </a:prstGeom>
          <a:noFill/>
        </p:spPr>
        <p:txBody>
          <a:bodyPr wrap="square">
            <a:noAutofit/>
          </a:bodyPr>
          <a:lstStyle/>
          <a:p>
            <a:pPr/>
            <a:r>
              <a:rPr lang="en-MY" sz="2400" b="1" dirty="0">
                <a:solidFill>
                  <a:schemeClr val="tx1">
                    <a:lumMod val="85000"/>
                    <a:lumOff val="15000"/>
                  </a:schemeClr>
                </a:solidFill>
              </a:rPr>
              <a:t>Hilmi</a:t>
            </a:r>
          </a:p>
        </p:txBody>
      </p:sp>
      <p:sp>
        <p:nvSpPr>
          <p:cNvPr id="21" name="NarrRole"/>
          <p:cNvSpPr txBox="1"/>
          <p:nvPr/>
        </p:nvSpPr>
        <p:spPr>
          <a:xfrm>
            <a:off x="4983480" y="1783080"/>
            <a:ext cx="6492240" cy="347472"/>
          </a:xfrm>
          <a:prstGeom prst="rect">
            <a:avLst/>
          </a:prstGeom>
          <a:noFill/>
        </p:spPr>
        <p:txBody>
          <a:bodyPr wrap="square">
            <a:noAutofit/>
          </a:bodyPr>
          <a:lstStyle/>
          <a:p>
            <a:pPr/>
            <a:r>
              <a:rPr lang="en-MY" sz="1500" dirty="0">
                <a:solidFill>
                  <a:schemeClr val="tx1">
                    <a:lumMod val="85000"/>
                    <a:lumOff val="15000"/>
                  </a:schemeClr>
                </a:solidFill>
              </a:rPr>
              <a:t>Narator kursus</a:t>
            </a:r>
          </a:p>
        </p:txBody>
      </p:sp>
      <p:sp>
        <p:nvSpPr>
          <p:cNvPr id="22" name="Groups"/>
          <p:cNvSpPr txBox="1"/>
          <p:nvPr/>
        </p:nvSpPr>
        <p:spPr>
          <a:xfrm>
            <a:off x="4983480" y="2240280"/>
            <a:ext cx="6492240" cy="1188720"/>
          </a:xfrm>
          <a:prstGeom prst="rect">
            <a:avLst/>
          </a:prstGeom>
          <a:noFill/>
        </p:spPr>
        <p:txBody>
          <a:bodyPr wrap="square">
            <a:noAutofit/>
          </a:bodyPr>
          <a:lstStyle/>
          <a:p>
            <a:pPr>
              <a:spcBef>
                <a:spcPts val="300"/>
              </a:spcBef>
            </a:pPr>
            <a:r>
              <a:rPr lang="en-MY" sz="1400" dirty="0">
                <a:solidFill>
                  <a:schemeClr val="tx1">
                    <a:lumMod val="85000"/>
                    <a:lumOff val="15000"/>
                  </a:schemeClr>
                </a:solidFill>
              </a:rPr>
              <a:t>Struktur Taman: Struktur Persisir Air, Struktur Teduhan, Kemudahan Awam, Water Feature</a:t>
            </a:r>
          </a:p>
          <a:p>
            <a:pPr>
              <a:spcBef>
                <a:spcPts val="300"/>
              </a:spcBef>
            </a:pPr>
            <a:r>
              <a:rPr lang="en-MY" sz="1400" dirty="0">
                <a:solidFill>
                  <a:schemeClr val="tx1">
                    <a:lumMod val="85000"/>
                    <a:lumOff val="15000"/>
                  </a:schemeClr>
                </a:solidFill>
              </a:rPr>
              <a:t>Perabot Taman: Kerusi Taman, Papan Tanda, Tong Sampah, Drinking Fountain, BBQ Pit</a:t>
            </a:r>
          </a:p>
        </p:txBody>
      </p:sp>
      <p:sp>
        <p:nvSpPr>
          <p:cNvPr id="23" name="Rectangle 9"/>
          <p:cNvSpPr/>
          <p:nvPr/>
        </p:nvSpPr>
        <p:spPr>
          <a:xfrm>
            <a:off x="723930" y="3566160"/>
            <a:ext cx="10744200" cy="141732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MIND MAP (SPESIFIKASI TEKS SAHAJA)</a:t>
            </a:r>
          </a:p>
          <a:p>
            <a:r>
              <a:rPr lang="en-MY" sz="1200" dirty="0">
                <a:solidFill>
                  <a:schemeClr val="tx1">
                    <a:lumMod val="85000"/>
                    <a:lumOff val="15000"/>
                  </a:schemeClr>
                </a:solidFill>
              </a:rPr>
              <a:t>[Visual: Mind Map — nod pusat 'Komponen Landskap' bercabang kepada dua kumpulan. Cabang 1</a:t>
            </a:r>
          </a:p>
          <a:p>
            <a:r>
              <a:rPr lang="en-MY" sz="1200" dirty="0">
                <a:solidFill>
                  <a:schemeClr val="tx1">
                    <a:lumMod val="85000"/>
                    <a:lumOff val="15000"/>
                  </a:schemeClr>
                </a:solidFill>
              </a:rPr>
              <a:t>Struktur Taman: Struktur Persisir Air, Struktur Teduhan, Kemudahan Awam, Water Feature. Cabang 2</a:t>
            </a:r>
          </a:p>
          <a:p>
            <a:r>
              <a:rPr lang="en-MY" sz="1200" dirty="0">
                <a:solidFill>
                  <a:schemeClr val="tx1">
                    <a:lumMod val="85000"/>
                    <a:lumOff val="15000"/>
                  </a:schemeClr>
                </a:solidFill>
              </a:rPr>
              <a:t>Perabot Taman: Kerusi Taman, Papan Tanda, Tong Sampah, Drinking Fountain, BBQ Pit. Spesifikasi</a:t>
            </a:r>
          </a:p>
          <a:p>
            <a:r>
              <a:rPr lang="en-MY" sz="1200" dirty="0">
                <a:solidFill>
                  <a:schemeClr val="tx1">
                    <a:lumMod val="85000"/>
                    <a:lumOff val="15000"/>
                  </a:schemeClr>
                </a:solidFill>
              </a:rPr>
              <a:t>teks sahaja — aset Mind Map TIDAK dihasilkan pada peringkat ini.]</a:t>
            </a:r>
          </a:p>
        </p:txBody>
      </p:sp>
      <p:sp>
        <p:nvSpPr>
          <p:cNvPr id="24" name="Reflect"/>
          <p:cNvSpPr txBox="1"/>
          <p:nvPr/>
        </p:nvSpPr>
        <p:spPr>
          <a:xfrm>
            <a:off x="723930" y="5166360"/>
            <a:ext cx="10744200" cy="685800"/>
          </a:xfrm>
          <a:prstGeom prst="rect">
            <a:avLst/>
          </a:prstGeom>
          <a:noFill/>
        </p:spPr>
        <p:txBody>
          <a:bodyPr wrap="square">
            <a:noAutofit/>
          </a:bodyPr>
          <a:lstStyle/>
          <a:p>
            <a:pPr/>
            <a:r>
              <a:rPr lang="en-MY" sz="1500" b="1" dirty="0">
                <a:solidFill>
                  <a:schemeClr val="tx1">
                    <a:lumMod val="85000"/>
                    <a:lumOff val="15000"/>
                  </a:schemeClr>
                </a:solidFill>
              </a:rPr>
              <a:t>Cuba fikirkan — jika anda perlu memilih bahan untuk sebuah kerusi taman di tepi tasik, bahan manakah yang anda pilih, dan mengapa?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RP-003  (BASE)</a:t>
            </a:r>
          </a:p>
          <a:p>
            <a:r>
              <a:rPr lang="en-MY" sz="900" b="1" dirty="0">
                <a:solidFill>
                  <a:schemeClr val="tx1">
                    <a:lumMod val="85000"/>
                    <a:lumOff val="15000"/>
                  </a:schemeClr>
                </a:solidFill>
              </a:rPr>
              <a:t>PHYSICAL LEARNER SCREEN: S03  [FRAME]</a:t>
            </a:r>
          </a:p>
          <a:p>
            <a:r>
              <a:rPr lang="en-MY" sz="900" dirty="0">
                <a:solidFill>
                  <a:schemeClr val="tx1">
                    <a:lumMod val="85000"/>
                    <a:lumOff val="15000"/>
                  </a:schemeClr>
                </a:solidFill>
              </a:rPr>
              <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pengguna. Auto ke Level 1 selepas VO.</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S03 -&gt; STRUKTUR_TAMAN_MASTER.</a:t>
            </a:r>
          </a:p>
          <a:p>
            <a:r>
              <a:rPr lang="en-MY" sz="900" b="1" dirty="0">
                <a:solidFill>
                  <a:schemeClr val="tx1">
                    <a:lumMod val="85000"/>
                    <a:lumOff val="15000"/>
                  </a:schemeClr>
                </a:solidFill>
              </a:rPr>
              <a:t>SUMBER:</a:t>
            </a:r>
          </a:p>
          <a:p>
            <a:r>
              <a:rPr lang="en-MY" sz="900" dirty="0">
                <a:solidFill>
                  <a:schemeClr val="tx1">
                    <a:lumMod val="85000"/>
                    <a:lumOff val="15000"/>
                  </a:schemeClr>
                </a:solidFill>
              </a:rPr>
              <a:t>  Senarai komponen daripada modul ms 237 dan ms 242.</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Mind Map ialah SPESIFIKASI TEKS. Aset Mind Map TIDAK dihasilkan.</a:t>
            </a:r>
          </a:p>
          <a:p>
            <a:r>
              <a:rPr lang="en-MY" sz="900" dirty="0">
                <a:solidFill>
                  <a:schemeClr val="tx1">
                    <a:lumMod val="85000"/>
                    <a:lumOff val="15000"/>
                  </a:schemeClr>
                </a:solidFill>
              </a:rPr>
              <a:t>  VO S03 sahaja bermula dengan label penutur 'Hilmi:'.</a:t>
            </a:r>
          </a:p>
          <a:p>
            <a:r>
              <a:rPr lang="en-MY" sz="900" b="1" dirty="0">
                <a:solidFill>
                  <a:schemeClr val="tx1">
                    <a:lumMod val="85000"/>
                    <a:lumOff val="15000"/>
                  </a:schemeClr>
                </a:solidFill>
              </a:rPr>
              <a:t>STATUS:</a:t>
            </a:r>
          </a:p>
          <a:p>
            <a:r>
              <a:rPr lang="en-MY" sz="900" dirty="0">
                <a:solidFill>
                  <a:schemeClr val="tx1">
                    <a:lumMod val="85000"/>
                    <a:lumOff val="15000"/>
                  </a:schemeClr>
                </a:solidFill>
              </a:rPr>
              <a:t>  PENDING_FINAL_BARIAH_CONFIRMATION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2174397" y="1051560"/>
            <a:ext cx="7843175" cy="369326"/>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Rectangle 9"/>
          <p:cNvSpPr/>
          <p:nvPr/>
        </p:nvSpPr>
        <p:spPr>
          <a:xfrm>
            <a:off x="2174397" y="1508760"/>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Struktur Persisir Air]</a:t>
            </a:r>
          </a:p>
          <a:p>
            <a:r>
              <a:rPr lang="en-MY" sz="1200" dirty="0">
                <a:solidFill>
                  <a:schemeClr val="tx1">
                    <a:lumMod val="85000"/>
                    <a:lumOff val="15000"/>
                  </a:schemeClr>
                </a:solidFill>
              </a:rPr>
              <a:t>Rajah 23</a:t>
            </a:r>
          </a:p>
          <a:p>
            <a:r>
              <a:rPr lang="en-MY" sz="1200" dirty="0">
                <a:solidFill>
                  <a:schemeClr val="tx1">
                    <a:lumMod val="85000"/>
                    <a:lumOff val="15000"/>
                  </a:schemeClr>
                </a:solidFill>
              </a:rPr>
              <a:t>modul ms 239</a:t>
            </a:r>
          </a:p>
          <a:p>
            <a:r>
              <a:rPr lang="en-MY" sz="1200" dirty="0">
                <a:solidFill>
                  <a:schemeClr val="tx1">
                    <a:lumMod val="85000"/>
                    <a:lumOff val="15000"/>
                  </a:schemeClr>
                </a:solidFill>
              </a:rPr>
              <a:t>Tidak dibenamkan</a:t>
            </a:r>
          </a:p>
        </p:txBody>
      </p:sp>
      <p:sp>
        <p:nvSpPr>
          <p:cNvPr id="41" name="TextBox 3"/>
          <p:cNvSpPr txBox="1"/>
          <p:nvPr/>
        </p:nvSpPr>
        <p:spPr>
          <a:xfrm>
            <a:off x="2318324" y="3345424"/>
            <a:ext cx="3310311" cy="457200"/>
          </a:xfrm>
          <a:prstGeom prst="rect">
            <a:avLst/>
          </a:prstGeom>
          <a:solidFill>
            <a:srgbClr val="DEEAF6"/>
          </a:solidFill>
          <a:ln w="12700">
            <a:solidFill>
              <a:srgbClr val="404040"/>
            </a:solidFill>
          </a:ln>
        </p:spPr>
        <p:txBody>
          <a:bodyPr wrap="square" anchor="ctr">
            <a:noAutofit/>
          </a:bodyPr>
          <a:lstStyle/>
          <a:p>
            <a:pPr algn="ctr"/>
            <a:r>
              <a:rPr lang="en-MY" sz="1800" b="1" dirty="0"/>
              <a:t>Struktur Persisir Air</a:t>
            </a:r>
          </a:p>
        </p:txBody>
      </p:sp>
      <p:sp>
        <p:nvSpPr>
          <p:cNvPr id="42" name="Rectangle 9"/>
          <p:cNvSpPr/>
          <p:nvPr/>
        </p:nvSpPr>
        <p:spPr>
          <a:xfrm>
            <a:off x="6419408" y="1508760"/>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Struktur Teduhan]</a:t>
            </a:r>
          </a:p>
          <a:p>
            <a:r>
              <a:rPr lang="en-MY" sz="1200" dirty="0">
                <a:solidFill>
                  <a:schemeClr val="tx1">
                    <a:lumMod val="85000"/>
                    <a:lumOff val="15000"/>
                  </a:schemeClr>
                </a:solidFill>
              </a:rPr>
              <a:t>Rajah 24</a:t>
            </a:r>
          </a:p>
          <a:p>
            <a:r>
              <a:rPr lang="en-MY" sz="1200" dirty="0">
                <a:solidFill>
                  <a:schemeClr val="tx1">
                    <a:lumMod val="85000"/>
                    <a:lumOff val="15000"/>
                  </a:schemeClr>
                </a:solidFill>
              </a:rPr>
              <a:t>modul ms 240</a:t>
            </a:r>
          </a:p>
          <a:p>
            <a:r>
              <a:rPr lang="en-MY" sz="1200" dirty="0">
                <a:solidFill>
                  <a:schemeClr val="tx1">
                    <a:lumMod val="85000"/>
                    <a:lumOff val="15000"/>
                  </a:schemeClr>
                </a:solidFill>
              </a:rPr>
              <a:t>Tidak dibenamkan</a:t>
            </a:r>
          </a:p>
        </p:txBody>
      </p:sp>
      <p:sp>
        <p:nvSpPr>
          <p:cNvPr id="43" name="TextBox 3"/>
          <p:cNvSpPr txBox="1"/>
          <p:nvPr/>
        </p:nvSpPr>
        <p:spPr>
          <a:xfrm>
            <a:off x="6563335" y="3345424"/>
            <a:ext cx="3310311" cy="457200"/>
          </a:xfrm>
          <a:prstGeom prst="rect">
            <a:avLst/>
          </a:prstGeom>
          <a:solidFill>
            <a:srgbClr val="DEEAF6"/>
          </a:solidFill>
          <a:ln w="12700">
            <a:solidFill>
              <a:srgbClr val="404040"/>
            </a:solidFill>
          </a:ln>
        </p:spPr>
        <p:txBody>
          <a:bodyPr wrap="square" anchor="ctr">
            <a:noAutofit/>
          </a:bodyPr>
          <a:lstStyle/>
          <a:p>
            <a:pPr algn="ctr"/>
            <a:r>
              <a:rPr lang="en-MY" sz="1800" b="1" dirty="0"/>
              <a:t>Struktur Teduhan</a:t>
            </a:r>
          </a:p>
        </p:txBody>
      </p:sp>
      <p:sp>
        <p:nvSpPr>
          <p:cNvPr id="44" name="Rectangle 9"/>
          <p:cNvSpPr/>
          <p:nvPr/>
        </p:nvSpPr>
        <p:spPr>
          <a:xfrm>
            <a:off x="2174397" y="4031224"/>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Kemudahan Awam]</a:t>
            </a:r>
          </a:p>
          <a:p>
            <a:r>
              <a:rPr lang="en-MY" sz="1200" dirty="0">
                <a:solidFill>
                  <a:schemeClr val="tx1">
                    <a:lumMod val="85000"/>
                    <a:lumOff val="15000"/>
                  </a:schemeClr>
                </a:solidFill>
              </a:rPr>
              <a:t>TIADA IMEJ SUMBER</a:t>
            </a:r>
          </a:p>
          <a:p>
            <a:r>
              <a:rPr lang="en-MY" sz="1200" dirty="0">
                <a:solidFill>
                  <a:schemeClr val="tx1">
                    <a:lumMod val="85000"/>
                    <a:lumOff val="15000"/>
                  </a:schemeClr>
                </a:solidFill>
              </a:rPr>
              <a:t>Cadangan rajah native —</a:t>
            </a:r>
          </a:p>
          <a:p>
            <a:r>
              <a:rPr lang="en-MY" sz="1200" dirty="0">
                <a:solidFill>
                  <a:schemeClr val="tx1">
                    <a:lumMod val="85000"/>
                    <a:lumOff val="15000"/>
                  </a:schemeClr>
                </a:solidFill>
              </a:rPr>
              <a:t>lihat panel produksi</a:t>
            </a:r>
          </a:p>
        </p:txBody>
      </p:sp>
      <p:sp>
        <p:nvSpPr>
          <p:cNvPr id="45" name="TextBox 3"/>
          <p:cNvSpPr txBox="1"/>
          <p:nvPr/>
        </p:nvSpPr>
        <p:spPr>
          <a:xfrm>
            <a:off x="2318324" y="5867888"/>
            <a:ext cx="3310311" cy="457200"/>
          </a:xfrm>
          <a:prstGeom prst="rect">
            <a:avLst/>
          </a:prstGeom>
          <a:solidFill>
            <a:srgbClr val="DEEAF6"/>
          </a:solidFill>
          <a:ln w="12700">
            <a:solidFill>
              <a:srgbClr val="404040"/>
            </a:solidFill>
          </a:ln>
        </p:spPr>
        <p:txBody>
          <a:bodyPr wrap="square" anchor="ctr">
            <a:noAutofit/>
          </a:bodyPr>
          <a:lstStyle/>
          <a:p>
            <a:pPr algn="ctr"/>
            <a:r>
              <a:rPr lang="en-MY" sz="1800" b="1" dirty="0"/>
              <a:t>Kemudahan Awam</a:t>
            </a:r>
          </a:p>
        </p:txBody>
      </p:sp>
      <p:sp>
        <p:nvSpPr>
          <p:cNvPr id="46" name="Rectangle 9"/>
          <p:cNvSpPr/>
          <p:nvPr/>
        </p:nvSpPr>
        <p:spPr>
          <a:xfrm>
            <a:off x="6419408" y="4031224"/>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Water Feature]</a:t>
            </a:r>
          </a:p>
          <a:p>
            <a:r>
              <a:rPr lang="en-MY" sz="1200" dirty="0">
                <a:solidFill>
                  <a:schemeClr val="tx1">
                    <a:lumMod val="85000"/>
                    <a:lumOff val="15000"/>
                  </a:schemeClr>
                </a:solidFill>
              </a:rPr>
              <a:t>TIADA IMEJ SUMBER</a:t>
            </a:r>
          </a:p>
          <a:p>
            <a:r>
              <a:rPr lang="en-MY" sz="1200" dirty="0">
                <a:solidFill>
                  <a:schemeClr val="tx1">
                    <a:lumMod val="85000"/>
                    <a:lumOff val="15000"/>
                  </a:schemeClr>
                </a:solidFill>
              </a:rPr>
              <a:t>Cadangan rajah native —</a:t>
            </a:r>
          </a:p>
          <a:p>
            <a:r>
              <a:rPr lang="en-MY" sz="1200" dirty="0">
                <a:solidFill>
                  <a:schemeClr val="tx1">
                    <a:lumMod val="85000"/>
                    <a:lumOff val="15000"/>
                  </a:schemeClr>
                </a:solidFill>
              </a:rPr>
              <a:t>lihat panel produksi</a:t>
            </a:r>
          </a:p>
        </p:txBody>
      </p:sp>
      <p:sp>
        <p:nvSpPr>
          <p:cNvPr id="47" name="TextBox 3"/>
          <p:cNvSpPr txBox="1"/>
          <p:nvPr/>
        </p:nvSpPr>
        <p:spPr>
          <a:xfrm>
            <a:off x="6563335" y="5867888"/>
            <a:ext cx="3310311" cy="457200"/>
          </a:xfrm>
          <a:prstGeom prst="rect">
            <a:avLst/>
          </a:prstGeom>
          <a:solidFill>
            <a:srgbClr val="DEEAF6"/>
          </a:solidFill>
          <a:ln w="12700">
            <a:solidFill>
              <a:srgbClr val="404040"/>
            </a:solidFill>
          </a:ln>
        </p:spPr>
        <p:txBody>
          <a:bodyPr wrap="square" anchor="ctr">
            <a:noAutofit/>
          </a:bodyPr>
          <a:lstStyle/>
          <a:p>
            <a:pPr algn="ctr"/>
            <a:r>
              <a:rPr lang="en-MY" sz="1800" b="1" i="1" dirty="0"/>
              <a:t>Water Feature</a:t>
            </a:r>
          </a:p>
        </p:txBody>
      </p:sp>
      <p:sp>
        <p:nvSpPr>
          <p:cNvPr id="90" name="Btn"/>
          <p:cNvSpPr txBox="1"/>
          <p:nvPr/>
        </p:nvSpPr>
        <p:spPr>
          <a:xfrm>
            <a:off x="9273479" y="6419088"/>
            <a:ext cx="219456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RP-004  (BASE)</a:t>
            </a:r>
          </a:p>
          <a:p>
            <a:r>
              <a:rPr lang="en-MY" sz="900" b="1" dirty="0">
                <a:solidFill>
                  <a:schemeClr val="tx1">
                    <a:lumMod val="85000"/>
                    <a:lumOff val="15000"/>
                  </a:schemeClr>
                </a:solidFill>
              </a:rPr>
              <a:t>PHYSICAL LEARNER SCREEN: STRUKTUR_TAMAN_MASTER  [GROUP_MASTER]</a:t>
            </a:r>
          </a:p>
          <a:p>
            <a:r>
              <a:rPr lang="en-MY" sz="900" dirty="0">
                <a:solidFill>
                  <a:schemeClr val="tx1">
                    <a:lumMod val="85000"/>
                    <a:lumOff val="15000"/>
                  </a:schemeClr>
                </a:solidFill>
              </a:rPr>
              <a:t/>
            </a:r>
          </a:p>
          <a:p>
            <a:r>
              <a:rPr lang="en-MY" sz="900" b="1" dirty="0">
                <a:solidFill>
                  <a:schemeClr val="tx1">
                    <a:lumMod val="85000"/>
                    <a:lumOff val="15000"/>
                  </a:schemeClr>
                </a:solidFill>
              </a:rPr>
              <a:t>LEVEL: 1 — group master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Kad komponen boleh diklik dalam sebarang susunan.</a:t>
            </a:r>
          </a:p>
          <a:p>
            <a:r>
              <a:rPr lang="en-MY" sz="900" dirty="0">
                <a:solidFill>
                  <a:schemeClr val="tx1">
                    <a:lumMod val="85000"/>
                    <a:lumOff val="15000"/>
                  </a:schemeClr>
                </a:solidFill>
              </a:rPr>
              <a:t>  Kad kekal boleh diklik selepas selesai, untuk semakan.</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group_complete[STRUKTUR_TAMAN] = semua component_complete benar</a:t>
            </a:r>
          </a:p>
          <a:p>
            <a:r>
              <a:rPr lang="en-MY" sz="900" dirty="0">
                <a:solidFill>
                  <a:schemeClr val="tx1">
                    <a:lumMod val="85000"/>
                    <a:lumOff val="15000"/>
                  </a:schemeClr>
                </a:solidFill>
              </a:rPr>
              <a:t>  Keadaan pada halaman ini: tiada kad selesai</a:t>
            </a:r>
          </a:p>
          <a:p>
            <a:r>
              <a:rPr lang="en-MY" sz="900" dirty="0">
                <a:solidFill>
                  <a:schemeClr val="tx1">
                    <a:lumMod val="85000"/>
                    <a:lumOff val="15000"/>
                  </a:schemeClr>
                </a:solidFill>
              </a:rPr>
              <a:t>  Seterusnya dikunci sehingga group_complete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kad dan Seterusnya kekal selepas lawatan semula dan LMS resume.</a:t>
            </a:r>
          </a:p>
          <a:p>
            <a:r>
              <a:rPr lang="en-MY" sz="900" dirty="0">
                <a:solidFill>
                  <a:schemeClr val="tx1">
                    <a:lumMod val="85000"/>
                    <a:lumOff val="15000"/>
                  </a:schemeClr>
                </a:solidFill>
              </a:rPr>
              <a:t>  Kawalan yang telah dibuka TIDAK dikunci semula.</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Kad -&gt; [komponen]_MAIN.   Seterusnya -&gt; PERABOT_TAMAN_MASTER</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237 (fizikal 256).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Tik dilukis sebagai geometri native, bukan imej.</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Persisir Air</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Rajah 23 — Contoh Boardwalk</a:t>
            </a:r>
          </a:p>
          <a:p>
            <a:r>
              <a:rPr lang="en-MY" sz="1200" dirty="0">
                <a:solidFill>
                  <a:schemeClr val="tx1">
                    <a:lumMod val="85000"/>
                    <a:lumOff val="15000"/>
                  </a:schemeClr>
                </a:solidFill>
              </a:rPr>
              <a:t>dalam Taman Paya Bakau, modul ms 239.</a:t>
            </a:r>
          </a:p>
          <a:p>
            <a:r>
              <a:rPr lang="en-MY" sz="1200" dirty="0">
                <a:solidFill>
                  <a:schemeClr val="tx1">
                    <a:lumMod val="85000"/>
                    <a:lumOff val="15000"/>
                  </a:schemeClr>
                </a:solidFill>
              </a:rPr>
              <a:t>Tidak 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dirty="0"/>
              <a:t>Struktur Persisir Air</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Meningkatkan akses dan pengalaman pengguna di tepi badan air</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Untuk tasik, sungai atau pantai</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Perlu kepakaran pembinaan di persekitaran lembap dan berpotensi hakisan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Asas stabil dan rata, dengan saliran permukaan yang berkesan</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RP-005  (BASE)</a:t>
            </a:r>
          </a:p>
          <a:p>
            <a:r>
              <a:rPr lang="en-MY" sz="900" b="1" dirty="0">
                <a:solidFill>
                  <a:schemeClr val="tx1">
                    <a:lumMod val="85000"/>
                    <a:lumOff val="15000"/>
                  </a:schemeClr>
                </a:solidFill>
              </a:rPr>
              <a:t>PHYSICAL LEARNER SCREEN: STRUKTUR_PERSISIR_AIR_MAIN  [MAIN]</a:t>
            </a:r>
          </a:p>
          <a:p>
            <a:r>
              <a:rPr lang="en-MY" sz="900" dirty="0">
                <a:solidFill>
                  <a:schemeClr val="tx1">
                    <a:lumMod val="85000"/>
                    <a:lumOff val="15000"/>
                  </a:schemeClr>
                </a:solidFill>
              </a:rPr>
              <a:t/>
            </a: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main_vo_complete[STRUKTUR_PERSISIR_AIR]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STRUKTUR_PERSISIR_AIR_EXAMPLES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238 (fizikal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ItemCard"/>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2"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3"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4"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RP-006  (BASE)</a:t>
            </a:r>
          </a:p>
          <a:p>
            <a:r>
              <a:rPr lang="en-MY" sz="900" b="1" dirty="0">
                <a:solidFill>
                  <a:schemeClr val="tx1">
                    <a:lumMod val="85000"/>
                    <a:lumOff val="15000"/>
                  </a:schemeClr>
                </a:solidFill>
              </a:rPr>
              <a:t>PHYSICAL LEARNER SCREEN: STRUKTUR_PERSISIR_AIR_EXAMPLES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ItemCard"/>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2"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3"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4"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Promenade</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pPr/>
            <a:r>
              <a:rPr lang="en-MY" sz="1250" dirty="0">
                <a:solidFill>
                  <a:schemeClr val="tx1">
                    <a:lumMod val="85000"/>
                    <a:lumOff val="15000"/>
                  </a:schemeClr>
                </a:solidFill>
              </a:rPr>
              <a:t>Laluan lebar di sepanjang pinggir air, selesa untuk berjalan dan bersantai.</a:t>
            </a:r>
          </a:p>
        </p:txBody>
      </p:sp>
      <p:sp>
        <p:nvSpPr>
          <p:cNvPr id="212" name="FHead"/>
          <p:cNvSpPr txBox="1"/>
          <p:nvPr/>
        </p:nvSpPr>
        <p:spPr>
          <a:xfrm>
            <a:off x="1490472" y="290322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pPr/>
            <a:r>
              <a:rPr lang="en-MY" sz="1250" dirty="0">
                <a:solidFill>
                  <a:schemeClr val="tx1">
                    <a:lumMod val="85000"/>
                    <a:lumOff val="15000"/>
                  </a:schemeClr>
                </a:solidFill>
              </a:rPr>
              <a:t>Promenade Tasik Titiwangsa, KL</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RP-007  (POPUP)</a:t>
            </a:r>
          </a:p>
          <a:p>
            <a:r>
              <a:rPr lang="en-MY" sz="900" b="1" dirty="0">
                <a:solidFill>
                  <a:schemeClr val="tx1">
                    <a:lumMod val="85000"/>
                    <a:lumOff val="15000"/>
                  </a:schemeClr>
                </a:solidFill>
              </a:rPr>
              <a:t>PHYSICAL LEARNER SCREEN: STRUKTUR_PERSISIR_AIR_EXAMPLES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STRUKTUR_PERSISIR_AIR_EXAMPLE_01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4"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5"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Jeti</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pPr/>
            <a:r>
              <a:rPr lang="en-MY" sz="1250" dirty="0">
                <a:solidFill>
                  <a:schemeClr val="tx1">
                    <a:lumMod val="85000"/>
                    <a:lumOff val="15000"/>
                  </a:schemeClr>
                </a:solidFill>
              </a:rPr>
              <a:t>Platform atau pelantar panjang untuk akses ke air, sering digunakan untuk bot.</a:t>
            </a:r>
          </a:p>
        </p:txBody>
      </p:sp>
      <p:sp>
        <p:nvSpPr>
          <p:cNvPr id="212" name="FHead"/>
          <p:cNvSpPr txBox="1"/>
          <p:nvPr/>
        </p:nvSpPr>
        <p:spPr>
          <a:xfrm>
            <a:off x="1490472" y="290322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pPr/>
            <a:r>
              <a:rPr lang="en-MY" sz="1250" dirty="0">
                <a:solidFill>
                  <a:schemeClr val="tx1">
                    <a:lumMod val="85000"/>
                    <a:lumOff val="15000"/>
                  </a:schemeClr>
                </a:solidFill>
              </a:rPr>
              <a:t>Jeti Lumut, Perak</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RP-008  (POPUP)</a:t>
            </a:r>
          </a:p>
          <a:p>
            <a:r>
              <a:rPr lang="en-MY" sz="900" b="1" dirty="0">
                <a:solidFill>
                  <a:schemeClr val="tx1">
                    <a:lumMod val="85000"/>
                    <a:lumOff val="15000"/>
                  </a:schemeClr>
                </a:solidFill>
              </a:rPr>
              <a:t>PHYSICAL LEARNER SCREEN: STRUKTUR_PERSISIR_AIR_EXAMPLES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STRUKTUR_PERSISIR_AIR_EXAMPLE_02</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6"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Dek Kayu</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pPr/>
            <a:r>
              <a:rPr lang="en-MY" sz="1250" dirty="0">
                <a:solidFill>
                  <a:schemeClr val="tx1">
                    <a:lumMod val="85000"/>
                    <a:lumOff val="15000"/>
                  </a:schemeClr>
                </a:solidFill>
              </a:rPr>
              <a:t>Ruang kayu terbuka di atas atau berhampiran air untuk rehat &amp; pemandangan.</a:t>
            </a:r>
          </a:p>
        </p:txBody>
      </p:sp>
      <p:sp>
        <p:nvSpPr>
          <p:cNvPr id="212" name="FHead"/>
          <p:cNvSpPr txBox="1"/>
          <p:nvPr/>
        </p:nvSpPr>
        <p:spPr>
          <a:xfrm>
            <a:off x="1490472" y="290322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pPr/>
            <a:r>
              <a:rPr lang="en-MY" sz="1250" dirty="0">
                <a:solidFill>
                  <a:schemeClr val="tx1">
                    <a:lumMod val="85000"/>
                    <a:lumOff val="15000"/>
                  </a:schemeClr>
                </a:solidFill>
              </a:rPr>
              <a:t>Wetland Park Putrajaya</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RP-009  (POPUP)</a:t>
            </a:r>
          </a:p>
          <a:p>
            <a:r>
              <a:rPr lang="en-MY" sz="900" b="1" dirty="0">
                <a:solidFill>
                  <a:schemeClr val="tx1">
                    <a:lumMod val="85000"/>
                    <a:lumOff val="15000"/>
                  </a:schemeClr>
                </a:solidFill>
              </a:rPr>
              <a:t>PHYSICAL LEARNER SCREEN: STRUKTUR_PERSISIR_AIR_EXAMPLES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STRUKTUR_PERSISIR_AIR_EXAMPLE_03</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2/5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7"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3236976"/>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Boardwalk</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pPr/>
            <a:r>
              <a:rPr lang="en-MY" sz="1250" dirty="0">
                <a:solidFill>
                  <a:schemeClr val="tx1">
                    <a:lumMod val="85000"/>
                    <a:lumOff val="15000"/>
                  </a:schemeClr>
                </a:solidFill>
              </a:rPr>
              <a:t>Laluan kayu di atas tanah berpaya/basah, mesra alam dan visual semula jadi.</a:t>
            </a:r>
          </a:p>
        </p:txBody>
      </p:sp>
      <p:sp>
        <p:nvSpPr>
          <p:cNvPr id="212" name="FHead"/>
          <p:cNvSpPr txBox="1"/>
          <p:nvPr/>
        </p:nvSpPr>
        <p:spPr>
          <a:xfrm>
            <a:off x="1490472" y="290322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pPr/>
            <a:r>
              <a:rPr lang="en-MY" sz="1250" dirty="0">
                <a:solidFill>
                  <a:schemeClr val="tx1">
                    <a:lumMod val="85000"/>
                    <a:lumOff val="15000"/>
                  </a:schemeClr>
                </a:solidFill>
              </a:rPr>
              <a:t>Boardwalk Paya Indah Wetlands</a:t>
            </a:r>
          </a:p>
        </p:txBody>
      </p:sp>
      <p:sp>
        <p:nvSpPr>
          <p:cNvPr id="214" name="FHead"/>
          <p:cNvSpPr txBox="1"/>
          <p:nvPr/>
        </p:nvSpPr>
        <p:spPr>
          <a:xfrm>
            <a:off x="1490472" y="3502152"/>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739896"/>
            <a:ext cx="9211026" cy="429768"/>
          </a:xfrm>
          <a:prstGeom prst="rect">
            <a:avLst/>
          </a:prstGeom>
          <a:noFill/>
        </p:spPr>
        <p:txBody>
          <a:bodyPr wrap="square">
            <a:noAutofit/>
          </a:bodyPr>
          <a:lstStyle/>
          <a:p>
            <a:pPr/>
            <a:r>
              <a:rPr lang="en-MY" sz="1250" dirty="0">
                <a:solidFill>
                  <a:schemeClr val="tx1">
                    <a:lumMod val="85000"/>
                    <a:lumOff val="15000"/>
                  </a:schemeClr>
                </a:solidFill>
              </a:rPr>
              <a:t>[Visual: Rajah 23 — Contoh Boardwalk dalam Taman Paya Bakau, modul ms 239. Aset</a:t>
            </a:r>
          </a:p>
          <a:p>
            <a:pPr/>
            <a:r>
              <a:rPr lang="en-MY" sz="1250" dirty="0">
                <a:solidFill>
                  <a:schemeClr val="tx1">
                    <a:lumMod val="85000"/>
                    <a:lumOff val="15000"/>
                  </a:schemeClr>
                </a:solidFill>
              </a:rPr>
              <a:t>K5PL06T03-B02-IMG-p239-x20. Tidak dibenamkan.]</a:t>
            </a:r>
          </a:p>
        </p:txBody>
      </p:sp>
      <p:sp>
        <p:nvSpPr>
          <p:cNvPr id="260" name="Btn"/>
          <p:cNvSpPr txBox="1"/>
          <p:nvPr/>
        </p:nvSpPr>
        <p:spPr>
          <a:xfrm>
            <a:off x="9540210" y="4443984"/>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RP-010  (POPUP)</a:t>
            </a:r>
          </a:p>
          <a:p>
            <a:r>
              <a:rPr lang="en-MY" sz="900" b="1" dirty="0">
                <a:solidFill>
                  <a:schemeClr val="tx1">
                    <a:lumMod val="85000"/>
                    <a:lumOff val="15000"/>
                  </a:schemeClr>
                </a:solidFill>
              </a:rPr>
              <a:t>PHYSICAL LEARNER SCREEN: STRUKTUR_PERSISIR_AIR_EXAMPLES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STRUKTUR_PERSISIR_AIR_EXAMPLE_04</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3/5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7" name="Tick"/>
          <p:cNvSpPr/>
          <p:nvPr/>
        </p:nvSpPr>
        <p:spPr>
          <a:xfrm>
            <a:off x="545819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Footbridge</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pPr/>
            <a:r>
              <a:rPr lang="en-MY" sz="1250" dirty="0">
                <a:solidFill>
                  <a:schemeClr val="tx1">
                    <a:lumMod val="85000"/>
                    <a:lumOff val="15000"/>
                  </a:schemeClr>
                </a:solidFill>
              </a:rPr>
              <a:t>Jambatan kecil untuk laluan pejalan kaki melintasi aliran air atau longkang besar.</a:t>
            </a:r>
          </a:p>
        </p:txBody>
      </p:sp>
      <p:sp>
        <p:nvSpPr>
          <p:cNvPr id="212" name="FHead"/>
          <p:cNvSpPr txBox="1"/>
          <p:nvPr/>
        </p:nvSpPr>
        <p:spPr>
          <a:xfrm>
            <a:off x="1490472" y="290322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pPr/>
            <a:r>
              <a:rPr lang="en-MY" sz="1250" dirty="0">
                <a:solidFill>
                  <a:schemeClr val="tx1">
                    <a:lumMod val="85000"/>
                    <a:lumOff val="15000"/>
                  </a:schemeClr>
                </a:solidFill>
              </a:rPr>
              <a:t>Footbridge Taman Botani Perdana</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RP-011  (POPUP)</a:t>
            </a:r>
          </a:p>
          <a:p>
            <a:r>
              <a:rPr lang="en-MY" sz="900" b="1" dirty="0">
                <a:solidFill>
                  <a:schemeClr val="tx1">
                    <a:lumMod val="85000"/>
                    <a:lumOff val="15000"/>
                  </a:schemeClr>
                </a:solidFill>
              </a:rPr>
              <a:t>PHYSICAL LEARNER SCREEN: STRUKTUR_PERSISIR_AIR_EXAMPLES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STRUKTUR_PERSISIR_AIR_EXAMPLE_05</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4/5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7" name="Tick"/>
          <p:cNvSpPr/>
          <p:nvPr/>
        </p:nvSpPr>
        <p:spPr>
          <a:xfrm>
            <a:off x="545819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31315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49" name="Tick"/>
          <p:cNvSpPr/>
          <p:nvPr/>
        </p:nvSpPr>
        <p:spPr>
          <a:xfrm>
            <a:off x="918437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RP-012  (ALL_VIEWED)</a:t>
            </a:r>
          </a:p>
          <a:p>
            <a:r>
              <a:rPr lang="en-MY" sz="900" b="1" dirty="0">
                <a:solidFill>
                  <a:schemeClr val="tx1">
                    <a:lumMod val="85000"/>
                    <a:lumOff val="15000"/>
                  </a:schemeClr>
                </a:solidFill>
              </a:rPr>
              <a:t>PHYSICAL LEARNER SCREEN: STRUKTUR_PERSISIR_AIR_EXAMPLES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5/5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Teduhan</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Rajah 24 — Contoh Pergola,</a:t>
            </a:r>
          </a:p>
          <a:p>
            <a:r>
              <a:rPr lang="en-MY" sz="1200" dirty="0">
                <a:solidFill>
                  <a:schemeClr val="tx1">
                    <a:lumMod val="85000"/>
                    <a:lumOff val="15000"/>
                  </a:schemeClr>
                </a:solidFill>
              </a:rPr>
              <a:t>modul ms 240. Tidak 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dirty="0"/>
              <a:t>Struktur Teduhan</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Perlindungan daripada matahari dan hujan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Mewujudkan ruang selesa untuk bersantai atau berinteraksi</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RP-013  (BASE)</a:t>
            </a:r>
          </a:p>
          <a:p>
            <a:r>
              <a:rPr lang="en-MY" sz="900" b="1" dirty="0">
                <a:solidFill>
                  <a:schemeClr val="tx1">
                    <a:lumMod val="85000"/>
                    <a:lumOff val="15000"/>
                  </a:schemeClr>
                </a:solidFill>
              </a:rPr>
              <a:t>PHYSICAL LEARNER SCREEN: STRUKTUR_TEDUHAN_MAIN  [MAIN]</a:t>
            </a:r>
          </a:p>
          <a:p>
            <a:r>
              <a:rPr lang="en-MY" sz="900" dirty="0">
                <a:solidFill>
                  <a:schemeClr val="tx1">
                    <a:lumMod val="85000"/>
                    <a:lumOff val="15000"/>
                  </a:schemeClr>
                </a:solidFill>
              </a:rPr>
              <a:t/>
            </a: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main_vo_complete[STRUKTUR_TEDUHAN]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STRUKTUR_TEDUHAN_EXAMPLES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239 (fizikal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dirty="0">
                <a:solidFill>
                  <a:schemeClr val="tx1">
                    <a:lumMod val="85000"/>
                    <a:lumOff val="15000"/>
                  </a:schemeClr>
                </a:solidFill>
              </a:rPr>
              <a:t>  Subseksyen ini tiada blok Aspek Pembinaan dalam modul — satu-satunya dalam 3.3.</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ItemCard"/>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2"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3"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4"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RP-014  (BASE)</a:t>
            </a:r>
          </a:p>
          <a:p>
            <a:r>
              <a:rPr lang="en-MY" sz="900" b="1" dirty="0">
                <a:solidFill>
                  <a:schemeClr val="tx1">
                    <a:lumMod val="85000"/>
                    <a:lumOff val="15000"/>
                  </a:schemeClr>
                </a:solidFill>
              </a:rPr>
              <a:t>PHYSICAL LEARNER SCREEN: STRUKTUR_TEDUHAN_EXAMPLES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0/5 item dilihat</a:t>
            </a:r>
          </a:p>
          <a:p>
            <a:r>
              <a:rPr lang="en-MY" sz="900" dirty="0">
                <a:solidFill>
                  <a:schemeClr val="tx1">
                    <a:lumMod val="85000"/>
                    <a:lumOff val="15000"/>
                  </a:schemeClr>
                </a:solidFill>
              </a:rPr>
              <a:t>  component_complete[STRUKTUR_TEDUHAN]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STRUKTUR_TEDUHAN_EXAMPLE_01  &lt;-  K5-PL06-T03-B02-STRUKTUR-TEDUHAN-ROW-01  (ms 239/fiz 258)</a:t>
            </a:r>
          </a:p>
          <a:p>
            <a:r>
              <a:rPr lang="en-MY" sz="900" dirty="0">
                <a:solidFill>
                  <a:schemeClr val="tx1">
                    <a:lumMod val="85000"/>
                    <a:lumOff val="15000"/>
                  </a:schemeClr>
                </a:solidFill>
              </a:rPr>
              <a:t>  STRUKTUR_TEDUHAN_EXAMPLE_02  &lt;-  K5-PL06-T03-B02-STRUKTUR-TEDUHAN-ROW-02  (ms 239/fiz 258)</a:t>
            </a:r>
          </a:p>
          <a:p>
            <a:r>
              <a:rPr lang="en-MY" sz="900" dirty="0">
                <a:solidFill>
                  <a:schemeClr val="tx1">
                    <a:lumMod val="85000"/>
                    <a:lumOff val="15000"/>
                  </a:schemeClr>
                </a:solidFill>
              </a:rPr>
              <a:t>  STRUKTUR_TEDUHAN_EXAMPLE_03  &lt;-  K5-PL06-T03-B02-STRUKTUR-TEDUHAN-ROW-03  (ms 239/fiz 258)</a:t>
            </a:r>
          </a:p>
          <a:p>
            <a:r>
              <a:rPr lang="en-MY" sz="900" dirty="0">
                <a:solidFill>
                  <a:schemeClr val="tx1">
                    <a:lumMod val="85000"/>
                    <a:lumOff val="15000"/>
                  </a:schemeClr>
                </a:solidFill>
              </a:rPr>
              <a:t>  STRUKTUR_TEDUHAN_EXAMPLE_04  &lt;-  K5-PL06-T03-B02-STRUKTUR-TEDUHAN-ROW-04  (ms 239/fiz 258)</a:t>
            </a:r>
          </a:p>
          <a:p>
            <a:r>
              <a:rPr lang="en-MY" sz="900" dirty="0">
                <a:solidFill>
                  <a:schemeClr val="tx1">
                    <a:lumMod val="85000"/>
                    <a:lumOff val="15000"/>
                  </a:schemeClr>
                </a:solidFill>
              </a:rPr>
              <a:t>  STRUKTUR_TEDUHAN_EXAMPLE_05  &lt;-  K5-PL06-T03-B02-STRUKTUR-TEDUHAN-ROW-05  (ms 239/fiz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ItemCard"/>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2"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3"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4"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Gazebo</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pPr/>
            <a:r>
              <a:rPr lang="en-MY" sz="1250" dirty="0">
                <a:solidFill>
                  <a:schemeClr val="tx1">
                    <a:lumMod val="85000"/>
                    <a:lumOff val="15000"/>
                  </a:schemeClr>
                </a:solidFill>
              </a:rPr>
              <a:t>Struktur berbumbung terbuka untuk bersantai atau menikmati pemandangan.</a:t>
            </a:r>
          </a:p>
        </p:txBody>
      </p:sp>
      <p:sp>
        <p:nvSpPr>
          <p:cNvPr id="212" name="FHead"/>
          <p:cNvSpPr txBox="1"/>
          <p:nvPr/>
        </p:nvSpPr>
        <p:spPr>
          <a:xfrm>
            <a:off x="1490472" y="290322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pPr/>
            <a:r>
              <a:rPr lang="en-MY" sz="1250" dirty="0">
                <a:solidFill>
                  <a:schemeClr val="tx1">
                    <a:lumMod val="85000"/>
                    <a:lumOff val="15000"/>
                  </a:schemeClr>
                </a:solidFill>
              </a:rPr>
              <a:t>Taman Tasik Shah Alam</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RP-015  (POPUP)</a:t>
            </a:r>
          </a:p>
          <a:p>
            <a:r>
              <a:rPr lang="en-MY" sz="900" b="1" dirty="0">
                <a:solidFill>
                  <a:schemeClr val="tx1">
                    <a:lumMod val="85000"/>
                    <a:lumOff val="15000"/>
                  </a:schemeClr>
                </a:solidFill>
              </a:rPr>
              <a:t>PHYSICAL LEARNER SCREEN: STRUKTUR_TEDUHAN_EXAMPLES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STRUKTUR_TEDUHAN_EXAMPLE_01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0/5 item dilihat</a:t>
            </a:r>
          </a:p>
          <a:p>
            <a:r>
              <a:rPr lang="en-MY" sz="900" dirty="0">
                <a:solidFill>
                  <a:schemeClr val="tx1">
                    <a:lumMod val="85000"/>
                    <a:lumOff val="15000"/>
                  </a:schemeClr>
                </a:solidFill>
              </a:rPr>
              <a:t>  component_complete[STRUKTUR_TEDUHAN]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STRUKTUR_TEDUHAN_EXAMPLE_01  &lt;-  K5-PL06-T03-B02-STRUKTUR-TEDUHAN-ROW-01  (ms 239/fiz 258)</a:t>
            </a:r>
          </a:p>
          <a:p>
            <a:r>
              <a:rPr lang="en-MY" sz="900" dirty="0">
                <a:solidFill>
                  <a:schemeClr val="tx1">
                    <a:lumMod val="85000"/>
                    <a:lumOff val="15000"/>
                  </a:schemeClr>
                </a:solidFill>
              </a:rPr>
              <a:t>  STRUKTUR_TEDUHAN_EXAMPLE_02  &lt;-  K5-PL06-T03-B02-STRUKTUR-TEDUHAN-ROW-02  (ms 239/fiz 258)</a:t>
            </a:r>
          </a:p>
          <a:p>
            <a:r>
              <a:rPr lang="en-MY" sz="900" dirty="0">
                <a:solidFill>
                  <a:schemeClr val="tx1">
                    <a:lumMod val="85000"/>
                    <a:lumOff val="15000"/>
                  </a:schemeClr>
                </a:solidFill>
              </a:rPr>
              <a:t>  STRUKTUR_TEDUHAN_EXAMPLE_03  &lt;-  K5-PL06-T03-B02-STRUKTUR-TEDUHAN-ROW-03  (ms 239/fiz 258)</a:t>
            </a:r>
          </a:p>
          <a:p>
            <a:r>
              <a:rPr lang="en-MY" sz="900" dirty="0">
                <a:solidFill>
                  <a:schemeClr val="tx1">
                    <a:lumMod val="85000"/>
                    <a:lumOff val="15000"/>
                  </a:schemeClr>
                </a:solidFill>
              </a:rPr>
              <a:t>  STRUKTUR_TEDUHAN_EXAMPLE_04  &lt;-  K5-PL06-T03-B02-STRUKTUR-TEDUHAN-ROW-04  (ms 239/fiz 258)</a:t>
            </a:r>
          </a:p>
          <a:p>
            <a:r>
              <a:rPr lang="en-MY" sz="900" dirty="0">
                <a:solidFill>
                  <a:schemeClr val="tx1">
                    <a:lumMod val="85000"/>
                    <a:lumOff val="15000"/>
                  </a:schemeClr>
                </a:solidFill>
              </a:rPr>
              <a:t>  STRUKTUR_TEDUHAN_EXAMPLE_05  &lt;-  K5-PL06-T03-B02-STRUKTUR-TEDUHAN-ROW-05  (ms 239/fiz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4"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5"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Wakaf</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pPr/>
            <a:r>
              <a:rPr lang="en-MY" sz="1250" dirty="0">
                <a:solidFill>
                  <a:schemeClr val="tx1">
                    <a:lumMod val="85000"/>
                    <a:lumOff val="15000"/>
                  </a:schemeClr>
                </a:solidFill>
              </a:rPr>
              <a:t>Struktur tradisional Melayu yang digunakan sebagai tempat berehat.</a:t>
            </a:r>
          </a:p>
        </p:txBody>
      </p:sp>
      <p:sp>
        <p:nvSpPr>
          <p:cNvPr id="212" name="FHead"/>
          <p:cNvSpPr txBox="1"/>
          <p:nvPr/>
        </p:nvSpPr>
        <p:spPr>
          <a:xfrm>
            <a:off x="1490472" y="290322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pPr/>
            <a:r>
              <a:rPr lang="en-MY" sz="1250" dirty="0">
                <a:solidFill>
                  <a:schemeClr val="tx1">
                    <a:lumMod val="85000"/>
                    <a:lumOff val="15000"/>
                  </a:schemeClr>
                </a:solidFill>
              </a:rPr>
              <a:t>Wakaf di Taman Desa, KL</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RP-016  (POPUP)</a:t>
            </a:r>
          </a:p>
          <a:p>
            <a:r>
              <a:rPr lang="en-MY" sz="900" b="1" dirty="0">
                <a:solidFill>
                  <a:schemeClr val="tx1">
                    <a:lumMod val="85000"/>
                    <a:lumOff val="15000"/>
                  </a:schemeClr>
                </a:solidFill>
              </a:rPr>
              <a:t>PHYSICAL LEARNER SCREEN: STRUKTUR_TEDUHAN_EXAMPLES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STRUKTUR_TEDUHAN_EXAMPLE_02</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1/5 item dilihat</a:t>
            </a:r>
          </a:p>
          <a:p>
            <a:r>
              <a:rPr lang="en-MY" sz="900" dirty="0">
                <a:solidFill>
                  <a:schemeClr val="tx1">
                    <a:lumMod val="85000"/>
                    <a:lumOff val="15000"/>
                  </a:schemeClr>
                </a:solidFill>
              </a:rPr>
              <a:t>  component_complete[STRUKTUR_TEDUHAN]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STRUKTUR_TEDUHAN_EXAMPLE_01  &lt;-  K5-PL06-T03-B02-STRUKTUR-TEDUHAN-ROW-01  (ms 239/fiz 258)</a:t>
            </a:r>
          </a:p>
          <a:p>
            <a:r>
              <a:rPr lang="en-MY" sz="900" dirty="0">
                <a:solidFill>
                  <a:schemeClr val="tx1">
                    <a:lumMod val="85000"/>
                    <a:lumOff val="15000"/>
                  </a:schemeClr>
                </a:solidFill>
              </a:rPr>
              <a:t>  STRUKTUR_TEDUHAN_EXAMPLE_02  &lt;-  K5-PL06-T03-B02-STRUKTUR-TEDUHAN-ROW-02  (ms 239/fiz 258)</a:t>
            </a:r>
          </a:p>
          <a:p>
            <a:r>
              <a:rPr lang="en-MY" sz="900" dirty="0">
                <a:solidFill>
                  <a:schemeClr val="tx1">
                    <a:lumMod val="85000"/>
                    <a:lumOff val="15000"/>
                  </a:schemeClr>
                </a:solidFill>
              </a:rPr>
              <a:t>  STRUKTUR_TEDUHAN_EXAMPLE_03  &lt;-  K5-PL06-T03-B02-STRUKTUR-TEDUHAN-ROW-03  (ms 239/fiz 258)</a:t>
            </a:r>
          </a:p>
          <a:p>
            <a:r>
              <a:rPr lang="en-MY" sz="900" dirty="0">
                <a:solidFill>
                  <a:schemeClr val="tx1">
                    <a:lumMod val="85000"/>
                    <a:lumOff val="15000"/>
                  </a:schemeClr>
                </a:solidFill>
              </a:rPr>
              <a:t>  STRUKTUR_TEDUHAN_EXAMPLE_04  &lt;-  K5-PL06-T03-B02-STRUKTUR-TEDUHAN-ROW-04  (ms 239/fiz 258)</a:t>
            </a:r>
          </a:p>
          <a:p>
            <a:r>
              <a:rPr lang="en-MY" sz="900" dirty="0">
                <a:solidFill>
                  <a:schemeClr val="tx1">
                    <a:lumMod val="85000"/>
                    <a:lumOff val="15000"/>
                  </a:schemeClr>
                </a:solidFill>
              </a:rPr>
              <a:t>  STRUKTUR_TEDUHAN_EXAMPLE_05  &lt;-  K5-PL06-T03-B02-STRUKTUR-TEDUHAN-ROW-05  (ms 239/fiz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6"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3236976"/>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Pergola</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pPr/>
            <a:r>
              <a:rPr lang="en-MY" sz="1250" dirty="0">
                <a:solidFill>
                  <a:schemeClr val="tx1">
                    <a:lumMod val="85000"/>
                    <a:lumOff val="15000"/>
                  </a:schemeClr>
                </a:solidFill>
              </a:rPr>
              <a:t>Rangka struktur terbuka yang biasanya ditumbuhi tanaman pemanjat seperti bougainvillea.</a:t>
            </a:r>
          </a:p>
        </p:txBody>
      </p:sp>
      <p:sp>
        <p:nvSpPr>
          <p:cNvPr id="212" name="FHead"/>
          <p:cNvSpPr txBox="1"/>
          <p:nvPr/>
        </p:nvSpPr>
        <p:spPr>
          <a:xfrm>
            <a:off x="1490472" y="290322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pPr/>
            <a:r>
              <a:rPr lang="en-MY" sz="1250" dirty="0">
                <a:solidFill>
                  <a:schemeClr val="tx1">
                    <a:lumMod val="85000"/>
                    <a:lumOff val="15000"/>
                  </a:schemeClr>
                </a:solidFill>
              </a:rPr>
              <a:t>Pergola di Laman Herba Putrajaya</a:t>
            </a:r>
          </a:p>
        </p:txBody>
      </p:sp>
      <p:sp>
        <p:nvSpPr>
          <p:cNvPr id="214" name="FHead"/>
          <p:cNvSpPr txBox="1"/>
          <p:nvPr/>
        </p:nvSpPr>
        <p:spPr>
          <a:xfrm>
            <a:off x="1490472" y="3502152"/>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739896"/>
            <a:ext cx="9211026" cy="429768"/>
          </a:xfrm>
          <a:prstGeom prst="rect">
            <a:avLst/>
          </a:prstGeom>
          <a:noFill/>
        </p:spPr>
        <p:txBody>
          <a:bodyPr wrap="square">
            <a:noAutofit/>
          </a:bodyPr>
          <a:lstStyle/>
          <a:p>
            <a:pPr/>
            <a:r>
              <a:rPr lang="en-MY" sz="1250" dirty="0">
                <a:solidFill>
                  <a:schemeClr val="tx1">
                    <a:lumMod val="85000"/>
                    <a:lumOff val="15000"/>
                  </a:schemeClr>
                </a:solidFill>
              </a:rPr>
              <a:t>[Visual: Rajah 24 — Contoh Pergola, modul ms 240. Aset K5PL06T03-B02-IMG-p240-x23. Tidak</a:t>
            </a:r>
          </a:p>
          <a:p>
            <a:pPr/>
            <a:r>
              <a:rPr lang="en-MY" sz="1250" dirty="0">
                <a:solidFill>
                  <a:schemeClr val="tx1">
                    <a:lumMod val="85000"/>
                    <a:lumOff val="15000"/>
                  </a:schemeClr>
                </a:solidFill>
              </a:rPr>
              <a:t>dibenamkan.]</a:t>
            </a:r>
          </a:p>
        </p:txBody>
      </p:sp>
      <p:sp>
        <p:nvSpPr>
          <p:cNvPr id="260" name="Btn"/>
          <p:cNvSpPr txBox="1"/>
          <p:nvPr/>
        </p:nvSpPr>
        <p:spPr>
          <a:xfrm>
            <a:off x="9540210" y="4443984"/>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RP-017  (POPUP)</a:t>
            </a:r>
          </a:p>
          <a:p>
            <a:r>
              <a:rPr lang="en-MY" sz="900" b="1" dirty="0">
                <a:solidFill>
                  <a:schemeClr val="tx1">
                    <a:lumMod val="85000"/>
                    <a:lumOff val="15000"/>
                  </a:schemeClr>
                </a:solidFill>
              </a:rPr>
              <a:t>PHYSICAL LEARNER SCREEN: STRUKTUR_TEDUHAN_EXAMPLES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STRUKTUR_TEDUHAN_EXAMPLE_03</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2/5 item dilihat</a:t>
            </a:r>
          </a:p>
          <a:p>
            <a:r>
              <a:rPr lang="en-MY" sz="900" dirty="0">
                <a:solidFill>
                  <a:schemeClr val="tx1">
                    <a:lumMod val="85000"/>
                    <a:lumOff val="15000"/>
                  </a:schemeClr>
                </a:solidFill>
              </a:rPr>
              <a:t>  component_complete[STRUKTUR_TEDUHAN]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STRUKTUR_TEDUHAN_EXAMPLE_01  &lt;-  K5-PL06-T03-B02-STRUKTUR-TEDUHAN-ROW-01  (ms 239/fiz 258)</a:t>
            </a:r>
          </a:p>
          <a:p>
            <a:r>
              <a:rPr lang="en-MY" sz="900" dirty="0">
                <a:solidFill>
                  <a:schemeClr val="tx1">
                    <a:lumMod val="85000"/>
                    <a:lumOff val="15000"/>
                  </a:schemeClr>
                </a:solidFill>
              </a:rPr>
              <a:t>  STRUKTUR_TEDUHAN_EXAMPLE_02  &lt;-  K5-PL06-T03-B02-STRUKTUR-TEDUHAN-ROW-02  (ms 239/fiz 258)</a:t>
            </a:r>
          </a:p>
          <a:p>
            <a:r>
              <a:rPr lang="en-MY" sz="900" dirty="0">
                <a:solidFill>
                  <a:schemeClr val="tx1">
                    <a:lumMod val="85000"/>
                    <a:lumOff val="15000"/>
                  </a:schemeClr>
                </a:solidFill>
              </a:rPr>
              <a:t>  STRUKTUR_TEDUHAN_EXAMPLE_03  &lt;-  K5-PL06-T03-B02-STRUKTUR-TEDUHAN-ROW-03  (ms 239/fiz 258)</a:t>
            </a:r>
          </a:p>
          <a:p>
            <a:r>
              <a:rPr lang="en-MY" sz="900" dirty="0">
                <a:solidFill>
                  <a:schemeClr val="tx1">
                    <a:lumMod val="85000"/>
                    <a:lumOff val="15000"/>
                  </a:schemeClr>
                </a:solidFill>
              </a:rPr>
              <a:t>  STRUKTUR_TEDUHAN_EXAMPLE_04  &lt;-  K5-PL06-T03-B02-STRUKTUR-TEDUHAN-ROW-04  (ms 239/fiz 258)</a:t>
            </a:r>
          </a:p>
          <a:p>
            <a:r>
              <a:rPr lang="en-MY" sz="900" dirty="0">
                <a:solidFill>
                  <a:schemeClr val="tx1">
                    <a:lumMod val="85000"/>
                    <a:lumOff val="15000"/>
                  </a:schemeClr>
                </a:solidFill>
              </a:rPr>
              <a:t>  STRUKTUR_TEDUHAN_EXAMPLE_05  &lt;-  K5-PL06-T03-B02-STRUKTUR-TEDUHAN-ROW-05  (ms 239/fiz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Canopy</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pPr/>
            <a:r>
              <a:rPr lang="en-MY" sz="1250" dirty="0">
                <a:solidFill>
                  <a:schemeClr val="tx1">
                    <a:lumMod val="85000"/>
                    <a:lumOff val="15000"/>
                  </a:schemeClr>
                </a:solidFill>
              </a:rPr>
              <a:t>Struktur kain atau polikarbonat ringan untuk teduhan kawasan aktiviti</a:t>
            </a:r>
          </a:p>
        </p:txBody>
      </p:sp>
      <p:sp>
        <p:nvSpPr>
          <p:cNvPr id="212" name="FHead"/>
          <p:cNvSpPr txBox="1"/>
          <p:nvPr/>
        </p:nvSpPr>
        <p:spPr>
          <a:xfrm>
            <a:off x="1490472" y="290322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pPr/>
            <a:r>
              <a:rPr lang="en-MY" sz="1250" dirty="0">
                <a:solidFill>
                  <a:schemeClr val="tx1">
                    <a:lumMod val="85000"/>
                    <a:lumOff val="15000"/>
                  </a:schemeClr>
                </a:solidFill>
              </a:rPr>
              <a:t>Canopy rekreasi di Taman Jaya</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RP-018  (POPUP)</a:t>
            </a:r>
          </a:p>
          <a:p>
            <a:r>
              <a:rPr lang="en-MY" sz="900" b="1" dirty="0">
                <a:solidFill>
                  <a:schemeClr val="tx1">
                    <a:lumMod val="85000"/>
                    <a:lumOff val="15000"/>
                  </a:schemeClr>
                </a:solidFill>
              </a:rPr>
              <a:t>PHYSICAL LEARNER SCREEN: STRUKTUR_TEDUHAN_EXAMPLES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STRUKTUR_TEDUHAN_EXAMPLE_04</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3/5 item dilihat</a:t>
            </a:r>
          </a:p>
          <a:p>
            <a:r>
              <a:rPr lang="en-MY" sz="900" dirty="0">
                <a:solidFill>
                  <a:schemeClr val="tx1">
                    <a:lumMod val="85000"/>
                    <a:lumOff val="15000"/>
                  </a:schemeClr>
                </a:solidFill>
              </a:rPr>
              <a:t>  component_complete[STRUKTUR_TEDUHAN]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STRUKTUR_TEDUHAN_EXAMPLE_01  &lt;-  K5-PL06-T03-B02-STRUKTUR-TEDUHAN-ROW-01  (ms 239/fiz 258)</a:t>
            </a:r>
          </a:p>
          <a:p>
            <a:r>
              <a:rPr lang="en-MY" sz="900" dirty="0">
                <a:solidFill>
                  <a:schemeClr val="tx1">
                    <a:lumMod val="85000"/>
                    <a:lumOff val="15000"/>
                  </a:schemeClr>
                </a:solidFill>
              </a:rPr>
              <a:t>  STRUKTUR_TEDUHAN_EXAMPLE_02  &lt;-  K5-PL06-T03-B02-STRUKTUR-TEDUHAN-ROW-02  (ms 239/fiz 258)</a:t>
            </a:r>
          </a:p>
          <a:p>
            <a:r>
              <a:rPr lang="en-MY" sz="900" dirty="0">
                <a:solidFill>
                  <a:schemeClr val="tx1">
                    <a:lumMod val="85000"/>
                    <a:lumOff val="15000"/>
                  </a:schemeClr>
                </a:solidFill>
              </a:rPr>
              <a:t>  STRUKTUR_TEDUHAN_EXAMPLE_03  &lt;-  K5-PL06-T03-B02-STRUKTUR-TEDUHAN-ROW-03  (ms 239/fiz 258)</a:t>
            </a:r>
          </a:p>
          <a:p>
            <a:r>
              <a:rPr lang="en-MY" sz="900" dirty="0">
                <a:solidFill>
                  <a:schemeClr val="tx1">
                    <a:lumMod val="85000"/>
                    <a:lumOff val="15000"/>
                  </a:schemeClr>
                </a:solidFill>
              </a:rPr>
              <a:t>  STRUKTUR_TEDUHAN_EXAMPLE_04  &lt;-  K5-PL06-T03-B02-STRUKTUR-TEDUHAN-ROW-04  (ms 239/fiz 258)</a:t>
            </a:r>
          </a:p>
          <a:p>
            <a:r>
              <a:rPr lang="en-MY" sz="900" dirty="0">
                <a:solidFill>
                  <a:schemeClr val="tx1">
                    <a:lumMod val="85000"/>
                    <a:lumOff val="15000"/>
                  </a:schemeClr>
                </a:solidFill>
              </a:rPr>
              <a:t>  STRUKTUR_TEDUHAN_EXAMPLE_05  &lt;-  K5-PL06-T03-B02-STRUKTUR-TEDUHAN-ROW-05  (ms 239/fiz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Tick"/>
          <p:cNvSpPr/>
          <p:nvPr/>
        </p:nvSpPr>
        <p:spPr>
          <a:xfrm>
            <a:off x="545819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638044"/>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Struktur Teduhan Moden</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429768"/>
          </a:xfrm>
          <a:prstGeom prst="rect">
            <a:avLst/>
          </a:prstGeom>
          <a:noFill/>
        </p:spPr>
        <p:txBody>
          <a:bodyPr wrap="square">
            <a:noAutofit/>
          </a:bodyPr>
          <a:lstStyle/>
          <a:p>
            <a:pPr/>
            <a:r>
              <a:rPr lang="en-MY" sz="1250" dirty="0">
                <a:solidFill>
                  <a:schemeClr val="tx1">
                    <a:lumMod val="85000"/>
                    <a:lumOff val="15000"/>
                  </a:schemeClr>
                </a:solidFill>
              </a:rPr>
              <a:t>Struktur teduhan dengan reka bentuk kontemporari, menggunakan bahan seperti keluli dan panel</a:t>
            </a:r>
          </a:p>
          <a:p>
            <a:pPr/>
            <a:r>
              <a:rPr lang="en-MY" sz="1250" dirty="0">
                <a:solidFill>
                  <a:schemeClr val="tx1">
                    <a:lumMod val="85000"/>
                    <a:lumOff val="15000"/>
                  </a:schemeClr>
                </a:solidFill>
              </a:rPr>
              <a:t>lutsinar atau berlubang untuk mencipta corak cahaya dan bayangan.</a:t>
            </a:r>
          </a:p>
        </p:txBody>
      </p:sp>
      <p:sp>
        <p:nvSpPr>
          <p:cNvPr id="212" name="FHead"/>
          <p:cNvSpPr txBox="1"/>
          <p:nvPr/>
        </p:nvSpPr>
        <p:spPr>
          <a:xfrm>
            <a:off x="1490472" y="3118104"/>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55848"/>
            <a:ext cx="9211026" cy="219456"/>
          </a:xfrm>
          <a:prstGeom prst="rect">
            <a:avLst/>
          </a:prstGeom>
          <a:noFill/>
        </p:spPr>
        <p:txBody>
          <a:bodyPr wrap="square">
            <a:noAutofit/>
          </a:bodyPr>
          <a:lstStyle/>
          <a:p>
            <a:pPr/>
            <a:r>
              <a:rPr lang="en-MY" sz="1250" dirty="0">
                <a:solidFill>
                  <a:schemeClr val="tx1">
                    <a:lumMod val="85000"/>
                    <a:lumOff val="15000"/>
                  </a:schemeClr>
                </a:solidFill>
              </a:rPr>
              <a:t>Banyak kawasan awam di Putrajaya</a:t>
            </a:r>
          </a:p>
        </p:txBody>
      </p:sp>
      <p:sp>
        <p:nvSpPr>
          <p:cNvPr id="260" name="Btn"/>
          <p:cNvSpPr txBox="1"/>
          <p:nvPr/>
        </p:nvSpPr>
        <p:spPr>
          <a:xfrm>
            <a:off x="9540210" y="38450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RP-019  (POPUP)</a:t>
            </a:r>
          </a:p>
          <a:p>
            <a:r>
              <a:rPr lang="en-MY" sz="900" b="1" dirty="0">
                <a:solidFill>
                  <a:schemeClr val="tx1">
                    <a:lumMod val="85000"/>
                    <a:lumOff val="15000"/>
                  </a:schemeClr>
                </a:solidFill>
              </a:rPr>
              <a:t>PHYSICAL LEARNER SCREEN: STRUKTUR_TEDUHAN_EXAMPLES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STRUKTUR_TEDUHAN_EXAMPLE_05</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4/5 item dilihat</a:t>
            </a:r>
          </a:p>
          <a:p>
            <a:r>
              <a:rPr lang="en-MY" sz="900" dirty="0">
                <a:solidFill>
                  <a:schemeClr val="tx1">
                    <a:lumMod val="85000"/>
                    <a:lumOff val="15000"/>
                  </a:schemeClr>
                </a:solidFill>
              </a:rPr>
              <a:t>  component_complete[STRUKTUR_TEDUHAN]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STRUKTUR_TEDUHAN_EXAMPLE_01  &lt;-  K5-PL06-T03-B02-STRUKTUR-TEDUHAN-ROW-01  (ms 239/fiz 258)</a:t>
            </a:r>
          </a:p>
          <a:p>
            <a:r>
              <a:rPr lang="en-MY" sz="900" dirty="0">
                <a:solidFill>
                  <a:schemeClr val="tx1">
                    <a:lumMod val="85000"/>
                    <a:lumOff val="15000"/>
                  </a:schemeClr>
                </a:solidFill>
              </a:rPr>
              <a:t>  STRUKTUR_TEDUHAN_EXAMPLE_02  &lt;-  K5-PL06-T03-B02-STRUKTUR-TEDUHAN-ROW-02  (ms 239/fiz 258)</a:t>
            </a:r>
          </a:p>
          <a:p>
            <a:r>
              <a:rPr lang="en-MY" sz="900" dirty="0">
                <a:solidFill>
                  <a:schemeClr val="tx1">
                    <a:lumMod val="85000"/>
                    <a:lumOff val="15000"/>
                  </a:schemeClr>
                </a:solidFill>
              </a:rPr>
              <a:t>  STRUKTUR_TEDUHAN_EXAMPLE_03  &lt;-  K5-PL06-T03-B02-STRUKTUR-TEDUHAN-ROW-03  (ms 239/fiz 258)</a:t>
            </a:r>
          </a:p>
          <a:p>
            <a:r>
              <a:rPr lang="en-MY" sz="900" dirty="0">
                <a:solidFill>
                  <a:schemeClr val="tx1">
                    <a:lumMod val="85000"/>
                    <a:lumOff val="15000"/>
                  </a:schemeClr>
                </a:solidFill>
              </a:rPr>
              <a:t>  STRUKTUR_TEDUHAN_EXAMPLE_04  &lt;-  K5-PL06-T03-B02-STRUKTUR-TEDUHAN-ROW-04  (ms 239/fiz 258)</a:t>
            </a:r>
          </a:p>
          <a:p>
            <a:r>
              <a:rPr lang="en-MY" sz="900" dirty="0">
                <a:solidFill>
                  <a:schemeClr val="tx1">
                    <a:lumMod val="85000"/>
                    <a:lumOff val="15000"/>
                  </a:schemeClr>
                </a:solidFill>
              </a:rPr>
              <a:t>  STRUKTUR_TEDUHAN_EXAMPLE_05  &lt;-  K5-PL06-T03-B02-STRUKTUR-TEDUHAN-ROW-05  (ms 239/fiz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Tick"/>
          <p:cNvSpPr/>
          <p:nvPr/>
        </p:nvSpPr>
        <p:spPr>
          <a:xfrm>
            <a:off x="545819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31315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49" name="Tick"/>
          <p:cNvSpPr/>
          <p:nvPr/>
        </p:nvSpPr>
        <p:spPr>
          <a:xfrm>
            <a:off x="918437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RP-020  (ALL_VIEWED)</a:t>
            </a:r>
          </a:p>
          <a:p>
            <a:r>
              <a:rPr lang="en-MY" sz="900" b="1" dirty="0">
                <a:solidFill>
                  <a:schemeClr val="tx1">
                    <a:lumMod val="85000"/>
                    <a:lumOff val="15000"/>
                  </a:schemeClr>
                </a:solidFill>
              </a:rPr>
              <a:t>PHYSICAL LEARNER SCREEN: STRUKTUR_TEDUHAN_EXAMPLES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5/5 item dilihat</a:t>
            </a:r>
          </a:p>
          <a:p>
            <a:r>
              <a:rPr lang="en-MY" sz="900" dirty="0">
                <a:solidFill>
                  <a:schemeClr val="tx1">
                    <a:lumMod val="85000"/>
                    <a:lumOff val="15000"/>
                  </a:schemeClr>
                </a:solidFill>
              </a:rPr>
              <a:t>  component_complete[STRUKTUR_TEDUHAN]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STRUKTUR_TEDUHAN_EXAMPLE_01  &lt;-  K5-PL06-T03-B02-STRUKTUR-TEDUHAN-ROW-01  (ms 239/fiz 258)</a:t>
            </a:r>
          </a:p>
          <a:p>
            <a:r>
              <a:rPr lang="en-MY" sz="900" dirty="0">
                <a:solidFill>
                  <a:schemeClr val="tx1">
                    <a:lumMod val="85000"/>
                    <a:lumOff val="15000"/>
                  </a:schemeClr>
                </a:solidFill>
              </a:rPr>
              <a:t>  STRUKTUR_TEDUHAN_EXAMPLE_02  &lt;-  K5-PL06-T03-B02-STRUKTUR-TEDUHAN-ROW-02  (ms 239/fiz 258)</a:t>
            </a:r>
          </a:p>
          <a:p>
            <a:r>
              <a:rPr lang="en-MY" sz="900" dirty="0">
                <a:solidFill>
                  <a:schemeClr val="tx1">
                    <a:lumMod val="85000"/>
                    <a:lumOff val="15000"/>
                  </a:schemeClr>
                </a:solidFill>
              </a:rPr>
              <a:t>  STRUKTUR_TEDUHAN_EXAMPLE_03  &lt;-  K5-PL06-T03-B02-STRUKTUR-TEDUHAN-ROW-03  (ms 239/fiz 258)</a:t>
            </a:r>
          </a:p>
          <a:p>
            <a:r>
              <a:rPr lang="en-MY" sz="900" dirty="0">
                <a:solidFill>
                  <a:schemeClr val="tx1">
                    <a:lumMod val="85000"/>
                    <a:lumOff val="15000"/>
                  </a:schemeClr>
                </a:solidFill>
              </a:rPr>
              <a:t>  STRUKTUR_TEDUHAN_EXAMPLE_04  &lt;-  K5-PL06-T03-B02-STRUKTUR-TEDUHAN-ROW-04  (ms 239/fiz 258)</a:t>
            </a:r>
          </a:p>
          <a:p>
            <a:r>
              <a:rPr lang="en-MY" sz="900" dirty="0">
                <a:solidFill>
                  <a:schemeClr val="tx1">
                    <a:lumMod val="85000"/>
                    <a:lumOff val="15000"/>
                  </a:schemeClr>
                </a:solidFill>
              </a:rPr>
              <a:t>  STRUKTUR_TEDUHAN_EXAMPLE_05  &lt;-  K5-PL06-T03-B02-STRUKTUR-TEDUHAN-ROW-05  (ms 239/fiz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Kemudahan Awam</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TIADA IMEJ SUMBER —</a:t>
            </a:r>
          </a:p>
          <a:p>
            <a:r>
              <a:rPr lang="en-MY" sz="1200" dirty="0">
                <a:solidFill>
                  <a:schemeClr val="tx1">
                    <a:lumMod val="85000"/>
                    <a:lumOff val="15000"/>
                  </a:schemeClr>
                </a:solidFill>
              </a:rPr>
              <a:t>NO_DEDICATED_SOURCE_IMAGE. Cadangan</a:t>
            </a:r>
          </a:p>
          <a:p>
            <a:r>
              <a:rPr lang="en-MY" sz="1200" dirty="0">
                <a:solidFill>
                  <a:schemeClr val="tx1">
                    <a:lumMod val="85000"/>
                    <a:lumOff val="15000"/>
                  </a:schemeClr>
                </a:solidFill>
              </a:rPr>
              <a:t>rajah native: tiga sel berlabel Tandas</a:t>
            </a:r>
          </a:p>
          <a:p>
            <a:r>
              <a:rPr lang="en-MY" sz="1200" dirty="0">
                <a:solidFill>
                  <a:schemeClr val="tx1">
                    <a:lumMod val="85000"/>
                    <a:lumOff val="15000"/>
                  </a:schemeClr>
                </a:solidFill>
              </a:rPr>
              <a:t>Awam | Surau | Bangunan Interpretatif.</a:t>
            </a:r>
          </a:p>
          <a:p>
            <a:r>
              <a:rPr lang="en-MY" sz="1200" dirty="0">
                <a:solidFill>
                  <a:schemeClr val="tx1">
                    <a:lumMod val="85000"/>
                    <a:lumOff val="15000"/>
                  </a:schemeClr>
                </a:solidFill>
              </a:rPr>
              <a:t>Tidak dilukis, tidak 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dirty="0"/>
              <a:t>Kemudahan Awam</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Perkhidmatan asas untuk keselesaan dan pendidikan pengguna taman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Reka bentuk berfungsi, tahan lasak dan mudah diselenggara</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Aksesibiliti OKU satu pertimbangan penting</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Bahan tahan vandalisme dan cuaca</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RP-021  (BASE)</a:t>
            </a:r>
          </a:p>
          <a:p>
            <a:r>
              <a:rPr lang="en-MY" sz="900" b="1" dirty="0">
                <a:solidFill>
                  <a:schemeClr val="tx1">
                    <a:lumMod val="85000"/>
                    <a:lumOff val="15000"/>
                  </a:schemeClr>
                </a:solidFill>
              </a:rPr>
              <a:t>PHYSICAL LEARNER SCREEN: KEMUDAHAN_AWAM_MAIN  [MAIN]</a:t>
            </a:r>
          </a:p>
          <a:p>
            <a:r>
              <a:rPr lang="en-MY" sz="900" dirty="0">
                <a:solidFill>
                  <a:schemeClr val="tx1">
                    <a:lumMod val="85000"/>
                    <a:lumOff val="15000"/>
                  </a:schemeClr>
                </a:solidFill>
              </a:rPr>
              <a:t/>
            </a: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main_vo_complete[KEMUDAHAN_AWAM]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KEMUDAHAN_AWAM_EXAMPLES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240 (fizikal 259).</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RP-022  (BASE)</a:t>
            </a:r>
          </a:p>
          <a:p>
            <a:r>
              <a:rPr lang="en-MY" sz="900" b="1" dirty="0">
                <a:solidFill>
                  <a:schemeClr val="tx1">
                    <a:lumMod val="85000"/>
                    <a:lumOff val="15000"/>
                  </a:schemeClr>
                </a:solidFill>
              </a:rPr>
              <a:t>PHYSICAL LEARNER SCREEN: KEMUDAHAN_AWAM_EXAMPLES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component_complete[KEMUDAHAN_AWAM]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KEMUDAHAN_AWAM_EXAMPLE_01  &lt;-  K5-PL06-T03-B02-KEMUDAHAN-AWAM-ROW-01  (ms 240/fiz 259)</a:t>
            </a:r>
          </a:p>
          <a:p>
            <a:r>
              <a:rPr lang="en-MY" sz="900" dirty="0">
                <a:solidFill>
                  <a:schemeClr val="tx1">
                    <a:lumMod val="85000"/>
                    <a:lumOff val="15000"/>
                  </a:schemeClr>
                </a:solidFill>
              </a:rPr>
              <a:t>  KEMUDAHAN_AWAM_EXAMPLE_02  &lt;-  K5-PL06-T03-B02-KEMUDAHAN-AWAM-ROW-02  (ms 240/fiz 259)</a:t>
            </a:r>
          </a:p>
          <a:p>
            <a:r>
              <a:rPr lang="en-MY" sz="900" dirty="0">
                <a:solidFill>
                  <a:schemeClr val="tx1">
                    <a:lumMod val="85000"/>
                    <a:lumOff val="15000"/>
                  </a:schemeClr>
                </a:solidFill>
              </a:rPr>
              <a:t>  KEMUDAHAN_AWAM_EXAMPLE_03  &lt;-  K5-PL06-T03-B02-KEMUDAHAN-AWAM-ROW-03  (ms 240/fiz 259)</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638044"/>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Tandas Awam</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429768"/>
          </a:xfrm>
          <a:prstGeom prst="rect">
            <a:avLst/>
          </a:prstGeom>
          <a:noFill/>
        </p:spPr>
        <p:txBody>
          <a:bodyPr wrap="square">
            <a:noAutofit/>
          </a:bodyPr>
          <a:lstStyle/>
          <a:p>
            <a:pPr/>
            <a:r>
              <a:rPr lang="en-MY" sz="1250" dirty="0">
                <a:solidFill>
                  <a:schemeClr val="tx1">
                    <a:lumMod val="85000"/>
                    <a:lumOff val="15000"/>
                  </a:schemeClr>
                </a:solidFill>
              </a:rPr>
              <a:t>Kemudahan sanitasi yang bersih dan boleh diakses. Pembinaannya perlu mematuhi piawaian</a:t>
            </a:r>
          </a:p>
          <a:p>
            <a:pPr/>
            <a:r>
              <a:rPr lang="en-MY" sz="1250" dirty="0">
                <a:solidFill>
                  <a:schemeClr val="tx1">
                    <a:lumMod val="85000"/>
                    <a:lumOff val="15000"/>
                  </a:schemeClr>
                </a:solidFill>
              </a:rPr>
              <a:t>kebersihan dan mempunyai sistem bekalan air serta saliran yang cekap.</a:t>
            </a:r>
          </a:p>
        </p:txBody>
      </p:sp>
      <p:sp>
        <p:nvSpPr>
          <p:cNvPr id="212" name="FHead"/>
          <p:cNvSpPr txBox="1"/>
          <p:nvPr/>
        </p:nvSpPr>
        <p:spPr>
          <a:xfrm>
            <a:off x="1490472" y="3118104"/>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55848"/>
            <a:ext cx="9211026" cy="219456"/>
          </a:xfrm>
          <a:prstGeom prst="rect">
            <a:avLst/>
          </a:prstGeom>
          <a:noFill/>
        </p:spPr>
        <p:txBody>
          <a:bodyPr wrap="square">
            <a:noAutofit/>
          </a:bodyPr>
          <a:lstStyle/>
          <a:p>
            <a:pPr/>
            <a:r>
              <a:rPr lang="en-MY" sz="1250" dirty="0">
                <a:solidFill>
                  <a:schemeClr val="tx1">
                    <a:lumMod val="85000"/>
                    <a:lumOff val="15000"/>
                  </a:schemeClr>
                </a:solidFill>
              </a:rPr>
              <a:t>Tandas Awam</a:t>
            </a:r>
          </a:p>
        </p:txBody>
      </p:sp>
      <p:sp>
        <p:nvSpPr>
          <p:cNvPr id="260" name="Btn"/>
          <p:cNvSpPr txBox="1"/>
          <p:nvPr/>
        </p:nvSpPr>
        <p:spPr>
          <a:xfrm>
            <a:off x="9540210" y="38450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RP-023  (POPUP)</a:t>
            </a:r>
          </a:p>
          <a:p>
            <a:r>
              <a:rPr lang="en-MY" sz="900" b="1" dirty="0">
                <a:solidFill>
                  <a:schemeClr val="tx1">
                    <a:lumMod val="85000"/>
                    <a:lumOff val="15000"/>
                  </a:schemeClr>
                </a:solidFill>
              </a:rPr>
              <a:t>PHYSICAL LEARNER SCREEN: KEMUDAHAN_AWAM_EXAMPLES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KEMUDAHAN_AWAM_EXAMPLE_01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component_complete[KEMUDAHAN_AWAM]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KEMUDAHAN_AWAM_EXAMPLE_01  &lt;-  K5-PL06-T03-B02-KEMUDAHAN-AWAM-ROW-01  (ms 240/fiz 259)</a:t>
            </a:r>
          </a:p>
          <a:p>
            <a:r>
              <a:rPr lang="en-MY" sz="900" dirty="0">
                <a:solidFill>
                  <a:schemeClr val="tx1">
                    <a:lumMod val="85000"/>
                    <a:lumOff val="15000"/>
                  </a:schemeClr>
                </a:solidFill>
              </a:rPr>
              <a:t>  KEMUDAHAN_AWAM_EXAMPLE_02  &lt;-  K5-PL06-T03-B02-KEMUDAHAN-AWAM-ROW-02  (ms 240/fiz 259)</a:t>
            </a:r>
          </a:p>
          <a:p>
            <a:r>
              <a:rPr lang="en-MY" sz="900" dirty="0">
                <a:solidFill>
                  <a:schemeClr val="tx1">
                    <a:lumMod val="85000"/>
                    <a:lumOff val="15000"/>
                  </a:schemeClr>
                </a:solidFill>
              </a:rPr>
              <a:t>  KEMUDAHAN_AWAM_EXAMPLE_03  &lt;-  K5-PL06-T03-B02-KEMUDAHAN-AWAM-ROW-03  (ms 240/fiz 259)</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638044"/>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Surau</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429768"/>
          </a:xfrm>
          <a:prstGeom prst="rect">
            <a:avLst/>
          </a:prstGeom>
          <a:noFill/>
        </p:spPr>
        <p:txBody>
          <a:bodyPr wrap="square">
            <a:noAutofit/>
          </a:bodyPr>
          <a:lstStyle/>
          <a:p>
            <a:pPr/>
            <a:r>
              <a:rPr lang="en-MY" sz="1250" dirty="0">
                <a:solidFill>
                  <a:schemeClr val="tx1">
                    <a:lumMod val="85000"/>
                    <a:lumOff val="15000"/>
                  </a:schemeClr>
                </a:solidFill>
              </a:rPr>
              <a:t>Ruang ibadah yang disediakan untuk umat Islam menunaikan solat. Reka bentuk biasanya ringkas</a:t>
            </a:r>
          </a:p>
          <a:p>
            <a:pPr/>
            <a:r>
              <a:rPr lang="en-MY" sz="1250" dirty="0">
                <a:solidFill>
                  <a:schemeClr val="tx1">
                    <a:lumMod val="85000"/>
                    <a:lumOff val="15000"/>
                  </a:schemeClr>
                </a:solidFill>
              </a:rPr>
              <a:t>tetapi memenuhi keperluan keagamaan.</a:t>
            </a:r>
          </a:p>
        </p:txBody>
      </p:sp>
      <p:sp>
        <p:nvSpPr>
          <p:cNvPr id="212" name="FHead"/>
          <p:cNvSpPr txBox="1"/>
          <p:nvPr/>
        </p:nvSpPr>
        <p:spPr>
          <a:xfrm>
            <a:off x="1490472" y="3118104"/>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55848"/>
            <a:ext cx="9211026" cy="219456"/>
          </a:xfrm>
          <a:prstGeom prst="rect">
            <a:avLst/>
          </a:prstGeom>
          <a:noFill/>
        </p:spPr>
        <p:txBody>
          <a:bodyPr wrap="square">
            <a:noAutofit/>
          </a:bodyPr>
          <a:lstStyle/>
          <a:p>
            <a:pPr/>
            <a:r>
              <a:rPr lang="en-MY" sz="1250" dirty="0">
                <a:solidFill>
                  <a:schemeClr val="tx1">
                    <a:lumMod val="85000"/>
                    <a:lumOff val="15000"/>
                  </a:schemeClr>
                </a:solidFill>
              </a:rPr>
              <a:t>Surau</a:t>
            </a:r>
          </a:p>
        </p:txBody>
      </p:sp>
      <p:sp>
        <p:nvSpPr>
          <p:cNvPr id="260" name="Btn"/>
          <p:cNvSpPr txBox="1"/>
          <p:nvPr/>
        </p:nvSpPr>
        <p:spPr>
          <a:xfrm>
            <a:off x="9540210" y="38450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RP-024  (POPUP)</a:t>
            </a:r>
          </a:p>
          <a:p>
            <a:r>
              <a:rPr lang="en-MY" sz="900" b="1" dirty="0">
                <a:solidFill>
                  <a:schemeClr val="tx1">
                    <a:lumMod val="85000"/>
                    <a:lumOff val="15000"/>
                  </a:schemeClr>
                </a:solidFill>
              </a:rPr>
              <a:t>PHYSICAL LEARNER SCREEN: KEMUDAHAN_AWAM_EXAMPLES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KEMUDAHAN_AWAM_EXAMPLE_02</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1/3 item dilihat</a:t>
            </a:r>
          </a:p>
          <a:p>
            <a:r>
              <a:rPr lang="en-MY" sz="900" dirty="0">
                <a:solidFill>
                  <a:schemeClr val="tx1">
                    <a:lumMod val="85000"/>
                    <a:lumOff val="15000"/>
                  </a:schemeClr>
                </a:solidFill>
              </a:rPr>
              <a:t>  component_complete[KEMUDAHAN_AWAM]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KEMUDAHAN_AWAM_EXAMPLE_01  &lt;-  K5-PL06-T03-B02-KEMUDAHAN-AWAM-ROW-01  (ms 240/fiz 259)</a:t>
            </a:r>
          </a:p>
          <a:p>
            <a:r>
              <a:rPr lang="en-MY" sz="900" dirty="0">
                <a:solidFill>
                  <a:schemeClr val="tx1">
                    <a:lumMod val="85000"/>
                    <a:lumOff val="15000"/>
                  </a:schemeClr>
                </a:solidFill>
              </a:rPr>
              <a:t>  KEMUDAHAN_AWAM_EXAMPLE_02  &lt;-  K5-PL06-T03-B02-KEMUDAHAN-AWAM-ROW-02  (ms 240/fiz 259)</a:t>
            </a:r>
          </a:p>
          <a:p>
            <a:r>
              <a:rPr lang="en-MY" sz="900" dirty="0">
                <a:solidFill>
                  <a:schemeClr val="tx1">
                    <a:lumMod val="85000"/>
                    <a:lumOff val="15000"/>
                  </a:schemeClr>
                </a:solidFill>
              </a:rPr>
              <a:t>  KEMUDAHAN_AWAM_EXAMPLE_03  &lt;-  K5-PL06-T03-B02-KEMUDAHAN-AWAM-ROW-03  (ms 240/fiz 259)</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638044"/>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Bangunan Interpretatif</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429768"/>
          </a:xfrm>
          <a:prstGeom prst="rect">
            <a:avLst/>
          </a:prstGeom>
          <a:noFill/>
        </p:spPr>
        <p:txBody>
          <a:bodyPr wrap="square">
            <a:noAutofit/>
          </a:bodyPr>
          <a:lstStyle/>
          <a:p>
            <a:pPr/>
            <a:r>
              <a:rPr lang="en-MY" sz="1250" dirty="0">
                <a:solidFill>
                  <a:schemeClr val="tx1">
                    <a:lumMod val="85000"/>
                    <a:lumOff val="15000"/>
                  </a:schemeClr>
                </a:solidFill>
              </a:rPr>
              <a:t>Struktur yang menyediakan maklumat pendidikan tentang persekitaran (flora, fauna, sejarah,</a:t>
            </a:r>
          </a:p>
          <a:p>
            <a:pPr/>
            <a:r>
              <a:rPr lang="en-MY" sz="1250" dirty="0">
                <a:solidFill>
                  <a:schemeClr val="tx1">
                    <a:lumMod val="85000"/>
                    <a:lumOff val="15000"/>
                  </a:schemeClr>
                </a:solidFill>
              </a:rPr>
              <a:t>geologi) melalui pameran, paparan, atau papan tanda.</a:t>
            </a:r>
          </a:p>
        </p:txBody>
      </p:sp>
      <p:sp>
        <p:nvSpPr>
          <p:cNvPr id="212" name="FHead"/>
          <p:cNvSpPr txBox="1"/>
          <p:nvPr/>
        </p:nvSpPr>
        <p:spPr>
          <a:xfrm>
            <a:off x="1490472" y="3118104"/>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55848"/>
            <a:ext cx="9211026" cy="219456"/>
          </a:xfrm>
          <a:prstGeom prst="rect">
            <a:avLst/>
          </a:prstGeom>
          <a:noFill/>
        </p:spPr>
        <p:txBody>
          <a:bodyPr wrap="square">
            <a:noAutofit/>
          </a:bodyPr>
          <a:lstStyle/>
          <a:p>
            <a:pPr/>
            <a:r>
              <a:rPr lang="en-MY" sz="1250" dirty="0">
                <a:solidFill>
                  <a:schemeClr val="tx1">
                    <a:lumMod val="85000"/>
                    <a:lumOff val="15000"/>
                  </a:schemeClr>
                </a:solidFill>
              </a:rPr>
              <a:t>Bangunan Interpretatif</a:t>
            </a:r>
          </a:p>
        </p:txBody>
      </p:sp>
      <p:sp>
        <p:nvSpPr>
          <p:cNvPr id="260" name="Btn"/>
          <p:cNvSpPr txBox="1"/>
          <p:nvPr/>
        </p:nvSpPr>
        <p:spPr>
          <a:xfrm>
            <a:off x="9540210" y="38450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RP-025  (POPUP)</a:t>
            </a:r>
          </a:p>
          <a:p>
            <a:r>
              <a:rPr lang="en-MY" sz="900" b="1" dirty="0">
                <a:solidFill>
                  <a:schemeClr val="tx1">
                    <a:lumMod val="85000"/>
                    <a:lumOff val="15000"/>
                  </a:schemeClr>
                </a:solidFill>
              </a:rPr>
              <a:t>PHYSICAL LEARNER SCREEN: KEMUDAHAN_AWAM_EXAMPLES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KEMUDAHAN_AWAM_EXAMPLE_03</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2/3 item dilihat</a:t>
            </a:r>
          </a:p>
          <a:p>
            <a:r>
              <a:rPr lang="en-MY" sz="900" dirty="0">
                <a:solidFill>
                  <a:schemeClr val="tx1">
                    <a:lumMod val="85000"/>
                    <a:lumOff val="15000"/>
                  </a:schemeClr>
                </a:solidFill>
              </a:rPr>
              <a:t>  component_complete[KEMUDAHAN_AWAM]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KEMUDAHAN_AWAM_EXAMPLE_01  &lt;-  K5-PL06-T03-B02-KEMUDAHAN-AWAM-ROW-01  (ms 240/fiz 259)</a:t>
            </a:r>
          </a:p>
          <a:p>
            <a:r>
              <a:rPr lang="en-MY" sz="900" dirty="0">
                <a:solidFill>
                  <a:schemeClr val="tx1">
                    <a:lumMod val="85000"/>
                    <a:lumOff val="15000"/>
                  </a:schemeClr>
                </a:solidFill>
              </a:rPr>
              <a:t>  KEMUDAHAN_AWAM_EXAMPLE_02  &lt;-  K5-PL06-T03-B02-KEMUDAHAN-AWAM-ROW-02  (ms 240/fiz 259)</a:t>
            </a:r>
          </a:p>
          <a:p>
            <a:r>
              <a:rPr lang="en-MY" sz="900" dirty="0">
                <a:solidFill>
                  <a:schemeClr val="tx1">
                    <a:lumMod val="85000"/>
                    <a:lumOff val="15000"/>
                  </a:schemeClr>
                </a:solidFill>
              </a:rPr>
              <a:t>  KEMUDAHAN_AWAM_EXAMPLE_03  &lt;-  K5-PL06-T03-B02-KEMUDAHAN-AWAM-ROW-03  (ms 240/fiz 259)</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RP-026  (ALL_VIEWED)</a:t>
            </a:r>
          </a:p>
          <a:p>
            <a:r>
              <a:rPr lang="en-MY" sz="900" b="1" dirty="0">
                <a:solidFill>
                  <a:schemeClr val="tx1">
                    <a:lumMod val="85000"/>
                    <a:lumOff val="15000"/>
                  </a:schemeClr>
                </a:solidFill>
              </a:rPr>
              <a:t>PHYSICAL LEARNER SCREEN: KEMUDAHAN_AWAM_EXAMPLES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3/3 item dilihat</a:t>
            </a:r>
          </a:p>
          <a:p>
            <a:r>
              <a:rPr lang="en-MY" sz="900" dirty="0">
                <a:solidFill>
                  <a:schemeClr val="tx1">
                    <a:lumMod val="85000"/>
                    <a:lumOff val="15000"/>
                  </a:schemeClr>
                </a:solidFill>
              </a:rPr>
              <a:t>  component_complete[KEMUDAHAN_AWAM]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KEMUDAHAN_AWAM_EXAMPLE_01  &lt;-  K5-PL06-T03-B02-KEMUDAHAN-AWAM-ROW-01  (ms 240/fiz 259)</a:t>
            </a:r>
          </a:p>
          <a:p>
            <a:r>
              <a:rPr lang="en-MY" sz="900" dirty="0">
                <a:solidFill>
                  <a:schemeClr val="tx1">
                    <a:lumMod val="85000"/>
                    <a:lumOff val="15000"/>
                  </a:schemeClr>
                </a:solidFill>
              </a:rPr>
              <a:t>  KEMUDAHAN_AWAM_EXAMPLE_02  &lt;-  K5-PL06-T03-B02-KEMUDAHAN-AWAM-ROW-02  (ms 240/fiz 259)</a:t>
            </a:r>
          </a:p>
          <a:p>
            <a:r>
              <a:rPr lang="en-MY" sz="900" dirty="0">
                <a:solidFill>
                  <a:schemeClr val="tx1">
                    <a:lumMod val="85000"/>
                    <a:lumOff val="15000"/>
                  </a:schemeClr>
                </a:solidFill>
              </a:rPr>
              <a:t>  KEMUDAHAN_AWAM_EXAMPLE_03  &lt;-  K5-PL06-T03-B02-KEMUDAHAN-AWAM-ROW-03  (ms 240/fiz 259)</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Water Feature</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TIADA IMEJ SUMBER —</a:t>
            </a:r>
          </a:p>
          <a:p>
            <a:r>
              <a:rPr lang="en-MY" sz="1200" dirty="0">
                <a:solidFill>
                  <a:schemeClr val="tx1">
                    <a:lumMod val="85000"/>
                    <a:lumOff val="15000"/>
                  </a:schemeClr>
                </a:solidFill>
              </a:rPr>
              <a:t>NO_DEDICATED_SOURCE_IMAGE. Cadangan</a:t>
            </a:r>
          </a:p>
          <a:p>
            <a:r>
              <a:rPr lang="en-MY" sz="1200" dirty="0">
                <a:solidFill>
                  <a:schemeClr val="tx1">
                    <a:lumMod val="85000"/>
                    <a:lumOff val="15000"/>
                  </a:schemeClr>
                </a:solidFill>
              </a:rPr>
              <a:t>rajah native: keratan rentas dengan pam,</a:t>
            </a:r>
          </a:p>
          <a:p>
            <a:r>
              <a:rPr lang="en-MY" sz="1200" dirty="0">
                <a:solidFill>
                  <a:schemeClr val="tx1">
                    <a:lumMod val="85000"/>
                    <a:lumOff val="15000"/>
                  </a:schemeClr>
                </a:solidFill>
              </a:rPr>
              <a:t>penapis, paip dan saliran berlabel.</a:t>
            </a:r>
          </a:p>
          <a:p>
            <a:r>
              <a:rPr lang="en-MY" sz="1200" dirty="0">
                <a:solidFill>
                  <a:schemeClr val="tx1">
                    <a:lumMod val="85000"/>
                    <a:lumOff val="15000"/>
                  </a:schemeClr>
                </a:solidFill>
              </a:rPr>
              <a:t>Tidak dilukis, tidak 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i="1" dirty="0"/>
              <a:t>Water Feature</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Elemen landskap yang menggunakan air untuk estetika, bunyi atau titik tumpuan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Perlu sistem paip, pam air, penapisan dan saliran yang betul</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Kawalan kualiti air termasuk pencegahan alga</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Keselamatan: kedalaman dan permukaan yang tidak licin</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RP-027  (BASE)</a:t>
            </a:r>
          </a:p>
          <a:p>
            <a:r>
              <a:rPr lang="en-MY" sz="900" b="1" dirty="0">
                <a:solidFill>
                  <a:schemeClr val="tx1">
                    <a:lumMod val="85000"/>
                    <a:lumOff val="15000"/>
                  </a:schemeClr>
                </a:solidFill>
              </a:rPr>
              <a:t>PHYSICAL LEARNER SCREEN: WATER_FEATURE_MAIN  [MAIN]</a:t>
            </a:r>
          </a:p>
          <a:p>
            <a:r>
              <a:rPr lang="en-MY" sz="900" dirty="0">
                <a:solidFill>
                  <a:schemeClr val="tx1">
                    <a:lumMod val="85000"/>
                    <a:lumOff val="15000"/>
                  </a:schemeClr>
                </a:solidFill>
              </a:rPr>
              <a:t/>
            </a: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main_vo_complete[WATER_FEATURE]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WATER_FEATURE_EXAMPLES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241 (fizikal 260).</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RP-028  (BASE)</a:t>
            </a:r>
          </a:p>
          <a:p>
            <a:r>
              <a:rPr lang="en-MY" sz="900" b="1" dirty="0">
                <a:solidFill>
                  <a:schemeClr val="tx1">
                    <a:lumMod val="85000"/>
                    <a:lumOff val="15000"/>
                  </a:schemeClr>
                </a:solidFill>
              </a:rPr>
              <a:t>PHYSICAL LEARNER SCREEN: WATER_FEATURE_EXAMPLES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component_complete[WATER_FEATURE]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WATER_FEATURE_EXAMPLE_01  &lt;-  K5-PL06-T03-B02-WATER-FEATURE-ROW-01  (ms 241/fiz 260)</a:t>
            </a:r>
          </a:p>
          <a:p>
            <a:r>
              <a:rPr lang="en-MY" sz="900" dirty="0">
                <a:solidFill>
                  <a:schemeClr val="tx1">
                    <a:lumMod val="85000"/>
                    <a:lumOff val="15000"/>
                  </a:schemeClr>
                </a:solidFill>
              </a:rPr>
              <a:t>  WATER_FEATURE_EXAMPLE_02  &lt;-  K5-PL06-T03-B02-WATER-FEATURE-ROW-02  (ms 241/fiz 260)</a:t>
            </a:r>
          </a:p>
          <a:p>
            <a:r>
              <a:rPr lang="en-MY" sz="900" dirty="0">
                <a:solidFill>
                  <a:schemeClr val="tx1">
                    <a:lumMod val="85000"/>
                    <a:lumOff val="15000"/>
                  </a:schemeClr>
                </a:solidFill>
              </a:rPr>
              <a:t>  WATER_FEATURE_EXAMPLE_03  &lt;-  K5-PL06-T03-B02-WATER-FEATURE-ROW-03  (ms 241/fiz 260)</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638044"/>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Air Pancut (Fountain)</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429768"/>
          </a:xfrm>
          <a:prstGeom prst="rect">
            <a:avLst/>
          </a:prstGeom>
          <a:noFill/>
        </p:spPr>
        <p:txBody>
          <a:bodyPr wrap="square">
            <a:noAutofit/>
          </a:bodyPr>
          <a:lstStyle/>
          <a:p>
            <a:pPr/>
            <a:r>
              <a:rPr lang="en-MY" sz="1250" dirty="0">
                <a:solidFill>
                  <a:schemeClr val="tx1">
                    <a:lumMod val="85000"/>
                    <a:lumOff val="15000"/>
                  </a:schemeClr>
                </a:solidFill>
              </a:rPr>
              <a:t>Struktur yang mengeluarkan air dalam corak tertentu, mewujudkan bunyi yang menenangkan dan</a:t>
            </a:r>
          </a:p>
          <a:p>
            <a:pPr/>
            <a:r>
              <a:rPr lang="en-MY" sz="1250" dirty="0">
                <a:solidFill>
                  <a:schemeClr val="tx1">
                    <a:lumMod val="85000"/>
                    <a:lumOff val="15000"/>
                  </a:schemeClr>
                </a:solidFill>
              </a:rPr>
              <a:t>pergerakan visual.</a:t>
            </a:r>
          </a:p>
        </p:txBody>
      </p:sp>
      <p:sp>
        <p:nvSpPr>
          <p:cNvPr id="212" name="FHead"/>
          <p:cNvSpPr txBox="1"/>
          <p:nvPr/>
        </p:nvSpPr>
        <p:spPr>
          <a:xfrm>
            <a:off x="1490472" y="3118104"/>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55848"/>
            <a:ext cx="9211026" cy="219456"/>
          </a:xfrm>
          <a:prstGeom prst="rect">
            <a:avLst/>
          </a:prstGeom>
          <a:noFill/>
        </p:spPr>
        <p:txBody>
          <a:bodyPr wrap="square">
            <a:noAutofit/>
          </a:bodyPr>
          <a:lstStyle/>
          <a:p>
            <a:pPr/>
            <a:r>
              <a:rPr lang="en-MY" sz="1250" dirty="0">
                <a:solidFill>
                  <a:schemeClr val="tx1">
                    <a:lumMod val="85000"/>
                    <a:lumOff val="15000"/>
                  </a:schemeClr>
                </a:solidFill>
              </a:rPr>
              <a:t>Air Pancut (Fountain)</a:t>
            </a:r>
          </a:p>
        </p:txBody>
      </p:sp>
      <p:sp>
        <p:nvSpPr>
          <p:cNvPr id="260" name="Btn"/>
          <p:cNvSpPr txBox="1"/>
          <p:nvPr/>
        </p:nvSpPr>
        <p:spPr>
          <a:xfrm>
            <a:off x="9540210" y="38450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RP-029  (POPUP)</a:t>
            </a:r>
          </a:p>
          <a:p>
            <a:r>
              <a:rPr lang="en-MY" sz="900" b="1" dirty="0">
                <a:solidFill>
                  <a:schemeClr val="tx1">
                    <a:lumMod val="85000"/>
                    <a:lumOff val="15000"/>
                  </a:schemeClr>
                </a:solidFill>
              </a:rPr>
              <a:t>PHYSICAL LEARNER SCREEN: WATER_FEATURE_EXAMPLES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WATER_FEATURE_EXAMPLE_01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component_complete[WATER_FEATURE]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WATER_FEATURE_EXAMPLE_01  &lt;-  K5-PL06-T03-B02-WATER-FEATURE-ROW-01  (ms 241/fiz 260)</a:t>
            </a:r>
          </a:p>
          <a:p>
            <a:r>
              <a:rPr lang="en-MY" sz="900" dirty="0">
                <a:solidFill>
                  <a:schemeClr val="tx1">
                    <a:lumMod val="85000"/>
                    <a:lumOff val="15000"/>
                  </a:schemeClr>
                </a:solidFill>
              </a:rPr>
              <a:t>  WATER_FEATURE_EXAMPLE_02  &lt;-  K5-PL06-T03-B02-WATER-FEATURE-ROW-02  (ms 241/fiz 260)</a:t>
            </a:r>
          </a:p>
          <a:p>
            <a:r>
              <a:rPr lang="en-MY" sz="900" dirty="0">
                <a:solidFill>
                  <a:schemeClr val="tx1">
                    <a:lumMod val="85000"/>
                    <a:lumOff val="15000"/>
                  </a:schemeClr>
                </a:solidFill>
              </a:rPr>
              <a:t>  WATER_FEATURE_EXAMPLE_03  &lt;-  K5-PL06-T03-B02-WATER-FEATURE-ROW-03  (ms 241/fiz 260)</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Kolam (Pond)</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pPr/>
            <a:r>
              <a:rPr lang="en-MY" sz="1250" dirty="0">
                <a:solidFill>
                  <a:schemeClr val="tx1">
                    <a:lumMod val="85000"/>
                    <a:lumOff val="15000"/>
                  </a:schemeClr>
                </a:solidFill>
              </a:rPr>
              <a:t>Kawasan air statik atau perlahan, boleh menjadi kolam hiasan, kolam ikan, atau kolam refleksi.</a:t>
            </a:r>
          </a:p>
        </p:txBody>
      </p:sp>
      <p:sp>
        <p:nvSpPr>
          <p:cNvPr id="212" name="FHead"/>
          <p:cNvSpPr txBox="1"/>
          <p:nvPr/>
        </p:nvSpPr>
        <p:spPr>
          <a:xfrm>
            <a:off x="1490472" y="290322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pPr/>
            <a:r>
              <a:rPr lang="en-MY" sz="1250" dirty="0">
                <a:solidFill>
                  <a:schemeClr val="tx1">
                    <a:lumMod val="85000"/>
                    <a:lumOff val="15000"/>
                  </a:schemeClr>
                </a:solidFill>
              </a:rPr>
              <a:t>Kolam (Pond)</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RP-030  (POPUP)</a:t>
            </a:r>
          </a:p>
          <a:p>
            <a:r>
              <a:rPr lang="en-MY" sz="900" b="1" dirty="0">
                <a:solidFill>
                  <a:schemeClr val="tx1">
                    <a:lumMod val="85000"/>
                    <a:lumOff val="15000"/>
                  </a:schemeClr>
                </a:solidFill>
              </a:rPr>
              <a:t>PHYSICAL LEARNER SCREEN: WATER_FEATURE_EXAMPLES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WATER_FEATURE_EXAMPLE_02</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1/3 item dilihat</a:t>
            </a:r>
          </a:p>
          <a:p>
            <a:r>
              <a:rPr lang="en-MY" sz="900" dirty="0">
                <a:solidFill>
                  <a:schemeClr val="tx1">
                    <a:lumMod val="85000"/>
                    <a:lumOff val="15000"/>
                  </a:schemeClr>
                </a:solidFill>
              </a:rPr>
              <a:t>  component_complete[WATER_FEATURE]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WATER_FEATURE_EXAMPLE_01  &lt;-  K5-PL06-T03-B02-WATER-FEATURE-ROW-01  (ms 241/fiz 260)</a:t>
            </a:r>
          </a:p>
          <a:p>
            <a:r>
              <a:rPr lang="en-MY" sz="900" dirty="0">
                <a:solidFill>
                  <a:schemeClr val="tx1">
                    <a:lumMod val="85000"/>
                    <a:lumOff val="15000"/>
                  </a:schemeClr>
                </a:solidFill>
              </a:rPr>
              <a:t>  WATER_FEATURE_EXAMPLE_02  &lt;-  K5-PL06-T03-B02-WATER-FEATURE-ROW-02  (ms 241/fiz 260)</a:t>
            </a:r>
          </a:p>
          <a:p>
            <a:r>
              <a:rPr lang="en-MY" sz="900" dirty="0">
                <a:solidFill>
                  <a:schemeClr val="tx1">
                    <a:lumMod val="85000"/>
                    <a:lumOff val="15000"/>
                  </a:schemeClr>
                </a:solidFill>
              </a:rPr>
              <a:t>  WATER_FEATURE_EXAMPLE_03  &lt;-  K5-PL06-T03-B02-WATER-FEATURE-ROW-03  (ms 241/fiz 260)</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638044"/>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Kolam Renang / Kolam Hiasan Besar (Pool)</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FUNGSI &amp; PENERANGAN</a:t>
            </a:r>
          </a:p>
        </p:txBody>
      </p:sp>
      <p:sp>
        <p:nvSpPr>
          <p:cNvPr id="211" name="FBody"/>
          <p:cNvSpPr txBox="1"/>
          <p:nvPr/>
        </p:nvSpPr>
        <p:spPr>
          <a:xfrm>
            <a:off x="1490472" y="2542032"/>
            <a:ext cx="9211026" cy="429768"/>
          </a:xfrm>
          <a:prstGeom prst="rect">
            <a:avLst/>
          </a:prstGeom>
          <a:noFill/>
        </p:spPr>
        <p:txBody>
          <a:bodyPr wrap="square">
            <a:noAutofit/>
          </a:bodyPr>
          <a:lstStyle/>
          <a:p>
            <a:pPr/>
            <a:r>
              <a:rPr lang="en-MY" sz="1250" dirty="0">
                <a:solidFill>
                  <a:schemeClr val="tx1">
                    <a:lumMod val="85000"/>
                    <a:lumOff val="15000"/>
                  </a:schemeClr>
                </a:solidFill>
              </a:rPr>
              <a:t>Kolam berskala lebih besar, sama ada untuk berenang atau sebagai kolam hiasan dengan ciri-ciri</a:t>
            </a:r>
          </a:p>
          <a:p>
            <a:pPr/>
            <a:r>
              <a:rPr lang="en-MY" sz="1250" dirty="0">
                <a:solidFill>
                  <a:schemeClr val="tx1">
                    <a:lumMod val="85000"/>
                    <a:lumOff val="15000"/>
                  </a:schemeClr>
                </a:solidFill>
              </a:rPr>
              <a:t>reka bentuk yang kompleks.</a:t>
            </a:r>
          </a:p>
        </p:txBody>
      </p:sp>
      <p:sp>
        <p:nvSpPr>
          <p:cNvPr id="212" name="FHead"/>
          <p:cNvSpPr txBox="1"/>
          <p:nvPr/>
        </p:nvSpPr>
        <p:spPr>
          <a:xfrm>
            <a:off x="1490472" y="3118104"/>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55848"/>
            <a:ext cx="9211026" cy="219456"/>
          </a:xfrm>
          <a:prstGeom prst="rect">
            <a:avLst/>
          </a:prstGeom>
          <a:noFill/>
        </p:spPr>
        <p:txBody>
          <a:bodyPr wrap="square">
            <a:noAutofit/>
          </a:bodyPr>
          <a:lstStyle/>
          <a:p>
            <a:pPr/>
            <a:r>
              <a:rPr lang="en-MY" sz="1250" dirty="0">
                <a:solidFill>
                  <a:schemeClr val="tx1">
                    <a:lumMod val="85000"/>
                    <a:lumOff val="15000"/>
                  </a:schemeClr>
                </a:solidFill>
              </a:rPr>
              <a:t>Kolam Renang/Kolam Hiasan Besar(Pool)</a:t>
            </a:r>
          </a:p>
        </p:txBody>
      </p:sp>
      <p:sp>
        <p:nvSpPr>
          <p:cNvPr id="260" name="Btn"/>
          <p:cNvSpPr txBox="1"/>
          <p:nvPr/>
        </p:nvSpPr>
        <p:spPr>
          <a:xfrm>
            <a:off x="9540210" y="38450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RP-031  (POPUP)</a:t>
            </a:r>
          </a:p>
          <a:p>
            <a:r>
              <a:rPr lang="en-MY" sz="900" b="1" dirty="0">
                <a:solidFill>
                  <a:schemeClr val="tx1">
                    <a:lumMod val="85000"/>
                    <a:lumOff val="15000"/>
                  </a:schemeClr>
                </a:solidFill>
              </a:rPr>
              <a:t>PHYSICAL LEARNER SCREEN: WATER_FEATURE_EXAMPLES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WATER_FEATURE_EXAMPLE_03</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2/3 item dilihat</a:t>
            </a:r>
          </a:p>
          <a:p>
            <a:r>
              <a:rPr lang="en-MY" sz="900" dirty="0">
                <a:solidFill>
                  <a:schemeClr val="tx1">
                    <a:lumMod val="85000"/>
                    <a:lumOff val="15000"/>
                  </a:schemeClr>
                </a:solidFill>
              </a:rPr>
              <a:t>  component_complete[WATER_FEATURE]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WATER_FEATURE_EXAMPLE_01  &lt;-  K5-PL06-T03-B02-WATER-FEATURE-ROW-01  (ms 241/fiz 260)</a:t>
            </a:r>
          </a:p>
          <a:p>
            <a:r>
              <a:rPr lang="en-MY" sz="900" dirty="0">
                <a:solidFill>
                  <a:schemeClr val="tx1">
                    <a:lumMod val="85000"/>
                    <a:lumOff val="15000"/>
                  </a:schemeClr>
                </a:solidFill>
              </a:rPr>
              <a:t>  WATER_FEATURE_EXAMPLE_02  &lt;-  K5-PL06-T03-B02-WATER-FEATURE-ROW-02  (ms 241/fiz 260)</a:t>
            </a:r>
          </a:p>
          <a:p>
            <a:r>
              <a:rPr lang="en-MY" sz="900" dirty="0">
                <a:solidFill>
                  <a:schemeClr val="tx1">
                    <a:lumMod val="85000"/>
                    <a:lumOff val="15000"/>
                  </a:schemeClr>
                </a:solidFill>
              </a:rPr>
              <a:t>  WATER_FEATURE_EXAMPLE_03  &lt;-  K5-PL06-T03-B02-WATER-FEATURE-ROW-03  (ms 241/fiz 260)</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RP-032  (ALL_VIEWED)</a:t>
            </a:r>
          </a:p>
          <a:p>
            <a:r>
              <a:rPr lang="en-MY" sz="900" b="1" dirty="0">
                <a:solidFill>
                  <a:schemeClr val="tx1">
                    <a:lumMod val="85000"/>
                    <a:lumOff val="15000"/>
                  </a:schemeClr>
                </a:solidFill>
              </a:rPr>
              <a:t>PHYSICAL LEARNER SCREEN: WATER_FEATURE_EXAMPLES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3/3 item dilihat</a:t>
            </a:r>
          </a:p>
          <a:p>
            <a:r>
              <a:rPr lang="en-MY" sz="900" dirty="0">
                <a:solidFill>
                  <a:schemeClr val="tx1">
                    <a:lumMod val="85000"/>
                    <a:lumOff val="15000"/>
                  </a:schemeClr>
                </a:solidFill>
              </a:rPr>
              <a:t>  component_complete[WATER_FEATURE]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WATER_FEATURE_EXAMPLE_01  &lt;-  K5-PL06-T03-B02-WATER-FEATURE-ROW-01  (ms 241/fiz 260)</a:t>
            </a:r>
          </a:p>
          <a:p>
            <a:r>
              <a:rPr lang="en-MY" sz="900" dirty="0">
                <a:solidFill>
                  <a:schemeClr val="tx1">
                    <a:lumMod val="85000"/>
                    <a:lumOff val="15000"/>
                  </a:schemeClr>
                </a:solidFill>
              </a:rPr>
              <a:t>  WATER_FEATURE_EXAMPLE_02  &lt;-  K5-PL06-T03-B02-WATER-FEATURE-ROW-02  (ms 241/fiz 260)</a:t>
            </a:r>
          </a:p>
          <a:p>
            <a:r>
              <a:rPr lang="en-MY" sz="900" dirty="0">
                <a:solidFill>
                  <a:schemeClr val="tx1">
                    <a:lumMod val="85000"/>
                    <a:lumOff val="15000"/>
                  </a:schemeClr>
                </a:solidFill>
              </a:rPr>
              <a:t>  WATER_FEATURE_EXAMPLE_03  &lt;-  K5-PL06-T03-B02-WATER-FEATURE-ROW-03  (ms 241/fiz 260)</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2174397" y="1051560"/>
            <a:ext cx="7843175" cy="369326"/>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Rectangle 9"/>
          <p:cNvSpPr/>
          <p:nvPr/>
        </p:nvSpPr>
        <p:spPr>
          <a:xfrm>
            <a:off x="2174397" y="1508760"/>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Struktur Persisir Air]</a:t>
            </a:r>
          </a:p>
          <a:p>
            <a:r>
              <a:rPr lang="en-MY" sz="1200" dirty="0">
                <a:solidFill>
                  <a:schemeClr val="tx1">
                    <a:lumMod val="85000"/>
                    <a:lumOff val="15000"/>
                  </a:schemeClr>
                </a:solidFill>
              </a:rPr>
              <a:t>Rajah 23</a:t>
            </a:r>
          </a:p>
          <a:p>
            <a:r>
              <a:rPr lang="en-MY" sz="1200" dirty="0">
                <a:solidFill>
                  <a:schemeClr val="tx1">
                    <a:lumMod val="85000"/>
                    <a:lumOff val="15000"/>
                  </a:schemeClr>
                </a:solidFill>
              </a:rPr>
              <a:t>modul ms 239</a:t>
            </a:r>
          </a:p>
          <a:p>
            <a:r>
              <a:rPr lang="en-MY" sz="1200" dirty="0">
                <a:solidFill>
                  <a:schemeClr val="tx1">
                    <a:lumMod val="85000"/>
                    <a:lumOff val="15000"/>
                  </a:schemeClr>
                </a:solidFill>
              </a:rPr>
              <a:t>Tidak dibenamkan</a:t>
            </a:r>
          </a:p>
        </p:txBody>
      </p:sp>
      <p:sp>
        <p:nvSpPr>
          <p:cNvPr id="41" name="TextBox 3"/>
          <p:cNvSpPr txBox="1"/>
          <p:nvPr/>
        </p:nvSpPr>
        <p:spPr>
          <a:xfrm>
            <a:off x="2318324" y="3345424"/>
            <a:ext cx="3310311" cy="457200"/>
          </a:xfrm>
          <a:prstGeom prst="rect">
            <a:avLst/>
          </a:prstGeom>
          <a:solidFill>
            <a:srgbClr val="DEEAF6"/>
          </a:solidFill>
          <a:ln w="12700">
            <a:solidFill>
              <a:srgbClr val="404040"/>
            </a:solidFill>
          </a:ln>
        </p:spPr>
        <p:txBody>
          <a:bodyPr wrap="square" anchor="ctr">
            <a:noAutofit/>
          </a:bodyPr>
          <a:lstStyle/>
          <a:p>
            <a:pPr algn="ctr"/>
            <a:r>
              <a:rPr lang="en-MY" sz="1800" b="1" dirty="0"/>
              <a:t>Struktur Persisir Air</a:t>
            </a:r>
          </a:p>
        </p:txBody>
      </p:sp>
      <p:sp>
        <p:nvSpPr>
          <p:cNvPr id="42" name="Rectangle 9"/>
          <p:cNvSpPr/>
          <p:nvPr/>
        </p:nvSpPr>
        <p:spPr>
          <a:xfrm>
            <a:off x="6419408" y="1508760"/>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Struktur Teduhan]</a:t>
            </a:r>
          </a:p>
          <a:p>
            <a:r>
              <a:rPr lang="en-MY" sz="1200" dirty="0">
                <a:solidFill>
                  <a:schemeClr val="tx1">
                    <a:lumMod val="85000"/>
                    <a:lumOff val="15000"/>
                  </a:schemeClr>
                </a:solidFill>
              </a:rPr>
              <a:t>Rajah 24</a:t>
            </a:r>
          </a:p>
          <a:p>
            <a:r>
              <a:rPr lang="en-MY" sz="1200" dirty="0">
                <a:solidFill>
                  <a:schemeClr val="tx1">
                    <a:lumMod val="85000"/>
                    <a:lumOff val="15000"/>
                  </a:schemeClr>
                </a:solidFill>
              </a:rPr>
              <a:t>modul ms 240</a:t>
            </a:r>
          </a:p>
          <a:p>
            <a:r>
              <a:rPr lang="en-MY" sz="1200" dirty="0">
                <a:solidFill>
                  <a:schemeClr val="tx1">
                    <a:lumMod val="85000"/>
                    <a:lumOff val="15000"/>
                  </a:schemeClr>
                </a:solidFill>
              </a:rPr>
              <a:t>Tidak dibenamkan</a:t>
            </a:r>
          </a:p>
        </p:txBody>
      </p:sp>
      <p:sp>
        <p:nvSpPr>
          <p:cNvPr id="43" name="TextBox 3"/>
          <p:cNvSpPr txBox="1"/>
          <p:nvPr/>
        </p:nvSpPr>
        <p:spPr>
          <a:xfrm>
            <a:off x="6563335" y="3345424"/>
            <a:ext cx="3310311" cy="457200"/>
          </a:xfrm>
          <a:prstGeom prst="rect">
            <a:avLst/>
          </a:prstGeom>
          <a:solidFill>
            <a:srgbClr val="DEEAF6"/>
          </a:solidFill>
          <a:ln w="12700">
            <a:solidFill>
              <a:srgbClr val="404040"/>
            </a:solidFill>
          </a:ln>
        </p:spPr>
        <p:txBody>
          <a:bodyPr wrap="square" anchor="ctr">
            <a:noAutofit/>
          </a:bodyPr>
          <a:lstStyle/>
          <a:p>
            <a:pPr algn="ctr"/>
            <a:r>
              <a:rPr lang="en-MY" sz="1800" b="1" dirty="0"/>
              <a:t>Struktur Teduhan</a:t>
            </a:r>
          </a:p>
        </p:txBody>
      </p:sp>
      <p:sp>
        <p:nvSpPr>
          <p:cNvPr id="44" name="Rectangle 9"/>
          <p:cNvSpPr/>
          <p:nvPr/>
        </p:nvSpPr>
        <p:spPr>
          <a:xfrm>
            <a:off x="2174397" y="4031224"/>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Kemudahan Awam]</a:t>
            </a:r>
          </a:p>
          <a:p>
            <a:r>
              <a:rPr lang="en-MY" sz="1200" dirty="0">
                <a:solidFill>
                  <a:schemeClr val="tx1">
                    <a:lumMod val="85000"/>
                    <a:lumOff val="15000"/>
                  </a:schemeClr>
                </a:solidFill>
              </a:rPr>
              <a:t>TIADA IMEJ SUMBER</a:t>
            </a:r>
          </a:p>
          <a:p>
            <a:r>
              <a:rPr lang="en-MY" sz="1200" dirty="0">
                <a:solidFill>
                  <a:schemeClr val="tx1">
                    <a:lumMod val="85000"/>
                    <a:lumOff val="15000"/>
                  </a:schemeClr>
                </a:solidFill>
              </a:rPr>
              <a:t>Cadangan rajah native —</a:t>
            </a:r>
          </a:p>
          <a:p>
            <a:r>
              <a:rPr lang="en-MY" sz="1200" dirty="0">
                <a:solidFill>
                  <a:schemeClr val="tx1">
                    <a:lumMod val="85000"/>
                    <a:lumOff val="15000"/>
                  </a:schemeClr>
                </a:solidFill>
              </a:rPr>
              <a:t>lihat panel produksi</a:t>
            </a:r>
          </a:p>
        </p:txBody>
      </p:sp>
      <p:sp>
        <p:nvSpPr>
          <p:cNvPr id="45" name="TextBox 3"/>
          <p:cNvSpPr txBox="1"/>
          <p:nvPr/>
        </p:nvSpPr>
        <p:spPr>
          <a:xfrm>
            <a:off x="2318324" y="5867888"/>
            <a:ext cx="3310311" cy="457200"/>
          </a:xfrm>
          <a:prstGeom prst="rect">
            <a:avLst/>
          </a:prstGeom>
          <a:solidFill>
            <a:srgbClr val="DEEAF6"/>
          </a:solidFill>
          <a:ln w="12700">
            <a:solidFill>
              <a:srgbClr val="404040"/>
            </a:solidFill>
          </a:ln>
        </p:spPr>
        <p:txBody>
          <a:bodyPr wrap="square" anchor="ctr">
            <a:noAutofit/>
          </a:bodyPr>
          <a:lstStyle/>
          <a:p>
            <a:pPr algn="ctr"/>
            <a:r>
              <a:rPr lang="en-MY" sz="1800" b="1" dirty="0"/>
              <a:t>Kemudahan Awam</a:t>
            </a:r>
          </a:p>
        </p:txBody>
      </p:sp>
      <p:sp>
        <p:nvSpPr>
          <p:cNvPr id="46" name="Rectangle 9"/>
          <p:cNvSpPr/>
          <p:nvPr/>
        </p:nvSpPr>
        <p:spPr>
          <a:xfrm>
            <a:off x="6419408" y="4031224"/>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Water Feature]</a:t>
            </a:r>
          </a:p>
          <a:p>
            <a:r>
              <a:rPr lang="en-MY" sz="1200" dirty="0">
                <a:solidFill>
                  <a:schemeClr val="tx1">
                    <a:lumMod val="85000"/>
                    <a:lumOff val="15000"/>
                  </a:schemeClr>
                </a:solidFill>
              </a:rPr>
              <a:t>TIADA IMEJ SUMBER</a:t>
            </a:r>
          </a:p>
          <a:p>
            <a:r>
              <a:rPr lang="en-MY" sz="1200" dirty="0">
                <a:solidFill>
                  <a:schemeClr val="tx1">
                    <a:lumMod val="85000"/>
                    <a:lumOff val="15000"/>
                  </a:schemeClr>
                </a:solidFill>
              </a:rPr>
              <a:t>Cadangan rajah native —</a:t>
            </a:r>
          </a:p>
          <a:p>
            <a:r>
              <a:rPr lang="en-MY" sz="1200" dirty="0">
                <a:solidFill>
                  <a:schemeClr val="tx1">
                    <a:lumMod val="85000"/>
                    <a:lumOff val="15000"/>
                  </a:schemeClr>
                </a:solidFill>
              </a:rPr>
              <a:t>lihat panel produksi</a:t>
            </a:r>
          </a:p>
        </p:txBody>
      </p:sp>
      <p:sp>
        <p:nvSpPr>
          <p:cNvPr id="47" name="TextBox 3"/>
          <p:cNvSpPr txBox="1"/>
          <p:nvPr/>
        </p:nvSpPr>
        <p:spPr>
          <a:xfrm>
            <a:off x="6563335" y="5867888"/>
            <a:ext cx="3310311" cy="457200"/>
          </a:xfrm>
          <a:prstGeom prst="rect">
            <a:avLst/>
          </a:prstGeom>
          <a:solidFill>
            <a:srgbClr val="DEEAF6"/>
          </a:solidFill>
          <a:ln w="12700">
            <a:solidFill>
              <a:srgbClr val="404040"/>
            </a:solidFill>
          </a:ln>
        </p:spPr>
        <p:txBody>
          <a:bodyPr wrap="square" anchor="ctr">
            <a:noAutofit/>
          </a:bodyPr>
          <a:lstStyle/>
          <a:p>
            <a:pPr algn="ctr"/>
            <a:r>
              <a:rPr lang="en-MY" sz="1800" b="1" i="1" dirty="0"/>
              <a:t>Water Feature</a:t>
            </a:r>
          </a:p>
        </p:txBody>
      </p:sp>
      <p:sp>
        <p:nvSpPr>
          <p:cNvPr id="48" name="Tick"/>
          <p:cNvSpPr/>
          <p:nvPr/>
        </p:nvSpPr>
        <p:spPr>
          <a:xfrm>
            <a:off x="3793480" y="2238634"/>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9" name="Tick"/>
          <p:cNvSpPr/>
          <p:nvPr/>
        </p:nvSpPr>
        <p:spPr>
          <a:xfrm>
            <a:off x="8038490" y="2238634"/>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Tick"/>
          <p:cNvSpPr/>
          <p:nvPr/>
        </p:nvSpPr>
        <p:spPr>
          <a:xfrm>
            <a:off x="3793480" y="476109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Tick"/>
          <p:cNvSpPr/>
          <p:nvPr/>
        </p:nvSpPr>
        <p:spPr>
          <a:xfrm>
            <a:off x="8038490" y="476109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0" name="Btn"/>
          <p:cNvSpPr txBox="1"/>
          <p:nvPr/>
        </p:nvSpPr>
        <p:spPr>
          <a:xfrm>
            <a:off x="9273479" y="6419088"/>
            <a:ext cx="219456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RP-033  (GROUP_COMPLETE)</a:t>
            </a:r>
          </a:p>
          <a:p>
            <a:r>
              <a:rPr lang="en-MY" sz="900" b="1" dirty="0">
                <a:solidFill>
                  <a:schemeClr val="tx1">
                    <a:lumMod val="85000"/>
                    <a:lumOff val="15000"/>
                  </a:schemeClr>
                </a:solidFill>
              </a:rPr>
              <a:t>PHYSICAL LEARNER SCREEN: STRUKTUR_TAMAN_MASTER  [GROUP_MASTER]</a:t>
            </a:r>
          </a:p>
          <a:p>
            <a:r>
              <a:rPr lang="en-MY" sz="900" dirty="0">
                <a:solidFill>
                  <a:schemeClr val="tx1">
                    <a:lumMod val="85000"/>
                    <a:lumOff val="15000"/>
                  </a:schemeClr>
                </a:solidFill>
              </a:rPr>
              <a:t/>
            </a:r>
          </a:p>
          <a:p>
            <a:r>
              <a:rPr lang="en-MY" sz="900" b="1" dirty="0">
                <a:solidFill>
                  <a:schemeClr val="tx1">
                    <a:lumMod val="85000"/>
                    <a:lumOff val="15000"/>
                  </a:schemeClr>
                </a:solidFill>
              </a:rPr>
              <a:t>LEVEL: 1 — group master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Kad komponen boleh diklik dalam sebarang susunan.</a:t>
            </a:r>
          </a:p>
          <a:p>
            <a:r>
              <a:rPr lang="en-MY" sz="900" dirty="0">
                <a:solidFill>
                  <a:schemeClr val="tx1">
                    <a:lumMod val="85000"/>
                    <a:lumOff val="15000"/>
                  </a:schemeClr>
                </a:solidFill>
              </a:rPr>
              <a:t>  Kad kekal boleh diklik selepas selesai, untuk semakan.</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group_complete[STRUKTUR_TAMAN] = semua component_complete benar</a:t>
            </a:r>
          </a:p>
          <a:p>
            <a:r>
              <a:rPr lang="en-MY" sz="900" dirty="0">
                <a:solidFill>
                  <a:schemeClr val="tx1">
                    <a:lumMod val="85000"/>
                    <a:lumOff val="15000"/>
                  </a:schemeClr>
                </a:solidFill>
              </a:rPr>
              <a:t>  Keadaan pada halaman ini: SEMUA kad selesai</a:t>
            </a:r>
          </a:p>
          <a:p>
            <a:r>
              <a:rPr lang="en-MY" sz="900" dirty="0">
                <a:solidFill>
                  <a:schemeClr val="tx1">
                    <a:lumMod val="85000"/>
                    <a:lumOff val="15000"/>
                  </a:schemeClr>
                </a:solidFill>
              </a:rPr>
              <a:t>  Seterusnya dikunci sehingga group_complete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kad dan Seterusnya kekal selepas lawatan semula dan LMS resume.</a:t>
            </a:r>
          </a:p>
          <a:p>
            <a:r>
              <a:rPr lang="en-MY" sz="900" dirty="0">
                <a:solidFill>
                  <a:schemeClr val="tx1">
                    <a:lumMod val="85000"/>
                    <a:lumOff val="15000"/>
                  </a:schemeClr>
                </a:solidFill>
              </a:rPr>
              <a:t>  Kawalan yang telah dibuka TIDAK dikunci semula.</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Kad -&gt; [komponen]_MAIN.   Seterusnya -&gt; PERABOT_TAMAN_MASTER</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237 (fizikal 256).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Tik dilukis sebagai geometri native, bukan imej.</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5" name="Instr"/>
          <p:cNvSpPr txBox="1"/>
          <p:nvPr/>
        </p:nvSpPr>
        <p:spPr>
          <a:xfrm>
            <a:off x="723930" y="1051560"/>
            <a:ext cx="10744200" cy="369326"/>
          </a:xfrm>
          <a:prstGeom prst="rect">
            <a:avLst/>
          </a:prstGeom>
          <a:noFill/>
        </p:spPr>
        <p:txBody>
          <a:bodyPr wrap="square">
            <a:noAutofit/>
          </a:bodyPr>
          <a:lstStyle/>
          <a:p>
            <a:pPr algn="ctr"/>
            <a:r>
              <a:rPr lang="en-MY" sz="1600" dirty="0">
                <a:solidFill>
                  <a:schemeClr val="tx1">
                    <a:lumMod val="85000"/>
                    <a:lumOff val="15000"/>
                  </a:schemeClr>
                </a:solidFill>
              </a:rPr>
              <a:t>Klik pada setiap perabot untuk penjelasan lanjut.</a:t>
            </a:r>
          </a:p>
        </p:txBody>
      </p:sp>
      <p:sp>
        <p:nvSpPr>
          <p:cNvPr id="40" name="Rectangle 9"/>
          <p:cNvSpPr/>
          <p:nvPr/>
        </p:nvSpPr>
        <p:spPr>
          <a:xfrm>
            <a:off x="723930" y="1508760"/>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Kerusi Taman]</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242–243</a:t>
            </a:r>
          </a:p>
          <a:p>
            <a:r>
              <a:rPr lang="en-MY" sz="1200" dirty="0">
                <a:solidFill>
                  <a:schemeClr val="tx1">
                    <a:lumMod val="85000"/>
                    <a:lumOff val="15000"/>
                  </a:schemeClr>
                </a:solidFill>
              </a:rPr>
              <a:t>Tidak dibenamkan</a:t>
            </a:r>
          </a:p>
        </p:txBody>
      </p:sp>
      <p:sp>
        <p:nvSpPr>
          <p:cNvPr id="41" name="TextBox 3"/>
          <p:cNvSpPr txBox="1"/>
          <p:nvPr/>
        </p:nvSpPr>
        <p:spPr>
          <a:xfrm>
            <a:off x="855604" y="3345424"/>
            <a:ext cx="3028493" cy="457200"/>
          </a:xfrm>
          <a:prstGeom prst="rect">
            <a:avLst/>
          </a:prstGeom>
          <a:solidFill>
            <a:srgbClr val="DEEAF6"/>
          </a:solidFill>
          <a:ln w="12700">
            <a:solidFill>
              <a:srgbClr val="404040"/>
            </a:solidFill>
          </a:ln>
        </p:spPr>
        <p:txBody>
          <a:bodyPr wrap="square" anchor="ctr">
            <a:noAutofit/>
          </a:bodyPr>
          <a:lstStyle/>
          <a:p>
            <a:pPr algn="ctr"/>
            <a:r>
              <a:rPr lang="en-MY" sz="1800" b="1" dirty="0"/>
              <a:t>Kerusi Taman</a:t>
            </a:r>
          </a:p>
        </p:txBody>
      </p:sp>
      <p:sp>
        <p:nvSpPr>
          <p:cNvPr id="42" name="Rectangle 9"/>
          <p:cNvSpPr/>
          <p:nvPr/>
        </p:nvSpPr>
        <p:spPr>
          <a:xfrm>
            <a:off x="4450110" y="1508760"/>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Papan Tanda]</a:t>
            </a:r>
          </a:p>
          <a:p>
            <a:r>
              <a:rPr lang="en-MY" sz="1200" dirty="0">
                <a:solidFill>
                  <a:schemeClr val="tx1">
                    <a:lumMod val="85000"/>
                    <a:lumOff val="15000"/>
                  </a:schemeClr>
                </a:solidFill>
              </a:rPr>
              <a:t>Rajah 25 dan Rajah 26</a:t>
            </a:r>
          </a:p>
          <a:p>
            <a:r>
              <a:rPr lang="en-MY" sz="1200" dirty="0">
                <a:solidFill>
                  <a:schemeClr val="tx1">
                    <a:lumMod val="85000"/>
                    <a:lumOff val="15000"/>
                  </a:schemeClr>
                </a:solidFill>
              </a:rPr>
              <a:t>modul ms 245</a:t>
            </a:r>
          </a:p>
          <a:p>
            <a:r>
              <a:rPr lang="en-MY" sz="1200" dirty="0">
                <a:solidFill>
                  <a:schemeClr val="tx1">
                    <a:lumMod val="85000"/>
                    <a:lumOff val="15000"/>
                  </a:schemeClr>
                </a:solidFill>
              </a:rPr>
              <a:t>Tidak dibenamkan</a:t>
            </a:r>
          </a:p>
        </p:txBody>
      </p:sp>
      <p:sp>
        <p:nvSpPr>
          <p:cNvPr id="43" name="TextBox 3"/>
          <p:cNvSpPr txBox="1"/>
          <p:nvPr/>
        </p:nvSpPr>
        <p:spPr>
          <a:xfrm>
            <a:off x="4581784" y="3345424"/>
            <a:ext cx="3028493" cy="457200"/>
          </a:xfrm>
          <a:prstGeom prst="rect">
            <a:avLst/>
          </a:prstGeom>
          <a:solidFill>
            <a:srgbClr val="DEEAF6"/>
          </a:solidFill>
          <a:ln w="12700">
            <a:solidFill>
              <a:srgbClr val="404040"/>
            </a:solidFill>
          </a:ln>
        </p:spPr>
        <p:txBody>
          <a:bodyPr wrap="square" anchor="ctr">
            <a:noAutofit/>
          </a:bodyPr>
          <a:lstStyle/>
          <a:p>
            <a:pPr algn="ctr"/>
            <a:r>
              <a:rPr lang="en-MY" sz="1800" b="1" dirty="0"/>
              <a:t>Papan Tanda</a:t>
            </a:r>
          </a:p>
        </p:txBody>
      </p:sp>
      <p:sp>
        <p:nvSpPr>
          <p:cNvPr id="44" name="Rectangle 9"/>
          <p:cNvSpPr/>
          <p:nvPr/>
        </p:nvSpPr>
        <p:spPr>
          <a:xfrm>
            <a:off x="8176290" y="1508760"/>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Tong Sampah]</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246–247</a:t>
            </a:r>
          </a:p>
          <a:p>
            <a:r>
              <a:rPr lang="en-MY" sz="1200" dirty="0">
                <a:solidFill>
                  <a:schemeClr val="tx1">
                    <a:lumMod val="85000"/>
                    <a:lumOff val="15000"/>
                  </a:schemeClr>
                </a:solidFill>
              </a:rPr>
              <a:t>Tidak dibenamkan</a:t>
            </a:r>
          </a:p>
        </p:txBody>
      </p:sp>
      <p:sp>
        <p:nvSpPr>
          <p:cNvPr id="45" name="TextBox 3"/>
          <p:cNvSpPr txBox="1"/>
          <p:nvPr/>
        </p:nvSpPr>
        <p:spPr>
          <a:xfrm>
            <a:off x="8307964" y="3345424"/>
            <a:ext cx="3028493" cy="457200"/>
          </a:xfrm>
          <a:prstGeom prst="rect">
            <a:avLst/>
          </a:prstGeom>
          <a:solidFill>
            <a:srgbClr val="DEEAF6"/>
          </a:solidFill>
          <a:ln w="12700">
            <a:solidFill>
              <a:srgbClr val="404040"/>
            </a:solidFill>
          </a:ln>
        </p:spPr>
        <p:txBody>
          <a:bodyPr wrap="square" anchor="ctr">
            <a:noAutofit/>
          </a:bodyPr>
          <a:lstStyle/>
          <a:p>
            <a:pPr algn="ctr"/>
            <a:r>
              <a:rPr lang="en-MY" sz="1800" b="1" dirty="0"/>
              <a:t>Tong Sampah</a:t>
            </a:r>
          </a:p>
        </p:txBody>
      </p:sp>
      <p:sp>
        <p:nvSpPr>
          <p:cNvPr id="46" name="Rectangle 9"/>
          <p:cNvSpPr/>
          <p:nvPr/>
        </p:nvSpPr>
        <p:spPr>
          <a:xfrm>
            <a:off x="2586975" y="4031224"/>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Drinking Fountain]</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248–249</a:t>
            </a:r>
          </a:p>
          <a:p>
            <a:r>
              <a:rPr lang="en-MY" sz="1200" dirty="0">
                <a:solidFill>
                  <a:schemeClr val="tx1">
                    <a:lumMod val="85000"/>
                    <a:lumOff val="15000"/>
                  </a:schemeClr>
                </a:solidFill>
              </a:rPr>
              <a:t>Tidak dibenamkan</a:t>
            </a:r>
          </a:p>
        </p:txBody>
      </p:sp>
      <p:sp>
        <p:nvSpPr>
          <p:cNvPr id="47" name="TextBox 3"/>
          <p:cNvSpPr txBox="1"/>
          <p:nvPr/>
        </p:nvSpPr>
        <p:spPr>
          <a:xfrm>
            <a:off x="2718648" y="5867888"/>
            <a:ext cx="3028493" cy="457200"/>
          </a:xfrm>
          <a:prstGeom prst="rect">
            <a:avLst/>
          </a:prstGeom>
          <a:solidFill>
            <a:srgbClr val="DEEAF6"/>
          </a:solidFill>
          <a:ln w="12700">
            <a:solidFill>
              <a:srgbClr val="404040"/>
            </a:solidFill>
          </a:ln>
        </p:spPr>
        <p:txBody>
          <a:bodyPr wrap="square" anchor="ctr">
            <a:noAutofit/>
          </a:bodyPr>
          <a:lstStyle/>
          <a:p>
            <a:pPr algn="ctr"/>
            <a:r>
              <a:rPr lang="en-MY" sz="1800" b="1" i="1" dirty="0"/>
              <a:t>Drinking Fountain</a:t>
            </a:r>
          </a:p>
        </p:txBody>
      </p:sp>
      <p:sp>
        <p:nvSpPr>
          <p:cNvPr id="48" name="Rectangle 9"/>
          <p:cNvSpPr/>
          <p:nvPr/>
        </p:nvSpPr>
        <p:spPr>
          <a:xfrm>
            <a:off x="6313155" y="4031224"/>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BBQ Pit]</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249</a:t>
            </a:r>
          </a:p>
          <a:p>
            <a:r>
              <a:rPr lang="en-MY" sz="1200" dirty="0">
                <a:solidFill>
                  <a:schemeClr val="tx1">
                    <a:lumMod val="85000"/>
                    <a:lumOff val="15000"/>
                  </a:schemeClr>
                </a:solidFill>
              </a:rPr>
              <a:t>Tidak dibenamkan</a:t>
            </a:r>
          </a:p>
        </p:txBody>
      </p:sp>
      <p:sp>
        <p:nvSpPr>
          <p:cNvPr id="49" name="TextBox 3"/>
          <p:cNvSpPr txBox="1"/>
          <p:nvPr/>
        </p:nvSpPr>
        <p:spPr>
          <a:xfrm>
            <a:off x="6444828" y="5867888"/>
            <a:ext cx="3028493" cy="457200"/>
          </a:xfrm>
          <a:prstGeom prst="rect">
            <a:avLst/>
          </a:prstGeom>
          <a:solidFill>
            <a:srgbClr val="DEEAF6"/>
          </a:solidFill>
          <a:ln w="12700">
            <a:solidFill>
              <a:srgbClr val="404040"/>
            </a:solidFill>
          </a:ln>
        </p:spPr>
        <p:txBody>
          <a:bodyPr wrap="square" anchor="ctr">
            <a:noAutofit/>
          </a:bodyPr>
          <a:lstStyle/>
          <a:p>
            <a:pPr algn="ctr"/>
            <a:r>
              <a:rPr lang="en-MY" sz="1800" b="1" i="1" dirty="0"/>
              <a:t>BBQ Pit</a:t>
            </a:r>
          </a:p>
        </p:txBody>
      </p:sp>
      <p:sp>
        <p:nvSpPr>
          <p:cNvPr id="90" name="Btn"/>
          <p:cNvSpPr txBox="1"/>
          <p:nvPr/>
        </p:nvSpPr>
        <p:spPr>
          <a:xfrm>
            <a:off x="9273479" y="6419088"/>
            <a:ext cx="219456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RP-034  (BASE)</a:t>
            </a:r>
          </a:p>
          <a:p>
            <a:r>
              <a:rPr lang="en-MY" sz="900" b="1" dirty="0">
                <a:solidFill>
                  <a:schemeClr val="tx1">
                    <a:lumMod val="85000"/>
                    <a:lumOff val="15000"/>
                  </a:schemeClr>
                </a:solidFill>
              </a:rPr>
              <a:t>PHYSICAL LEARNER SCREEN: PERABOT_TAMAN_MASTER  [GROUP_MASTER]</a:t>
            </a:r>
          </a:p>
          <a:p>
            <a:r>
              <a:rPr lang="en-MY" sz="900" dirty="0">
                <a:solidFill>
                  <a:schemeClr val="tx1">
                    <a:lumMod val="85000"/>
                    <a:lumOff val="15000"/>
                  </a:schemeClr>
                </a:solidFill>
              </a:rPr>
              <a:t/>
            </a:r>
          </a:p>
          <a:p>
            <a:r>
              <a:rPr lang="en-MY" sz="900" b="1" dirty="0">
                <a:solidFill>
                  <a:schemeClr val="tx1">
                    <a:lumMod val="85000"/>
                    <a:lumOff val="15000"/>
                  </a:schemeClr>
                </a:solidFill>
              </a:rPr>
              <a:t>LEVEL: 1 — group master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Kad komponen boleh diklik dalam sebarang susunan.</a:t>
            </a:r>
          </a:p>
          <a:p>
            <a:r>
              <a:rPr lang="en-MY" sz="900" dirty="0">
                <a:solidFill>
                  <a:schemeClr val="tx1">
                    <a:lumMod val="85000"/>
                    <a:lumOff val="15000"/>
                  </a:schemeClr>
                </a:solidFill>
              </a:rPr>
              <a:t>  Kad kekal boleh diklik selepas selesai, untuk semakan.</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group_complete[PERABOT_TAMAN] = semua component_complete benar</a:t>
            </a:r>
          </a:p>
          <a:p>
            <a:r>
              <a:rPr lang="en-MY" sz="900" dirty="0">
                <a:solidFill>
                  <a:schemeClr val="tx1">
                    <a:lumMod val="85000"/>
                    <a:lumOff val="15000"/>
                  </a:schemeClr>
                </a:solidFill>
              </a:rPr>
              <a:t>  Keadaan pada halaman ini: tiada kad selesai</a:t>
            </a:r>
          </a:p>
          <a:p>
            <a:r>
              <a:rPr lang="en-MY" sz="900" dirty="0">
                <a:solidFill>
                  <a:schemeClr val="tx1">
                    <a:lumMod val="85000"/>
                    <a:lumOff val="15000"/>
                  </a:schemeClr>
                </a:solidFill>
              </a:rPr>
              <a:t>  Seterusnya dikunci sehingga group_complete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kad dan Seterusnya kekal selepas lawatan semula dan LMS resume.</a:t>
            </a:r>
          </a:p>
          <a:p>
            <a:r>
              <a:rPr lang="en-MY" sz="900" dirty="0">
                <a:solidFill>
                  <a:schemeClr val="tx1">
                    <a:lumMod val="85000"/>
                    <a:lumOff val="15000"/>
                  </a:schemeClr>
                </a:solidFill>
              </a:rPr>
              <a:t>  Kawalan yang telah dibuka TIDAK dikunci semula.</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Kad -&gt; [komponen]_MAIN.   Seterusnya -&gt; RUMUSAN</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242 (fizikal 261).</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Tik dilukis sebagai geometri native, bukan imej.</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Foto jadual spesifikasi kerusi</a:t>
            </a:r>
          </a:p>
          <a:p>
            <a:r>
              <a:rPr lang="en-MY" sz="1200" dirty="0">
                <a:solidFill>
                  <a:schemeClr val="tx1">
                    <a:lumMod val="85000"/>
                    <a:lumOff val="15000"/>
                  </a:schemeClr>
                </a:solidFill>
              </a:rPr>
              <a:t>taman, modul ms 242–243. Tidak</a:t>
            </a:r>
          </a:p>
          <a:p>
            <a:r>
              <a:rPr lang="en-MY" sz="1200" dirty="0">
                <a:solidFill>
                  <a:schemeClr val="tx1">
                    <a:lumMod val="85000"/>
                    <a:lumOff val="15000"/>
                  </a:schemeClr>
                </a:solidFill>
              </a:rPr>
              <a:t>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dirty="0"/>
              <a:t>Kerusi Taman</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Tempat duduk untuk pengguna berehat dan menikmati persekitaran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Elemen asas keselesaan di ruang awam dan peribadi</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Pemilihan ambil kira keselesaan, ketahanan cuaca dan estetika</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Pemasangan mungkin ditetapkan ke tanah bagi mengelak kecurian</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RP-035  (BASE)</a:t>
            </a:r>
          </a:p>
          <a:p>
            <a:r>
              <a:rPr lang="en-MY" sz="900" b="1" dirty="0">
                <a:solidFill>
                  <a:schemeClr val="tx1">
                    <a:lumMod val="85000"/>
                    <a:lumOff val="15000"/>
                  </a:schemeClr>
                </a:solidFill>
              </a:rPr>
              <a:t>PHYSICAL LEARNER SCREEN: KERUSI_TAMAN_MAIN  [MAIN]</a:t>
            </a:r>
          </a:p>
          <a:p>
            <a:r>
              <a:rPr lang="en-MY" sz="900" dirty="0">
                <a:solidFill>
                  <a:schemeClr val="tx1">
                    <a:lumMod val="85000"/>
                    <a:lumOff val="15000"/>
                  </a:schemeClr>
                </a:solidFill>
              </a:rPr>
              <a:t/>
            </a: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main_vo_complete[KERUSI_TAMAN]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KERUSI_TAMAN_EXAMPLES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242 (fizikal 261).</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Kerusi Taman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RP-036  (BASE)</a:t>
            </a:r>
          </a:p>
          <a:p>
            <a:r>
              <a:rPr lang="en-MY" sz="900" b="1" dirty="0">
                <a:solidFill>
                  <a:schemeClr val="tx1">
                    <a:lumMod val="85000"/>
                    <a:lumOff val="15000"/>
                  </a:schemeClr>
                </a:solidFill>
              </a:rPr>
              <a:t>PHYSICAL LEARNER SCREEN: KERUSI_TAMAN_EXAMPLES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component_complete[KERUSI_TAMAN]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KERUSI_TAMAN_EXAMPLE_01  &lt;-  K5-PL06-T03-B02-KERUSI-TAMAN-ROW-01  (ms 242/fiz 261)</a:t>
            </a:r>
          </a:p>
          <a:p>
            <a:r>
              <a:rPr lang="en-MY" sz="900" dirty="0">
                <a:solidFill>
                  <a:schemeClr val="tx1">
                    <a:lumMod val="85000"/>
                    <a:lumOff val="15000"/>
                  </a:schemeClr>
                </a:solidFill>
              </a:rPr>
              <a:t>  KERUSI_TAMAN_EXAMPLE_02  &lt;-  K5-PL06-T03-B02-KERUSI-TAMAN-ROW-02  (ms 243/fiz 262)</a:t>
            </a:r>
          </a:p>
          <a:p>
            <a:r>
              <a:rPr lang="en-MY" sz="900" dirty="0">
                <a:solidFill>
                  <a:schemeClr val="tx1">
                    <a:lumMod val="85000"/>
                    <a:lumOff val="15000"/>
                  </a:schemeClr>
                </a:solidFill>
              </a:rPr>
              <a:t>  KERUSI_TAMAN_EXAMPLE_03  &lt;-  K5-PL06-T03-B02-KERUSI-TAMAN-ROW-03  (ms 243/fiz 262)</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Kerusi Taman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452628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Kerusi Kayu Keras</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SPESIFIKASI</a:t>
            </a:r>
          </a:p>
        </p:txBody>
      </p:sp>
      <p:sp>
        <p:nvSpPr>
          <p:cNvPr id="211" name="FBody"/>
          <p:cNvSpPr txBox="1"/>
          <p:nvPr/>
        </p:nvSpPr>
        <p:spPr>
          <a:xfrm>
            <a:off x="1490472" y="2542032"/>
            <a:ext cx="9211026" cy="1289304"/>
          </a:xfrm>
          <a:prstGeom prst="rect">
            <a:avLst/>
          </a:prstGeom>
          <a:noFill/>
        </p:spPr>
        <p:txBody>
          <a:bodyPr wrap="square">
            <a:noAutofit/>
          </a:bodyPr>
          <a:lstStyle/>
          <a:p>
            <a:pPr/>
            <a:r>
              <a:rPr lang="en-MY" sz="1250" dirty="0">
                <a:solidFill>
                  <a:schemeClr val="tx1">
                    <a:lumMod val="85000"/>
                    <a:lumOff val="15000"/>
                  </a:schemeClr>
                </a:solidFill>
              </a:rPr>
              <a:t>Bahan: kayu padu gred perabot luar dengan ketahanan semula jadi tinggi terhadap serangga dan</a:t>
            </a:r>
          </a:p>
          <a:p>
            <a:pPr/>
            <a:r>
              <a:rPr lang="en-MY" sz="1250" dirty="0">
                <a:solidFill>
                  <a:schemeClr val="tx1">
                    <a:lumMod val="85000"/>
                    <a:lumOff val="15000"/>
                  </a:schemeClr>
                </a:solidFill>
              </a:rPr>
              <a:t>reput, atau kayu dirawat tekanan (pressure-treated).</a:t>
            </a:r>
          </a:p>
          <a:p>
            <a:pPr/>
            <a:r>
              <a:rPr lang="en-MY" sz="1250" dirty="0">
                <a:solidFill>
                  <a:schemeClr val="tx1">
                    <a:lumMod val="85000"/>
                    <a:lumOff val="15000"/>
                  </a:schemeClr>
                </a:solidFill>
              </a:rPr>
              <a:t>Dimensi: ketebalan minimum komponen utama 25mm–50mm.</a:t>
            </a:r>
          </a:p>
          <a:p>
            <a:pPr/>
            <a:r>
              <a:rPr lang="en-MY" sz="1250" dirty="0">
                <a:solidFill>
                  <a:schemeClr val="tx1">
                    <a:lumMod val="85000"/>
                    <a:lumOff val="15000"/>
                  </a:schemeClr>
                </a:solidFill>
              </a:rPr>
              <a:t>Penyambungan: skru tahan karat (stainless steel), bolt, atau tanggam kayu (mortise and tenon</a:t>
            </a:r>
          </a:p>
          <a:p>
            <a:pPr/>
            <a:r>
              <a:rPr lang="en-MY" sz="1250" dirty="0">
                <a:solidFill>
                  <a:schemeClr val="tx1">
                    <a:lumMod val="85000"/>
                    <a:lumOff val="15000"/>
                  </a:schemeClr>
                </a:solidFill>
              </a:rPr>
              <a:t>joints).</a:t>
            </a:r>
          </a:p>
          <a:p>
            <a:pPr/>
            <a:r>
              <a:rPr lang="en-MY" sz="1250" dirty="0">
                <a:solidFill>
                  <a:schemeClr val="tx1">
                    <a:lumMod val="85000"/>
                    <a:lumOff val="15000"/>
                  </a:schemeClr>
                </a:solidFill>
              </a:rPr>
              <a:t>Kemasan: sealant luaran, minyak kayu, atau varnis tahan UV dan kelembapan.</a:t>
            </a:r>
          </a:p>
        </p:txBody>
      </p:sp>
      <p:sp>
        <p:nvSpPr>
          <p:cNvPr id="212" name="FHead"/>
          <p:cNvSpPr txBox="1"/>
          <p:nvPr/>
        </p:nvSpPr>
        <p:spPr>
          <a:xfrm>
            <a:off x="1490472" y="397764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4215384"/>
            <a:ext cx="9211026" cy="219456"/>
          </a:xfrm>
          <a:prstGeom prst="rect">
            <a:avLst/>
          </a:prstGeom>
          <a:noFill/>
        </p:spPr>
        <p:txBody>
          <a:bodyPr wrap="square">
            <a:noAutofit/>
          </a:bodyPr>
          <a:lstStyle/>
          <a:p>
            <a:pPr/>
            <a:r>
              <a:rPr lang="en-MY" sz="1250" dirty="0">
                <a:solidFill>
                  <a:schemeClr val="tx1">
                    <a:lumMod val="85000"/>
                    <a:lumOff val="15000"/>
                  </a:schemeClr>
                </a:solidFill>
              </a:rPr>
              <a:t>Jati, Cengal, Balau</a:t>
            </a:r>
          </a:p>
        </p:txBody>
      </p:sp>
      <p:sp>
        <p:nvSpPr>
          <p:cNvPr id="214" name="FHead"/>
          <p:cNvSpPr txBox="1"/>
          <p:nvPr/>
        </p:nvSpPr>
        <p:spPr>
          <a:xfrm>
            <a:off x="1490472" y="4576572"/>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4814316"/>
            <a:ext cx="9211026" cy="644652"/>
          </a:xfrm>
          <a:prstGeom prst="rect">
            <a:avLst/>
          </a:prstGeom>
          <a:noFill/>
        </p:spPr>
        <p:txBody>
          <a:bodyPr wrap="square">
            <a:noAutofit/>
          </a:bodyPr>
          <a:lstStyle/>
          <a:p>
            <a:pPr/>
            <a:r>
              <a:rPr lang="en-MY" sz="1250" dirty="0">
                <a:solidFill>
                  <a:schemeClr val="tx1">
                    <a:lumMod val="85000"/>
                    <a:lumOff val="15000"/>
                  </a:schemeClr>
                </a:solidFill>
              </a:rPr>
              <a:t>[Visual: Foto jadual spesifikasi Kerusi Kayu Keras, modul ms 242. Aset</a:t>
            </a:r>
          </a:p>
          <a:p>
            <a:pPr/>
            <a:r>
              <a:rPr lang="en-MY" sz="1250" dirty="0">
                <a:solidFill>
                  <a:schemeClr val="tx1">
                    <a:lumMod val="85000"/>
                    <a:lumOff val="15000"/>
                  </a:schemeClr>
                </a:solidFill>
              </a:rPr>
              <a:t>K5PL06T03-B02-IMG-p242-x28.</a:t>
            </a:r>
          </a:p>
          <a:p>
            <a:pPr/>
            <a:r>
              <a:rPr lang="en-MY" sz="1250" dirty="0">
                <a:solidFill>
                  <a:schemeClr val="tx1">
                    <a:lumMod val="85000"/>
                    <a:lumOff val="15000"/>
                  </a:schemeClr>
                </a:solidFill>
              </a:rPr>
              <a:t>Tidak dibenamkan.]</a:t>
            </a:r>
          </a:p>
        </p:txBody>
      </p:sp>
      <p:sp>
        <p:nvSpPr>
          <p:cNvPr id="260" name="Btn"/>
          <p:cNvSpPr txBox="1"/>
          <p:nvPr/>
        </p:nvSpPr>
        <p:spPr>
          <a:xfrm>
            <a:off x="9540210" y="573328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RP-037  (POPUP)</a:t>
            </a:r>
          </a:p>
          <a:p>
            <a:r>
              <a:rPr lang="en-MY" sz="900" b="1" dirty="0">
                <a:solidFill>
                  <a:schemeClr val="tx1">
                    <a:lumMod val="85000"/>
                    <a:lumOff val="15000"/>
                  </a:schemeClr>
                </a:solidFill>
              </a:rPr>
              <a:t>PHYSICAL LEARNER SCREEN: KERUSI_TAMAN_EXAMPLES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KERUSI_TAMAN_EXAMPLE_01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component_complete[KERUSI_TAMAN]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KERUSI_TAMAN_EXAMPLE_01  &lt;-  K5-PL06-T03-B02-KERUSI-TAMAN-ROW-01  (ms 242/fiz 261)</a:t>
            </a:r>
          </a:p>
          <a:p>
            <a:r>
              <a:rPr lang="en-MY" sz="900" dirty="0">
                <a:solidFill>
                  <a:schemeClr val="tx1">
                    <a:lumMod val="85000"/>
                    <a:lumOff val="15000"/>
                  </a:schemeClr>
                </a:solidFill>
              </a:rPr>
              <a:t>  KERUSI_TAMAN_EXAMPLE_02  &lt;-  K5-PL06-T03-B02-KERUSI-TAMAN-ROW-02  (ms 243/fiz 262)</a:t>
            </a:r>
          </a:p>
          <a:p>
            <a:r>
              <a:rPr lang="en-MY" sz="900" dirty="0">
                <a:solidFill>
                  <a:schemeClr val="tx1">
                    <a:lumMod val="85000"/>
                    <a:lumOff val="15000"/>
                  </a:schemeClr>
                </a:solidFill>
              </a:rPr>
              <a:t>  KERUSI_TAMAN_EXAMPLE_03  &lt;-  K5-PL06-T03-B02-KERUSI-TAMAN-ROW-03  (ms 243/fiz 262)</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Kerusi Taman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3"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3282696"/>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Kerusi Konkrit</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SPESIFIKASI</a:t>
            </a:r>
          </a:p>
        </p:txBody>
      </p:sp>
      <p:sp>
        <p:nvSpPr>
          <p:cNvPr id="211" name="FBody"/>
          <p:cNvSpPr txBox="1"/>
          <p:nvPr/>
        </p:nvSpPr>
        <p:spPr>
          <a:xfrm>
            <a:off x="1490472" y="2542032"/>
            <a:ext cx="9211026" cy="859536"/>
          </a:xfrm>
          <a:prstGeom prst="rect">
            <a:avLst/>
          </a:prstGeom>
          <a:noFill/>
        </p:spPr>
        <p:txBody>
          <a:bodyPr wrap="square">
            <a:noAutofit/>
          </a:bodyPr>
          <a:lstStyle/>
          <a:p>
            <a:pPr/>
            <a:r>
              <a:rPr lang="en-MY" sz="1250" dirty="0">
                <a:solidFill>
                  <a:schemeClr val="tx1">
                    <a:lumMod val="85000"/>
                    <a:lumOff val="15000"/>
                  </a:schemeClr>
                </a:solidFill>
              </a:rPr>
              <a:t>Bahan: konkrit bertetulang gentian (FRC) atau konkrit pratuang (precast concrete). Pembesaran</a:t>
            </a:r>
          </a:p>
          <a:p>
            <a:pPr/>
            <a:r>
              <a:rPr lang="en-MY" sz="1250" dirty="0">
                <a:solidFill>
                  <a:schemeClr val="tx1">
                    <a:lumMod val="85000"/>
                    <a:lumOff val="15000"/>
                  </a:schemeClr>
                </a:solidFill>
              </a:rPr>
              <a:t>(expansion joints) mungkin diperlukan bagi mengelak keretakan akibat perubahan suhu.</a:t>
            </a:r>
          </a:p>
          <a:p>
            <a:pPr/>
            <a:r>
              <a:rPr lang="en-MY" sz="1250" dirty="0">
                <a:solidFill>
                  <a:schemeClr val="tx1">
                    <a:lumMod val="85000"/>
                    <a:lumOff val="15000"/>
                  </a:schemeClr>
                </a:solidFill>
              </a:rPr>
              <a:t>Kemasan: boleh dibiarkan asli, digilap, dicat, atau bertekstur (exposed aggregate). Permukaan</a:t>
            </a:r>
          </a:p>
          <a:p>
            <a:pPr/>
            <a:r>
              <a:rPr lang="en-MY" sz="1250" dirty="0">
                <a:solidFill>
                  <a:schemeClr val="tx1">
                    <a:lumMod val="85000"/>
                    <a:lumOff val="15000"/>
                  </a:schemeClr>
                </a:solidFill>
              </a:rPr>
              <a:t>mesti licin, tanpa tepi tajam.</a:t>
            </a:r>
          </a:p>
        </p:txBody>
      </p:sp>
      <p:sp>
        <p:nvSpPr>
          <p:cNvPr id="212" name="FHead"/>
          <p:cNvSpPr txBox="1"/>
          <p:nvPr/>
        </p:nvSpPr>
        <p:spPr>
          <a:xfrm>
            <a:off x="1490472" y="3547872"/>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3" name="FBody"/>
          <p:cNvSpPr txBox="1"/>
          <p:nvPr/>
        </p:nvSpPr>
        <p:spPr>
          <a:xfrm>
            <a:off x="1490472" y="3785616"/>
            <a:ext cx="9211026" cy="429768"/>
          </a:xfrm>
          <a:prstGeom prst="rect">
            <a:avLst/>
          </a:prstGeom>
          <a:noFill/>
        </p:spPr>
        <p:txBody>
          <a:bodyPr wrap="square">
            <a:noAutofit/>
          </a:bodyPr>
          <a:lstStyle/>
          <a:p>
            <a:pPr/>
            <a:r>
              <a:rPr lang="en-MY" sz="1250" dirty="0">
                <a:solidFill>
                  <a:schemeClr val="tx1">
                    <a:lumMod val="85000"/>
                    <a:lumOff val="15000"/>
                  </a:schemeClr>
                </a:solidFill>
              </a:rPr>
              <a:t>[Visual: Foto jadual spesifikasi Kerusi Konkrit, modul ms 243. Aset K5PL06T03-B02-IMG-p243-x31.</a:t>
            </a:r>
          </a:p>
          <a:p>
            <a:pPr/>
            <a:r>
              <a:rPr lang="en-MY" sz="1250" dirty="0">
                <a:solidFill>
                  <a:schemeClr val="tx1">
                    <a:lumMod val="85000"/>
                    <a:lumOff val="15000"/>
                  </a:schemeClr>
                </a:solidFill>
              </a:rPr>
              <a:t>Tidak dibenamkan.]</a:t>
            </a:r>
          </a:p>
        </p:txBody>
      </p:sp>
      <p:sp>
        <p:nvSpPr>
          <p:cNvPr id="260" name="Btn"/>
          <p:cNvSpPr txBox="1"/>
          <p:nvPr/>
        </p:nvSpPr>
        <p:spPr>
          <a:xfrm>
            <a:off x="9540210" y="4489704"/>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RP-038  (POPUP)</a:t>
            </a:r>
          </a:p>
          <a:p>
            <a:r>
              <a:rPr lang="en-MY" sz="900" b="1" dirty="0">
                <a:solidFill>
                  <a:schemeClr val="tx1">
                    <a:lumMod val="85000"/>
                    <a:lumOff val="15000"/>
                  </a:schemeClr>
                </a:solidFill>
              </a:rPr>
              <a:t>PHYSICAL LEARNER SCREEN: KERUSI_TAMAN_EXAMPLES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KERUSI_TAMAN_EXAMPLE_02</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1/3 item dilihat</a:t>
            </a:r>
          </a:p>
          <a:p>
            <a:r>
              <a:rPr lang="en-MY" sz="900" dirty="0">
                <a:solidFill>
                  <a:schemeClr val="tx1">
                    <a:lumMod val="85000"/>
                    <a:lumOff val="15000"/>
                  </a:schemeClr>
                </a:solidFill>
              </a:rPr>
              <a:t>  component_complete[KERUSI_TAMAN]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KERUSI_TAMAN_EXAMPLE_01  &lt;-  K5-PL06-T03-B02-KERUSI-TAMAN-ROW-01  (ms 242/fiz 261)</a:t>
            </a:r>
          </a:p>
          <a:p>
            <a:r>
              <a:rPr lang="en-MY" sz="900" dirty="0">
                <a:solidFill>
                  <a:schemeClr val="tx1">
                    <a:lumMod val="85000"/>
                    <a:lumOff val="15000"/>
                  </a:schemeClr>
                </a:solidFill>
              </a:rPr>
              <a:t>  KERUSI_TAMAN_EXAMPLE_02  &lt;-  K5-PL06-T03-B02-KERUSI-TAMAN-ROW-02  (ms 243/fiz 262)</a:t>
            </a:r>
          </a:p>
          <a:p>
            <a:r>
              <a:rPr lang="en-MY" sz="900" dirty="0">
                <a:solidFill>
                  <a:schemeClr val="tx1">
                    <a:lumMod val="85000"/>
                    <a:lumOff val="15000"/>
                  </a:schemeClr>
                </a:solidFill>
              </a:rPr>
              <a:t>  KERUSI_TAMAN_EXAMPLE_03  &lt;-  K5-PL06-T03-B02-KERUSI-TAMAN-ROW-03  (ms 243/fiz 262)</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Kerusi Taman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3881628"/>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Kerusi Komposit</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SPESIFIKASI</a:t>
            </a:r>
          </a:p>
        </p:txBody>
      </p:sp>
      <p:sp>
        <p:nvSpPr>
          <p:cNvPr id="211" name="FBody"/>
          <p:cNvSpPr txBox="1"/>
          <p:nvPr/>
        </p:nvSpPr>
        <p:spPr>
          <a:xfrm>
            <a:off x="1490472" y="2542032"/>
            <a:ext cx="9211026" cy="859536"/>
          </a:xfrm>
          <a:prstGeom prst="rect">
            <a:avLst/>
          </a:prstGeom>
          <a:noFill/>
        </p:spPr>
        <p:txBody>
          <a:bodyPr wrap="square">
            <a:noAutofit/>
          </a:bodyPr>
          <a:lstStyle/>
          <a:p>
            <a:pPr/>
            <a:r>
              <a:rPr lang="en-MY" sz="1250" dirty="0">
                <a:solidFill>
                  <a:schemeClr val="tx1">
                    <a:lumMod val="85000"/>
                    <a:lumOff val="15000"/>
                  </a:schemeClr>
                </a:solidFill>
              </a:rPr>
              <a:t>Bahan: papan atau profil daripada campuran gentian kayu/selulosa dan plastik kitar semula. Tahan</a:t>
            </a:r>
          </a:p>
          <a:p>
            <a:pPr/>
            <a:r>
              <a:rPr lang="en-MY" sz="1250" dirty="0">
                <a:solidFill>
                  <a:schemeClr val="tx1">
                    <a:lumMod val="85000"/>
                    <a:lumOff val="15000"/>
                  </a:schemeClr>
                </a:solidFill>
              </a:rPr>
              <a:t>UV, kalis air, tidak reput, kalis serangga.</a:t>
            </a:r>
          </a:p>
          <a:p>
            <a:pPr/>
            <a:r>
              <a:rPr lang="en-MY" sz="1250" dirty="0">
                <a:solidFill>
                  <a:schemeClr val="tx1">
                    <a:lumMod val="85000"/>
                    <a:lumOff val="15000"/>
                  </a:schemeClr>
                </a:solidFill>
              </a:rPr>
              <a:t>Kemasan: warna disepadukan dalam bahan; tidak memerlukan cat atau varnis. Tekstur permukaan</a:t>
            </a:r>
          </a:p>
          <a:p>
            <a:pPr/>
            <a:r>
              <a:rPr lang="en-MY" sz="1250" dirty="0">
                <a:solidFill>
                  <a:schemeClr val="tx1">
                    <a:lumMod val="85000"/>
                    <a:lumOff val="15000"/>
                  </a:schemeClr>
                </a:solidFill>
              </a:rPr>
              <a:t>mungkin meniru urat kayu.</a:t>
            </a:r>
          </a:p>
        </p:txBody>
      </p:sp>
      <p:sp>
        <p:nvSpPr>
          <p:cNvPr id="212" name="FHead"/>
          <p:cNvSpPr txBox="1"/>
          <p:nvPr/>
        </p:nvSpPr>
        <p:spPr>
          <a:xfrm>
            <a:off x="1490472" y="3547872"/>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785616"/>
            <a:ext cx="9211026" cy="219456"/>
          </a:xfrm>
          <a:prstGeom prst="rect">
            <a:avLst/>
          </a:prstGeom>
          <a:noFill/>
        </p:spPr>
        <p:txBody>
          <a:bodyPr wrap="square">
            <a:noAutofit/>
          </a:bodyPr>
          <a:lstStyle/>
          <a:p>
            <a:pPr/>
            <a:r>
              <a:rPr lang="en-MY" sz="1250" dirty="0">
                <a:solidFill>
                  <a:schemeClr val="tx1">
                    <a:lumMod val="85000"/>
                    <a:lumOff val="15000"/>
                  </a:schemeClr>
                </a:solidFill>
              </a:rPr>
              <a:t>WPC - Wood-Plastic Composite / Plastik Kitar Semula</a:t>
            </a:r>
          </a:p>
        </p:txBody>
      </p:sp>
      <p:sp>
        <p:nvSpPr>
          <p:cNvPr id="214" name="FHead"/>
          <p:cNvSpPr txBox="1"/>
          <p:nvPr/>
        </p:nvSpPr>
        <p:spPr>
          <a:xfrm>
            <a:off x="1490472" y="4146804"/>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4384548"/>
            <a:ext cx="9211026" cy="429768"/>
          </a:xfrm>
          <a:prstGeom prst="rect">
            <a:avLst/>
          </a:prstGeom>
          <a:noFill/>
        </p:spPr>
        <p:txBody>
          <a:bodyPr wrap="square">
            <a:noAutofit/>
          </a:bodyPr>
          <a:lstStyle/>
          <a:p>
            <a:pPr/>
            <a:r>
              <a:rPr lang="en-MY" sz="1250" dirty="0">
                <a:solidFill>
                  <a:schemeClr val="tx1">
                    <a:lumMod val="85000"/>
                    <a:lumOff val="15000"/>
                  </a:schemeClr>
                </a:solidFill>
              </a:rPr>
              <a:t>[Visual: Foto jadual spesifikasi Kerusi Komposit, modul ms 243. Aset K5PL06T03-B02-IMG-p243-x32.</a:t>
            </a:r>
          </a:p>
          <a:p>
            <a:pPr/>
            <a:r>
              <a:rPr lang="en-MY" sz="1250" dirty="0">
                <a:solidFill>
                  <a:schemeClr val="tx1">
                    <a:lumMod val="85000"/>
                    <a:lumOff val="15000"/>
                  </a:schemeClr>
                </a:solidFill>
              </a:rPr>
              <a:t>Tidak dibenamkan.]</a:t>
            </a:r>
          </a:p>
        </p:txBody>
      </p:sp>
      <p:sp>
        <p:nvSpPr>
          <p:cNvPr id="260" name="Btn"/>
          <p:cNvSpPr txBox="1"/>
          <p:nvPr/>
        </p:nvSpPr>
        <p:spPr>
          <a:xfrm>
            <a:off x="9540210" y="5088636"/>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RP-039  (POPUP)</a:t>
            </a:r>
          </a:p>
          <a:p>
            <a:r>
              <a:rPr lang="en-MY" sz="900" b="1" dirty="0">
                <a:solidFill>
                  <a:schemeClr val="tx1">
                    <a:lumMod val="85000"/>
                    <a:lumOff val="15000"/>
                  </a:schemeClr>
                </a:solidFill>
              </a:rPr>
              <a:t>PHYSICAL LEARNER SCREEN: KERUSI_TAMAN_EXAMPLES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KERUSI_TAMAN_EXAMPLE_03</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2/3 item dilihat</a:t>
            </a:r>
          </a:p>
          <a:p>
            <a:r>
              <a:rPr lang="en-MY" sz="900" dirty="0">
                <a:solidFill>
                  <a:schemeClr val="tx1">
                    <a:lumMod val="85000"/>
                    <a:lumOff val="15000"/>
                  </a:schemeClr>
                </a:solidFill>
              </a:rPr>
              <a:t>  component_complete[KERUSI_TAMAN]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KERUSI_TAMAN_EXAMPLE_01  &lt;-  K5-PL06-T03-B02-KERUSI-TAMAN-ROW-01  (ms 242/fiz 261)</a:t>
            </a:r>
          </a:p>
          <a:p>
            <a:r>
              <a:rPr lang="en-MY" sz="900" dirty="0">
                <a:solidFill>
                  <a:schemeClr val="tx1">
                    <a:lumMod val="85000"/>
                    <a:lumOff val="15000"/>
                  </a:schemeClr>
                </a:solidFill>
              </a:rPr>
              <a:t>  KERUSI_TAMAN_EXAMPLE_02  &lt;-  K5-PL06-T03-B02-KERUSI-TAMAN-ROW-02  (ms 243/fiz 262)</a:t>
            </a:r>
          </a:p>
          <a:p>
            <a:r>
              <a:rPr lang="en-MY" sz="900" dirty="0">
                <a:solidFill>
                  <a:schemeClr val="tx1">
                    <a:lumMod val="85000"/>
                    <a:lumOff val="15000"/>
                  </a:schemeClr>
                </a:solidFill>
              </a:rPr>
              <a:t>  KERUSI_TAMAN_EXAMPLE_03  &lt;-  K5-PL06-T03-B02-KERUSI-TAMAN-ROW-03  (ms 243/fiz 262)</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Kerusi Taman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RP-040  (ALL_VIEWED)</a:t>
            </a:r>
          </a:p>
          <a:p>
            <a:r>
              <a:rPr lang="en-MY" sz="900" b="1" dirty="0">
                <a:solidFill>
                  <a:schemeClr val="tx1">
                    <a:lumMod val="85000"/>
                    <a:lumOff val="15000"/>
                  </a:schemeClr>
                </a:solidFill>
              </a:rPr>
              <a:t>PHYSICAL LEARNER SCREEN: KERUSI_TAMAN_EXAMPLES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3/3 item dilihat</a:t>
            </a:r>
          </a:p>
          <a:p>
            <a:r>
              <a:rPr lang="en-MY" sz="900" dirty="0">
                <a:solidFill>
                  <a:schemeClr val="tx1">
                    <a:lumMod val="85000"/>
                    <a:lumOff val="15000"/>
                  </a:schemeClr>
                </a:solidFill>
              </a:rPr>
              <a:t>  component_complete[KERUSI_TAMAN]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KERUSI_TAMAN_EXAMPLE_01  &lt;-  K5-PL06-T03-B02-KERUSI-TAMAN-ROW-01  (ms 242/fiz 261)</a:t>
            </a:r>
          </a:p>
          <a:p>
            <a:r>
              <a:rPr lang="en-MY" sz="900" dirty="0">
                <a:solidFill>
                  <a:schemeClr val="tx1">
                    <a:lumMod val="85000"/>
                    <a:lumOff val="15000"/>
                  </a:schemeClr>
                </a:solidFill>
              </a:rPr>
              <a:t>  KERUSI_TAMAN_EXAMPLE_02  &lt;-  K5-PL06-T03-B02-KERUSI-TAMAN-ROW-02  (ms 243/fiz 262)</a:t>
            </a:r>
          </a:p>
          <a:p>
            <a:r>
              <a:rPr lang="en-MY" sz="900" dirty="0">
                <a:solidFill>
                  <a:schemeClr val="tx1">
                    <a:lumMod val="85000"/>
                    <a:lumOff val="15000"/>
                  </a:schemeClr>
                </a:solidFill>
              </a:rPr>
              <a:t>  KERUSI_TAMAN_EXAMPLE_03  &lt;-  K5-PL06-T03-B02-KERUSI-TAMAN-ROW-03  (ms 243/fiz 262)</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Rajah 25 dan Rajah 26, modul ms</a:t>
            </a:r>
          </a:p>
          <a:p>
            <a:r>
              <a:rPr lang="en-MY" sz="1200" dirty="0">
                <a:solidFill>
                  <a:schemeClr val="tx1">
                    <a:lumMod val="85000"/>
                    <a:lumOff val="15000"/>
                  </a:schemeClr>
                </a:solidFill>
              </a:rPr>
              <a:t>245. Tidak 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dirty="0"/>
              <a:t>Papan Tanda</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Elemen penting untuk navigasi, maklumat dan keselamatan dalam ruang landskap</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Jelas, mudah dibaca, diletakkan di lokasi strategik</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Boleh berupa penunjuk arah, peta taman, informasi tumbuhan atau peraturan taman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Bahan tahan cuaca dan tahan luntur</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RP-041  (BASE)</a:t>
            </a:r>
          </a:p>
          <a:p>
            <a:r>
              <a:rPr lang="en-MY" sz="900" b="1" dirty="0">
                <a:solidFill>
                  <a:schemeClr val="tx1">
                    <a:lumMod val="85000"/>
                    <a:lumOff val="15000"/>
                  </a:schemeClr>
                </a:solidFill>
              </a:rPr>
              <a:t>PHYSICAL LEARNER SCREEN: PAPAN_TANDA_MAIN  [MAIN]</a:t>
            </a:r>
          </a:p>
          <a:p>
            <a:r>
              <a:rPr lang="en-MY" sz="900" dirty="0">
                <a:solidFill>
                  <a:schemeClr val="tx1">
                    <a:lumMod val="85000"/>
                    <a:lumOff val="15000"/>
                  </a:schemeClr>
                </a:solidFill>
              </a:rPr>
              <a:t/>
            </a: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main_vo_complete[PAPAN_TANDA]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PAPAN_TANDA_EXAMPLES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243 (fizikal 262).</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Papan Tanda</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1074420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Papan Tanda Arah / Papan Tanda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RP-042  (BASE)</a:t>
            </a:r>
          </a:p>
          <a:p>
            <a:r>
              <a:rPr lang="en-MY" sz="900" b="1" dirty="0">
                <a:solidFill>
                  <a:schemeClr val="tx1">
                    <a:lumMod val="85000"/>
                    <a:lumOff val="15000"/>
                  </a:schemeClr>
                </a:solidFill>
              </a:rPr>
              <a:t>PHYSICAL LEARNER SCREEN: PAPAN_TANDA_EXAMPLES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0/1 item dilihat</a:t>
            </a:r>
          </a:p>
          <a:p>
            <a:r>
              <a:rPr lang="en-MY" sz="900" dirty="0">
                <a:solidFill>
                  <a:schemeClr val="tx1">
                    <a:lumMod val="85000"/>
                    <a:lumOff val="15000"/>
                  </a:schemeClr>
                </a:solidFill>
              </a:rPr>
              <a:t>  component_complete[PAPAN_TANDA]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PAPAN_TANDA_EXAMPLE_01  &lt;-  K5-PL06-T03-B02-PAPAN-TANDA-ROW-01  (ms 244/fiz 263)</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SINGLE_ITEM_EXAMPLE_TREATMENT</a:t>
            </a:r>
          </a:p>
          <a:p>
            <a:r>
              <a:rPr lang="en-MY" sz="900" dirty="0">
                <a:solidFill>
                  <a:schemeClr val="tx1">
                    <a:lumMod val="85000"/>
                    <a:lumOff val="15000"/>
                  </a:schemeClr>
                </a:solidFill>
              </a:rPr>
              <a:t>  PENDING_FINAL_BARIAH_CONFIRMATION — A-05 rawatan satu item.</a:t>
            </a:r>
          </a:p>
          <a:p>
            <a:r>
              <a:rPr lang="en-MY" sz="900" dirty="0">
                <a:solidFill>
                  <a:schemeClr val="tx1">
                    <a:lumMod val="85000"/>
                    <a:lumOff val="15000"/>
                  </a:schemeClr>
                </a:solidFill>
              </a:rPr>
              <a:t>  Identiti sumber kekal: 1 baris sumber bermakna. Tiada pemecahan dibuat.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Papan Tanda</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1074420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Papan Tanda Arah / Papan Tanda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4142232"/>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Papan Tanda Arah / Papan Tanda Interpretatif</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SPESIFIKASI</a:t>
            </a:r>
          </a:p>
        </p:txBody>
      </p:sp>
      <p:sp>
        <p:nvSpPr>
          <p:cNvPr id="211" name="FBody"/>
          <p:cNvSpPr txBox="1"/>
          <p:nvPr/>
        </p:nvSpPr>
        <p:spPr>
          <a:xfrm>
            <a:off x="1490472" y="2542032"/>
            <a:ext cx="9211026" cy="1504188"/>
          </a:xfrm>
          <a:prstGeom prst="rect">
            <a:avLst/>
          </a:prstGeom>
          <a:noFill/>
        </p:spPr>
        <p:txBody>
          <a:bodyPr wrap="square">
            <a:noAutofit/>
          </a:bodyPr>
          <a:lstStyle/>
          <a:p>
            <a:pPr/>
            <a:r>
              <a:rPr lang="en-MY" sz="1250" dirty="0">
                <a:solidFill>
                  <a:schemeClr val="tx1">
                    <a:lumMod val="85000"/>
                    <a:lumOff val="15000"/>
                  </a:schemeClr>
                </a:solidFill>
              </a:rPr>
              <a:t>Bahan panel: Aluminium Komposit (ACP) 3–4mm; HPL gred luar 6–10mm; Akrilik terstabil UV 5–10mm;</a:t>
            </a:r>
          </a:p>
          <a:p>
            <a:pPr/>
            <a:r>
              <a:rPr lang="en-MY" sz="1250" dirty="0">
                <a:solidFill>
                  <a:schemeClr val="tx1">
                    <a:lumMod val="85000"/>
                    <a:lumOff val="15000"/>
                  </a:schemeClr>
                </a:solidFill>
              </a:rPr>
              <a:t>Kayu dirawat tekanan/kayu keras min. 20mm.</a:t>
            </a:r>
          </a:p>
          <a:p>
            <a:pPr/>
            <a:r>
              <a:rPr lang="en-MY" sz="1250" dirty="0">
                <a:solidFill>
                  <a:schemeClr val="tx1">
                    <a:lumMod val="85000"/>
                    <a:lumOff val="15000"/>
                  </a:schemeClr>
                </a:solidFill>
              </a:rPr>
              <a:t>Bahan struktur/tiang: keluli bersalut serbuk atau tahan karat, profil 50mm × 50mm ke atas; kayu</a:t>
            </a:r>
          </a:p>
          <a:p>
            <a:pPr/>
            <a:r>
              <a:rPr lang="en-MY" sz="1250" dirty="0">
                <a:solidFill>
                  <a:schemeClr val="tx1">
                    <a:lumMod val="85000"/>
                    <a:lumOff val="15000"/>
                  </a:schemeClr>
                </a:solidFill>
              </a:rPr>
              <a:t>keras min. 75mm × 75mm.</a:t>
            </a:r>
          </a:p>
          <a:p>
            <a:pPr/>
            <a:r>
              <a:rPr lang="en-MY" sz="1250" dirty="0">
                <a:solidFill>
                  <a:schemeClr val="tx1">
                    <a:lumMod val="85000"/>
                    <a:lumOff val="15000"/>
                  </a:schemeClr>
                </a:solidFill>
              </a:rPr>
              <a:t>Grafik: cetakan UV langsung, cetakan digital pada vinil gred luar, atau ukiran laser. Mesti</a:t>
            </a:r>
          </a:p>
          <a:p>
            <a:pPr/>
            <a:r>
              <a:rPr lang="en-MY" sz="1250" dirty="0">
                <a:solidFill>
                  <a:schemeClr val="tx1">
                    <a:lumMod val="85000"/>
                    <a:lumOff val="15000"/>
                  </a:schemeClr>
                </a:solidFill>
              </a:rPr>
              <a:t>tahan pudar.</a:t>
            </a:r>
          </a:p>
          <a:p>
            <a:pPr/>
            <a:r>
              <a:rPr lang="en-MY" sz="1250" dirty="0">
                <a:solidFill>
                  <a:schemeClr val="tx1">
                    <a:lumMod val="85000"/>
                    <a:lumOff val="15000"/>
                  </a:schemeClr>
                </a:solidFill>
              </a:rPr>
              <a:t>Rekaan: font jelas, saiz teks sesuai jarak pandang, kontras warna tinggi.</a:t>
            </a:r>
          </a:p>
        </p:txBody>
      </p:sp>
      <p:sp>
        <p:nvSpPr>
          <p:cNvPr id="212" name="FHead"/>
          <p:cNvSpPr txBox="1"/>
          <p:nvPr/>
        </p:nvSpPr>
        <p:spPr>
          <a:xfrm>
            <a:off x="1490472" y="4192524"/>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3" name="FBody"/>
          <p:cNvSpPr txBox="1"/>
          <p:nvPr/>
        </p:nvSpPr>
        <p:spPr>
          <a:xfrm>
            <a:off x="1490472" y="4430268"/>
            <a:ext cx="9211026" cy="644652"/>
          </a:xfrm>
          <a:prstGeom prst="rect">
            <a:avLst/>
          </a:prstGeom>
          <a:noFill/>
        </p:spPr>
        <p:txBody>
          <a:bodyPr wrap="square">
            <a:noAutofit/>
          </a:bodyPr>
          <a:lstStyle/>
          <a:p>
            <a:pPr/>
            <a:r>
              <a:rPr lang="en-MY" sz="1250" dirty="0">
                <a:solidFill>
                  <a:schemeClr val="tx1">
                    <a:lumMod val="85000"/>
                    <a:lumOff val="15000"/>
                  </a:schemeClr>
                </a:solidFill>
              </a:rPr>
              <a:t>[Visual: Rajah 25 — Lukisan Spesifikasi Papan Tanda Informasi, dan Rajah 26 — Spesifikasi Papan</a:t>
            </a:r>
          </a:p>
          <a:p>
            <a:pPr/>
            <a:r>
              <a:rPr lang="en-MY" sz="1250" dirty="0">
                <a:solidFill>
                  <a:schemeClr val="tx1">
                    <a:lumMod val="85000"/>
                    <a:lumOff val="15000"/>
                  </a:schemeClr>
                </a:solidFill>
              </a:rPr>
              <a:t>Tanda Penunjuk Arah, kedua-duanya modul ms 245. Aset K5PL06T03-B02-IMG-p245-x37 dan</a:t>
            </a:r>
          </a:p>
          <a:p>
            <a:pPr/>
            <a:r>
              <a:rPr lang="en-MY" sz="1250" dirty="0">
                <a:solidFill>
                  <a:schemeClr val="tx1">
                    <a:lumMod val="85000"/>
                    <a:lumOff val="15000"/>
                  </a:schemeClr>
                </a:solidFill>
              </a:rPr>
              <a:t>K5PL06T03-B02-IMG-p245-x38. Tidak dibenamkan.]</a:t>
            </a:r>
          </a:p>
        </p:txBody>
      </p:sp>
      <p:sp>
        <p:nvSpPr>
          <p:cNvPr id="260" name="Btn"/>
          <p:cNvSpPr txBox="1"/>
          <p:nvPr/>
        </p:nvSpPr>
        <p:spPr>
          <a:xfrm>
            <a:off x="9540210" y="5349240"/>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RP-043  (POPUP)</a:t>
            </a:r>
          </a:p>
          <a:p>
            <a:r>
              <a:rPr lang="en-MY" sz="900" b="1" dirty="0">
                <a:solidFill>
                  <a:schemeClr val="tx1">
                    <a:lumMod val="85000"/>
                    <a:lumOff val="15000"/>
                  </a:schemeClr>
                </a:solidFill>
              </a:rPr>
              <a:t>PHYSICAL LEARNER SCREEN: PAPAN_TANDA_EXAMPLES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PAPAN_TANDA_EXAMPLE_01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0/1 item dilihat</a:t>
            </a:r>
          </a:p>
          <a:p>
            <a:r>
              <a:rPr lang="en-MY" sz="900" dirty="0">
                <a:solidFill>
                  <a:schemeClr val="tx1">
                    <a:lumMod val="85000"/>
                    <a:lumOff val="15000"/>
                  </a:schemeClr>
                </a:solidFill>
              </a:rPr>
              <a:t>  component_complete[PAPAN_TANDA]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PAPAN_TANDA_EXAMPLE_01  &lt;-  K5-PL06-T03-B02-PAPAN-TANDA-ROW-01  (ms 244/fiz 263)</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SINGLE_ITEM_EXAMPLE_TREATMENT</a:t>
            </a:r>
          </a:p>
          <a:p>
            <a:r>
              <a:rPr lang="en-MY" sz="900" dirty="0">
                <a:solidFill>
                  <a:schemeClr val="tx1">
                    <a:lumMod val="85000"/>
                    <a:lumOff val="15000"/>
                  </a:schemeClr>
                </a:solidFill>
              </a:rPr>
              <a:t>  PENDING_FINAL_BARIAH_CONFIRMATION — A-05 rawatan satu item.</a:t>
            </a:r>
          </a:p>
          <a:p>
            <a:r>
              <a:rPr lang="en-MY" sz="900" dirty="0">
                <a:solidFill>
                  <a:schemeClr val="tx1">
                    <a:lumMod val="85000"/>
                    <a:lumOff val="15000"/>
                  </a:schemeClr>
                </a:solidFill>
              </a:rPr>
              <a:t>  Identiti sumber kekal: 1 baris sumber bermakna. Tiada pemecahan dibuat.</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Papan Tanda</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1074420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Papan Tanda Arah / Papan Tanda Interpretatif</a:t>
            </a:r>
          </a:p>
        </p:txBody>
      </p:sp>
      <p:sp>
        <p:nvSpPr>
          <p:cNvPr id="41"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RP-044  (ALL_VIEWED)</a:t>
            </a:r>
          </a:p>
          <a:p>
            <a:r>
              <a:rPr lang="en-MY" sz="900" b="1" dirty="0">
                <a:solidFill>
                  <a:schemeClr val="tx1">
                    <a:lumMod val="85000"/>
                    <a:lumOff val="15000"/>
                  </a:schemeClr>
                </a:solidFill>
              </a:rPr>
              <a:t>PHYSICAL LEARNER SCREEN: PAPAN_TANDA_EXAMPLES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1/1 item dilihat</a:t>
            </a:r>
          </a:p>
          <a:p>
            <a:r>
              <a:rPr lang="en-MY" sz="900" dirty="0">
                <a:solidFill>
                  <a:schemeClr val="tx1">
                    <a:lumMod val="85000"/>
                    <a:lumOff val="15000"/>
                  </a:schemeClr>
                </a:solidFill>
              </a:rPr>
              <a:t>  component_complete[PAPAN_TANDA]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PAPAN_TANDA_EXAMPLE_01  &lt;-  K5-PL06-T03-B02-PAPAN-TANDA-ROW-01  (ms 244/fiz 263)</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SINGLE_ITEM_EXAMPLE_TREATMENT</a:t>
            </a:r>
          </a:p>
          <a:p>
            <a:r>
              <a:rPr lang="en-MY" sz="900" dirty="0">
                <a:solidFill>
                  <a:schemeClr val="tx1">
                    <a:lumMod val="85000"/>
                    <a:lumOff val="15000"/>
                  </a:schemeClr>
                </a:solidFill>
              </a:rPr>
              <a:t>  PENDING_FINAL_BARIAH_CONFIRMATION — A-05 rawatan satu item.</a:t>
            </a:r>
          </a:p>
          <a:p>
            <a:r>
              <a:rPr lang="en-MY" sz="900" dirty="0">
                <a:solidFill>
                  <a:schemeClr val="tx1">
                    <a:lumMod val="85000"/>
                    <a:lumOff val="15000"/>
                  </a:schemeClr>
                </a:solidFill>
              </a:rPr>
              <a:t>  Identiti sumber kekal: 1 baris sumber bermakna. Tiada pemecahan dibuat.</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Foto jadual spesifikasi tong</a:t>
            </a:r>
          </a:p>
          <a:p>
            <a:r>
              <a:rPr lang="en-MY" sz="1200" dirty="0">
                <a:solidFill>
                  <a:schemeClr val="tx1">
                    <a:lumMod val="85000"/>
                    <a:lumOff val="15000"/>
                  </a:schemeClr>
                </a:solidFill>
              </a:rPr>
              <a:t>sampah, modul ms 246–247. Tidak</a:t>
            </a:r>
          </a:p>
          <a:p>
            <a:r>
              <a:rPr lang="en-MY" sz="1200" dirty="0">
                <a:solidFill>
                  <a:schemeClr val="tx1">
                    <a:lumMod val="85000"/>
                    <a:lumOff val="15000"/>
                  </a:schemeClr>
                </a:solidFill>
              </a:rPr>
              <a:t>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dirty="0"/>
              <a:t>Tong Sampah</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Kemudahan asas pengurusan sisa dan kebersihan ruang landskap</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Bilangan mencukupi, diletakkan di lokasi mudah diakses</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Reka bentuk tahan lama dan mudah dikosongkan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Menghalang haiwan daripada mengusik sampah</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RP-045  (BASE)</a:t>
            </a:r>
          </a:p>
          <a:p>
            <a:r>
              <a:rPr lang="en-MY" sz="900" b="1" dirty="0">
                <a:solidFill>
                  <a:schemeClr val="tx1">
                    <a:lumMod val="85000"/>
                    <a:lumOff val="15000"/>
                  </a:schemeClr>
                </a:solidFill>
              </a:rPr>
              <a:t>PHYSICAL LEARNER SCREEN: TONG_SAMPAH_MAIN  [MAIN]</a:t>
            </a:r>
          </a:p>
          <a:p>
            <a:r>
              <a:rPr lang="en-MY" sz="900" dirty="0">
                <a:solidFill>
                  <a:schemeClr val="tx1">
                    <a:lumMod val="85000"/>
                    <a:lumOff val="15000"/>
                  </a:schemeClr>
                </a:solidFill>
              </a:rPr>
              <a:t/>
            </a: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main_vo_complete[TONG_SAMPAH]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TONG_SAMPAH_EXAMPLES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245 (fizikal 264).</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Tong Sampah</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RP-046  (BASE)</a:t>
            </a:r>
          </a:p>
          <a:p>
            <a:r>
              <a:rPr lang="en-MY" sz="900" b="1" dirty="0">
                <a:solidFill>
                  <a:schemeClr val="tx1">
                    <a:lumMod val="85000"/>
                    <a:lumOff val="15000"/>
                  </a:schemeClr>
                </a:solidFill>
              </a:rPr>
              <a:t>PHYSICAL LEARNER SCREEN: TONG_SAMPAH_EXAMPLES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component_complete[TONG_SAMPAH]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TONG_SAMPAH_EXAMPLE_01  &lt;-  K5-PL06-T03-B02-TONG-SAMPAH-ROW-01  (ms 246/fiz 265)</a:t>
            </a:r>
          </a:p>
          <a:p>
            <a:r>
              <a:rPr lang="en-MY" sz="900" dirty="0">
                <a:solidFill>
                  <a:schemeClr val="tx1">
                    <a:lumMod val="85000"/>
                    <a:lumOff val="15000"/>
                  </a:schemeClr>
                </a:solidFill>
              </a:rPr>
              <a:t>  TONG_SAMPAH_EXAMPLE_02  &lt;-  K5-PL06-T03-B02-TONG-SAMPAH-ROW-02  (ms 246/fiz 265)</a:t>
            </a:r>
          </a:p>
          <a:p>
            <a:r>
              <a:rPr lang="en-MY" sz="900" dirty="0">
                <a:solidFill>
                  <a:schemeClr val="tx1">
                    <a:lumMod val="85000"/>
                    <a:lumOff val="15000"/>
                  </a:schemeClr>
                </a:solidFill>
              </a:rPr>
              <a:t>  TONG_SAMPAH_EXAMPLE_03  &lt;-  K5-PL06-T03-B02-TONG-SAMPAH-ROW-03  (ms 247/fiz 266)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Tong Sampah</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298448"/>
            <a:ext cx="9723090" cy="4910328"/>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444752"/>
            <a:ext cx="7894290" cy="365760"/>
          </a:xfrm>
          <a:prstGeom prst="rect">
            <a:avLst/>
          </a:prstGeom>
          <a:noFill/>
        </p:spPr>
        <p:txBody>
          <a:bodyPr wrap="square">
            <a:noAutofit/>
          </a:bodyPr>
          <a:lstStyle/>
          <a:p>
            <a:pPr/>
            <a:r>
              <a:rPr lang="en-MY" sz="2000" b="1" dirty="0">
                <a:solidFill>
                  <a:schemeClr val="tx1">
                    <a:lumMod val="85000"/>
                    <a:lumOff val="15000"/>
                  </a:schemeClr>
                </a:solidFill>
              </a:rPr>
              <a:t>Tong Sampah Logam</a:t>
            </a:r>
          </a:p>
        </p:txBody>
      </p:sp>
      <p:sp>
        <p:nvSpPr>
          <p:cNvPr id="210" name="FHead"/>
          <p:cNvSpPr txBox="1"/>
          <p:nvPr/>
        </p:nvSpPr>
        <p:spPr>
          <a:xfrm>
            <a:off x="1490472" y="1865376"/>
            <a:ext cx="9211026" cy="219456"/>
          </a:xfrm>
          <a:prstGeom prst="rect">
            <a:avLst/>
          </a:prstGeom>
          <a:noFill/>
        </p:spPr>
        <p:txBody>
          <a:bodyPr wrap="square">
            <a:noAutofit/>
          </a:bodyPr>
          <a:lstStyle/>
          <a:p>
            <a:pPr/>
            <a:r>
              <a:rPr lang="en-MY" sz="950" b="1" dirty="0">
                <a:solidFill>
                  <a:srgbClr val="7F6000"/>
                </a:solidFill>
              </a:rPr>
              <a:t>JENIS / BAHAN</a:t>
            </a:r>
          </a:p>
        </p:txBody>
      </p:sp>
      <p:sp>
        <p:nvSpPr>
          <p:cNvPr id="211" name="FBody"/>
          <p:cNvSpPr txBox="1"/>
          <p:nvPr/>
        </p:nvSpPr>
        <p:spPr>
          <a:xfrm>
            <a:off x="1490472" y="2103120"/>
            <a:ext cx="9211026" cy="219456"/>
          </a:xfrm>
          <a:prstGeom prst="rect">
            <a:avLst/>
          </a:prstGeom>
          <a:noFill/>
        </p:spPr>
        <p:txBody>
          <a:bodyPr wrap="square">
            <a:noAutofit/>
          </a:bodyPr>
          <a:lstStyle/>
          <a:p>
            <a:pPr/>
            <a:r>
              <a:rPr lang="en-MY" sz="1250" dirty="0">
                <a:solidFill>
                  <a:schemeClr val="tx1">
                    <a:lumMod val="85000"/>
                    <a:lumOff val="15000"/>
                  </a:schemeClr>
                </a:solidFill>
              </a:rPr>
              <a:t>Tong Sampah Logam (Keluli Bersalut Serbuk, Keluli Tahan Karat)</a:t>
            </a:r>
          </a:p>
        </p:txBody>
      </p:sp>
      <p:sp>
        <p:nvSpPr>
          <p:cNvPr id="212" name="FHead"/>
          <p:cNvSpPr txBox="1"/>
          <p:nvPr/>
        </p:nvSpPr>
        <p:spPr>
          <a:xfrm>
            <a:off x="1490472" y="2464308"/>
            <a:ext cx="9211026" cy="219456"/>
          </a:xfrm>
          <a:prstGeom prst="rect">
            <a:avLst/>
          </a:prstGeom>
          <a:noFill/>
        </p:spPr>
        <p:txBody>
          <a:bodyPr wrap="square">
            <a:noAutofit/>
          </a:bodyPr>
          <a:lstStyle/>
          <a:p>
            <a:pPr/>
            <a:r>
              <a:rPr lang="en-MY" sz="950" b="1" dirty="0">
                <a:solidFill>
                  <a:srgbClr val="7F6000"/>
                </a:solidFill>
              </a:rPr>
              <a:t>SPESIFIKASI</a:t>
            </a:r>
          </a:p>
        </p:txBody>
      </p:sp>
      <p:sp>
        <p:nvSpPr>
          <p:cNvPr id="213" name="FBody"/>
          <p:cNvSpPr txBox="1"/>
          <p:nvPr/>
        </p:nvSpPr>
        <p:spPr>
          <a:xfrm>
            <a:off x="1490472" y="2702052"/>
            <a:ext cx="9211026" cy="859536"/>
          </a:xfrm>
          <a:prstGeom prst="rect">
            <a:avLst/>
          </a:prstGeom>
          <a:noFill/>
        </p:spPr>
        <p:txBody>
          <a:bodyPr wrap="square">
            <a:noAutofit/>
          </a:bodyPr>
          <a:lstStyle/>
          <a:p>
            <a:pPr/>
            <a:r>
              <a:rPr lang="en-MY" sz="1250" dirty="0">
                <a:solidFill>
                  <a:schemeClr val="tx1">
                    <a:lumMod val="85000"/>
                    <a:lumOff val="15000"/>
                  </a:schemeClr>
                </a:solidFill>
              </a:rPr>
              <a:t>Bahan: keluli lembut digalvani dan disalut serbuk, atau keluli tahan karat. Ketebalan dinding</a:t>
            </a:r>
          </a:p>
          <a:p>
            <a:pPr/>
            <a:r>
              <a:rPr lang="en-MY" sz="1250" dirty="0">
                <a:solidFill>
                  <a:schemeClr val="tx1">
                    <a:lumMod val="85000"/>
                    <a:lumOff val="15000"/>
                  </a:schemeClr>
                </a:solidFill>
              </a:rPr>
              <a:t>badan min. 1.2mm.</a:t>
            </a:r>
          </a:p>
          <a:p>
            <a:pPr/>
            <a:r>
              <a:rPr lang="en-MY" sz="1250" dirty="0">
                <a:solidFill>
                  <a:schemeClr val="tx1">
                    <a:lumMod val="85000"/>
                    <a:lumOff val="15000"/>
                  </a:schemeClr>
                </a:solidFill>
              </a:rPr>
              <a:t>Ciri-ciri: penutup tahan cuaca dan tahan haiwan; pembukaan pembuangan ergonomik; tong dalam</a:t>
            </a:r>
          </a:p>
          <a:p>
            <a:pPr/>
            <a:r>
              <a:rPr lang="en-MY" sz="1250" dirty="0">
                <a:solidFill>
                  <a:schemeClr val="tx1">
                    <a:lumMod val="85000"/>
                    <a:lumOff val="15000"/>
                  </a:schemeClr>
                </a:solidFill>
              </a:rPr>
              <a:t>(liner) mudah dikeluarkan.</a:t>
            </a:r>
          </a:p>
        </p:txBody>
      </p:sp>
      <p:sp>
        <p:nvSpPr>
          <p:cNvPr id="214" name="FHead"/>
          <p:cNvSpPr txBox="1"/>
          <p:nvPr/>
        </p:nvSpPr>
        <p:spPr>
          <a:xfrm>
            <a:off x="1490472" y="3707892"/>
            <a:ext cx="9211026" cy="219456"/>
          </a:xfrm>
          <a:prstGeom prst="rect">
            <a:avLst/>
          </a:prstGeom>
          <a:noFill/>
        </p:spPr>
        <p:txBody>
          <a:bodyPr wrap="square">
            <a:noAutofit/>
          </a:bodyPr>
          <a:lstStyle/>
          <a:p>
            <a:pPr/>
            <a:r>
              <a:rPr lang="en-MY" sz="950" b="1" dirty="0">
                <a:solidFill>
                  <a:srgbClr val="7F6000"/>
                </a:solidFill>
              </a:rPr>
              <a:t>CONTOH</a:t>
            </a:r>
          </a:p>
        </p:txBody>
      </p:sp>
      <p:sp>
        <p:nvSpPr>
          <p:cNvPr id="215" name="FBody"/>
          <p:cNvSpPr txBox="1"/>
          <p:nvPr/>
        </p:nvSpPr>
        <p:spPr>
          <a:xfrm>
            <a:off x="1490472" y="3945636"/>
            <a:ext cx="9211026" cy="429768"/>
          </a:xfrm>
          <a:prstGeom prst="rect">
            <a:avLst/>
          </a:prstGeom>
          <a:noFill/>
        </p:spPr>
        <p:txBody>
          <a:bodyPr wrap="square">
            <a:noAutofit/>
          </a:bodyPr>
          <a:lstStyle/>
          <a:p>
            <a:pPr/>
            <a:r>
              <a:rPr lang="en-MY" sz="1250" dirty="0">
                <a:solidFill>
                  <a:schemeClr val="tx1">
                    <a:lumMod val="85000"/>
                    <a:lumOff val="15000"/>
                  </a:schemeClr>
                </a:solidFill>
              </a:rPr>
              <a:t>Tong sampah silinder atau segi empat tepat dengan penutup berayun atau bukaan di atas, sering</a:t>
            </a:r>
          </a:p>
          <a:p>
            <a:pPr/>
            <a:r>
              <a:rPr lang="en-MY" sz="1250" dirty="0">
                <a:solidFill>
                  <a:schemeClr val="tx1">
                    <a:lumMod val="85000"/>
                    <a:lumOff val="15000"/>
                  </a:schemeClr>
                </a:solidFill>
              </a:rPr>
              <a:t>dilihat di taman bandar.</a:t>
            </a:r>
          </a:p>
        </p:txBody>
      </p:sp>
      <p:sp>
        <p:nvSpPr>
          <p:cNvPr id="216" name="FHead"/>
          <p:cNvSpPr txBox="1"/>
          <p:nvPr/>
        </p:nvSpPr>
        <p:spPr>
          <a:xfrm>
            <a:off x="1490472" y="4521708"/>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7" name="FBody"/>
          <p:cNvSpPr txBox="1"/>
          <p:nvPr/>
        </p:nvSpPr>
        <p:spPr>
          <a:xfrm>
            <a:off x="1490472" y="4759452"/>
            <a:ext cx="9211026" cy="644652"/>
          </a:xfrm>
          <a:prstGeom prst="rect">
            <a:avLst/>
          </a:prstGeom>
          <a:noFill/>
        </p:spPr>
        <p:txBody>
          <a:bodyPr wrap="square">
            <a:noAutofit/>
          </a:bodyPr>
          <a:lstStyle/>
          <a:p>
            <a:pPr/>
            <a:r>
              <a:rPr lang="en-MY" sz="1250" dirty="0">
                <a:solidFill>
                  <a:schemeClr val="tx1">
                    <a:lumMod val="85000"/>
                    <a:lumOff val="15000"/>
                  </a:schemeClr>
                </a:solidFill>
              </a:rPr>
              <a:t>[Visual: Foto jadual spesifikasi Tong Sampah Logam, modul ms 246. Aset</a:t>
            </a:r>
          </a:p>
          <a:p>
            <a:pPr/>
            <a:r>
              <a:rPr lang="en-MY" sz="1250" dirty="0">
                <a:solidFill>
                  <a:schemeClr val="tx1">
                    <a:lumMod val="85000"/>
                    <a:lumOff val="15000"/>
                  </a:schemeClr>
                </a:solidFill>
              </a:rPr>
              <a:t>K5PL06T03-B02-IMG-p246-x41.</a:t>
            </a:r>
          </a:p>
          <a:p>
            <a:pPr/>
            <a:r>
              <a:rPr lang="en-MY" sz="1250" dirty="0">
                <a:solidFill>
                  <a:schemeClr val="tx1">
                    <a:lumMod val="85000"/>
                    <a:lumOff val="15000"/>
                  </a:schemeClr>
                </a:solidFill>
              </a:rPr>
              <a:t>Tidak dibenamkan.]</a:t>
            </a:r>
          </a:p>
        </p:txBody>
      </p:sp>
      <p:sp>
        <p:nvSpPr>
          <p:cNvPr id="260" name="Btn"/>
          <p:cNvSpPr txBox="1"/>
          <p:nvPr/>
        </p:nvSpPr>
        <p:spPr>
          <a:xfrm>
            <a:off x="9540210" y="5678424"/>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RP-047  (POPUP)</a:t>
            </a:r>
          </a:p>
          <a:p>
            <a:r>
              <a:rPr lang="en-MY" sz="900" b="1" dirty="0">
                <a:solidFill>
                  <a:schemeClr val="tx1">
                    <a:lumMod val="85000"/>
                    <a:lumOff val="15000"/>
                  </a:schemeClr>
                </a:solidFill>
              </a:rPr>
              <a:t>PHYSICAL LEARNER SCREEN: TONG_SAMPAH_EXAMPLES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TONG_SAMPAH_EXAMPLE_01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component_complete[TONG_SAMPAH]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TONG_SAMPAH_EXAMPLE_01  &lt;-  K5-PL06-T03-B02-TONG-SAMPAH-ROW-01  (ms 246/fiz 265)</a:t>
            </a:r>
          </a:p>
          <a:p>
            <a:r>
              <a:rPr lang="en-MY" sz="900" dirty="0">
                <a:solidFill>
                  <a:schemeClr val="tx1">
                    <a:lumMod val="85000"/>
                    <a:lumOff val="15000"/>
                  </a:schemeClr>
                </a:solidFill>
              </a:rPr>
              <a:t>  TONG_SAMPAH_EXAMPLE_02  &lt;-  K5-PL06-T03-B02-TONG-SAMPAH-ROW-02  (ms 246/fiz 265)</a:t>
            </a:r>
          </a:p>
          <a:p>
            <a:r>
              <a:rPr lang="en-MY" sz="900" dirty="0">
                <a:solidFill>
                  <a:schemeClr val="tx1">
                    <a:lumMod val="85000"/>
                    <a:lumOff val="15000"/>
                  </a:schemeClr>
                </a:solidFill>
              </a:rPr>
              <a:t>  TONG_SAMPAH_EXAMPLE_03  &lt;-  K5-PL06-T03-B02-TONG-SAMPAH-ROW-03  (ms 247/fiz 266)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Tong Sampah</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3"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3666744"/>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Tong Sampah Konkrit/Batu</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SPESIFIKASI</a:t>
            </a:r>
          </a:p>
        </p:txBody>
      </p:sp>
      <p:sp>
        <p:nvSpPr>
          <p:cNvPr id="211" name="FBody"/>
          <p:cNvSpPr txBox="1"/>
          <p:nvPr/>
        </p:nvSpPr>
        <p:spPr>
          <a:xfrm>
            <a:off x="1490472" y="2542032"/>
            <a:ext cx="9211026" cy="644652"/>
          </a:xfrm>
          <a:prstGeom prst="rect">
            <a:avLst/>
          </a:prstGeom>
          <a:noFill/>
        </p:spPr>
        <p:txBody>
          <a:bodyPr wrap="square">
            <a:noAutofit/>
          </a:bodyPr>
          <a:lstStyle/>
          <a:p>
            <a:pPr/>
            <a:r>
              <a:rPr lang="en-MY" sz="1250" dirty="0">
                <a:solidFill>
                  <a:schemeClr val="tx1">
                    <a:lumMod val="85000"/>
                    <a:lumOff val="15000"/>
                  </a:schemeClr>
                </a:solidFill>
              </a:rPr>
              <a:t>Bahan: konkrit bertetulang atau batu asli/tiruan. Berat mencukupi bagi mengelak kecurian atau</a:t>
            </a:r>
          </a:p>
          <a:p>
            <a:pPr/>
            <a:r>
              <a:rPr lang="en-MY" sz="1250" dirty="0">
                <a:solidFill>
                  <a:schemeClr val="tx1">
                    <a:lumMod val="85000"/>
                    <a:lumOff val="15000"/>
                  </a:schemeClr>
                </a:solidFill>
              </a:rPr>
              <a:t>pergerakan tidak disengajakan.</a:t>
            </a:r>
          </a:p>
          <a:p>
            <a:pPr/>
            <a:r>
              <a:rPr lang="en-MY" sz="1250" dirty="0">
                <a:solidFill>
                  <a:schemeClr val="tx1">
                    <a:lumMod val="85000"/>
                    <a:lumOff val="15000"/>
                  </a:schemeClr>
                </a:solidFill>
              </a:rPr>
              <a:t>Ciri-ciri: pembukaan sesuai untuk sampah, dengan atau tanpa tong dalam logam.</a:t>
            </a:r>
          </a:p>
        </p:txBody>
      </p:sp>
      <p:sp>
        <p:nvSpPr>
          <p:cNvPr id="212" name="FHead"/>
          <p:cNvSpPr txBox="1"/>
          <p:nvPr/>
        </p:nvSpPr>
        <p:spPr>
          <a:xfrm>
            <a:off x="1490472" y="3332988"/>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570732"/>
            <a:ext cx="9211026" cy="219456"/>
          </a:xfrm>
          <a:prstGeom prst="rect">
            <a:avLst/>
          </a:prstGeom>
          <a:noFill/>
        </p:spPr>
        <p:txBody>
          <a:bodyPr wrap="square">
            <a:noAutofit/>
          </a:bodyPr>
          <a:lstStyle/>
          <a:p>
            <a:pPr/>
            <a:r>
              <a:rPr lang="en-MY" sz="1250" dirty="0">
                <a:solidFill>
                  <a:schemeClr val="tx1">
                    <a:lumMod val="85000"/>
                    <a:lumOff val="15000"/>
                  </a:schemeClr>
                </a:solidFill>
              </a:rPr>
              <a:t>Tong sampah berat dan kukuh yang disepadukan dengan reka bentuk landskap.</a:t>
            </a:r>
          </a:p>
        </p:txBody>
      </p:sp>
      <p:sp>
        <p:nvSpPr>
          <p:cNvPr id="214" name="FHead"/>
          <p:cNvSpPr txBox="1"/>
          <p:nvPr/>
        </p:nvSpPr>
        <p:spPr>
          <a:xfrm>
            <a:off x="1490472" y="39319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4169664"/>
            <a:ext cx="9211026" cy="429768"/>
          </a:xfrm>
          <a:prstGeom prst="rect">
            <a:avLst/>
          </a:prstGeom>
          <a:noFill/>
        </p:spPr>
        <p:txBody>
          <a:bodyPr wrap="square">
            <a:noAutofit/>
          </a:bodyPr>
          <a:lstStyle/>
          <a:p>
            <a:pPr/>
            <a:r>
              <a:rPr lang="en-MY" sz="1250" dirty="0">
                <a:solidFill>
                  <a:schemeClr val="tx1">
                    <a:lumMod val="85000"/>
                    <a:lumOff val="15000"/>
                  </a:schemeClr>
                </a:solidFill>
              </a:rPr>
              <a:t>[Visual: Foto jadual spesifikasi Tong Sampah Konkrit/Batu, modul ms 247. Aset</a:t>
            </a:r>
          </a:p>
          <a:p>
            <a:pPr/>
            <a:r>
              <a:rPr lang="en-MY" sz="1250" dirty="0">
                <a:solidFill>
                  <a:schemeClr val="tx1">
                    <a:lumMod val="85000"/>
                    <a:lumOff val="15000"/>
                  </a:schemeClr>
                </a:solidFill>
              </a:rPr>
              <a:t>K5PL06T03-B02-IMG-p247-x44. Tidak dibenamkan.]</a:t>
            </a:r>
          </a:p>
        </p:txBody>
      </p:sp>
      <p:sp>
        <p:nvSpPr>
          <p:cNvPr id="260" name="Btn"/>
          <p:cNvSpPr txBox="1"/>
          <p:nvPr/>
        </p:nvSpPr>
        <p:spPr>
          <a:xfrm>
            <a:off x="9540210" y="48737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RP-048  (POPUP)</a:t>
            </a:r>
          </a:p>
          <a:p>
            <a:r>
              <a:rPr lang="en-MY" sz="900" b="1" dirty="0">
                <a:solidFill>
                  <a:schemeClr val="tx1">
                    <a:lumMod val="85000"/>
                    <a:lumOff val="15000"/>
                  </a:schemeClr>
                </a:solidFill>
              </a:rPr>
              <a:t>PHYSICAL LEARNER SCREEN: TONG_SAMPAH_EXAMPLES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TONG_SAMPAH_EXAMPLE_02</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1/3 item dilihat</a:t>
            </a:r>
          </a:p>
          <a:p>
            <a:r>
              <a:rPr lang="en-MY" sz="900" dirty="0">
                <a:solidFill>
                  <a:schemeClr val="tx1">
                    <a:lumMod val="85000"/>
                    <a:lumOff val="15000"/>
                  </a:schemeClr>
                </a:solidFill>
              </a:rPr>
              <a:t>  component_complete[TONG_SAMPAH]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TONG_SAMPAH_EXAMPLE_01  &lt;-  K5-PL06-T03-B02-TONG-SAMPAH-ROW-01  (ms 246/fiz 265)</a:t>
            </a:r>
          </a:p>
          <a:p>
            <a:r>
              <a:rPr lang="en-MY" sz="900" dirty="0">
                <a:solidFill>
                  <a:schemeClr val="tx1">
                    <a:lumMod val="85000"/>
                    <a:lumOff val="15000"/>
                  </a:schemeClr>
                </a:solidFill>
              </a:rPr>
              <a:t>  TONG_SAMPAH_EXAMPLE_02  &lt;-  K5-PL06-T03-B02-TONG-SAMPAH-ROW-02  (ms 246/fiz 265)</a:t>
            </a:r>
          </a:p>
          <a:p>
            <a:r>
              <a:rPr lang="en-MY" sz="900" dirty="0">
                <a:solidFill>
                  <a:schemeClr val="tx1">
                    <a:lumMod val="85000"/>
                    <a:lumOff val="15000"/>
                  </a:schemeClr>
                </a:solidFill>
              </a:rPr>
              <a:t>  TONG_SAMPAH_EXAMPLE_03  &lt;-  K5-PL06-T03-B02-TONG-SAMPAH-ROW-03  (ms 247/fiz 266)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Tong Sampah</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3666744"/>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Tong Sampah Plastik Kitar Semula (HDPE)</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SPESIFIKASI</a:t>
            </a:r>
          </a:p>
        </p:txBody>
      </p:sp>
      <p:sp>
        <p:nvSpPr>
          <p:cNvPr id="211" name="FBody"/>
          <p:cNvSpPr txBox="1"/>
          <p:nvPr/>
        </p:nvSpPr>
        <p:spPr>
          <a:xfrm>
            <a:off x="1490472" y="2542032"/>
            <a:ext cx="9211026" cy="644652"/>
          </a:xfrm>
          <a:prstGeom prst="rect">
            <a:avLst/>
          </a:prstGeom>
          <a:noFill/>
        </p:spPr>
        <p:txBody>
          <a:bodyPr wrap="square">
            <a:noAutofit/>
          </a:bodyPr>
          <a:lstStyle/>
          <a:p>
            <a:pPr/>
            <a:r>
              <a:rPr lang="en-MY" sz="1250" dirty="0">
                <a:solidFill>
                  <a:schemeClr val="tx1">
                    <a:lumMod val="85000"/>
                    <a:lumOff val="15000"/>
                  </a:schemeClr>
                </a:solidFill>
              </a:rPr>
              <a:t>Bahan: plastik berketumpatan tinggi (HDPE) yang tahan UV, tidak reput dan mudah dibersihkan.</a:t>
            </a:r>
          </a:p>
          <a:p>
            <a:pPr/>
            <a:r>
              <a:rPr lang="en-MY" sz="1250" dirty="0">
                <a:solidFill>
                  <a:schemeClr val="tx1">
                    <a:lumMod val="85000"/>
                    <a:lumOff val="15000"/>
                  </a:schemeClr>
                </a:solidFill>
              </a:rPr>
              <a:t>Ciri-ciri: ringan, mudah dialihkan jika tidak dipasang tetap; pelbagai warna untuk pengasingan</a:t>
            </a:r>
          </a:p>
          <a:p>
            <a:pPr/>
            <a:r>
              <a:rPr lang="en-MY" sz="1250" dirty="0">
                <a:solidFill>
                  <a:schemeClr val="tx1">
                    <a:lumMod val="85000"/>
                    <a:lumOff val="15000"/>
                  </a:schemeClr>
                </a:solidFill>
              </a:rPr>
              <a:t>sisa.</a:t>
            </a:r>
          </a:p>
        </p:txBody>
      </p:sp>
      <p:sp>
        <p:nvSpPr>
          <p:cNvPr id="212" name="FHead"/>
          <p:cNvSpPr txBox="1"/>
          <p:nvPr/>
        </p:nvSpPr>
        <p:spPr>
          <a:xfrm>
            <a:off x="1490472" y="3332988"/>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570732"/>
            <a:ext cx="9211026" cy="219456"/>
          </a:xfrm>
          <a:prstGeom prst="rect">
            <a:avLst/>
          </a:prstGeom>
          <a:noFill/>
        </p:spPr>
        <p:txBody>
          <a:bodyPr wrap="square">
            <a:noAutofit/>
          </a:bodyPr>
          <a:lstStyle/>
          <a:p>
            <a:pPr/>
            <a:r>
              <a:rPr lang="en-MY" sz="1250" dirty="0">
                <a:solidFill>
                  <a:schemeClr val="tx1">
                    <a:lumMod val="85000"/>
                    <a:lumOff val="15000"/>
                  </a:schemeClr>
                </a:solidFill>
              </a:rPr>
              <a:t>Tong sampah berwarna-warni yang sering digunakan untuk pengasingan sisa kitar semula.</a:t>
            </a:r>
          </a:p>
        </p:txBody>
      </p:sp>
      <p:sp>
        <p:nvSpPr>
          <p:cNvPr id="214" name="FHead"/>
          <p:cNvSpPr txBox="1"/>
          <p:nvPr/>
        </p:nvSpPr>
        <p:spPr>
          <a:xfrm>
            <a:off x="1490472" y="39319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4169664"/>
            <a:ext cx="9211026" cy="429768"/>
          </a:xfrm>
          <a:prstGeom prst="rect">
            <a:avLst/>
          </a:prstGeom>
          <a:noFill/>
        </p:spPr>
        <p:txBody>
          <a:bodyPr wrap="square">
            <a:noAutofit/>
          </a:bodyPr>
          <a:lstStyle/>
          <a:p>
            <a:pPr/>
            <a:r>
              <a:rPr lang="en-MY" sz="1250" dirty="0">
                <a:solidFill>
                  <a:schemeClr val="tx1">
                    <a:lumMod val="85000"/>
                    <a:lumOff val="15000"/>
                  </a:schemeClr>
                </a:solidFill>
              </a:rPr>
              <a:t>[Visual: Dua foto jadual spesifikasi Tong Sampah Plastik HDPE, modul ms 247. Aset</a:t>
            </a:r>
          </a:p>
          <a:p>
            <a:pPr/>
            <a:r>
              <a:rPr lang="en-MY" sz="1250" dirty="0">
                <a:solidFill>
                  <a:schemeClr val="tx1">
                    <a:lumMod val="85000"/>
                    <a:lumOff val="15000"/>
                  </a:schemeClr>
                </a:solidFill>
              </a:rPr>
              <a:t>K5PL06T03-B02-IMG-p247-x45 dan K5PL06T03-B02-IMG-p247-x46. Tidak dibenamkan.]</a:t>
            </a:r>
          </a:p>
        </p:txBody>
      </p:sp>
      <p:sp>
        <p:nvSpPr>
          <p:cNvPr id="260" name="Btn"/>
          <p:cNvSpPr txBox="1"/>
          <p:nvPr/>
        </p:nvSpPr>
        <p:spPr>
          <a:xfrm>
            <a:off x="9540210" y="48737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RP-049  (POPUP)</a:t>
            </a:r>
          </a:p>
          <a:p>
            <a:r>
              <a:rPr lang="en-MY" sz="900" b="1" dirty="0">
                <a:solidFill>
                  <a:schemeClr val="tx1">
                    <a:lumMod val="85000"/>
                    <a:lumOff val="15000"/>
                  </a:schemeClr>
                </a:solidFill>
              </a:rPr>
              <a:t>PHYSICAL LEARNER SCREEN: TONG_SAMPAH_EXAMPLES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TONG_SAMPAH_EXAMPLE_03</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2/3 item dilihat</a:t>
            </a:r>
          </a:p>
          <a:p>
            <a:r>
              <a:rPr lang="en-MY" sz="900" dirty="0">
                <a:solidFill>
                  <a:schemeClr val="tx1">
                    <a:lumMod val="85000"/>
                    <a:lumOff val="15000"/>
                  </a:schemeClr>
                </a:solidFill>
              </a:rPr>
              <a:t>  component_complete[TONG_SAMPAH]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TONG_SAMPAH_EXAMPLE_01  &lt;-  K5-PL06-T03-B02-TONG-SAMPAH-ROW-01  (ms 246/fiz 265)</a:t>
            </a:r>
          </a:p>
          <a:p>
            <a:r>
              <a:rPr lang="en-MY" sz="900" dirty="0">
                <a:solidFill>
                  <a:schemeClr val="tx1">
                    <a:lumMod val="85000"/>
                    <a:lumOff val="15000"/>
                  </a:schemeClr>
                </a:solidFill>
              </a:rPr>
              <a:t>  TONG_SAMPAH_EXAMPLE_02  &lt;-  K5-PL06-T03-B02-TONG-SAMPAH-ROW-02  (ms 246/fiz 265)</a:t>
            </a:r>
          </a:p>
          <a:p>
            <a:r>
              <a:rPr lang="en-MY" sz="900" dirty="0">
                <a:solidFill>
                  <a:schemeClr val="tx1">
                    <a:lumMod val="85000"/>
                    <a:lumOff val="15000"/>
                  </a:schemeClr>
                </a:solidFill>
              </a:rPr>
              <a:t>  TONG_SAMPAH_EXAMPLE_03  &lt;-  K5-PL06-T03-B02-TONG-SAMPAH-ROW-03  (ms 247/fiz 266)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Tong Sampah</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RP-050  (ALL_VIEWED)</a:t>
            </a:r>
          </a:p>
          <a:p>
            <a:r>
              <a:rPr lang="en-MY" sz="900" b="1" dirty="0">
                <a:solidFill>
                  <a:schemeClr val="tx1">
                    <a:lumMod val="85000"/>
                    <a:lumOff val="15000"/>
                  </a:schemeClr>
                </a:solidFill>
              </a:rPr>
              <a:t>PHYSICAL LEARNER SCREEN: TONG_SAMPAH_EXAMPLES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3/3 item dilihat</a:t>
            </a:r>
          </a:p>
          <a:p>
            <a:r>
              <a:rPr lang="en-MY" sz="900" dirty="0">
                <a:solidFill>
                  <a:schemeClr val="tx1">
                    <a:lumMod val="85000"/>
                    <a:lumOff val="15000"/>
                  </a:schemeClr>
                </a:solidFill>
              </a:rPr>
              <a:t>  component_complete[TONG_SAMPAH]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TONG_SAMPAH_EXAMPLE_01  &lt;-  K5-PL06-T03-B02-TONG-SAMPAH-ROW-01  (ms 246/fiz 265)</a:t>
            </a:r>
          </a:p>
          <a:p>
            <a:r>
              <a:rPr lang="en-MY" sz="900" dirty="0">
                <a:solidFill>
                  <a:schemeClr val="tx1">
                    <a:lumMod val="85000"/>
                    <a:lumOff val="15000"/>
                  </a:schemeClr>
                </a:solidFill>
              </a:rPr>
              <a:t>  TONG_SAMPAH_EXAMPLE_02  &lt;-  K5-PL06-T03-B02-TONG-SAMPAH-ROW-02  (ms 246/fiz 265)</a:t>
            </a:r>
          </a:p>
          <a:p>
            <a:r>
              <a:rPr lang="en-MY" sz="900" dirty="0">
                <a:solidFill>
                  <a:schemeClr val="tx1">
                    <a:lumMod val="85000"/>
                    <a:lumOff val="15000"/>
                  </a:schemeClr>
                </a:solidFill>
              </a:rPr>
              <a:t>  TONG_SAMPAH_EXAMPLE_03  &lt;-  K5-PL06-T03-B02-TONG-SAMPAH-ROW-03  (ms 247/fiz 266)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Drinking Fountain</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Foto jadual spesifikasi</a:t>
            </a:r>
          </a:p>
          <a:p>
            <a:r>
              <a:rPr lang="en-MY" sz="1200" dirty="0">
                <a:solidFill>
                  <a:schemeClr val="tx1">
                    <a:lumMod val="85000"/>
                    <a:lumOff val="15000"/>
                  </a:schemeClr>
                </a:solidFill>
              </a:rPr>
              <a:t>drinking fountain, modul ms 248–249.</a:t>
            </a:r>
          </a:p>
          <a:p>
            <a:r>
              <a:rPr lang="en-MY" sz="1200" dirty="0">
                <a:solidFill>
                  <a:schemeClr val="tx1">
                    <a:lumMod val="85000"/>
                    <a:lumOff val="15000"/>
                  </a:schemeClr>
                </a:solidFill>
              </a:rPr>
              <a:t>Tidak 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i="1" dirty="0"/>
              <a:t>Drinking Fountain</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Akses mudah kepada air bersih untuk pengguna taman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Dibina dengan bahan yang bersih dan tahan lasak</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Perlu sambungan paip bersih dan saliran berkesan untuk air buangan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Ketinggian berbeza untuk kanak-kanak dan orang dewasa, serta akses kerusi roda</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RP-051  (BASE)</a:t>
            </a:r>
          </a:p>
          <a:p>
            <a:r>
              <a:rPr lang="en-MY" sz="900" b="1" dirty="0">
                <a:solidFill>
                  <a:schemeClr val="tx1">
                    <a:lumMod val="85000"/>
                    <a:lumOff val="15000"/>
                  </a:schemeClr>
                </a:solidFill>
              </a:rPr>
              <a:t>PHYSICAL LEARNER SCREEN: DRINKING_FOUNTAIN_MAIN  [MAIN]</a:t>
            </a:r>
          </a:p>
          <a:p>
            <a:r>
              <a:rPr lang="en-MY" sz="900" dirty="0">
                <a:solidFill>
                  <a:schemeClr val="tx1">
                    <a:lumMod val="85000"/>
                    <a:lumOff val="15000"/>
                  </a:schemeClr>
                </a:solidFill>
              </a:rPr>
              <a:t/>
            </a: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main_vo_complete[DRINKING_FOUNTAIN]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DRINKING_FOUNTAIN_EXAMPLES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247 (fizikal 266).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Drinking Fountain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516636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ItemCard"/>
          <p:cNvSpPr txBox="1"/>
          <p:nvPr/>
        </p:nvSpPr>
        <p:spPr>
          <a:xfrm>
            <a:off x="6301770" y="1965960"/>
            <a:ext cx="516636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RP-052  (BASE)</a:t>
            </a:r>
          </a:p>
          <a:p>
            <a:r>
              <a:rPr lang="en-MY" sz="900" b="1" dirty="0">
                <a:solidFill>
                  <a:schemeClr val="tx1">
                    <a:lumMod val="85000"/>
                    <a:lumOff val="15000"/>
                  </a:schemeClr>
                </a:solidFill>
              </a:rPr>
              <a:t>PHYSICAL LEARNER SCREEN: DRINKING_FOUNTAIN_EXAMPLES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0/2 item dilihat</a:t>
            </a:r>
          </a:p>
          <a:p>
            <a:r>
              <a:rPr lang="en-MY" sz="900" dirty="0">
                <a:solidFill>
                  <a:schemeClr val="tx1">
                    <a:lumMod val="85000"/>
                    <a:lumOff val="15000"/>
                  </a:schemeClr>
                </a:solidFill>
              </a:rPr>
              <a:t>  component_complete[DRINKING_FOUNTAIN]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DRINKING_FOUNTAIN_EXAMPLE_01  &lt;-  K5-PL06-T03-B02-DRINKING-FOUNTAIN-ROW-01  (ms 248/fiz 267)</a:t>
            </a:r>
          </a:p>
          <a:p>
            <a:r>
              <a:rPr lang="en-MY" sz="900" dirty="0">
                <a:solidFill>
                  <a:schemeClr val="tx1">
                    <a:lumMod val="85000"/>
                    <a:lumOff val="15000"/>
                  </a:schemeClr>
                </a:solidFill>
              </a:rPr>
              <a:t>  DRINKING_FOUNTAIN_EXAMPLE_02  &lt;-  K5-PL06-T03-B02-DRINKING-FOUNTAIN-ROW-02  (ms 248/fiz 267)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Drinking Fountain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516636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ItemCard"/>
          <p:cNvSpPr txBox="1"/>
          <p:nvPr/>
        </p:nvSpPr>
        <p:spPr>
          <a:xfrm>
            <a:off x="6301770" y="1965960"/>
            <a:ext cx="516636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298448"/>
            <a:ext cx="9723090" cy="4956048"/>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444752"/>
            <a:ext cx="7894290" cy="365760"/>
          </a:xfrm>
          <a:prstGeom prst="rect">
            <a:avLst/>
          </a:prstGeom>
          <a:noFill/>
        </p:spPr>
        <p:txBody>
          <a:bodyPr wrap="square">
            <a:noAutofit/>
          </a:bodyPr>
          <a:lstStyle/>
          <a:p>
            <a:pPr/>
            <a:r>
              <a:rPr lang="en-MY" sz="2000" b="1" dirty="0">
                <a:solidFill>
                  <a:schemeClr val="tx1">
                    <a:lumMod val="85000"/>
                    <a:lumOff val="15000"/>
                  </a:schemeClr>
                </a:solidFill>
              </a:rPr>
              <a:t>Pancutan Air Minum Keluli Tahan Karat</a:t>
            </a:r>
          </a:p>
        </p:txBody>
      </p:sp>
      <p:sp>
        <p:nvSpPr>
          <p:cNvPr id="210" name="FHead"/>
          <p:cNvSpPr txBox="1"/>
          <p:nvPr/>
        </p:nvSpPr>
        <p:spPr>
          <a:xfrm>
            <a:off x="1490472" y="1865376"/>
            <a:ext cx="9211026" cy="219456"/>
          </a:xfrm>
          <a:prstGeom prst="rect">
            <a:avLst/>
          </a:prstGeom>
          <a:noFill/>
        </p:spPr>
        <p:txBody>
          <a:bodyPr wrap="square">
            <a:noAutofit/>
          </a:bodyPr>
          <a:lstStyle/>
          <a:p>
            <a:pPr/>
            <a:r>
              <a:rPr lang="en-MY" sz="950" b="1" dirty="0">
                <a:solidFill>
                  <a:srgbClr val="7F6000"/>
                </a:solidFill>
              </a:rPr>
              <a:t>SPESIFIKASI</a:t>
            </a:r>
          </a:p>
        </p:txBody>
      </p:sp>
      <p:sp>
        <p:nvSpPr>
          <p:cNvPr id="211" name="FBody"/>
          <p:cNvSpPr txBox="1"/>
          <p:nvPr/>
        </p:nvSpPr>
        <p:spPr>
          <a:xfrm>
            <a:off x="1490472" y="2103120"/>
            <a:ext cx="9211026" cy="1719072"/>
          </a:xfrm>
          <a:prstGeom prst="rect">
            <a:avLst/>
          </a:prstGeom>
          <a:noFill/>
        </p:spPr>
        <p:txBody>
          <a:bodyPr wrap="square">
            <a:noAutofit/>
          </a:bodyPr>
          <a:lstStyle/>
          <a:p>
            <a:pPr/>
            <a:r>
              <a:rPr lang="en-MY" sz="1250" dirty="0">
                <a:solidFill>
                  <a:schemeClr val="tx1">
                    <a:lumMod val="85000"/>
                    <a:lumOff val="15000"/>
                  </a:schemeClr>
                </a:solidFill>
              </a:rPr>
              <a:t>Bahan: keluli tahan karat Gred 304 atau 316 (316 lebih tahan kakisan untuk persekitaran pantai).</a:t>
            </a:r>
          </a:p>
          <a:p>
            <a:pPr/>
            <a:r>
              <a:rPr lang="en-MY" sz="1250" dirty="0">
                <a:solidFill>
                  <a:schemeClr val="tx1">
                    <a:lumMod val="85000"/>
                    <a:lumOff val="15000"/>
                  </a:schemeClr>
                </a:solidFill>
              </a:rPr>
              <a:t>Tebal min. 1.5mm.</a:t>
            </a:r>
          </a:p>
          <a:p>
            <a:pPr/>
            <a:r>
              <a:rPr lang="en-MY" sz="1250" dirty="0">
                <a:solidFill>
                  <a:schemeClr val="tx1">
                    <a:lumMod val="85000"/>
                    <a:lumOff val="15000"/>
                  </a:schemeClr>
                </a:solidFill>
              </a:rPr>
              <a:t>Injap: injap tekan tahan lasak dan tahan vandalisme; mekanisme membersihkan diri satu kelebihan.</a:t>
            </a:r>
          </a:p>
          <a:p>
            <a:pPr/>
            <a:r>
              <a:rPr lang="en-MY" sz="1250" dirty="0">
                <a:solidFill>
                  <a:schemeClr val="tx1">
                    <a:lumMod val="85000"/>
                    <a:lumOff val="15000"/>
                  </a:schemeClr>
                </a:solidFill>
              </a:rPr>
              <a:t>Kepala pancutan: aliran stabil dan bersih, dilindungi daripada sentuhan mulut pengguna.</a:t>
            </a:r>
          </a:p>
          <a:p>
            <a:pPr/>
            <a:r>
              <a:rPr lang="en-MY" sz="1250" dirty="0">
                <a:solidFill>
                  <a:schemeClr val="tx1">
                    <a:lumMod val="85000"/>
                    <a:lumOff val="15000"/>
                  </a:schemeClr>
                </a:solidFill>
              </a:rPr>
              <a:t>Penapisan (pilihan): penapis karbon atau sedimen.</a:t>
            </a:r>
          </a:p>
          <a:p>
            <a:pPr/>
            <a:r>
              <a:rPr lang="en-MY" sz="1250" dirty="0">
                <a:solidFill>
                  <a:schemeClr val="tx1">
                    <a:lumMod val="85000"/>
                    <a:lumOff val="15000"/>
                  </a:schemeClr>
                </a:solidFill>
              </a:rPr>
              <a:t>Perpaipan: air bersih (PVC atau HDPE) dan saliran air buangan yang cekap; injap tutup untuk</a:t>
            </a:r>
          </a:p>
          <a:p>
            <a:pPr/>
            <a:r>
              <a:rPr lang="en-MY" sz="1250" dirty="0">
                <a:solidFill>
                  <a:schemeClr val="tx1">
                    <a:lumMod val="85000"/>
                    <a:lumOff val="15000"/>
                  </a:schemeClr>
                </a:solidFill>
              </a:rPr>
              <a:t>penyelenggaraan.</a:t>
            </a:r>
          </a:p>
          <a:p>
            <a:pPr/>
            <a:r>
              <a:rPr lang="en-MY" sz="1250" dirty="0">
                <a:solidFill>
                  <a:schemeClr val="tx1">
                    <a:lumMod val="85000"/>
                    <a:lumOff val="15000"/>
                  </a:schemeClr>
                </a:solidFill>
              </a:rPr>
              <a:t>Aksesibiliti: mengikut piawaian reka bentuk universal.</a:t>
            </a:r>
          </a:p>
        </p:txBody>
      </p:sp>
      <p:sp>
        <p:nvSpPr>
          <p:cNvPr id="212" name="FHead"/>
          <p:cNvSpPr txBox="1"/>
          <p:nvPr/>
        </p:nvSpPr>
        <p:spPr>
          <a:xfrm>
            <a:off x="1490472" y="3968496"/>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4206240"/>
            <a:ext cx="9211026" cy="429768"/>
          </a:xfrm>
          <a:prstGeom prst="rect">
            <a:avLst/>
          </a:prstGeom>
          <a:noFill/>
        </p:spPr>
        <p:txBody>
          <a:bodyPr wrap="square">
            <a:noAutofit/>
          </a:bodyPr>
          <a:lstStyle/>
          <a:p>
            <a:pPr/>
            <a:r>
              <a:rPr lang="en-MY" sz="1250" dirty="0">
                <a:solidFill>
                  <a:schemeClr val="tx1">
                    <a:lumMod val="85000"/>
                    <a:lumOff val="15000"/>
                  </a:schemeClr>
                </a:solidFill>
              </a:rPr>
              <a:t>Unit pancutan air moden dan bersih, biasa ditemui di taman bandar utama seperti KLCC Park atau</a:t>
            </a:r>
          </a:p>
          <a:p>
            <a:pPr/>
            <a:r>
              <a:rPr lang="en-MY" sz="1250" dirty="0">
                <a:solidFill>
                  <a:schemeClr val="tx1">
                    <a:lumMod val="85000"/>
                    <a:lumOff val="15000"/>
                  </a:schemeClr>
                </a:solidFill>
              </a:rPr>
              <a:t>Taman Botani Perdana, Kuala Lumpur.</a:t>
            </a:r>
          </a:p>
        </p:txBody>
      </p:sp>
      <p:sp>
        <p:nvSpPr>
          <p:cNvPr id="214" name="FHead"/>
          <p:cNvSpPr txBox="1"/>
          <p:nvPr/>
        </p:nvSpPr>
        <p:spPr>
          <a:xfrm>
            <a:off x="1490472" y="4782312"/>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5020056"/>
            <a:ext cx="9211026" cy="429768"/>
          </a:xfrm>
          <a:prstGeom prst="rect">
            <a:avLst/>
          </a:prstGeom>
          <a:noFill/>
        </p:spPr>
        <p:txBody>
          <a:bodyPr wrap="square">
            <a:noAutofit/>
          </a:bodyPr>
          <a:lstStyle/>
          <a:p>
            <a:pPr/>
            <a:r>
              <a:rPr lang="en-MY" sz="1250" dirty="0">
                <a:solidFill>
                  <a:schemeClr val="tx1">
                    <a:lumMod val="85000"/>
                    <a:lumOff val="15000"/>
                  </a:schemeClr>
                </a:solidFill>
              </a:rPr>
              <a:t>[Visual: Foto jadual spesifikasi Pancutan Air Minum Keluli Tahan Karat, modul ms 248. Aset</a:t>
            </a:r>
          </a:p>
          <a:p>
            <a:pPr/>
            <a:r>
              <a:rPr lang="en-MY" sz="1250" dirty="0">
                <a:solidFill>
                  <a:schemeClr val="tx1">
                    <a:lumMod val="85000"/>
                    <a:lumOff val="15000"/>
                  </a:schemeClr>
                </a:solidFill>
              </a:rPr>
              <a:t>K5PL06T03-B02-IMG-p248-x49. Tidak dibenamkan.]</a:t>
            </a:r>
          </a:p>
        </p:txBody>
      </p:sp>
      <p:sp>
        <p:nvSpPr>
          <p:cNvPr id="260" name="Btn"/>
          <p:cNvSpPr txBox="1"/>
          <p:nvPr/>
        </p:nvSpPr>
        <p:spPr>
          <a:xfrm>
            <a:off x="9540210" y="5724144"/>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RP-053  (POPUP)</a:t>
            </a:r>
          </a:p>
          <a:p>
            <a:r>
              <a:rPr lang="en-MY" sz="900" b="1" dirty="0">
                <a:solidFill>
                  <a:schemeClr val="tx1">
                    <a:lumMod val="85000"/>
                    <a:lumOff val="15000"/>
                  </a:schemeClr>
                </a:solidFill>
              </a:rPr>
              <a:t>PHYSICAL LEARNER SCREEN: DRINKING_FOUNTAIN_EXAMPLES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DRINKING_FOUNTAIN_EXAMPLE_01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0/2 item dilihat</a:t>
            </a:r>
          </a:p>
          <a:p>
            <a:r>
              <a:rPr lang="en-MY" sz="900" dirty="0">
                <a:solidFill>
                  <a:schemeClr val="tx1">
                    <a:lumMod val="85000"/>
                    <a:lumOff val="15000"/>
                  </a:schemeClr>
                </a:solidFill>
              </a:rPr>
              <a:t>  component_complete[DRINKING_FOUNTAIN]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DRINKING_FOUNTAIN_EXAMPLE_01  &lt;-  K5-PL06-T03-B02-DRINKING-FOUNTAIN-ROW-01  (ms 248/fiz 267)</a:t>
            </a:r>
          </a:p>
          <a:p>
            <a:r>
              <a:rPr lang="en-MY" sz="900" dirty="0">
                <a:solidFill>
                  <a:schemeClr val="tx1">
                    <a:lumMod val="85000"/>
                    <a:lumOff val="15000"/>
                  </a:schemeClr>
                </a:solidFill>
              </a:rPr>
              <a:t>  DRINKING_FOUNTAIN_EXAMPLE_02  &lt;-  K5-PL06-T03-B02-DRINKING-FOUNTAIN-ROW-02  (ms 248/fiz 267)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Drinking Fountain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516636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Tick"/>
          <p:cNvSpPr/>
          <p:nvPr/>
        </p:nvSpPr>
        <p:spPr>
          <a:xfrm>
            <a:off x="546966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301770" y="1965960"/>
            <a:ext cx="516636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4096512"/>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7894290" cy="365760"/>
          </a:xfrm>
          <a:prstGeom prst="rect">
            <a:avLst/>
          </a:prstGeom>
          <a:noFill/>
        </p:spPr>
        <p:txBody>
          <a:bodyPr wrap="square">
            <a:noAutofit/>
          </a:bodyPr>
          <a:lstStyle/>
          <a:p>
            <a:pPr/>
            <a:r>
              <a:rPr lang="en-MY" sz="2000" b="1" dirty="0">
                <a:solidFill>
                  <a:schemeClr val="tx1">
                    <a:lumMod val="85000"/>
                    <a:lumOff val="15000"/>
                  </a:schemeClr>
                </a:solidFill>
              </a:rPr>
              <a:t>Pancutan Air Minum Konkrit/Batu</a:t>
            </a:r>
          </a:p>
        </p:txBody>
      </p:sp>
      <p:sp>
        <p:nvSpPr>
          <p:cNvPr id="210" name="FHead"/>
          <p:cNvSpPr txBox="1"/>
          <p:nvPr/>
        </p:nvSpPr>
        <p:spPr>
          <a:xfrm>
            <a:off x="1490472" y="2304288"/>
            <a:ext cx="9211026" cy="219456"/>
          </a:xfrm>
          <a:prstGeom prst="rect">
            <a:avLst/>
          </a:prstGeom>
          <a:noFill/>
        </p:spPr>
        <p:txBody>
          <a:bodyPr wrap="square">
            <a:noAutofit/>
          </a:bodyPr>
          <a:lstStyle/>
          <a:p>
            <a:pPr/>
            <a:r>
              <a:rPr lang="en-MY" sz="950" b="1" dirty="0">
                <a:solidFill>
                  <a:srgbClr val="7F6000"/>
                </a:solidFill>
              </a:rPr>
              <a:t>SPESIFIKASI</a:t>
            </a:r>
          </a:p>
        </p:txBody>
      </p:sp>
      <p:sp>
        <p:nvSpPr>
          <p:cNvPr id="211" name="FBody"/>
          <p:cNvSpPr txBox="1"/>
          <p:nvPr/>
        </p:nvSpPr>
        <p:spPr>
          <a:xfrm>
            <a:off x="1490472" y="2542032"/>
            <a:ext cx="9211026" cy="859536"/>
          </a:xfrm>
          <a:prstGeom prst="rect">
            <a:avLst/>
          </a:prstGeom>
          <a:noFill/>
        </p:spPr>
        <p:txBody>
          <a:bodyPr wrap="square">
            <a:noAutofit/>
          </a:bodyPr>
          <a:lstStyle/>
          <a:p>
            <a:pPr/>
            <a:r>
              <a:rPr lang="en-MY" sz="1250" dirty="0">
                <a:solidFill>
                  <a:schemeClr val="tx1">
                    <a:lumMod val="85000"/>
                    <a:lumOff val="15000"/>
                  </a:schemeClr>
                </a:solidFill>
              </a:rPr>
              <a:t>Bahan: struktur asas konkrit bertetulang atau batu asli/tiruan. Bahagian pancutan (faucet/basin)</a:t>
            </a:r>
          </a:p>
          <a:p>
            <a:pPr/>
            <a:r>
              <a:rPr lang="en-MY" sz="1250" dirty="0">
                <a:solidFill>
                  <a:schemeClr val="tx1">
                    <a:lumMod val="85000"/>
                    <a:lumOff val="15000"/>
                  </a:schemeClr>
                </a:solidFill>
              </a:rPr>
              <a:t>biasanya kekal keluli tahan karat untuk kebersihan.</a:t>
            </a:r>
          </a:p>
          <a:p>
            <a:pPr/>
            <a:r>
              <a:rPr lang="en-MY" sz="1250" dirty="0">
                <a:solidFill>
                  <a:schemeClr val="tx1">
                    <a:lumMod val="85000"/>
                    <a:lumOff val="15000"/>
                  </a:schemeClr>
                </a:solidFill>
              </a:rPr>
              <a:t>Piawaian kesihatan: mesti mematuhi piawaian kualiti air minuman Kementerian Kesihatan Malaysia</a:t>
            </a:r>
          </a:p>
          <a:p>
            <a:pPr/>
            <a:r>
              <a:rPr lang="en-MY" sz="1250" dirty="0">
                <a:solidFill>
                  <a:schemeClr val="tx1">
                    <a:lumMod val="85000"/>
                    <a:lumOff val="15000"/>
                  </a:schemeClr>
                </a:solidFill>
              </a:rPr>
              <a:t>atau badan berkaitan.</a:t>
            </a:r>
          </a:p>
        </p:txBody>
      </p:sp>
      <p:sp>
        <p:nvSpPr>
          <p:cNvPr id="212" name="FHead"/>
          <p:cNvSpPr txBox="1"/>
          <p:nvPr/>
        </p:nvSpPr>
        <p:spPr>
          <a:xfrm>
            <a:off x="1490472" y="3547872"/>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785616"/>
            <a:ext cx="9211026" cy="429768"/>
          </a:xfrm>
          <a:prstGeom prst="rect">
            <a:avLst/>
          </a:prstGeom>
          <a:noFill/>
        </p:spPr>
        <p:txBody>
          <a:bodyPr wrap="square">
            <a:noAutofit/>
          </a:bodyPr>
          <a:lstStyle/>
          <a:p>
            <a:pPr/>
            <a:r>
              <a:rPr lang="en-MY" sz="1250" dirty="0">
                <a:solidFill>
                  <a:schemeClr val="tx1">
                    <a:lumMod val="85000"/>
                    <a:lumOff val="15000"/>
                  </a:schemeClr>
                </a:solidFill>
              </a:rPr>
              <a:t>Unit yang lebih berat dan kukuh, disepadukan dengan reka bentuk taman yang lebih semula jadi</a:t>
            </a:r>
          </a:p>
          <a:p>
            <a:pPr/>
            <a:r>
              <a:rPr lang="en-MY" sz="1250" dirty="0">
                <a:solidFill>
                  <a:schemeClr val="tx1">
                    <a:lumMod val="85000"/>
                    <a:lumOff val="15000"/>
                  </a:schemeClr>
                </a:solidFill>
              </a:rPr>
              <a:t>atau tradisional.</a:t>
            </a:r>
          </a:p>
        </p:txBody>
      </p:sp>
      <p:sp>
        <p:nvSpPr>
          <p:cNvPr id="214" name="FHead"/>
          <p:cNvSpPr txBox="1"/>
          <p:nvPr/>
        </p:nvSpPr>
        <p:spPr>
          <a:xfrm>
            <a:off x="1490472" y="4361688"/>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4599432"/>
            <a:ext cx="9211026" cy="429768"/>
          </a:xfrm>
          <a:prstGeom prst="rect">
            <a:avLst/>
          </a:prstGeom>
          <a:noFill/>
        </p:spPr>
        <p:txBody>
          <a:bodyPr wrap="square">
            <a:noAutofit/>
          </a:bodyPr>
          <a:lstStyle/>
          <a:p>
            <a:pPr/>
            <a:r>
              <a:rPr lang="en-MY" sz="1250" dirty="0">
                <a:solidFill>
                  <a:schemeClr val="tx1">
                    <a:lumMod val="85000"/>
                    <a:lumOff val="15000"/>
                  </a:schemeClr>
                </a:solidFill>
              </a:rPr>
              <a:t>[Visual: Foto jadual spesifikasi Pancutan Air Minum Konkrit/Batu, modul ms 249. Aset</a:t>
            </a:r>
          </a:p>
          <a:p>
            <a:pPr/>
            <a:r>
              <a:rPr lang="en-MY" sz="1250" dirty="0">
                <a:solidFill>
                  <a:schemeClr val="tx1">
                    <a:lumMod val="85000"/>
                    <a:lumOff val="15000"/>
                  </a:schemeClr>
                </a:solidFill>
              </a:rPr>
              <a:t>K5PL06T03-B02-IMG-p249-x56. Tidak dibenamkan.]</a:t>
            </a:r>
          </a:p>
        </p:txBody>
      </p:sp>
      <p:sp>
        <p:nvSpPr>
          <p:cNvPr id="260" name="Btn"/>
          <p:cNvSpPr txBox="1"/>
          <p:nvPr/>
        </p:nvSpPr>
        <p:spPr>
          <a:xfrm>
            <a:off x="9540210" y="5303520"/>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RP-054  (POPUP)</a:t>
            </a:r>
          </a:p>
          <a:p>
            <a:r>
              <a:rPr lang="en-MY" sz="900" b="1" dirty="0">
                <a:solidFill>
                  <a:schemeClr val="tx1">
                    <a:lumMod val="85000"/>
                    <a:lumOff val="15000"/>
                  </a:schemeClr>
                </a:solidFill>
              </a:rPr>
              <a:t>PHYSICAL LEARNER SCREEN: DRINKING_FOUNTAIN_EXAMPLES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DRINKING_FOUNTAIN_EXAMPLE_02</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1/2 item dilihat</a:t>
            </a:r>
          </a:p>
          <a:p>
            <a:r>
              <a:rPr lang="en-MY" sz="900" dirty="0">
                <a:solidFill>
                  <a:schemeClr val="tx1">
                    <a:lumMod val="85000"/>
                    <a:lumOff val="15000"/>
                  </a:schemeClr>
                </a:solidFill>
              </a:rPr>
              <a:t>  component_complete[DRINKING_FOUNTAIN]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DRINKING_FOUNTAIN_EXAMPLE_01  &lt;-  K5-PL06-T03-B02-DRINKING-FOUNTAIN-ROW-01  (ms 248/fiz 267)</a:t>
            </a:r>
          </a:p>
          <a:p>
            <a:r>
              <a:rPr lang="en-MY" sz="900" dirty="0">
                <a:solidFill>
                  <a:schemeClr val="tx1">
                    <a:lumMod val="85000"/>
                    <a:lumOff val="15000"/>
                  </a:schemeClr>
                </a:solidFill>
              </a:rPr>
              <a:t>  DRINKING_FOUNTAIN_EXAMPLE_02  &lt;-  K5-PL06-T03-B02-DRINKING-FOUNTAIN-ROW-02  (ms 248/fiz 267)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Drinking Fountain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516636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Tick"/>
          <p:cNvSpPr/>
          <p:nvPr/>
        </p:nvSpPr>
        <p:spPr>
          <a:xfrm>
            <a:off x="546966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301770" y="1965960"/>
            <a:ext cx="516636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43"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RP-055  (ALL_VIEWED)</a:t>
            </a:r>
          </a:p>
          <a:p>
            <a:r>
              <a:rPr lang="en-MY" sz="900" b="1" dirty="0">
                <a:solidFill>
                  <a:schemeClr val="tx1">
                    <a:lumMod val="85000"/>
                    <a:lumOff val="15000"/>
                  </a:schemeClr>
                </a:solidFill>
              </a:rPr>
              <a:t>PHYSICAL LEARNER SCREEN: DRINKING_FOUNTAIN_EXAMPLES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2/2 item dilihat</a:t>
            </a:r>
          </a:p>
          <a:p>
            <a:r>
              <a:rPr lang="en-MY" sz="900" dirty="0">
                <a:solidFill>
                  <a:schemeClr val="tx1">
                    <a:lumMod val="85000"/>
                    <a:lumOff val="15000"/>
                  </a:schemeClr>
                </a:solidFill>
              </a:rPr>
              <a:t>  component_complete[DRINKING_FOUNTAIN]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DRINKING_FOUNTAIN_EXAMPLE_01  &lt;-  K5-PL06-T03-B02-DRINKING-FOUNTAIN-ROW-01  (ms 248/fiz 267)</a:t>
            </a:r>
          </a:p>
          <a:p>
            <a:r>
              <a:rPr lang="en-MY" sz="900" dirty="0">
                <a:solidFill>
                  <a:schemeClr val="tx1">
                    <a:lumMod val="85000"/>
                    <a:lumOff val="15000"/>
                  </a:schemeClr>
                </a:solidFill>
              </a:rPr>
              <a:t>  DRINKING_FOUNTAIN_EXAMPLE_02  &lt;-  K5-PL06-T03-B02-DRINKING-FOUNTAIN-ROW-02  (ms 248/fiz 267)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BBQ Pit</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Foto jadual spesifikasi BBQ</a:t>
            </a:r>
          </a:p>
          <a:p>
            <a:r>
              <a:rPr lang="en-MY" sz="1200" dirty="0">
                <a:solidFill>
                  <a:schemeClr val="tx1">
                    <a:lumMod val="85000"/>
                    <a:lumOff val="15000"/>
                  </a:schemeClr>
                </a:solidFill>
              </a:rPr>
              <a:t>pit, modul ms 249. Tidak 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i="1" dirty="0"/>
              <a:t>BBQ Pit</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Kemudahan untuk aktiviti memasak dan bersosial di luar</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Dibina daripada bata, blok konkrit atau batu tahan api</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Reka bentuk yang selamat untuk mengandungi api</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Saliran baik dan jarak selamat dari bahan mudah terbakar</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RP-056  (BASE)</a:t>
            </a:r>
          </a:p>
          <a:p>
            <a:r>
              <a:rPr lang="en-MY" sz="900" b="1" dirty="0">
                <a:solidFill>
                  <a:schemeClr val="tx1">
                    <a:lumMod val="85000"/>
                    <a:lumOff val="15000"/>
                  </a:schemeClr>
                </a:solidFill>
              </a:rPr>
              <a:t>PHYSICAL LEARNER SCREEN: BBQ_PIT_MAIN  [MAIN]</a:t>
            </a:r>
          </a:p>
          <a:p>
            <a:r>
              <a:rPr lang="en-MY" sz="900" dirty="0">
                <a:solidFill>
                  <a:schemeClr val="tx1">
                    <a:lumMod val="85000"/>
                    <a:lumOff val="15000"/>
                  </a:schemeClr>
                </a:solidFill>
              </a:rPr>
              <a:t/>
            </a: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main_vo_complete[BBQ_PIT]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BBQ_PIT_EXAMPLES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249 (fizikal 268).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BBQ Pit</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1074420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BBQ Pit Struktur Kekal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RP-057  (BASE)</a:t>
            </a:r>
          </a:p>
          <a:p>
            <a:r>
              <a:rPr lang="en-MY" sz="900" b="1" dirty="0">
                <a:solidFill>
                  <a:schemeClr val="tx1">
                    <a:lumMod val="85000"/>
                    <a:lumOff val="15000"/>
                  </a:schemeClr>
                </a:solidFill>
              </a:rPr>
              <a:t>PHYSICAL LEARNER SCREEN: BBQ_PIT_EXAMPLES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0/1 item dilihat</a:t>
            </a:r>
          </a:p>
          <a:p>
            <a:r>
              <a:rPr lang="en-MY" sz="900" dirty="0">
                <a:solidFill>
                  <a:schemeClr val="tx1">
                    <a:lumMod val="85000"/>
                    <a:lumOff val="15000"/>
                  </a:schemeClr>
                </a:solidFill>
              </a:rPr>
              <a:t>  component_complete[BBQ_PIT]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BBQ_PIT_EXAMPLE_01  &lt;-  K5-PL06-T03-B02-BBQ-PIT-ROW-01  (ms 249/fiz 268)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SINGLE_ITEM_EXAMPLE_TREATMENT</a:t>
            </a:r>
          </a:p>
          <a:p>
            <a:r>
              <a:rPr lang="en-MY" sz="900" dirty="0">
                <a:solidFill>
                  <a:schemeClr val="tx1">
                    <a:lumMod val="85000"/>
                    <a:lumOff val="15000"/>
                  </a:schemeClr>
                </a:solidFill>
              </a:rPr>
              <a:t>  PENDING_FINAL_BARIAH_CONFIRMATION — A-05 rawatan satu item.</a:t>
            </a:r>
          </a:p>
          <a:p>
            <a:r>
              <a:rPr lang="en-MY" sz="900" dirty="0">
                <a:solidFill>
                  <a:schemeClr val="tx1">
                    <a:lumMod val="85000"/>
                    <a:lumOff val="15000"/>
                  </a:schemeClr>
                </a:solidFill>
              </a:rPr>
              <a:t>  Identiti sumber kekal: 1 baris sumber bermakna. Tiada pemecahan dibuat.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BBQ Pit</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1074420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BBQ Pit Struktur Kekal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298448"/>
            <a:ext cx="9723090" cy="4934102"/>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444752"/>
            <a:ext cx="7894290" cy="365760"/>
          </a:xfrm>
          <a:prstGeom prst="rect">
            <a:avLst/>
          </a:prstGeom>
          <a:noFill/>
        </p:spPr>
        <p:txBody>
          <a:bodyPr wrap="square">
            <a:noAutofit/>
          </a:bodyPr>
          <a:lstStyle/>
          <a:p>
            <a:pPr/>
            <a:r>
              <a:rPr lang="en-MY" sz="2000" b="1" dirty="0">
                <a:solidFill>
                  <a:schemeClr val="tx1">
                    <a:lumMod val="85000"/>
                    <a:lumOff val="15000"/>
                  </a:schemeClr>
                </a:solidFill>
              </a:rPr>
              <a:t>BBQ Pit Struktur Kekal</a:t>
            </a:r>
          </a:p>
        </p:txBody>
      </p:sp>
      <p:sp>
        <p:nvSpPr>
          <p:cNvPr id="210" name="FHead"/>
          <p:cNvSpPr txBox="1"/>
          <p:nvPr/>
        </p:nvSpPr>
        <p:spPr>
          <a:xfrm>
            <a:off x="1490472" y="1865376"/>
            <a:ext cx="9211026" cy="219456"/>
          </a:xfrm>
          <a:prstGeom prst="rect">
            <a:avLst/>
          </a:prstGeom>
          <a:noFill/>
        </p:spPr>
        <p:txBody>
          <a:bodyPr wrap="square">
            <a:noAutofit/>
          </a:bodyPr>
          <a:lstStyle/>
          <a:p>
            <a:pPr/>
            <a:r>
              <a:rPr lang="en-MY" sz="950" b="1" dirty="0">
                <a:solidFill>
                  <a:srgbClr val="7F6000"/>
                </a:solidFill>
              </a:rPr>
              <a:t>JENIS / BAHAN</a:t>
            </a:r>
          </a:p>
        </p:txBody>
      </p:sp>
      <p:sp>
        <p:nvSpPr>
          <p:cNvPr id="211" name="FBody"/>
          <p:cNvSpPr txBox="1"/>
          <p:nvPr/>
        </p:nvSpPr>
        <p:spPr>
          <a:xfrm>
            <a:off x="1490472" y="2103120"/>
            <a:ext cx="9211026" cy="219456"/>
          </a:xfrm>
          <a:prstGeom prst="rect">
            <a:avLst/>
          </a:prstGeom>
          <a:noFill/>
        </p:spPr>
        <p:txBody>
          <a:bodyPr wrap="square">
            <a:noAutofit/>
          </a:bodyPr>
          <a:lstStyle/>
          <a:p>
            <a:pPr/>
            <a:r>
              <a:rPr lang="en-MY" sz="1050" dirty="0">
                <a:solidFill>
                  <a:schemeClr val="tx1">
                    <a:lumMod val="85000"/>
                    <a:lumOff val="15000"/>
                  </a:schemeClr>
                </a:solidFill>
              </a:rPr>
              <a:t>BBQ Pit Struktur Kekal (Bata/Konkrit/Batu)</a:t>
            </a:r>
          </a:p>
        </p:txBody>
      </p:sp>
      <p:sp>
        <p:nvSpPr>
          <p:cNvPr id="212" name="FHead"/>
          <p:cNvSpPr txBox="1"/>
          <p:nvPr/>
        </p:nvSpPr>
        <p:spPr>
          <a:xfrm>
            <a:off x="1490472" y="2430475"/>
            <a:ext cx="9211026" cy="219456"/>
          </a:xfrm>
          <a:prstGeom prst="rect">
            <a:avLst/>
          </a:prstGeom>
          <a:noFill/>
        </p:spPr>
        <p:txBody>
          <a:bodyPr wrap="square">
            <a:noAutofit/>
          </a:bodyPr>
          <a:lstStyle/>
          <a:p>
            <a:pPr/>
            <a:r>
              <a:rPr lang="en-MY" sz="950" b="1" dirty="0">
                <a:solidFill>
                  <a:srgbClr val="7F6000"/>
                </a:solidFill>
              </a:rPr>
              <a:t>SPESIFIKASI</a:t>
            </a:r>
          </a:p>
        </p:txBody>
      </p:sp>
      <p:sp>
        <p:nvSpPr>
          <p:cNvPr id="213" name="FBody"/>
          <p:cNvSpPr txBox="1"/>
          <p:nvPr/>
        </p:nvSpPr>
        <p:spPr>
          <a:xfrm>
            <a:off x="1490472" y="2668219"/>
            <a:ext cx="9211026" cy="1267358"/>
          </a:xfrm>
          <a:prstGeom prst="rect">
            <a:avLst/>
          </a:prstGeom>
          <a:noFill/>
        </p:spPr>
        <p:txBody>
          <a:bodyPr wrap="square">
            <a:noAutofit/>
          </a:bodyPr>
          <a:lstStyle/>
          <a:p>
            <a:pPr/>
            <a:r>
              <a:rPr lang="en-MY" sz="1050" dirty="0">
                <a:solidFill>
                  <a:schemeClr val="tx1">
                    <a:lumMod val="85000"/>
                    <a:lumOff val="15000"/>
                  </a:schemeClr>
                </a:solidFill>
              </a:rPr>
              <a:t>Bahan pembinaan: dinding dalam ruang pembakaran daripada bata tahan api (firebrick) atau blok konkrit tahan suhu</a:t>
            </a:r>
          </a:p>
          <a:p>
            <a:pPr/>
            <a:r>
              <a:rPr lang="en-MY" sz="1050" dirty="0">
                <a:solidFill>
                  <a:schemeClr val="tx1">
                    <a:lumMod val="85000"/>
                    <a:lumOff val="15000"/>
                  </a:schemeClr>
                </a:solidFill>
              </a:rPr>
              <a:t>tinggi, dengan mortar tahan api; dinding luar bata biasa, blok konkrit atau batu; pelat kerja konkrit, jubin</a:t>
            </a:r>
          </a:p>
          <a:p>
            <a:pPr/>
            <a:r>
              <a:rPr lang="en-MY" sz="1050" dirty="0">
                <a:solidFill>
                  <a:schemeClr val="tx1">
                    <a:lumMod val="85000"/>
                    <a:lumOff val="15000"/>
                  </a:schemeClr>
                </a:solidFill>
              </a:rPr>
              <a:t>seramik tahan haba atau batu granit.</a:t>
            </a:r>
          </a:p>
          <a:p>
            <a:pPr/>
            <a:r>
              <a:rPr lang="en-MY" sz="1050" dirty="0">
                <a:solidFill>
                  <a:schemeClr val="tx1">
                    <a:lumMod val="85000"/>
                    <a:lumOff val="15000"/>
                  </a:schemeClr>
                </a:solidFill>
              </a:rPr>
              <a:t>Dimensi: ketinggian memanggang lazimnya 750–900mm dari aras tanah; saiz lubang api mengikut saiz gril.</a:t>
            </a:r>
          </a:p>
          <a:p>
            <a:pPr/>
            <a:r>
              <a:rPr lang="en-MY" sz="1050" dirty="0">
                <a:solidFill>
                  <a:schemeClr val="tx1">
                    <a:lumMod val="85000"/>
                    <a:lumOff val="15000"/>
                  </a:schemeClr>
                </a:solidFill>
              </a:rPr>
              <a:t>Gril: keluli tahan karat gred makanan atau besi tuang; tebal palang min. 6mm.</a:t>
            </a:r>
          </a:p>
          <a:p>
            <a:pPr/>
            <a:r>
              <a:rPr lang="en-MY" sz="1050" dirty="0">
                <a:solidFill>
                  <a:schemeClr val="tx1">
                    <a:lumMod val="85000"/>
                    <a:lumOff val="15000"/>
                  </a:schemeClr>
                </a:solidFill>
              </a:rPr>
              <a:t>Keselamatan: pengudaraan di bawah ruang pembakaran; saliran air hujan; cerobong asap (pilihan); ruang persediaan</a:t>
            </a:r>
          </a:p>
          <a:p>
            <a:pPr/>
            <a:r>
              <a:rPr lang="en-MY" sz="1050" dirty="0">
                <a:solidFill>
                  <a:schemeClr val="tx1">
                    <a:lumMod val="85000"/>
                    <a:lumOff val="15000"/>
                  </a:schemeClr>
                </a:solidFill>
              </a:rPr>
              <a:t>bersebelahan; jarak selamat dari bahan mudah terbakar.</a:t>
            </a:r>
          </a:p>
        </p:txBody>
      </p:sp>
      <p:sp>
        <p:nvSpPr>
          <p:cNvPr id="214" name="FHead"/>
          <p:cNvSpPr txBox="1"/>
          <p:nvPr/>
        </p:nvSpPr>
        <p:spPr>
          <a:xfrm>
            <a:off x="1490472" y="4081882"/>
            <a:ext cx="9211026" cy="219456"/>
          </a:xfrm>
          <a:prstGeom prst="rect">
            <a:avLst/>
          </a:prstGeom>
          <a:noFill/>
        </p:spPr>
        <p:txBody>
          <a:bodyPr wrap="square">
            <a:noAutofit/>
          </a:bodyPr>
          <a:lstStyle/>
          <a:p>
            <a:pPr/>
            <a:r>
              <a:rPr lang="en-MY" sz="950" b="1" dirty="0">
                <a:solidFill>
                  <a:srgbClr val="7F6000"/>
                </a:solidFill>
              </a:rPr>
              <a:t>CONTOH</a:t>
            </a:r>
          </a:p>
        </p:txBody>
      </p:sp>
      <p:sp>
        <p:nvSpPr>
          <p:cNvPr id="215" name="FBody"/>
          <p:cNvSpPr txBox="1"/>
          <p:nvPr/>
        </p:nvSpPr>
        <p:spPr>
          <a:xfrm>
            <a:off x="1490472" y="4319626"/>
            <a:ext cx="9211026" cy="362102"/>
          </a:xfrm>
          <a:prstGeom prst="rect">
            <a:avLst/>
          </a:prstGeom>
          <a:noFill/>
        </p:spPr>
        <p:txBody>
          <a:bodyPr wrap="square">
            <a:noAutofit/>
          </a:bodyPr>
          <a:lstStyle/>
          <a:p>
            <a:pPr/>
            <a:r>
              <a:rPr lang="en-MY" sz="1050" dirty="0">
                <a:solidFill>
                  <a:schemeClr val="tx1">
                    <a:lumMod val="85000"/>
                    <a:lumOff val="15000"/>
                  </a:schemeClr>
                </a:solidFill>
              </a:rPr>
              <a:t>Lubang barbeku yang dibina tetap di taman perumahan, tapak perkhemahan awam, atau kawasan rekreasi keluarga seperti</a:t>
            </a:r>
          </a:p>
          <a:p>
            <a:pPr/>
            <a:r>
              <a:rPr lang="en-MY" sz="1050" dirty="0">
                <a:solidFill>
                  <a:schemeClr val="tx1">
                    <a:lumMod val="85000"/>
                    <a:lumOff val="15000"/>
                  </a:schemeClr>
                </a:solidFill>
              </a:rPr>
              <a:t>di Taman Rekreasi Bukit Jalil, Kuala Lumpur.</a:t>
            </a:r>
          </a:p>
        </p:txBody>
      </p:sp>
      <p:sp>
        <p:nvSpPr>
          <p:cNvPr id="216" name="FHead"/>
          <p:cNvSpPr txBox="1"/>
          <p:nvPr/>
        </p:nvSpPr>
        <p:spPr>
          <a:xfrm>
            <a:off x="1490472" y="4828032"/>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7" name="FBody"/>
          <p:cNvSpPr txBox="1"/>
          <p:nvPr/>
        </p:nvSpPr>
        <p:spPr>
          <a:xfrm>
            <a:off x="1490472" y="5065776"/>
            <a:ext cx="9211026" cy="362102"/>
          </a:xfrm>
          <a:prstGeom prst="rect">
            <a:avLst/>
          </a:prstGeom>
          <a:noFill/>
        </p:spPr>
        <p:txBody>
          <a:bodyPr wrap="square">
            <a:noAutofit/>
          </a:bodyPr>
          <a:lstStyle/>
          <a:p>
            <a:pPr/>
            <a:r>
              <a:rPr lang="en-MY" sz="1050" dirty="0">
                <a:solidFill>
                  <a:schemeClr val="tx1">
                    <a:lumMod val="85000"/>
                    <a:lumOff val="15000"/>
                  </a:schemeClr>
                </a:solidFill>
              </a:rPr>
              <a:t>[Visual: Foto jadual spesifikasi BBQ Pit Struktur Kekal, modul ms 249. Aset</a:t>
            </a:r>
          </a:p>
          <a:p>
            <a:pPr/>
            <a:r>
              <a:rPr lang="en-MY" sz="1050" dirty="0">
                <a:solidFill>
                  <a:schemeClr val="tx1">
                    <a:lumMod val="85000"/>
                    <a:lumOff val="15000"/>
                  </a:schemeClr>
                </a:solidFill>
              </a:rPr>
              <a:t>K5PL06T03-B02-IMG-p249-x57. Tidak dibenamkan.]</a:t>
            </a:r>
          </a:p>
        </p:txBody>
      </p:sp>
      <p:sp>
        <p:nvSpPr>
          <p:cNvPr id="260" name="Btn"/>
          <p:cNvSpPr txBox="1"/>
          <p:nvPr/>
        </p:nvSpPr>
        <p:spPr>
          <a:xfrm>
            <a:off x="9540210" y="570219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RP-058  (POPUP)</a:t>
            </a:r>
          </a:p>
          <a:p>
            <a:r>
              <a:rPr lang="en-MY" sz="900" b="1" dirty="0">
                <a:solidFill>
                  <a:schemeClr val="tx1">
                    <a:lumMod val="85000"/>
                    <a:lumOff val="15000"/>
                  </a:schemeClr>
                </a:solidFill>
              </a:rPr>
              <a:t>PHYSICAL LEARNER SCREEN: BBQ_PIT_EXAMPLES  [EXAMPLES]</a:t>
            </a:r>
          </a:p>
          <a:p>
            <a:r>
              <a:rPr lang="en-MY" sz="900" dirty="0">
                <a:solidFill>
                  <a:schemeClr val="tx1">
                    <a:lumMod val="85000"/>
                    <a:lumOff val="15000"/>
                  </a:schemeClr>
                </a:solidFill>
              </a:rPr>
              <a:t/>
            </a:r>
          </a:p>
          <a:p>
            <a:r>
              <a:rPr lang="en-MY" sz="900" dirty="0">
                <a:solidFill>
                  <a:schemeClr val="tx1">
                    <a:lumMod val="85000"/>
                    <a:lumOff val="15000"/>
                  </a:schemeClr>
                </a:solidFill>
              </a:rPr>
              <a:t>RUNTIME STATE DIPAPARKAN: BBQ_PIT_EXAMPLE_01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0/1 item dilihat</a:t>
            </a:r>
          </a:p>
          <a:p>
            <a:r>
              <a:rPr lang="en-MY" sz="900" dirty="0">
                <a:solidFill>
                  <a:schemeClr val="tx1">
                    <a:lumMod val="85000"/>
                    <a:lumOff val="15000"/>
                  </a:schemeClr>
                </a:solidFill>
              </a:rPr>
              <a:t>  component_complete[BBQ_PIT]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BBQ_PIT_EXAMPLE_01  &lt;-  K5-PL06-T03-B02-BBQ-PIT-ROW-01  (ms 249/fiz 268)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SINGLE_ITEM_EXAMPLE_TREATMENT</a:t>
            </a:r>
          </a:p>
          <a:p>
            <a:r>
              <a:rPr lang="en-MY" sz="900" dirty="0">
                <a:solidFill>
                  <a:schemeClr val="tx1">
                    <a:lumMod val="85000"/>
                    <a:lumOff val="15000"/>
                  </a:schemeClr>
                </a:solidFill>
              </a:rPr>
              <a:t>  PENDING_FINAL_BARIAH_CONFIRMATION — A-05 rawatan satu item.</a:t>
            </a:r>
          </a:p>
          <a:p>
            <a:r>
              <a:rPr lang="en-MY" sz="900" dirty="0">
                <a:solidFill>
                  <a:schemeClr val="tx1">
                    <a:lumMod val="85000"/>
                    <a:lumOff val="15000"/>
                  </a:schemeClr>
                </a:solidFill>
              </a:rPr>
              <a:t>  Identiti sumber kekal: 1 baris sumber bermakna. Tiada pemecahan dibuat.</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BBQ Pit</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1074420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BBQ Pit Struktur Kekal</a:t>
            </a:r>
          </a:p>
        </p:txBody>
      </p:sp>
      <p:sp>
        <p:nvSpPr>
          <p:cNvPr id="41"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RP-059  (ALL_VIEWED)</a:t>
            </a:r>
          </a:p>
          <a:p>
            <a:r>
              <a:rPr lang="en-MY" sz="900" b="1" dirty="0">
                <a:solidFill>
                  <a:schemeClr val="tx1">
                    <a:lumMod val="85000"/>
                    <a:lumOff val="15000"/>
                  </a:schemeClr>
                </a:solidFill>
              </a:rPr>
              <a:t>PHYSICAL LEARNER SCREEN: BBQ_PIT_EXAMPLES  [EXAMPLES]</a:t>
            </a:r>
          </a:p>
          <a:p>
            <a:r>
              <a:rPr lang="en-MY" sz="900" dirty="0">
                <a:solidFill>
                  <a:schemeClr val="tx1">
                    <a:lumMod val="85000"/>
                    <a:lumOff val="15000"/>
                  </a:schemeClr>
                </a:solidFill>
              </a:rPr>
              <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1/1 item dilihat</a:t>
            </a:r>
          </a:p>
          <a:p>
            <a:r>
              <a:rPr lang="en-MY" sz="900" dirty="0">
                <a:solidFill>
                  <a:schemeClr val="tx1">
                    <a:lumMod val="85000"/>
                    <a:lumOff val="15000"/>
                  </a:schemeClr>
                </a:solidFill>
              </a:rPr>
              <a:t>  component_complete[BBQ_PIT]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BBQ_PIT_EXAMPLE_01  &lt;-  K5-PL06-T03-B02-BBQ-PIT-ROW-01  (ms 249/fiz 268)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SINGLE_ITEM_EXAMPLE_TREATMENT</a:t>
            </a:r>
          </a:p>
          <a:p>
            <a:r>
              <a:rPr lang="en-MY" sz="900" dirty="0">
                <a:solidFill>
                  <a:schemeClr val="tx1">
                    <a:lumMod val="85000"/>
                    <a:lumOff val="15000"/>
                  </a:schemeClr>
                </a:solidFill>
              </a:rPr>
              <a:t>  PENDING_FINAL_BARIAH_CONFIRMATION — A-05 rawatan satu item.</a:t>
            </a:r>
          </a:p>
          <a:p>
            <a:r>
              <a:rPr lang="en-MY" sz="900" dirty="0">
                <a:solidFill>
                  <a:schemeClr val="tx1">
                    <a:lumMod val="85000"/>
                    <a:lumOff val="15000"/>
                  </a:schemeClr>
                </a:solidFill>
              </a:rPr>
              <a:t>  Identiti sumber kekal: 1 baris sumber bermakna. Tiada pemecahan dibuat.</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5" name="Instr"/>
          <p:cNvSpPr txBox="1"/>
          <p:nvPr/>
        </p:nvSpPr>
        <p:spPr>
          <a:xfrm>
            <a:off x="723930" y="1051560"/>
            <a:ext cx="10744200" cy="369326"/>
          </a:xfrm>
          <a:prstGeom prst="rect">
            <a:avLst/>
          </a:prstGeom>
          <a:noFill/>
        </p:spPr>
        <p:txBody>
          <a:bodyPr wrap="square">
            <a:noAutofit/>
          </a:bodyPr>
          <a:lstStyle/>
          <a:p>
            <a:pPr algn="ctr"/>
            <a:r>
              <a:rPr lang="en-MY" sz="1600" dirty="0">
                <a:solidFill>
                  <a:schemeClr val="tx1">
                    <a:lumMod val="85000"/>
                    <a:lumOff val="15000"/>
                  </a:schemeClr>
                </a:solidFill>
              </a:rPr>
              <a:t>Klik pada setiap perabot untuk penjelasan lanjut.</a:t>
            </a:r>
          </a:p>
        </p:txBody>
      </p:sp>
      <p:sp>
        <p:nvSpPr>
          <p:cNvPr id="40" name="Rectangle 9"/>
          <p:cNvSpPr/>
          <p:nvPr/>
        </p:nvSpPr>
        <p:spPr>
          <a:xfrm>
            <a:off x="723930" y="1508760"/>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Kerusi Taman]</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242–243</a:t>
            </a:r>
          </a:p>
          <a:p>
            <a:r>
              <a:rPr lang="en-MY" sz="1200" dirty="0">
                <a:solidFill>
                  <a:schemeClr val="tx1">
                    <a:lumMod val="85000"/>
                    <a:lumOff val="15000"/>
                  </a:schemeClr>
                </a:solidFill>
              </a:rPr>
              <a:t>Tidak dibenamkan</a:t>
            </a:r>
          </a:p>
        </p:txBody>
      </p:sp>
      <p:sp>
        <p:nvSpPr>
          <p:cNvPr id="41" name="TextBox 3"/>
          <p:cNvSpPr txBox="1"/>
          <p:nvPr/>
        </p:nvSpPr>
        <p:spPr>
          <a:xfrm>
            <a:off x="855604" y="3345424"/>
            <a:ext cx="3028493" cy="457200"/>
          </a:xfrm>
          <a:prstGeom prst="rect">
            <a:avLst/>
          </a:prstGeom>
          <a:solidFill>
            <a:srgbClr val="DEEAF6"/>
          </a:solidFill>
          <a:ln w="12700">
            <a:solidFill>
              <a:srgbClr val="404040"/>
            </a:solidFill>
          </a:ln>
        </p:spPr>
        <p:txBody>
          <a:bodyPr wrap="square" anchor="ctr">
            <a:noAutofit/>
          </a:bodyPr>
          <a:lstStyle/>
          <a:p>
            <a:pPr algn="ctr"/>
            <a:r>
              <a:rPr lang="en-MY" sz="1800" b="1" dirty="0"/>
              <a:t>Kerusi Taman</a:t>
            </a:r>
          </a:p>
        </p:txBody>
      </p:sp>
      <p:sp>
        <p:nvSpPr>
          <p:cNvPr id="42" name="Rectangle 9"/>
          <p:cNvSpPr/>
          <p:nvPr/>
        </p:nvSpPr>
        <p:spPr>
          <a:xfrm>
            <a:off x="4450110" y="1508760"/>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Papan Tanda]</a:t>
            </a:r>
          </a:p>
          <a:p>
            <a:r>
              <a:rPr lang="en-MY" sz="1200" dirty="0">
                <a:solidFill>
                  <a:schemeClr val="tx1">
                    <a:lumMod val="85000"/>
                    <a:lumOff val="15000"/>
                  </a:schemeClr>
                </a:solidFill>
              </a:rPr>
              <a:t>Rajah 25 dan Rajah 26</a:t>
            </a:r>
          </a:p>
          <a:p>
            <a:r>
              <a:rPr lang="en-MY" sz="1200" dirty="0">
                <a:solidFill>
                  <a:schemeClr val="tx1">
                    <a:lumMod val="85000"/>
                    <a:lumOff val="15000"/>
                  </a:schemeClr>
                </a:solidFill>
              </a:rPr>
              <a:t>modul ms 245</a:t>
            </a:r>
          </a:p>
          <a:p>
            <a:r>
              <a:rPr lang="en-MY" sz="1200" dirty="0">
                <a:solidFill>
                  <a:schemeClr val="tx1">
                    <a:lumMod val="85000"/>
                    <a:lumOff val="15000"/>
                  </a:schemeClr>
                </a:solidFill>
              </a:rPr>
              <a:t>Tidak dibenamkan</a:t>
            </a:r>
          </a:p>
        </p:txBody>
      </p:sp>
      <p:sp>
        <p:nvSpPr>
          <p:cNvPr id="43" name="TextBox 3"/>
          <p:cNvSpPr txBox="1"/>
          <p:nvPr/>
        </p:nvSpPr>
        <p:spPr>
          <a:xfrm>
            <a:off x="4581784" y="3345424"/>
            <a:ext cx="3028493" cy="457200"/>
          </a:xfrm>
          <a:prstGeom prst="rect">
            <a:avLst/>
          </a:prstGeom>
          <a:solidFill>
            <a:srgbClr val="DEEAF6"/>
          </a:solidFill>
          <a:ln w="12700">
            <a:solidFill>
              <a:srgbClr val="404040"/>
            </a:solidFill>
          </a:ln>
        </p:spPr>
        <p:txBody>
          <a:bodyPr wrap="square" anchor="ctr">
            <a:noAutofit/>
          </a:bodyPr>
          <a:lstStyle/>
          <a:p>
            <a:pPr algn="ctr"/>
            <a:r>
              <a:rPr lang="en-MY" sz="1800" b="1" dirty="0"/>
              <a:t>Papan Tanda</a:t>
            </a:r>
          </a:p>
        </p:txBody>
      </p:sp>
      <p:sp>
        <p:nvSpPr>
          <p:cNvPr id="44" name="Rectangle 9"/>
          <p:cNvSpPr/>
          <p:nvPr/>
        </p:nvSpPr>
        <p:spPr>
          <a:xfrm>
            <a:off x="8176290" y="1508760"/>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Tong Sampah]</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246–247</a:t>
            </a:r>
          </a:p>
          <a:p>
            <a:r>
              <a:rPr lang="en-MY" sz="1200" dirty="0">
                <a:solidFill>
                  <a:schemeClr val="tx1">
                    <a:lumMod val="85000"/>
                    <a:lumOff val="15000"/>
                  </a:schemeClr>
                </a:solidFill>
              </a:rPr>
              <a:t>Tidak dibenamkan</a:t>
            </a:r>
          </a:p>
        </p:txBody>
      </p:sp>
      <p:sp>
        <p:nvSpPr>
          <p:cNvPr id="45" name="TextBox 3"/>
          <p:cNvSpPr txBox="1"/>
          <p:nvPr/>
        </p:nvSpPr>
        <p:spPr>
          <a:xfrm>
            <a:off x="8307964" y="3345424"/>
            <a:ext cx="3028493" cy="457200"/>
          </a:xfrm>
          <a:prstGeom prst="rect">
            <a:avLst/>
          </a:prstGeom>
          <a:solidFill>
            <a:srgbClr val="DEEAF6"/>
          </a:solidFill>
          <a:ln w="12700">
            <a:solidFill>
              <a:srgbClr val="404040"/>
            </a:solidFill>
          </a:ln>
        </p:spPr>
        <p:txBody>
          <a:bodyPr wrap="square" anchor="ctr">
            <a:noAutofit/>
          </a:bodyPr>
          <a:lstStyle/>
          <a:p>
            <a:pPr algn="ctr"/>
            <a:r>
              <a:rPr lang="en-MY" sz="1800" b="1" dirty="0"/>
              <a:t>Tong Sampah</a:t>
            </a:r>
          </a:p>
        </p:txBody>
      </p:sp>
      <p:sp>
        <p:nvSpPr>
          <p:cNvPr id="46" name="Rectangle 9"/>
          <p:cNvSpPr/>
          <p:nvPr/>
        </p:nvSpPr>
        <p:spPr>
          <a:xfrm>
            <a:off x="2586975" y="4031224"/>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Drinking Fountain]</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248–249</a:t>
            </a:r>
          </a:p>
          <a:p>
            <a:r>
              <a:rPr lang="en-MY" sz="1200" dirty="0">
                <a:solidFill>
                  <a:schemeClr val="tx1">
                    <a:lumMod val="85000"/>
                    <a:lumOff val="15000"/>
                  </a:schemeClr>
                </a:solidFill>
              </a:rPr>
              <a:t>Tidak dibenamkan</a:t>
            </a:r>
          </a:p>
        </p:txBody>
      </p:sp>
      <p:sp>
        <p:nvSpPr>
          <p:cNvPr id="47" name="TextBox 3"/>
          <p:cNvSpPr txBox="1"/>
          <p:nvPr/>
        </p:nvSpPr>
        <p:spPr>
          <a:xfrm>
            <a:off x="2718648" y="5867888"/>
            <a:ext cx="3028493" cy="457200"/>
          </a:xfrm>
          <a:prstGeom prst="rect">
            <a:avLst/>
          </a:prstGeom>
          <a:solidFill>
            <a:srgbClr val="DEEAF6"/>
          </a:solidFill>
          <a:ln w="12700">
            <a:solidFill>
              <a:srgbClr val="404040"/>
            </a:solidFill>
          </a:ln>
        </p:spPr>
        <p:txBody>
          <a:bodyPr wrap="square" anchor="ctr">
            <a:noAutofit/>
          </a:bodyPr>
          <a:lstStyle/>
          <a:p>
            <a:pPr algn="ctr"/>
            <a:r>
              <a:rPr lang="en-MY" sz="1800" b="1" i="1" dirty="0"/>
              <a:t>Drinking Fountain</a:t>
            </a:r>
          </a:p>
        </p:txBody>
      </p:sp>
      <p:sp>
        <p:nvSpPr>
          <p:cNvPr id="48" name="Rectangle 9"/>
          <p:cNvSpPr/>
          <p:nvPr/>
        </p:nvSpPr>
        <p:spPr>
          <a:xfrm>
            <a:off x="6313155" y="4031224"/>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BBQ Pit]</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249</a:t>
            </a:r>
          </a:p>
          <a:p>
            <a:r>
              <a:rPr lang="en-MY" sz="1200" dirty="0">
                <a:solidFill>
                  <a:schemeClr val="tx1">
                    <a:lumMod val="85000"/>
                    <a:lumOff val="15000"/>
                  </a:schemeClr>
                </a:solidFill>
              </a:rPr>
              <a:t>Tidak dibenamkan</a:t>
            </a:r>
          </a:p>
        </p:txBody>
      </p:sp>
      <p:sp>
        <p:nvSpPr>
          <p:cNvPr id="49" name="TextBox 3"/>
          <p:cNvSpPr txBox="1"/>
          <p:nvPr/>
        </p:nvSpPr>
        <p:spPr>
          <a:xfrm>
            <a:off x="6444828" y="5867888"/>
            <a:ext cx="3028493" cy="457200"/>
          </a:xfrm>
          <a:prstGeom prst="rect">
            <a:avLst/>
          </a:prstGeom>
          <a:solidFill>
            <a:srgbClr val="DEEAF6"/>
          </a:solidFill>
          <a:ln w="12700">
            <a:solidFill>
              <a:srgbClr val="404040"/>
            </a:solidFill>
          </a:ln>
        </p:spPr>
        <p:txBody>
          <a:bodyPr wrap="square" anchor="ctr">
            <a:noAutofit/>
          </a:bodyPr>
          <a:lstStyle/>
          <a:p>
            <a:pPr algn="ctr"/>
            <a:r>
              <a:rPr lang="en-MY" sz="1800" b="1" i="1" dirty="0"/>
              <a:t>BBQ Pit</a:t>
            </a:r>
          </a:p>
        </p:txBody>
      </p:sp>
      <p:sp>
        <p:nvSpPr>
          <p:cNvPr id="50" name="Tick"/>
          <p:cNvSpPr/>
          <p:nvPr/>
        </p:nvSpPr>
        <p:spPr>
          <a:xfrm>
            <a:off x="2189851" y="2238634"/>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Tick"/>
          <p:cNvSpPr/>
          <p:nvPr/>
        </p:nvSpPr>
        <p:spPr>
          <a:xfrm>
            <a:off x="5916031" y="2238634"/>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2" name="Tick"/>
          <p:cNvSpPr/>
          <p:nvPr/>
        </p:nvSpPr>
        <p:spPr>
          <a:xfrm>
            <a:off x="9642211" y="2238634"/>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3" name="Tick"/>
          <p:cNvSpPr/>
          <p:nvPr/>
        </p:nvSpPr>
        <p:spPr>
          <a:xfrm>
            <a:off x="4052895" y="476109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4" name="Tick"/>
          <p:cNvSpPr/>
          <p:nvPr/>
        </p:nvSpPr>
        <p:spPr>
          <a:xfrm>
            <a:off x="7779075" y="476109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0" name="Btn"/>
          <p:cNvSpPr txBox="1"/>
          <p:nvPr/>
        </p:nvSpPr>
        <p:spPr>
          <a:xfrm>
            <a:off x="9273479" y="6419088"/>
            <a:ext cx="219456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RP-060  (GROUP_COMPLETE)</a:t>
            </a:r>
          </a:p>
          <a:p>
            <a:r>
              <a:rPr lang="en-MY" sz="900" b="1" dirty="0">
                <a:solidFill>
                  <a:schemeClr val="tx1">
                    <a:lumMod val="85000"/>
                    <a:lumOff val="15000"/>
                  </a:schemeClr>
                </a:solidFill>
              </a:rPr>
              <a:t>PHYSICAL LEARNER SCREEN: PERABOT_TAMAN_MASTER  [GROUP_MASTER]</a:t>
            </a:r>
          </a:p>
          <a:p>
            <a:r>
              <a:rPr lang="en-MY" sz="900" dirty="0">
                <a:solidFill>
                  <a:schemeClr val="tx1">
                    <a:lumMod val="85000"/>
                    <a:lumOff val="15000"/>
                  </a:schemeClr>
                </a:solidFill>
              </a:rPr>
              <a:t/>
            </a:r>
          </a:p>
          <a:p>
            <a:r>
              <a:rPr lang="en-MY" sz="900" b="1" dirty="0">
                <a:solidFill>
                  <a:schemeClr val="tx1">
                    <a:lumMod val="85000"/>
                    <a:lumOff val="15000"/>
                  </a:schemeClr>
                </a:solidFill>
              </a:rPr>
              <a:t>LEVEL: 1 — group master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Kad komponen boleh diklik dalam sebarang susunan.</a:t>
            </a:r>
          </a:p>
          <a:p>
            <a:r>
              <a:rPr lang="en-MY" sz="900" dirty="0">
                <a:solidFill>
                  <a:schemeClr val="tx1">
                    <a:lumMod val="85000"/>
                    <a:lumOff val="15000"/>
                  </a:schemeClr>
                </a:solidFill>
              </a:rPr>
              <a:t>  Kad kekal boleh diklik selepas selesai, untuk semakan.</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group_complete[PERABOT_TAMAN] = semua component_complete benar</a:t>
            </a:r>
          </a:p>
          <a:p>
            <a:r>
              <a:rPr lang="en-MY" sz="900" dirty="0">
                <a:solidFill>
                  <a:schemeClr val="tx1">
                    <a:lumMod val="85000"/>
                    <a:lumOff val="15000"/>
                  </a:schemeClr>
                </a:solidFill>
              </a:rPr>
              <a:t>  Keadaan pada halaman ini: SEMUA kad selesai</a:t>
            </a:r>
          </a:p>
          <a:p>
            <a:r>
              <a:rPr lang="en-MY" sz="900" dirty="0">
                <a:solidFill>
                  <a:schemeClr val="tx1">
                    <a:lumMod val="85000"/>
                    <a:lumOff val="15000"/>
                  </a:schemeClr>
                </a:solidFill>
              </a:rPr>
              <a:t>  Seterusnya dikunci sehingga group_complete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kad dan Seterusnya kekal selepas lawatan semula dan LMS resume.</a:t>
            </a:r>
          </a:p>
          <a:p>
            <a:r>
              <a:rPr lang="en-MY" sz="900" dirty="0">
                <a:solidFill>
                  <a:schemeClr val="tx1">
                    <a:lumMod val="85000"/>
                    <a:lumOff val="15000"/>
                  </a:schemeClr>
                </a:solidFill>
              </a:rPr>
              <a:t>  Kawalan yang telah dibuka TIDAK dikunci semula.</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Kad -&gt; [komponen]_MAIN.   Seterusnya -&gt; RUMUSAN</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242 (fizikal 261).</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Tik dilukis sebagai geometri native, bukan imej.</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Rumusan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Rumusan</a:t>
            </a:r>
          </a:p>
        </p:txBody>
      </p:sp>
      <p:sp>
        <p:nvSpPr>
          <p:cNvPr id="19" name="Rectangle 9"/>
          <p:cNvSpPr/>
          <p:nvPr/>
        </p:nvSpPr>
        <p:spPr>
          <a:xfrm>
            <a:off x="723930" y="1298448"/>
            <a:ext cx="10744200" cy="86868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Papan rumusan — dua kumpulan komponen bersebelahan, empat dan lima item. Tidak</a:t>
            </a:r>
          </a:p>
          <a:p>
            <a:r>
              <a:rPr lang="en-MY" sz="1200" dirty="0">
                <a:solidFill>
                  <a:schemeClr val="tx1">
                    <a:lumMod val="85000"/>
                    <a:lumOff val="15000"/>
                  </a:schemeClr>
                </a:solidFill>
              </a:rPr>
              <a:t>dibenamkan.]</a:t>
            </a:r>
          </a:p>
        </p:txBody>
      </p:sp>
      <p:sp>
        <p:nvSpPr>
          <p:cNvPr id="24" name="RumHead"/>
          <p:cNvSpPr txBox="1"/>
          <p:nvPr/>
        </p:nvSpPr>
        <p:spPr>
          <a:xfrm>
            <a:off x="723930" y="2377440"/>
            <a:ext cx="10744200" cy="411480"/>
          </a:xfrm>
          <a:prstGeom prst="rect">
            <a:avLst/>
          </a:prstGeom>
          <a:noFill/>
        </p:spPr>
        <p:txBody>
          <a:bodyPr wrap="square">
            <a:noAutofit/>
          </a:bodyPr>
          <a:lstStyle/>
          <a:p>
            <a:pPr/>
            <a:r>
              <a:rPr lang="en-MY" sz="1800" b="1" dirty="0">
                <a:solidFill>
                  <a:schemeClr val="tx1">
                    <a:lumMod val="85000"/>
                    <a:lumOff val="15000"/>
                  </a:schemeClr>
                </a:solidFill>
              </a:rPr>
              <a:t>Komponen Landskap — Struktur Taman dan Perabot Taman</a:t>
            </a:r>
          </a:p>
        </p:txBody>
      </p:sp>
      <p:sp>
        <p:nvSpPr>
          <p:cNvPr id="25" name="RumBody"/>
          <p:cNvSpPr txBox="1"/>
          <p:nvPr/>
        </p:nvSpPr>
        <p:spPr>
          <a:xfrm>
            <a:off x="723930" y="2880360"/>
            <a:ext cx="10744200" cy="292608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Mengenal pasti struktur dan elemen landskap - kerja pembinaan, penyeliaan dan penyelenggaraan dirancang dengan tepat</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Struktur Taman - Struktur Persisir Air, Struktur Teduhan, Kemudahan Awam, </a:t>
            </a:r>
            <a:r>
              <a:rPr lang="en-MY" sz="1500" i="1" dirty="0">
                <a:solidFill>
                  <a:schemeClr val="tx1">
                    <a:lumMod val="85000"/>
                    <a:lumOff val="15000"/>
                  </a:schemeClr>
                </a:solidFill>
              </a:rPr>
              <a:t>Water Feature</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Perabot Taman - Kerusi Taman, Papan Tanda, Tong Sampah, </a:t>
            </a:r>
            <a:r>
              <a:rPr lang="en-MY" sz="1500" i="1" dirty="0">
                <a:solidFill>
                  <a:schemeClr val="tx1">
                    <a:lumMod val="85000"/>
                    <a:lumOff val="15000"/>
                  </a:schemeClr>
                </a:solidFill>
              </a:rPr>
              <a:t>Drinking Fountain</a:t>
            </a:r>
            <a:r>
              <a:rPr lang="en-MY" sz="1500" dirty="0">
                <a:solidFill>
                  <a:schemeClr val="tx1">
                    <a:lumMod val="85000"/>
                    <a:lumOff val="15000"/>
                  </a:schemeClr>
                </a:solidFill>
              </a:rPr>
              <a:t> dan </a:t>
            </a:r>
            <a:r>
              <a:rPr lang="en-MY" sz="1500" i="1" dirty="0">
                <a:solidFill>
                  <a:schemeClr val="tx1">
                    <a:lumMod val="85000"/>
                    <a:lumOff val="15000"/>
                  </a:schemeClr>
                </a:solidFill>
              </a:rPr>
              <a:t>BBQ Pit</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Kontraktor dapat merancang, melaksana dan menyelenggara setiap komponen landskap mengikut fungsinya di tapak</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RP-061  (BASE)</a:t>
            </a:r>
          </a:p>
          <a:p>
            <a:r>
              <a:rPr lang="en-MY" sz="900" b="1" dirty="0">
                <a:solidFill>
                  <a:schemeClr val="tx1">
                    <a:lumMod val="85000"/>
                    <a:lumOff val="15000"/>
                  </a:schemeClr>
                </a:solidFill>
              </a:rPr>
              <a:t>PHYSICAL LEARNER SCREEN: RUMUSAN  [FRAME]</a:t>
            </a:r>
          </a:p>
          <a:p>
            <a:r>
              <a:rPr lang="en-MY" sz="900" dirty="0">
                <a:solidFill>
                  <a:schemeClr val="tx1">
                    <a:lumMod val="85000"/>
                    <a:lumOff val="15000"/>
                  </a:schemeClr>
                </a:solidFill>
              </a:rPr>
              <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pengguna. Auto ke Kuiz selepas VO.</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RUMUSAN -&gt; KUIZ.</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237-250 (skop bahagian).</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Label struktur TIDAK dipaparkan (Kepentingan / Apa Yang Dipelajari /</a:t>
            </a:r>
          </a:p>
          <a:p>
            <a:r>
              <a:rPr lang="en-MY" sz="900" dirty="0">
                <a:solidFill>
                  <a:schemeClr val="tx1">
                    <a:lumMod val="85000"/>
                    <a:lumOff val="15000"/>
                  </a:schemeClr>
                </a:solidFill>
              </a:rPr>
              <a:t>  Isi Utama / Manfaat). Logik asas kekal memandu susunan sahaja.</a:t>
            </a:r>
          </a:p>
          <a:p>
            <a:r>
              <a:rPr lang="en-MY" sz="900" dirty="0">
                <a:solidFill>
                  <a:schemeClr val="tx1">
                    <a:lumMod val="85000"/>
                    <a:lumOff val="15000"/>
                  </a:schemeClr>
                </a:solidFill>
              </a:rPr>
              <a:t>  Bahasa kontraktor/aplikasi tapak. Tiada 'anda' generik.</a:t>
            </a:r>
          </a:p>
          <a:p>
            <a:r>
              <a:rPr lang="en-MY" sz="900" b="1" dirty="0">
                <a:solidFill>
                  <a:schemeClr val="tx1">
                    <a:lumMod val="85000"/>
                    <a:lumOff val="15000"/>
                  </a:schemeClr>
                </a:solidFill>
              </a:rPr>
              <a:t>STATUS:</a:t>
            </a:r>
          </a:p>
          <a:p>
            <a:r>
              <a:rPr lang="en-MY" sz="900" dirty="0">
                <a:solidFill>
                  <a:schemeClr val="tx1">
                    <a:lumMod val="85000"/>
                    <a:lumOff val="15000"/>
                  </a:schemeClr>
                </a:solidFill>
              </a:rPr>
              <a:t>  Klausa aplikasi tapak — PENDING_HUMAN (R-6)</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a:t>
            </a:r>
          </a:p>
        </p:txBody>
      </p:sp>
      <p:sp>
        <p:nvSpPr>
          <p:cNvPr id="20" name="QHead"/>
          <p:cNvSpPr txBox="1"/>
          <p:nvPr/>
        </p:nvSpPr>
        <p:spPr>
          <a:xfrm>
            <a:off x="723930" y="1188720"/>
            <a:ext cx="10744200" cy="310896"/>
          </a:xfrm>
          <a:prstGeom prst="rect">
            <a:avLst/>
          </a:prstGeom>
          <a:noFill/>
        </p:spPr>
        <p:txBody>
          <a:bodyPr wrap="square">
            <a:noAutofit/>
          </a:bodyPr>
          <a:lstStyle/>
          <a:p>
            <a:pPr/>
            <a:r>
              <a:rPr lang="en-MY" sz="1400" b="1" dirty="0">
                <a:solidFill>
                  <a:schemeClr val="tx1">
                    <a:lumMod val="85000"/>
                    <a:lumOff val="15000"/>
                  </a:schemeClr>
                </a:solidFill>
              </a:rPr>
              <a:t>5 soalan — 4 MCQ + 1 Multiple Response   ·   Lulus: 3/5 = 60%</a:t>
            </a:r>
          </a:p>
        </p:txBody>
      </p:sp>
      <p:sp>
        <p:nvSpPr>
          <p:cNvPr id="21" name="QBody"/>
          <p:cNvSpPr txBox="1"/>
          <p:nvPr/>
        </p:nvSpPr>
        <p:spPr>
          <a:xfrm>
            <a:off x="723930" y="1572768"/>
            <a:ext cx="10744200" cy="4160520"/>
          </a:xfrm>
          <a:prstGeom prst="rect">
            <a:avLst/>
          </a:prstGeom>
          <a:noFill/>
        </p:spPr>
        <p:txBody>
          <a:bodyPr wrap="square">
            <a:noAutofit/>
          </a:bodyPr>
          <a:lstStyle/>
          <a:p>
            <a:pPr marL="285750" indent="-285750">
              <a:spcBef>
                <a:spcPts val="300"/>
              </a:spcBef>
              <a:buFont typeface="Arial" panose="020B0604020202020204" pitchFamily="34" charset="0"/>
              <a:buChar char="•"/>
            </a:pPr>
            <a:r>
              <a:rPr lang="en-MY" sz="1250" dirty="0">
                <a:solidFill>
                  <a:schemeClr val="tx1">
                    <a:lumMod val="85000"/>
                    <a:lumOff val="15000"/>
                  </a:schemeClr>
                </a:solidFill>
              </a:rPr>
              <a:t>Soalan 1 · MCQ — Struktur persisir air dibina di tepi badan air seperti tasik, sungai atau pantai. Apakah keperluan pembinaan yang paling kritikal bagi struktur ini?</a:t>
            </a:r>
          </a:p>
          <a:p>
            <a:pPr marL="571500" lvl="1" indent="-285750">
              <a:spcBef>
                <a:spcPts val="300"/>
              </a:spcBef>
              <a:buFont typeface="Arial" panose="020B0604020202020204" pitchFamily="34" charset="0"/>
              <a:buChar char="•"/>
            </a:pPr>
            <a:r>
              <a:rPr lang="en-MY" sz="1250" dirty="0">
                <a:solidFill>
                  <a:schemeClr val="tx1">
                    <a:lumMod val="85000"/>
                    <a:lumOff val="15000"/>
                  </a:schemeClr>
                </a:solidFill>
              </a:rPr>
              <a:t>Jawapan: B   ·   Pilihan: 4   ·   Sumber: modul ms 238</a:t>
            </a:r>
          </a:p>
          <a:p>
            <a:pPr marL="285750" indent="-285750">
              <a:spcBef>
                <a:spcPts val="300"/>
              </a:spcBef>
              <a:buFont typeface="Arial" panose="020B0604020202020204" pitchFamily="34" charset="0"/>
              <a:buChar char="•"/>
            </a:pPr>
            <a:r>
              <a:rPr lang="en-MY" sz="1250" dirty="0">
                <a:solidFill>
                  <a:schemeClr val="tx1">
                    <a:lumMod val="85000"/>
                    <a:lumOff val="15000"/>
                  </a:schemeClr>
                </a:solidFill>
              </a:rPr>
              <a:t>Soalan 2 · MCQ — Manakah antara berikut merupakan struktur teduhan tradisional Melayu yang digunakan sebagai tempat berehat?</a:t>
            </a:r>
          </a:p>
          <a:p>
            <a:pPr marL="571500" lvl="1" indent="-285750">
              <a:spcBef>
                <a:spcPts val="300"/>
              </a:spcBef>
              <a:buFont typeface="Arial" panose="020B0604020202020204" pitchFamily="34" charset="0"/>
              <a:buChar char="•"/>
            </a:pPr>
            <a:r>
              <a:rPr lang="en-MY" sz="1250" dirty="0">
                <a:solidFill>
                  <a:schemeClr val="tx1">
                    <a:lumMod val="85000"/>
                    <a:lumOff val="15000"/>
                  </a:schemeClr>
                </a:solidFill>
              </a:rPr>
              <a:t>Jawapan: C   ·   Pilihan: 4   ·   Sumber: modul ms 239</a:t>
            </a:r>
          </a:p>
          <a:p>
            <a:pPr marL="285750" indent="-285750">
              <a:spcBef>
                <a:spcPts val="300"/>
              </a:spcBef>
              <a:buFont typeface="Arial" panose="020B0604020202020204" pitchFamily="34" charset="0"/>
              <a:buChar char="•"/>
            </a:pPr>
            <a:r>
              <a:rPr lang="en-MY" sz="1250" dirty="0">
                <a:solidFill>
                  <a:schemeClr val="tx1">
                    <a:lumMod val="85000"/>
                    <a:lumOff val="15000"/>
                  </a:schemeClr>
                </a:solidFill>
              </a:rPr>
              <a:t>Soalan 3 · MCQ — Apakah pertimbangan utama dalam pemilihan bahan bagi kemudahan awam seperti tandas dan surau di taman?</a:t>
            </a:r>
          </a:p>
          <a:p>
            <a:pPr marL="571500" lvl="1" indent="-285750">
              <a:spcBef>
                <a:spcPts val="300"/>
              </a:spcBef>
              <a:buFont typeface="Arial" panose="020B0604020202020204" pitchFamily="34" charset="0"/>
              <a:buChar char="•"/>
            </a:pPr>
            <a:r>
              <a:rPr lang="en-MY" sz="1250" dirty="0">
                <a:solidFill>
                  <a:schemeClr val="tx1">
                    <a:lumMod val="85000"/>
                    <a:lumOff val="15000"/>
                  </a:schemeClr>
                </a:solidFill>
              </a:rPr>
              <a:t>Jawapan: A   ·   Pilihan: 4   ·   Sumber: modul ms 240</a:t>
            </a:r>
          </a:p>
          <a:p>
            <a:pPr marL="285750" indent="-285750">
              <a:spcBef>
                <a:spcPts val="300"/>
              </a:spcBef>
              <a:buFont typeface="Arial" panose="020B0604020202020204" pitchFamily="34" charset="0"/>
              <a:buChar char="•"/>
            </a:pPr>
            <a:r>
              <a:rPr lang="en-MY" sz="1250" dirty="0">
                <a:solidFill>
                  <a:schemeClr val="tx1">
                    <a:lumMod val="85000"/>
                    <a:lumOff val="15000"/>
                  </a:schemeClr>
                </a:solidFill>
              </a:rPr>
              <a:t>Soalan 4 · MCQ — Dalam pembinaan water feature, apakah aspek kawalan kualiti air yang dinyatakan dalam modul?</a:t>
            </a:r>
          </a:p>
          <a:p>
            <a:pPr marL="571500" lvl="1" indent="-285750">
              <a:spcBef>
                <a:spcPts val="300"/>
              </a:spcBef>
              <a:buFont typeface="Arial" panose="020B0604020202020204" pitchFamily="34" charset="0"/>
              <a:buChar char="•"/>
            </a:pPr>
            <a:r>
              <a:rPr lang="en-MY" sz="1250" dirty="0">
                <a:solidFill>
                  <a:schemeClr val="tx1">
                    <a:lumMod val="85000"/>
                    <a:lumOff val="15000"/>
                  </a:schemeClr>
                </a:solidFill>
              </a:rPr>
              <a:t>Jawapan: B   ·   Pilihan: 4   ·   Sumber: modul ms 241</a:t>
            </a:r>
          </a:p>
          <a:p>
            <a:pPr marL="285750" indent="-285750">
              <a:spcBef>
                <a:spcPts val="300"/>
              </a:spcBef>
              <a:buFont typeface="Arial" panose="020B0604020202020204" pitchFamily="34" charset="0"/>
              <a:buChar char="•"/>
            </a:pPr>
            <a:r>
              <a:rPr lang="en-MY" sz="1250" dirty="0">
                <a:solidFill>
                  <a:schemeClr val="tx1">
                    <a:lumMod val="85000"/>
                    <a:lumOff val="15000"/>
                  </a:schemeClr>
                </a:solidFill>
              </a:rPr>
              <a:t>Soalan 5 · MULTIPLE RESPONSE — Pilih SEMUA komponen yang tergolong dalam Perabot Taman.</a:t>
            </a:r>
          </a:p>
          <a:p>
            <a:pPr marL="571500" lvl="1" indent="-285750">
              <a:spcBef>
                <a:spcPts val="300"/>
              </a:spcBef>
              <a:buFont typeface="Arial" panose="020B0604020202020204" pitchFamily="34" charset="0"/>
              <a:buChar char="•"/>
            </a:pPr>
            <a:r>
              <a:rPr lang="en-MY" sz="1250" dirty="0">
                <a:solidFill>
                  <a:schemeClr val="tx1">
                    <a:lumMod val="85000"/>
                    <a:lumOff val="15000"/>
                  </a:schemeClr>
                </a:solidFill>
              </a:rPr>
              <a:t>Jawapan: A, B, D, E, F   ·   Pilihan: 7   ·   Sumber: modul ms 242–249</a:t>
            </a:r>
          </a:p>
        </p:txBody>
      </p:sp>
      <p:sp>
        <p:nvSpPr>
          <p:cNvPr id="40" name="Btn"/>
          <p:cNvSpPr txBox="1"/>
          <p:nvPr/>
        </p:nvSpPr>
        <p:spPr>
          <a:xfrm>
            <a:off x="723930" y="5989320"/>
            <a:ext cx="2651760" cy="475488"/>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Semak Jawapan</a:t>
            </a:r>
          </a:p>
        </p:txBody>
      </p:sp>
      <p:sp>
        <p:nvSpPr>
          <p:cNvPr id="41" name="Btn"/>
          <p:cNvSpPr txBox="1"/>
          <p:nvPr/>
        </p:nvSpPr>
        <p:spPr>
          <a:xfrm>
            <a:off x="3650010" y="5989320"/>
            <a:ext cx="2651760" cy="475488"/>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RP-062  (BASE)</a:t>
            </a:r>
          </a:p>
          <a:p>
            <a:r>
              <a:rPr lang="en-MY" sz="900" b="1" dirty="0">
                <a:solidFill>
                  <a:schemeClr val="tx1">
                    <a:lumMod val="85000"/>
                    <a:lumOff val="15000"/>
                  </a:schemeClr>
                </a:solidFill>
              </a:rPr>
              <a:t>PHYSICAL LEARNER SCREEN: KUIZ  [FRAME]</a:t>
            </a:r>
          </a:p>
          <a:p>
            <a:r>
              <a:rPr lang="en-MY" sz="900" dirty="0">
                <a:solidFill>
                  <a:schemeClr val="tx1">
                    <a:lumMod val="85000"/>
                    <a:lumOff val="15000"/>
                  </a:schemeClr>
                </a:solidFill>
              </a:rPr>
              <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5 item satu demi satu. Maklum balas serta-merta setiap item.</a:t>
            </a:r>
          </a:p>
          <a:p>
            <a:r>
              <a:rPr lang="en-MY" sz="900" dirty="0">
                <a:solidFill>
                  <a:schemeClr val="tx1">
                    <a:lumMod val="85000"/>
                    <a:lumOff val="15000"/>
                  </a:schemeClr>
                </a:solidFill>
              </a:rPr>
              <a:t>  Semak Jawapan dan Ulang Kuiz selepas keputusan. Ulangan bersifat sukarela.</a:t>
            </a:r>
          </a:p>
          <a:p>
            <a:r>
              <a:rPr lang="en-MY" sz="900" b="1" dirty="0">
                <a:solidFill>
                  <a:schemeClr val="tx1">
                    <a:lumMod val="85000"/>
                    <a:lumOff val="15000"/>
                  </a:schemeClr>
                </a:solidFill>
              </a:rPr>
              <a:t>STATE / PERALIHAN:</a:t>
            </a:r>
          </a:p>
          <a:p>
            <a:r>
              <a:rPr lang="en-MY" sz="900" dirty="0">
                <a:solidFill>
                  <a:schemeClr val="tx1">
                    <a:lumMod val="85000"/>
                    <a:lumOff val="15000"/>
                  </a:schemeClr>
                </a:solidFill>
              </a:rPr>
              <a:t>  Lulus = 3/5 = 60%. Keputusan memaparkan skor dan Lulus / Tidak Lulus.</a:t>
            </a:r>
          </a:p>
          <a:p>
            <a:r>
              <a:rPr lang="en-MY" sz="900" dirty="0">
                <a:solidFill>
                  <a:schemeClr val="tx1">
                    <a:lumMod val="85000"/>
                    <a:lumOff val="15000"/>
                  </a:schemeClr>
                </a:solidFill>
              </a:rPr>
              <a:t>  Skor bawah 60% TIDAK menghalang progression.</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KUIZ -&gt; TAMAT.</a:t>
            </a:r>
          </a:p>
          <a:p>
            <a:r>
              <a:rPr lang="en-MY" sz="900" b="1" dirty="0">
                <a:solidFill>
                  <a:schemeClr val="tx1">
                    <a:lumMod val="85000"/>
                    <a:lumOff val="15000"/>
                  </a:schemeClr>
                </a:solidFill>
              </a:rPr>
              <a:t>SUMBER:</a:t>
            </a:r>
          </a:p>
          <a:p>
            <a:r>
              <a:rPr lang="en-MY" sz="900" dirty="0">
                <a:solidFill>
                  <a:schemeClr val="tx1">
                    <a:lumMod val="85000"/>
                    <a:lumOff val="15000"/>
                  </a:schemeClr>
                </a:solidFill>
              </a:rPr>
              <a:t>  Item diterbitkan daripada modul ms 238-249. Modul tiada bank soalan.</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Teks penuh pilihan dan maklum balas berada dalam Notes.</a:t>
            </a:r>
          </a:p>
          <a:p>
            <a:r>
              <a:rPr lang="en-MY" sz="900" b="1" dirty="0">
                <a:solidFill>
                  <a:schemeClr val="tx1">
                    <a:lumMod val="85000"/>
                    <a:lumOff val="15000"/>
                  </a:schemeClr>
                </a:solidFill>
              </a:rPr>
              <a:t>STATUS:</a:t>
            </a:r>
          </a:p>
          <a:p>
            <a:r>
              <a:rPr lang="en-MY" sz="900" dirty="0">
                <a:solidFill>
                  <a:schemeClr val="tx1">
                    <a:lumMod val="85000"/>
                    <a:lumOff val="15000"/>
                  </a:schemeClr>
                </a:solidFill>
              </a:rPr>
              <a:t>  PENDING_FINAL_BARIAH_CONFIRMATION — kandungan penilaian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Tamat Bahagian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Tamat Bahagian</a:t>
            </a:r>
          </a:p>
        </p:txBody>
      </p:sp>
      <p:sp>
        <p:nvSpPr>
          <p:cNvPr id="19" name="Rectangle 9"/>
          <p:cNvSpPr/>
          <p:nvPr/>
        </p:nvSpPr>
        <p:spPr>
          <a:xfrm>
            <a:off x="723930" y="1325880"/>
            <a:ext cx="10744200" cy="91440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Papan penutup — sama keluarga dengan imej pembuka S01. Tidak dibenamkan.]</a:t>
            </a:r>
          </a:p>
        </p:txBody>
      </p:sp>
      <p:sp>
        <p:nvSpPr>
          <p:cNvPr id="20" name="Close"/>
          <p:cNvSpPr txBox="1"/>
          <p:nvPr/>
        </p:nvSpPr>
        <p:spPr>
          <a:xfrm>
            <a:off x="723930" y="2788920"/>
            <a:ext cx="10744200" cy="1280160"/>
          </a:xfrm>
          <a:prstGeom prst="rect">
            <a:avLst/>
          </a:prstGeom>
          <a:noFill/>
        </p:spPr>
        <p:txBody>
          <a:bodyPr wrap="square">
            <a:noAutofit/>
          </a:bodyPr>
          <a:lstStyle/>
          <a:p>
            <a:pPr algn="ctr">
              <a:spcBef>
                <a:spcPts val="600"/>
              </a:spcBef>
            </a:pPr>
            <a:r>
              <a:rPr lang="en-MY" sz="2000" dirty="0">
                <a:solidFill>
                  <a:schemeClr val="tx1">
                    <a:lumMod val="85000"/>
                    <a:lumOff val="15000"/>
                  </a:schemeClr>
                </a:solidFill>
              </a:rPr>
              <a:t>Anda telah melengkapkan Topik 3 Bahagian 2: Komponen Landskap.</a:t>
            </a:r>
          </a:p>
          <a:p>
            <a:pPr algn="ctr">
              <a:spcBef>
                <a:spcPts val="600"/>
              </a:spcBef>
            </a:pPr>
            <a:r>
              <a:rPr lang="en-MY" sz="2000" dirty="0">
                <a:solidFill>
                  <a:schemeClr val="tx1">
                    <a:lumMod val="85000"/>
                    <a:lumOff val="15000"/>
                  </a:schemeClr>
                </a:solidFill>
              </a:rPr>
              <a:t>Struktur Taman dan Perabot Taman telah diteroka sepenuhnya.</a:t>
            </a:r>
          </a:p>
        </p:txBody>
      </p:sp>
      <p:sp>
        <p:nvSpPr>
          <p:cNvPr id="24" name="Btn"/>
          <p:cNvSpPr txBox="1"/>
          <p:nvPr/>
        </p:nvSpPr>
        <p:spPr>
          <a:xfrm>
            <a:off x="4907265" y="4754880"/>
            <a:ext cx="2377440" cy="566928"/>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b="1" dirty="0">
                <a:solidFill>
                  <a:schemeClr val="tx1">
                    <a:lumMod val="85000"/>
                    <a:lumOff val="15000"/>
                  </a:schemeClr>
                </a:solidFill>
              </a:rPr>
              <a:t>REVIEW PAGE: RP-063  (BASE)</a:t>
            </a:r>
          </a:p>
          <a:p>
            <a:r>
              <a:rPr lang="en-MY" sz="900" b="1" dirty="0">
                <a:solidFill>
                  <a:schemeClr val="tx1">
                    <a:lumMod val="85000"/>
                    <a:lumOff val="15000"/>
                  </a:schemeClr>
                </a:solidFill>
              </a:rPr>
              <a:t>PHYSICAL LEARNER SCREEN: TAMAT  [FRAME]</a:t>
            </a:r>
          </a:p>
          <a:p>
            <a:r>
              <a:rPr lang="en-MY" sz="900" dirty="0">
                <a:solidFill>
                  <a:schemeClr val="tx1">
                    <a:lumMod val="85000"/>
                    <a:lumOff val="15000"/>
                  </a:schemeClr>
                </a:solidFill>
              </a:rPr>
              <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Butang Seterusnya.</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Destinasi seterusnya BELUM DISAHKAN — metadata produksi sahaja.</a:t>
            </a:r>
          </a:p>
          <a:p>
            <a:r>
              <a:rPr lang="en-MY" sz="900" dirty="0">
                <a:solidFill>
                  <a:schemeClr val="tx1">
                    <a:lumMod val="85000"/>
                    <a:lumOff val="15000"/>
                  </a:schemeClr>
                </a:solidFill>
              </a:rPr>
              <a:t>  Tiada andaian laluan dipaparkan pada kanvas pelajar.</a:t>
            </a:r>
          </a:p>
          <a:p>
            <a:r>
              <a:rPr lang="en-MY" sz="900" b="1" dirty="0">
                <a:solidFill>
                  <a:schemeClr val="tx1">
                    <a:lumMod val="85000"/>
                    <a:lumOff val="15000"/>
                  </a:schemeClr>
                </a:solidFill>
              </a:rPr>
              <a:t>SUMBER:</a:t>
            </a:r>
          </a:p>
          <a:p>
            <a:r>
              <a:rPr lang="en-MY" sz="900" dirty="0">
                <a:solidFill>
                  <a:schemeClr val="tx1">
                    <a:lumMod val="85000"/>
                    <a:lumOff val="15000"/>
                  </a:schemeClr>
                </a:solidFill>
              </a:rPr>
              <a:t>  Tiada halaman modul khusus.</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Sasaran laluan mesti disahkan terhadap struktur Topik/Bahagian</a:t>
            </a:r>
          </a:p>
          <a:p>
            <a:r>
              <a:rPr lang="en-MY" sz="900" dirty="0">
                <a:solidFill>
                  <a:schemeClr val="tx1">
                    <a:lumMod val="85000"/>
                    <a:lumOff val="15000"/>
                  </a:schemeClr>
                </a:solidFill>
              </a:rPr>
              <a:t>  sebelum binaan MMD.</a:t>
            </a:r>
          </a:p>
          <a:p>
            <a:r>
              <a:rPr lang="en-MY" sz="900" b="1" dirty="0">
                <a:solidFill>
                  <a:schemeClr val="tx1">
                    <a:lumMod val="85000"/>
                    <a:lumOff val="15000"/>
                  </a:schemeClr>
                </a:solidFill>
              </a:rPr>
              <a:t>STATUS:</a:t>
            </a:r>
          </a:p>
          <a:p>
            <a:r>
              <a:rPr lang="en-MY" sz="900" dirty="0">
                <a:solidFill>
                  <a:schemeClr val="tx1">
                    <a:lumMod val="85000"/>
                    <a:lumOff val="15000"/>
                  </a:schemeClr>
                </a:solidFill>
              </a:rPr>
              <a:t>  PENDING_FINAL_BARIAH_CONFIRMATION — sasaran laluan</a:t>
            </a:r>
          </a:p>
        </p:txBody>
      </p:sp>
    </p:spTree>
  </p:cSld>
  <p:clrMapOvr>
    <a:masterClrMapping/>
  </p:clrMapOvr>
</p:sld>
</file>

<file path=ppt/theme/theme1.xml><?xml version="1.0" encoding="utf-8"?>
<a:theme xmlns:a="http://schemas.openxmlformats.org/drawingml/2006/main" name="Office Theme">
  <a:themeElements>
    <a:clrScheme name="Custom 505">
      <a:dk1>
        <a:srgbClr val="000000"/>
      </a:dk1>
      <a:lt1>
        <a:srgbClr val="FFFFFF"/>
      </a:lt1>
      <a:dk2>
        <a:srgbClr val="3F403F"/>
      </a:dk2>
      <a:lt2>
        <a:srgbClr val="FFFFFF"/>
      </a:lt2>
      <a:accent1>
        <a:srgbClr val="17B164"/>
      </a:accent1>
      <a:accent2>
        <a:srgbClr val="003E3B"/>
      </a:accent2>
      <a:accent3>
        <a:srgbClr val="181818"/>
      </a:accent3>
      <a:accent4>
        <a:srgbClr val="13764B"/>
      </a:accent4>
      <a:accent5>
        <a:srgbClr val="21C190"/>
      </a:accent5>
      <a:accent6>
        <a:srgbClr val="83EAB1"/>
      </a:accent6>
      <a:hlink>
        <a:srgbClr val="1EE27F"/>
      </a:hlink>
      <a:folHlink>
        <a:srgbClr val="1EE27F"/>
      </a:folHlink>
    </a:clrScheme>
    <a:fontScheme name="CIDB">
      <a:majorFont>
        <a:latin typeface="Raleway"/>
        <a:ea typeface=""/>
        <a:cs typeface=""/>
      </a:majorFont>
      <a:minorFont>
        <a:latin typeface="Ebri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CAIR compiler</Application>
  <PresentationFormat>Widescreen</PresentationFormat>
  <Slides>63</Slides>
  <Notes>63</Notes>
  <HiddenSlides>0</HiddenSlides>
  <MMClips>0</MMClips>
  <ScaleCrop>false</ScaleCrop>
  <LinksUpToDate>false</LinksUpToDate>
  <SharedDoc>false</SharedDoc>
  <HyperlinksChanged>false</HyperlinksChanged>
  <HeadingPairs>
    <vt:vector size="4" baseType="variant">
      <vt:variant>
        <vt:lpstr>Theme</vt:lpstr>
      </vt:variant>
      <vt:variant>
        <vt:i4>1</vt:i4>
      </vt:variant>
      <vt:variant>
        <vt:lpstr>Slide Titles</vt:lpstr>
      </vt:variant>
      <vt:variant>
        <vt:i4>63</vt:i4>
      </vt:variant>
    </vt:vector>
  </HeadingPairs>
  <TitlesOfParts>
    <vt:vector size="64" baseType="lpstr">
      <vt:lpstr>Theme</vt:lpstr>
      <vt:lpstr>RP-001</vt:lpstr>
      <vt:lpstr>RP-002</vt:lpstr>
      <vt:lpstr>RP-003</vt:lpstr>
      <vt:lpstr>RP-004</vt:lpstr>
      <vt:lpstr>RP-005</vt:lpstr>
      <vt:lpstr>RP-006</vt:lpstr>
      <vt:lpstr>RP-007</vt:lpstr>
      <vt:lpstr>RP-008</vt:lpstr>
      <vt:lpstr>RP-009</vt:lpstr>
      <vt:lpstr>RP-010</vt:lpstr>
      <vt:lpstr>RP-011</vt:lpstr>
      <vt:lpstr>RP-012</vt:lpstr>
      <vt:lpstr>RP-013</vt:lpstr>
      <vt:lpstr>RP-014</vt:lpstr>
      <vt:lpstr>RP-015</vt:lpstr>
      <vt:lpstr>RP-016</vt:lpstr>
      <vt:lpstr>RP-017</vt:lpstr>
      <vt:lpstr>RP-018</vt:lpstr>
      <vt:lpstr>RP-019</vt:lpstr>
      <vt:lpstr>RP-020</vt:lpstr>
      <vt:lpstr>RP-021</vt:lpstr>
      <vt:lpstr>RP-022</vt:lpstr>
      <vt:lpstr>RP-023</vt:lpstr>
      <vt:lpstr>RP-024</vt:lpstr>
      <vt:lpstr>RP-025</vt:lpstr>
      <vt:lpstr>RP-026</vt:lpstr>
      <vt:lpstr>RP-027</vt:lpstr>
      <vt:lpstr>RP-028</vt:lpstr>
      <vt:lpstr>RP-029</vt:lpstr>
      <vt:lpstr>RP-030</vt:lpstr>
      <vt:lpstr>RP-031</vt:lpstr>
      <vt:lpstr>RP-032</vt:lpstr>
      <vt:lpstr>RP-033</vt:lpstr>
      <vt:lpstr>RP-034</vt:lpstr>
      <vt:lpstr>RP-035</vt:lpstr>
      <vt:lpstr>RP-036</vt:lpstr>
      <vt:lpstr>RP-037</vt:lpstr>
      <vt:lpstr>RP-038</vt:lpstr>
      <vt:lpstr>RP-039</vt:lpstr>
      <vt:lpstr>RP-040</vt:lpstr>
      <vt:lpstr>RP-041</vt:lpstr>
      <vt:lpstr>RP-042</vt:lpstr>
      <vt:lpstr>RP-043</vt:lpstr>
      <vt:lpstr>RP-044</vt:lpstr>
      <vt:lpstr>RP-045</vt:lpstr>
      <vt:lpstr>RP-046</vt:lpstr>
      <vt:lpstr>RP-047</vt:lpstr>
      <vt:lpstr>RP-048</vt:lpstr>
      <vt:lpstr>RP-049</vt:lpstr>
      <vt:lpstr>RP-050</vt:lpstr>
      <vt:lpstr>RP-051</vt:lpstr>
      <vt:lpstr>RP-052</vt:lpstr>
      <vt:lpstr>RP-053</vt:lpstr>
      <vt:lpstr>RP-054</vt:lpstr>
      <vt:lpstr>RP-055</vt:lpstr>
      <vt:lpstr>RP-056</vt:lpstr>
      <vt:lpstr>RP-057</vt:lpstr>
      <vt:lpstr>RP-058</vt:lpstr>
      <vt:lpstr>RP-059</vt:lpstr>
      <vt:lpstr>RP-060</vt:lpstr>
      <vt:lpstr>RP-061</vt:lpstr>
      <vt:lpstr>RP-062</vt:lpstr>
      <vt:lpstr>RP-063</vt:lpstr>
    </vt:vector>
  </TitlesOfParts>
</Properties>
</file>

<file path=docProps/core.xml><?xml version="1.0" encoding="utf-8"?>
<cp:coreProperties xmlns:cp="http://schemas.openxmlformats.org/package/2006/metadata/core-properties" xmlns:dc="http://purl.org/dc/elements/1.1/" xmlns:dcterms="http://purl.org/dc/terms/" xmlns:dcmitype="http://purl.org/dcmitype/" xmlns:xsi="http://www.w3.org/2001/XMLSchema-instance">
  <dc:title>Papan Cerita untuk Semakan Bariah v0.3 — K5 PL06 T03 B02</dc:title>
  <dc:subject>REVIEW_READY · PROVISIONAL_CAIR_EXECUTION · CAIR_INTEGRITY_EXCEPTION_FOR_REVIEW_BUILD_ONLY · PENDING_FINAL_BARIAH_CONFIRMATION · NOT_FOR_MMD_BUILD · MULTIMEDIA_NOT_PRODUCED</dc:subject>
  <dc:creator>CAIR storyboard generator v0.3</dc:creator>
  <cp:keywords>REVIEW_READY; PROVISIONAL_CAIR_EXECUTION; CAIR_INTEGRITY_EXCEPTION_FOR_REVIEW_BUILD_ONLY; PENDING_FINAL_BARIAH_CONFIRMATION; NOT_FOR_MMD_BUILD; MULTIMEDIA_NOT_PRODUCED</cp:keywords>
  <dc:description>Review build. 26 physical learner screens, 46 runtime states, resolved as review pages so states can be inspected. 26 source rows, one popup each, every popup carries VO. No photograph, audio, video, animation or multimedia asset is embedded. Module DOCX SHA-256 unresolved under CAIR integrity exception B02-CAIR-INT-001 for this review build only.</dc:description>
  <cp:lastModifiedBy>CAIR storyboard generator v0.3</cp:lastModifiedBy>
  <cp:revision>1</cp:revision>
  <dcterms:created xsi:type="dcterms:W3CDTF">2026-07-31T00:00:00Z</dcterms:created>
  <dcterms:modified xsi:type="dcterms:W3CDTF">2026-07-31T00:00:00Z</dcterms:modified>
  <cp:category>Storyboard — Review Build v0.3</cp:category>
</cp:coreProperties>
</file>